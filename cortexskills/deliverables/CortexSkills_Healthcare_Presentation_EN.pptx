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1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2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charts/chart3.xml" ContentType="application/vnd.openxmlformats-officedocument.drawingml.chart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charts/chart8.xml" ContentType="application/vnd.openxmlformats-officedocument.drawingml.chart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charts/chart9.xml" ContentType="application/vnd.openxmlformats-officedocument.drawingml.chart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charts/chart10.xml" ContentType="application/vnd.openxmlformats-officedocument.drawingml.chart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charts/chart11.xml" ContentType="application/vnd.openxmlformats-officedocument.drawingml.chart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charts/chart12.xml" ContentType="application/vnd.openxmlformats-officedocument.drawingml.chart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charts/chart13.xml" ContentType="application/vnd.openxmlformats-officedocument.drawingml.chart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charts/chart14.xml" ContentType="application/vnd.openxmlformats-officedocument.drawingml.chart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charts/chart15.xml" ContentType="application/vnd.openxmlformats-officedocument.drawingml.chart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charts/chart16.xml" ContentType="application/vnd.openxmlformats-officedocument.drawingml.chart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charts/chart17.xml" ContentType="application/vnd.openxmlformats-officedocument.drawingml.chart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charts/chart18.xml" ContentType="application/vnd.openxmlformats-officedocument.drawingml.chart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charts/chart19.xml" ContentType="application/vnd.openxmlformats-officedocument.drawingml.chart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charts/chart20.xml" ContentType="application/vnd.openxmlformats-officedocument.drawingml.chart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</p:sldIdLst>
  <p:notesMasterIdLst>
    <p:notesMasterId r:id="rId6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notesMaster" Target="notesMasters/notesMaster1.xml"/><Relationship Id="rId65" Type="http://schemas.openxmlformats.org/officeDocument/2006/relationships/presProps" Target="presProps.xml"/><Relationship Id="rId66" Type="http://schemas.openxmlformats.org/officeDocument/2006/relationships/viewProps" Target="viewProps.xml"/><Relationship Id="rId67" Type="http://schemas.openxmlformats.org/officeDocument/2006/relationships/theme" Target="theme/theme1.xml"/><Relationship Id="rId6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_rels/chart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.xlsx"/></Relationships>
</file>

<file path=ppt/charts/_rels/chart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.xlsx"/></Relationships>
</file>

<file path=ppt/charts/_rels/chart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.xlsx"/></Relationships>
</file>

<file path=ppt/charts/_rels/chart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9.xlsx"/></Relationships>
</file>

<file path=ppt/charts/_rels/chart1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0.xlsx"/></Relationships>
</file>

<file path=ppt/charts/_rels/chart1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1.xlsx"/></Relationships>
</file>

<file path=ppt/charts/_rels/chart1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2.xlsx"/></Relationships>
</file>

<file path=ppt/charts/_rels/chart1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3.xlsx"/></Relationships>
</file>

<file path=ppt/charts/_rels/chart1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4.xlsx"/></Relationships>
</file>

<file path=ppt/charts/_rels/chart1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5.xlsx"/></Relationships>
</file>

<file path=ppt/charts/_rels/chart1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6.xlsx"/></Relationships>
</file>

<file path=ppt/charts/_rels/chart1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7.xlsx"/></Relationships>
</file>

<file path=ppt/charts/_rels/chart1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8.xlsx"/></Relationships>
</file>

<file path=ppt/charts/_rels/chart1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9.xlsx"/></Relationships>
</file>

<file path=ppt/charts/_rels/chart2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Use cases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Low</c:v>
                  </c:pt>
                  <c:pt idx="1">
                    <c:v>Medium</c:v>
                  </c:pt>
                  <c:pt idx="2">
                    <c:v>High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9</c:v>
                </c:pt>
                <c:pt idx="1">
                  <c:v>20</c:v>
                </c:pt>
                <c:pt idx="2">
                  <c:v>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AI run (65%)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Enablers</c:v>
                  </c:pt>
                  <c:pt idx="1">
                    <c:v>Scope</c:v>
                  </c:pt>
                  <c:pt idx="2">
                    <c:v>Diagnosis</c:v>
                  </c:pt>
                  <c:pt idx="3">
                    <c:v>Report &amp; plan</c:v>
                  </c:pt>
                  <c:pt idx="4">
                    <c:v>Delivery</c:v>
                  </c:pt>
                  <c:pt idx="5">
                    <c:v>Evaluation</c:v>
                  </c:pt>
                  <c:pt idx="6">
                    <c:v>Improvement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29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41</c:v>
                </c:pt>
                <c:pt idx="5">
                  <c:v>0</c:v>
                </c:pt>
                <c:pt idx="6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Digital run (78%)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Enablers</c:v>
                  </c:pt>
                  <c:pt idx="1">
                    <c:v>Scope</c:v>
                  </c:pt>
                  <c:pt idx="2">
                    <c:v>Diagnosis</c:v>
                  </c:pt>
                  <c:pt idx="3">
                    <c:v>Report &amp; plan</c:v>
                  </c:pt>
                  <c:pt idx="4">
                    <c:v>Delivery</c:v>
                  </c:pt>
                  <c:pt idx="5">
                    <c:v>Evaluation</c:v>
                  </c:pt>
                  <c:pt idx="6">
                    <c:v>Improvement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33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50</c:v>
                </c:pt>
                <c:pt idx="6">
                  <c:v>0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0"/>
          <c:min val="0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Rating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Business impact</c:v>
                  </c:pt>
                  <c:pt idx="1">
                    <c:v>Novelty</c:v>
                  </c:pt>
                  <c:pt idx="2">
                    <c:v>Regulatory exposure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Stakeholders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Strategic (MS)</c:v>
                  </c:pt>
                  <c:pt idx="1">
                    <c:v>Managerial (MO)</c:v>
                  </c:pt>
                  <c:pt idx="2">
                    <c:v>Operational (OP)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14</c:v>
                </c:pt>
                <c:pt idx="1">
                  <c:v>13</c:v>
                </c:pt>
                <c:pt idx="2">
                  <c:v>13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Stakeholders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Email</c:v>
                  </c:pt>
                  <c:pt idx="1">
                    <c:v>Hybrid</c:v>
                  </c:pt>
                  <c:pt idx="2">
                    <c:v>Face-to-Face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27</c:v>
                </c:pt>
                <c:pt idx="1">
                  <c:v>7</c:v>
                </c:pt>
                <c:pt idx="2">
                  <c:v>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Face-to-Face</c:v>
                </c:pt>
                <c:pt idx="1">
                  <c:v>Email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12</c:v>
                </c:pt>
                <c:pt idx="1">
                  <c:v>22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Responses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Below 85%</c:v>
                  </c:pt>
                  <c:pt idx="1">
                    <c:v>85–94%</c:v>
                  </c:pt>
                  <c:pt idx="2">
                    <c:v>95% and more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</c:v>
                </c:pt>
                <c:pt idx="1">
                  <c:v>12</c:v>
                </c:pt>
                <c:pt idx="2">
                  <c:v>15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radarChart>
        <c:radarStyle val="marker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Current score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Sheet1!$A$2:$A$6</c:f>
              <c:multiLvlStrCache>
                <c:ptCount val="5"/>
                <c:lvl>
                  <c:pt idx="0">
                    <c:v>Strategy</c:v>
                  </c:pt>
                  <c:pt idx="1">
                    <c:v>Organization</c:v>
                  </c:pt>
                  <c:pt idx="2">
                    <c:v>Processes</c:v>
                  </c:pt>
                  <c:pt idx="3">
                    <c:v>People</c:v>
                  </c:pt>
                  <c:pt idx="4">
                    <c:v>Information systems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3.4</c:v>
                </c:pt>
                <c:pt idx="1">
                  <c:v>2.8</c:v>
                </c:pt>
                <c:pt idx="2">
                  <c:v>2.6</c:v>
                </c:pt>
                <c:pt idx="3">
                  <c:v>3.1</c:v>
                </c:pt>
                <c:pt idx="4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axId val="2094734554"/>
        <c:axId val="2094734552"/>
        <c:axId val="2094734556"/>
      </c:rad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5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1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Implemented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1. AI triage and clinical decision support</c:v>
                  </c:pt>
                  <c:pt idx="1">
                    <c:v>2. AI medical imaging assistance</c:v>
                  </c:pt>
                  <c:pt idx="2">
                    <c:v>3. AI bed and staff capacity planning</c:v>
                  </c:pt>
                  <c:pt idx="3">
                    <c:v>4. AI literacy for all staff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20</c:v>
                </c:pt>
                <c:pt idx="1">
                  <c:v>25</c:v>
                </c:pt>
                <c:pt idx="2">
                  <c:v>30</c:v>
                </c:pt>
                <c:pt idx="3">
                  <c:v>35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Average gap (levels)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AI triage and clinical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Number of gaps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AI triage and clinical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3</c:v>
                </c:pt>
                <c:pt idx="1">
                  <c:v>3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1"/>
        <c:axPos val="b"/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Planned</c:v>
                </c:pt>
              </c:strCache>
            </c:strRef>
          </c:tx>
          <c:spPr>
            <a:solidFill>
              <a:srgbClr val="E3E3E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360000</c:v>
                </c:pt>
                <c:pt idx="1">
                  <c:v>300000</c:v>
                </c:pt>
                <c:pt idx="2">
                  <c:v>240000</c:v>
                </c:pt>
                <c:pt idx="3">
                  <c:v>180000</c:v>
                </c:pt>
                <c:pt idx="4">
                  <c:v>120000</c:v>
                </c:pt>
                <c:pt idx="5">
                  <c:v>60000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Committed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270000</c:v>
                </c:pt>
                <c:pt idx="1">
                  <c:v>225000</c:v>
                </c:pt>
                <c:pt idx="2">
                  <c:v>180000</c:v>
                </c:pt>
                <c:pt idx="3">
                  <c:v>135000</c:v>
                </c:pt>
                <c:pt idx="4">
                  <c:v>90000</c:v>
                </c:pt>
                <c:pt idx="5">
                  <c:v>45000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Actual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AI triage &amp; decision support</c:v>
                  </c:pt>
                  <c:pt idx="1">
                    <c:v>AI medical imaging assistance</c:v>
                  </c:pt>
                  <c:pt idx="2">
                    <c:v>AI bed and staff capacity planning</c:v>
                  </c:pt>
                  <c:pt idx="3">
                    <c:v>AI literacy for all staff</c:v>
                  </c:pt>
                  <c:pt idx="4">
                    <c:v>Prompting and generative AI at work</c:v>
                  </c:pt>
                  <c:pt idx="5">
                    <c:v>Responsible AI and data protection</c:v>
                  </c:pt>
                </c:lvl>
              </c:multiLvlStrCache>
            </c:multiLvlStrRef>
          </c:cat>
          <c:val>
            <c:numRef>
              <c:f>Sheet1!$D$2:$D$7</c:f>
              <c:numCache>
                <c:formatCode>General</c:formatCode>
                <c:ptCount val="6"/>
                <c:pt idx="0">
                  <c:v>215877</c:v>
                </c:pt>
                <c:pt idx="1">
                  <c:v>166256</c:v>
                </c:pt>
                <c:pt idx="2">
                  <c:v>133013</c:v>
                </c:pt>
                <c:pt idx="3">
                  <c:v>111516</c:v>
                </c:pt>
                <c:pt idx="4">
                  <c:v>75266</c:v>
                </c:pt>
                <c:pt idx="5">
                  <c:v>29839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#,##0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Cohort 1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Level 1</c:v>
                  </c:pt>
                  <c:pt idx="1">
                    <c:v>Level 2</c:v>
                  </c:pt>
                  <c:pt idx="2">
                    <c:v>Level 3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83</c:v>
                </c:pt>
                <c:pt idx="1">
                  <c:v>90</c:v>
                </c:pt>
                <c:pt idx="2">
                  <c:v>80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Cohort 2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Level 1</c:v>
                  </c:pt>
                  <c:pt idx="1">
                    <c:v>Level 2</c:v>
                  </c:pt>
                  <c:pt idx="2">
                    <c:v>Level 3</c:v>
                  </c:pt>
                </c:lvl>
              </c:multiLvlStrCache>
            </c:multiLvl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74</c:v>
                </c:pt>
                <c:pt idx="1">
                  <c:v>77</c:v>
                </c:pt>
                <c:pt idx="2">
                  <c:v>93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Controls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Control Environment</c:v>
                  </c:pt>
                  <c:pt idx="1">
                    <c:v>Risk Assessment</c:v>
                  </c:pt>
                  <c:pt idx="2">
                    <c:v>Control Activities</c:v>
                  </c:pt>
                  <c:pt idx="3">
                    <c:v>Information &amp; Communication</c:v>
                  </c:pt>
                  <c:pt idx="4">
                    <c:v>Monitoring Activities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8</c:v>
                </c:pt>
                <c:pt idx="1">
                  <c:v>0</c:v>
                </c:pt>
                <c:pt idx="2">
                  <c:v>40</c:v>
                </c:pt>
                <c:pt idx="3">
                  <c:v>3</c:v>
                </c:pt>
                <c:pt idx="4">
                  <c:v>37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Rated effective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Sheet1!$A$2:$A$6</c:f>
              <c:multiLvlStrCache>
                <c:ptCount val="5"/>
                <c:lvl>
                  <c:pt idx="0">
                    <c:v>Control Environment</c:v>
                  </c:pt>
                  <c:pt idx="1">
                    <c:v>Risk Assessment</c:v>
                  </c:pt>
                  <c:pt idx="2">
                    <c:v>Control Activities</c:v>
                  </c:pt>
                  <c:pt idx="3">
                    <c:v>Information &amp; Communication</c:v>
                  </c:pt>
                  <c:pt idx="4">
                    <c:v>Monitoring Activities</c:v>
                  </c:pt>
                </c:lvl>
              </c:multiLvlStrCache>
            </c:multiLvlStrRef>
          </c:cat>
          <c:val>
            <c:numRef>
              <c:f>Sheet1!$C$2:$C$6</c:f>
              <c:numCache>
                <c:formatCode>General</c:formatCode>
                <c:ptCount val="5"/>
                <c:pt idx="0">
                  <c:v>6</c:v>
                </c:pt>
                <c:pt idx="1">
                  <c:v>0</c:v>
                </c:pt>
                <c:pt idx="2">
                  <c:v>24</c:v>
                </c:pt>
                <c:pt idx="3">
                  <c:v>3</c:v>
                </c:pt>
                <c:pt idx="4">
                  <c:v>20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lineChart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F8931D"/>
            </a:solidFill>
            <a:ln w="25400" cap="flat">
              <a:solidFill>
                <a:srgbClr val="F8931D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F8931D"/>
              </a:solidFill>
              <a:ln w="9525" cap="flat">
                <a:solidFill>
                  <a:srgbClr val="F8931D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2026-04</c:v>
                  </c:pt>
                  <c:pt idx="1">
                    <c:v>2026-05</c:v>
                  </c:pt>
                  <c:pt idx="2">
                    <c:v>2026-06</c:v>
                  </c:pt>
                  <c:pt idx="3">
                    <c:v>2026-07</c:v>
                  </c:pt>
                  <c:pt idx="4">
                    <c:v>2026-08</c:v>
                  </c:pt>
                  <c:pt idx="5">
                    <c:v>2026-09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80</c:v>
                </c:pt>
                <c:pt idx="1">
                  <c:v>84.7</c:v>
                </c:pt>
                <c:pt idx="2">
                  <c:v>91.4</c:v>
                </c:pt>
                <c:pt idx="3">
                  <c:v>90.4</c:v>
                </c:pt>
                <c:pt idx="4">
                  <c:v>102</c:v>
                </c:pt>
                <c:pt idx="5">
                  <c:v>97.2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Target</c:v>
                </c:pt>
              </c:strCache>
            </c:strRef>
          </c:tx>
          <c:spPr>
            <a:solidFill>
              <a:srgbClr val="808184"/>
            </a:solidFill>
            <a:ln w="25400" cap="flat">
              <a:solidFill>
                <a:srgbClr val="808184"/>
              </a:solidFill>
              <a:prstDash val="solid"/>
              <a:round/>
            </a:ln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0"/>
            <c:showSerName val="0"/>
            <c:showPercent val="0"/>
            <c:showBubbleSize val="0"/>
            <c:showLeaderLines val="0"/>
          </c:dLbls>
          <c:marker>
            <c:symbol val="circle"/>
            <c:size val="6"/>
            <c:spPr>
              <a:solidFill>
                <a:srgbClr val="808184"/>
              </a:solidFill>
              <a:ln w="9525" cap="flat">
                <a:solidFill>
                  <a:srgbClr val="808184"/>
                </a:solidFill>
                <a:prstDash val="solid"/>
                <a:round/>
              </a:ln>
              <a:effectLst/>
            </c:spPr>
          </c:marker>
          <c:cat>
            <c:multiLvlStrRef>
              <c:f>Sheet1!$A$2:$A$7</c:f>
              <c:multiLvlStrCache>
                <c:ptCount val="6"/>
                <c:lvl>
                  <c:pt idx="0">
                    <c:v>2026-04</c:v>
                  </c:pt>
                  <c:pt idx="1">
                    <c:v>2026-05</c:v>
                  </c:pt>
                  <c:pt idx="2">
                    <c:v>2026-06</c:v>
                  </c:pt>
                  <c:pt idx="3">
                    <c:v>2026-07</c:v>
                  </c:pt>
                  <c:pt idx="4">
                    <c:v>2026-08</c:v>
                  </c:pt>
                  <c:pt idx="5">
                    <c:v>2026-09</c:v>
                  </c:pt>
                </c:lvl>
              </c:multiLvlStrCache>
            </c:multiLvlStrRef>
          </c:cat>
          <c:val>
            <c:numRef>
              <c:f>Sheet1!$C$2:$C$7</c:f>
              <c:numCache>
                <c:formatCode>General</c:formatCode>
                <c:ptCount val="6"/>
                <c:pt idx="0">
                  <c:v>100</c:v>
                </c:pt>
                <c:pt idx="1">
                  <c:v>100</c:v>
                </c:pt>
                <c:pt idx="2">
                  <c:v>100</c:v>
                </c:pt>
                <c:pt idx="3">
                  <c:v>100</c:v>
                </c:pt>
                <c:pt idx="4">
                  <c:v>100</c:v>
                </c:pt>
                <c:pt idx="5">
                  <c:v>100</c:v>
                </c:pt>
              </c:numCache>
            </c:numRef>
          </c:val>
          <c:smooth val="0"/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0"/>
          <c:showCatName val="0"/>
          <c:showSerName val="0"/>
          <c:showPercent val="0"/>
          <c:showBubbleSize val="0"/>
          <c:showLeaderLines val="0"/>
        </c:dLbls>
        <c:marker val="1"/>
        <c:axId val="2094734554"/>
        <c:axId val="2094734552"/>
        <c:axId val="2094734556"/>
      </c:line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doughnut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Outcome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F8931D"/>
              </a:solidFill>
              <a:effectLst/>
            </c:spPr>
          </c:dPt>
          <c:dPt>
            <c:idx val="1"/>
            <c:bubble3D val="0"/>
            <c:spPr>
              <a:solidFill>
                <a:srgbClr val="808184"/>
              </a:solidFill>
              <a:effectLst/>
            </c:spPr>
          </c:dPt>
          <c:dPt>
            <c:idx val="2"/>
            <c:bubble3D val="0"/>
            <c:spPr>
              <a:solidFill>
                <a:srgbClr val="E3E3E4"/>
              </a:solidFill>
              <a:effectLst/>
            </c:spPr>
          </c:dPt>
          <c:dLbls>
            <c:dLbl>
              <c:idx val="0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numFmt formatCode="General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3A3A3C"/>
                      </a:solidFill>
                      <a:latin typeface="Arial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numFmt formatCode="General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Accepted</c:v>
                </c:pt>
                <c:pt idx="1">
                  <c:v>Edited</c:v>
                </c:pt>
                <c:pt idx="2">
                  <c:v>Rejected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30</c:v>
                </c:pt>
                <c:pt idx="1">
                  <c:v>9</c:v>
                </c:pt>
                <c:pt idx="2">
                  <c:v>9</c:v>
                </c:pt>
              </c:numCache>
            </c:numRef>
          </c:val>
        </c:ser>
        <c:firstSliceAng val="0"/>
        <c:holeSize val="58"/>
      </c:doughnut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Clinic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Novelty</c:v>
                  </c:pt>
                  <c:pt idx="2">
                    <c:v>Regulatory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Sheet1!$B$2:$B$8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2</c:v>
                </c:pt>
                <c:pt idx="4">
                  <c:v>2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Hospital group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Sheet1!$A$2:$A$8</c:f>
              <c:multiLvlStrCache>
                <c:ptCount val="7"/>
                <c:lvl>
                  <c:pt idx="0">
                    <c:v>Impact</c:v>
                  </c:pt>
                  <c:pt idx="1">
                    <c:v>Novelty</c:v>
                  </c:pt>
                  <c:pt idx="2">
                    <c:v>Regulatory</c:v>
                  </c:pt>
                  <c:pt idx="3">
                    <c:v>Investment</c:v>
                  </c:pt>
                  <c:pt idx="4">
                    <c:v>Scope</c:v>
                  </c:pt>
                  <c:pt idx="5">
                    <c:v>Uncertainty</c:v>
                  </c:pt>
                  <c:pt idx="6">
                    <c:v>Time to market</c:v>
                  </c:pt>
                </c:lvl>
              </c:multiLvlStrCache>
            </c:multiLvlStrRef>
          </c:cat>
          <c:val>
            <c:numRef>
              <c:f>Sheet1!$C$2:$C$8</c:f>
              <c:numCache>
                <c:formatCode>General</c:formatCode>
                <c:ptCount val="7"/>
                <c:pt idx="0">
                  <c:v>4</c:v>
                </c:pt>
                <c:pt idx="1">
                  <c:v>5</c:v>
                </c:pt>
                <c:pt idx="2">
                  <c:v>4</c:v>
                </c:pt>
                <c:pt idx="3">
                  <c:v>4</c:v>
                </c:pt>
                <c:pt idx="4">
                  <c:v>5</c:v>
                </c:pt>
                <c:pt idx="5">
                  <c:v>3</c:v>
                </c:pt>
                <c:pt idx="6">
                  <c:v>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6"/>
        </c:scaling>
        <c:delete val="1"/>
        <c:axPos val="l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69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67</c:v>
                </c:pt>
                <c:pt idx="1">
                  <c:v>81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51</c:v>
                </c:pt>
                <c:pt idx="1">
                  <c:v>67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1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27</c:v>
                </c:pt>
                <c:pt idx="1">
                  <c:v>50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SME</c:v>
                  </c:pt>
                  <c:pt idx="1">
                    <c:v>Large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8</c:v>
                </c:pt>
                <c:pt idx="1">
                  <c:v>27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15"/>
          <c:min val="0"/>
        </c:scaling>
        <c:delete val="1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Digital</c:v>
                </c:pt>
              </c:strCache>
            </c:strRef>
          </c:tx>
          <c:spPr>
            <a:solidFill>
              <a:srgbClr val="808184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Maghreb Hospitals Group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78</c:v>
                </c:pt>
                <c:pt idx="1">
                  <c:v>66</c:v>
                </c:pt>
                <c:pt idx="2">
                  <c:v>81</c:v>
                </c:pt>
                <c:pt idx="3">
                  <c:v>69</c:v>
                </c:pt>
                <c:pt idx="4">
                  <c:v>81</c:v>
                </c:pt>
                <c:pt idx="5">
                  <c:v>67</c:v>
                </c:pt>
                <c:pt idx="6">
                  <c:v>50</c:v>
                </c:pt>
                <c:pt idx="7">
                  <c:v>27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AI</c:v>
                </c:pt>
              </c:strCache>
            </c:strRef>
          </c:tx>
          <c:spPr>
            <a:solidFill>
              <a:srgbClr val="F8931D"/>
            </a:solidFill>
            <a:effectLst/>
          </c:spPr>
          <c:invertIfNegative val="0"/>
          <c:dLbls>
            <c:numFmt formatCode="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3A3A3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Maghreb Hospitals Group (HCPR)</c:v>
                  </c:pt>
                  <c:pt idx="1">
                    <c:v>Clinique Al Amal (HCPR)</c:v>
                  </c:pt>
                  <c:pt idx="2">
                    <c:v>Maghreb Life Sciences (HLS)</c:v>
                  </c:pt>
                  <c:pt idx="3">
                    <c:v>BioLab Diagnostics Rabat (HLS)</c:v>
                  </c:pt>
                  <c:pt idx="4">
                    <c:v>Maghreb Pharma Distribution (PHAR)</c:v>
                  </c:pt>
                  <c:pt idx="5">
                    <c:v>PharmaLog Services (PHAR)</c:v>
                  </c:pt>
                  <c:pt idx="6">
                    <c:v>Pharma Maghreb Process (PHPR)</c:v>
                  </c:pt>
                  <c:pt idx="7">
                    <c:v>Galénix Laboratoires (PHPR)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>65</c:v>
                </c:pt>
                <c:pt idx="1">
                  <c:v>50</c:v>
                </c:pt>
                <c:pt idx="2">
                  <c:v>68</c:v>
                </c:pt>
                <c:pt idx="3">
                  <c:v>51</c:v>
                </c:pt>
                <c:pt idx="4">
                  <c:v>67</c:v>
                </c:pt>
                <c:pt idx="5">
                  <c:v>51</c:v>
                </c:pt>
                <c:pt idx="6">
                  <c:v>27</c:v>
                </c:pt>
                <c:pt idx="7">
                  <c:v>8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3A3A3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50" b="0" i="0" u="none" strike="noStrike">
                <a:solidFill>
                  <a:srgbClr val="58595B"/>
                </a:solidFill>
                <a:latin typeface="Calibri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  <c:min val="0"/>
        </c:scaling>
        <c:delete val="0"/>
        <c:axPos val="b"/>
        <c:majorGridlines>
          <c:spPr>
            <a:ln w="6350" cap="flat">
              <a:solidFill>
                <a:srgbClr val="E3E3E4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80818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txPr>
        <a:bodyPr/>
        <a:lstStyle/>
        <a:p>
          <a:pPr>
            <a:defRPr sz="1100">
              <a:solidFill>
                <a:srgbClr val="58595B"/>
              </a:solidFill>
              <a:latin typeface="Calibri"/>
              <a:cs typeface="Calibri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image" Target="../media/image-2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image" Target="../media/image-1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2.png"/><Relationship Id="rId3" Type="http://schemas.openxmlformats.org/officeDocument/2006/relationships/image" Target="../media/image-18-3.png"/><Relationship Id="rId4" Type="http://schemas.openxmlformats.org/officeDocument/2006/relationships/image" Target="../media/image-18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image" Target="../media/image-19-2.png"/><Relationship Id="rId3" Type="http://schemas.openxmlformats.org/officeDocument/2006/relationships/image" Target="../media/image-19-3.png"/><Relationship Id="rId4" Type="http://schemas.openxmlformats.org/officeDocument/2006/relationships/image" Target="../media/image-19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.xml"/><Relationship Id="rId2" Type="http://schemas.openxmlformats.org/officeDocument/2006/relationships/image" Target="../media/image-20-1.png"/><Relationship Id="rId3" Type="http://schemas.openxmlformats.org/officeDocument/2006/relationships/image" Target="../media/image-20-2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4.xml"/><Relationship Id="rId6" Type="http://schemas.openxmlformats.org/officeDocument/2006/relationships/chart" Target="/ppt/charts/chart5.xml"/><Relationship Id="rId1" Type="http://schemas.openxmlformats.org/officeDocument/2006/relationships/image" Target="../media/image-22-1.png"/><Relationship Id="rId2" Type="http://schemas.openxmlformats.org/officeDocument/2006/relationships/image" Target="../media/image-22-2.png"/><Relationship Id="rId3" Type="http://schemas.openxmlformats.org/officeDocument/2006/relationships/image" Target="../media/image-22-3.png"/><Relationship Id="rId4" Type="http://schemas.openxmlformats.org/officeDocument/2006/relationships/image" Target="../media/image-22-4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.xml"/><Relationship Id="rId2" Type="http://schemas.openxmlformats.org/officeDocument/2006/relationships/chart" Target="/ppt/charts/chart7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5" Type="http://schemas.openxmlformats.org/officeDocument/2006/relationships/chart" Target="/ppt/charts/chart10.xml"/><Relationship Id="rId1" Type="http://schemas.openxmlformats.org/officeDocument/2006/relationships/image" Target="../media/image-28-1.png"/><Relationship Id="rId2" Type="http://schemas.openxmlformats.org/officeDocument/2006/relationships/image" Target="../media/image-28-2.png"/><Relationship Id="rId3" Type="http://schemas.openxmlformats.org/officeDocument/2006/relationships/image" Target="../media/image-28-3.png"/><Relationship Id="rId4" Type="http://schemas.openxmlformats.org/officeDocument/2006/relationships/image" Target="../media/image-28-4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1.xml"/><Relationship Id="rId2" Type="http://schemas.openxmlformats.org/officeDocument/2006/relationships/image" Target="../media/image-31-1.png"/><Relationship Id="rId3" Type="http://schemas.openxmlformats.org/officeDocument/2006/relationships/image" Target="../media/image-31-2.png"/><Relationship Id="rId4" Type="http://schemas.openxmlformats.org/officeDocument/2006/relationships/image" Target="../media/image-3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image" Target="../media/image-3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4-1.png"/><Relationship Id="rId2" Type="http://schemas.openxmlformats.org/officeDocument/2006/relationships/image" Target="../media/image-34-2.png"/><Relationship Id="rId3" Type="http://schemas.openxmlformats.org/officeDocument/2006/relationships/image" Target="../media/image-34-3.png"/><Relationship Id="rId4" Type="http://schemas.openxmlformats.org/officeDocument/2006/relationships/image" Target="../media/image-3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3.xml"/><Relationship Id="rId2" Type="http://schemas.openxmlformats.org/officeDocument/2006/relationships/image" Target="../media/image-38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5.xml"/><Relationship Id="rId2" Type="http://schemas.openxmlformats.org/officeDocument/2006/relationships/image" Target="../media/image-4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3-1.png"/><Relationship Id="rId2" Type="http://schemas.openxmlformats.org/officeDocument/2006/relationships/image" Target="../media/image-4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3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6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7-1.png"/><Relationship Id="rId2" Type="http://schemas.openxmlformats.org/officeDocument/2006/relationships/image" Target="../media/image-47-2.png"/><Relationship Id="rId3" Type="http://schemas.openxmlformats.org/officeDocument/2006/relationships/image" Target="../media/image-47-3.png"/><Relationship Id="rId4" Type="http://schemas.openxmlformats.org/officeDocument/2006/relationships/image" Target="../media/image-4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7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8-1.png"/><Relationship Id="rId2" Type="http://schemas.openxmlformats.org/officeDocument/2006/relationships/image" Target="../media/image-4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7.xml"/><Relationship Id="rId1" Type="http://schemas.openxmlformats.org/officeDocument/2006/relationships/image" Target="../media/image-51-1.png"/><Relationship Id="rId3" Type="http://schemas.openxmlformats.org/officeDocument/2006/relationships/image" Target="../media/image-51-2.png"/><Relationship Id="rId4" Type="http://schemas.openxmlformats.org/officeDocument/2006/relationships/image" Target="../media/image-51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1.xml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8.xml"/><Relationship Id="rId1" Type="http://schemas.openxmlformats.org/officeDocument/2006/relationships/image" Target="../media/image-52-1.png"/><Relationship Id="rId3" Type="http://schemas.openxmlformats.org/officeDocument/2006/relationships/image" Target="../media/image-52-2.png"/><Relationship Id="rId4" Type="http://schemas.openxmlformats.org/officeDocument/2006/relationships/image" Target="../media/image-52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2.xml"/></Relationships>
</file>

<file path=ppt/slides/_rels/slide53.xml.rels><?xml version="1.0" encoding="UTF-8" standalone="yes"?>
<Relationships xmlns="http://schemas.openxmlformats.org/package/2006/relationships"><Relationship Id="rId2" Type="http://schemas.openxmlformats.org/officeDocument/2006/relationships/chart" Target="/ppt/charts/chart19.xml"/><Relationship Id="rId1" Type="http://schemas.openxmlformats.org/officeDocument/2006/relationships/image" Target="../media/image-53-1.png"/><Relationship Id="rId3" Type="http://schemas.openxmlformats.org/officeDocument/2006/relationships/image" Target="../media/image-53-2.png"/><Relationship Id="rId4" Type="http://schemas.openxmlformats.org/officeDocument/2006/relationships/image" Target="../media/image-53-3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3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2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4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6-1.png"/><Relationship Id="rId2" Type="http://schemas.openxmlformats.org/officeDocument/2006/relationships/image" Target="../media/image-56-2.png"/><Relationship Id="rId3" Type="http://schemas.openxmlformats.org/officeDocument/2006/relationships/image" Target="../media/image-56-3.png"/><Relationship Id="rId4" Type="http://schemas.openxmlformats.org/officeDocument/2006/relationships/image" Target="../media/image-56-4.png"/><Relationship Id="rId5" Type="http://schemas.openxmlformats.org/officeDocument/2006/relationships/image" Target="../media/image-56-5.png"/><Relationship Id="rId6" Type="http://schemas.openxmlformats.org/officeDocument/2006/relationships/image" Target="../media/image-56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56.xml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8-1.png"/><Relationship Id="rId2" Type="http://schemas.openxmlformats.org/officeDocument/2006/relationships/image" Target="../media/image-5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8.xml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1-1.png"/><Relationship Id="rId2" Type="http://schemas.openxmlformats.org/officeDocument/2006/relationships/image" Target="../media/image-61-2.png"/><Relationship Id="rId3" Type="http://schemas.openxmlformats.org/officeDocument/2006/relationships/image" Target="../media/image-61-3.png"/><Relationship Id="rId4" Type="http://schemas.openxmlformats.org/officeDocument/2006/relationships/image" Target="../media/image-6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1.xml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2-1.png"/><Relationship Id="rId2" Type="http://schemas.openxmlformats.org/officeDocument/2006/relationships/image" Target="../media/image-62-2.png"/><Relationship Id="rId3" Type="http://schemas.openxmlformats.org/officeDocument/2006/relationships/image" Target="../media/image-6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6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6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600" dirty="0"/>
          </a:p>
        </p:txBody>
      </p:sp>
      <p:sp>
        <p:nvSpPr>
          <p:cNvPr id="3" name="Shape 1"/>
          <p:cNvSpPr/>
          <p:nvPr/>
        </p:nvSpPr>
        <p:spPr>
          <a:xfrm>
            <a:off x="-1280160" y="4206240"/>
            <a:ext cx="4023360" cy="4023360"/>
          </a:xfrm>
          <a:prstGeom prst="ellipse">
            <a:avLst/>
          </a:prstGeom>
          <a:solidFill>
            <a:srgbClr val="FDEEDA"/>
          </a:solidFill>
          <a:ln w="12700">
            <a:solidFill>
              <a:srgbClr val="FDEEDA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6916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PRESENTATION · HEALTHCARE · 2026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057400"/>
            <a:ext cx="5303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CortexSkills for Healthcare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566160"/>
            <a:ext cx="50292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for hospitals and clinics — from accreditation requirements to certified, evaluated staff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0350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Consulting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5888736" y="1179576"/>
            <a:ext cx="5870448" cy="3710178"/>
          </a:xfrm>
          <a:prstGeom prst="roundRect">
            <a:avLst>
              <a:gd name="adj" fmla="val 197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943600" y="1234440"/>
            <a:ext cx="5760720" cy="36004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this presentation covers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Agenda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HeartPuls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320040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healthcare challenge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Accreditation, patient safety and new skills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429768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RefreshCw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25619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694944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1700" dirty="0"/>
          </a:p>
        </p:txBody>
      </p:sp>
      <p:sp>
        <p:nvSpPr>
          <p:cNvPr id="18" name="Text 14"/>
          <p:cNvSpPr txBox="1"/>
          <p:nvPr/>
        </p:nvSpPr>
        <p:spPr>
          <a:xfrm>
            <a:off x="457200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Lifecycle, gates, healthcare processes</a:t>
            </a:r>
            <a:endParaRPr lang="en-US" sz="1300" dirty="0"/>
          </a:p>
        </p:txBody>
      </p:sp>
      <p:sp>
        <p:nvSpPr>
          <p:cNvPr id="19" name="Shape 15"/>
          <p:cNvSpPr/>
          <p:nvPr/>
        </p:nvSpPr>
        <p:spPr>
          <a:xfrm>
            <a:off x="8046720" y="182880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Shape 16"/>
          <p:cNvSpPr/>
          <p:nvPr/>
        </p:nvSpPr>
        <p:spPr>
          <a:xfrm>
            <a:off x="8321040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1" name="Image 2" descr="Hospital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74659" y="2256739"/>
            <a:ext cx="332842" cy="332842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10698480" y="21488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3" name="Text 18"/>
          <p:cNvSpPr txBox="1"/>
          <p:nvPr/>
        </p:nvSpPr>
        <p:spPr>
          <a:xfrm>
            <a:off x="8321040" y="28346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hospital group</a:t>
            </a:r>
            <a:endParaRPr lang="en-US" sz="1700" dirty="0"/>
          </a:p>
        </p:txBody>
      </p:sp>
      <p:sp>
        <p:nvSpPr>
          <p:cNvPr id="24" name="Text 19"/>
          <p:cNvSpPr txBox="1"/>
          <p:nvPr/>
        </p:nvSpPr>
        <p:spPr>
          <a:xfrm>
            <a:off x="8321040" y="321868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AI skills run, phase by phase</a:t>
            </a:r>
            <a:endParaRPr lang="en-US" sz="1300" dirty="0"/>
          </a:p>
        </p:txBody>
      </p:sp>
      <p:sp>
        <p:nvSpPr>
          <p:cNvPr id="25" name="Shape 20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82296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7" name="Image 3" descr="Stethoscop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76579" y="4405579"/>
            <a:ext cx="332842" cy="332842"/>
          </a:xfrm>
          <a:prstGeom prst="rect">
            <a:avLst/>
          </a:prstGeom>
        </p:spPr>
      </p:pic>
      <p:sp>
        <p:nvSpPr>
          <p:cNvPr id="28" name="Text 22"/>
          <p:cNvSpPr txBox="1"/>
          <p:nvPr/>
        </p:nvSpPr>
        <p:spPr>
          <a:xfrm>
            <a:off x="320040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29" name="Text 23"/>
          <p:cNvSpPr txBox="1"/>
          <p:nvPr/>
        </p:nvSpPr>
        <p:spPr>
          <a:xfrm>
            <a:off x="82296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clinic</a:t>
            </a:r>
            <a:endParaRPr lang="en-US" sz="1700" dirty="0"/>
          </a:p>
        </p:txBody>
      </p:sp>
      <p:sp>
        <p:nvSpPr>
          <p:cNvPr id="30" name="Text 24"/>
          <p:cNvSpPr txBox="1"/>
          <p:nvPr/>
        </p:nvSpPr>
        <p:spPr>
          <a:xfrm>
            <a:off x="82296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method on an SME track</a:t>
            </a:r>
            <a:endParaRPr lang="en-US" sz="1300" dirty="0"/>
          </a:p>
        </p:txBody>
      </p:sp>
      <p:sp>
        <p:nvSpPr>
          <p:cNvPr id="31" name="Shape 25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2" name="Shape 26"/>
          <p:cNvSpPr/>
          <p:nvPr/>
        </p:nvSpPr>
        <p:spPr>
          <a:xfrm>
            <a:off x="457200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3" name="Image 4" descr="FlaskConical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25619" y="4405579"/>
            <a:ext cx="332842" cy="332842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694944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2200" dirty="0"/>
          </a:p>
        </p:txBody>
      </p:sp>
      <p:sp>
        <p:nvSpPr>
          <p:cNvPr id="35" name="Text 28"/>
          <p:cNvSpPr txBox="1"/>
          <p:nvPr/>
        </p:nvSpPr>
        <p:spPr>
          <a:xfrm>
            <a:off x="457200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 ecosystem</a:t>
            </a:r>
            <a:endParaRPr lang="en-US" sz="1700" dirty="0"/>
          </a:p>
        </p:txBody>
      </p:sp>
      <p:sp>
        <p:nvSpPr>
          <p:cNvPr id="36" name="Text 29"/>
          <p:cNvSpPr txBox="1"/>
          <p:nvPr/>
        </p:nvSpPr>
        <p:spPr>
          <a:xfrm>
            <a:off x="457200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 and pharma</a:t>
            </a:r>
            <a:endParaRPr lang="en-US" sz="1300" dirty="0"/>
          </a:p>
        </p:txBody>
      </p:sp>
      <p:sp>
        <p:nvSpPr>
          <p:cNvPr id="37" name="Shape 30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8" name="Shape 31"/>
          <p:cNvSpPr/>
          <p:nvPr/>
        </p:nvSpPr>
        <p:spPr>
          <a:xfrm>
            <a:off x="8321040" y="425196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9" name="Image 5" descr="ShieldChe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74659" y="4405579"/>
            <a:ext cx="332842" cy="332842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10698480" y="429768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2200" dirty="0"/>
          </a:p>
        </p:txBody>
      </p:sp>
      <p:sp>
        <p:nvSpPr>
          <p:cNvPr id="41" name="Text 33"/>
          <p:cNvSpPr txBox="1"/>
          <p:nvPr/>
        </p:nvSpPr>
        <p:spPr>
          <a:xfrm>
            <a:off x="8321040" y="49834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and next steps</a:t>
            </a:r>
            <a:endParaRPr lang="en-US" sz="1700" dirty="0"/>
          </a:p>
        </p:txBody>
      </p:sp>
      <p:sp>
        <p:nvSpPr>
          <p:cNvPr id="42" name="Text 34"/>
          <p:cNvSpPr txBox="1"/>
          <p:nvPr/>
        </p:nvSpPr>
        <p:spPr>
          <a:xfrm>
            <a:off x="8321040" y="5367528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deployment, packs, plan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hospital group, one AI skills run, measured end to end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 · 4,700 employees · Casablanca · figures from the seeded demonstration run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Executive summary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12140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parkl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23113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65%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265 tasks completed in the AI skills run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Fla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23113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of 6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gates signed off with a “Go” decision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ClipboardLis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23113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responses, 91% average completeness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92024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Wallet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23113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4825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1,260,000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7004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budget in the locked 2026 plan</a:t>
            </a:r>
            <a:endParaRPr lang="en-US" sz="1150" dirty="0"/>
          </a:p>
        </p:txBody>
      </p:sp>
      <p:sp>
        <p:nvSpPr>
          <p:cNvPr id="28" name="Shape 22"/>
          <p:cNvSpPr/>
          <p:nvPr/>
        </p:nvSpPr>
        <p:spPr>
          <a:xfrm>
            <a:off x="548640" y="3429000"/>
            <a:ext cx="11094415" cy="2651760"/>
          </a:xfrm>
          <a:prstGeom prst="roundRect">
            <a:avLst>
              <a:gd name="adj" fmla="val 413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3"/>
          <p:cNvSpPr txBox="1"/>
          <p:nvPr/>
        </p:nvSpPr>
        <p:spPr>
          <a:xfrm>
            <a:off x="868680" y="361188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the run shows</a:t>
            </a:r>
            <a:endParaRPr lang="en-US" sz="1800" dirty="0"/>
          </a:p>
        </p:txBody>
      </p:sp>
      <p:sp>
        <p:nvSpPr>
          <p:cNvPr id="30" name="Shape 24"/>
          <p:cNvSpPr/>
          <p:nvPr/>
        </p:nvSpPr>
        <p:spPr>
          <a:xfrm>
            <a:off x="868680" y="411480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31" name="Image 4" descr="Check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69630" y="4215750"/>
            <a:ext cx="218724" cy="218724"/>
          </a:xfrm>
          <a:prstGeom prst="rect">
            <a:avLst/>
          </a:prstGeom>
        </p:spPr>
      </p:pic>
      <p:sp>
        <p:nvSpPr>
          <p:cNvPr id="32" name="Text 25"/>
          <p:cNvSpPr txBox="1"/>
          <p:nvPr/>
        </p:nvSpPr>
        <p:spPr>
          <a:xfrm>
            <a:off x="1463040" y="4078224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flagged 11 of 21 function × decision-level cells as Red; Clinical Care &amp; Nursing is Red at strategic and operational levels.</a:t>
            </a:r>
            <a:endParaRPr lang="en-US" sz="1350" dirty="0"/>
          </a:p>
        </p:txBody>
      </p:sp>
      <p:sp>
        <p:nvSpPr>
          <p:cNvPr id="33" name="Shape 26"/>
          <p:cNvSpPr/>
          <p:nvPr/>
        </p:nvSpPr>
        <p:spPr>
          <a:xfrm>
            <a:off x="868680" y="4590288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4" name="Image 5" descr="ArrowRight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69630" y="4691238"/>
            <a:ext cx="218724" cy="218724"/>
          </a:xfrm>
          <a:prstGeom prst="rect">
            <a:avLst/>
          </a:prstGeom>
        </p:spPr>
      </p:pic>
      <p:sp>
        <p:nvSpPr>
          <p:cNvPr id="35" name="Text 27"/>
          <p:cNvSpPr txBox="1"/>
          <p:nvPr/>
        </p:nvSpPr>
        <p:spPr>
          <a:xfrm>
            <a:off x="1463040" y="4553712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AI themes were prioritized by impact and urgency; “AI triage and clinical decision support” ranks first (impact 5, urgency 4).</a:t>
            </a:r>
            <a:endParaRPr lang="en-US" sz="1350" dirty="0"/>
          </a:p>
        </p:txBody>
      </p:sp>
      <p:sp>
        <p:nvSpPr>
          <p:cNvPr id="36" name="Shape 28"/>
          <p:cNvSpPr/>
          <p:nvPr/>
        </p:nvSpPr>
        <p:spPr>
          <a:xfrm>
            <a:off x="868680" y="5065776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7" name="Image 6" descr="ShieldCheck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69630" y="5166726"/>
            <a:ext cx="218724" cy="218724"/>
          </a:xfrm>
          <a:prstGeom prst="rect">
            <a:avLst/>
          </a:prstGeom>
        </p:spPr>
      </p:pic>
      <p:sp>
        <p:nvSpPr>
          <p:cNvPr id="38" name="Text 29"/>
          <p:cNvSpPr txBox="1"/>
          <p:nvPr/>
        </p:nvSpPr>
        <p:spPr>
          <a:xfrm>
            <a:off x="1463040" y="5029200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 evaluations range from 74% to 93%; one ISO 7101 awareness certificate has expired and one is expiring.</a:t>
            </a:r>
            <a:endParaRPr lang="en-US" sz="1350" dirty="0"/>
          </a:p>
        </p:txBody>
      </p:sp>
      <p:sp>
        <p:nvSpPr>
          <p:cNvPr id="39" name="Shape 30"/>
          <p:cNvSpPr/>
          <p:nvPr/>
        </p:nvSpPr>
        <p:spPr>
          <a:xfrm>
            <a:off x="868680" y="5541264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7" descr="CircleDot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9630" y="5642214"/>
            <a:ext cx="218724" cy="218724"/>
          </a:xfrm>
          <a:prstGeom prst="rect">
            <a:avLst/>
          </a:prstGeom>
        </p:spPr>
      </p:pic>
      <p:sp>
        <p:nvSpPr>
          <p:cNvPr id="41" name="Text 31"/>
          <p:cNvSpPr txBox="1"/>
          <p:nvPr/>
        </p:nvSpPr>
        <p:spPr>
          <a:xfrm>
            <a:off x="1463040" y="5504688"/>
            <a:ext cx="9859975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one of the 265 RACSI activities has exactly one Accountable; 381 audit entries trace the changes.</a:t>
            </a:r>
            <a:endParaRPr lang="en-US" sz="13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healthcare challenge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Accreditation, patient safety and the shift to digital and AI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PROVIDERS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 safety depends on proven competence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accreditation bodies ask for evidence that each role is trained, assessed and current.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7101</a:t>
            </a:r>
            <a:endParaRPr lang="en-US" sz="19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quality management: competence determined per role, training records kept, effectiveness evaluated.</a:t>
            </a:r>
            <a:endParaRPr lang="en-US" sz="1350" dirty="0"/>
          </a:p>
        </p:txBody>
      </p:sp>
      <p:sp>
        <p:nvSpPr>
          <p:cNvPr id="13" name="Shape 10"/>
          <p:cNvSpPr/>
          <p:nvPr/>
        </p:nvSpPr>
        <p:spPr>
          <a:xfrm>
            <a:off x="429768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Badg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30352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JCI Standards</a:t>
            </a:r>
            <a:endParaRPr lang="en-US" sz="1900" dirty="0"/>
          </a:p>
        </p:txBody>
      </p:sp>
      <p:sp>
        <p:nvSpPr>
          <p:cNvPr id="17" name="Text 13"/>
          <p:cNvSpPr txBox="1"/>
          <p:nvPr/>
        </p:nvSpPr>
        <p:spPr>
          <a:xfrm>
            <a:off x="457200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Accreditation surveys check staff qualification and education, with evidence at the level of each practitioner.</a:t>
            </a:r>
            <a:endParaRPr lang="en-US" sz="1350" dirty="0"/>
          </a:p>
        </p:txBody>
      </p:sp>
      <p:sp>
        <p:nvSpPr>
          <p:cNvPr id="18" name="Shape 14"/>
          <p:cNvSpPr/>
          <p:nvPr/>
        </p:nvSpPr>
        <p:spPr>
          <a:xfrm>
            <a:off x="8046720" y="1920240"/>
            <a:ext cx="3520440" cy="2240280"/>
          </a:xfrm>
          <a:prstGeom prst="roundRect">
            <a:avLst>
              <a:gd name="adj" fmla="val 489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Microscope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52560" y="2212848"/>
            <a:ext cx="2377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ISO 15189</a:t>
            </a:r>
            <a:endParaRPr lang="en-US" sz="1900" dirty="0"/>
          </a:p>
        </p:txBody>
      </p:sp>
      <p:sp>
        <p:nvSpPr>
          <p:cNvPr id="22" name="Text 17"/>
          <p:cNvSpPr txBox="1"/>
          <p:nvPr/>
        </p:nvSpPr>
        <p:spPr>
          <a:xfrm>
            <a:off x="8321040" y="28803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Medical laboratories: competence of laboratory personnel, assessed and recorded.</a:t>
            </a:r>
            <a:endParaRPr lang="en-US" sz="1350" dirty="0"/>
          </a:p>
        </p:txBody>
      </p:sp>
      <p:sp>
        <p:nvSpPr>
          <p:cNvPr id="23" name="Shape 18"/>
          <p:cNvSpPr/>
          <p:nvPr/>
        </p:nvSpPr>
        <p:spPr>
          <a:xfrm>
            <a:off x="548640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19"/>
          <p:cNvSpPr txBox="1"/>
          <p:nvPr/>
        </p:nvSpPr>
        <p:spPr>
          <a:xfrm>
            <a:off x="822960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DRIVER</a:t>
            </a:r>
            <a:endParaRPr lang="en-US" sz="1100" dirty="0"/>
          </a:p>
        </p:txBody>
      </p:sp>
      <p:sp>
        <p:nvSpPr>
          <p:cNvPr id="25" name="Text 20"/>
          <p:cNvSpPr txBox="1"/>
          <p:nvPr/>
        </p:nvSpPr>
        <p:spPr>
          <a:xfrm>
            <a:off x="822960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Patient-safety accreditation burden</a:t>
            </a:r>
            <a:endParaRPr lang="en-US" sz="2000" dirty="0"/>
          </a:p>
        </p:txBody>
      </p:sp>
      <p:sp>
        <p:nvSpPr>
          <p:cNvPr id="26" name="Text 21"/>
          <p:cNvSpPr txBox="1"/>
          <p:nvPr/>
        </p:nvSpPr>
        <p:spPr>
          <a:xfrm>
            <a:off x="822960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accreditation cycle requires competence evidence for regulated roles.</a:t>
            </a:r>
            <a:endParaRPr lang="en-US" sz="1300" dirty="0"/>
          </a:p>
        </p:txBody>
      </p:sp>
      <p:sp>
        <p:nvSpPr>
          <p:cNvPr id="27" name="Shape 22"/>
          <p:cNvSpPr/>
          <p:nvPr/>
        </p:nvSpPr>
        <p:spPr>
          <a:xfrm>
            <a:off x="6153912" y="4434840"/>
            <a:ext cx="5486400" cy="1600200"/>
          </a:xfrm>
          <a:prstGeom prst="roundRect">
            <a:avLst>
              <a:gd name="adj" fmla="val 6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3"/>
          <p:cNvSpPr txBox="1"/>
          <p:nvPr/>
        </p:nvSpPr>
        <p:spPr>
          <a:xfrm>
            <a:off x="6428232" y="457200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RISK</a:t>
            </a:r>
            <a:endParaRPr lang="en-US" sz="1100" dirty="0"/>
          </a:p>
        </p:txBody>
      </p:sp>
      <p:sp>
        <p:nvSpPr>
          <p:cNvPr id="29" name="Text 24"/>
          <p:cNvSpPr txBox="1"/>
          <p:nvPr/>
        </p:nvSpPr>
        <p:spPr>
          <a:xfrm>
            <a:off x="6428232" y="4892040"/>
            <a:ext cx="5029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Adverse clinical event linked to a training gap</a:t>
            </a:r>
            <a:endParaRPr lang="en-US" sz="2000" dirty="0"/>
          </a:p>
        </p:txBody>
      </p:sp>
      <p:sp>
        <p:nvSpPr>
          <p:cNvPr id="30" name="Text 25"/>
          <p:cNvSpPr txBox="1"/>
          <p:nvPr/>
        </p:nvSpPr>
        <p:spPr>
          <a:xfrm>
            <a:off x="6428232" y="5394960"/>
            <a:ext cx="5029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at each gate through the healthcare readiness checklist.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CHALLENGES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Learning &amp; Development teams in hospitals must solve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22960" y="2103120"/>
            <a:ext cx="731520" cy="73152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Stethoscop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8525" y="2278685"/>
            <a:ext cx="380390" cy="38039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822960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competence</a:t>
            </a:r>
            <a:endParaRPr lang="en-US" sz="1900" dirty="0"/>
          </a:p>
        </p:txBody>
      </p:sp>
      <p:sp>
        <p:nvSpPr>
          <p:cNvPr id="11" name="Text 8"/>
          <p:cNvSpPr txBox="1"/>
          <p:nvPr/>
        </p:nvSpPr>
        <p:spPr>
          <a:xfrm>
            <a:off x="822960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every Clinical Care &amp; Nursing position to its obligations and keep certificates valid.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3355848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3630168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1" descr="File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5733" y="2278685"/>
            <a:ext cx="380390" cy="380390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3630168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Audit-ready evidence</a:t>
            </a:r>
            <a:endParaRPr lang="en-US" sz="1900" dirty="0"/>
          </a:p>
        </p:txBody>
      </p:sp>
      <p:sp>
        <p:nvSpPr>
          <p:cNvPr id="16" name="Text 12"/>
          <p:cNvSpPr txBox="1"/>
          <p:nvPr/>
        </p:nvSpPr>
        <p:spPr>
          <a:xfrm>
            <a:off x="3630168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Attendance, results and manager observations kept per step, retrievable for a survey.</a:t>
            </a:r>
            <a:endParaRPr lang="en-US" sz="1400" dirty="0"/>
          </a:p>
        </p:txBody>
      </p:sp>
      <p:sp>
        <p:nvSpPr>
          <p:cNvPr id="17" name="Shape 13"/>
          <p:cNvSpPr/>
          <p:nvPr/>
        </p:nvSpPr>
        <p:spPr>
          <a:xfrm>
            <a:off x="6163056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437376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12941" y="2278685"/>
            <a:ext cx="380390" cy="380390"/>
          </a:xfrm>
          <a:prstGeom prst="rect">
            <a:avLst/>
          </a:prstGeom>
        </p:spPr>
      </p:pic>
      <p:sp>
        <p:nvSpPr>
          <p:cNvPr id="20" name="Text 15"/>
          <p:cNvSpPr txBox="1"/>
          <p:nvPr/>
        </p:nvSpPr>
        <p:spPr>
          <a:xfrm>
            <a:off x="6437376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and AI adoption</a:t>
            </a:r>
            <a:endParaRPr lang="en-US" sz="1900" dirty="0"/>
          </a:p>
        </p:txBody>
      </p:sp>
      <p:sp>
        <p:nvSpPr>
          <p:cNvPr id="21" name="Text 16"/>
          <p:cNvSpPr txBox="1"/>
          <p:nvPr/>
        </p:nvSpPr>
        <p:spPr>
          <a:xfrm>
            <a:off x="6437376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records, telemedicine, AI triage and imaging change daily practice.</a:t>
            </a:r>
            <a:endParaRPr lang="en-US" sz="1400" dirty="0"/>
          </a:p>
        </p:txBody>
      </p:sp>
      <p:sp>
        <p:nvSpPr>
          <p:cNvPr id="22" name="Shape 17"/>
          <p:cNvSpPr/>
          <p:nvPr/>
        </p:nvSpPr>
        <p:spPr>
          <a:xfrm>
            <a:off x="8970264" y="182880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9244584" y="2103120"/>
            <a:ext cx="731520" cy="7315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3" descr="Building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420149" y="2278685"/>
            <a:ext cx="380390" cy="380390"/>
          </a:xfrm>
          <a:prstGeom prst="rect">
            <a:avLst/>
          </a:prstGeom>
        </p:spPr>
      </p:pic>
      <p:sp>
        <p:nvSpPr>
          <p:cNvPr id="25" name="Text 19"/>
          <p:cNvSpPr txBox="1"/>
          <p:nvPr/>
        </p:nvSpPr>
        <p:spPr>
          <a:xfrm>
            <a:off x="9244584" y="30632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Multi-site, multilingual</a:t>
            </a:r>
            <a:endParaRPr lang="en-US" sz="1900" dirty="0"/>
          </a:p>
        </p:txBody>
      </p:sp>
      <p:sp>
        <p:nvSpPr>
          <p:cNvPr id="26" name="Text 20"/>
          <p:cNvSpPr txBox="1"/>
          <p:nvPr/>
        </p:nvSpPr>
        <p:spPr>
          <a:xfrm>
            <a:off x="9244584" y="3840480"/>
            <a:ext cx="21031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Several sites and three working languages — English, French and Arabic.</a:t>
            </a:r>
            <a:endParaRPr lang="en-US" sz="14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healthcare verticals, each with its own standards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vertical brings its macro processes, end-to-end processes and readiness checklist.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Providers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12" name="Text 10"/>
          <p:cNvSpPr txBox="1"/>
          <p:nvPr/>
        </p:nvSpPr>
        <p:spPr>
          <a:xfrm>
            <a:off x="822960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JCI Standards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Care &amp; Nursing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Hospitals Group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3355848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3630168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HLS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3630168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1800" dirty="0"/>
          </a:p>
        </p:txBody>
      </p:sp>
      <p:sp>
        <p:nvSpPr>
          <p:cNvPr id="19" name="Text 17"/>
          <p:cNvSpPr txBox="1"/>
          <p:nvPr/>
        </p:nvSpPr>
        <p:spPr>
          <a:xfrm>
            <a:off x="3630168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3630168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13485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MDR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15189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3630168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22" name="Text 20"/>
          <p:cNvSpPr txBox="1"/>
          <p:nvPr/>
        </p:nvSpPr>
        <p:spPr>
          <a:xfrm>
            <a:off x="3630168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Clinical &amp; Laboratory Operations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3630168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Life Sciences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6163056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6437376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6437376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1800" dirty="0"/>
          </a:p>
        </p:txBody>
      </p:sp>
      <p:sp>
        <p:nvSpPr>
          <p:cNvPr id="27" name="Text 25"/>
          <p:cNvSpPr txBox="1"/>
          <p:nvPr/>
        </p:nvSpPr>
        <p:spPr>
          <a:xfrm>
            <a:off x="6437376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28" name="Text 26"/>
          <p:cNvSpPr txBox="1"/>
          <p:nvPr/>
        </p:nvSpPr>
        <p:spPr>
          <a:xfrm>
            <a:off x="6437376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Q9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437376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30" name="Text 28"/>
          <p:cNvSpPr txBox="1"/>
          <p:nvPr/>
        </p:nvSpPr>
        <p:spPr>
          <a:xfrm>
            <a:off x="6437376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Pharmaceutical Quality &amp; Distribution</a:t>
            </a:r>
            <a:endParaRPr lang="en-US" sz="1300" dirty="0"/>
          </a:p>
        </p:txBody>
      </p:sp>
      <p:sp>
        <p:nvSpPr>
          <p:cNvPr id="31" name="Text 29"/>
          <p:cNvSpPr txBox="1"/>
          <p:nvPr/>
        </p:nvSpPr>
        <p:spPr>
          <a:xfrm>
            <a:off x="6437376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Maghreb Pharma Distribution</a:t>
            </a:r>
            <a:endParaRPr lang="en-US" sz="1050" dirty="0"/>
          </a:p>
        </p:txBody>
      </p:sp>
      <p:sp>
        <p:nvSpPr>
          <p:cNvPr id="32" name="Shape 30"/>
          <p:cNvSpPr/>
          <p:nvPr/>
        </p:nvSpPr>
        <p:spPr>
          <a:xfrm>
            <a:off x="8970264" y="1920240"/>
            <a:ext cx="2606040" cy="393192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9244584" y="2103120"/>
            <a:ext cx="210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PHPR</a:t>
            </a:r>
            <a:endParaRPr lang="en-US" sz="1200" dirty="0"/>
          </a:p>
        </p:txBody>
      </p:sp>
      <p:sp>
        <p:nvSpPr>
          <p:cNvPr id="34" name="Text 32"/>
          <p:cNvSpPr txBox="1"/>
          <p:nvPr/>
        </p:nvSpPr>
        <p:spPr>
          <a:xfrm>
            <a:off x="9244584" y="2423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1800" dirty="0"/>
          </a:p>
        </p:txBody>
      </p:sp>
      <p:sp>
        <p:nvSpPr>
          <p:cNvPr id="35" name="Text 33"/>
          <p:cNvSpPr txBox="1"/>
          <p:nvPr/>
        </p:nvSpPr>
        <p:spPr>
          <a:xfrm>
            <a:off x="9244584" y="324612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Standards</a:t>
            </a:r>
            <a:endParaRPr lang="en-US" sz="1100" dirty="0"/>
          </a:p>
        </p:txBody>
      </p:sp>
      <p:sp>
        <p:nvSpPr>
          <p:cNvPr id="36" name="Text 34"/>
          <p:cNvSpPr txBox="1"/>
          <p:nvPr/>
        </p:nvSpPr>
        <p:spPr>
          <a:xfrm>
            <a:off x="9244584" y="3520440"/>
            <a:ext cx="21031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GMP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ICH Q10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FDA 21 CFR Part 11</a:t>
            </a:r>
            <a:endParaRPr lang="en-US" sz="1300" dirty="0"/>
          </a:p>
        </p:txBody>
      </p:sp>
      <p:sp>
        <p:nvSpPr>
          <p:cNvPr id="37" name="Text 35"/>
          <p:cNvSpPr txBox="1"/>
          <p:nvPr/>
        </p:nvSpPr>
        <p:spPr>
          <a:xfrm>
            <a:off x="9244584" y="443484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</a:t>
            </a:r>
            <a:endParaRPr lang="en-US" sz="1100" dirty="0"/>
          </a:p>
        </p:txBody>
      </p:sp>
      <p:sp>
        <p:nvSpPr>
          <p:cNvPr id="38" name="Text 36"/>
          <p:cNvSpPr txBox="1"/>
          <p:nvPr/>
        </p:nvSpPr>
        <p:spPr>
          <a:xfrm>
            <a:off x="9244584" y="4709160"/>
            <a:ext cx="2103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GMP Manufacturing</a:t>
            </a:r>
            <a:endParaRPr lang="en-US" sz="1300" dirty="0"/>
          </a:p>
        </p:txBody>
      </p:sp>
      <p:sp>
        <p:nvSpPr>
          <p:cNvPr id="39" name="Text 37"/>
          <p:cNvSpPr txBox="1"/>
          <p:nvPr/>
        </p:nvSpPr>
        <p:spPr>
          <a:xfrm>
            <a:off x="9244584" y="530352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Demo: Pharma Maghreb Process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PROVIDERS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Priority skills themes, digital and AI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Seeded for the Healthcare Providers vertical; each organization adjusts them during diagnosis.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healthcare challenge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MonitorSmart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00200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skills</a:t>
            </a:r>
            <a:endParaRPr lang="en-US" sz="2000" dirty="0"/>
          </a:p>
        </p:txBody>
      </p:sp>
      <p:sp>
        <p:nvSpPr>
          <p:cNvPr id="12" name="Shape 9"/>
          <p:cNvSpPr/>
          <p:nvPr/>
        </p:nvSpPr>
        <p:spPr>
          <a:xfrm>
            <a:off x="868680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3" name="Text 10"/>
          <p:cNvSpPr txBox="1"/>
          <p:nvPr/>
        </p:nvSpPr>
        <p:spPr>
          <a:xfrm>
            <a:off x="868680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1463040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health records (EHR)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868680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6" name="Text 13"/>
          <p:cNvSpPr txBox="1"/>
          <p:nvPr/>
        </p:nvSpPr>
        <p:spPr>
          <a:xfrm>
            <a:off x="86868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1463040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Telemedicine and remote consultation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868680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68680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1463040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patient scheduling and billing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6153912" y="1920240"/>
            <a:ext cx="5440680" cy="393192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Shape 19"/>
          <p:cNvSpPr/>
          <p:nvPr/>
        </p:nvSpPr>
        <p:spPr>
          <a:xfrm>
            <a:off x="6428232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23" name="Image 1" descr="Sparkle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70878" y="2291486"/>
            <a:ext cx="309067" cy="309067"/>
          </a:xfrm>
          <a:prstGeom prst="rect">
            <a:avLst/>
          </a:prstGeom>
        </p:spPr>
      </p:pic>
      <p:sp>
        <p:nvSpPr>
          <p:cNvPr id="24" name="Text 20"/>
          <p:cNvSpPr txBox="1"/>
          <p:nvPr/>
        </p:nvSpPr>
        <p:spPr>
          <a:xfrm>
            <a:off x="7205472" y="2212848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skills</a:t>
            </a:r>
            <a:endParaRPr lang="en-US" sz="2000" dirty="0"/>
          </a:p>
        </p:txBody>
      </p:sp>
      <p:sp>
        <p:nvSpPr>
          <p:cNvPr id="25" name="Shape 21"/>
          <p:cNvSpPr/>
          <p:nvPr/>
        </p:nvSpPr>
        <p:spPr>
          <a:xfrm>
            <a:off x="6473952" y="308152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6" name="Text 22"/>
          <p:cNvSpPr txBox="1"/>
          <p:nvPr/>
        </p:nvSpPr>
        <p:spPr>
          <a:xfrm>
            <a:off x="6473952" y="308152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300" dirty="0"/>
          </a:p>
        </p:txBody>
      </p:sp>
      <p:sp>
        <p:nvSpPr>
          <p:cNvPr id="27" name="Text 23"/>
          <p:cNvSpPr txBox="1"/>
          <p:nvPr/>
        </p:nvSpPr>
        <p:spPr>
          <a:xfrm>
            <a:off x="7068312" y="306324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500" dirty="0"/>
          </a:p>
        </p:txBody>
      </p:sp>
      <p:sp>
        <p:nvSpPr>
          <p:cNvPr id="28" name="Shape 24"/>
          <p:cNvSpPr/>
          <p:nvPr/>
        </p:nvSpPr>
        <p:spPr>
          <a:xfrm>
            <a:off x="6473952" y="395020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29" name="Text 25"/>
          <p:cNvSpPr txBox="1"/>
          <p:nvPr/>
        </p:nvSpPr>
        <p:spPr>
          <a:xfrm>
            <a:off x="6473952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30" name="Text 26"/>
          <p:cNvSpPr txBox="1"/>
          <p:nvPr/>
        </p:nvSpPr>
        <p:spPr>
          <a:xfrm>
            <a:off x="7068312" y="393192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500" dirty="0"/>
          </a:p>
        </p:txBody>
      </p:sp>
      <p:sp>
        <p:nvSpPr>
          <p:cNvPr id="31" name="Shape 27"/>
          <p:cNvSpPr/>
          <p:nvPr/>
        </p:nvSpPr>
        <p:spPr>
          <a:xfrm>
            <a:off x="6473952" y="4818888"/>
            <a:ext cx="384048" cy="384048"/>
          </a:xfrm>
          <a:prstGeom prst="ellipse">
            <a:avLst/>
          </a:prstGeom>
          <a:solidFill>
            <a:srgbClr val="F2F2F3"/>
          </a:solidFill>
          <a:ln w="12700">
            <a:solidFill>
              <a:srgbClr val="E3E3E4"/>
            </a:solidFill>
            <a:prstDash val="solid"/>
          </a:ln>
        </p:spPr>
      </p:sp>
      <p:sp>
        <p:nvSpPr>
          <p:cNvPr id="32" name="Text 28"/>
          <p:cNvSpPr txBox="1"/>
          <p:nvPr/>
        </p:nvSpPr>
        <p:spPr>
          <a:xfrm>
            <a:off x="6473952" y="481888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33" name="Text 29"/>
          <p:cNvSpPr txBox="1"/>
          <p:nvPr/>
        </p:nvSpPr>
        <p:spPr>
          <a:xfrm>
            <a:off x="7068312" y="4800600"/>
            <a:ext cx="4297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5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solution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lifecycle, seven phases, gates, and healthcare-specific processes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LIFECYCLE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lifecycle, seven phases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phase groups end-to-end processes; a gate closes each main phase.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30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G1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2435809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2618689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3000" dirty="0"/>
          </a:p>
        </p:txBody>
      </p:sp>
      <p:sp>
        <p:nvSpPr>
          <p:cNvPr id="15" name="Text 13"/>
          <p:cNvSpPr txBox="1"/>
          <p:nvPr/>
        </p:nvSpPr>
        <p:spPr>
          <a:xfrm>
            <a:off x="2618689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2618689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processes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2618689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G2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32297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450585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3000" dirty="0"/>
          </a:p>
        </p:txBody>
      </p:sp>
      <p:sp>
        <p:nvSpPr>
          <p:cNvPr id="20" name="Text 18"/>
          <p:cNvSpPr txBox="1"/>
          <p:nvPr/>
        </p:nvSpPr>
        <p:spPr>
          <a:xfrm>
            <a:off x="450585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Engineering Report &amp; plan</a:t>
            </a:r>
            <a:endParaRPr lang="en-US" sz="1400" dirty="0"/>
          </a:p>
        </p:txBody>
      </p:sp>
      <p:sp>
        <p:nvSpPr>
          <p:cNvPr id="21" name="Text 19"/>
          <p:cNvSpPr txBox="1"/>
          <p:nvPr/>
        </p:nvSpPr>
        <p:spPr>
          <a:xfrm>
            <a:off x="450585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processes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450585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G3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0148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6393028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6393028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&amp; delivery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6393028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processes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6393028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G4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8097317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280197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3000" dirty="0"/>
          </a:p>
        </p:txBody>
      </p:sp>
      <p:sp>
        <p:nvSpPr>
          <p:cNvPr id="30" name="Text 28"/>
          <p:cNvSpPr txBox="1"/>
          <p:nvPr/>
        </p:nvSpPr>
        <p:spPr>
          <a:xfrm>
            <a:off x="8280197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Evaluation, compliance &amp; impact</a:t>
            </a:r>
            <a:endParaRPr lang="en-US" sz="1400" dirty="0"/>
          </a:p>
        </p:txBody>
      </p:sp>
      <p:sp>
        <p:nvSpPr>
          <p:cNvPr id="31" name="Text 29"/>
          <p:cNvSpPr txBox="1"/>
          <p:nvPr/>
        </p:nvSpPr>
        <p:spPr>
          <a:xfrm>
            <a:off x="8280197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processes</a:t>
            </a:r>
            <a:endParaRPr lang="en-US" sz="1200" dirty="0"/>
          </a:p>
        </p:txBody>
      </p:sp>
      <p:sp>
        <p:nvSpPr>
          <p:cNvPr id="32" name="Text 30"/>
          <p:cNvSpPr txBox="1"/>
          <p:nvPr/>
        </p:nvSpPr>
        <p:spPr>
          <a:xfrm>
            <a:off x="8280197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G5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9984486" y="2103120"/>
            <a:ext cx="1658569" cy="2560320"/>
          </a:xfrm>
          <a:prstGeom prst="roundRect">
            <a:avLst>
              <a:gd name="adj" fmla="val 661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10167366" y="228600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3000" dirty="0"/>
          </a:p>
        </p:txBody>
      </p:sp>
      <p:sp>
        <p:nvSpPr>
          <p:cNvPr id="35" name="Text 33"/>
          <p:cNvSpPr txBox="1"/>
          <p:nvPr/>
        </p:nvSpPr>
        <p:spPr>
          <a:xfrm>
            <a:off x="10167366" y="2880360"/>
            <a:ext cx="1292809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Talent, knowledge &amp; continuous improvement</a:t>
            </a:r>
            <a:endParaRPr lang="en-US" sz="1400" dirty="0"/>
          </a:p>
        </p:txBody>
      </p:sp>
      <p:sp>
        <p:nvSpPr>
          <p:cNvPr id="36" name="Text 34"/>
          <p:cNvSpPr txBox="1"/>
          <p:nvPr/>
        </p:nvSpPr>
        <p:spPr>
          <a:xfrm>
            <a:off x="10167366" y="3840480"/>
            <a:ext cx="1292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processes</a:t>
            </a:r>
            <a:endParaRPr lang="en-US" sz="1200" dirty="0"/>
          </a:p>
        </p:txBody>
      </p:sp>
      <p:sp>
        <p:nvSpPr>
          <p:cNvPr id="37" name="Text 35"/>
          <p:cNvSpPr txBox="1"/>
          <p:nvPr/>
        </p:nvSpPr>
        <p:spPr>
          <a:xfrm>
            <a:off x="10167366" y="4206240"/>
            <a:ext cx="548640" cy="292608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G6</a:t>
            </a:r>
            <a:endParaRPr lang="en-US" sz="1100" dirty="0"/>
          </a:p>
        </p:txBody>
      </p:sp>
      <p:sp>
        <p:nvSpPr>
          <p:cNvPr id="38" name="Shape 36"/>
          <p:cNvSpPr/>
          <p:nvPr/>
        </p:nvSpPr>
        <p:spPr>
          <a:xfrm>
            <a:off x="548640" y="4983480"/>
            <a:ext cx="11094415" cy="960120"/>
          </a:xfrm>
          <a:prstGeom prst="roundRect">
            <a:avLst>
              <a:gd name="adj" fmla="val 11429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Shape 37"/>
          <p:cNvSpPr/>
          <p:nvPr/>
        </p:nvSpPr>
        <p:spPr>
          <a:xfrm>
            <a:off x="777240" y="5157216"/>
            <a:ext cx="603504" cy="60350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40" name="Image 0" descr="Lay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22081" y="5302057"/>
            <a:ext cx="313822" cy="313822"/>
          </a:xfrm>
          <a:prstGeom prst="rect">
            <a:avLst/>
          </a:prstGeom>
        </p:spPr>
      </p:pic>
      <p:sp>
        <p:nvSpPr>
          <p:cNvPr id="41" name="Text 38"/>
          <p:cNvSpPr txBox="1"/>
          <p:nvPr/>
        </p:nvSpPr>
        <p:spPr>
          <a:xfrm>
            <a:off x="1600200" y="5120640"/>
            <a:ext cx="981425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Enablers run across all phases — </a:t>
            </a:r>
            <a:pPr indent="0" marL="0">
              <a:buNone/>
            </a:pPr>
            <a:r>
              <a:rPr lang="en-US" sz="15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data, AI and integration · change and adoption · quality, risk and improvement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gates, each with a checklist and named approvers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phase closes only when the mandatory items are met and the decision is recorded.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108960"/>
                <a:gridCol w="5394960"/>
                <a:gridCol w="2587752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Purpose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Approvers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— Scope &amp; evidence approved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the approved Scope of Work and a consolidated questionnaire dataset.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Consultant PM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G2 — Diagnostic validated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diagnostic findings, gaps, demands, RAG and SWOT.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L&amp;D, HR Director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G3 — Report &amp; roadmap approved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 the Training Engineering Report, prioritized plan and budget.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Steering Committee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G4 — Delivery readiness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Confirm designs, content, trainers and logistics before delivery.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G5 — Evaluation &amp; impact validated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Validate effectiveness, ROI and compliance status.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L&amp;D, Finance Manager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G6 — Closure &amp; continuous improvement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Close the cycle with REX and the post-engagement roadmap.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 Director, Partner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PROCESSES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healthcare macro processes on top of the core model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Added automatically when the organization’s sector is Healthcare Providers.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4884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hiel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606" y="2291486"/>
            <a:ext cx="309067" cy="309067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5448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HCPR-MP-01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Regulatory &amp; Safety Training Compliance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every regulated role in Healthcare Providers trained and certified against ISO 7101.</a:t>
            </a:r>
            <a:endParaRPr lang="en-US" sz="1350" dirty="0"/>
          </a:p>
        </p:txBody>
      </p:sp>
      <p:sp>
        <p:nvSpPr>
          <p:cNvPr id="14" name="Text 11"/>
          <p:cNvSpPr txBox="1"/>
          <p:nvPr/>
        </p:nvSpPr>
        <p:spPr>
          <a:xfrm>
            <a:off x="82296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Compliance Officer</a:t>
            </a:r>
            <a:endParaRPr lang="en-US" sz="1200" dirty="0"/>
          </a:p>
        </p:txBody>
      </p:sp>
      <p:sp>
        <p:nvSpPr>
          <p:cNvPr id="15" name="Shape 12"/>
          <p:cNvSpPr/>
          <p:nvPr/>
        </p:nvSpPr>
        <p:spPr>
          <a:xfrm>
            <a:off x="429768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457200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1" descr="Awar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14646" y="2291486"/>
            <a:ext cx="309067" cy="309067"/>
          </a:xfrm>
          <a:prstGeom prst="rect">
            <a:avLst/>
          </a:prstGeom>
        </p:spPr>
      </p:pic>
      <p:sp>
        <p:nvSpPr>
          <p:cNvPr id="18" name="Text 14"/>
          <p:cNvSpPr txBox="1"/>
          <p:nvPr/>
        </p:nvSpPr>
        <p:spPr>
          <a:xfrm>
            <a:off x="530352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HCPR-MP-02</a:t>
            </a:r>
            <a:endParaRPr lang="en-US" sz="1200" dirty="0"/>
          </a:p>
        </p:txBody>
      </p:sp>
      <p:sp>
        <p:nvSpPr>
          <p:cNvPr id="19" name="Text 15"/>
          <p:cNvSpPr txBox="1"/>
          <p:nvPr/>
        </p:nvSpPr>
        <p:spPr>
          <a:xfrm>
            <a:off x="457200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 Skills &amp; Certification Framework</a:t>
            </a:r>
            <a:endParaRPr lang="en-US" sz="1700" dirty="0"/>
          </a:p>
        </p:txBody>
      </p:sp>
      <p:sp>
        <p:nvSpPr>
          <p:cNvPr id="20" name="Text 16"/>
          <p:cNvSpPr txBox="1"/>
          <p:nvPr/>
        </p:nvSpPr>
        <p:spPr>
          <a:xfrm>
            <a:off x="457200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Define the critical Clinical Care &amp; Nursing skills and their certification paths.</a:t>
            </a:r>
            <a:endParaRPr lang="en-US" sz="1350" dirty="0"/>
          </a:p>
        </p:txBody>
      </p:sp>
      <p:sp>
        <p:nvSpPr>
          <p:cNvPr id="21" name="Text 17"/>
          <p:cNvSpPr txBox="1"/>
          <p:nvPr/>
        </p:nvSpPr>
        <p:spPr>
          <a:xfrm>
            <a:off x="457200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Head of L&amp;D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046720" y="1920240"/>
            <a:ext cx="3520440" cy="3931920"/>
          </a:xfrm>
          <a:prstGeom prst="roundRect">
            <a:avLst>
              <a:gd name="adj" fmla="val 311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3" name="Shape 19"/>
          <p:cNvSpPr/>
          <p:nvPr/>
        </p:nvSpPr>
        <p:spPr>
          <a:xfrm>
            <a:off x="8321040" y="214884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4" name="Image 2" descr="Cpu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63686" y="2291486"/>
            <a:ext cx="309067" cy="309067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9052560" y="2240280"/>
            <a:ext cx="2286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HCPR-MP-03</a:t>
            </a:r>
            <a:endParaRPr lang="en-US" sz="1200" dirty="0"/>
          </a:p>
        </p:txBody>
      </p:sp>
      <p:sp>
        <p:nvSpPr>
          <p:cNvPr id="26" name="Text 21"/>
          <p:cNvSpPr txBox="1"/>
          <p:nvPr/>
        </p:nvSpPr>
        <p:spPr>
          <a:xfrm>
            <a:off x="8321040" y="2926080"/>
            <a:ext cx="30175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Digital &amp; AI Skills Transformation</a:t>
            </a:r>
            <a:endParaRPr lang="en-US" sz="1700" dirty="0"/>
          </a:p>
        </p:txBody>
      </p:sp>
      <p:sp>
        <p:nvSpPr>
          <p:cNvPr id="27" name="Text 22"/>
          <p:cNvSpPr txBox="1"/>
          <p:nvPr/>
        </p:nvSpPr>
        <p:spPr>
          <a:xfrm>
            <a:off x="8321040" y="3794760"/>
            <a:ext cx="3017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the digital and AI skills that Healthcare Providers operations will need.</a:t>
            </a:r>
            <a:endParaRPr lang="en-US" sz="1350" dirty="0"/>
          </a:p>
        </p:txBody>
      </p:sp>
      <p:sp>
        <p:nvSpPr>
          <p:cNvPr id="28" name="Text 23"/>
          <p:cNvSpPr txBox="1"/>
          <p:nvPr/>
        </p:nvSpPr>
        <p:spPr>
          <a:xfrm>
            <a:off x="8321040" y="525780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L&amp;D Strategist</a:t>
            </a:r>
            <a:endParaRPr lang="en-US" sz="12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HEALTHCARE PROCESSES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healthcare end-to-end processes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has a trigger, an end state, the macro processes it crosses and its user-facing tasks.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822960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822960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Compliance-to-Certification Readiness</a:t>
            </a:r>
            <a:endParaRPr lang="en-US" sz="1800" dirty="0"/>
          </a:p>
        </p:txBody>
      </p:sp>
      <p:sp>
        <p:nvSpPr>
          <p:cNvPr id="11" name="Text 9"/>
          <p:cNvSpPr txBox="1"/>
          <p:nvPr/>
        </p:nvSpPr>
        <p:spPr>
          <a:xfrm>
            <a:off x="822960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Keep Healthcare Providers regulated roles certified against ISO 7101.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822960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1920240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ISO 7101 requirement or certification expiry.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state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1920240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compliance extract issued with every critical role certified.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822960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920240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MP-01 · MP-02 · MP-14 · HCPR-MP-01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1920240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user-facing tasks</a:t>
            </a:r>
            <a:endParaRPr lang="en-US" sz="1250" dirty="0"/>
          </a:p>
        </p:txBody>
      </p:sp>
      <p:sp>
        <p:nvSpPr>
          <p:cNvPr id="21" name="Shape 19"/>
          <p:cNvSpPr/>
          <p:nvPr/>
        </p:nvSpPr>
        <p:spPr>
          <a:xfrm>
            <a:off x="6153912" y="1874520"/>
            <a:ext cx="5440680" cy="4160520"/>
          </a:xfrm>
          <a:prstGeom prst="roundRect">
            <a:avLst>
              <a:gd name="adj" fmla="val 263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6428232" y="20574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HCPR-E2E-02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6428232" y="237744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Critical-Skills-to-Transformation Plan</a:t>
            </a:r>
            <a:endParaRPr lang="en-US" sz="1800" dirty="0"/>
          </a:p>
        </p:txBody>
      </p:sp>
      <p:sp>
        <p:nvSpPr>
          <p:cNvPr id="24" name="Text 22"/>
          <p:cNvSpPr txBox="1"/>
          <p:nvPr/>
        </p:nvSpPr>
        <p:spPr>
          <a:xfrm>
            <a:off x="6428232" y="320040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</a:t>
            </a:r>
            <a:endParaRPr lang="en-US" sz="1200" dirty="0"/>
          </a:p>
        </p:txBody>
      </p:sp>
      <p:sp>
        <p:nvSpPr>
          <p:cNvPr id="25" name="Text 23"/>
          <p:cNvSpPr txBox="1"/>
          <p:nvPr/>
        </p:nvSpPr>
        <p:spPr>
          <a:xfrm>
            <a:off x="7525512" y="320040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Turn critical-skill gaps and digital and AI use cases into a transformation plan.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6428232" y="374904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Trigger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525512" y="374904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plan cycle or technology change in Healthcare Providers.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428232" y="429768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state</a:t>
            </a:r>
            <a:endParaRPr lang="en-US" sz="1200" dirty="0"/>
          </a:p>
        </p:txBody>
      </p:sp>
      <p:sp>
        <p:nvSpPr>
          <p:cNvPr id="29" name="Text 27"/>
          <p:cNvSpPr txBox="1"/>
          <p:nvPr/>
        </p:nvSpPr>
        <p:spPr>
          <a:xfrm>
            <a:off x="7525512" y="429768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Transformation learning paths approved.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6428232" y="484632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Crosses</a:t>
            </a:r>
            <a:endParaRPr lang="en-US" sz="1200" dirty="0"/>
          </a:p>
        </p:txBody>
      </p:sp>
      <p:sp>
        <p:nvSpPr>
          <p:cNvPr id="31" name="Text 29"/>
          <p:cNvSpPr txBox="1"/>
          <p:nvPr/>
        </p:nvSpPr>
        <p:spPr>
          <a:xfrm>
            <a:off x="7525512" y="484632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MP-02 · MP-03 · MP-05 · HCPR-MP-02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428232" y="5394960"/>
            <a:ext cx="1097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7525512" y="5394960"/>
            <a:ext cx="38404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user-facing tasks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COMPLIANCE SCAFFOLDING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readiness checklist for Healthcare Providers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Published once for the vertical; used at the gates and in the compliance extract.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5852160" cy="914400"/>
        </p:xfrm>
        <a:graphic>
          <a:graphicData uri="http://schemas.openxmlformats.org/drawingml/2006/table">
            <a:tbl>
              <a:tblPr/>
              <a:tblGrid>
                <a:gridCol w="3840480"/>
                <a:gridCol w="914400"/>
                <a:gridCol w="109728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 item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training requirements mapped to positions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Clinical Care &amp; Nursing roles certified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Sector risk reviewed: Adverse clinical event linked to a training gap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548640" y="4206240"/>
            <a:ext cx="5852160" cy="1783080"/>
          </a:xfrm>
          <a:prstGeom prst="roundRect">
            <a:avLst>
              <a:gd name="adj" fmla="val 61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22960" y="4434840"/>
            <a:ext cx="502920" cy="50292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1" name="Image 0" descr="Inf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43661" y="4555541"/>
            <a:ext cx="261518" cy="261518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1508760" y="4434840"/>
            <a:ext cx="4663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Readiness support, not certification</a:t>
            </a:r>
            <a:endParaRPr lang="en-US" sz="1600" dirty="0"/>
          </a:p>
        </p:txBody>
      </p:sp>
      <p:sp>
        <p:nvSpPr>
          <p:cNvPr id="13" name="Text 9"/>
          <p:cNvSpPr txBox="1"/>
          <p:nvPr/>
        </p:nvSpPr>
        <p:spPr>
          <a:xfrm>
            <a:off x="1508760" y="4846320"/>
            <a:ext cx="46634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 organizes evidence and checks readiness against ISO 7101, JCI and ISO 15189. The certification decision stays with the accreditation body.</a:t>
            </a:r>
            <a:endParaRPr lang="en-US" sz="1250" dirty="0"/>
          </a:p>
        </p:txBody>
      </p:sp>
      <p:sp>
        <p:nvSpPr>
          <p:cNvPr id="14" name="Shape 10"/>
          <p:cNvSpPr/>
          <p:nvPr/>
        </p:nvSpPr>
        <p:spPr>
          <a:xfrm>
            <a:off x="6711696" y="1865376"/>
            <a:ext cx="4956048" cy="3138678"/>
          </a:xfrm>
          <a:prstGeom prst="roundRect">
            <a:avLst>
              <a:gd name="adj" fmla="val 233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5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66560" y="1920240"/>
            <a:ext cx="4846320" cy="302895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ROLES AND ACCOUNTABILITY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 roles, one Accountable per activity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RACSI: Responsible, Accountable, Consulted, Supported, Informed — allocated for every activity of the run.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7059168" cy="4453128"/>
          </a:xfrm>
          <a:prstGeom prst="roundRect">
            <a:avLst>
              <a:gd name="adj" fmla="val 1643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949440" cy="434340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863840" y="1874520"/>
            <a:ext cx="3779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Examples of roles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7863840" y="2240280"/>
            <a:ext cx="3779215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 Director / Steering Committee Chair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 of L&amp;D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Analyst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Strategist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Business Partner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L&amp;D Planner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Instructional Designer</a:t>
            </a:r>
            <a:endParaRPr lang="en-US" sz="1250" dirty="0"/>
          </a:p>
          <a:p>
            <a:pPr marL="152400" indent="-152400">
              <a:buSzPct val="100000"/>
              <a:buChar char="•"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Administrator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7863840" y="4754880"/>
            <a:ext cx="37792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8065008" y="495604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4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74736" y="5065776"/>
            <a:ext cx="237744" cy="237744"/>
          </a:xfrm>
          <a:prstGeom prst="rect">
            <a:avLst/>
          </a:prstGeom>
        </p:spPr>
      </p:pic>
      <p:sp>
        <p:nvSpPr>
          <p:cNvPr id="15" name="Text 11"/>
          <p:cNvSpPr txBox="1"/>
          <p:nvPr/>
        </p:nvSpPr>
        <p:spPr>
          <a:xfrm>
            <a:off x="8641080" y="4882896"/>
            <a:ext cx="2864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265</a:t>
            </a:r>
            <a:endParaRPr lang="en-US" sz="2600" dirty="0"/>
          </a:p>
        </p:txBody>
      </p:sp>
      <p:sp>
        <p:nvSpPr>
          <p:cNvPr id="16" name="Text 12"/>
          <p:cNvSpPr txBox="1"/>
          <p:nvPr/>
        </p:nvSpPr>
        <p:spPr>
          <a:xfrm>
            <a:off x="8065008" y="5504688"/>
            <a:ext cx="34134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activities in the hospital run, each with exactly one Accountable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WITH A HUMAN CHECKPOINT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36 AI use cases, each reviewed by a person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drafts; a named role accepts, edits or rejects. Every suggestion is logged with its outcome.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874520"/>
          <a:ext cx="4754880" cy="35661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48640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catalog AI use cases by risk level</a:t>
            </a:r>
            <a:endParaRPr lang="en-US" sz="10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1737360"/>
                <a:gridCol w="731520"/>
                <a:gridCol w="3502152"/>
              </a:tblGrid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 case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checkpoint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Engineering Report drafting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Strategist edits every section; Quality Manager reviews before approval.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Diagnostic findings drafting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Consultant PM validates findings with the client sponsor.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 prioritization scoring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Strategist confirms the ranking; Steering Committee validates the plan.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Skill gap forecasting (6-18 months)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Head of L&amp;D accepts or rejects each prediction before any action.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7315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Content translation draft (FR/AR)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Subject Matter Expert validates terminology before publication.</a:t>
                      </a:r>
                      <a:endParaRPr lang="en-US" sz="1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hospital group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Hospitals Group — 4,700 employees, Casablanca. Demonstration data, fictional organization.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PROFILE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Maghreb Hospitals Group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Member of Maghreb Health &amp; Life Group · Healthcare Providers · large company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User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4,700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employees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Networ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functions in the organization structure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User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29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users, one per role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RefreshCw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runs in 2026: Digital and AI</a:t>
            </a:r>
            <a:endParaRPr lang="en-US" sz="11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42900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8165592"/>
              </a:tblGrid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Setting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Operations, Quality &amp; HSE, Finance, Human Resources, Sales &amp; Marketing, Information Systems, Clinical Care &amp; Nursing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Full Suite (PK-01 to PK-08)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Multi-Site / Multi-Entity Deployment; Questionnaire Library &amp; Multi-Channel Distribution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protection frameworks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GDPR, Law 09-08 (CNDP, Morocco), ISO 9001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Deployment · seats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SaaS · 600 seats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9319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Justification on governed changes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AI skills run on one screen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Full Run 2026 — Maghreb Hospitals Group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65% of 265 tasks completed; 7 in progress, 1 blocked.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tasks overdue — each raises an alert with an escalation chain.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score 84: Full mode, all seven phases and six gates.</a:t>
            </a:r>
            <a:endParaRPr lang="en-US" sz="14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 · TWO RUNS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Two runs: the Digital run leads on delivery and evaluation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per phase, same organization, same template.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58952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589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/ tasks planned in each phase (%)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503920" y="182880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0508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MonitorSmart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481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281160" y="195681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208 / 265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705088" y="257860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the Digital run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503920" y="3246120"/>
            <a:ext cx="313913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705088" y="34472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14816" y="355701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281160" y="3374136"/>
            <a:ext cx="22247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171 / 265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705088" y="3995928"/>
            <a:ext cx="277337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the AI run</a:t>
            </a:r>
            <a:endParaRPr lang="en-US" sz="1150" dirty="0"/>
          </a:p>
        </p:txBody>
      </p:sp>
      <p:sp>
        <p:nvSpPr>
          <p:cNvPr id="20" name="Text 15"/>
          <p:cNvSpPr txBox="1"/>
          <p:nvPr/>
        </p:nvSpPr>
        <p:spPr>
          <a:xfrm>
            <a:off x="8503920" y="4663440"/>
            <a:ext cx="313913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diagnosis and the report are complete in both runs; the gap opens in delivery and evaluation.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0 · COMPLEXITY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score 84 out of 100: Full mode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Seven weighted criteria rated 1–5 when the project is created; the score recommends the mode.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Rating of each complexity criterion (1 = low, 5 = high)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955280" y="1828800"/>
            <a:ext cx="3687775" cy="1920240"/>
          </a:xfrm>
          <a:prstGeom prst="roundRect">
            <a:avLst>
              <a:gd name="adj" fmla="val 571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229600" y="1965960"/>
            <a:ext cx="1828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84</a:t>
            </a:r>
            <a:endParaRPr lang="en-US" sz="54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971800"/>
            <a:ext cx="323057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mode: score of 70 or more</a:t>
            </a:r>
            <a:endParaRPr lang="en-US" sz="1400" dirty="0"/>
          </a:p>
        </p:txBody>
      </p:sp>
      <p:sp>
        <p:nvSpPr>
          <p:cNvPr id="13" name="Text 10"/>
          <p:cNvSpPr txBox="1"/>
          <p:nvPr/>
        </p:nvSpPr>
        <p:spPr>
          <a:xfrm>
            <a:off x="7955280" y="4023360"/>
            <a:ext cx="3687775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Below 70, the score recommends SME mode and one of three tracks (T1, T2, T3). Choosing a different track requires a written justification.</a:t>
            </a:r>
            <a:endParaRPr lang="en-US" sz="135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SCOPE OF WORK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scope approved before any data is collected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on 15 Jul 2026 · focus AI · decision levels MS / MO / OP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Grid3x3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17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criteria: function × decision level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User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in the register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ShieldCheck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40/40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with consent recorded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File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v1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version of the Scope of Work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by decision level</a:t>
            </a:r>
            <a:endParaRPr lang="en-US" sz="1000" dirty="0"/>
          </a:p>
        </p:txBody>
      </p:sp>
      <p:graphicFrame>
        <p:nvGraphicFramePr>
          <p:cNvPr id="30" name="Chart 1" descr=""/>
          <p:cNvGraphicFramePr/>
          <p:nvPr/>
        </p:nvGraphicFramePr>
        <p:xfrm>
          <a:off x="6217920" y="3337560"/>
          <a:ext cx="5394960" cy="25603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6"/>
          </a:graphicData>
        </a:graphic>
      </p:graphicFrame>
      <p:sp>
        <p:nvSpPr>
          <p:cNvPr id="31" name="Text 23"/>
          <p:cNvSpPr txBox="1"/>
          <p:nvPr/>
        </p:nvSpPr>
        <p:spPr>
          <a:xfrm>
            <a:off x="6217920" y="5943600"/>
            <a:ext cx="53949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Stakeholders by preferred channel</a:t>
            </a:r>
            <a:endParaRPr lang="en-US" sz="10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 · EVIDENCE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questionnaire responses, 91% complete on average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drafted by AI from the Scope of Work, validated by a person, sent through each stakeholder’s channel.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75488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Questionnaire responses by channel used</a:t>
            </a:r>
            <a:endParaRPr lang="en-US" sz="1000" dirty="0"/>
          </a:p>
        </p:txBody>
      </p:sp>
      <p:graphicFrame>
        <p:nvGraphicFramePr>
          <p:cNvPr id="10" name="Chart 1" descr=""/>
          <p:cNvGraphicFramePr/>
          <p:nvPr/>
        </p:nvGraphicFramePr>
        <p:xfrm>
          <a:off x="5669280" y="1783080"/>
          <a:ext cx="594360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5669280" y="5852160"/>
            <a:ext cx="5943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Responses by completeness of the answers</a:t>
            </a:r>
            <a:endParaRPr lang="en-US" sz="10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 G1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 — Scope &amp; evidence approved: “Go”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Decided on 23 Jul 2026 · All mandatory items met; evidence attached.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graphicFrame>
        <p:nvGraphicFramePr>
          <p:cNvPr id="2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6885432"/>
                <a:gridCol w="1371600"/>
                <a:gridCol w="1463040"/>
                <a:gridCol w="1371600"/>
              </a:tblGrid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Checklist item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Mandatory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Evidence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Scope frame recorded (Group Yes/No, Organization, sector)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Decision levels and functions mapped in the criteria matrix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Stakeholder register complete with channels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Every AI-generated question validated by a person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—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Consent confirmed for every stored response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Yes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Attached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Done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5321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gate cannot be signed off while a mandatory item is open; the approvers are HR Director and Consultant PM.</a:t>
            </a:r>
            <a:endParaRPr lang="en-US" sz="10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DIAGNOSIS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Five-axis diagnostic: information systems score lowest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 validated with the sponsor · scores on a 0–5 scale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37360"/>
          <a:ext cx="603504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603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of each diagnostic axis (0–5)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6949440" y="187452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7223760" y="201168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CMM maturity</a:t>
            </a:r>
            <a:endParaRPr lang="en-US" sz="1400" dirty="0"/>
          </a:p>
        </p:txBody>
      </p:sp>
      <p:sp>
        <p:nvSpPr>
          <p:cNvPr id="12" name="Text 9"/>
          <p:cNvSpPr txBox="1"/>
          <p:nvPr/>
        </p:nvSpPr>
        <p:spPr>
          <a:xfrm>
            <a:off x="7223760" y="237744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3" name="Text 10"/>
          <p:cNvSpPr txBox="1"/>
          <p:nvPr/>
        </p:nvSpPr>
        <p:spPr>
          <a:xfrm>
            <a:off x="9326880" y="251460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level → target level (1–5)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6949440" y="3383280"/>
            <a:ext cx="4693615" cy="1325880"/>
          </a:xfrm>
          <a:prstGeom prst="roundRect">
            <a:avLst>
              <a:gd name="adj" fmla="val 827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2"/>
          <p:cNvSpPr txBox="1"/>
          <p:nvPr/>
        </p:nvSpPr>
        <p:spPr>
          <a:xfrm>
            <a:off x="7223760" y="3520440"/>
            <a:ext cx="414497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Leadership maturity</a:t>
            </a:r>
            <a:endParaRPr lang="en-US" sz="1400" dirty="0"/>
          </a:p>
        </p:txBody>
      </p:sp>
      <p:sp>
        <p:nvSpPr>
          <p:cNvPr id="16" name="Text 13"/>
          <p:cNvSpPr txBox="1"/>
          <p:nvPr/>
        </p:nvSpPr>
        <p:spPr>
          <a:xfrm>
            <a:off x="7223760" y="3886200"/>
            <a:ext cx="22860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pPr indent="0" marL="0">
              <a:buNone/>
            </a:pPr>
            <a:r>
              <a:rPr lang="en-US" sz="3200" b="1" dirty="0">
                <a:solidFill>
                  <a:srgbClr val="80818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  →  </a:t>
            </a:r>
            <a:pPr indent="0" marL="0">
              <a:buNone/>
            </a:pPr>
            <a:r>
              <a:rPr lang="en-US" sz="3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3200" dirty="0"/>
          </a:p>
        </p:txBody>
      </p:sp>
      <p:sp>
        <p:nvSpPr>
          <p:cNvPr id="17" name="Text 14"/>
          <p:cNvSpPr txBox="1"/>
          <p:nvPr/>
        </p:nvSpPr>
        <p:spPr>
          <a:xfrm>
            <a:off x="9326880" y="4023360"/>
            <a:ext cx="213329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current level → target level (1–5)</a:t>
            </a:r>
            <a:endParaRPr lang="en-US" sz="1200" dirty="0"/>
          </a:p>
        </p:txBody>
      </p:sp>
      <p:sp>
        <p:nvSpPr>
          <p:cNvPr id="18" name="Text 15"/>
          <p:cNvSpPr txBox="1"/>
          <p:nvPr/>
        </p:nvSpPr>
        <p:spPr>
          <a:xfrm>
            <a:off x="6949440" y="4983480"/>
            <a:ext cx="469361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Lowest axis: information systems (2). Highest: strategy (3.4).</a:t>
            </a:r>
            <a:endParaRPr lang="en-US" sz="14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PERFORMANCE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 of 21 cells are Red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by function and decision level: MS strategic, MO managerial, OP operational.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graphicFrame>
        <p:nvGraphicFramePr>
          <p:cNvPr id="2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766560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1280160"/>
                <a:gridCol w="1280160"/>
                <a:gridCol w="1280160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Quality &amp; HSE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Finance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Human Resources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Sales &amp; Marketing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Information Systems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92%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54%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Clinical Care &amp; Nursing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63%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87%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59%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760720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 per cell; fill shows the RAG status (red, amber, green)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772400" y="1874520"/>
            <a:ext cx="3870655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Text 8"/>
          <p:cNvSpPr txBox="1"/>
          <p:nvPr/>
        </p:nvSpPr>
        <p:spPr>
          <a:xfrm>
            <a:off x="8046720" y="2057400"/>
            <a:ext cx="33220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Clinical Care &amp; Nursing</a:t>
            </a:r>
            <a:endParaRPr lang="en-US" sz="1700" dirty="0"/>
          </a:p>
        </p:txBody>
      </p:sp>
      <p:sp>
        <p:nvSpPr>
          <p:cNvPr id="12" name="Text 9"/>
          <p:cNvSpPr txBox="1"/>
          <p:nvPr/>
        </p:nvSpPr>
        <p:spPr>
          <a:xfrm>
            <a:off x="8046720" y="2606040"/>
            <a:ext cx="640080" cy="365760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</a:t>
            </a:r>
            <a:endParaRPr lang="en-US" sz="1300" dirty="0"/>
          </a:p>
        </p:txBody>
      </p:sp>
      <p:sp>
        <p:nvSpPr>
          <p:cNvPr id="13" name="Text 10"/>
          <p:cNvSpPr txBox="1"/>
          <p:nvPr/>
        </p:nvSpPr>
        <p:spPr>
          <a:xfrm>
            <a:off x="8823960" y="258775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63% · Red</a:t>
            </a:r>
            <a:endParaRPr lang="en-US" sz="1300" dirty="0"/>
          </a:p>
        </p:txBody>
      </p:sp>
      <p:sp>
        <p:nvSpPr>
          <p:cNvPr id="14" name="Text 11"/>
          <p:cNvSpPr txBox="1"/>
          <p:nvPr/>
        </p:nvSpPr>
        <p:spPr>
          <a:xfrm>
            <a:off x="8823960" y="290779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triage and clinical decision support</a:t>
            </a:r>
            <a:endParaRPr lang="en-US" sz="1150" dirty="0"/>
          </a:p>
        </p:txBody>
      </p:sp>
      <p:sp>
        <p:nvSpPr>
          <p:cNvPr id="15" name="Text 12"/>
          <p:cNvSpPr txBox="1"/>
          <p:nvPr/>
        </p:nvSpPr>
        <p:spPr>
          <a:xfrm>
            <a:off x="8046720" y="3566160"/>
            <a:ext cx="640080" cy="365760"/>
          </a:xfrm>
          <a:prstGeom prst="rect">
            <a:avLst/>
          </a:prstGeom>
          <a:solidFill>
            <a:srgbClr val="808184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8823960" y="354787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87% · Amber</a:t>
            </a:r>
            <a:endParaRPr lang="en-US" sz="1300" dirty="0"/>
          </a:p>
        </p:txBody>
      </p:sp>
      <p:sp>
        <p:nvSpPr>
          <p:cNvPr id="17" name="Text 14"/>
          <p:cNvSpPr txBox="1"/>
          <p:nvPr/>
        </p:nvSpPr>
        <p:spPr>
          <a:xfrm>
            <a:off x="8823960" y="386791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medical imaging assistance</a:t>
            </a:r>
            <a:endParaRPr lang="en-US" sz="1150" dirty="0"/>
          </a:p>
        </p:txBody>
      </p:sp>
      <p:sp>
        <p:nvSpPr>
          <p:cNvPr id="18" name="Text 15"/>
          <p:cNvSpPr txBox="1"/>
          <p:nvPr/>
        </p:nvSpPr>
        <p:spPr>
          <a:xfrm>
            <a:off x="8046720" y="4526280"/>
            <a:ext cx="640080" cy="365760"/>
          </a:xfrm>
          <a:prstGeom prst="rect">
            <a:avLst/>
          </a:prstGeom>
          <a:solidFill>
            <a:srgbClr val="58595B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</a:t>
            </a:r>
            <a:endParaRPr lang="en-US" sz="1300" dirty="0"/>
          </a:p>
        </p:txBody>
      </p:sp>
      <p:sp>
        <p:nvSpPr>
          <p:cNvPr id="19" name="Text 16"/>
          <p:cNvSpPr txBox="1"/>
          <p:nvPr/>
        </p:nvSpPr>
        <p:spPr>
          <a:xfrm>
            <a:off x="8823960" y="4507992"/>
            <a:ext cx="259049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59% · Red</a:t>
            </a:r>
            <a:endParaRPr lang="en-US" sz="1300" dirty="0"/>
          </a:p>
        </p:txBody>
      </p:sp>
      <p:sp>
        <p:nvSpPr>
          <p:cNvPr id="20" name="Text 17"/>
          <p:cNvSpPr txBox="1"/>
          <p:nvPr/>
        </p:nvSpPr>
        <p:spPr>
          <a:xfrm>
            <a:off x="8823960" y="4828032"/>
            <a:ext cx="259049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Gap: AI bed and staff capacity planning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SWOT AND IMPROVEMENT AXES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Four improvement axes, ranked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SWOT validated for Operations and Quality &amp; HSE.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Strengths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Experienced team; stable processes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337560" y="18745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3566160" y="20574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Weaknesses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25146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use of AI triage and clinical decision support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Opportunities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7724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3337560" y="3931920"/>
            <a:ext cx="2651760" cy="1874520"/>
          </a:xfrm>
          <a:prstGeom prst="roundRect">
            <a:avLst>
              <a:gd name="adj" fmla="val 5854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3566160" y="4114800"/>
            <a:ext cx="2194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Threats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3566160" y="4572000"/>
            <a:ext cx="21945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Stricter ISO 7101 audits</a:t>
            </a:r>
            <a:endParaRPr lang="en-US" sz="1300" dirty="0"/>
          </a:p>
        </p:txBody>
      </p:sp>
      <p:graphicFrame>
        <p:nvGraphicFramePr>
          <p:cNvPr id="20" name="Chart 0" descr=""/>
          <p:cNvGraphicFramePr/>
          <p:nvPr/>
        </p:nvGraphicFramePr>
        <p:xfrm>
          <a:off x="6309360" y="1783080"/>
          <a:ext cx="53035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21" name="Text 18"/>
          <p:cNvSpPr txBox="1"/>
          <p:nvPr/>
        </p:nvSpPr>
        <p:spPr>
          <a:xfrm>
            <a:off x="6309360" y="5852160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progress of each improvement axis, by priority rank (%)</a:t>
            </a:r>
            <a:endParaRPr lang="en-US" sz="10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 · SKILLS GAPS AND NEEDS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individual gaps to validated training demands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Gaps come from skills assessments; needs and demands are validated before prioritization.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749808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0" name="Image 0" descr="Clipboard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59536" y="2185416"/>
            <a:ext cx="237744" cy="237744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325880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2600" dirty="0"/>
          </a:p>
        </p:txBody>
      </p:sp>
      <p:sp>
        <p:nvSpPr>
          <p:cNvPr id="12" name="Text 9"/>
          <p:cNvSpPr txBox="1"/>
          <p:nvPr/>
        </p:nvSpPr>
        <p:spPr>
          <a:xfrm>
            <a:off x="749808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assessments recorded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3355848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3557016" y="207568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TriangleAle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66744" y="2185416"/>
            <a:ext cx="237744" cy="237744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4133088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</a:t>
            </a:r>
            <a:endParaRPr lang="en-US" sz="2600" dirty="0"/>
          </a:p>
        </p:txBody>
      </p:sp>
      <p:sp>
        <p:nvSpPr>
          <p:cNvPr id="17" name="Text 13"/>
          <p:cNvSpPr txBox="1"/>
          <p:nvPr/>
        </p:nvSpPr>
        <p:spPr>
          <a:xfrm>
            <a:off x="3557016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gaps, 2 critical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6163056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6364224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ListCheck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73952" y="2185416"/>
            <a:ext cx="237744" cy="237744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6940296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2600" dirty="0"/>
          </a:p>
        </p:txBody>
      </p:sp>
      <p:sp>
        <p:nvSpPr>
          <p:cNvPr id="22" name="Text 17"/>
          <p:cNvSpPr txBox="1"/>
          <p:nvPr/>
        </p:nvSpPr>
        <p:spPr>
          <a:xfrm>
            <a:off x="6364224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needs, 10 validated</a:t>
            </a:r>
            <a:endParaRPr lang="en-US" sz="1150" dirty="0"/>
          </a:p>
        </p:txBody>
      </p:sp>
      <p:sp>
        <p:nvSpPr>
          <p:cNvPr id="23" name="Shape 18"/>
          <p:cNvSpPr/>
          <p:nvPr/>
        </p:nvSpPr>
        <p:spPr>
          <a:xfrm>
            <a:off x="8970264" y="1874520"/>
            <a:ext cx="2651760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9171432" y="207568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Inbox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281160" y="2185416"/>
            <a:ext cx="237744" cy="237744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9747504" y="2002536"/>
            <a:ext cx="1737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2600" dirty="0"/>
          </a:p>
        </p:txBody>
      </p:sp>
      <p:sp>
        <p:nvSpPr>
          <p:cNvPr id="27" name="Text 21"/>
          <p:cNvSpPr txBox="1"/>
          <p:nvPr/>
        </p:nvSpPr>
        <p:spPr>
          <a:xfrm>
            <a:off x="9171432" y="2624328"/>
            <a:ext cx="22860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demands from managers and staff</a:t>
            </a:r>
            <a:endParaRPr lang="en-US" sz="1150" dirty="0"/>
          </a:p>
        </p:txBody>
      </p:sp>
      <p:graphicFrame>
        <p:nvGraphicFramePr>
          <p:cNvPr id="28" name="Chart 0" descr=""/>
          <p:cNvGraphicFramePr/>
          <p:nvPr/>
        </p:nvGraphicFramePr>
        <p:xfrm>
          <a:off x="548640" y="3291840"/>
          <a:ext cx="7315200" cy="2651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5"/>
          </a:graphicData>
        </a:graphic>
      </p:graphicFrame>
      <p:sp>
        <p:nvSpPr>
          <p:cNvPr id="29" name="Text 22"/>
          <p:cNvSpPr txBox="1"/>
          <p:nvPr/>
        </p:nvSpPr>
        <p:spPr>
          <a:xfrm>
            <a:off x="548640" y="59893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gaps by competency: average gap in proficiency levels and number of gaps</a:t>
            </a:r>
            <a:endParaRPr lang="en-US" sz="1000" dirty="0"/>
          </a:p>
        </p:txBody>
      </p:sp>
      <p:sp>
        <p:nvSpPr>
          <p:cNvPr id="30" name="Text 23"/>
          <p:cNvSpPr txBox="1"/>
          <p:nvPr/>
        </p:nvSpPr>
        <p:spPr>
          <a:xfrm>
            <a:off x="8229600" y="3337560"/>
            <a:ext cx="34134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 demands by priority</a:t>
            </a:r>
            <a:endParaRPr lang="en-US" sz="13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229600" y="3703320"/>
          <a:ext cx="3413455" cy="914400"/>
        </p:xfrm>
        <a:graphic>
          <a:graphicData uri="http://schemas.openxmlformats.org/drawingml/2006/table">
            <a:tbl>
              <a:tblPr/>
              <a:tblGrid>
                <a:gridCol w="2048073"/>
                <a:gridCol w="1365382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Priority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Demands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PRIORITIZATION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Six AI themes, ranked by impact and urgency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proposes a priority score; the L&amp;D Strategist accepts or changes it with a justification.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graphicFrame>
        <p:nvGraphicFramePr>
          <p:cNvPr id="3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457200"/>
                <a:gridCol w="4206240"/>
                <a:gridCol w="1005840"/>
                <a:gridCol w="1005840"/>
                <a:gridCol w="1463040"/>
                <a:gridCol w="1463040"/>
                <a:gridCol w="149047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Impact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Urgency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Days × groups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Budget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× 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B6D7A8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1.5 × 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Internal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× 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Vendor 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25780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and urgency on a 1–5 scale; cell fill follows the status scale (red = 1, dark green = 5). Budget as recorded in the plan.</a:t>
            </a:r>
            <a:endParaRPr lang="en-US" sz="10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REPORT AND ROADMAP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Training Engineering Report, published and versioned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Published · version 2 · 4 sections drafted by AI and reviewed by the Quality Manager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solidFill>
            <a:srgbClr val="F8931D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548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1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2834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2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solidFill>
            <a:srgbClr val="58595B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5120640" y="1874520"/>
            <a:ext cx="2240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Wave 3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94360" y="2468880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13232" y="2505456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triage and clinical decision support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2880360" y="3127248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2999232" y="3163824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medical imaging assistance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5166360" y="3785616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5285232" y="3822192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bed and staff capacity planning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94360" y="4443984"/>
            <a:ext cx="2148840" cy="530352"/>
          </a:xfrm>
          <a:prstGeom prst="roundRect">
            <a:avLst>
              <a:gd name="adj" fmla="val 20690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713232" y="4480560"/>
            <a:ext cx="1920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literacy for all staff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66360"/>
            <a:ext cx="6858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Roadmap initiatives by wave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7772400" y="1874520"/>
            <a:ext cx="387065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objectives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7772400" y="228600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5" name="Text 23"/>
          <p:cNvSpPr txBox="1"/>
          <p:nvPr/>
        </p:nvSpPr>
        <p:spPr>
          <a:xfrm>
            <a:off x="8001000" y="24231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SO-1</a:t>
            </a:r>
            <a:endParaRPr lang="en-US" sz="1200" dirty="0"/>
          </a:p>
        </p:txBody>
      </p:sp>
      <p:sp>
        <p:nvSpPr>
          <p:cNvPr id="26" name="Text 24"/>
          <p:cNvSpPr txBox="1"/>
          <p:nvPr/>
        </p:nvSpPr>
        <p:spPr>
          <a:xfrm>
            <a:off x="8869680" y="242316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 2027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8001000" y="274320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Adopt AI triage and clinical decision support across Clinical Care &amp; Nursing by end 2027</a:t>
            </a:r>
            <a:endParaRPr lang="en-US" sz="1250" dirty="0"/>
          </a:p>
        </p:txBody>
      </p:sp>
      <p:sp>
        <p:nvSpPr>
          <p:cNvPr id="28" name="Shape 26"/>
          <p:cNvSpPr/>
          <p:nvPr/>
        </p:nvSpPr>
        <p:spPr>
          <a:xfrm>
            <a:off x="7772400" y="370332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8001000" y="384048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SO-2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8869680" y="3840480"/>
            <a:ext cx="254477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1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31 Dec 2026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8001000" y="4160520"/>
            <a:ext cx="341345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Zero major findings in ISO 7101 audits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5212080"/>
            <a:ext cx="38706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Healthcare Providers competitive intelligence 2026, updated 24 Sept 2026.</a:t>
            </a:r>
            <a:endParaRPr lang="en-US" sz="11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PLAN AND BUDGET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 plan locked: 1,260,000 budgeted, 35% realized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committed and actual amounts per theme, as recorded (currency set per organization).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78638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7863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Planned, committed and actual spend per theme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8778240" y="18288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979408" y="20299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Signatur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89136" y="2139696"/>
            <a:ext cx="237744" cy="237744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9555480" y="19568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945,000</a:t>
            </a:r>
            <a:endParaRPr lang="en-US" sz="2600" dirty="0"/>
          </a:p>
        </p:txBody>
      </p:sp>
      <p:sp>
        <p:nvSpPr>
          <p:cNvPr id="14" name="Text 10"/>
          <p:cNvSpPr txBox="1"/>
          <p:nvPr/>
        </p:nvSpPr>
        <p:spPr>
          <a:xfrm>
            <a:off x="8979408" y="25786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committed (75% of planned)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8778240" y="32004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8979408" y="340156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Receip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089136" y="3511296"/>
            <a:ext cx="237744" cy="237744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555480" y="33284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731,767</a:t>
            </a:r>
            <a:endParaRPr lang="en-US" sz="2600" dirty="0"/>
          </a:p>
        </p:txBody>
      </p:sp>
      <p:sp>
        <p:nvSpPr>
          <p:cNvPr id="19" name="Text 14"/>
          <p:cNvSpPr txBox="1"/>
          <p:nvPr/>
        </p:nvSpPr>
        <p:spPr>
          <a:xfrm>
            <a:off x="8979408" y="39502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 spend (58% of planned)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8778240" y="4572000"/>
            <a:ext cx="286481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8979408" y="477316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Undo2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089136" y="4882896"/>
            <a:ext cx="237744" cy="237744"/>
          </a:xfrm>
          <a:prstGeom prst="rect">
            <a:avLst/>
          </a:prstGeom>
        </p:spPr>
      </p:pic>
      <p:sp>
        <p:nvSpPr>
          <p:cNvPr id="23" name="Text 17"/>
          <p:cNvSpPr txBox="1"/>
          <p:nvPr/>
        </p:nvSpPr>
        <p:spPr>
          <a:xfrm>
            <a:off x="9555480" y="4700016"/>
            <a:ext cx="19504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352,800</a:t>
            </a:r>
            <a:endParaRPr lang="en-US" sz="2600" dirty="0"/>
          </a:p>
        </p:txBody>
      </p:sp>
      <p:sp>
        <p:nvSpPr>
          <p:cNvPr id="24" name="Text 18"/>
          <p:cNvSpPr txBox="1"/>
          <p:nvPr/>
        </p:nvSpPr>
        <p:spPr>
          <a:xfrm>
            <a:off x="8979408" y="5321808"/>
            <a:ext cx="249905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refund forecast from training contracts</a:t>
            </a:r>
            <a:endParaRPr lang="en-US" sz="11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 · FUNDING AND REGULATION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Training contract refunds, tracked to the deadline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OFPPT special training contracts file · regulator OFPPT · deadline 23 Oct 2026 · status Approved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</a:t>
            </a:r>
            <a:endParaRPr lang="en-US" sz="1000" dirty="0"/>
          </a:p>
        </p:txBody>
      </p:sp>
      <p:graphicFrame>
        <p:nvGraphicFramePr>
          <p:cNvPr id="3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749808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1051560"/>
                <a:gridCol w="1051560"/>
                <a:gridCol w="1143000"/>
                <a:gridCol w="960120"/>
              </a:tblGrid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Theme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forecast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Refund / planned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360,000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215,877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166,256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bed and staff capacity planning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133,013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literacy for all staff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111,516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50,400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Prompting and generative AI at work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75,266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33,600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Responsible AI and data protection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60,000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29,839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16,800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8412480" y="1920240"/>
            <a:ext cx="3230575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0" name="Shape 7"/>
          <p:cNvSpPr/>
          <p:nvPr/>
        </p:nvSpPr>
        <p:spPr>
          <a:xfrm>
            <a:off x="8686800" y="2148840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0" descr="CalendarClo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8474" y="2280514"/>
            <a:ext cx="285293" cy="285293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9418320" y="2194560"/>
            <a:ext cx="20418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Deadline alerts</a:t>
            </a:r>
            <a:endParaRPr lang="en-US" sz="1700" dirty="0"/>
          </a:p>
        </p:txBody>
      </p:sp>
      <p:sp>
        <p:nvSpPr>
          <p:cNvPr id="13" name="Text 9"/>
          <p:cNvSpPr txBox="1"/>
          <p:nvPr/>
        </p:nvSpPr>
        <p:spPr>
          <a:xfrm>
            <a:off x="8686800" y="2834640"/>
            <a:ext cx="2681935" cy="2103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missed submission deadline means a lost refund. The run records the file, its deadline and its status, and the risk register tracks “Missed regulatory submission deadline and lost refund”.</a:t>
            </a:r>
            <a:endParaRPr lang="en-US" sz="13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· DESIGN AND DELIVERY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paths, modules and sessions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learning paths · 4 modules · 4 sessions · 12 enrollments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</a:t>
            </a:r>
            <a:endParaRPr lang="en-US" sz="1000" dirty="0"/>
          </a:p>
        </p:txBody>
      </p:sp>
      <p:graphicFrame>
        <p:nvGraphicFramePr>
          <p:cNvPr id="3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6766560" cy="914400"/>
        </p:xfrm>
        <a:graphic>
          <a:graphicData uri="http://schemas.openxmlformats.org/drawingml/2006/table">
            <a:tbl>
              <a:tblPr/>
              <a:tblGrid>
                <a:gridCol w="3566160"/>
                <a:gridCol w="1188720"/>
                <a:gridCol w="731520"/>
                <a:gridCol w="12801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Module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Modality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Hours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Design 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M1 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E-learning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M2 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Approved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M3 AI triage and clinical decision support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Virtual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M4 AI medical imaging assistance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Classroom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Draft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67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480560"/>
          <a:ext cx="6766560" cy="914400"/>
        </p:xfrm>
        <a:graphic>
          <a:graphicData uri="http://schemas.openxmlformats.org/drawingml/2006/table">
            <a:tbl>
              <a:tblPr/>
              <a:tblGrid>
                <a:gridCol w="4114800"/>
                <a:gridCol w="1645920"/>
                <a:gridCol w="100584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Session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Capacity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S-01 AI triage and clinical decision 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S-02 AI medical imaging assistance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S-03 AI triage and clinical decision support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17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S-04 AI medical imaging assistance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Oct 2026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10" name="Shape 6"/>
          <p:cNvSpPr/>
          <p:nvPr/>
        </p:nvSpPr>
        <p:spPr>
          <a:xfrm>
            <a:off x="7772400" y="192024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1" name="Shape 7"/>
          <p:cNvSpPr/>
          <p:nvPr/>
        </p:nvSpPr>
        <p:spPr>
          <a:xfrm>
            <a:off x="7973568" y="2121408"/>
            <a:ext cx="457200" cy="45720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2" name="Image 0" descr="FileVide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83296" y="2231136"/>
            <a:ext cx="237744" cy="237744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8549640" y="204825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600" dirty="0"/>
          </a:p>
        </p:txBody>
      </p:sp>
      <p:sp>
        <p:nvSpPr>
          <p:cNvPr id="14" name="Text 9"/>
          <p:cNvSpPr txBox="1"/>
          <p:nvPr/>
        </p:nvSpPr>
        <p:spPr>
          <a:xfrm>
            <a:off x="7973568" y="267004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assets tagged to competencies</a:t>
            </a:r>
            <a:endParaRPr lang="en-US" sz="1150" dirty="0"/>
          </a:p>
        </p:txBody>
      </p:sp>
      <p:sp>
        <p:nvSpPr>
          <p:cNvPr id="15" name="Shape 10"/>
          <p:cNvSpPr/>
          <p:nvPr/>
        </p:nvSpPr>
        <p:spPr>
          <a:xfrm>
            <a:off x="7772400" y="3337560"/>
            <a:ext cx="3870655" cy="1234440"/>
          </a:xfrm>
          <a:prstGeom prst="roundRect">
            <a:avLst>
              <a:gd name="adj" fmla="val 888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1"/>
          <p:cNvSpPr/>
          <p:nvPr/>
        </p:nvSpPr>
        <p:spPr>
          <a:xfrm>
            <a:off x="7973568" y="3538728"/>
            <a:ext cx="457200" cy="45720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7" name="Image 1" descr="CalendarDays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83296" y="3648456"/>
            <a:ext cx="237744" cy="23774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549640" y="3465576"/>
            <a:ext cx="295625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6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</a:t>
            </a:r>
            <a:endParaRPr lang="en-US" sz="2600" dirty="0"/>
          </a:p>
        </p:txBody>
      </p:sp>
      <p:sp>
        <p:nvSpPr>
          <p:cNvPr id="19" name="Text 13"/>
          <p:cNvSpPr txBox="1"/>
          <p:nvPr/>
        </p:nvSpPr>
        <p:spPr>
          <a:xfrm>
            <a:off x="7973568" y="4087368"/>
            <a:ext cx="350489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seats scheduled across the sessions</a:t>
            </a:r>
            <a:endParaRPr lang="en-US" sz="1150" dirty="0"/>
          </a:p>
        </p:txBody>
      </p:sp>
      <p:sp>
        <p:nvSpPr>
          <p:cNvPr id="20" name="Text 14"/>
          <p:cNvSpPr txBox="1"/>
          <p:nvPr/>
        </p:nvSpPr>
        <p:spPr>
          <a:xfrm>
            <a:off x="7772400" y="4754880"/>
            <a:ext cx="3870655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Attendance is recorded per session; a missing attendance record raises an alert to the Training Administrator.</a:t>
            </a:r>
            <a:endParaRPr lang="en-US" sz="13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TASK · WHAT TO TYPE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Guidance written for this hospital and this sector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shows the expected answer, the inputs and outputs, the owner and the evaluator.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to type” is specific to the organization, its sector and the focus of the run.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help proposes a draft, labelled with its confidence and sources.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 and evaluator are two different people: segregation of duties is enforced.</a:t>
            </a:r>
            <a:endParaRPr lang="en-US" sz="145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 · EVALUATION AND CERTIFICATION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Kirkpatrick levels 1 to 3, and certificate validity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results per enrollment; certificates tracked against their expiry date.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35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585216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43600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score by Kirkpatrick level: 1 reaction, 2 learning, 3 behaviour (%)</a:t>
            </a:r>
            <a:endParaRPr lang="en-US" sz="1000" dirty="0"/>
          </a:p>
        </p:txBody>
      </p:sp>
      <p:graphicFrame>
        <p:nvGraphicFramePr>
          <p:cNvPr id="3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766560" y="1874520"/>
          <a:ext cx="487649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1600200"/>
                <a:gridCol w="1170432"/>
              </a:tblGrid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Certificate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 until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Aug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Nov 2026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 Feb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May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Aug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ISO 7101 awareness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Nov 2027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Valid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</a:tbl>
          </a:graphicData>
        </a:graphic>
      </p:graphicFrame>
      <p:sp>
        <p:nvSpPr>
          <p:cNvPr id="11" name="Text 7"/>
          <p:cNvSpPr txBox="1"/>
          <p:nvPr/>
        </p:nvSpPr>
        <p:spPr>
          <a:xfrm>
            <a:off x="6766560" y="4937760"/>
            <a:ext cx="4876495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valid · 1 expiring · 1 expired. Expiry raises an alert before the date.</a:t>
            </a:r>
            <a:endParaRPr lang="en-US" sz="13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gates signed off, 3 open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the run stands: mandatory items completed at each gate.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31520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G1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731520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 &amp; evidence approved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731520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2" name="Text 10"/>
          <p:cNvSpPr txBox="1"/>
          <p:nvPr/>
        </p:nvSpPr>
        <p:spPr>
          <a:xfrm>
            <a:off x="731520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31520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2428189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2611069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G2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2611069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Diagnostic validated</a:t>
            </a:r>
            <a:endParaRPr lang="en-US" sz="1300" dirty="0"/>
          </a:p>
        </p:txBody>
      </p:sp>
      <p:sp>
        <p:nvSpPr>
          <p:cNvPr id="17" name="Text 15"/>
          <p:cNvSpPr txBox="1"/>
          <p:nvPr/>
        </p:nvSpPr>
        <p:spPr>
          <a:xfrm>
            <a:off x="2611069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/ 5</a:t>
            </a:r>
            <a:endParaRPr lang="en-US" sz="2200" dirty="0"/>
          </a:p>
        </p:txBody>
      </p:sp>
      <p:sp>
        <p:nvSpPr>
          <p:cNvPr id="18" name="Text 16"/>
          <p:cNvSpPr txBox="1"/>
          <p:nvPr/>
        </p:nvSpPr>
        <p:spPr>
          <a:xfrm>
            <a:off x="2611069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2611069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30773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449061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G3</a:t>
            </a:r>
            <a:endParaRPr lang="en-US" sz="2400" dirty="0"/>
          </a:p>
        </p:txBody>
      </p:sp>
      <p:sp>
        <p:nvSpPr>
          <p:cNvPr id="22" name="Text 20"/>
          <p:cNvSpPr txBox="1"/>
          <p:nvPr/>
        </p:nvSpPr>
        <p:spPr>
          <a:xfrm>
            <a:off x="449061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 &amp; roadmap approved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449061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/ 4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449061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4490618" y="4572000"/>
            <a:ext cx="1330909" cy="365760"/>
          </a:xfrm>
          <a:prstGeom prst="rect">
            <a:avLst/>
          </a:prstGeom>
          <a:solidFill>
            <a:srgbClr val="D9EA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 · signed off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87288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6370168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G4</a:t>
            </a:r>
            <a:endParaRPr lang="en-US" sz="2400" dirty="0"/>
          </a:p>
        </p:txBody>
      </p:sp>
      <p:sp>
        <p:nvSpPr>
          <p:cNvPr id="28" name="Text 26"/>
          <p:cNvSpPr txBox="1"/>
          <p:nvPr/>
        </p:nvSpPr>
        <p:spPr>
          <a:xfrm>
            <a:off x="6370168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 readiness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6370168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/ 4</a:t>
            </a:r>
            <a:endParaRPr lang="en-US" sz="2200" dirty="0"/>
          </a:p>
        </p:txBody>
      </p:sp>
      <p:sp>
        <p:nvSpPr>
          <p:cNvPr id="30" name="Text 28"/>
          <p:cNvSpPr txBox="1"/>
          <p:nvPr/>
        </p:nvSpPr>
        <p:spPr>
          <a:xfrm>
            <a:off x="6370168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370168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32" name="Shape 30"/>
          <p:cNvSpPr/>
          <p:nvPr/>
        </p:nvSpPr>
        <p:spPr>
          <a:xfrm>
            <a:off x="8066837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3" name="Text 31"/>
          <p:cNvSpPr txBox="1"/>
          <p:nvPr/>
        </p:nvSpPr>
        <p:spPr>
          <a:xfrm>
            <a:off x="8249717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G5</a:t>
            </a:r>
            <a:endParaRPr lang="en-US" sz="2400" dirty="0"/>
          </a:p>
        </p:txBody>
      </p:sp>
      <p:sp>
        <p:nvSpPr>
          <p:cNvPr id="34" name="Text 32"/>
          <p:cNvSpPr txBox="1"/>
          <p:nvPr/>
        </p:nvSpPr>
        <p:spPr>
          <a:xfrm>
            <a:off x="8249717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Evaluation &amp; impact validated</a:t>
            </a:r>
            <a:endParaRPr lang="en-US" sz="1300" dirty="0"/>
          </a:p>
        </p:txBody>
      </p:sp>
      <p:sp>
        <p:nvSpPr>
          <p:cNvPr id="35" name="Text 33"/>
          <p:cNvSpPr txBox="1"/>
          <p:nvPr/>
        </p:nvSpPr>
        <p:spPr>
          <a:xfrm>
            <a:off x="8249717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36" name="Text 34"/>
          <p:cNvSpPr txBox="1"/>
          <p:nvPr/>
        </p:nvSpPr>
        <p:spPr>
          <a:xfrm>
            <a:off x="8249717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37" name="Text 35"/>
          <p:cNvSpPr txBox="1"/>
          <p:nvPr/>
        </p:nvSpPr>
        <p:spPr>
          <a:xfrm>
            <a:off x="8249717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9946386" y="1920240"/>
            <a:ext cx="1696669" cy="3291840"/>
          </a:xfrm>
          <a:prstGeom prst="roundRect">
            <a:avLst>
              <a:gd name="adj" fmla="val 6467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9" name="Text 37"/>
          <p:cNvSpPr txBox="1"/>
          <p:nvPr/>
        </p:nvSpPr>
        <p:spPr>
          <a:xfrm>
            <a:off x="10129266" y="210312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58595B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G6</a:t>
            </a:r>
            <a:endParaRPr lang="en-US" sz="2400" dirty="0"/>
          </a:p>
        </p:txBody>
      </p:sp>
      <p:sp>
        <p:nvSpPr>
          <p:cNvPr id="40" name="Text 38"/>
          <p:cNvSpPr txBox="1"/>
          <p:nvPr/>
        </p:nvSpPr>
        <p:spPr>
          <a:xfrm>
            <a:off x="10129266" y="2651760"/>
            <a:ext cx="1330909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Closure &amp; continuous improvement</a:t>
            </a:r>
            <a:endParaRPr lang="en-US" sz="1300" dirty="0"/>
          </a:p>
        </p:txBody>
      </p:sp>
      <p:sp>
        <p:nvSpPr>
          <p:cNvPr id="41" name="Text 39"/>
          <p:cNvSpPr txBox="1"/>
          <p:nvPr/>
        </p:nvSpPr>
        <p:spPr>
          <a:xfrm>
            <a:off x="10129266" y="3566160"/>
            <a:ext cx="133090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3</a:t>
            </a:r>
            <a:endParaRPr lang="en-US" sz="2200" dirty="0"/>
          </a:p>
        </p:txBody>
      </p:sp>
      <p:sp>
        <p:nvSpPr>
          <p:cNvPr id="42" name="Text 40"/>
          <p:cNvSpPr txBox="1"/>
          <p:nvPr/>
        </p:nvSpPr>
        <p:spPr>
          <a:xfrm>
            <a:off x="10129266" y="4023360"/>
            <a:ext cx="13309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items completed</a:t>
            </a:r>
            <a:endParaRPr lang="en-US" sz="1100" dirty="0"/>
          </a:p>
        </p:txBody>
      </p:sp>
      <p:sp>
        <p:nvSpPr>
          <p:cNvPr id="43" name="Text 41"/>
          <p:cNvSpPr txBox="1"/>
          <p:nvPr/>
        </p:nvSpPr>
        <p:spPr>
          <a:xfrm>
            <a:off x="10129266" y="4572000"/>
            <a:ext cx="1330909" cy="365760"/>
          </a:xfrm>
          <a:prstGeom prst="rect">
            <a:avLst/>
          </a:prstGeom>
          <a:solidFill>
            <a:srgbClr val="FBE0B5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200" dirty="0"/>
          </a:p>
        </p:txBody>
      </p:sp>
      <p:sp>
        <p:nvSpPr>
          <p:cNvPr id="44" name="Text 42"/>
          <p:cNvSpPr txBox="1"/>
          <p:nvPr/>
        </p:nvSpPr>
        <p:spPr>
          <a:xfrm>
            <a:off x="548640" y="54406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gate has its own checklist; the sign-off records the decision, the approver and the date.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RISKS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35 risks scored by likelihood and impact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risk is linked to its controls, a key risk indicator and an owner.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005840" y="210312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1645920" y="210312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28600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92608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566160" y="210312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1005840" y="274320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64592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2286000" y="274320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92608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566160" y="274320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1005840" y="338328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164592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2286000" y="338328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23" name="Shape 21"/>
          <p:cNvSpPr/>
          <p:nvPr/>
        </p:nvSpPr>
        <p:spPr>
          <a:xfrm>
            <a:off x="2926080" y="338328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566160" y="3383280"/>
            <a:ext cx="603504" cy="603504"/>
          </a:xfrm>
          <a:prstGeom prst="rect">
            <a:avLst/>
          </a:prstGeom>
          <a:solidFill>
            <a:srgbClr val="F4C7C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100584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27" name="Shape 25"/>
          <p:cNvSpPr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1645920" y="4023360"/>
            <a:ext cx="603504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500" dirty="0"/>
          </a:p>
        </p:txBody>
      </p:sp>
      <p:sp>
        <p:nvSpPr>
          <p:cNvPr id="29" name="Shape 27"/>
          <p:cNvSpPr/>
          <p:nvPr/>
        </p:nvSpPr>
        <p:spPr>
          <a:xfrm>
            <a:off x="2286000" y="402336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292608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566160" y="4023360"/>
            <a:ext cx="603504" cy="603504"/>
          </a:xfrm>
          <a:prstGeom prst="rect">
            <a:avLst/>
          </a:prstGeom>
          <a:solidFill>
            <a:srgbClr val="FBE0B5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100584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164592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2286000" y="4663440"/>
            <a:ext cx="603504" cy="603504"/>
          </a:xfrm>
          <a:prstGeom prst="rect">
            <a:avLst/>
          </a:prstGeom>
          <a:solidFill>
            <a:srgbClr val="D9EAD3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292608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3566160" y="4663440"/>
            <a:ext cx="603504" cy="603504"/>
          </a:xfrm>
          <a:prstGeom prst="rect">
            <a:avLst/>
          </a:prstGeom>
          <a:solidFill>
            <a:srgbClr val="FFF3B0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100584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685800" y="466344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sp>
        <p:nvSpPr>
          <p:cNvPr id="39" name="Text 37"/>
          <p:cNvSpPr txBox="1"/>
          <p:nvPr/>
        </p:nvSpPr>
        <p:spPr>
          <a:xfrm>
            <a:off x="164592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0" name="Text 38"/>
          <p:cNvSpPr txBox="1"/>
          <p:nvPr/>
        </p:nvSpPr>
        <p:spPr>
          <a:xfrm>
            <a:off x="685800" y="402336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41" name="Text 39"/>
          <p:cNvSpPr txBox="1"/>
          <p:nvPr/>
        </p:nvSpPr>
        <p:spPr>
          <a:xfrm>
            <a:off x="228600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685800" y="338328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292608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4" name="Text 42"/>
          <p:cNvSpPr txBox="1"/>
          <p:nvPr/>
        </p:nvSpPr>
        <p:spPr>
          <a:xfrm>
            <a:off x="685800" y="274320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45" name="Text 43"/>
          <p:cNvSpPr txBox="1"/>
          <p:nvPr/>
        </p:nvSpPr>
        <p:spPr>
          <a:xfrm>
            <a:off x="3566160" y="5321808"/>
            <a:ext cx="640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6" name="Text 44"/>
          <p:cNvSpPr txBox="1"/>
          <p:nvPr/>
        </p:nvSpPr>
        <p:spPr>
          <a:xfrm>
            <a:off x="685800" y="2103120"/>
            <a:ext cx="274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47" name="Text 45"/>
          <p:cNvSpPr txBox="1"/>
          <p:nvPr/>
        </p:nvSpPr>
        <p:spPr>
          <a:xfrm>
            <a:off x="1005840" y="557784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Impact →</a:t>
            </a:r>
            <a:endParaRPr lang="en-US" sz="1100" dirty="0"/>
          </a:p>
        </p:txBody>
      </p:sp>
      <p:sp>
        <p:nvSpPr>
          <p:cNvPr id="48" name="Text 46"/>
          <p:cNvSpPr txBox="1"/>
          <p:nvPr/>
        </p:nvSpPr>
        <p:spPr>
          <a:xfrm>
            <a:off x="365760" y="1810512"/>
            <a:ext cx="1463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Likelihood ↓</a:t>
            </a:r>
            <a:endParaRPr lang="en-US" sz="1100" dirty="0"/>
          </a:p>
        </p:txBody>
      </p:sp>
      <p:sp>
        <p:nvSpPr>
          <p:cNvPr id="49" name="Text 47"/>
          <p:cNvSpPr txBox="1"/>
          <p:nvPr/>
        </p:nvSpPr>
        <p:spPr>
          <a:xfrm>
            <a:off x="548640" y="603504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Number of risks per likelihood × impact cell</a:t>
            </a:r>
            <a:endParaRPr lang="en-US" sz="1000" dirty="0"/>
          </a:p>
        </p:txBody>
      </p:sp>
      <p:graphicFrame>
        <p:nvGraphicFramePr>
          <p:cNvPr id="3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846320" y="1874520"/>
          <a:ext cx="6796735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749040"/>
                <a:gridCol w="1234440"/>
                <a:gridCol w="804672"/>
              </a:tblGrid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 learner and user 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Adoption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RISK-017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Critical knowledge lost with expert departure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Operational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Unauthorized access to tenant data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Security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Training plan misaligned with strategy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Inaccurate skills data leading to wrong needs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quality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Unverified AI content in the Training Engineering Report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RISK-009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Expired mandatory certification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Compliance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3B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CONTROLS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88 controls mapped to the COSO components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 rated effective · 89 business rules enforce them in the workflow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6949440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6949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Controls and effective controls per COSO component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7808976" y="1819656"/>
            <a:ext cx="3858768" cy="2452878"/>
          </a:xfrm>
          <a:prstGeom prst="roundRect">
            <a:avLst>
              <a:gd name="adj" fmla="val 29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1874520"/>
            <a:ext cx="3749040" cy="234315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KPIS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61 standard KPIs, measured monthly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Plus 2 custom KPIs, e.g. “Share of Clinical Care &amp; Nursing supervisors certified”.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</a:t>
            </a:r>
            <a:endParaRPr lang="en-US" sz="1000" dirty="0"/>
          </a:p>
        </p:txBody>
      </p:sp>
      <p:graphicFrame>
        <p:nvGraphicFramePr>
          <p:cNvPr id="4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6583680" cy="914400"/>
        </p:xfrm>
        <a:graphic>
          <a:graphicData uri="http://schemas.openxmlformats.org/drawingml/2006/table">
            <a:tbl>
              <a:tblPr/>
              <a:tblGrid>
                <a:gridCol w="3931920"/>
                <a:gridCol w="868680"/>
                <a:gridCol w="960120"/>
                <a:gridCol w="8229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Latest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Target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KPI-001 · Strategic objective coverage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97.2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KPI-002 · Skills inventory validation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94.7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KPI-003 · Critical gap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≤ 10%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KPI-010 · Learner completion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80%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KPI-020 · Integration synchronisation success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104.6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99.5%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KPI-061 · Stakeholder engagement rate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72.9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≥ 75%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Amber</a:t>
                      </a:r>
                      <a:endParaRPr lang="en-US" sz="11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7315200" y="1783080"/>
          <a:ext cx="4327855" cy="39319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7315200" y="5760720"/>
            <a:ext cx="43278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Strategic objective coverage: monthly value against target</a:t>
            </a:r>
            <a:endParaRPr lang="en-US" sz="10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ALERTS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 open alerts, each with an escalation chain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come from process rules; overdue steps escalate by role and by delay.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</a:t>
            </a:r>
            <a:endParaRPr lang="en-US" sz="1000" dirty="0"/>
          </a:p>
        </p:txBody>
      </p:sp>
      <p:graphicFrame>
        <p:nvGraphicFramePr>
          <p:cNvPr id="4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914400"/>
                <a:gridCol w="914400"/>
                <a:gridCol w="640080"/>
                <a:gridCol w="5330952"/>
              </a:tblGrid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Alert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Step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Severity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Open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ALR-006 · Record attendance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MP-07.5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Trainer → Training Administrator (24 h) → Head of L&amp;D (72 h)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ALR-007 · Trigger re-engagement nudge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MP-08.6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Low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Learner → Manager (after second nudge)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ALR-008 · Review evaluation results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MP-09.7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L&amp;D Analyst → Instructional Designer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ALR-014 · Run HRIS synchronisation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MP-16.4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Architect → Platform Administrator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ALR-016 · Enforce login rate limit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MP-17.6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Platform Administrator → IT Architect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ALR-018 · Track adoption usage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MP-19.4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Change Manager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ALR-020 · Execute improvement action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MP-20.3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High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C7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Action Owner → Quality Manager (7 days) → Head of L&amp;D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97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ALR-039 · Review access violation log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MP-17.4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 Architect → Platform Administrator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9788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Alerts, approvals and task notices are sent in the application and by e-mail (11 dispatches in the demonstration run).</a:t>
            </a:r>
            <a:endParaRPr lang="en-US" sz="1000" dirty="0"/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GOVERNANCE · USAGE LOG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48 AI suggestions logged: 30 accepted, 9 edited, 9 rejected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usage log is append-only; each line keeps the use case, the user, the confidence and the decision.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41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420624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8521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suggestions by outcome of the human review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5157216" y="1819656"/>
            <a:ext cx="6510528" cy="4110228"/>
          </a:xfrm>
          <a:prstGeom prst="roundRect">
            <a:avLst>
              <a:gd name="adj" fmla="val 1780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0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212080" y="1874520"/>
            <a:ext cx="6400800" cy="40005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whole run on one timeline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Phases, processes and tasks with dependencies; summary bars are computed from the tasks.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168249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37360" y="1783080"/>
            <a:ext cx="7022592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QUESTIONS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34 standard reports and a data-aware assistant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export to PDF, Excel and Word. The assistant answers within the user’s permissions.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5596128" cy="3538728"/>
          </a:xfrm>
          <a:prstGeom prst="roundRect">
            <a:avLst>
              <a:gd name="adj" fmla="val 2067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5486400" cy="342900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6254496" y="1728216"/>
            <a:ext cx="5413248" cy="3424428"/>
          </a:xfrm>
          <a:prstGeom prst="roundRect">
            <a:avLst>
              <a:gd name="adj" fmla="val 21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0" y="1783080"/>
            <a:ext cx="5303520" cy="33147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 · KNOWLEDGE AND IMPROVEMENT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Lessons learned feed the next cycle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on experience rated 4/5 · 4 knowledge base articles for the sector standards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hospital group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1965960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went well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560320" y="1965960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stakeholder register and multi-channel distribution lifted the response rate.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2990088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did not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2560320" y="2990088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SWOT inputs arrived late from one function.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548640" y="3922776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014216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cause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2560320" y="4014216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backup nominated for the function head.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548640" y="4946904"/>
            <a:ext cx="6035040" cy="896112"/>
          </a:xfrm>
          <a:prstGeom prst="roundRect">
            <a:avLst>
              <a:gd name="adj" fmla="val 12245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8" name="Text 16"/>
          <p:cNvSpPr txBox="1"/>
          <p:nvPr/>
        </p:nvSpPr>
        <p:spPr>
          <a:xfrm>
            <a:off x="777240" y="5038344"/>
            <a:ext cx="173736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Recommendation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2560320" y="5038344"/>
            <a:ext cx="384048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a backup for every function head at kickoff.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6949440" y="1874520"/>
            <a:ext cx="46936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Knowledge base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949440" y="22860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2" name="Text 20"/>
          <p:cNvSpPr txBox="1"/>
          <p:nvPr/>
        </p:nvSpPr>
        <p:spPr>
          <a:xfrm>
            <a:off x="7178040" y="23591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ISO 7101 — training and competence requirements</a:t>
            </a:r>
            <a:endParaRPr lang="en-US" sz="1250" dirty="0"/>
          </a:p>
        </p:txBody>
      </p:sp>
      <p:sp>
        <p:nvSpPr>
          <p:cNvPr id="23" name="Shape 21"/>
          <p:cNvSpPr/>
          <p:nvPr/>
        </p:nvSpPr>
        <p:spPr>
          <a:xfrm>
            <a:off x="6949440" y="32004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Text 22"/>
          <p:cNvSpPr txBox="1"/>
          <p:nvPr/>
        </p:nvSpPr>
        <p:spPr>
          <a:xfrm>
            <a:off x="7178040" y="32735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JCI Standards — practitioner notes</a:t>
            </a:r>
            <a:endParaRPr lang="en-US" sz="1250" dirty="0"/>
          </a:p>
        </p:txBody>
      </p:sp>
      <p:sp>
        <p:nvSpPr>
          <p:cNvPr id="25" name="Shape 23"/>
          <p:cNvSpPr/>
          <p:nvPr/>
        </p:nvSpPr>
        <p:spPr>
          <a:xfrm>
            <a:off x="6949440" y="41148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6" name="Text 24"/>
          <p:cNvSpPr txBox="1"/>
          <p:nvPr/>
        </p:nvSpPr>
        <p:spPr>
          <a:xfrm>
            <a:off x="7178040" y="41879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GPEC — Forward Planning of Jobs and Skills</a:t>
            </a:r>
            <a:endParaRPr lang="en-US" sz="1250" dirty="0"/>
          </a:p>
        </p:txBody>
      </p:sp>
      <p:sp>
        <p:nvSpPr>
          <p:cNvPr id="27" name="Shape 25"/>
          <p:cNvSpPr/>
          <p:nvPr/>
        </p:nvSpPr>
        <p:spPr>
          <a:xfrm>
            <a:off x="6949440" y="5029200"/>
            <a:ext cx="4693615" cy="804672"/>
          </a:xfrm>
          <a:prstGeom prst="roundRect">
            <a:avLst>
              <a:gd name="adj" fmla="val 1363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8" name="Text 26"/>
          <p:cNvSpPr txBox="1"/>
          <p:nvPr/>
        </p:nvSpPr>
        <p:spPr>
          <a:xfrm>
            <a:off x="7178040" y="5102352"/>
            <a:ext cx="423641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Law 09-08 — personal data in questionnaires</a:t>
            </a:r>
            <a:endParaRPr lang="en-US" sz="1250" dirty="0"/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Case study: a clinic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— 95 employees, Marrakech. The same method on a lighter track.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TRACK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Complexity score 66: SME track T3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Clinique Al Amal · 95 employees · 11 users · Law 09-08 data protection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46</a:t>
            </a:r>
            <a:endParaRPr lang="en-US" sz="1000" dirty="0"/>
          </a:p>
        </p:txBody>
      </p:sp>
      <p:graphicFrame>
        <p:nvGraphicFramePr>
          <p:cNvPr id="4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920240"/>
          <a:ext cx="11094415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1188720"/>
                <a:gridCol w="3108960"/>
                <a:gridCol w="1280160"/>
                <a:gridCol w="1645920"/>
                <a:gridCol w="149047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Gates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Items per gate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Duration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Score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SME-T1 · Essential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Micro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30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0–35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SME-T2 · Standard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Small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G3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60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35–60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SME-T3 · Advanced track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DEED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Medium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G1 · G2 · G3 · G4 · G5 · G6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about 90 days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60–100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9" name="Chart 0" descr=""/>
          <p:cNvGraphicFramePr/>
          <p:nvPr/>
        </p:nvGraphicFramePr>
        <p:xfrm>
          <a:off x="548640" y="4023360"/>
          <a:ext cx="11094415" cy="20116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48640" y="608076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Complexity ratings (1–5), clinic compared with the hospital group: investment and scope drive the difference</a:t>
            </a:r>
            <a:endParaRPr lang="en-US" sz="1000" dirty="0"/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WORKSPACE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Same lifecycle, fewer items to complete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Skills Full Run 2026 — Clinique Al Amal · 50% of 277 tasks completed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47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333488" cy="4624578"/>
          </a:xfrm>
          <a:prstGeom prst="roundRect">
            <a:avLst>
              <a:gd name="adj" fmla="val 158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223760" cy="451485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8229600" y="1920240"/>
            <a:ext cx="420624" cy="420624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1" name="Image 1" descr="Check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30550" y="2021190"/>
            <a:ext cx="218724" cy="218724"/>
          </a:xfrm>
          <a:prstGeom prst="rect">
            <a:avLst/>
          </a:prstGeom>
        </p:spPr>
      </p:pic>
      <p:sp>
        <p:nvSpPr>
          <p:cNvPr id="12" name="Text 8"/>
          <p:cNvSpPr txBox="1"/>
          <p:nvPr/>
        </p:nvSpPr>
        <p:spPr>
          <a:xfrm>
            <a:off x="8823960" y="188366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run: 66% of 277 tasks completed; AI run: 50%.</a:t>
            </a:r>
            <a:endParaRPr lang="en-US" sz="1450" dirty="0"/>
          </a:p>
        </p:txBody>
      </p:sp>
      <p:sp>
        <p:nvSpPr>
          <p:cNvPr id="13" name="Shape 9"/>
          <p:cNvSpPr/>
          <p:nvPr/>
        </p:nvSpPr>
        <p:spPr>
          <a:xfrm>
            <a:off x="8229600" y="320040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4" name="Image 2" descr="ArrowRigh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330550" y="3301350"/>
            <a:ext cx="218724" cy="218724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8823960" y="316382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Six gates with five items each on track T3, instead of the Full-mode checklists.</a:t>
            </a:r>
            <a:endParaRPr lang="en-US" sz="1450" dirty="0"/>
          </a:p>
        </p:txBody>
      </p:sp>
      <p:sp>
        <p:nvSpPr>
          <p:cNvPr id="16" name="Shape 11"/>
          <p:cNvSpPr/>
          <p:nvPr/>
        </p:nvSpPr>
        <p:spPr>
          <a:xfrm>
            <a:off x="8229600" y="4480560"/>
            <a:ext cx="420624" cy="420624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3" descr="ShieldCheck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330550" y="4581510"/>
            <a:ext cx="218724" cy="218724"/>
          </a:xfrm>
          <a:prstGeom prst="rect">
            <a:avLst/>
          </a:prstGeom>
        </p:spPr>
      </p:pic>
      <p:sp>
        <p:nvSpPr>
          <p:cNvPr id="18" name="Text 12"/>
          <p:cNvSpPr txBox="1"/>
          <p:nvPr/>
        </p:nvSpPr>
        <p:spPr>
          <a:xfrm>
            <a:off x="8823960" y="4443984"/>
            <a:ext cx="2819095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recommended track is kept; another choice needs a written justification.</a:t>
            </a:r>
            <a:endParaRPr lang="en-US" sz="1450" dirty="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· ANY SCREEN, ANY LANGUAGE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same guidance in English, French and Arabic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task panel on a desktop, the workspace in Arabic on a phone (right-to-left layout).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728216"/>
            <a:ext cx="7132320" cy="4498848"/>
          </a:xfrm>
          <a:prstGeom prst="roundRect">
            <a:avLst>
              <a:gd name="adj" fmla="val 1626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783080"/>
            <a:ext cx="7022592" cy="4389120"/>
          </a:xfrm>
          <a:prstGeom prst="rect">
            <a:avLst/>
          </a:prstGeom>
        </p:spPr>
      </p:pic>
      <p:sp>
        <p:nvSpPr>
          <p:cNvPr id="10" name="Shape 7"/>
          <p:cNvSpPr/>
          <p:nvPr/>
        </p:nvSpPr>
        <p:spPr>
          <a:xfrm>
            <a:off x="9089136" y="1728216"/>
            <a:ext cx="2137876" cy="4498848"/>
          </a:xfrm>
          <a:prstGeom prst="roundRect">
            <a:avLst>
              <a:gd name="adj" fmla="val 3422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11" name="Image 1" descr="Screenshot of the application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0" y="1783080"/>
            <a:ext cx="2028148" cy="4389120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VS SME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One method, sized to the organization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Comparison of the two healthcare providers in the demonstration instance.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study: a clinic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1000" dirty="0"/>
          </a:p>
        </p:txBody>
      </p:sp>
      <p:graphicFrame>
        <p:nvGraphicFramePr>
          <p:cNvPr id="5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11094415" cy="914400"/>
        </p:xfrm>
        <a:graphic>
          <a:graphicData uri="http://schemas.openxmlformats.org/drawingml/2006/table">
            <a:tbl>
              <a:tblPr/>
              <a:tblGrid>
                <a:gridCol w="2926080"/>
                <a:gridCol w="4087368"/>
                <a:gridCol w="4078224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Maghreb Hospitals Group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Clinique Al Amal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Employees · city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4,700 · Casablanca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95 · Marrakech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Complexity score ·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84 · Full mode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 · SME track T3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Tasks per run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AI run 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65%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Digital run completed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78%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66%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Users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Solution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BND-05 · 600 seats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SME-CMP · 100 seats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protection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GDPR, LAW0908, ISO9001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LAW0908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health ecosystem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 sciences, pharma distribution and pharmaceutical manufacturing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HLS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Healthcare &amp; Life Sciences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Clinical &amp; Laboratory Operations · ISO 13485, EU MDR, ISO 15189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Life Sciences (3100)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BioLab Diagnostics Rabat (60)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diagnostics validation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for pharmacovigilance signal detection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Responsible AI and patient-data ethics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lab notebooks and LIMS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quality management (eQMS)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data interoperability (HL7 FHIR)</a:t>
            </a:r>
            <a:endParaRPr lang="en-US" sz="1000" dirty="0"/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Pharmaceutical Quality &amp; Distribution · EU GMP, GDP, ICH Q9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52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Maghreb Pharma Distribution (1400)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PharmaLog Services (44)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regulatory-dossier drafting assistance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demand sensing for medicines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quality-risk management (ICH Q9)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Serialization and track-and-trace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Digital GDP temperature monitoring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Regulatory information management (RIM)</a:t>
            </a:r>
            <a:endParaRPr lang="en-US" sz="1000" dirty="0"/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· PHPR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Pharmaceutical &amp; Process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function: GMP Manufacturing · EU GMP, ICH Q10, FDA 21 CFR Part 11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53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93776" y="1819656"/>
            <a:ext cx="6784848" cy="4281678"/>
          </a:xfrm>
          <a:prstGeom prst="roundRect">
            <a:avLst>
              <a:gd name="adj" fmla="val 1708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pic>
        <p:nvPicPr>
          <p:cNvPr id="9" name="Image 0" descr="Screenshot of the application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874520"/>
            <a:ext cx="6675120" cy="4171950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7589520" y="181051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company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 Maghreb Process (2200)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7589520" y="2084832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— </a:t>
            </a:r>
            <a:pPr indent="0" marL="0">
              <a:buNone/>
            </a:pPr>
            <a:r>
              <a:rPr lang="en-US" sz="12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Galénix Laboratoires (90)</a:t>
            </a:r>
            <a:endParaRPr lang="en-US" sz="1200" dirty="0"/>
          </a:p>
        </p:txBody>
      </p:sp>
      <p:graphicFrame>
        <p:nvGraphicFramePr>
          <p:cNvPr id="12" name="Chart 0" descr=""/>
          <p:cNvGraphicFramePr/>
          <p:nvPr/>
        </p:nvGraphicFramePr>
        <p:xfrm>
          <a:off x="7498080" y="2395728"/>
          <a:ext cx="4144975" cy="1737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3" name="Text 9"/>
          <p:cNvSpPr txBox="1"/>
          <p:nvPr/>
        </p:nvSpPr>
        <p:spPr>
          <a:xfrm>
            <a:off x="7589520" y="4160520"/>
            <a:ext cx="40535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 completion by run (%)</a:t>
            </a:r>
            <a:endParaRPr lang="en-US" sz="1000" dirty="0"/>
          </a:p>
        </p:txBody>
      </p:sp>
      <p:sp>
        <p:nvSpPr>
          <p:cNvPr id="14" name="Shape 10"/>
          <p:cNvSpPr/>
          <p:nvPr/>
        </p:nvSpPr>
        <p:spPr>
          <a:xfrm>
            <a:off x="7589520" y="4526280"/>
            <a:ext cx="310896" cy="310896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5" name="Image 1" descr="Sparkles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64135" y="4600895"/>
            <a:ext cx="161666" cy="161666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8001000" y="454456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AI themes</a:t>
            </a:r>
            <a:endParaRPr lang="en-US" sz="1200" dirty="0"/>
          </a:p>
        </p:txBody>
      </p:sp>
      <p:sp>
        <p:nvSpPr>
          <p:cNvPr id="17" name="Text 12"/>
          <p:cNvSpPr txBox="1"/>
          <p:nvPr/>
        </p:nvSpPr>
        <p:spPr>
          <a:xfrm>
            <a:off x="8001000" y="480060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process analytics for yield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deviation and CAPA triage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Validation of AI models in GxP</a:t>
            </a:r>
            <a:endParaRPr lang="en-US" sz="1000" dirty="0"/>
          </a:p>
        </p:txBody>
      </p:sp>
      <p:sp>
        <p:nvSpPr>
          <p:cNvPr id="18" name="Shape 13"/>
          <p:cNvSpPr/>
          <p:nvPr/>
        </p:nvSpPr>
        <p:spPr>
          <a:xfrm>
            <a:off x="7589520" y="5394960"/>
            <a:ext cx="310896" cy="310896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9" name="Image 2" descr="MonitorSmartphon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64135" y="5469575"/>
            <a:ext cx="161666" cy="16166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8001000" y="5413248"/>
            <a:ext cx="36420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Priority digital themes</a:t>
            </a:r>
            <a:endParaRPr lang="en-US" sz="1200" dirty="0"/>
          </a:p>
        </p:txBody>
      </p:sp>
      <p:sp>
        <p:nvSpPr>
          <p:cNvPr id="21" name="Text 15"/>
          <p:cNvSpPr txBox="1"/>
          <p:nvPr/>
        </p:nvSpPr>
        <p:spPr>
          <a:xfrm>
            <a:off x="8001000" y="5669280"/>
            <a:ext cx="3642055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Electronic batch records (EBR)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Computer system validation (CSV)</a:t>
            </a:r>
            <a:endParaRPr lang="en-US" sz="1000" dirty="0"/>
          </a:p>
          <a:p>
            <a:pPr marL="152400" indent="-152400">
              <a:buSzPct val="100000"/>
              <a:buChar char="•"/>
            </a:pPr>
            <a:r>
              <a:rPr lang="en-US" sz="10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integrity and ALCOA+ practices</a:t>
            </a:r>
            <a:endParaRPr lang="en-US" sz="1000" dirty="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ECOSYSTEM · BENCHMARK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Eight health organizations, two runs each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of tasks completed in the Digital and AI runs of each demonstration organization.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health ecosystem  ·  Demonstration data — fictional organization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</a:t>
            </a:r>
            <a:endParaRPr lang="en-US" sz="1000" dirty="0"/>
          </a:p>
        </p:txBody>
      </p:sp>
      <p:graphicFrame>
        <p:nvGraphicFramePr>
          <p:cNvPr id="8" name="Chart 0" descr=""/>
          <p:cNvGraphicFramePr/>
          <p:nvPr/>
        </p:nvGraphicFramePr>
        <p:xfrm>
          <a:off x="548640" y="1783080"/>
          <a:ext cx="11094415" cy="41605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 txBox="1"/>
          <p:nvPr/>
        </p:nvSpPr>
        <p:spPr>
          <a:xfrm>
            <a:off x="548640" y="59893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Tasks completed in each run (%). Group members see these aggregates; records of sister organizations stay read-only.</a:t>
            </a:r>
            <a:endParaRPr lang="en-US" sz="1000" dirty="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3A3A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412480" y="-1463040"/>
            <a:ext cx="5943600" cy="5943600"/>
          </a:xfrm>
          <a:prstGeom prst="ellipse">
            <a:avLst/>
          </a:prstGeom>
          <a:solidFill>
            <a:srgbClr val="F8931D">
              <a:alpha val="18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9692640" y="3566160"/>
            <a:ext cx="3291840" cy="3291840"/>
          </a:xfrm>
          <a:prstGeom prst="ellipse">
            <a:avLst/>
          </a:prstGeom>
          <a:solidFill>
            <a:srgbClr val="F8931D">
              <a:alpha val="30000"/>
            </a:srgbClr>
          </a:solidFill>
          <a:ln w="12700">
            <a:solidFill>
              <a:srgbClr val="F8931D">
                <a:alpha val="0"/>
              </a:srgbClr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1920240"/>
            <a:ext cx="27432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200" b="1" dirty="0">
                <a:solidFill>
                  <a:srgbClr val="F893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7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0632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Trust and next steps</a:t>
            </a:r>
            <a:endParaRPr lang="en-US" sz="40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393192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D9D9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Security, data protection, deployment and how to start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640080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1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100" dirty="0"/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SECURITY AND DATA PROTECTION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Patient-adjacent data, handled with strict boundaries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 data and training records stay inside the organization’s tenant.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56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04672" y="2130552"/>
            <a:ext cx="548640" cy="54864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Buildi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6346" y="2262226"/>
            <a:ext cx="285293" cy="285293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50876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Tenant isolation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0467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organization is a closed tenant; group members read sister organizations but cannot change them.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429768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455371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KeyRoun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85386" y="2262226"/>
            <a:ext cx="285293" cy="285293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525780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Role-based access</a:t>
            </a:r>
            <a:endParaRPr lang="en-US" sz="1600" dirty="0"/>
          </a:p>
        </p:txBody>
      </p:sp>
      <p:sp>
        <p:nvSpPr>
          <p:cNvPr id="17" name="Text 13"/>
          <p:cNvSpPr txBox="1"/>
          <p:nvPr/>
        </p:nvSpPr>
        <p:spPr>
          <a:xfrm>
            <a:off x="455371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Permissions checked on the server for each of the 29 roles; pack entitlements enforced.</a:t>
            </a:r>
            <a:endParaRPr lang="en-US" sz="1250" dirty="0"/>
          </a:p>
        </p:txBody>
      </p:sp>
      <p:sp>
        <p:nvSpPr>
          <p:cNvPr id="18" name="Shape 14"/>
          <p:cNvSpPr/>
          <p:nvPr/>
        </p:nvSpPr>
        <p:spPr>
          <a:xfrm>
            <a:off x="8046720" y="187452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8302752" y="213055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0" name="Image 2" descr="History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434426" y="2262226"/>
            <a:ext cx="285293" cy="285293"/>
          </a:xfrm>
          <a:prstGeom prst="rect">
            <a:avLst/>
          </a:prstGeom>
        </p:spPr>
      </p:pic>
      <p:sp>
        <p:nvSpPr>
          <p:cNvPr id="21" name="Text 16"/>
          <p:cNvSpPr txBox="1"/>
          <p:nvPr/>
        </p:nvSpPr>
        <p:spPr>
          <a:xfrm>
            <a:off x="9006840" y="214884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Audit trail</a:t>
            </a:r>
            <a:endParaRPr lang="en-US" sz="1600" dirty="0"/>
          </a:p>
        </p:txBody>
      </p:sp>
      <p:sp>
        <p:nvSpPr>
          <p:cNvPr id="22" name="Text 17"/>
          <p:cNvSpPr txBox="1"/>
          <p:nvPr/>
        </p:nvSpPr>
        <p:spPr>
          <a:xfrm>
            <a:off x="8302752" y="278892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change to a governed field is justified and recorded in an append-only log.</a:t>
            </a:r>
            <a:endParaRPr lang="en-US" sz="1250" dirty="0"/>
          </a:p>
        </p:txBody>
      </p:sp>
      <p:sp>
        <p:nvSpPr>
          <p:cNvPr id="23" name="Shape 18"/>
          <p:cNvSpPr/>
          <p:nvPr/>
        </p:nvSpPr>
        <p:spPr>
          <a:xfrm>
            <a:off x="54864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80467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5" name="Image 3" descr="Scale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6346" y="4365346"/>
            <a:ext cx="285293" cy="285293"/>
          </a:xfrm>
          <a:prstGeom prst="rect">
            <a:avLst/>
          </a:prstGeom>
        </p:spPr>
      </p:pic>
      <p:sp>
        <p:nvSpPr>
          <p:cNvPr id="26" name="Text 20"/>
          <p:cNvSpPr txBox="1"/>
          <p:nvPr/>
        </p:nvSpPr>
        <p:spPr>
          <a:xfrm>
            <a:off x="150876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Data-protection frameworks</a:t>
            </a:r>
            <a:endParaRPr lang="en-US" sz="1600" dirty="0"/>
          </a:p>
        </p:txBody>
      </p:sp>
      <p:sp>
        <p:nvSpPr>
          <p:cNvPr id="27" name="Text 21"/>
          <p:cNvSpPr txBox="1"/>
          <p:nvPr/>
        </p:nvSpPr>
        <p:spPr>
          <a:xfrm>
            <a:off x="80467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GDPR, ISO/IEC 27001, SOC 2, ISO/IEC 27701, ISO 9001, Law 09-08 (CNDP, Morocco).</a:t>
            </a:r>
            <a:endParaRPr lang="en-US" sz="1250" dirty="0"/>
          </a:p>
        </p:txBody>
      </p:sp>
      <p:sp>
        <p:nvSpPr>
          <p:cNvPr id="28" name="Shape 22"/>
          <p:cNvSpPr/>
          <p:nvPr/>
        </p:nvSpPr>
        <p:spPr>
          <a:xfrm>
            <a:off x="429768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9" name="Shape 23"/>
          <p:cNvSpPr/>
          <p:nvPr/>
        </p:nvSpPr>
        <p:spPr>
          <a:xfrm>
            <a:off x="455371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0" name="Image 4" descr="Bot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85386" y="4365346"/>
            <a:ext cx="285293" cy="285293"/>
          </a:xfrm>
          <a:prstGeom prst="rect">
            <a:avLst/>
          </a:prstGeom>
        </p:spPr>
      </p:pic>
      <p:sp>
        <p:nvSpPr>
          <p:cNvPr id="31" name="Text 24"/>
          <p:cNvSpPr txBox="1"/>
          <p:nvPr/>
        </p:nvSpPr>
        <p:spPr>
          <a:xfrm>
            <a:off x="525780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Governed AI</a:t>
            </a:r>
            <a:endParaRPr lang="en-US" sz="1600" dirty="0"/>
          </a:p>
        </p:txBody>
      </p:sp>
      <p:sp>
        <p:nvSpPr>
          <p:cNvPr id="32" name="Text 25"/>
          <p:cNvSpPr txBox="1"/>
          <p:nvPr/>
        </p:nvSpPr>
        <p:spPr>
          <a:xfrm>
            <a:off x="455371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AI use case names its human checkpoint; the usage log keeps every outcome.</a:t>
            </a:r>
            <a:endParaRPr lang="en-US" sz="1250" dirty="0"/>
          </a:p>
        </p:txBody>
      </p:sp>
      <p:sp>
        <p:nvSpPr>
          <p:cNvPr id="33" name="Shape 26"/>
          <p:cNvSpPr/>
          <p:nvPr/>
        </p:nvSpPr>
        <p:spPr>
          <a:xfrm>
            <a:off x="8046720" y="3977640"/>
            <a:ext cx="3520440" cy="192024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34" name="Shape 27"/>
          <p:cNvSpPr/>
          <p:nvPr/>
        </p:nvSpPr>
        <p:spPr>
          <a:xfrm>
            <a:off x="8302752" y="4233672"/>
            <a:ext cx="548640" cy="54864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35" name="Image 5" descr="FileLock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434426" y="4365346"/>
            <a:ext cx="285293" cy="285293"/>
          </a:xfrm>
          <a:prstGeom prst="rect">
            <a:avLst/>
          </a:prstGeom>
        </p:spPr>
      </p:pic>
      <p:sp>
        <p:nvSpPr>
          <p:cNvPr id="36" name="Text 28"/>
          <p:cNvSpPr txBox="1"/>
          <p:nvPr/>
        </p:nvSpPr>
        <p:spPr>
          <a:xfrm>
            <a:off x="9006840" y="4251960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Consent</a:t>
            </a:r>
            <a:endParaRPr lang="en-US" sz="1600" dirty="0"/>
          </a:p>
        </p:txBody>
      </p:sp>
      <p:sp>
        <p:nvSpPr>
          <p:cNvPr id="37" name="Text 29"/>
          <p:cNvSpPr txBox="1"/>
          <p:nvPr/>
        </p:nvSpPr>
        <p:spPr>
          <a:xfrm>
            <a:off x="8302752" y="4892040"/>
            <a:ext cx="301752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Consent recorded for every stored questionnaire response before gate G1.</a:t>
            </a:r>
            <a:endParaRPr lang="en-US" sz="1250" dirty="0"/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18 integrations in the catalog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connections at the hospital group, each health-checked; the single sign-on check currently reports a failure.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</a:t>
            </a:r>
            <a:endParaRPr lang="en-US" sz="1000" dirty="0"/>
          </a:p>
        </p:txBody>
      </p:sp>
      <p:graphicFrame>
        <p:nvGraphicFramePr>
          <p:cNvPr id="5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4754880" cy="914400"/>
        </p:xfrm>
        <a:graphic>
          <a:graphicData uri="http://schemas.openxmlformats.org/drawingml/2006/table">
            <a:tbl>
              <a:tblPr/>
              <a:tblGrid>
                <a:gridCol w="3474720"/>
                <a:gridCol w="1280160"/>
              </a:tblGrid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Integrations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Systems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Talent &amp; Performance Management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Content &amp; Ecosystem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Learning in the Flow of Work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Data &amp; Analytics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Platform &amp; Security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4114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&amp; Feedback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5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0" y="1874520"/>
          <a:ext cx="5973775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463040"/>
                <a:gridCol w="1764792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Connected at the hospital group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Code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Last health check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HRIS / HCM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INT-HR-01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Survey platform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INT-SUR-01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Success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9EAD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SSO (Microsoft Entra ID)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INT-SSO-01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Auth failure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E0B5"/>
                    </a:solidFill>
                  </a:tcPr>
                </a:tc>
              </a:tr>
            </a:tbl>
          </a:graphicData>
        </a:graphic>
      </p:graphicFrame>
      <p:sp>
        <p:nvSpPr>
          <p:cNvPr id="10" name="Text 6"/>
          <p:cNvSpPr txBox="1"/>
          <p:nvPr/>
        </p:nvSpPr>
        <p:spPr>
          <a:xfrm>
            <a:off x="5669280" y="3977640"/>
            <a:ext cx="5973775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HRIS / HCM examples: </a:t>
            </a:r>
            <a:pPr indent="0" marL="0">
              <a:buNone/>
            </a:pPr>
            <a:r>
              <a:rPr lang="en-US" sz="125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Workday, SAP SuccessFactors, Oracle HCM, ADP, BambooHR, Personio, DarwinBox</a:t>
            </a:r>
            <a:endParaRPr lang="en-US" sz="1250" dirty="0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 or on-premises, same application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licensing interface with two implementations, chosen when the server starts.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58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1031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Cloud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2567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1645920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SaaS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Hosted and updated centrally.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Licence checked online per organization.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clinics and groups without a local IT team.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6153912" y="1874520"/>
            <a:ext cx="5440680" cy="3108960"/>
          </a:xfrm>
          <a:prstGeom prst="roundRect">
            <a:avLst>
              <a:gd name="adj" fmla="val 35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4" name="Shape 11"/>
          <p:cNvSpPr/>
          <p:nvPr/>
        </p:nvSpPr>
        <p:spPr>
          <a:xfrm>
            <a:off x="6428232" y="21031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5" name="Image 1" descr="Server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81851" y="2256739"/>
            <a:ext cx="332842" cy="332842"/>
          </a:xfrm>
          <a:prstGeom prst="rect">
            <a:avLst/>
          </a:prstGeom>
        </p:spPr>
      </p:pic>
      <p:sp>
        <p:nvSpPr>
          <p:cNvPr id="16" name="Text 12"/>
          <p:cNvSpPr txBox="1"/>
          <p:nvPr/>
        </p:nvSpPr>
        <p:spPr>
          <a:xfrm>
            <a:off x="7251192" y="2176272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On-premises</a:t>
            </a:r>
            <a:endParaRPr lang="en-US" sz="2200" dirty="0"/>
          </a:p>
        </p:txBody>
      </p:sp>
      <p:sp>
        <p:nvSpPr>
          <p:cNvPr id="17" name="Text 13"/>
          <p:cNvSpPr txBox="1"/>
          <p:nvPr/>
        </p:nvSpPr>
        <p:spPr>
          <a:xfrm>
            <a:off x="6473952" y="2971800"/>
            <a:ext cx="484632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Installed in the hospital’s data centre.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Signed licence file bound to the server, with expiry date and seat limit.</a:t>
            </a:r>
            <a:endParaRPr lang="en-US" sz="1400" dirty="0"/>
          </a:p>
          <a:p>
            <a:pPr marL="177800" indent="-177800">
              <a:spcAft>
                <a:spcPts val="600"/>
              </a:spcAft>
              <a:buSzPct val="100000"/>
              <a:buChar char="•"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Suited to strict data-residency policies.</a:t>
            </a:r>
            <a:endParaRPr lang="en-US" sz="1400" dirty="0"/>
          </a:p>
        </p:txBody>
      </p:sp>
      <p:sp>
        <p:nvSpPr>
          <p:cNvPr id="18" name="Shape 14"/>
          <p:cNvSpPr/>
          <p:nvPr/>
        </p:nvSpPr>
        <p:spPr>
          <a:xfrm>
            <a:off x="548640" y="5212080"/>
            <a:ext cx="11094415" cy="777240"/>
          </a:xfrm>
          <a:prstGeom prst="roundRect">
            <a:avLst>
              <a:gd name="adj" fmla="val 14118"/>
            </a:avLst>
          </a:prstGeom>
          <a:solidFill>
            <a:srgbClr val="F2F2F3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9" name="Text 15"/>
          <p:cNvSpPr txBox="1"/>
          <p:nvPr/>
        </p:nvSpPr>
        <p:spPr>
          <a:xfrm>
            <a:off x="822960" y="5257800"/>
            <a:ext cx="1054577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Demonstration licence of the hospital group: plan BND-05, up to 600 users, features analytics, export, api, valid until 3 Nov 2027.</a:t>
            </a:r>
            <a:endParaRPr lang="en-US" sz="1300" dirty="0"/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PACKS FOR HEALTHCARE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Recommended packs for a hospital or clinic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prices per month, in USD; each pack includes a number of users, with a per-user price beyond.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59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777240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PK-01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777240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Core Training Engineering Pack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2" name="Text 10"/>
          <p:cNvSpPr txBox="1"/>
          <p:nvPr/>
        </p:nvSpPr>
        <p:spPr>
          <a:xfrm>
            <a:off x="777240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100 users included · $0.75 per extra user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777240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Scope, evidence, diagnosis, the Training Engineering Report and the roadmap.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3355848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3584448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PK-04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3584448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Compliance &amp; Certification Pack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3584448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$99</a:t>
            </a:r>
            <a:endParaRPr lang="en-US" sz="2800" dirty="0"/>
          </a:p>
        </p:txBody>
      </p:sp>
      <p:sp>
        <p:nvSpPr>
          <p:cNvPr id="18" name="Text 16"/>
          <p:cNvSpPr txBox="1"/>
          <p:nvPr/>
        </p:nvSpPr>
        <p:spPr>
          <a:xfrm>
            <a:off x="3584448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300 users included · $0.55 per extra user</a:t>
            </a:r>
            <a:endParaRPr lang="en-US" sz="1100" dirty="0"/>
          </a:p>
        </p:txBody>
      </p:sp>
      <p:sp>
        <p:nvSpPr>
          <p:cNvPr id="19" name="Text 17"/>
          <p:cNvSpPr txBox="1"/>
          <p:nvPr/>
        </p:nvSpPr>
        <p:spPr>
          <a:xfrm>
            <a:off x="3584448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Certificate tracking and readiness evidence for ISO 7101, JCI and ISO 15189.</a:t>
            </a:r>
            <a:endParaRPr lang="en-US" sz="1250" dirty="0"/>
          </a:p>
        </p:txBody>
      </p:sp>
      <p:sp>
        <p:nvSpPr>
          <p:cNvPr id="20" name="Shape 18"/>
          <p:cNvSpPr/>
          <p:nvPr/>
        </p:nvSpPr>
        <p:spPr>
          <a:xfrm>
            <a:off x="6163056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Text 19"/>
          <p:cNvSpPr txBox="1"/>
          <p:nvPr/>
        </p:nvSpPr>
        <p:spPr>
          <a:xfrm>
            <a:off x="6391656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PK-03</a:t>
            </a:r>
            <a:endParaRPr lang="en-US" sz="1200" dirty="0"/>
          </a:p>
        </p:txBody>
      </p:sp>
      <p:sp>
        <p:nvSpPr>
          <p:cNvPr id="22" name="Text 20"/>
          <p:cNvSpPr txBox="1"/>
          <p:nvPr/>
        </p:nvSpPr>
        <p:spPr>
          <a:xfrm>
            <a:off x="6391656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Assessment, Analytics &amp; ROI Pack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6391656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$129</a:t>
            </a:r>
            <a:endParaRPr lang="en-US" sz="2800" dirty="0"/>
          </a:p>
        </p:txBody>
      </p:sp>
      <p:sp>
        <p:nvSpPr>
          <p:cNvPr id="24" name="Text 22"/>
          <p:cNvSpPr txBox="1"/>
          <p:nvPr/>
        </p:nvSpPr>
        <p:spPr>
          <a:xfrm>
            <a:off x="6391656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500 users included · $0.5 per extra user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6391656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Kirkpatrick evaluation, KPIs and return on investment.</a:t>
            </a:r>
            <a:endParaRPr lang="en-US" sz="1250" dirty="0"/>
          </a:p>
        </p:txBody>
      </p:sp>
      <p:sp>
        <p:nvSpPr>
          <p:cNvPr id="26" name="Shape 24"/>
          <p:cNvSpPr/>
          <p:nvPr/>
        </p:nvSpPr>
        <p:spPr>
          <a:xfrm>
            <a:off x="8970264" y="1874520"/>
            <a:ext cx="2606040" cy="402336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Text 25"/>
          <p:cNvSpPr txBox="1"/>
          <p:nvPr/>
        </p:nvSpPr>
        <p:spPr>
          <a:xfrm>
            <a:off x="9198864" y="2057400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PK-02</a:t>
            </a:r>
            <a:endParaRPr lang="en-US" sz="1200" dirty="0"/>
          </a:p>
        </p:txBody>
      </p:sp>
      <p:sp>
        <p:nvSpPr>
          <p:cNvPr id="28" name="Text 26"/>
          <p:cNvSpPr txBox="1"/>
          <p:nvPr/>
        </p:nvSpPr>
        <p:spPr>
          <a:xfrm>
            <a:off x="9198864" y="2377440"/>
            <a:ext cx="21945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Learning Delivery &amp; Experience Pack</a:t>
            </a:r>
            <a:endParaRPr lang="en-US" sz="1600" dirty="0"/>
          </a:p>
        </p:txBody>
      </p:sp>
      <p:sp>
        <p:nvSpPr>
          <p:cNvPr id="29" name="Text 27"/>
          <p:cNvSpPr txBox="1"/>
          <p:nvPr/>
        </p:nvSpPr>
        <p:spPr>
          <a:xfrm>
            <a:off x="9198864" y="324612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8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$149</a:t>
            </a:r>
            <a:endParaRPr lang="en-US" sz="2800" dirty="0"/>
          </a:p>
        </p:txBody>
      </p:sp>
      <p:sp>
        <p:nvSpPr>
          <p:cNvPr id="30" name="Text 28"/>
          <p:cNvSpPr txBox="1"/>
          <p:nvPr/>
        </p:nvSpPr>
        <p:spPr>
          <a:xfrm>
            <a:off x="9198864" y="3794760"/>
            <a:ext cx="21945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 · 250 users included · $0.6 per extra user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9198864" y="4434840"/>
            <a:ext cx="219456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Paths, modules, sessions and learner engagement.</a:t>
            </a:r>
            <a:endParaRPr lang="en-US" sz="1250" dirty="0"/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ADD-ONS AND BUNDLES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Add-ons that fit hospital groups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Catalog prices per month, in USD.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1000" dirty="0"/>
          </a:p>
        </p:txBody>
      </p:sp>
      <p:graphicFrame>
        <p:nvGraphicFramePr>
          <p:cNvPr id="6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74520"/>
          <a:ext cx="7223760" cy="914400"/>
        </p:xfrm>
        <a:graphic>
          <a:graphicData uri="http://schemas.openxmlformats.org/drawingml/2006/table">
            <a:tbl>
              <a:tblPr/>
              <a:tblGrid>
                <a:gridCol w="2468880"/>
                <a:gridCol w="731520"/>
                <a:gridCol w="4023360"/>
              </a:tblGrid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Add-on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 adds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AD-08 · Multi-Site / Multi-Entity Deployment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$55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Adapt and deploy training plans across multiple sites, entities, or business units, ensuring local relevance while maintaining strategic alignment.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AD-09 · External Training Plan Validation (Regulatory)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Manage external validation and regulatory compliance for training plans, including submission to regulatory bodies (e.g., OFPPT, GIAC-Agro).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AD-11 · Questionnaire Library &amp; Multi-Channel 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Provide pre-built questionnaire templates tailored to Focus (All training needs, Digital, AI, Custom) and sector, with multi-channel distribution (Face-to-Face, Email, Hybrid, Custom), RACSI allocation per section and structured response collection.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AD-01 · Immersive Learning (VR/AR/Simulation)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Create experiential, safe-to-fail learning environments using VR, AR, and simulation technologies.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65836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AD-07 · Expert Knowledge Capture &amp; Transfer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Preserve institutional knowledge before it walks out the door.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2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8046720" y="1874520"/>
          <a:ext cx="3596335" cy="914400"/>
        </p:xfrm>
        <a:graphic>
          <a:graphicData uri="http://schemas.openxmlformats.org/drawingml/2006/table">
            <a:tbl>
              <a:tblPr/>
              <a:tblGrid>
                <a:gridCol w="1143000"/>
                <a:gridCol w="1234440"/>
                <a:gridCol w="1216152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Packs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Price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931D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Starter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$223.2 (−10%)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Growth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+ PK-02 + PK-03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$320.45 (−15%)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Enterprise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PK-05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$476 (−20%)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Strategic Bundle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PK-06 +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$677.25 (−25%)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2F2F3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Full Suite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PK-01 to PK-08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050" dirty="0">
                          <a:solidFill>
                            <a:srgbClr val="3A3A3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$806.4 (−30%)</a:t>
                      </a:r>
                      <a:endParaRPr lang="en-US" sz="10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3E3E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first run in four steps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132588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Sized by the complexity score: about 30, 60 or 90 days on an SME track; a full run for a hospital group.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 and next steps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548640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822960" y="2331720"/>
            <a:ext cx="640080" cy="64008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10" name="Image 0" descr="Setting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76579" y="2485339"/>
            <a:ext cx="332842" cy="332842"/>
          </a:xfrm>
          <a:prstGeom prst="rect">
            <a:avLst/>
          </a:prstGeom>
        </p:spPr>
      </p:pic>
      <p:sp>
        <p:nvSpPr>
          <p:cNvPr id="11" name="Text 8"/>
          <p:cNvSpPr txBox="1"/>
          <p:nvPr/>
        </p:nvSpPr>
        <p:spPr>
          <a:xfrm>
            <a:off x="2331720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22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Set up</a:t>
            </a:r>
            <a:endParaRPr lang="en-US" sz="1700" dirty="0"/>
          </a:p>
        </p:txBody>
      </p:sp>
      <p:sp>
        <p:nvSpPr>
          <p:cNvPr id="13" name="Text 10"/>
          <p:cNvSpPr txBox="1"/>
          <p:nvPr/>
        </p:nvSpPr>
        <p:spPr>
          <a:xfrm>
            <a:off x="822960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Group, organization, functions, users and roles; connect the HR system.</a:t>
            </a:r>
            <a:endParaRPr lang="en-US" sz="1300" dirty="0"/>
          </a:p>
        </p:txBody>
      </p:sp>
      <p:sp>
        <p:nvSpPr>
          <p:cNvPr id="14" name="Shape 11"/>
          <p:cNvSpPr/>
          <p:nvPr/>
        </p:nvSpPr>
        <p:spPr>
          <a:xfrm>
            <a:off x="3355848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5" name="Shape 12"/>
          <p:cNvSpPr/>
          <p:nvPr/>
        </p:nvSpPr>
        <p:spPr>
          <a:xfrm>
            <a:off x="3630168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6" name="Image 1" descr="ClipboardLis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83787" y="2485339"/>
            <a:ext cx="332842" cy="332842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5138928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2200" dirty="0"/>
          </a:p>
        </p:txBody>
      </p:sp>
      <p:sp>
        <p:nvSpPr>
          <p:cNvPr id="18" name="Text 14"/>
          <p:cNvSpPr txBox="1"/>
          <p:nvPr/>
        </p:nvSpPr>
        <p:spPr>
          <a:xfrm>
            <a:off x="3630168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Scope and evidence</a:t>
            </a:r>
            <a:endParaRPr lang="en-US" sz="1700" dirty="0"/>
          </a:p>
        </p:txBody>
      </p:sp>
      <p:sp>
        <p:nvSpPr>
          <p:cNvPr id="19" name="Text 15"/>
          <p:cNvSpPr txBox="1"/>
          <p:nvPr/>
        </p:nvSpPr>
        <p:spPr>
          <a:xfrm>
            <a:off x="3630168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the Scope of Work, send questionnaires, pass gate G1.</a:t>
            </a:r>
            <a:endParaRPr lang="en-US" sz="1300" dirty="0"/>
          </a:p>
        </p:txBody>
      </p:sp>
      <p:sp>
        <p:nvSpPr>
          <p:cNvPr id="20" name="Shape 16"/>
          <p:cNvSpPr/>
          <p:nvPr/>
        </p:nvSpPr>
        <p:spPr>
          <a:xfrm>
            <a:off x="6163056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1" name="Shape 17"/>
          <p:cNvSpPr/>
          <p:nvPr/>
        </p:nvSpPr>
        <p:spPr>
          <a:xfrm>
            <a:off x="6437376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2" name="Image 2" descr="Search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90995" y="2485339"/>
            <a:ext cx="332842" cy="332842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946136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2200" dirty="0"/>
          </a:p>
        </p:txBody>
      </p:sp>
      <p:sp>
        <p:nvSpPr>
          <p:cNvPr id="24" name="Text 19"/>
          <p:cNvSpPr txBox="1"/>
          <p:nvPr/>
        </p:nvSpPr>
        <p:spPr>
          <a:xfrm>
            <a:off x="6437376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Diagnose and plan</a:t>
            </a:r>
            <a:endParaRPr lang="en-US" sz="1700" dirty="0"/>
          </a:p>
        </p:txBody>
      </p:sp>
      <p:sp>
        <p:nvSpPr>
          <p:cNvPr id="25" name="Text 20"/>
          <p:cNvSpPr txBox="1"/>
          <p:nvPr/>
        </p:nvSpPr>
        <p:spPr>
          <a:xfrm>
            <a:off x="6437376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Five-axis diagnostic, gaps, prioritized themes, report, budget; gates G2 and G3.</a:t>
            </a:r>
            <a:endParaRPr lang="en-US" sz="1300" dirty="0"/>
          </a:p>
        </p:txBody>
      </p:sp>
      <p:sp>
        <p:nvSpPr>
          <p:cNvPr id="26" name="Shape 21"/>
          <p:cNvSpPr/>
          <p:nvPr/>
        </p:nvSpPr>
        <p:spPr>
          <a:xfrm>
            <a:off x="8970264" y="2103120"/>
            <a:ext cx="2606040" cy="3291840"/>
          </a:xfrm>
          <a:prstGeom prst="roundRect">
            <a:avLst>
              <a:gd name="adj" fmla="val 4211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7" name="Shape 22"/>
          <p:cNvSpPr/>
          <p:nvPr/>
        </p:nvSpPr>
        <p:spPr>
          <a:xfrm>
            <a:off x="9244584" y="2331720"/>
            <a:ext cx="640080" cy="64008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28" name="Image 3" descr="GraduationCap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398203" y="2485339"/>
            <a:ext cx="332842" cy="33284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753344" y="2377440"/>
            <a:ext cx="6400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2200" b="1" dirty="0">
                <a:solidFill>
                  <a:srgbClr val="E07B0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2200" dirty="0"/>
          </a:p>
        </p:txBody>
      </p:sp>
      <p:sp>
        <p:nvSpPr>
          <p:cNvPr id="30" name="Text 24"/>
          <p:cNvSpPr txBox="1"/>
          <p:nvPr/>
        </p:nvSpPr>
        <p:spPr>
          <a:xfrm>
            <a:off x="9244584" y="32004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Deliver and evaluate</a:t>
            </a:r>
            <a:endParaRPr lang="en-US" sz="1700" dirty="0"/>
          </a:p>
        </p:txBody>
      </p:sp>
      <p:sp>
        <p:nvSpPr>
          <p:cNvPr id="31" name="Text 25"/>
          <p:cNvSpPr txBox="1"/>
          <p:nvPr/>
        </p:nvSpPr>
        <p:spPr>
          <a:xfrm>
            <a:off x="9244584" y="3703320"/>
            <a:ext cx="210312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Sessions, Kirkpatrick evaluation, certificates, return on experience; gates G4 to G6.</a:t>
            </a:r>
            <a:endParaRPr lang="en-US" sz="1300" dirty="0"/>
          </a:p>
        </p:txBody>
      </p:sp>
      <p:sp>
        <p:nvSpPr>
          <p:cNvPr id="32" name="Shape 26"/>
          <p:cNvSpPr/>
          <p:nvPr/>
        </p:nvSpPr>
        <p:spPr>
          <a:xfrm>
            <a:off x="548640" y="5715000"/>
            <a:ext cx="11094415" cy="0"/>
          </a:xfrm>
          <a:prstGeom prst="line">
            <a:avLst/>
          </a:prstGeom>
          <a:noFill/>
          <a:ln w="12700">
            <a:solidFill>
              <a:srgbClr val="E3E3E4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548640" y="580644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POWERACT supports each step: set-up, method coaching and the first gate reviews.</a:t>
            </a:r>
            <a:endParaRPr lang="en-US" sz="1300" dirty="0"/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FDFD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8404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E07B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658368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30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Start with one hospital, one run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6473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POWER</a:t>
            </a:r>
            <a:pPr indent="0" marL="0">
              <a:buNone/>
            </a:pPr>
            <a:r>
              <a:rPr lang="en-US" sz="1000" b="1" spc="200" kern="0" dirty="0">
                <a:solidFill>
                  <a:srgbClr val="F893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</a:t>
            </a:r>
            <a:endParaRPr lang="en-US" sz="1000" dirty="0"/>
          </a:p>
        </p:txBody>
      </p:sp>
      <p:sp>
        <p:nvSpPr>
          <p:cNvPr id="5" name="Text 3"/>
          <p:cNvSpPr txBox="1"/>
          <p:nvPr/>
        </p:nvSpPr>
        <p:spPr>
          <a:xfrm>
            <a:off x="2377440" y="6455664"/>
            <a:ext cx="7406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10728655" y="6455664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dirty="0">
                <a:solidFill>
                  <a:srgbClr val="80818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777240" y="2194560"/>
            <a:ext cx="594360" cy="594360"/>
          </a:xfrm>
          <a:prstGeom prst="ellipse">
            <a:avLst/>
          </a:prstGeom>
          <a:solidFill>
            <a:srgbClr val="F8931D"/>
          </a:solidFill>
          <a:ln w="12700">
            <a:solidFill>
              <a:srgbClr val="F8931D"/>
            </a:solidFill>
            <a:prstDash val="solid"/>
          </a:ln>
        </p:spPr>
      </p:sp>
      <p:pic>
        <p:nvPicPr>
          <p:cNvPr id="9" name="Image 0" descr="CalendarCheck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9886" y="2337206"/>
            <a:ext cx="309067" cy="309067"/>
          </a:xfrm>
          <a:prstGeom prst="rect">
            <a:avLst/>
          </a:prstGeom>
        </p:spPr>
      </p:pic>
      <p:sp>
        <p:nvSpPr>
          <p:cNvPr id="10" name="Text 7"/>
          <p:cNvSpPr txBox="1"/>
          <p:nvPr/>
        </p:nvSpPr>
        <p:spPr>
          <a:xfrm>
            <a:off x="1600200" y="210312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 working session with POWERACT: your accreditation calendar, sites and priority roles.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548640" y="320040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777240" y="338328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3" name="Image 1" descr="MonitorPla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9886" y="3525926"/>
            <a:ext cx="309067" cy="309067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1600200" y="329184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the demonstration: sign in to the healthcare tenant and follow a task from scope to certificate.</a:t>
            </a:r>
            <a:endParaRPr lang="en-US" sz="1500" dirty="0"/>
          </a:p>
        </p:txBody>
      </p:sp>
      <p:sp>
        <p:nvSpPr>
          <p:cNvPr id="15" name="Shape 11"/>
          <p:cNvSpPr/>
          <p:nvPr/>
        </p:nvSpPr>
        <p:spPr>
          <a:xfrm>
            <a:off x="548640" y="4389120"/>
            <a:ext cx="6949440" cy="960120"/>
          </a:xfrm>
          <a:prstGeom prst="roundRect">
            <a:avLst>
              <a:gd name="adj" fmla="val 11429"/>
            </a:avLst>
          </a:prstGeom>
          <a:solidFill>
            <a:srgbClr val="FFFFFF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777240" y="4572000"/>
            <a:ext cx="594360" cy="594360"/>
          </a:xfrm>
          <a:prstGeom prst="ellipse">
            <a:avLst/>
          </a:prstGeom>
          <a:solidFill>
            <a:srgbClr val="58595B"/>
          </a:solidFill>
          <a:ln w="12700">
            <a:solidFill>
              <a:srgbClr val="58595B"/>
            </a:solidFill>
            <a:prstDash val="solid"/>
          </a:ln>
        </p:spPr>
      </p:sp>
      <p:pic>
        <p:nvPicPr>
          <p:cNvPr id="17" name="Image 2" descr="Rocket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9886" y="4714646"/>
            <a:ext cx="309067" cy="309067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1600200" y="4480560"/>
            <a:ext cx="56692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3A3A3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a pilot: one site or one clinic, Digital or AI focus, measured with the same KPIs.</a:t>
            </a:r>
            <a:endParaRPr lang="en-US" sz="1500" dirty="0"/>
          </a:p>
        </p:txBody>
      </p:sp>
      <p:sp>
        <p:nvSpPr>
          <p:cNvPr id="19" name="Shape 14"/>
          <p:cNvSpPr/>
          <p:nvPr/>
        </p:nvSpPr>
        <p:spPr>
          <a:xfrm>
            <a:off x="7955280" y="2011680"/>
            <a:ext cx="3657600" cy="3337560"/>
          </a:xfrm>
          <a:prstGeom prst="roundRect">
            <a:avLst>
              <a:gd name="adj" fmla="val 3288"/>
            </a:avLst>
          </a:prstGeom>
          <a:solidFill>
            <a:srgbClr val="FDEEDA"/>
          </a:solidFill>
          <a:ln w="9525">
            <a:solidFill>
              <a:srgbClr val="E3E3E4"/>
            </a:solidFill>
            <a:prstDash val="solid"/>
          </a:ln>
          <a:effectLst>
            <a:outerShdw sx="100000" sy="100000" kx="0" ky="0" algn="bl" rotWithShape="0" blurRad="76200" dist="19050" dir="5400000">
              <a:srgbClr val="808184">
                <a:alpha val="18000"/>
              </a:srgbClr>
            </a:outerShdw>
          </a:effectLst>
        </p:spPr>
      </p:sp>
      <p:sp>
        <p:nvSpPr>
          <p:cNvPr id="20" name="Text 15"/>
          <p:cNvSpPr txBox="1"/>
          <p:nvPr/>
        </p:nvSpPr>
        <p:spPr>
          <a:xfrm>
            <a:off x="8229600" y="22860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3A3A3C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POWERACT Consulting</a:t>
            </a:r>
            <a:endParaRPr lang="en-US" sz="1800" dirty="0"/>
          </a:p>
        </p:txBody>
      </p:sp>
      <p:sp>
        <p:nvSpPr>
          <p:cNvPr id="21" name="Text 16"/>
          <p:cNvSpPr txBox="1"/>
          <p:nvPr/>
        </p:nvSpPr>
        <p:spPr>
          <a:xfrm>
            <a:off x="8229600" y="269748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www.poweract.ma</a:t>
            </a:r>
            <a:endParaRPr lang="en-US" sz="1400" dirty="0"/>
          </a:p>
        </p:txBody>
      </p:sp>
      <p:sp>
        <p:nvSpPr>
          <p:cNvPr id="22" name="Text 17"/>
          <p:cNvSpPr txBox="1"/>
          <p:nvPr/>
        </p:nvSpPr>
        <p:spPr>
          <a:xfrm>
            <a:off x="8229600" y="3291840"/>
            <a:ext cx="31089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i="1" dirty="0">
                <a:solidFill>
                  <a:srgbClr val="58595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Figures in this presentation come from the demonstration instance. Organizations and people are fictional.</a:t>
            </a:r>
            <a:endParaRPr lang="en-US" sz="12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62</Slides>
  <Notes>62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62</vt:i4>
      </vt:variant>
    </vt:vector>
  </HeadingPairs>
  <TitlesOfParts>
    <vt:vector size="6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CortexSkills for Healthcare</dc:title>
  <dc:subject>PptxGenJS Presentation</dc:subject>
  <dc:creator>POWERACT Consulting</dc:creator>
  <cp:lastModifiedBy>POWERACT Consulting</cp:lastModifiedBy>
  <cp:revision>1</cp:revision>
  <dcterms:created xsi:type="dcterms:W3CDTF">2026-09-30T10:55:54Z</dcterms:created>
  <dcterms:modified xsi:type="dcterms:W3CDTF">2026-09-30T10:55:54Z</dcterms:modified>
</cp:coreProperties>
</file>
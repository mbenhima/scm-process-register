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1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17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8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9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2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 cases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run (65%)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Enablers</c:v>
                  </c:pt>
                  <c:pt idx="1">
                    <c:v>Scope</c:v>
                  </c:pt>
                  <c:pt idx="2">
                    <c:v>Diagnosis</c:v>
                  </c:pt>
                  <c:pt idx="3">
                    <c:v>Report &amp; plan</c:v>
                  </c:pt>
                  <c:pt idx="4">
                    <c:v>Delivery</c:v>
                  </c:pt>
                  <c:pt idx="5">
                    <c:v>Evaluation</c:v>
                  </c:pt>
                  <c:pt idx="6">
                    <c:v>Improvement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41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run (78%)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Enablers</c:v>
                  </c:pt>
                  <c:pt idx="1">
                    <c:v>Scope</c:v>
                  </c:pt>
                  <c:pt idx="2">
                    <c:v>Diagnosis</c:v>
                  </c:pt>
                  <c:pt idx="3">
                    <c:v>Report &amp; plan</c:v>
                  </c:pt>
                  <c:pt idx="4">
                    <c:v>Delivery</c:v>
                  </c:pt>
                  <c:pt idx="5">
                    <c:v>Evaluation</c:v>
                  </c:pt>
                  <c:pt idx="6">
                    <c:v>Improvement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50</c:v>
                </c:pt>
                <c:pt idx="6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Business impact</c:v>
                  </c:pt>
                  <c:pt idx="1">
                    <c:v>Novelty</c:v>
                  </c:pt>
                  <c:pt idx="2">
                    <c:v>Regulatory exposure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Stakeholders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Strategic (MS)</c:v>
                  </c:pt>
                  <c:pt idx="1">
                    <c:v>Managerial (MO)</c:v>
                  </c:pt>
                  <c:pt idx="2">
                    <c:v>Operational (OP)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Stakeholders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Face-to-Face</c:v>
                  </c:pt>
                  <c:pt idx="1">
                    <c:v>Combination</c:v>
                  </c:pt>
                  <c:pt idx="2">
                    <c:v>Email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26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Face-to-Face</c:v>
                </c:pt>
                <c:pt idx="1">
                  <c:v>Application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17</c:v>
                </c:pt>
                <c:pt idx="1">
                  <c:v>9</c:v>
                </c:pt>
                <c:pt idx="2">
                  <c:v>2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Below 85%</c:v>
                  </c:pt>
                  <c:pt idx="1">
                    <c:v>85–94%</c:v>
                  </c:pt>
                  <c:pt idx="2">
                    <c:v>95% and more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score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Implemented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 AI triage and clinical decision support</c:v>
                  </c:pt>
                  <c:pt idx="1">
                    <c:v>2. AI medical imaging assistance</c:v>
                  </c:pt>
                  <c:pt idx="2">
                    <c:v>3. AI bed and staff capacity planning</c:v>
                  </c:pt>
                  <c:pt idx="3">
                    <c:v>4. AI literacy for all staff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gap (levels)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 of gaps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E3E3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270000</c:v>
                </c:pt>
                <c:pt idx="1">
                  <c:v>225000</c:v>
                </c:pt>
                <c:pt idx="2">
                  <c:v>180000</c:v>
                </c:pt>
                <c:pt idx="3">
                  <c:v>135000</c:v>
                </c:pt>
                <c:pt idx="4">
                  <c:v>90000</c:v>
                </c:pt>
                <c:pt idx="5">
                  <c:v>45000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217250</c:v>
                </c:pt>
                <c:pt idx="1">
                  <c:v>171599</c:v>
                </c:pt>
                <c:pt idx="2">
                  <c:v>142133</c:v>
                </c:pt>
                <c:pt idx="3">
                  <c:v>112764</c:v>
                </c:pt>
                <c:pt idx="4">
                  <c:v>61149</c:v>
                </c:pt>
                <c:pt idx="5">
                  <c:v>32302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 1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Level 1</c:v>
                  </c:pt>
                  <c:pt idx="1">
                    <c:v>Level 2</c:v>
                  </c:pt>
                  <c:pt idx="2">
                    <c:v>Level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84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2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Level 1</c:v>
                  </c:pt>
                  <c:pt idx="1">
                    <c:v>Level 2</c:v>
                  </c:pt>
                  <c:pt idx="2">
                    <c:v>Level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</c:v>
                </c:pt>
                <c:pt idx="1">
                  <c:v>92</c:v>
                </c:pt>
                <c:pt idx="2">
                  <c:v>77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Control Environment</c:v>
                  </c:pt>
                  <c:pt idx="1">
                    <c:v>Risk Assessment</c:v>
                  </c:pt>
                  <c:pt idx="2">
                    <c:v>Control Activities</c:v>
                  </c:pt>
                  <c:pt idx="3">
                    <c:v>Information &amp; Communication</c:v>
                  </c:pt>
                  <c:pt idx="4">
                    <c:v>Monitoring Activities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0</c:v>
                </c:pt>
                <c:pt idx="2">
                  <c:v>40</c:v>
                </c:pt>
                <c:pt idx="3">
                  <c:v>3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Rated effective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Control Environment</c:v>
                  </c:pt>
                  <c:pt idx="1">
                    <c:v>Risk Assessment</c:v>
                  </c:pt>
                  <c:pt idx="2">
                    <c:v>Control Activities</c:v>
                  </c:pt>
                  <c:pt idx="3">
                    <c:v>Information &amp; Communication</c:v>
                  </c:pt>
                  <c:pt idx="4">
                    <c:v>Monitoring Activities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0</c:v>
                </c:pt>
                <c:pt idx="2">
                  <c:v>24</c:v>
                </c:pt>
                <c:pt idx="3">
                  <c:v>3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2026-05</c:v>
                  </c:pt>
                  <c:pt idx="1">
                    <c:v>2026-06</c:v>
                  </c:pt>
                  <c:pt idx="2">
                    <c:v>2026-07</c:v>
                  </c:pt>
                  <c:pt idx="3">
                    <c:v>2026-08</c:v>
                  </c:pt>
                  <c:pt idx="4">
                    <c:v>2026-09</c:v>
                  </c:pt>
                  <c:pt idx="5">
                    <c:v>2026-10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84.7</c:v>
                </c:pt>
                <c:pt idx="2">
                  <c:v>91.4</c:v>
                </c:pt>
                <c:pt idx="3">
                  <c:v>90.4</c:v>
                </c:pt>
                <c:pt idx="4">
                  <c:v>102</c:v>
                </c:pt>
                <c:pt idx="5">
                  <c:v>97.2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808184"/>
            </a:solidFill>
            <a:ln w="25400" cap="flat">
              <a:solidFill>
                <a:srgbClr val="80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08184"/>
              </a:solidFill>
              <a:ln w="9525" cap="flat">
                <a:solidFill>
                  <a:srgbClr val="80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2026-05</c:v>
                  </c:pt>
                  <c:pt idx="1">
                    <c:v>2026-06</c:v>
                  </c:pt>
                  <c:pt idx="2">
                    <c:v>2026-07</c:v>
                  </c:pt>
                  <c:pt idx="3">
                    <c:v>2026-08</c:v>
                  </c:pt>
                  <c:pt idx="4">
                    <c:v>2026-09</c:v>
                  </c:pt>
                  <c:pt idx="5">
                    <c:v>2026-10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Accepted</c:v>
                </c:pt>
                <c:pt idx="1">
                  <c:v>Edited</c:v>
                </c:pt>
                <c:pt idx="2">
                  <c:v>Rejected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</c:v>
                </c:pt>
                <c:pt idx="1">
                  <c:v>9</c:v>
                </c:pt>
                <c:pt idx="2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Clinic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Novelty</c:v>
                  </c:pt>
                  <c:pt idx="2">
                    <c:v>Regulatory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Hospital group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Novelty</c:v>
                  </c:pt>
                  <c:pt idx="2">
                    <c:v>Regulatory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Maghreb Hospitals Group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78</c:v>
                </c:pt>
                <c:pt idx="1">
                  <c:v>66</c:v>
                </c:pt>
                <c:pt idx="2">
                  <c:v>81</c:v>
                </c:pt>
                <c:pt idx="3">
                  <c:v>69</c:v>
                </c:pt>
                <c:pt idx="4">
                  <c:v>81</c:v>
                </c:pt>
                <c:pt idx="5">
                  <c:v>67</c:v>
                </c:pt>
                <c:pt idx="6">
                  <c:v>50</c:v>
                </c:pt>
                <c:pt idx="7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Maghreb Hospitals Group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</c:v>
                </c:pt>
                <c:pt idx="1">
                  <c:v>50</c:v>
                </c:pt>
                <c:pt idx="2">
                  <c:v>68</c:v>
                </c:pt>
                <c:pt idx="3">
                  <c:v>51</c:v>
                </c:pt>
                <c:pt idx="4">
                  <c:v>67</c:v>
                </c:pt>
                <c:pt idx="5">
                  <c:v>51</c:v>
                </c:pt>
                <c:pt idx="6">
                  <c:v>27</c:v>
                </c:pt>
                <c:pt idx="7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4.xml"/><Relationship Id="rId6" Type="http://schemas.openxmlformats.org/officeDocument/2006/relationships/chart" Target="/ppt/charts/chart5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0.xm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1-1.png"/><Relationship Id="rId3" Type="http://schemas.openxmlformats.org/officeDocument/2006/relationships/image" Target="../media/image-51-2.png"/><Relationship Id="rId4" Type="http://schemas.openxmlformats.org/officeDocument/2006/relationships/image" Target="../media/image-5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3-1.png"/><Relationship Id="rId3" Type="http://schemas.openxmlformats.org/officeDocument/2006/relationships/image" Target="../media/image-53-2.png"/><Relationship Id="rId4" Type="http://schemas.openxmlformats.org/officeDocument/2006/relationships/image" Target="../media/image-5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PRESENTATION · HEALTHCARE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 for Healthcare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for hospitals and clinics — from accreditation requirements to certified, evaluated staff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challenge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Accreditation, patient safety and new skills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Lifecycle, gates, healthcare processes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hospital group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AI skills run, phase by phase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clinic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 on an SME track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FlaskConic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 ecosystem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and pharma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and next steps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deployment, packs, plan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hospital group, one AI skills run, measured end to end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· 4,700 employees · Casablanca · figures from the seeded demonstration run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par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265 tasks completed in the AI skills run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6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signed off with a “Go” decision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responses, 91% average completeness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1,260,000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budget in the locked 2026 plan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run shows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30" y="4215750"/>
            <a:ext cx="218724" cy="21872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63040" y="4078224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flagged 5 of 21 function × decision-level cells as Red; Clinical Care &amp; Nursing is Red at strategic and operational levels.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90288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4691238"/>
            <a:ext cx="218724" cy="2187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4553712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AI themes were prioritized by impact and urgency; “AI triage and clinical decision support” ranks first (impact 5, urgency 4).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630" y="5166726"/>
            <a:ext cx="218724" cy="21872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63040" y="5029200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evaluations range from 74% to 93%; one ISO 7101 awareness certificate has expired and one is expiring.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41264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630" y="5642214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63040" y="5504688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279 RACSI activities has exactly one Accountable; 385 audit entries trace the changes.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challenge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Accreditation, patient safety and the shift to digital and AI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safety depends on proven competence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accreditation bodies ask for evidence that each role is trained, assessed and current.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7101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quality management: competence determined per role, training records kept, effectiveness evaluated.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29768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352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JCI Standards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surveys check staff qualification and education, with evidence at the level of each practitioner.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04672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Micr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15189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laboratories: competence of laboratory personnel, assessed and recorded.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48640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DRIVER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Patient-safety accreditation burden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accreditation cycle requires competence evidence for regulated roles.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153912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428232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RISK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428232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Adverse clinical event linked to a training gap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6428232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at each gate through the healthcare readiness checklist.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Learning &amp; Development teams in hospitals must solve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competence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Clinical Care &amp; Nursing position to its obligations and keep certificates valid.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55848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30168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Fi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27868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3016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evidence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630168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 and manager observations kept per step, retrievable for a survey.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63056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37376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278685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and AI adoption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records, telemedicine, AI triage and imaging change daily practice.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970264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44584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3" descr="Building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27868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Multi-site, multilingual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9244584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sites and three working languages — English, French and Arabic.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healthcare verticals, each with its own standards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vertical brings its macro processes, end-to-end processes and readiness checklist.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Standards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Care &amp; Nursing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Hospitals Group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55848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01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0168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63016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MDR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30168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Laboratory Operations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30168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Life Sciences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37376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37376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37376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37376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Quality &amp; Distribution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Pharma Distribution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70264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244584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44584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24458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44584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44584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244584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GMP Manufacturing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244584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Pharma Maghreb Process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skills themes, digital and 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for the Healthcare Providers vertical; each organization adjusts them during diagnosis.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Monitor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skills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68680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and remote consultation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patient scheduling and billing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153912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28232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3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878" y="2291486"/>
            <a:ext cx="309067" cy="30906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05472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skills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473952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73952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068312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473952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73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7068312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473952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73952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68312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lifecycle, seven phases, gates, and healthcare-specific processes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lifecycle, seven phases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groups end-to-end processes; a gate closes each main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&amp;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delivery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compliance &amp;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Talent, knowledge &amp; continuous improvement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157216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02057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12064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run across all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AI and integration · change and adoption · quality, risk and improvement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gates, each with a checklist and named approvers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closes only when the mandatory items are met and the decision is recorded.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94960"/>
                <a:gridCol w="2587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— Scope &amp; evidence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the approved Scope of Work and a consolidated questionnaire dataset.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Consultant PM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— Diagnostic validated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diagnostic findings, gaps, demands, RAG and SWOT.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L&amp;D, HR Director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— Report &amp; roadmap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the Training Engineering Report, prioritized plan and budget.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Steering Committee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— Delivery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designs, content, trainers and logistics before delivery.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— Evaluation &amp; impact validated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effectiveness, ROI and compliance status.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L&amp;D, Finance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— Closure &amp; continuous 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the cycle with REX and the post-engagement roadmap.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Partner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PROCESSES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healthcare macro processes on top of the core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automatically when the organization’s sector is Healthcare Providers.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&amp; Safety Training Compliance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regulated role in Healthcare Providers trained and certified against ISO 7101.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Compliance Officer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9768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1" descr="A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0352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Skills &amp; Certification Framework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critical Clinical Care &amp; Nursing skills and their certification paths.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Head of L&amp;D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4672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5256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HCPR-MP-03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&amp; AI Skills Transformation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digital and AI skills that Healthcare Providers operations will need.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L&amp;D Strategist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PROCESSES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healthcare end-to-end processes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a trigger, an end state, the macro processes it crosses and its user-facing tasks.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Compliance-to-Certification Readiness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Healthcare Providers regulated roles certified against ISO 7101.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ISO 7101 requirement or certification expiry.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compliance extract issued with every critical role certified.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MP-01 · MP-02 · MP-14 · HCPR-MP-01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user-facing tasks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53912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Critical-Skills-to-Transformation Plan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critical-skill gaps and digital and AI use cases into a transformation plan.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25512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plan cycle or technology change in Healthcare Providers.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28232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state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25512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learning paths approved.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MP-02 · MP-03 · MP-05 · HCPR-MP-02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28232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525512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user-facing tasks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SCAFFOLDING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readiness checklist for Healthcare Providers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once for the vertical; used at the gates and in the compliance extract.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8521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training requirements mapped to positions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Clinical Care &amp; Nursing roles certified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 risk reviewed: Adverse clinical event linked to a training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206240"/>
            <a:ext cx="5852160" cy="1783080"/>
          </a:xfrm>
          <a:prstGeom prst="roundRect">
            <a:avLst>
              <a:gd name="adj" fmla="val 61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0" descr="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455554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Readiness support, not certification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4846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organizes evidence and checks readiness against ISO 7101, JCI and ISO 15189. The certification decision stays with the accreditation body.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11696" y="1865376"/>
            <a:ext cx="4956048" cy="3138678"/>
          </a:xfrm>
          <a:prstGeom prst="roundRect">
            <a:avLst>
              <a:gd name="adj" fmla="val 233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5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ACCOUNTABILITY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roles, one Accountable per activity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RACSI: Responsible, Accountable, Consulted, Supported, Informed — allocated for every activity of the run.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343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18745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roles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240280"/>
            <a:ext cx="3779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Director / Steering Committee Chair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L&amp;D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Analyst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Strategist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Business Partner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Planner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Instructional Designer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Administrator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4754880"/>
            <a:ext cx="37792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495604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4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506577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41080" y="4882896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065008" y="5504688"/>
            <a:ext cx="3413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in the hospital run, each with exactly one Accountable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WITH A HUMAN CHECKPOINT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AI use cases, each reviewed by a person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drafts; a named role accepts, edits or rejects. Every suggestion is logged with its outcome.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7452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catalog AI use cases by risk level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350215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checkpoint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Engineering Report drafting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Strategist edits every section; Quality Manager reviews before approval.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findings drafting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Consultant PM validates findings with the client sponsor.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 prioritization scoring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Strategist confirms the ranking; Steering Committee validates the plan.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gap forecasting (6-18 months)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 accepts or rejects each prediction before any action.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translation draft (FR/AR)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Matter Expert validates terminology before publication.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hospital group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— 4,700 employees, Casablanca. Demonstration data, fictional organization.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PROFILE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Maghreb Hospitals Group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of Maghreb Health &amp; Life Group · Healthcare Providers · large company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in the organization structure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users, one per role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runs in 2026: Digital and AI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Operations, Quality &amp; HSE, Finance, Human Resources, Sales &amp; Marketing, Information Systems, Clinical Care &amp; Nursing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Full Suite (PK-01 to PK-08)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Multi-Site / Multi-Entity Deployment; Questionnaire Library &amp; Multi-Channel Distribution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 frameworks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GDPR, Law 09-08 (CNDP, Morocco), ISO 9001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·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· 600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 on governed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skills run on one screen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Full Run 2026 — Maghreb Hospitals Group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of 265 tasks completed; 7 in progress, 1 blocked.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tasks overdue — each raises an alert with an escalation chain.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score 84: Full mode, all seven phases and six gates.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TWO RUNS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runs: the Digital run leads on delivery and evaluation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per phase, same organization, same template.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/ tasks planned in each phase (%)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03920" y="182880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050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Monitor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1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281160" y="195681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 / 265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705088" y="257860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the Digital run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503920" y="324612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05088" y="34472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55701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337413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 / 265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705088" y="399592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the AI run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4663440"/>
            <a:ext cx="3139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diagnosis and the report are complete in both runs; the gap opens in delivery and evaluation.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COMPLEXITY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score 84 out of 100: Full mode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weighted criteria rated 1–5 when the project is created; the score recommends the mode.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of each complexity criterion (1 = low, 5 = high)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0" y="1828800"/>
            <a:ext cx="3687775" cy="1920240"/>
          </a:xfrm>
          <a:prstGeom prst="roundRect">
            <a:avLst>
              <a:gd name="adj" fmla="val 571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0" y="1965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97180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mode: score of 70 or more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23360"/>
            <a:ext cx="36877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70, the score recommends SME mode and one of three tracks (T1, T2, T3). Choosing a different track requires a written justification.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SCOPE OF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 approved before any data is collected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on 22 Jul 2026 · focus AI · decision levels MS / MO / OP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rid3x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criteria: function × decision level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in the register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40/40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with consent recorded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Fi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version of the Scope of Work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by decision level</a:t>
            </a:r>
            <a:endParaRPr lang="en-US" sz="1000" dirty="0"/>
          </a:p>
        </p:txBody>
      </p:sp>
      <p:graphicFrame>
        <p:nvGraphicFramePr>
          <p:cNvPr id="30" name="Chart 1" descr=""/>
          <p:cNvGraphicFramePr/>
          <p:nvPr/>
        </p:nvGraphicFramePr>
        <p:xfrm>
          <a:off x="621792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621792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by preferred channel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questionnaire responses, 91% complete on average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drafted by AI from the Scope of Work, validated by a person, sent through each stakeholder’s channel.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responses by channel used</a:t>
            </a:r>
            <a:endParaRPr lang="en-US" sz="10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669280" y="17830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669280" y="5852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by completeness of the answers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 — Scope &amp; evidence approved: “Go”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30 Jul 2026 · All mandatory items met; evidence attached.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6885432"/>
                <a:gridCol w="1371600"/>
                <a:gridCol w="14630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 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frame recorded (Group Yes/No, Organization, sector)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levels and functions mapped in the criteria matrix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register complete with channels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AI-generated question validated by a person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confirmed for every stored response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cannot be signed off while a mandatory item is open; the approvers are HR Director and Consultant PM.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DIAGNOSIS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Five-axis diagnostic: information systems score lowest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validated with the sponsor · scores on a 0–5 scale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of each diagnostic axis (0–5)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949440" y="187452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201168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 maturity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377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5146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level → target level (1–5)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38328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223760" y="352044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maturity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886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0" y="402336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level → target level (1–5)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98348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axis: information systems (2). Highest: strategy (3.4).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21 cells are 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by function and decision level: MS strategic, MO managerial, OP operational.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&amp; HSE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Resources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&amp; Marketing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Systems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Care &amp; Nursing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per cell; fill shows the RAG status (red, amber, green)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0" y="1874520"/>
            <a:ext cx="3870655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205740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Care &amp; Nursing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0604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258775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· Amber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90779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triage and clinical decision support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56616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54787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· Amber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386791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medical imaging assistance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52628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450799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· Amber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482803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bed and staff capacity planning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SWOT AND IMPROVEMENT AXES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improvement axes, ranked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SWOT validated for Operations and Quality &amp; HSE.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team; stable processes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use of AI triage and clinical decision support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6616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ISO 7101 audits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309360" y="178308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309360" y="5852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progress of each improvement axis, by priority rank (%)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SKILLS GAPS AND NEEDS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individual gaps to validated training demands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come from skills assessments; needs and demands are validated before prioritization.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Clipboar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assessments recorded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gaps, 2 critical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needs, 10 validated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demands from managers and staff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29184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 by competency: average gap in proficiency levels and number of gaps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0" y="333756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demands by priority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703320"/>
          <a:ext cx="3413455" cy="914400"/>
        </p:xfrm>
        <a:graphic>
          <a:graphicData uri="http://schemas.openxmlformats.org/drawingml/2006/table">
            <a:tbl>
              <a:tblPr/>
              <a:tblGrid>
                <a:gridCol w="2048073"/>
                <a:gridCol w="136538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PRIORITIZATION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AI themes, ranked by impact and urgency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priority score; the L&amp;D Strategist accepts or changes it with a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005840"/>
                <a:gridCol w="1005840"/>
                <a:gridCol w="1463040"/>
                <a:gridCol w="1463040"/>
                <a:gridCol w="14904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× groups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257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urgency on a 1–5 scale; cell fill follows the status scale (red = 1, dark green = 5). Budget as recorded in the plan.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REPORT AND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Engineering Report, published and versioned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Published · version 2 · 4 sections drafted by AI and reviewed by the Quality Manager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solidFill>
            <a:srgbClr val="F893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468880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505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880360" y="3127248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999232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166360" y="3785616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85232" y="38221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443984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3232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literacy for all staff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initiatives by wave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228600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0100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242316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274320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AI triage and clinical decision support across Clinical Care &amp; Nursing by end 2027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0" y="370332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001000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84048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 2026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16052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major findings in ISO 7101 audits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521208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Healthcare Providers competitive intelligence 2026, updated 1 Oct 2026.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PLAN AND 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plan locked: 1,260,000 budgeted, 35% realized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committed and actual amounts per theme, as recorded (currency set per organization).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8638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committed and actual spend per theme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778240" y="18288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97940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55480" y="19568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945,000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979408" y="25786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(75% of planned)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778240" y="32004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79408" y="34015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Receip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35112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55480" y="33284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737,197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979408" y="39502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spend (59% of planned)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778240" y="45720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979408" y="47731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6" y="4882896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555480" y="47000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352,800</a:t>
            </a:r>
            <a:endParaRPr lang="en-US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8979408" y="53218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forecast from training contracts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FUNDING AND REGULATION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contract refunds, tracked to the deadline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OFPPT special training contracts file · regulator OFPPT · deadline 30 Oct 2026 · status Approved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74980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51560"/>
                <a:gridCol w="1051560"/>
                <a:gridCol w="1143000"/>
                <a:gridCol w="960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/ planned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217,250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171,599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142,133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61,149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20240"/>
            <a:ext cx="3230575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0" y="214884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0" descr="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4" y="228051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18320" y="2194560"/>
            <a:ext cx="204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Deadline alerts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28346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submission deadline means a lost refund. The run records the file, its deadline and its status, and the risk register tracks “Missed regulatory submission deadline and lost refund”.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DESIGN AND DELIVERY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paths, modules and sessions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learning paths · 4 modules · 4 sessions · 12 enrollments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766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73152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E-learning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 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6766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64592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AI triage and clinical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AI medical imaging assistance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AI triage and clinical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AI medical imaging assistance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192024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973568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22311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04825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7973568" y="267004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assets tagged to competencies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72400" y="333756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973568" y="353872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364845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49640" y="346557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7973568" y="408736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scheduled across the sessions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475488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recorded per session; a missing attendance record raises an alert to the Training Administrator.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· WHAT TO TYPE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Guidance written for this hospital and this sector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shows the expected answer, the inputs and outputs, the owner and the evaluator.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to type” is specific to the organization, its sector and the focus of the run.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 proposes a draft, labelled with its confidence and sources.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and evaluator are two different people: segregation of duties is enforced.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EVALUATION AND CERTIFICATION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Kirkpatrick levels 1 to 3, and certificate validity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 per enrollment; certificates tracked against their expiry date.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score by Kirkpatrick level: 1 reaction, 2 learning, 3 behaviour (%)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874520"/>
          <a:ext cx="48764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1704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until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Aug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Nov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Feb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May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Aug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Nov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766560" y="4937760"/>
            <a:ext cx="4876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valid · 1 expiring · 1 expired. Expiry raises an alert before the date.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gates signed off, 3 open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run stands: mandatory items completed at each gate.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 approved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8189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611069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2611069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validated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11069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611069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1069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0773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9061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roadmap approved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9061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49061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490618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8728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7016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637016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readiness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7016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7016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70168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66837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49717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G5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8249717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impact validated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9717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249717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249717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946386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129266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G6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0129266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&amp; continuous improvement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129266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10129266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129266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has its own checklist; the sign-off records the decision, the approver and the date.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RISKS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risks scored by likelihood and impact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is linked to its controls, a key risk indicator and an owner.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10312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74320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38328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92608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38328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28600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4592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616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6634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64592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02336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28600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3832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2743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56616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210312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0058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" y="1810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↓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35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risks per likelihood × impact cell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874520"/>
          <a:ext cx="67967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1234440"/>
                <a:gridCol w="804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learner and user 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knowledge lost with expert departure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 access to tenant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plan misaligned with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Inaccurate skills data leading to wrong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AI content in the Training Engineering Report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 mandatory certification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CONTROLS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controls mapped to the COSO components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rated effective · 89 business rules enforce them in the workflow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and effective controls per COSO component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08976" y="1819656"/>
            <a:ext cx="3858768" cy="2452878"/>
          </a:xfrm>
          <a:prstGeom prst="roundRect">
            <a:avLst>
              <a:gd name="adj" fmla="val 29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74520"/>
            <a:ext cx="3749040" cy="23431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KPIS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standard KPIs, measured monthly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 custom KPIs, e.g. “Share of Clinical Care &amp; Nursing supervisors certified”.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868680"/>
                <a:gridCol w="96012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KPI-001 · Strategic objective 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KPI-002 · Skills inventory validation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KPI-003 · Critical gap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KPI-010 · Learner completion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KPI-020 · Integration synchronisation success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KPI-061 · Stakeholder engagement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315200" y="1783080"/>
          <a:ext cx="432785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315200" y="5760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 coverage: monthly value against target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ALERTS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open alerts, each with an escalation chain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come from process rules; overdue steps escalate by role and by delay.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914400"/>
                <a:gridCol w="640080"/>
                <a:gridCol w="533095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ALR-006 · Record attendance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 → Training Administrator (24 h) → Head of L&amp;D (72 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ALR-007 · Trigger re-engagement nudge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 → Manager (after second nudge)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ALR-008 · Review evaluation results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Analyst → Instructional Designer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ALR-014 · Run HRIS synchronisation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Architect → Platform Administrator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ALR-016 · Enforce login rate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Administrator → IT Architect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ALR-018 · Track adoption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Manager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ALR-020 · Execute improvement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MP-20.3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Owner → Quality Manager (7 days)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ALR-039 · Review access violation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Architect → Platform Administrator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approvals and task notices are sent in the application and by e-mail (11 dispatches in the demonstration run).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· USAGE 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AI suggestions logged: 30 accepted, 9 edited, 9 rejected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usage log is append-only; each line keeps the use case, the user, the confidence and the decision.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suggestions by outcome of the human review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57216" y="1819656"/>
            <a:ext cx="6510528" cy="4110228"/>
          </a:xfrm>
          <a:prstGeom prst="roundRect">
            <a:avLst>
              <a:gd name="adj" fmla="val 178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87452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run on one timeline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processes and tasks with dependencies; summary bars are computed from the tasks.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8249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83080"/>
            <a:ext cx="702259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QUESTIONS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standard reports and a data-aware assistant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export to PDF, Excel and Word. The assistant answers within the user’s permissions.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486400" cy="3429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54496" y="1728216"/>
            <a:ext cx="5413248" cy="3424428"/>
          </a:xfrm>
          <a:prstGeom prst="roundRect">
            <a:avLst>
              <a:gd name="adj" fmla="val 21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· KNOWLEDGE AND IMPROVEMENT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 feed the next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experience rated 4/5 · 4 knowledge base articles for the sector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stakeholder register and multi-channel distribution lifted the response rate.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99008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inputs arrived late from one function.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22776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backup nominated for the function head.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46904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503834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503834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backup for every function head at kickoff.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7452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9440" y="22860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178040" y="23591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 — training and competence requirements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32004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78040" y="32735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Standards — practitioner notes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1148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178040" y="41879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GPEC — Forward Planning of Jobs and Skills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50292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178040" y="51023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09-08 — personal data in questionnaires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clinic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— 95 employees, Marrakech. The same method on a lighter track.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TRACK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score 66: SME track T3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· 95 employees · 11 users · Law 09-08 data protection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3108960"/>
                <a:gridCol w="1280160"/>
                <a:gridCol w="1645920"/>
                <a:gridCol w="1490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per gate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SME-T1 · Essential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30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SME-T2 · Standard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SME-T3 · Advanced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G2 · G3 · G4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548640" y="4023360"/>
          <a:ext cx="110944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ratings (1–5), clinic compared with the hospital group: investment and scope drive the difference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lifecycle, fewer items to complete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Full Run 2026 — Clinique Al Amal · 50% of 277 tasks completed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run: 66% of 277 tasks completed; AI run: 50%.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gates with five items each on track T3, instead of the Full-mode checklists.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recommended track is kept; another choice needs a written justification.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ANY SCREEN, ANY LANGUAGE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guidance in English, French and Arabic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on a desktop, the workspace in Arabic on a phone (right-to-left layout).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022592" cy="43891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728216"/>
            <a:ext cx="2137876" cy="4498848"/>
          </a:xfrm>
          <a:prstGeom prst="roundRect">
            <a:avLst>
              <a:gd name="adj" fmla="val 342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78308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VS SME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method, sized to the organization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of the two healthcare providers in the demonstration instance.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87368"/>
                <a:gridCol w="40782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Maghreb Hospitals 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 Al Amal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 · 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4,700 · Casablanca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· Marrakech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 score ·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· Full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· SME track T3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per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run 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run 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· 600 seats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SME-CMP · 100 seats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GDPR, LAW0908, ISO9001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LAW0908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 ecosystem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sciences, pharma distribution and pharmaceutical manufacturing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Clinical &amp; Laboratory Operations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(3100)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 (60)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diagnostics validation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pharmacovigilance signal detection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and patient-data ethics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lab notebooks and LIMS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quality management (eQMS)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interoperability (HL7 FHIR)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Pharmaceutical Quality &amp; Distribution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(1400)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 (44)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regulatory-dossier drafting assistance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sensing for medicines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quality-risk management (ICH Q9)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and track-and-trace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GDP temperature monitoring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information management (RIM)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GMP Manufacturing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(2200)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 (90)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analytics for yield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deviation and CAPA triage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of AI models in GxP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batch records (EBR)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system validation (CSV)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ALCOA+ practices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ECOSYSTEM · BENCHMARK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health organizations, two runs each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in the Digital and AI runs of each demonstration organization.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each run (%). Group members see these aggregates; records of sister organizations stay read-only.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and next steps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data protection, deployment and how to start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DATA PROTECTION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Patient-adjacent data, handled with strict boundaries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data and training records stay inside the organization’s tenant.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262226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087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Tenant isolation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is a closed tenant; group members read sister organizations but cannot change them.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5371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Key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386" y="2262226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5780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checked on the server for each of the 29 roles; pack entitlements enforced.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426" y="2262226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068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trail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governed field is justified and recorded in an append-only log.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4365346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0876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Data-protection frameworks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GDPR, ISO/IEC 27001, SOC 2, ISO/IEC 27701, ISO 9001, Law 09-08 (CNDP, Morocco).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5371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386" y="4365346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780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5371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 use case names its human checkpoint; the usage log keeps every outcome.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30275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5" name="Image 5" descr="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426" y="4365346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0684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830275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recorded for every stored questionnaire response before gate G1.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integrations in the catalog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connections at the hospital group, each health-checked; the single sign-on check currently reports a failure.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Systems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Talent &amp; Performance Management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Content &amp; Ecosystem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in the Flow of 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Analytics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Platform &amp; Security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&amp; Feedback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764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 at the hospital group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health check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HRIS / HCM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INT-HR-01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platform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INT-SUR-01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(Microsoft Entra ID)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INT-SSO-01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669280" y="397764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 / HCM examples: </a:t>
            </a:r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Workday, SAP SuccessFactors, Oracle HCM, ADP, BambooHR, Personio, DarwinBox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or on-premises, same application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licensing interface with two implementations, chosen when the server starts.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45920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and updated centrally.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checked online per organization.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clinics and groups without a local IT team.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53912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251192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On-premises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473952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in the hospital’s data centre.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licence file bound to the server, with expiry date and seat limit.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strict data-residency policies.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licence of the hospital group: plan BND-05, up to 600 users, features analytics, export, api, valid until 10 Nov 2027.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FOR HEALTHCARE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packs for a hospital or clinic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per month, in USD; each pack includes a number of users, with a per-user price beyond.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Training Engineering Pack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100 users included · $0.75 per extra user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evidence, diagnosis, the Training Engineering Report and the roadmap.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55848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84448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84448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&amp; Certification Pack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300 users included · $0.55 per extra user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84448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tracking and readiness evidence for ISO 7101, JCI and ISO 15189.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63056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91656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Assessment, Analytics &amp; ROI Pack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91656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$129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500 users included · $0.5 per extra user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91656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evaluation, KPIs and return on investment.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970264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98864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98864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Delivery &amp; Experience Pack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$149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250 users included · $0.6 per extra user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Paths, modules, sessions and learner engagement.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AND BUNDLES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Add-ons that fit hospital groups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per month, in USD.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AD-08 · Multi-Site / Multi-Entity 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 and deploy training plans across multiple sites, entities, or business units, ensuring local relevance while maintaining strategic alignment.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AD-09 · External Training Plan Validation (Regulatory)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external validation and regulatory compliance for training plans, including submission to regulatory bodies (e.g., OFPPT, GIAC-Agro).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AD-11 · Questionnaire Library &amp; Multi-Channel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pre-built questionnaire templates tailored to Focus (All training needs, Digital, AI, Custom) and sector, with multi-channel distribution (Face-to-Face, Email, Hybrid, Custom), RACSI allocation per section and structured response collection.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AD-01 · Immersive Learning (VR/AR/Simulation)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experiential, safe-to-fail learning environments using VR, AR, and simulation technologies.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AD-07 · Expert Knowledge Capture &amp; Transfer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institutional knowledge before it walks out the door.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874520"/>
          <a:ext cx="35963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$223.2 (−10%)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 + PK-03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$320.45 (−15%)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 (−20%)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PK-06 +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$677.25 (−25%)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Suite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$806.4 (−30%)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run in four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by the complexity score: about 30, 60 or 90 days on an SME track; a full run for a hospital group.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317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4853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33172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organization, functions, users and roles; connect the HR system.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30168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787" y="2485339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3892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evidence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630168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Scope of Work, send questionnaires, pass gate G1.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37376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248533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946136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and plan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Five-axis diagnostic, gaps, prioritized themes, report, budget; gates G2 and G3.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44584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8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203" y="2485339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753344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and evaluate</a:t>
            </a:r>
            <a:endParaRPr lang="en-US" sz="1700" dirty="0"/>
          </a:p>
        </p:txBody>
      </p:sp>
      <p:sp>
        <p:nvSpPr>
          <p:cNvPr id="31" name="Text 25"/>
          <p:cNvSpPr txBox="1"/>
          <p:nvPr/>
        </p:nvSpPr>
        <p:spPr>
          <a:xfrm>
            <a:off x="9244584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Kirkpatrick evaluation, certificates, return on experience; gates G4 to G6.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48640" y="5715000"/>
            <a:ext cx="11094415" cy="0"/>
          </a:xfrm>
          <a:prstGeom prst="line">
            <a:avLst/>
          </a:prstGeom>
          <a:noFill/>
          <a:ln w="12700">
            <a:solidFill>
              <a:srgbClr val="E3E3E4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supports each step: set-up, method coaching and the first gate reviews.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one hospital, one run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working session with POWERACT: your accreditation calendar, sites and priority roles.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Monitor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demonstration: sign in to the healthcare tenant and follow a task from scope to certificate.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pilot: one site or one clinic, Digital or AI focus, measured with the same KPIs.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955280" y="201168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POWERACT Consulting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www.poweract.ma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3291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in this presentation come from the demonstration instance. Organizations and people are fictional.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for Healthcare</dc:title>
  <dc:subject>PptxGenJS Presentation</dc:subject>
  <dc:creator>POWERACT Consulting</dc:creator>
  <cp:lastModifiedBy>POWERACT Consulting</cp:lastModifiedBy>
  <cp:revision>1</cp:revision>
  <dcterms:created xsi:type="dcterms:W3CDTF">2026-10-07T00:00:11Z</dcterms:created>
  <dcterms:modified xsi:type="dcterms:W3CDTF">2026-10-07T00:00:11Z</dcterms:modified>
</cp:coreProperties>
</file>
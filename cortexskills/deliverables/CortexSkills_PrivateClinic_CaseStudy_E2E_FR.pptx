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charts/chart1.xml" ContentType="application/vnd.openxmlformats-officedocument.drawingml.chart+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ff01cd1-1ee0-4913-80c0-777be12a0398}">
          <p14:sldIdLst>
            <p14:sldId id="257"/>
            <p14:sldId id="258"/>
            <p14:sldId id="259"/>
            <p14:sldId id="260"/>
            <p14:sldId id="261"/>
            <p14:sldId id="262"/>
            <p14:sldId id="263"/>
            <p14:sldId id="264"/>
          </p14:sldIdLst>
        </p14:section>
        <p14:section name="Phase 1 — Périmètre et collecte de preuves" id="{64b62eef-2802-b613-806d-844c3ded18a7}">
          <p14:sldIdLst>
            <p14:sldId id="265"/>
            <p14:sldId id="266"/>
            <p14:sldId id="267"/>
            <p14:sldId id="268"/>
            <p14:sldId id="269"/>
            <p14:sldId id="270"/>
            <p14:sldId id="271"/>
            <p14:sldId id="272"/>
            <p14:sldId id="273"/>
          </p14:sldIdLst>
        </p14:section>
        <p14:section name="Phase 2 — Diagnostic" id="{0110af3f-7028-6741-8bd9-87497e958a67}">
          <p14:sldIdLst>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Phase 3 — Rapport d'ingénierie de formation et plan" id="{07b23940-4a75-3c97-a1f4-d84bdd291903}">
          <p14:sldIdLst>
            <p14:sldId id="291"/>
            <p14:sldId id="292"/>
            <p14:sldId id="293"/>
            <p14:sldId id="294"/>
            <p14:sldId id="295"/>
            <p14:sldId id="296"/>
            <p14:sldId id="297"/>
            <p14:sldId id="298"/>
            <p14:sldId id="299"/>
            <p14:sldId id="300"/>
            <p14:sldId id="301"/>
            <p14:sldId id="302"/>
            <p14:sldId id="303"/>
            <p14:sldId id="304"/>
          </p14:sldIdLst>
        </p14:section>
        <p14:section name="Phase 4 — Conception et déploiement" id="{deca795d-be29-daac-7c12-ccba470a77c6}">
          <p14:sldIdLst>
            <p14:sldId id="305"/>
            <p14:sldId id="306"/>
            <p14:sldId id="307"/>
            <p14:sldId id="308"/>
            <p14:sldId id="309"/>
            <p14:sldId id="310"/>
            <p14:sldId id="311"/>
            <p14:sldId id="312"/>
            <p14:sldId id="313"/>
            <p14:sldId id="314"/>
            <p14:sldId id="315"/>
          </p14:sldIdLst>
        </p14:section>
        <p14:section name="Phase 5 — Évaluation, conformité et impact" id="{9ba8f8ad-c369-2598-7e1e-42ead99c287a}">
          <p14:sldIdLst>
            <p14:sldId id="316"/>
            <p14:sldId id="317"/>
            <p14:sldId id="318"/>
            <p14:sldId id="319"/>
            <p14:sldId id="320"/>
            <p14:sldId id="321"/>
            <p14:sldId id="322"/>
            <p14:sldId id="323"/>
          </p14:sldIdLst>
        </p14:section>
        <p14:section name="Phase 6 — Talents, savoirs et amélioration continue" id="{13d41eb0-187f-b45c-2dd1-21dbd20f2a98}">
          <p14:sldIdLst>
            <p14:sldId id="324"/>
            <p14:sldId id="325"/>
            <p14:sldId id="326"/>
            <p14:sldId id="327"/>
            <p14:sldId id="328"/>
            <p14:sldId id="329"/>
            <p14:sldId id="330"/>
            <p14:sldId id="331"/>
            <p14:sldId id="332"/>
          </p14:sldIdLst>
        </p14:section>
        <p14:section name="Phase 0 — Catalyseurs (transverses à toutes les phases)" id="{c91c71de-40b1-f22e-1749-4cd5fbcf0bd0}">
          <p14:sldIdLst>
            <p14:sldId id="333"/>
            <p14:sldId id="334"/>
            <p14:sldId id="335"/>
            <p14:sldId id="336"/>
            <p14:sldId id="337"/>
            <p14:sldId id="338"/>
            <p14:sldId id="339"/>
          </p14:sldIdLst>
        </p14:section>
        <p14:section name="Résultats et prochaines étapes" id="{e8cf2ce8-3fe9-e534-01b2-4cf3efa43083}">
          <p14:sldIdLst>
            <p14:sldId id="340"/>
            <p14:sldId id="341"/>
            <p14:sldId id="342"/>
            <p14:sldId id="343"/>
            <p14:sldId id="344"/>
            <p14:sldId id="345"/>
            <p14:sldId id="346"/>
            <p14:sldId id="347"/>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3A3C"/>
                </a:solidFill>
                <a:latin typeface="+mj-lt"/>
              </a:defRPr>
            </a:pPr>
            <a:r>
              <a:rPr sz="1400" b="0" i="0" u="none" strike="noStrike">
                <a:solidFill>
                  <a:srgbClr val="3A3A3C"/>
                </a:solidFill>
                <a:latin typeface="+mj-lt"/>
              </a:rPr>
              <a:t>Résultats de la session S-01 (%)</a:t>
            </a:r>
          </a:p>
        </c:rich>
      </c:tx>
      <c:layout/>
      <c:overlay val="0"/>
    </c:title>
    <c:autoTitleDeleted val="0"/>
    <c:plotArea>
      <c:layout/>
      <c:barChart>
        <c:barDir val="col"/>
        <c:grouping val="clustered"/>
        <c:varyColors val="0"/>
        <c:ser>
          <c:idx val="0"/>
          <c:order val="0"/>
          <c:tx>
            <c:strRef>
              <c:f>Sheet1!$B$1</c:f>
              <c:strCache>
                <c:ptCount val="1"/>
                <c:pt idx="0">
                  <c:v>Score (%)</c:v>
                </c:pt>
              </c:strCache>
            </c:strRef>
          </c:tx>
          <c:spPr>
            <a:solidFill>
              <a:srgbClr val="808184"/>
            </a:solidFill>
            <a:effectLst/>
          </c:spPr>
          <c:invertIfNegative val="0"/>
          <c:dLbls>
            <c:numFmt formatCode="#,##0" sourceLinked="0"/>
            <c:txPr>
              <a:bodyPr/>
              <a:lstStyle/>
              <a:p>
                <a:pPr>
                  <a:defRPr b="0" i="0" strike="noStrike" sz="1200" u="none">
                    <a:solidFill>
                      <a:srgbClr val="3A3A3C"/>
                    </a:solidFill>
                    <a:latin typeface="+mn-lt"/>
                  </a:defRPr>
                </a:pPr>
              </a:p>
            </c:txPr>
            <c:showLegendKey val="0"/>
            <c:showVal val="1"/>
            <c:showCatName val="0"/>
            <c:showSerName val="0"/>
            <c:showPercent val="0"/>
            <c:showBubbleSize val="0"/>
            <c:showLeaderLines val="0"/>
          </c:dLbls>
          <c:dPt>
            <c:idx val="0"/>
            <c:invertIfNegative val="0"/>
            <c:bubble3D val="0"/>
            <c:spPr>
              <a:solidFill>
                <a:srgbClr val="808184"/>
              </a:solidFill>
              <a:effectLst/>
            </c:spPr>
          </c:dPt>
          <c:dPt>
            <c:idx val="1"/>
            <c:invertIfNegative val="0"/>
            <c:bubble3D val="0"/>
            <c:spPr>
              <a:solidFill>
                <a:srgbClr val="808184"/>
              </a:solidFill>
              <a:effectLst/>
            </c:spPr>
          </c:dPt>
          <c:dPt>
            <c:idx val="2"/>
            <c:invertIfNegative val="0"/>
            <c:bubble3D val="0"/>
            <c:spPr>
              <a:solidFill>
                <a:srgbClr val="F8931D"/>
              </a:solidFill>
              <a:effectLst/>
            </c:spPr>
          </c:dPt>
          <c:dPt>
            <c:idx val="3"/>
            <c:invertIfNegative val="0"/>
            <c:bubble3D val="0"/>
            <c:spPr>
              <a:solidFill>
                <a:srgbClr val="F8931D"/>
              </a:solidFill>
              <a:effectLst/>
            </c:spPr>
          </c:dPt>
          <c:cat>
            <c:multiLvlStrRef>
              <c:f>Sheet1!$A$2:$A$5</c:f>
              <c:multiLvlStrCache>
                <c:ptCount val="4"/>
                <c:lvl>
                  <c:pt idx="0">
                    <c:v>Satisfaction (4,3 / 5)</c:v>
                  </c:pt>
                  <c:pt idx="1">
                    <c:v>Pré-test</c:v>
                  </c:pt>
                  <c:pt idx="2">
                    <c:v>Post-test</c:v>
                  </c:pt>
                  <c:pt idx="3">
                    <c:v>Appliquent à J+30</c:v>
                  </c:pt>
                </c:lvl>
              </c:multiLvlStrCache>
            </c:multiLvlStrRef>
          </c:cat>
          <c:val>
            <c:numRef>
              <c:f>Sheet1!$B$2:$B$5</c:f>
              <c:numCache>
                <c:formatCode>General</c:formatCode>
                <c:ptCount val="4"/>
                <c:pt idx="0">
                  <c:v>86</c:v>
                </c:pt>
                <c:pt idx="1">
                  <c:v>48</c:v>
                </c:pt>
                <c:pt idx="2">
                  <c:v>81</c:v>
                </c:pt>
                <c:pt idx="3">
                  <c:v>82</c:v>
                </c:pt>
              </c:numCache>
            </c:numRef>
          </c:val>
        </c:ser>
        <c:dLbls>
          <c:numFmt formatCode="#,##0" sourceLinked="0"/>
          <c:txPr>
            <a:bodyPr/>
            <a:lstStyle/>
            <a:p>
              <a:pPr>
                <a:defRPr b="0" i="0" strike="noStrike" sz="1200" u="none">
                  <a:solidFill>
                    <a:srgbClr val="3A3A3C"/>
                  </a:solidFill>
                  <a:latin typeface="+mn-lt"/>
                </a:defRPr>
              </a:pPr>
            </a:p>
          </c:txPr>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595B"/>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3E3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0818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Étude de cas d’un groupe de cliniques privées déroulé de bout en bout dans CortexSkills. Chaque chiffre et chaque écran viennent de l’application.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Trois messages : les preuves d’abord, un plan approuvé sur des faits, un déploiement mesuré jusqu’à l’impact métier.</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Le client et ce qu’il voulait : les deux objectifs stratégiques saisis à l’étape MP-01.1 et les familles de compétences prioritaires.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Lire les diapositives de processus avec cette grille : un processus regroupe des tâches ; chaque tâche exécute une ou plusieurs étapes d’un macro-processus.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Périmètre et collecte de preuves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E2E-32 Du cahier des charges au plan d'ingénierie — Cette chaîne racine cadre une mission d'ingénierie de formation avant toute collecte de données. Elle précise si le périmètre couvre un groupe ou une seule organisation, le secteur, les niveaux de décision (management stratégique — MS, management opérationnel — MO, opérationnel — OP, ou un niveau personnalisé), les fonctions concernées, l'orientation (tous les besoins, digital, IA ou personnalisée) et les critères personnalisés. Elle identifie ensuite les parties prenantes qui répondront, fait valider le périmètre par le responsable formation et approuver par le DRH ou le chef de projet consultant, puis le publie vers la conception du questionnaire et l'analyse des besoins. Toute modification après approbation exige une nouvelle validation.
Déclencheur: Nouvelle mission d'ingénierie de formation, cycle du plan annuel ou demande de la direction.
État final: Cahier des charges approuvé avec matrice des critères et registre des parties prenantes transmis à la conception du questionnaire (E2E-33) et à l'analyse des besoins (E2E-03).</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E2E-32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E2E-33 Du questionnaire à la collecte des réponses — Cette chaîne racine transforme le cahier des charges approuvé en éléments probants. L'analyste formation choisit un modèle par orientation et secteur et élabore le questionnaire en chargeant un modèle, en générant des questions par IA ou en les rédigeant manuellement ; chaque question générée ou adaptée par l'IA est validée par un humain avant diffusion. Les rôles RACSI sont affectés à chaque section, avec un seul Approbateur. Le questionnaire est ensuite diffusé sur les canaux utilisés par chaque partie prenante (face-à-face, e-mail, hybride ou personnalisé), les relances suivent une cadence par canal et les réponses sont collectées — hors ligne en face-à-face, avec synchronisation ultérieure. Aucune réponse n'est enregistrée sans consentement. Les réponses complètes sont consolidées dans un jeu de données propre au locataire qui alimente l'analyse des besoins, le diagnostic et le rapport d'ingénierie de formation.
Déclencheur: Un cahier des charges approuvé devient disponible (fin de E2E-32).
État final: Jeu de données consolidé et validé des réponses alimentant l'analyse des besoins (E2E-03), le diagnostic (E2E-20) et la collecte des demandes (E2E-27).</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E2E-33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E2E-19 De la mission de conseil à la clôture — Cette chaîne racine de conseil enregistre la mission et le bon de commande, tient le lancement avec un compte rendu rédigé par l'IA, planifie l'organigramme des tâches, suit les livrables et se clôture avec acceptation et REX.
Déclencheur: Bon de commande client ou demande de mission reçu.
État final: Mission clôturée avec acceptation du client et REX enregistré.</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E2E-19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E2E-24 De la veille concurrentielle à la stratégie — Cette chaîne racine analyse l'environnement externe à l'aide des cinq forces de Porter, de la segmentation du marché et du benchmark concurrentiel. Elle produit les implications stratégiques pour la formation et alimente la stratégie, le diagnostic et le SWOT fonctionnel.
Déclencheur: Cycle stratégique annuel ou demande de la direction d'une analyse de positionnement marché.
État final: Rapport de veille concurrentielle validé alimentant la stratégie de formation et le diagnostic organisationnel.</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E2E-24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Diagnostic</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E2E-20 Du diagnostic multi-axes au rapport de maturité — Cette chaîne racine de diagnostic définit les axes et l'échantillon, collecte les preuves d'entretiens et de questionnaires, note les axes, évalue la maturité CMM et du leadership, et valide les constats avec le sponsor.
Déclencheur: Lancement de mission ou cahier des charges approuvé demandant un diagnostic.
État final: Rapport de diagnostic à 5 axes, maturité CMM et maturité du leadership validé avec le sponsor.</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E2E-20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E2E-25 De l'architecture des emplois à la cartographie des compétences — Cette chaîne racine gère l'architecture des emplois (organigrammes, fiches de poste, profils de rôle), analyse les écarts entre les descriptions existantes et la réalité, et aligne l'architecture sur le référentiel de compétences.
Déclencheur: Changement organisationnel, création d'un nouveau rôle ou revue annuelle de l'architecture des emplois.
État final: Organigrammes, fiches de poste et cartographies de compétences approuvés avec analyse des écarts.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E2E-25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E2E-26 De la GPEC au plan de formation — Cette chaîne racine intègre la GPEC (gestion prévisionnelle des emplois et des compétences) et les orientations stratégiques RH dans le processus d'ingénierie de formation. Elle garantit que la formation soutient la planification des effectifs, les parcours de carrière et la stratégie RH.
Déclencheur: Cycle annuel de planification stratégique RH ou revue GPEC (gestion prévisionnelle des emplois et des compétences).
État final: Plan de formation aligné sur la GPEC et les orientations stratégiques RH.</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E2E-26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E2E-27 De la collecte des demandes à leur consolidation — Cette chaîne racine collecte les demandes de formation individuelles et collectives à tous les niveaux de l'organisation et les consolide dans un référentiel structuré. Elle est le complément ascendant de l'analyse descendante des besoins.
Déclencheur: Cycle annuel du plan de formation ou demande ponctuelle de collecte.
État final: Référentiel consolidé et priorisé des demandes intégré à l'analyse des besoins de formation.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E2E-27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E2E-28 De l'évaluation de la performance au tableau de bord RAG — Cette chaîne racine évalue et visualise la performance de l'organisation sur trois niveaux de management — management stratégique (MS), management opérationnel (MO) et opérationnel (OP) — avec un système de notation vert/orange/rouge (RAG). Elle alimente le diagnostic multi-axes et le SWOT fonctionnel.
Déclencheur: Cycle annuel de performance ou demande de la direction de visualiser la performance.
État final: Évaluation validée de la performance MS/MO/OP (management stratégique / management opérationnel / opérationnel) avec tableaux de bord RAG (vert/orange/rouge).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E2E-28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E2E-29 Du SWOT fonctionnel aux axes d'amélioration — Cette chaîne racine réalise l'analyse SWOT (forces, faiblesses, opportunités, menaces) au niveau de chaque fonction/département et définit des axes d'amélioration par fonction. Elle alimente le diagnostic multi-axes et le rapport d'ingénierie de formation.
Déclencheur: Phase de diagnostic d'une mission d'ingénierie de formation ou revue fonctionnelle annuelle.
État final: Rapports SWOT fonctionnels validés avec axes d'amélioration priorisés par fonction.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E2E-29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E2E-02 Des compétences au diagnostic des écarts — Cette partition de E2E-01 maintient le référentiel de compétences, mène la campagne d'évaluation, valide l'inventaire et calcule la matrice des écarts qui alimente le rapport phare.
Déclencheur: Plan annuel de formation approuvé ou campagne d'évaluation des compétences planifiée.
État final: Diagnostic validé des écarts de compétences transmis à l'analyse des besoins.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E2E-02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E2E-21 De l'impact du plan précédent à la mise à jour de la stratégie — Cette chaîne racine charge les données d'exécution du plan N-1, définit les critères d'impact, interroge participants et managers, compare le prévu au réalisé, rédige les conclusions et les intègre à la mise à jour de la stratégie.
Déclencheur: Début d'un nouveau cycle de plan avec les données d'exécution N-1 disponibles.
État final: Conclusions d'impact N-1 intégrées à la mise à jour de la stratégie.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E2E-21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Rapport d'ingénierie de formation et plan</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E2E-01 De la stratégie au plan de formation — Cette chaîne racine traduit la stratégie de l'entreprise en un plan annuel de formation approuvé. Elle enregistre les objectifs stratégiques, les relie aux fonctions et aux sites, fixe l'enveloppe budgétaire et le calendrier de gouvernance, et se termine par une décision du comité de pilotage qui verrouille le plan.
Déclencheur: Ouverture du cycle stratégique annuel ou publication par le conseil d'objectifs révisés.
État final: Plan annuel de formation et enveloppe budgétaire approuvés par le comité de pilotage et verrouillés.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E2E-01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E2E-03 Des besoins au rapport d'ingénierie de formation et à la feuille de route — La chaîne phare. Elle transforme écarts, demandes, réponses aux questionnaires et constats de diagnostic en un registre validé des besoins, rédige le rapport d'ingénierie de formation avec l'aide de l'IA, mène une revue qualité, puis séquence et approuve la feuille de route.
Déclencheur: Diagnostic validé des écarts, demandes consolidées, cahier des charges approuvé ou constats de diagnostic disponibles.
État final: Rapport d'ingénierie de formation et feuille de route priorisée approuvés et publiés.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E2E-03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E2E-30 De la priorisation au plan de ressources — Cette chaîne racine priorise les thèmes de formation et planifie les ressources (jours par thème, nombre de groupes, formateurs, budget). Elle produit le « Plan de formation priorisé ».
Déclencheur: Thèmes de formation consolidés à prioriser et dont les ressources sont à planifier.
État final: Plan de formation priorisé approuvé avec jours par thème, planification des groupes, affectation des formateurs et budget.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E2E-30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E2E-22 Du plan multi-sites au déploiement — Cette partition de E2E-03 découpe le plan par site, l'adapte aux contraintes et langues locales, valide et déploie chaque planning de site et consolide le statut avec escalade des écarts.
Déclencheur: Feuille de route approuvée pour une organisation à plusieurs sites ou entités.
État final: Plans de site adaptés, validés et déployés, avec escalade des écarts.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E2E-22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E2E-23 De la soumission réglementaire à la validation — Cette chaîne racine choisit le modèle réglementaire, génère le dossier de soumission, le soumet, suit son statut, enregistre la décision, dépose les demandes de remboursement et archive les preuves.
Déclencheur: Plan approuvé nécessitant une validation ou un financement externe (ex. OFPPT, GIAC-Agro).
État final: Plan validé par l'organisme réglementaire et preuves archivées.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E2E-23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E2E-16 Du prestataire à la finance — Cette partition de E2E-15 mène la sélection, le référencement et l'accréditation du prestataire, émet le bon de commande et approuve le paiement après rapprochement facture-commande-présence.
Déclencheur: Besoin de formation nécessitant un prestataire externe.
État final: Prestataire choisi, commande émise et paiement approuvé sur la base de la présence.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E2E-16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HCPR-E2E-02 Des compétences critiques au plan de transformation — Établissements de santé — Transformer les écarts de compétences critiques et les cas d'usage numériques et IA en plan de transformation.
Déclencheur: Cycle annuel du plan ou évolution technologique dans le secteur Établissements de santé.
État final: Parcours de transformation approuvés.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Conception et déploiement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E2E-04 De la feuille de route à la conception des cursus — Cette partition de E2E-03 convertit la feuille de route en cartes de cursus et parcours, rédige la spécification de conception, la localise et la fait approuver.
Déclencheur: Rapport d'ingénierie de formation et feuille de route approuvés publiés.
État final: Cartes de cursus, parcours d'apprentissage et documents de conception approuvés.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E2E-04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E2E-05 De la conception à la réalisation — Cette chaîne racine réalise la formation en présentiel, à distance, en micro-apprentissage et en immersif : elle publie les contenus, planifie les sessions, inscrit les apprenants, anime les sessions et les clôture avec présence et achèvement.
Déclencheur: Document de conception approuvé et plan de formation priorisé.
État final: Formation réalisée selon toutes les modalités avec présence et achèvement enregistrés.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E2E-05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E2E-06 Du parcours apprenant à l'engagement — Cette partition de E2E-05 offre une expérience personnalisée et engageante : plans personnels et recommandations, parcours adaptatifs, apprentissage social, ludification, coaching et suivi de l'engagement.
Déclencheur: Apprenant inscrit à un parcours ou à une session.
État final: Parcours apprenant personnalisé terminé avec engagement mesuré.</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E2E-06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E2E-13 Du contenu à la curation puis au retrait — Cette partition de E2E-05 agrège les catalogues fournisseurs, sélectionne et organise les éléments, promeut les contenus entre pairs, signale les contenus à revoir et retire ce qui est obsolète.
Déclencheur: Nouveau contenu publié ou contenu dont la date de revue est dépassée.
État final: Catalogue sélectionné, maintenu et contenus obsolètes retirés.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E2E-13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E2E-14 Formation de l'entreprise étendue — Cette chaîne racine met en place un sous-portail et un catalogue externes, traite le paiement et l'inscription, suit l'achèvement et délivre les certifications partenaires.
Déclencheur: Lancement d'un programme de formation partenaires, revendeurs ou clients.
État final: Apprenants externes formés, facturés et certifiés.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E2E-14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Évaluation, conformité et impact</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E2E-07 De l'évaluation des acquis à l'évaluation de l'efficacité — Cette chaîne racine construit les instruments d'évaluation, mène les évaluations de réaction, d'apprentissage et de comportement, calcule la progression des compétences et revoit les résultats.
Déclencheur: Session ou parcours de formation terminé.
État final: Efficacité mesurée sur les niveaux Kirkpatrick 1 à 3 et progression des compétences calculée.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E2E-07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E2E-08 De l'apprentissage au ROI — Cette partition de E2E-07 choisit un thème, définit les indicateurs métier, isole l'effet de la formation, calcule le ROI Phillips et publie le rapport d'impact métier.
Déclencheur: Résultats d'évaluation disponibles pour un thème choisi pour une étude de ROI.
État final: ROI Phillips validé avec la finance et rapport d'impact métier publié.</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E2E-08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E2E-09 De la conformité à la certification — Cette chaîne racine enregistre les exigences réglementaires, affecte les formations obligatoires par poste, suit la validité des certifications, lance les renouvellements et produit l'extrait d'audit de conformité.
Déclencheur: Nouvelle exigence réglementaire ou certification proche de l'expiration.
État final: Personnel conforme avec certifications valides et extrait d'audit disponible.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E2E-09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HCPR-E2E-01 Conformité et préparation à la certification — Établissements de santé — Maintenir les rôles réglementés Établissements de santé certifiés selon ISO 7101.
Déclencheur: Nouvelle exigence ISO 7101 ou expiration de certification.
État final: Extrait de conformité sectorielle émis, rôles critiques certifiés.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Talents, savoirs et amélioration continue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E2E-10 Du talent à la mobilité — Cette chaîne racine modélise les parcours de carrière, publie les postes internes, rapproche les collaborateurs des postes, présélectionne les candidats et affecte les plans de reconversion.
Déclencheur: Poste interne publié ou revue annuelle de carrière.
État final: Mobilité interne décidée avec plan de reconversion affecté.</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E2E-10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E2E-11 De l'intégration à la productivité — Cette chaîne racine prépare le dossier d'intégration, génère le parcours 30-60-90 jours, tient les points d'étape avec l'appui du coaching et confirme le délai d'atteinte de la productivité.
Déclencheur: Nouvelle recrue ou mobilité interne confirmée.
État final: Collaborateur productif dans le délai cible et intégration clôturée.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E2E-11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E2E-12 De la capture au transfert des savoirs — Cette chaîne racine identifie les experts critiques, enregistre et structure leurs savoirs, les publie et valide leur transfert aux successeurs.
Déclencheur: Expert critique identifié comme partant, en retraite ou détenteur de savoirs à risque.
État final: Savoirs capturés, publiés et transférés à un successeur validé.</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E2E-12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E2E-31 De la mission à la feuille de route — Cette chaîne racine définit la feuille de route à long terme au-delà de la mission en cours, y compris les missions futures (coaching individuel, optimisation organisationnelle, réhabilitation/réingénierie du SI), les indicateurs et les tableaux de bord.
Déclencheur: Clôture de la mission d'ingénierie de formation en cours (E2E-19).
État final: Feuille de route post-mission approuvée avec missions futures et plan d'amélioration continue.</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E2E-31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Catalyseurs (transverses à toutes les phases)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E2E-15 Données, IA et intégrations — Ce catalyseur enregistre les intégrations et mappe les champs, lance la synchronisation SIRH, fixe les règles de conservation, tient le registre des cas d'usage IA et leur activation, et revoit l'usage de l'IA.
Déclencheur: Nouvelle intégration, source de données ou cas d'usage IA à gouverner.
État final: Intégrations, données et IA gouvernées, avec santé, conservation et usage revus.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E2E-15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E2E-17 Du changement à l'adoption — Ce catalyseur évalue l'impact du changement, construit le plan d'adoption, mène la campagne de communication, suit l'usage, détecte les groupes à faible adoption et mène des actions de renforcement.
Déclencheur: Plan approuvé ou nouvelle capacité de la plateforme nécessitant une adoption.
État final: Adoption durable atteinte et groupes à faible adoption renforcés.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E2E-17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E2E-18 Qualité, risques et amélioration — Ce catalyseur enregistre risques et opportunités, affecte et exécute les actions de maîtrise, fait évaluer chaque action par un autre utilisateur, mène les revues qualité périodiques et met à jour l'efficacité des contrôles.
Déclencheur: Risque enregistré, revue qualité périodique due ou test de contrôle planifié.
État final: Risques maîtrisés, actions évaluées par une autre personne, contrôles notés.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E2E-18 — tâches restantes</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Image Placeholder 1"/>
          <p:cNvSpPr>
            <a:spLocks noGrp="1" noRot="1" noChangeAspect="1"/>
          </p:cNvSpPr>
          <p:nvPr>
            <p:ph type="sldImg"/>
          </p:nvPr>
        </p:nvSpPr>
        <p:spPr/>
      </p:sp>
      <p:sp>
        <p:nvSpPr>
          <p:cNvPr id="4" name="Notes Placeholder 2"/>
          <p:cNvSpPr>
            <a:spLocks noGrp="1"/>
          </p:cNvSpPr>
          <p:nvPr>
            <p:ph type="body" idx="1"/>
          </p:nvPr>
        </p:nvSpPr>
        <p:spPr/>
        <p:txBody>
          <a:bodyPr/>
          <a:lstStyle/>
          <a:p>
            <a:r>
              <a:rPr lang="en-US" dirty="0"/>
              <a:t/>
            </a:r>
            <a:endParaRPr lang="en-US" dirty="0"/>
          </a:p>
        </p:txBody>
      </p:sp>
      <p:sp>
        <p:nvSpPr>
          <p:cNvPr id="5"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2"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DFDFC"/>
        </a:solidFill>
      </p:bgPr>
    </p:bg>
    <p:spTree>
      <p:nvGrpSpPr>
        <p:cNvPr id="2" name=""/>
        <p:cNvGrpSpPr/>
        <p:nvPr/>
      </p:nvGrpSpPr>
      <p:grpSpPr>
        <a:xfrm>
          <a:off x="0" y="0"/>
          <a:ext cx="0" cy="0"/>
          <a:chOff x="0" y="0"/>
          <a:chExt cx="0" cy="0"/>
        </a:xfrm>
      </p:grpSpPr>
      <p:sp>
        <p:nvSpPr>
          <p:cNvPr id="3" name="Text 0"/>
          <p:cNvSpPr/>
          <p:nvPr/>
        </p:nvSpPr>
        <p:spPr>
          <a:xfrm>
            <a:off x="457200" y="6419088"/>
            <a:ext cx="566928" cy="237744"/>
          </a:xfrm>
          <a:prstGeom prst="rect">
            <a:avLst/>
          </a:prstGeom>
          <a:noFill/>
          <a:ln/>
        </p:spPr>
        <p:txBody>
          <a:bodyPr wrap="square" lIns="0" tIns="0" rIns="0" bIns="0" rtlCol="0" anchor="ctr"/>
          <a:lstStyle/>
          <a:p>
            <a:pPr indent="0" marL="0">
              <a:buNone/>
            </a:pPr>
            <a:r>
              <a:rPr lang="en-US" sz="1100" b="1" dirty="0">
                <a:solidFill>
                  <a:srgbClr val="3A3A3C"/>
                </a:solidFill>
                <a:latin typeface="Cambria" pitchFamily="34" charset="0"/>
                <a:ea typeface="Cambria" pitchFamily="34" charset="-122"/>
                <a:cs typeface="Cambria" pitchFamily="34" charset="-120"/>
              </a:rPr>
              <a:t>POWER</a:t>
            </a:r>
            <a:endParaRPr lang="en-US" sz="1100" dirty="0"/>
          </a:p>
        </p:txBody>
      </p:sp>
      <p:sp>
        <p:nvSpPr>
          <p:cNvPr id="4" name="Text 1"/>
          <p:cNvSpPr/>
          <p:nvPr/>
        </p:nvSpPr>
        <p:spPr>
          <a:xfrm>
            <a:off x="946404" y="6419088"/>
            <a:ext cx="384048" cy="237744"/>
          </a:xfrm>
          <a:prstGeom prst="rect">
            <a:avLst/>
          </a:prstGeom>
          <a:noFill/>
          <a:ln/>
        </p:spPr>
        <p:txBody>
          <a:bodyPr wrap="square" lIns="0" tIns="0" rIns="0" bIns="0" rtlCol="0" anchor="ctr"/>
          <a:lstStyle/>
          <a:p>
            <a:pPr indent="0" marL="0">
              <a:buNone/>
            </a:pPr>
            <a:r>
              <a:rPr lang="en-US" sz="1100" b="1" dirty="0">
                <a:solidFill>
                  <a:srgbClr val="F8931D"/>
                </a:solidFill>
                <a:latin typeface="Cambria" pitchFamily="34" charset="0"/>
                <a:ea typeface="Cambria" pitchFamily="34" charset="-122"/>
                <a:cs typeface="Cambria" pitchFamily="34" charset="-120"/>
              </a:rPr>
              <a:t>ACT</a:t>
            </a:r>
            <a:endParaRPr lang="en-US" sz="1100" dirty="0"/>
          </a:p>
        </p:txBody>
      </p:sp>
      <p:sp>
        <p:nvSpPr>
          <p:cNvPr id="5" name="Text 2"/>
          <p:cNvSpPr/>
          <p:nvPr/>
        </p:nvSpPr>
        <p:spPr>
          <a:xfrm>
            <a:off x="1828800" y="6419088"/>
            <a:ext cx="5486400" cy="237744"/>
          </a:xfrm>
          <a:prstGeom prst="rect">
            <a:avLst/>
          </a:prstGeom>
          <a:noFill/>
          <a:ln/>
        </p:spPr>
        <p:txBody>
          <a:bodyPr wrap="square" lIns="0" tIns="0" rIns="0" bIns="0" rtlCol="0" anchor="ctr"/>
          <a:lstStyle/>
          <a:p>
            <a:pPr indent="0" marL="0">
              <a:buNone/>
            </a:pPr>
            <a:r>
              <a:rPr lang="en-US" sz="900" dirty="0">
                <a:solidFill>
                  <a:srgbClr val="808184"/>
                </a:solidFill>
                <a:latin typeface="Calibri" pitchFamily="34" charset="0"/>
                <a:ea typeface="Calibri" pitchFamily="34" charset="-122"/>
                <a:cs typeface="Calibri" pitchFamily="34" charset="-120"/>
              </a:rPr>
              <a:t>CortexSkills · Étude de cas clinique privée</a:t>
            </a:r>
            <a:endParaRPr lang="en-US" sz="900" dirty="0"/>
          </a:p>
        </p:txBody>
      </p:sp>
      <p:sp>
        <p:nvSpPr>
          <p:cNvPr id="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3A3A3C"/>
        </a:solidFill>
      </p:bgPr>
    </p:bg>
    <p:spTree>
      <p:nvGrpSpPr>
        <p:cNvPr id="2" name=""/>
        <p:cNvGrpSpPr/>
        <p:nvPr/>
      </p:nvGrpSpPr>
      <p:grpSpPr>
        <a:xfrm>
          <a:off x="0" y="0"/>
          <a:ext cx="0" cy="0"/>
          <a:chOff x="0" y="0"/>
          <a:chExt cx="0" cy="0"/>
        </a:xfrm>
      </p:grpSpPr>
      <p:sp>
        <p:nvSpPr>
          <p:cNvPr id="3" name="Text 0"/>
          <p:cNvSpPr/>
          <p:nvPr/>
        </p:nvSpPr>
        <p:spPr>
          <a:xfrm>
            <a:off x="457200" y="6419088"/>
            <a:ext cx="566928" cy="237744"/>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POWER</a:t>
            </a:r>
            <a:endParaRPr lang="en-US" sz="1100" dirty="0"/>
          </a:p>
        </p:txBody>
      </p:sp>
      <p:sp>
        <p:nvSpPr>
          <p:cNvPr id="4" name="Text 1"/>
          <p:cNvSpPr/>
          <p:nvPr/>
        </p:nvSpPr>
        <p:spPr>
          <a:xfrm>
            <a:off x="946404" y="6419088"/>
            <a:ext cx="384048" cy="237744"/>
          </a:xfrm>
          <a:prstGeom prst="rect">
            <a:avLst/>
          </a:prstGeom>
          <a:noFill/>
          <a:ln/>
        </p:spPr>
        <p:txBody>
          <a:bodyPr wrap="square" lIns="0" tIns="0" rIns="0" bIns="0" rtlCol="0" anchor="ctr"/>
          <a:lstStyle/>
          <a:p>
            <a:pPr indent="0" marL="0">
              <a:buNone/>
            </a:pPr>
            <a:r>
              <a:rPr lang="en-US" sz="1100" b="1" dirty="0">
                <a:solidFill>
                  <a:srgbClr val="F8931D"/>
                </a:solidFill>
                <a:latin typeface="Cambria" pitchFamily="34" charset="0"/>
                <a:ea typeface="Cambria" pitchFamily="34" charset="-122"/>
                <a:cs typeface="Cambria" pitchFamily="34" charset="-120"/>
              </a:rPr>
              <a:t>ACT</a:t>
            </a:r>
            <a:endParaRPr lang="en-US" sz="1100" dirty="0"/>
          </a:p>
        </p:txBody>
      </p:sp>
      <p:sp>
        <p:nvSpPr>
          <p:cNvPr id="5"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FDFDFC"/>
        </a:solidFill>
      </p:bgPr>
    </p:bg>
    <p:spTree>
      <p:nvGrpSpPr>
        <p:cNvPr id="2"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3"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2.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2.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6-1.png"/><Relationship Id="rId3" Type="http://schemas.openxmlformats.org/officeDocument/2006/relationships/image" Target="../media/image-86-2.png"/><Relationship Id="rId4" Type="http://schemas.openxmlformats.org/officeDocument/2006/relationships/image" Target="../media/image-86-3.png"/><Relationship Id="rId5" Type="http://schemas.openxmlformats.org/officeDocument/2006/relationships/image" Target="../media/image-86-4.png"/><Relationship Id="rId6" Type="http://schemas.openxmlformats.org/officeDocument/2006/relationships/slideLayout" Target="../slideLayouts/slideLayout2.xml"/><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slideLayout" Target="../slideLayouts/slideLayout2.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Text 0"/>
          <p:cNvSpPr txBox="1"/>
          <p:nvPr/>
        </p:nvSpPr>
        <p:spPr>
          <a:xfrm>
            <a:off x="457200" y="411480"/>
            <a:ext cx="2743200" cy="457200"/>
          </a:xfrm>
          <a:prstGeom prst="rect">
            <a:avLst/>
          </a:prstGeom>
          <a:noFill/>
          <a:ln/>
        </p:spPr>
        <p:txBody>
          <a:bodyPr wrap="square" lIns="0" tIns="0" rIns="0" bIns="0" rtlCol="0" anchor="ctr"/>
          <a:lstStyle/>
          <a:p>
            <a:pPr indent="0" marL="0">
              <a:buNone/>
            </a:pPr>
            <a:r>
              <a:rPr lang="en-US" sz="2200" b="1" dirty="0">
                <a:solidFill>
                  <a:srgbClr val="3A3A3C"/>
                </a:solidFill>
                <a:latin typeface="Cambria" pitchFamily="34" charset="0"/>
                <a:ea typeface="Cambria" pitchFamily="34" charset="-122"/>
                <a:cs typeface="Cambria" pitchFamily="34" charset="-120"/>
              </a:rPr>
              <a:t>POWER</a:t>
            </a:r>
            <a:pPr indent="0" marL="0">
              <a:buNone/>
            </a:pPr>
            <a:r>
              <a:rPr lang="en-US" sz="2200" b="1" dirty="0">
                <a:solidFill>
                  <a:srgbClr val="F8931D"/>
                </a:solidFill>
                <a:latin typeface="Cambria" pitchFamily="34" charset="0"/>
                <a:ea typeface="Cambria" pitchFamily="34" charset="-122"/>
                <a:cs typeface="Cambria" pitchFamily="34" charset="-120"/>
              </a:rPr>
              <a:t>ACT</a:t>
            </a:r>
            <a:endParaRPr lang="en-US" sz="2200" dirty="0"/>
          </a:p>
        </p:txBody>
      </p:sp>
      <p:sp>
        <p:nvSpPr>
          <p:cNvPr id="4" name="Text 1"/>
          <p:cNvSpPr txBox="1"/>
          <p:nvPr/>
        </p:nvSpPr>
        <p:spPr>
          <a:xfrm>
            <a:off x="457200" y="786384"/>
            <a:ext cx="2743200" cy="201168"/>
          </a:xfrm>
          <a:prstGeom prst="rect">
            <a:avLst/>
          </a:prstGeom>
          <a:noFill/>
          <a:ln/>
        </p:spPr>
        <p:txBody>
          <a:bodyPr wrap="square" lIns="0" tIns="0" rIns="0" bIns="0" rtlCol="0" anchor="ctr"/>
          <a:lstStyle/>
          <a:p>
            <a:pPr indent="0" marL="0">
              <a:buNone/>
            </a:pPr>
            <a:r>
              <a:rPr lang="en-US" sz="900" dirty="0">
                <a:solidFill>
                  <a:srgbClr val="808184"/>
                </a:solidFill>
                <a:latin typeface="Calibri" pitchFamily="34" charset="0"/>
                <a:ea typeface="Calibri" pitchFamily="34" charset="-122"/>
                <a:cs typeface="Calibri" pitchFamily="34" charset="-120"/>
              </a:rPr>
              <a:t>C O N S U L T I N G</a:t>
            </a:r>
            <a:endParaRPr lang="en-US" sz="900" dirty="0"/>
          </a:p>
        </p:txBody>
      </p:sp>
      <p:sp>
        <p:nvSpPr>
          <p:cNvPr id="5" name="Text 2"/>
          <p:cNvSpPr txBox="1"/>
          <p:nvPr/>
        </p:nvSpPr>
        <p:spPr>
          <a:xfrm>
            <a:off x="457200" y="1828800"/>
            <a:ext cx="6949440" cy="320040"/>
          </a:xfrm>
          <a:prstGeom prst="rect">
            <a:avLst/>
          </a:prstGeom>
          <a:noFill/>
          <a:ln/>
        </p:spPr>
        <p:txBody>
          <a:bodyPr wrap="square" lIns="0" tIns="0" rIns="0" bIns="0" rtlCol="0" anchor="ctr"/>
          <a:lstStyle/>
          <a:p>
            <a:pPr indent="0" marL="0">
              <a:buNone/>
            </a:pPr>
            <a:r>
              <a:rPr lang="en-US" sz="1300" b="1" spc="300" kern="0" dirty="0">
                <a:solidFill>
                  <a:srgbClr val="E07B00"/>
                </a:solidFill>
                <a:latin typeface="Calibri" pitchFamily="34" charset="0"/>
                <a:ea typeface="Calibri" pitchFamily="34" charset="-122"/>
                <a:cs typeface="Calibri" pitchFamily="34" charset="-120"/>
              </a:rPr>
              <a:t>ÉTUDE DE CAS · SANTÉ · CLINIQUES PRIVÉES</a:t>
            </a:r>
            <a:endParaRPr lang="en-US" sz="1300" dirty="0"/>
          </a:p>
        </p:txBody>
      </p:sp>
      <p:sp>
        <p:nvSpPr>
          <p:cNvPr id="6" name="Text 3"/>
          <p:cNvSpPr txBox="1"/>
          <p:nvPr/>
        </p:nvSpPr>
        <p:spPr>
          <a:xfrm>
            <a:off x="457200" y="2240280"/>
            <a:ext cx="7223760" cy="1828800"/>
          </a:xfrm>
          <a:prstGeom prst="rect">
            <a:avLst/>
          </a:prstGeom>
          <a:noFill/>
          <a:ln/>
        </p:spPr>
        <p:txBody>
          <a:bodyPr wrap="square" lIns="0" tIns="0" rIns="0" bIns="0" rtlCol="0" anchor="t"/>
          <a:lstStyle/>
          <a:p>
            <a:pPr indent="0" marL="0">
              <a:buNone/>
            </a:pPr>
            <a:r>
              <a:rPr lang="en-US" sz="3600" b="1" dirty="0">
                <a:solidFill>
                  <a:srgbClr val="3A3A3C"/>
                </a:solidFill>
                <a:latin typeface="Cambria" pitchFamily="34" charset="0"/>
                <a:ea typeface="Cambria" pitchFamily="34" charset="-122"/>
                <a:cs typeface="Cambria" pitchFamily="34" charset="-120"/>
              </a:rPr>
              <a:t>L’ingénierie de formation des compétences IA, de bout en bout</a:t>
            </a:r>
            <a:endParaRPr lang="en-US" sz="3600" dirty="0"/>
          </a:p>
        </p:txBody>
      </p:sp>
      <p:sp>
        <p:nvSpPr>
          <p:cNvPr id="7" name="Text 4"/>
          <p:cNvSpPr txBox="1"/>
          <p:nvPr/>
        </p:nvSpPr>
        <p:spPr>
          <a:xfrm>
            <a:off x="457200" y="4206240"/>
            <a:ext cx="6766560" cy="822960"/>
          </a:xfrm>
          <a:prstGeom prst="rect">
            <a:avLst/>
          </a:prstGeom>
          <a:noFill/>
          <a:ln/>
        </p:spPr>
        <p:txBody>
          <a:bodyPr wrap="square" lIns="0" tIns="0" rIns="0" bIns="0" rtlCol="0" anchor="t"/>
          <a:lstStyle/>
          <a:p>
            <a:pPr indent="0" marL="0">
              <a:buNone/>
            </a:pPr>
            <a:r>
              <a:rPr lang="en-US" sz="1600" dirty="0">
                <a:solidFill>
                  <a:srgbClr val="58595B"/>
                </a:solidFill>
                <a:latin typeface="Calibri" pitchFamily="34" charset="0"/>
                <a:ea typeface="Calibri" pitchFamily="34" charset="-122"/>
                <a:cs typeface="Calibri" pitchFamily="34" charset="-120"/>
              </a:rPr>
              <a:t>Groupe Santéora Cliniques Privées : le déroulé réel des 35 processus de bout en bout exécutés dans CortexSkills — macro-processus, tâches et étapes</a:t>
            </a:r>
            <a:endParaRPr lang="en-US" sz="1600" dirty="0"/>
          </a:p>
        </p:txBody>
      </p:sp>
      <p:sp>
        <p:nvSpPr>
          <p:cNvPr id="8" name="Text 5"/>
          <p:cNvSpPr txBox="1"/>
          <p:nvPr/>
        </p:nvSpPr>
        <p:spPr>
          <a:xfrm>
            <a:off x="457200" y="5989320"/>
            <a:ext cx="6400800" cy="274320"/>
          </a:xfrm>
          <a:prstGeom prst="rect">
            <a:avLst/>
          </a:prstGeom>
          <a:noFill/>
          <a:ln/>
        </p:spPr>
        <p:txBody>
          <a:bodyPr wrap="square" lIns="0" tIns="0" rIns="0" bIns="0" rtlCol="0" anchor="ctr"/>
          <a:lstStyle/>
          <a:p>
            <a:pPr indent="0" marL="0">
              <a:buNone/>
            </a:pPr>
            <a:r>
              <a:rPr lang="en-US" sz="1100" dirty="0">
                <a:solidFill>
                  <a:srgbClr val="808184"/>
                </a:solidFill>
                <a:latin typeface="Calibri" pitchFamily="34" charset="0"/>
                <a:ea typeface="Calibri" pitchFamily="34" charset="-122"/>
                <a:cs typeface="Calibri" pitchFamily="34" charset="-120"/>
              </a:rPr>
              <a:t>Préparé par POWERACT Consulting · 16 oct. 2026</a:t>
            </a:r>
            <a:endParaRPr lang="en-US" sz="1100" dirty="0"/>
          </a:p>
        </p:txBody>
      </p:sp>
      <p:sp>
        <p:nvSpPr>
          <p:cNvPr id="9" name="decorative circle"/>
          <p:cNvSpPr/>
          <p:nvPr/>
        </p:nvSpPr>
        <p:spPr>
          <a:xfrm>
            <a:off x="8001000" y="868680"/>
            <a:ext cx="5120640" cy="5120640"/>
          </a:xfrm>
          <a:prstGeom prst="ellipse">
            <a:avLst/>
          </a:prstGeom>
          <a:solidFill>
            <a:srgbClr val="FDEEDA"/>
          </a:solidFill>
          <a:ln w="12700">
            <a:solidFill>
              <a:srgbClr val="FDEEDA"/>
            </a:solidFill>
            <a:prstDash val="solid"/>
          </a:ln>
        </p:spPr>
      </p:sp>
      <p:sp>
        <p:nvSpPr>
          <p:cNvPr id="10" name="logo circle"/>
          <p:cNvSpPr/>
          <p:nvPr/>
        </p:nvSpPr>
        <p:spPr>
          <a:xfrm>
            <a:off x="8366760" y="1463040"/>
            <a:ext cx="3931920" cy="3931920"/>
          </a:xfrm>
          <a:prstGeom prst="ellipse">
            <a:avLst/>
          </a:prstGeom>
          <a:solidFill>
            <a:srgbClr val="FFFFFF"/>
          </a:solidFill>
          <a:ln w="9525">
            <a:solidFill>
              <a:srgbClr val="E3E3E4"/>
            </a:solidFill>
            <a:prstDash val="solid"/>
          </a:ln>
          <a:effectLst>
            <a:outerShdw sx="100000" sy="100000" kx="0" ky="0" algn="bl" rotWithShape="0" blurRad="76200" dist="25400" dir="5400000">
              <a:srgbClr val="000000">
                <a:alpha val="10000"/>
              </a:srgbClr>
            </a:outerShdw>
          </a:effectLst>
        </p:spPr>
      </p:sp>
      <p:pic>
        <p:nvPicPr>
          <p:cNvPr id="11" name="Image 0" descr="CortexSkills">    </p:cNvPr>
          <p:cNvPicPr>
            <a:picLocks noChangeAspect="1"/>
          </p:cNvPicPr>
          <p:nvPr/>
        </p:nvPicPr>
        <p:blipFill>
          <a:blip r:embed="rId1"/>
          <a:srcRect l="0" r="0" t="0" b="0"/>
          <a:stretch/>
        </p:blipFill>
        <p:spPr>
          <a:xfrm>
            <a:off x="8915400" y="2011680"/>
            <a:ext cx="2834640" cy="2834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SOMMAIRE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Ce que couvre cette étude de cas</a:t>
            </a:r>
            <a:endParaRPr lang="en-US" sz="2800" dirty="0"/>
          </a:p>
        </p:txBody>
      </p:sp>
      <p:sp>
        <p:nvSpPr>
          <p:cNvPr id="5" name="badge building-2"/>
          <p:cNvSpPr/>
          <p:nvPr/>
        </p:nvSpPr>
        <p:spPr>
          <a:xfrm>
            <a:off x="457200" y="1600200"/>
            <a:ext cx="566928" cy="566928"/>
          </a:xfrm>
          <a:prstGeom prst="ellipse">
            <a:avLst/>
          </a:prstGeom>
          <a:solidFill>
            <a:srgbClr val="58595B"/>
          </a:solidFill>
          <a:ln w="12700">
            <a:solidFill>
              <a:srgbClr val="58595B"/>
            </a:solidFill>
            <a:prstDash val="solid"/>
          </a:ln>
        </p:spPr>
      </p:sp>
      <p:pic>
        <p:nvPicPr>
          <p:cNvPr id="6" name="Image 0" descr="building-2">    </p:cNvPr>
          <p:cNvPicPr>
            <a:picLocks noChangeAspect="1"/>
          </p:cNvPicPr>
          <p:nvPr/>
        </p:nvPicPr>
        <p:blipFill>
          <a:blip r:embed="rId1"/>
          <a:stretch>
            <a:fillRect/>
          </a:stretch>
        </p:blipFill>
        <p:spPr>
          <a:xfrm>
            <a:off x="587593" y="1730593"/>
            <a:ext cx="306141" cy="306141"/>
          </a:xfrm>
          <a:prstGeom prst="rect">
            <a:avLst/>
          </a:prstGeom>
        </p:spPr>
      </p:pic>
      <p:sp>
        <p:nvSpPr>
          <p:cNvPr id="7" name="Text 3"/>
          <p:cNvSpPr txBox="1"/>
          <p:nvPr/>
        </p:nvSpPr>
        <p:spPr>
          <a:xfrm>
            <a:off x="1207008" y="1600200"/>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Le client et le projet</a:t>
            </a:r>
            <a:endParaRPr lang="en-US" sz="1600" dirty="0"/>
          </a:p>
        </p:txBody>
      </p:sp>
      <p:sp>
        <p:nvSpPr>
          <p:cNvPr id="8" name="badge network"/>
          <p:cNvSpPr/>
          <p:nvPr/>
        </p:nvSpPr>
        <p:spPr>
          <a:xfrm>
            <a:off x="457200" y="2496312"/>
            <a:ext cx="566928" cy="566928"/>
          </a:xfrm>
          <a:prstGeom prst="ellipse">
            <a:avLst/>
          </a:prstGeom>
          <a:solidFill>
            <a:srgbClr val="58595B"/>
          </a:solidFill>
          <a:ln w="12700">
            <a:solidFill>
              <a:srgbClr val="58595B"/>
            </a:solidFill>
            <a:prstDash val="solid"/>
          </a:ln>
        </p:spPr>
      </p:sp>
      <p:pic>
        <p:nvPicPr>
          <p:cNvPr id="9" name="Image 1" descr="network">    </p:cNvPr>
          <p:cNvPicPr>
            <a:picLocks noChangeAspect="1"/>
          </p:cNvPicPr>
          <p:nvPr/>
        </p:nvPicPr>
        <p:blipFill>
          <a:blip r:embed="rId2"/>
          <a:stretch>
            <a:fillRect/>
          </a:stretch>
        </p:blipFill>
        <p:spPr>
          <a:xfrm>
            <a:off x="587593" y="2626705"/>
            <a:ext cx="306141" cy="306141"/>
          </a:xfrm>
          <a:prstGeom prst="rect">
            <a:avLst/>
          </a:prstGeom>
        </p:spPr>
      </p:pic>
      <p:sp>
        <p:nvSpPr>
          <p:cNvPr id="10" name="Text 5"/>
          <p:cNvSpPr txBox="1"/>
          <p:nvPr/>
        </p:nvSpPr>
        <p:spPr>
          <a:xfrm>
            <a:off x="1207008" y="2496312"/>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Comment CortexSkills structure le travail</a:t>
            </a:r>
            <a:endParaRPr lang="en-US" sz="1600" dirty="0"/>
          </a:p>
        </p:txBody>
      </p:sp>
      <p:sp>
        <p:nvSpPr>
          <p:cNvPr id="11" name="badge search"/>
          <p:cNvSpPr/>
          <p:nvPr/>
        </p:nvSpPr>
        <p:spPr>
          <a:xfrm>
            <a:off x="457200" y="3392424"/>
            <a:ext cx="566928" cy="566928"/>
          </a:xfrm>
          <a:prstGeom prst="ellipse">
            <a:avLst/>
          </a:prstGeom>
          <a:solidFill>
            <a:srgbClr val="F8931D"/>
          </a:solidFill>
          <a:ln w="12700">
            <a:solidFill>
              <a:srgbClr val="F8931D"/>
            </a:solidFill>
            <a:prstDash val="solid"/>
          </a:ln>
        </p:spPr>
      </p:sp>
      <p:pic>
        <p:nvPicPr>
          <p:cNvPr id="12" name="Image 2" descr="search">    </p:cNvPr>
          <p:cNvPicPr>
            <a:picLocks noChangeAspect="1"/>
          </p:cNvPicPr>
          <p:nvPr/>
        </p:nvPicPr>
        <p:blipFill>
          <a:blip r:embed="rId3"/>
          <a:stretch>
            <a:fillRect/>
          </a:stretch>
        </p:blipFill>
        <p:spPr>
          <a:xfrm>
            <a:off x="587593" y="3522817"/>
            <a:ext cx="306141" cy="306141"/>
          </a:xfrm>
          <a:prstGeom prst="rect">
            <a:avLst/>
          </a:prstGeom>
        </p:spPr>
      </p:pic>
      <p:sp>
        <p:nvSpPr>
          <p:cNvPr id="13" name="Text 7"/>
          <p:cNvSpPr txBox="1"/>
          <p:nvPr/>
        </p:nvSpPr>
        <p:spPr>
          <a:xfrm>
            <a:off x="1207008" y="3392424"/>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1 — Périmètre et collecte de preuves</a:t>
            </a:r>
            <a:endParaRPr lang="en-US" sz="1600" dirty="0"/>
          </a:p>
        </p:txBody>
      </p:sp>
      <p:sp>
        <p:nvSpPr>
          <p:cNvPr id="14" name="badge stethoscope"/>
          <p:cNvSpPr/>
          <p:nvPr/>
        </p:nvSpPr>
        <p:spPr>
          <a:xfrm>
            <a:off x="457200" y="4288536"/>
            <a:ext cx="566928" cy="566928"/>
          </a:xfrm>
          <a:prstGeom prst="ellipse">
            <a:avLst/>
          </a:prstGeom>
          <a:solidFill>
            <a:srgbClr val="F8931D"/>
          </a:solidFill>
          <a:ln w="12700">
            <a:solidFill>
              <a:srgbClr val="F8931D"/>
            </a:solidFill>
            <a:prstDash val="solid"/>
          </a:ln>
        </p:spPr>
      </p:sp>
      <p:pic>
        <p:nvPicPr>
          <p:cNvPr id="15" name="Image 3" descr="stethoscope">    </p:cNvPr>
          <p:cNvPicPr>
            <a:picLocks noChangeAspect="1"/>
          </p:cNvPicPr>
          <p:nvPr/>
        </p:nvPicPr>
        <p:blipFill>
          <a:blip r:embed="rId4"/>
          <a:stretch>
            <a:fillRect/>
          </a:stretch>
        </p:blipFill>
        <p:spPr>
          <a:xfrm>
            <a:off x="587593" y="4418929"/>
            <a:ext cx="306141" cy="306141"/>
          </a:xfrm>
          <a:prstGeom prst="rect">
            <a:avLst/>
          </a:prstGeom>
        </p:spPr>
      </p:pic>
      <p:sp>
        <p:nvSpPr>
          <p:cNvPr id="16" name="Text 9"/>
          <p:cNvSpPr txBox="1"/>
          <p:nvPr/>
        </p:nvSpPr>
        <p:spPr>
          <a:xfrm>
            <a:off x="1207008" y="4288536"/>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2 — Diagnostic</a:t>
            </a:r>
            <a:endParaRPr lang="en-US" sz="1600" dirty="0"/>
          </a:p>
        </p:txBody>
      </p:sp>
      <p:sp>
        <p:nvSpPr>
          <p:cNvPr id="17" name="badge file-text"/>
          <p:cNvSpPr/>
          <p:nvPr/>
        </p:nvSpPr>
        <p:spPr>
          <a:xfrm>
            <a:off x="457200" y="5184648"/>
            <a:ext cx="566928" cy="566928"/>
          </a:xfrm>
          <a:prstGeom prst="ellipse">
            <a:avLst/>
          </a:prstGeom>
          <a:solidFill>
            <a:srgbClr val="F8931D"/>
          </a:solidFill>
          <a:ln w="12700">
            <a:solidFill>
              <a:srgbClr val="F8931D"/>
            </a:solidFill>
            <a:prstDash val="solid"/>
          </a:ln>
        </p:spPr>
      </p:sp>
      <p:pic>
        <p:nvPicPr>
          <p:cNvPr id="18" name="Image 4" descr="file-text">    </p:cNvPr>
          <p:cNvPicPr>
            <a:picLocks noChangeAspect="1"/>
          </p:cNvPicPr>
          <p:nvPr/>
        </p:nvPicPr>
        <p:blipFill>
          <a:blip r:embed="rId5"/>
          <a:stretch>
            <a:fillRect/>
          </a:stretch>
        </p:blipFill>
        <p:spPr>
          <a:xfrm>
            <a:off x="587593" y="5315041"/>
            <a:ext cx="306141" cy="306141"/>
          </a:xfrm>
          <a:prstGeom prst="rect">
            <a:avLst/>
          </a:prstGeom>
        </p:spPr>
      </p:pic>
      <p:sp>
        <p:nvSpPr>
          <p:cNvPr id="19" name="Text 11"/>
          <p:cNvSpPr txBox="1"/>
          <p:nvPr/>
        </p:nvSpPr>
        <p:spPr>
          <a:xfrm>
            <a:off x="1207008" y="5184648"/>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3 — Rapport d'ingénierie de formation et plan</a:t>
            </a:r>
            <a:endParaRPr lang="en-US" sz="1600" dirty="0"/>
          </a:p>
        </p:txBody>
      </p:sp>
      <p:sp>
        <p:nvSpPr>
          <p:cNvPr id="20" name="badge graduation-cap"/>
          <p:cNvSpPr/>
          <p:nvPr/>
        </p:nvSpPr>
        <p:spPr>
          <a:xfrm>
            <a:off x="6217920" y="1600200"/>
            <a:ext cx="566928" cy="566928"/>
          </a:xfrm>
          <a:prstGeom prst="ellipse">
            <a:avLst/>
          </a:prstGeom>
          <a:solidFill>
            <a:srgbClr val="F8931D"/>
          </a:solidFill>
          <a:ln w="12700">
            <a:solidFill>
              <a:srgbClr val="F8931D"/>
            </a:solidFill>
            <a:prstDash val="solid"/>
          </a:ln>
        </p:spPr>
      </p:sp>
      <p:pic>
        <p:nvPicPr>
          <p:cNvPr id="21" name="Image 5" descr="graduation-cap">    </p:cNvPr>
          <p:cNvPicPr>
            <a:picLocks noChangeAspect="1"/>
          </p:cNvPicPr>
          <p:nvPr/>
        </p:nvPicPr>
        <p:blipFill>
          <a:blip r:embed="rId6"/>
          <a:stretch>
            <a:fillRect/>
          </a:stretch>
        </p:blipFill>
        <p:spPr>
          <a:xfrm>
            <a:off x="6348313" y="1730593"/>
            <a:ext cx="306141" cy="306141"/>
          </a:xfrm>
          <a:prstGeom prst="rect">
            <a:avLst/>
          </a:prstGeom>
        </p:spPr>
      </p:pic>
      <p:sp>
        <p:nvSpPr>
          <p:cNvPr id="22" name="Text 13"/>
          <p:cNvSpPr txBox="1"/>
          <p:nvPr/>
        </p:nvSpPr>
        <p:spPr>
          <a:xfrm>
            <a:off x="6967728" y="1600200"/>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4 — Conception et déploiement</a:t>
            </a:r>
            <a:endParaRPr lang="en-US" sz="1600" dirty="0"/>
          </a:p>
        </p:txBody>
      </p:sp>
      <p:sp>
        <p:nvSpPr>
          <p:cNvPr id="23" name="badge chart-column"/>
          <p:cNvSpPr/>
          <p:nvPr/>
        </p:nvSpPr>
        <p:spPr>
          <a:xfrm>
            <a:off x="6217920" y="2496312"/>
            <a:ext cx="566928" cy="566928"/>
          </a:xfrm>
          <a:prstGeom prst="ellipse">
            <a:avLst/>
          </a:prstGeom>
          <a:solidFill>
            <a:srgbClr val="F8931D"/>
          </a:solidFill>
          <a:ln w="12700">
            <a:solidFill>
              <a:srgbClr val="F8931D"/>
            </a:solidFill>
            <a:prstDash val="solid"/>
          </a:ln>
        </p:spPr>
      </p:sp>
      <p:pic>
        <p:nvPicPr>
          <p:cNvPr id="24" name="Image 6" descr="chart-column">    </p:cNvPr>
          <p:cNvPicPr>
            <a:picLocks noChangeAspect="1"/>
          </p:cNvPicPr>
          <p:nvPr/>
        </p:nvPicPr>
        <p:blipFill>
          <a:blip r:embed="rId7"/>
          <a:stretch>
            <a:fillRect/>
          </a:stretch>
        </p:blipFill>
        <p:spPr>
          <a:xfrm>
            <a:off x="6348313" y="2626705"/>
            <a:ext cx="306141" cy="306141"/>
          </a:xfrm>
          <a:prstGeom prst="rect">
            <a:avLst/>
          </a:prstGeom>
        </p:spPr>
      </p:pic>
      <p:sp>
        <p:nvSpPr>
          <p:cNvPr id="25" name="Text 15"/>
          <p:cNvSpPr txBox="1"/>
          <p:nvPr/>
        </p:nvSpPr>
        <p:spPr>
          <a:xfrm>
            <a:off x="6967728" y="2496312"/>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5 — Évaluation, conformité et impact</a:t>
            </a:r>
            <a:endParaRPr lang="en-US" sz="1600" dirty="0"/>
          </a:p>
        </p:txBody>
      </p:sp>
      <p:sp>
        <p:nvSpPr>
          <p:cNvPr id="26" name="badge users"/>
          <p:cNvSpPr/>
          <p:nvPr/>
        </p:nvSpPr>
        <p:spPr>
          <a:xfrm>
            <a:off x="6217920" y="3392424"/>
            <a:ext cx="566928" cy="566928"/>
          </a:xfrm>
          <a:prstGeom prst="ellipse">
            <a:avLst/>
          </a:prstGeom>
          <a:solidFill>
            <a:srgbClr val="F8931D"/>
          </a:solidFill>
          <a:ln w="12700">
            <a:solidFill>
              <a:srgbClr val="F8931D"/>
            </a:solidFill>
            <a:prstDash val="solid"/>
          </a:ln>
        </p:spPr>
      </p:sp>
      <p:pic>
        <p:nvPicPr>
          <p:cNvPr id="27" name="Image 7" descr="users">    </p:cNvPr>
          <p:cNvPicPr>
            <a:picLocks noChangeAspect="1"/>
          </p:cNvPicPr>
          <p:nvPr/>
        </p:nvPicPr>
        <p:blipFill>
          <a:blip r:embed="rId8"/>
          <a:stretch>
            <a:fillRect/>
          </a:stretch>
        </p:blipFill>
        <p:spPr>
          <a:xfrm>
            <a:off x="6348313" y="3522817"/>
            <a:ext cx="306141" cy="306141"/>
          </a:xfrm>
          <a:prstGeom prst="rect">
            <a:avLst/>
          </a:prstGeom>
        </p:spPr>
      </p:pic>
      <p:sp>
        <p:nvSpPr>
          <p:cNvPr id="28" name="Text 17"/>
          <p:cNvSpPr txBox="1"/>
          <p:nvPr/>
        </p:nvSpPr>
        <p:spPr>
          <a:xfrm>
            <a:off x="6967728" y="3392424"/>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6 — Talents, savoirs et amélioration continue</a:t>
            </a:r>
            <a:endParaRPr lang="en-US" sz="1600" dirty="0"/>
          </a:p>
        </p:txBody>
      </p:sp>
      <p:sp>
        <p:nvSpPr>
          <p:cNvPr id="29" name="badge layers"/>
          <p:cNvSpPr/>
          <p:nvPr/>
        </p:nvSpPr>
        <p:spPr>
          <a:xfrm>
            <a:off x="6217920" y="4288536"/>
            <a:ext cx="566928" cy="566928"/>
          </a:xfrm>
          <a:prstGeom prst="ellipse">
            <a:avLst/>
          </a:prstGeom>
          <a:solidFill>
            <a:srgbClr val="F8931D"/>
          </a:solidFill>
          <a:ln w="12700">
            <a:solidFill>
              <a:srgbClr val="F8931D"/>
            </a:solidFill>
            <a:prstDash val="solid"/>
          </a:ln>
        </p:spPr>
      </p:sp>
      <p:pic>
        <p:nvPicPr>
          <p:cNvPr id="30" name="Image 8" descr="layers">    </p:cNvPr>
          <p:cNvPicPr>
            <a:picLocks noChangeAspect="1"/>
          </p:cNvPicPr>
          <p:nvPr/>
        </p:nvPicPr>
        <p:blipFill>
          <a:blip r:embed="rId9"/>
          <a:stretch>
            <a:fillRect/>
          </a:stretch>
        </p:blipFill>
        <p:spPr>
          <a:xfrm>
            <a:off x="6348313" y="4418929"/>
            <a:ext cx="306141" cy="306141"/>
          </a:xfrm>
          <a:prstGeom prst="rect">
            <a:avLst/>
          </a:prstGeom>
        </p:spPr>
      </p:pic>
      <p:sp>
        <p:nvSpPr>
          <p:cNvPr id="31" name="Text 19"/>
          <p:cNvSpPr txBox="1"/>
          <p:nvPr/>
        </p:nvSpPr>
        <p:spPr>
          <a:xfrm>
            <a:off x="6967728" y="4288536"/>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Phase 0 — Catalyseurs (transverses à toutes les phases)</a:t>
            </a:r>
            <a:endParaRPr lang="en-US" sz="1600" dirty="0"/>
          </a:p>
        </p:txBody>
      </p:sp>
      <p:sp>
        <p:nvSpPr>
          <p:cNvPr id="32" name="badge target"/>
          <p:cNvSpPr/>
          <p:nvPr/>
        </p:nvSpPr>
        <p:spPr>
          <a:xfrm>
            <a:off x="6217920" y="5184648"/>
            <a:ext cx="566928" cy="566928"/>
          </a:xfrm>
          <a:prstGeom prst="ellipse">
            <a:avLst/>
          </a:prstGeom>
          <a:solidFill>
            <a:srgbClr val="58595B"/>
          </a:solidFill>
          <a:ln w="12700">
            <a:solidFill>
              <a:srgbClr val="58595B"/>
            </a:solidFill>
            <a:prstDash val="solid"/>
          </a:ln>
        </p:spPr>
      </p:sp>
      <p:pic>
        <p:nvPicPr>
          <p:cNvPr id="33" name="Image 9" descr="target">    </p:cNvPr>
          <p:cNvPicPr>
            <a:picLocks noChangeAspect="1"/>
          </p:cNvPicPr>
          <p:nvPr/>
        </p:nvPicPr>
        <p:blipFill>
          <a:blip r:embed="rId10"/>
          <a:stretch>
            <a:fillRect/>
          </a:stretch>
        </p:blipFill>
        <p:spPr>
          <a:xfrm>
            <a:off x="6348313" y="5315041"/>
            <a:ext cx="306141" cy="306141"/>
          </a:xfrm>
          <a:prstGeom prst="rect">
            <a:avLst/>
          </a:prstGeom>
        </p:spPr>
      </p:pic>
      <p:sp>
        <p:nvSpPr>
          <p:cNvPr id="34" name="Text 21"/>
          <p:cNvSpPr txBox="1"/>
          <p:nvPr/>
        </p:nvSpPr>
        <p:spPr>
          <a:xfrm>
            <a:off x="6967728" y="5184648"/>
            <a:ext cx="4846320" cy="566928"/>
          </a:xfrm>
          <a:prstGeom prst="rect">
            <a:avLst/>
          </a:prstGeom>
          <a:noFill/>
          <a:ln/>
        </p:spPr>
        <p:txBody>
          <a:bodyPr wrap="square" lIns="0" tIns="0" rIns="0" bIns="0" rtlCol="0" anchor="ctr"/>
          <a:lstStyle/>
          <a:p>
            <a:pPr indent="0" marL="0">
              <a:buNone/>
            </a:pPr>
            <a:r>
              <a:rPr lang="en-US" sz="1600" dirty="0">
                <a:solidFill>
                  <a:srgbClr val="3A3A3C"/>
                </a:solidFill>
                <a:latin typeface="Calibri" pitchFamily="34" charset="0"/>
                <a:ea typeface="Calibri" pitchFamily="34" charset="-122"/>
                <a:cs typeface="Calibri" pitchFamily="34" charset="-120"/>
              </a:rPr>
              <a:t>Résultats et prochaines étapes</a:t>
            </a:r>
            <a:endParaRPr lang="en-US" sz="1600" dirty="0"/>
          </a:p>
        </p:txBody>
      </p:sp>
      <p:sp>
        <p:nvSpPr>
          <p:cNvPr id="35"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SYNTHÈSE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35 processus déroulés de bout en bout, 100 % des tâches terminées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18 avr. 2026 – 28 sept. 2026 · 27 personnes impliquées · chaque chiffre ci-dessous est lu dans l’application</a:t>
            </a:r>
            <a:endParaRPr lang="en-US" sz="1400" dirty="0"/>
          </a:p>
        </p:txBody>
      </p:sp>
      <p:sp>
        <p:nvSpPr>
          <p:cNvPr id="6" name="kpi processus de bout en bout (33 standard + 2 santé)"/>
          <p:cNvSpPr/>
          <p:nvPr/>
        </p:nvSpPr>
        <p:spPr>
          <a:xfrm>
            <a:off x="457200"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640080"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35</a:t>
            </a:r>
            <a:endParaRPr lang="en-US" sz="3200" dirty="0"/>
          </a:p>
        </p:txBody>
      </p:sp>
      <p:sp>
        <p:nvSpPr>
          <p:cNvPr id="8" name="Text 5"/>
          <p:cNvSpPr txBox="1"/>
          <p:nvPr/>
        </p:nvSpPr>
        <p:spPr>
          <a:xfrm>
            <a:off x="640080"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processus de bout en bout (33 standard + 2 santé)</a:t>
            </a:r>
            <a:endParaRPr lang="en-US" sz="1200" dirty="0"/>
          </a:p>
        </p:txBody>
      </p:sp>
      <p:sp>
        <p:nvSpPr>
          <p:cNvPr id="9" name="kpi macro-processus mobilisés"/>
          <p:cNvSpPr/>
          <p:nvPr/>
        </p:nvSpPr>
        <p:spPr>
          <a:xfrm>
            <a:off x="3319272"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7"/>
          <p:cNvSpPr txBox="1"/>
          <p:nvPr/>
        </p:nvSpPr>
        <p:spPr>
          <a:xfrm>
            <a:off x="3502152"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53</a:t>
            </a:r>
            <a:endParaRPr lang="en-US" sz="3200" dirty="0"/>
          </a:p>
        </p:txBody>
      </p:sp>
      <p:sp>
        <p:nvSpPr>
          <p:cNvPr id="11" name="Text 8"/>
          <p:cNvSpPr txBox="1"/>
          <p:nvPr/>
        </p:nvSpPr>
        <p:spPr>
          <a:xfrm>
            <a:off x="3502152"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macro-processus mobilisés</a:t>
            </a:r>
            <a:endParaRPr lang="en-US" sz="1200" dirty="0"/>
          </a:p>
        </p:txBody>
      </p:sp>
      <p:sp>
        <p:nvSpPr>
          <p:cNvPr id="12" name="kpi tâches terminées, aucune en retard"/>
          <p:cNvSpPr/>
          <p:nvPr/>
        </p:nvSpPr>
        <p:spPr>
          <a:xfrm>
            <a:off x="6181344"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Text 10"/>
          <p:cNvSpPr txBox="1"/>
          <p:nvPr/>
        </p:nvSpPr>
        <p:spPr>
          <a:xfrm>
            <a:off x="6364224"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265</a:t>
            </a:r>
            <a:endParaRPr lang="en-US" sz="3200" dirty="0"/>
          </a:p>
        </p:txBody>
      </p:sp>
      <p:sp>
        <p:nvSpPr>
          <p:cNvPr id="14" name="Text 11"/>
          <p:cNvSpPr txBox="1"/>
          <p:nvPr/>
        </p:nvSpPr>
        <p:spPr>
          <a:xfrm>
            <a:off x="6364224"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tâches terminées, aucune en retard</a:t>
            </a:r>
            <a:endParaRPr lang="en-US" sz="1200" dirty="0"/>
          </a:p>
        </p:txBody>
      </p:sp>
      <p:sp>
        <p:nvSpPr>
          <p:cNvPr id="15" name="kpi étapes exécutées"/>
          <p:cNvSpPr/>
          <p:nvPr/>
        </p:nvSpPr>
        <p:spPr>
          <a:xfrm>
            <a:off x="9043416" y="1783080"/>
            <a:ext cx="2679192"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6" name="Text 13"/>
          <p:cNvSpPr txBox="1"/>
          <p:nvPr/>
        </p:nvSpPr>
        <p:spPr>
          <a:xfrm>
            <a:off x="9226296" y="1892808"/>
            <a:ext cx="2313432"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463</a:t>
            </a:r>
            <a:endParaRPr lang="en-US" sz="3200" dirty="0"/>
          </a:p>
        </p:txBody>
      </p:sp>
      <p:sp>
        <p:nvSpPr>
          <p:cNvPr id="17" name="Text 14"/>
          <p:cNvSpPr txBox="1"/>
          <p:nvPr/>
        </p:nvSpPr>
        <p:spPr>
          <a:xfrm>
            <a:off x="9226296" y="2459736"/>
            <a:ext cx="2313432"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étapes exécutées</a:t>
            </a:r>
            <a:endParaRPr lang="en-US" sz="1200" dirty="0"/>
          </a:p>
        </p:txBody>
      </p:sp>
      <p:sp>
        <p:nvSpPr>
          <p:cNvPr id="18" name="message 0"/>
          <p:cNvSpPr/>
          <p:nvPr/>
        </p:nvSpPr>
        <p:spPr>
          <a:xfrm>
            <a:off x="457200" y="3200400"/>
            <a:ext cx="3611880" cy="2880360"/>
          </a:xfrm>
          <a:prstGeom prst="roundRect">
            <a:avLst>
              <a:gd name="adj" fmla="val 254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9" name="badge clipboard-check"/>
          <p:cNvSpPr/>
          <p:nvPr/>
        </p:nvSpPr>
        <p:spPr>
          <a:xfrm>
            <a:off x="731520" y="3474720"/>
            <a:ext cx="603504" cy="603504"/>
          </a:xfrm>
          <a:prstGeom prst="ellipse">
            <a:avLst/>
          </a:prstGeom>
          <a:solidFill>
            <a:srgbClr val="F8931D"/>
          </a:solidFill>
          <a:ln w="12700">
            <a:solidFill>
              <a:srgbClr val="F8931D"/>
            </a:solidFill>
            <a:prstDash val="solid"/>
          </a:ln>
        </p:spPr>
      </p:sp>
      <p:pic>
        <p:nvPicPr>
          <p:cNvPr id="20" name="Image 0" descr="clipboard-check">    </p:cNvPr>
          <p:cNvPicPr>
            <a:picLocks noChangeAspect="1"/>
          </p:cNvPicPr>
          <p:nvPr/>
        </p:nvPicPr>
        <p:blipFill>
          <a:blip r:embed="rId1"/>
          <a:stretch>
            <a:fillRect/>
          </a:stretch>
        </p:blipFill>
        <p:spPr>
          <a:xfrm>
            <a:off x="870326" y="3613526"/>
            <a:ext cx="325892" cy="325892"/>
          </a:xfrm>
          <a:prstGeom prst="rect">
            <a:avLst/>
          </a:prstGeom>
        </p:spPr>
      </p:pic>
      <p:sp>
        <p:nvSpPr>
          <p:cNvPr id="21" name="Text 17"/>
          <p:cNvSpPr txBox="1"/>
          <p:nvPr/>
        </p:nvSpPr>
        <p:spPr>
          <a:xfrm>
            <a:off x="731520" y="4206240"/>
            <a:ext cx="3108960" cy="502920"/>
          </a:xfrm>
          <a:prstGeom prst="rect">
            <a:avLst/>
          </a:prstGeom>
          <a:noFill/>
          <a:ln/>
        </p:spPr>
        <p:txBody>
          <a:bodyPr wrap="square" lIns="0" tIns="0" rIns="0" bIns="0" rtlCol="0" anchor="t"/>
          <a:lstStyle/>
          <a:p>
            <a:pPr indent="0" marL="0">
              <a:buNone/>
            </a:pPr>
            <a:r>
              <a:rPr lang="en-US" sz="1700" b="1" dirty="0">
                <a:solidFill>
                  <a:srgbClr val="3A3A3C"/>
                </a:solidFill>
                <a:latin typeface="Cambria" pitchFamily="34" charset="0"/>
                <a:ea typeface="Cambria" pitchFamily="34" charset="-122"/>
                <a:cs typeface="Cambria" pitchFamily="34" charset="-120"/>
              </a:rPr>
              <a:t>Le périmètre et les preuves d’abord</a:t>
            </a:r>
            <a:endParaRPr lang="en-US" sz="1700" dirty="0"/>
          </a:p>
        </p:txBody>
      </p:sp>
      <p:sp>
        <p:nvSpPr>
          <p:cNvPr id="22" name="Text 18"/>
          <p:cNvSpPr txBox="1"/>
          <p:nvPr/>
        </p:nvSpPr>
        <p:spPr>
          <a:xfrm>
            <a:off x="731520" y="4754880"/>
            <a:ext cx="3108960" cy="118872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40 parties prenantes enregistrées, 24 questions générées par l’IA et validées, 187 réponses collectées avant toute décision.</a:t>
            </a:r>
            <a:endParaRPr lang="en-US" sz="1400" dirty="0"/>
          </a:p>
        </p:txBody>
      </p:sp>
      <p:sp>
        <p:nvSpPr>
          <p:cNvPr id="23" name="message 1"/>
          <p:cNvSpPr/>
          <p:nvPr/>
        </p:nvSpPr>
        <p:spPr>
          <a:xfrm>
            <a:off x="4251960" y="3200400"/>
            <a:ext cx="3611880" cy="2880360"/>
          </a:xfrm>
          <a:prstGeom prst="roundRect">
            <a:avLst>
              <a:gd name="adj" fmla="val 254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4" name="badge file-check"/>
          <p:cNvSpPr/>
          <p:nvPr/>
        </p:nvSpPr>
        <p:spPr>
          <a:xfrm>
            <a:off x="4526280" y="3474720"/>
            <a:ext cx="603504" cy="603504"/>
          </a:xfrm>
          <a:prstGeom prst="ellipse">
            <a:avLst/>
          </a:prstGeom>
          <a:solidFill>
            <a:srgbClr val="F8931D"/>
          </a:solidFill>
          <a:ln w="12700">
            <a:solidFill>
              <a:srgbClr val="F8931D"/>
            </a:solidFill>
            <a:prstDash val="solid"/>
          </a:ln>
        </p:spPr>
      </p:sp>
      <p:pic>
        <p:nvPicPr>
          <p:cNvPr id="25" name="Image 1" descr="file-check">    </p:cNvPr>
          <p:cNvPicPr>
            <a:picLocks noChangeAspect="1"/>
          </p:cNvPicPr>
          <p:nvPr/>
        </p:nvPicPr>
        <p:blipFill>
          <a:blip r:embed="rId2"/>
          <a:stretch>
            <a:fillRect/>
          </a:stretch>
        </p:blipFill>
        <p:spPr>
          <a:xfrm>
            <a:off x="4665086" y="3613526"/>
            <a:ext cx="325892" cy="325892"/>
          </a:xfrm>
          <a:prstGeom prst="rect">
            <a:avLst/>
          </a:prstGeom>
        </p:spPr>
      </p:pic>
      <p:sp>
        <p:nvSpPr>
          <p:cNvPr id="26" name="Text 21"/>
          <p:cNvSpPr txBox="1"/>
          <p:nvPr/>
        </p:nvSpPr>
        <p:spPr>
          <a:xfrm>
            <a:off x="4526280" y="4206240"/>
            <a:ext cx="3108960" cy="502920"/>
          </a:xfrm>
          <a:prstGeom prst="rect">
            <a:avLst/>
          </a:prstGeom>
          <a:noFill/>
          <a:ln/>
        </p:spPr>
        <p:txBody>
          <a:bodyPr wrap="square" lIns="0" tIns="0" rIns="0" bIns="0" rtlCol="0" anchor="t"/>
          <a:lstStyle/>
          <a:p>
            <a:pPr indent="0" marL="0">
              <a:buNone/>
            </a:pPr>
            <a:r>
              <a:rPr lang="en-US" sz="1700" b="1" dirty="0">
                <a:solidFill>
                  <a:srgbClr val="3A3A3C"/>
                </a:solidFill>
                <a:latin typeface="Cambria" pitchFamily="34" charset="0"/>
                <a:ea typeface="Cambria" pitchFamily="34" charset="-122"/>
                <a:cs typeface="Cambria" pitchFamily="34" charset="-120"/>
              </a:rPr>
              <a:t>Un plan approuvé sur des faits</a:t>
            </a:r>
            <a:endParaRPr lang="en-US" sz="1700" dirty="0"/>
          </a:p>
        </p:txBody>
      </p:sp>
      <p:sp>
        <p:nvSpPr>
          <p:cNvPr id="27" name="Text 22"/>
          <p:cNvSpPr txBox="1"/>
          <p:nvPr/>
        </p:nvSpPr>
        <p:spPr>
          <a:xfrm>
            <a:off x="4526280" y="4754880"/>
            <a:ext cx="3108960" cy="118872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23 besoins regroupés en 6 thèmes ; budget net de 1 330 000 MAD approuvé par le comité de pilotage.</a:t>
            </a:r>
            <a:endParaRPr lang="en-US" sz="1400" dirty="0"/>
          </a:p>
        </p:txBody>
      </p:sp>
      <p:sp>
        <p:nvSpPr>
          <p:cNvPr id="28" name="message 2"/>
          <p:cNvSpPr/>
          <p:nvPr/>
        </p:nvSpPr>
        <p:spPr>
          <a:xfrm>
            <a:off x="8046720" y="3200400"/>
            <a:ext cx="3611880" cy="2880360"/>
          </a:xfrm>
          <a:prstGeom prst="roundRect">
            <a:avLst>
              <a:gd name="adj" fmla="val 254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9" name="badge trending-up"/>
          <p:cNvSpPr/>
          <p:nvPr/>
        </p:nvSpPr>
        <p:spPr>
          <a:xfrm>
            <a:off x="8321040" y="3474720"/>
            <a:ext cx="603504" cy="603504"/>
          </a:xfrm>
          <a:prstGeom prst="ellipse">
            <a:avLst/>
          </a:prstGeom>
          <a:solidFill>
            <a:srgbClr val="F8931D"/>
          </a:solidFill>
          <a:ln w="12700">
            <a:solidFill>
              <a:srgbClr val="F8931D"/>
            </a:solidFill>
            <a:prstDash val="solid"/>
          </a:ln>
        </p:spPr>
      </p:sp>
      <p:pic>
        <p:nvPicPr>
          <p:cNvPr id="30" name="Image 2" descr="trending-up">    </p:cNvPr>
          <p:cNvPicPr>
            <a:picLocks noChangeAspect="1"/>
          </p:cNvPicPr>
          <p:nvPr/>
        </p:nvPicPr>
        <p:blipFill>
          <a:blip r:embed="rId3"/>
          <a:stretch>
            <a:fillRect/>
          </a:stretch>
        </p:blipFill>
        <p:spPr>
          <a:xfrm>
            <a:off x="8459846" y="3613526"/>
            <a:ext cx="325892" cy="325892"/>
          </a:xfrm>
          <a:prstGeom prst="rect">
            <a:avLst/>
          </a:prstGeom>
        </p:spPr>
      </p:pic>
      <p:sp>
        <p:nvSpPr>
          <p:cNvPr id="31" name="Text 25"/>
          <p:cNvSpPr txBox="1"/>
          <p:nvPr/>
        </p:nvSpPr>
        <p:spPr>
          <a:xfrm>
            <a:off x="8321040" y="4206240"/>
            <a:ext cx="3108960" cy="502920"/>
          </a:xfrm>
          <a:prstGeom prst="rect">
            <a:avLst/>
          </a:prstGeom>
          <a:noFill/>
          <a:ln/>
        </p:spPr>
        <p:txBody>
          <a:bodyPr wrap="square" lIns="0" tIns="0" rIns="0" bIns="0" rtlCol="0" anchor="t"/>
          <a:lstStyle/>
          <a:p>
            <a:pPr indent="0" marL="0">
              <a:buNone/>
            </a:pPr>
            <a:r>
              <a:rPr lang="en-US" sz="1700" b="1" dirty="0">
                <a:solidFill>
                  <a:srgbClr val="3A3A3C"/>
                </a:solidFill>
                <a:latin typeface="Cambria" pitchFamily="34" charset="0"/>
                <a:ea typeface="Cambria" pitchFamily="34" charset="-122"/>
                <a:cs typeface="Cambria" pitchFamily="34" charset="-120"/>
              </a:rPr>
              <a:t>Un déploiement mesuré jusqu’à l’impact</a:t>
            </a:r>
            <a:endParaRPr lang="en-US" sz="1700" dirty="0"/>
          </a:p>
        </p:txBody>
      </p:sp>
      <p:sp>
        <p:nvSpPr>
          <p:cNvPr id="32" name="Text 26"/>
          <p:cNvSpPr txBox="1"/>
          <p:nvPr/>
        </p:nvSpPr>
        <p:spPr>
          <a:xfrm>
            <a:off x="8321040" y="4754880"/>
            <a:ext cx="3108960" cy="118872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Scores de 48 % à 81 % ; 9 superviseurs sur 11 appliquent la routine à J+30 ; ROI de 22 %.</a:t>
            </a:r>
            <a:endParaRPr lang="en-US" sz="1400" dirty="0"/>
          </a:p>
        </p:txBody>
      </p:sp>
      <p:sp>
        <p:nvSpPr>
          <p:cNvPr id="33"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LE CLIENT</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Groupe Santéora Cliniques Privées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Cycle d'ingénierie de formation centré sur les compétences IA pour le secteur Établissements de santé : périmètre, preuves, diagnostic, rapport, déploiement, évaluation et amélioration continue.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5577840" cy="914400"/>
        </p:xfrm>
        <a:graphic>
          <a:graphicData uri="http://schemas.openxmlformats.org/drawingml/2006/table">
            <a:tbl>
              <a:tblPr/>
              <a:tblGrid>
                <a:gridCol w="1554480"/>
                <a:gridCol w="402336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Élément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Valeur</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Secteur</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Établissements de santé — cliniques privées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Taille</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2 600 salariés, grande organisation</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Siège</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Casablanca, Maroc</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Projet</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Déroulé complet compétences IA 2026 — Groupe Santéora Cliniques Privées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Orientation</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Compétences IA</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Période</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18 avr. 2026 – 28 sept. 2026</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384048">
                <a:tc>
                  <a:txBody>
                    <a:bodyPr/>
                    <a:lstStyle/>
                    <a:p>
                      <a:pPr indent="0" marL="0">
                        <a:buNone/>
                      </a:pPr>
                      <a:r>
                        <a:rPr lang="en-US" sz="1200" b="1" dirty="0">
                          <a:solidFill>
                            <a:srgbClr val="3A3A3C"/>
                          </a:solidFill>
                          <a:latin typeface="Calibri" pitchFamily="34" charset="0"/>
                          <a:ea typeface="Calibri" pitchFamily="34" charset="-122"/>
                          <a:cs typeface="Calibri" pitchFamily="34" charset="-120"/>
                        </a:rPr>
                        <a:t>Langues</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200" dirty="0">
                          <a:solidFill>
                            <a:srgbClr val="58595B"/>
                          </a:solidFill>
                          <a:latin typeface="Calibri" pitchFamily="34" charset="0"/>
                          <a:ea typeface="Calibri" pitchFamily="34" charset="-122"/>
                          <a:cs typeface="Calibri" pitchFamily="34" charset="-120"/>
                        </a:rPr>
                        <a:t>Français, anglais, arabe</a:t>
                      </a:r>
                      <a:endParaRPr lang="en-US" sz="12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7" name="objectives"/>
          <p:cNvSpPr/>
          <p:nvPr/>
        </p:nvSpPr>
        <p:spPr>
          <a:xfrm>
            <a:off x="6355080" y="1828800"/>
            <a:ext cx="5376672" cy="4297680"/>
          </a:xfrm>
          <a:prstGeom prst="roundRect">
            <a:avLst>
              <a:gd name="adj" fmla="val 1702"/>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8" name="badge target"/>
          <p:cNvSpPr/>
          <p:nvPr/>
        </p:nvSpPr>
        <p:spPr>
          <a:xfrm>
            <a:off x="6629400" y="2057400"/>
            <a:ext cx="566928" cy="566928"/>
          </a:xfrm>
          <a:prstGeom prst="ellipse">
            <a:avLst/>
          </a:prstGeom>
          <a:solidFill>
            <a:srgbClr val="F8931D"/>
          </a:solidFill>
          <a:ln w="12700">
            <a:solidFill>
              <a:srgbClr val="F8931D"/>
            </a:solidFill>
            <a:prstDash val="solid"/>
          </a:ln>
        </p:spPr>
      </p:sp>
      <p:pic>
        <p:nvPicPr>
          <p:cNvPr id="9" name="Image 0" descr="target">    </p:cNvPr>
          <p:cNvPicPr>
            <a:picLocks noChangeAspect="1"/>
          </p:cNvPicPr>
          <p:nvPr/>
        </p:nvPicPr>
        <p:blipFill>
          <a:blip r:embed="rId1"/>
          <a:stretch>
            <a:fillRect/>
          </a:stretch>
        </p:blipFill>
        <p:spPr>
          <a:xfrm>
            <a:off x="6759793" y="2187793"/>
            <a:ext cx="306141" cy="306141"/>
          </a:xfrm>
          <a:prstGeom prst="rect">
            <a:avLst/>
          </a:prstGeom>
        </p:spPr>
      </p:pic>
      <p:sp>
        <p:nvSpPr>
          <p:cNvPr id="10" name="Text 5"/>
          <p:cNvSpPr txBox="1"/>
          <p:nvPr/>
        </p:nvSpPr>
        <p:spPr>
          <a:xfrm>
            <a:off x="7360920" y="2057400"/>
            <a:ext cx="4206240" cy="566928"/>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Objectifs stratégiques saisis dans l’application</a:t>
            </a:r>
            <a:endParaRPr lang="en-US" sz="1600" dirty="0"/>
          </a:p>
        </p:txBody>
      </p:sp>
      <p:sp>
        <p:nvSpPr>
          <p:cNvPr id="11" name="Text 6"/>
          <p:cNvSpPr txBox="1"/>
          <p:nvPr/>
        </p:nvSpPr>
        <p:spPr>
          <a:xfrm>
            <a:off x="6629400" y="2788920"/>
            <a:ext cx="489204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A3A3C"/>
                </a:solidFill>
                <a:latin typeface="Calibri" pitchFamily="34" charset="0"/>
                <a:ea typeface="Calibri" pitchFamily="34" charset="-122"/>
                <a:cs typeface="Calibri" pitchFamily="34" charset="-120"/>
              </a:rPr>
              <a:t>OS-1 : Triage IA et aide à la décision clinique utilisé par 80 % du personnel Soins cliniques et infirmiers fin 2026 (responsable : directeur des opérations, mesure trimestrielle). OS-2 : zéro écart majeur d'audit ISO 7101.</a:t>
            </a:r>
            <a:endParaRPr lang="en-US" sz="1400" dirty="0"/>
          </a:p>
          <a:p>
            <a:pPr marL="342900" indent="-342900">
              <a:buSzPct val="100000"/>
              <a:buChar char="•"/>
            </a:pPr>
            <a:r>
              <a:rPr lang="en-US" sz="1400" dirty="0">
                <a:solidFill>
                  <a:srgbClr val="3A3A3C"/>
                </a:solidFill>
                <a:latin typeface="Calibri" pitchFamily="34" charset="0"/>
                <a:ea typeface="Calibri" pitchFamily="34" charset="-122"/>
                <a:cs typeface="Calibri" pitchFamily="34" charset="-120"/>
              </a:rPr>
              <a:t>Familles de compétences prioritaires : Triage IA et aide à la décision clinique ; Assistance IA en imagerie médicale ; conformité ISO 7101. Niveau cible 3 (Autonome) pour les encadrants.</a:t>
            </a:r>
            <a:endParaRPr lang="en-US" sz="1400" dirty="0"/>
          </a:p>
        </p:txBody>
      </p:sp>
      <p:sp>
        <p:nvSpPr>
          <p:cNvPr id="12"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COMMENT CORTEXSKILLS STRUCTURE LE TRAVAIL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Quatre niveaux, du flux de valeur jusqu’à l’étape saisie</a:t>
            </a:r>
            <a:endParaRPr lang="en-US" sz="2800" dirty="0"/>
          </a:p>
        </p:txBody>
      </p:sp>
      <p:sp>
        <p:nvSpPr>
          <p:cNvPr id="5" name="level 0"/>
          <p:cNvSpPr/>
          <p:nvPr/>
        </p:nvSpPr>
        <p:spPr>
          <a:xfrm>
            <a:off x="45720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6" name="badge workflow"/>
          <p:cNvSpPr/>
          <p:nvPr/>
        </p:nvSpPr>
        <p:spPr>
          <a:xfrm>
            <a:off x="685800" y="2011680"/>
            <a:ext cx="548640" cy="548640"/>
          </a:xfrm>
          <a:prstGeom prst="ellipse">
            <a:avLst/>
          </a:prstGeom>
          <a:solidFill>
            <a:srgbClr val="58595B"/>
          </a:solidFill>
          <a:ln w="12700">
            <a:solidFill>
              <a:srgbClr val="58595B"/>
            </a:solidFill>
            <a:prstDash val="solid"/>
          </a:ln>
        </p:spPr>
      </p:sp>
      <p:pic>
        <p:nvPicPr>
          <p:cNvPr id="7" name="Image 0" descr="workflow">    </p:cNvPr>
          <p:cNvPicPr>
            <a:picLocks noChangeAspect="1"/>
          </p:cNvPicPr>
          <p:nvPr/>
        </p:nvPicPr>
        <p:blipFill>
          <a:blip r:embed="rId1"/>
          <a:stretch>
            <a:fillRect/>
          </a:stretch>
        </p:blipFill>
        <p:spPr>
          <a:xfrm>
            <a:off x="811987" y="2137867"/>
            <a:ext cx="296266" cy="296266"/>
          </a:xfrm>
          <a:prstGeom prst="rect">
            <a:avLst/>
          </a:prstGeom>
        </p:spPr>
      </p:pic>
      <p:sp>
        <p:nvSpPr>
          <p:cNvPr id="8" name="Text 4"/>
          <p:cNvSpPr txBox="1"/>
          <p:nvPr/>
        </p:nvSpPr>
        <p:spPr>
          <a:xfrm>
            <a:off x="68580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Processus de bout en bout</a:t>
            </a:r>
            <a:endParaRPr lang="en-US" sz="1600" dirty="0"/>
          </a:p>
        </p:txBody>
      </p:sp>
      <p:sp>
        <p:nvSpPr>
          <p:cNvPr id="9" name="Text 5"/>
          <p:cNvSpPr txBox="1"/>
          <p:nvPr/>
        </p:nvSpPr>
        <p:spPr>
          <a:xfrm>
            <a:off x="68580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E2E-33 · Du questionnaire à la collecte des réponses</a:t>
            </a:r>
            <a:endParaRPr lang="en-US" sz="1300" dirty="0"/>
          </a:p>
        </p:txBody>
      </p:sp>
      <p:sp>
        <p:nvSpPr>
          <p:cNvPr id="10" name="Text 6"/>
          <p:cNvSpPr txBox="1"/>
          <p:nvPr/>
        </p:nvSpPr>
        <p:spPr>
          <a:xfrm>
            <a:off x="68580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35 exécutés dans ce cas</a:t>
            </a:r>
            <a:endParaRPr lang="en-US" sz="1200" dirty="0"/>
          </a:p>
        </p:txBody>
      </p:sp>
      <p:sp>
        <p:nvSpPr>
          <p:cNvPr id="11" name="arrow"/>
          <p:cNvSpPr/>
          <p:nvPr/>
        </p:nvSpPr>
        <p:spPr>
          <a:xfrm>
            <a:off x="3108960" y="2971800"/>
            <a:ext cx="182880" cy="274320"/>
          </a:xfrm>
          <a:prstGeom prst="rightArrow">
            <a:avLst/>
          </a:prstGeom>
          <a:solidFill>
            <a:srgbClr val="F8931D"/>
          </a:solidFill>
          <a:ln w="12700">
            <a:solidFill>
              <a:srgbClr val="F8931D"/>
            </a:solidFill>
            <a:prstDash val="solid"/>
          </a:ln>
        </p:spPr>
      </p:sp>
      <p:sp>
        <p:nvSpPr>
          <p:cNvPr id="12" name="level 1"/>
          <p:cNvSpPr/>
          <p:nvPr/>
        </p:nvSpPr>
        <p:spPr>
          <a:xfrm>
            <a:off x="333756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badge boxes"/>
          <p:cNvSpPr/>
          <p:nvPr/>
        </p:nvSpPr>
        <p:spPr>
          <a:xfrm>
            <a:off x="3566160" y="2011680"/>
            <a:ext cx="548640" cy="548640"/>
          </a:xfrm>
          <a:prstGeom prst="ellipse">
            <a:avLst/>
          </a:prstGeom>
          <a:solidFill>
            <a:srgbClr val="58595B"/>
          </a:solidFill>
          <a:ln w="12700">
            <a:solidFill>
              <a:srgbClr val="58595B"/>
            </a:solidFill>
            <a:prstDash val="solid"/>
          </a:ln>
        </p:spPr>
      </p:sp>
      <p:pic>
        <p:nvPicPr>
          <p:cNvPr id="14" name="Image 1" descr="boxes">    </p:cNvPr>
          <p:cNvPicPr>
            <a:picLocks noChangeAspect="1"/>
          </p:cNvPicPr>
          <p:nvPr/>
        </p:nvPicPr>
        <p:blipFill>
          <a:blip r:embed="rId2"/>
          <a:stretch>
            <a:fillRect/>
          </a:stretch>
        </p:blipFill>
        <p:spPr>
          <a:xfrm>
            <a:off x="3692347" y="2137867"/>
            <a:ext cx="296266" cy="296266"/>
          </a:xfrm>
          <a:prstGeom prst="rect">
            <a:avLst/>
          </a:prstGeom>
        </p:spPr>
      </p:pic>
      <p:sp>
        <p:nvSpPr>
          <p:cNvPr id="15" name="Text 10"/>
          <p:cNvSpPr txBox="1"/>
          <p:nvPr/>
        </p:nvSpPr>
        <p:spPr>
          <a:xfrm>
            <a:off x="356616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Macro-processus</a:t>
            </a:r>
            <a:endParaRPr lang="en-US" sz="1600" dirty="0"/>
          </a:p>
        </p:txBody>
      </p:sp>
      <p:sp>
        <p:nvSpPr>
          <p:cNvPr id="16" name="Text 11"/>
          <p:cNvSpPr txBox="1"/>
          <p:nvPr/>
        </p:nvSpPr>
        <p:spPr>
          <a:xfrm>
            <a:off x="356616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MP-54 · Conception, diffusion du questionnaire et collecte des réponses</a:t>
            </a:r>
            <a:endParaRPr lang="en-US" sz="1300" dirty="0"/>
          </a:p>
        </p:txBody>
      </p:sp>
      <p:sp>
        <p:nvSpPr>
          <p:cNvPr id="17" name="Text 12"/>
          <p:cNvSpPr txBox="1"/>
          <p:nvPr/>
        </p:nvSpPr>
        <p:spPr>
          <a:xfrm>
            <a:off x="356616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53 mobilisés</a:t>
            </a:r>
            <a:endParaRPr lang="en-US" sz="1200" dirty="0"/>
          </a:p>
        </p:txBody>
      </p:sp>
      <p:sp>
        <p:nvSpPr>
          <p:cNvPr id="18" name="arrow"/>
          <p:cNvSpPr/>
          <p:nvPr/>
        </p:nvSpPr>
        <p:spPr>
          <a:xfrm>
            <a:off x="5989320" y="2971800"/>
            <a:ext cx="182880" cy="274320"/>
          </a:xfrm>
          <a:prstGeom prst="rightArrow">
            <a:avLst/>
          </a:prstGeom>
          <a:solidFill>
            <a:srgbClr val="F8931D"/>
          </a:solidFill>
          <a:ln w="12700">
            <a:solidFill>
              <a:srgbClr val="F8931D"/>
            </a:solidFill>
            <a:prstDash val="solid"/>
          </a:ln>
        </p:spPr>
      </p:sp>
      <p:sp>
        <p:nvSpPr>
          <p:cNvPr id="19" name="level 2"/>
          <p:cNvSpPr/>
          <p:nvPr/>
        </p:nvSpPr>
        <p:spPr>
          <a:xfrm>
            <a:off x="621792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0" name="badge list-checks"/>
          <p:cNvSpPr/>
          <p:nvPr/>
        </p:nvSpPr>
        <p:spPr>
          <a:xfrm>
            <a:off x="6446520" y="2011680"/>
            <a:ext cx="548640" cy="548640"/>
          </a:xfrm>
          <a:prstGeom prst="ellipse">
            <a:avLst/>
          </a:prstGeom>
          <a:solidFill>
            <a:srgbClr val="58595B"/>
          </a:solidFill>
          <a:ln w="12700">
            <a:solidFill>
              <a:srgbClr val="58595B"/>
            </a:solidFill>
            <a:prstDash val="solid"/>
          </a:ln>
        </p:spPr>
      </p:sp>
      <p:pic>
        <p:nvPicPr>
          <p:cNvPr id="21" name="Image 2" descr="list-checks">    </p:cNvPr>
          <p:cNvPicPr>
            <a:picLocks noChangeAspect="1"/>
          </p:cNvPicPr>
          <p:nvPr/>
        </p:nvPicPr>
        <p:blipFill>
          <a:blip r:embed="rId3"/>
          <a:stretch>
            <a:fillRect/>
          </a:stretch>
        </p:blipFill>
        <p:spPr>
          <a:xfrm>
            <a:off x="6572707" y="2137867"/>
            <a:ext cx="296266" cy="296266"/>
          </a:xfrm>
          <a:prstGeom prst="rect">
            <a:avLst/>
          </a:prstGeom>
        </p:spPr>
      </p:pic>
      <p:sp>
        <p:nvSpPr>
          <p:cNvPr id="22" name="Text 16"/>
          <p:cNvSpPr txBox="1"/>
          <p:nvPr/>
        </p:nvSpPr>
        <p:spPr>
          <a:xfrm>
            <a:off x="644652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Tâche</a:t>
            </a:r>
            <a:endParaRPr lang="en-US" sz="1600" dirty="0"/>
          </a:p>
        </p:txBody>
      </p:sp>
      <p:sp>
        <p:nvSpPr>
          <p:cNvPr id="23" name="Text 17"/>
          <p:cNvSpPr txBox="1"/>
          <p:nvPr/>
        </p:nvSpPr>
        <p:spPr>
          <a:xfrm>
            <a:off x="644652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UFT-33-04 · Affecter le RACSI</a:t>
            </a:r>
            <a:endParaRPr lang="en-US" sz="1300" dirty="0"/>
          </a:p>
        </p:txBody>
      </p:sp>
      <p:sp>
        <p:nvSpPr>
          <p:cNvPr id="24" name="Text 18"/>
          <p:cNvSpPr txBox="1"/>
          <p:nvPr/>
        </p:nvSpPr>
        <p:spPr>
          <a:xfrm>
            <a:off x="644652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265 terminées</a:t>
            </a:r>
            <a:endParaRPr lang="en-US" sz="1200" dirty="0"/>
          </a:p>
        </p:txBody>
      </p:sp>
      <p:sp>
        <p:nvSpPr>
          <p:cNvPr id="25" name="arrow"/>
          <p:cNvSpPr/>
          <p:nvPr/>
        </p:nvSpPr>
        <p:spPr>
          <a:xfrm>
            <a:off x="8869680" y="2971800"/>
            <a:ext cx="182880" cy="274320"/>
          </a:xfrm>
          <a:prstGeom prst="rightArrow">
            <a:avLst/>
          </a:prstGeom>
          <a:solidFill>
            <a:srgbClr val="F8931D"/>
          </a:solidFill>
          <a:ln w="12700">
            <a:solidFill>
              <a:srgbClr val="F8931D"/>
            </a:solidFill>
            <a:prstDash val="solid"/>
          </a:ln>
        </p:spPr>
      </p:sp>
      <p:sp>
        <p:nvSpPr>
          <p:cNvPr id="26" name="level 3"/>
          <p:cNvSpPr/>
          <p:nvPr/>
        </p:nvSpPr>
        <p:spPr>
          <a:xfrm>
            <a:off x="9098280" y="1783080"/>
            <a:ext cx="2606040" cy="2651760"/>
          </a:xfrm>
          <a:prstGeom prst="roundRect">
            <a:avLst>
              <a:gd name="adj" fmla="val 2807"/>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7" name="badge square-pen"/>
          <p:cNvSpPr/>
          <p:nvPr/>
        </p:nvSpPr>
        <p:spPr>
          <a:xfrm>
            <a:off x="9326880" y="2011680"/>
            <a:ext cx="548640" cy="548640"/>
          </a:xfrm>
          <a:prstGeom prst="ellipse">
            <a:avLst/>
          </a:prstGeom>
          <a:solidFill>
            <a:srgbClr val="F8931D"/>
          </a:solidFill>
          <a:ln w="12700">
            <a:solidFill>
              <a:srgbClr val="F8931D"/>
            </a:solidFill>
            <a:prstDash val="solid"/>
          </a:ln>
        </p:spPr>
      </p:sp>
      <p:pic>
        <p:nvPicPr>
          <p:cNvPr id="28" name="Image 3" descr="square-pen">    </p:cNvPr>
          <p:cNvPicPr>
            <a:picLocks noChangeAspect="1"/>
          </p:cNvPicPr>
          <p:nvPr/>
        </p:nvPicPr>
        <p:blipFill>
          <a:blip r:embed="rId4"/>
          <a:stretch>
            <a:fillRect/>
          </a:stretch>
        </p:blipFill>
        <p:spPr>
          <a:xfrm>
            <a:off x="9453067" y="2137867"/>
            <a:ext cx="296266" cy="296266"/>
          </a:xfrm>
          <a:prstGeom prst="rect">
            <a:avLst/>
          </a:prstGeom>
        </p:spPr>
      </p:pic>
      <p:sp>
        <p:nvSpPr>
          <p:cNvPr id="29" name="Text 22"/>
          <p:cNvSpPr txBox="1"/>
          <p:nvPr/>
        </p:nvSpPr>
        <p:spPr>
          <a:xfrm>
            <a:off x="9326880" y="2670048"/>
            <a:ext cx="2194560" cy="365760"/>
          </a:xfrm>
          <a:prstGeom prst="rect">
            <a:avLst/>
          </a:prstGeom>
          <a:noFill/>
          <a:ln/>
        </p:spPr>
        <p:txBody>
          <a:bodyPr wrap="square" lIns="0" tIns="0" rIns="0" bIns="0" rtlCol="0" anchor="ctr"/>
          <a:lstStyle/>
          <a:p>
            <a:pPr indent="0" marL="0">
              <a:buNone/>
            </a:pPr>
            <a:r>
              <a:rPr lang="en-US" sz="1600" b="1" dirty="0">
                <a:solidFill>
                  <a:srgbClr val="3A3A3C"/>
                </a:solidFill>
                <a:latin typeface="Cambria" pitchFamily="34" charset="0"/>
                <a:ea typeface="Cambria" pitchFamily="34" charset="-122"/>
                <a:cs typeface="Cambria" pitchFamily="34" charset="-120"/>
              </a:rPr>
              <a:t>Étape</a:t>
            </a:r>
            <a:endParaRPr lang="en-US" sz="1600" dirty="0"/>
          </a:p>
        </p:txBody>
      </p:sp>
      <p:sp>
        <p:nvSpPr>
          <p:cNvPr id="30" name="Text 23"/>
          <p:cNvSpPr txBox="1"/>
          <p:nvPr/>
        </p:nvSpPr>
        <p:spPr>
          <a:xfrm>
            <a:off x="9326880" y="3063240"/>
            <a:ext cx="21945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MP-54.4 · Affecter le RACSI par section</a:t>
            </a:r>
            <a:endParaRPr lang="en-US" sz="1300" dirty="0"/>
          </a:p>
        </p:txBody>
      </p:sp>
      <p:sp>
        <p:nvSpPr>
          <p:cNvPr id="31" name="Text 24"/>
          <p:cNvSpPr txBox="1"/>
          <p:nvPr/>
        </p:nvSpPr>
        <p:spPr>
          <a:xfrm>
            <a:off x="9326880" y="3931920"/>
            <a:ext cx="219456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463 exécutées</a:t>
            </a:r>
            <a:endParaRPr lang="en-US" sz="1200" dirty="0"/>
          </a:p>
        </p:txBody>
      </p:sp>
      <p:sp>
        <p:nvSpPr>
          <p:cNvPr id="32" name="entered"/>
          <p:cNvSpPr/>
          <p:nvPr/>
        </p:nvSpPr>
        <p:spPr>
          <a:xfrm>
            <a:off x="457200" y="4663440"/>
            <a:ext cx="11274552" cy="1463040"/>
          </a:xfrm>
          <a:prstGeom prst="roundRect">
            <a:avLst>
              <a:gd name="adj" fmla="val 5000"/>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33" name="Text 26"/>
          <p:cNvSpPr txBox="1"/>
          <p:nvPr/>
        </p:nvSpPr>
        <p:spPr>
          <a:xfrm>
            <a:off x="731520" y="4773168"/>
            <a:ext cx="5486400" cy="320040"/>
          </a:xfrm>
          <a:prstGeom prst="rect">
            <a:avLst/>
          </a:prstGeom>
          <a:noFill/>
          <a:ln/>
        </p:spPr>
        <p:txBody>
          <a:bodyPr wrap="square" lIns="0" tIns="0" rIns="0" bIns="0" rtlCol="0" anchor="ctr"/>
          <a:lstStyle/>
          <a:p>
            <a:pPr indent="0" marL="0">
              <a:buNone/>
            </a:pPr>
            <a:r>
              <a:rPr lang="en-US" sz="1200" b="1" dirty="0">
                <a:solidFill>
                  <a:srgbClr val="E07B00"/>
                </a:solidFill>
                <a:latin typeface="Calibri" pitchFamily="34" charset="0"/>
                <a:ea typeface="Calibri" pitchFamily="34" charset="-122"/>
                <a:cs typeface="Calibri" pitchFamily="34" charset="-120"/>
              </a:rPr>
              <a:t>Ce qui a été saisi à cette étape</a:t>
            </a:r>
            <a:endParaRPr lang="en-US" sz="1200" dirty="0"/>
          </a:p>
        </p:txBody>
      </p:sp>
      <p:sp>
        <p:nvSpPr>
          <p:cNvPr id="34" name="Text 27"/>
          <p:cNvSpPr txBox="1"/>
          <p:nvPr/>
        </p:nvSpPr>
        <p:spPr>
          <a:xfrm>
            <a:off x="731520" y="5102352"/>
            <a:ext cx="6766560" cy="868680"/>
          </a:xfrm>
          <a:prstGeom prst="rect">
            <a:avLst/>
          </a:prstGeom>
          <a:noFill/>
          <a:ln/>
        </p:spPr>
        <p:txBody>
          <a:bodyPr wrap="square" lIns="0" tIns="0" rIns="0" bIns="0" rtlCol="0" anchor="t"/>
          <a:lstStyle/>
          <a:p>
            <a:pPr indent="0" marL="0">
              <a:buNone/>
            </a:pPr>
            <a:r>
              <a:rPr lang="en-US" sz="1400" dirty="0">
                <a:solidFill>
                  <a:srgbClr val="3A3A3C"/>
                </a:solidFill>
                <a:latin typeface="Calibri" pitchFamily="34" charset="0"/>
                <a:ea typeface="Calibri" pitchFamily="34" charset="-122"/>
                <a:cs typeface="Calibri" pitchFamily="34" charset="-120"/>
              </a:rPr>
              <a:t>Section « Pratiques numériques » : R analyste formation, A responsable formation, C consultant, S DSI, I DRH (un seul A).</a:t>
            </a:r>
            <a:endParaRPr lang="en-US" sz="1400" dirty="0"/>
          </a:p>
        </p:txBody>
      </p:sp>
      <p:sp>
        <p:nvSpPr>
          <p:cNvPr id="35" name="Text 28"/>
          <p:cNvSpPr txBox="1"/>
          <p:nvPr/>
        </p:nvSpPr>
        <p:spPr>
          <a:xfrm>
            <a:off x="7498080" y="4800600"/>
            <a:ext cx="4023360" cy="1188720"/>
          </a:xfrm>
          <a:prstGeom prst="rect">
            <a:avLst/>
          </a:prstGeom>
          <a:noFill/>
          <a:ln/>
        </p:spPr>
        <p:txBody>
          <a:bodyPr wrap="square" lIns="0" tIns="0" rIns="0" bIns="0" rtlCol="0" anchor="t"/>
          <a:lstStyle/>
          <a:p>
            <a:pPr indent="0" marL="0">
              <a:buNone/>
            </a:pPr>
            <a:r>
              <a:rPr lang="en-US" sz="1300" b="1" dirty="0">
                <a:solidFill>
                  <a:srgbClr val="58595B"/>
                </a:solidFill>
                <a:latin typeface="Calibri" pitchFamily="34" charset="0"/>
                <a:ea typeface="Calibri" pitchFamily="34" charset="-122"/>
                <a:cs typeface="Calibri" pitchFamily="34" charset="-120"/>
              </a:rPr>
              <a:t>Chaque étape se remplit de trois façons : </a:t>
            </a:r>
            <a:pPr indent="0" marL="0">
              <a:buNone/>
            </a:pPr>
            <a:r>
              <a:rPr lang="en-US" sz="1300" dirty="0">
                <a:solidFill>
                  <a:srgbClr val="58595B"/>
                </a:solidFill>
                <a:latin typeface="Calibri" pitchFamily="34" charset="0"/>
                <a:ea typeface="Calibri" pitchFamily="34" charset="-122"/>
                <a:cs typeface="Calibri" pitchFamily="34" charset="-120"/>
              </a:rPr>
              <a:t>saisie ou collée, chargée depuis un modèle, ou proposée par l’IA et validée par une personne.</a:t>
            </a:r>
            <a:endParaRPr lang="en-US" sz="1300" dirty="0"/>
          </a:p>
        </p:txBody>
      </p:sp>
      <p:sp>
        <p:nvSpPr>
          <p:cNvPr id="3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LE PARCOURS DU PROJET</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Six phases fermées par des jalons d’approbation, avec des catalyseurs tout au long</a:t>
            </a:r>
            <a:endParaRPr lang="en-US" sz="2800" dirty="0"/>
          </a:p>
        </p:txBody>
      </p:sp>
      <p:sp>
        <p:nvSpPr>
          <p:cNvPr id="5" name="phase 1"/>
          <p:cNvSpPr/>
          <p:nvPr/>
        </p:nvSpPr>
        <p:spPr>
          <a:xfrm>
            <a:off x="502920"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6" name="phase number"/>
          <p:cNvSpPr/>
          <p:nvPr/>
        </p:nvSpPr>
        <p:spPr>
          <a:xfrm>
            <a:off x="685800" y="1965960"/>
            <a:ext cx="548640" cy="548640"/>
          </a:xfrm>
          <a:prstGeom prst="ellipse">
            <a:avLst/>
          </a:prstGeom>
          <a:solidFill>
            <a:srgbClr val="F8931D"/>
          </a:solidFill>
          <a:ln w="12700">
            <a:solidFill>
              <a:srgbClr val="F8931D"/>
            </a:solidFill>
            <a:prstDash val="solid"/>
          </a:ln>
        </p:spPr>
      </p:sp>
      <p:sp>
        <p:nvSpPr>
          <p:cNvPr id="7" name="Text 4"/>
          <p:cNvSpPr txBox="1"/>
          <p:nvPr/>
        </p:nvSpPr>
        <p:spPr>
          <a:xfrm>
            <a:off x="68580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685800"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Périmètre et collecte de preuves</a:t>
            </a:r>
            <a:endParaRPr lang="en-US" sz="1300" dirty="0"/>
          </a:p>
        </p:txBody>
      </p:sp>
      <p:sp>
        <p:nvSpPr>
          <p:cNvPr id="9" name="Text 6"/>
          <p:cNvSpPr txBox="1"/>
          <p:nvPr/>
        </p:nvSpPr>
        <p:spPr>
          <a:xfrm>
            <a:off x="685800"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E2E-32 · E2E-33 · E2E-19 · E2E-24</a:t>
            </a:r>
            <a:endParaRPr lang="en-US" sz="1100" dirty="0"/>
          </a:p>
        </p:txBody>
      </p:sp>
      <p:sp>
        <p:nvSpPr>
          <p:cNvPr id="10" name="Text 7"/>
          <p:cNvSpPr txBox="1"/>
          <p:nvPr/>
        </p:nvSpPr>
        <p:spPr>
          <a:xfrm>
            <a:off x="685800"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4 processus · 37 tâches</a:t>
            </a:r>
            <a:endParaRPr lang="en-US" sz="1100" dirty="0"/>
          </a:p>
        </p:txBody>
      </p:sp>
      <p:sp>
        <p:nvSpPr>
          <p:cNvPr id="11" name="Text 8"/>
          <p:cNvSpPr txBox="1"/>
          <p:nvPr/>
        </p:nvSpPr>
        <p:spPr>
          <a:xfrm>
            <a:off x="685800"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G1 — Périmètre et preuves approuvés</a:t>
            </a:r>
            <a:endParaRPr lang="en-US" sz="1000" dirty="0"/>
          </a:p>
        </p:txBody>
      </p:sp>
      <p:sp>
        <p:nvSpPr>
          <p:cNvPr id="12" name="phase 2"/>
          <p:cNvSpPr/>
          <p:nvPr/>
        </p:nvSpPr>
        <p:spPr>
          <a:xfrm>
            <a:off x="2382012"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phase number"/>
          <p:cNvSpPr/>
          <p:nvPr/>
        </p:nvSpPr>
        <p:spPr>
          <a:xfrm>
            <a:off x="2564892" y="1965960"/>
            <a:ext cx="548640" cy="548640"/>
          </a:xfrm>
          <a:prstGeom prst="ellipse">
            <a:avLst/>
          </a:prstGeom>
          <a:solidFill>
            <a:srgbClr val="F8931D"/>
          </a:solidFill>
          <a:ln w="12700">
            <a:solidFill>
              <a:srgbClr val="F8931D"/>
            </a:solidFill>
            <a:prstDash val="solid"/>
          </a:ln>
        </p:spPr>
      </p:sp>
      <p:sp>
        <p:nvSpPr>
          <p:cNvPr id="14" name="Text 11"/>
          <p:cNvSpPr txBox="1"/>
          <p:nvPr/>
        </p:nvSpPr>
        <p:spPr>
          <a:xfrm>
            <a:off x="2564892"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2"/>
          <p:cNvSpPr txBox="1"/>
          <p:nvPr/>
        </p:nvSpPr>
        <p:spPr>
          <a:xfrm>
            <a:off x="2564892"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Diagnostic</a:t>
            </a:r>
            <a:endParaRPr lang="en-US" sz="1300" dirty="0"/>
          </a:p>
        </p:txBody>
      </p:sp>
      <p:sp>
        <p:nvSpPr>
          <p:cNvPr id="16" name="Text 13"/>
          <p:cNvSpPr txBox="1"/>
          <p:nvPr/>
        </p:nvSpPr>
        <p:spPr>
          <a:xfrm>
            <a:off x="2564892"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E2E-20 · E2E-25 · E2E-26 · E2E-27 · E2E-28 · E2E-29 · E2E-02 · E2E-21</a:t>
            </a:r>
            <a:endParaRPr lang="en-US" sz="1100" dirty="0"/>
          </a:p>
        </p:txBody>
      </p:sp>
      <p:sp>
        <p:nvSpPr>
          <p:cNvPr id="17" name="Text 14"/>
          <p:cNvSpPr txBox="1"/>
          <p:nvPr/>
        </p:nvSpPr>
        <p:spPr>
          <a:xfrm>
            <a:off x="2564892"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8 processus · 62 tâches</a:t>
            </a:r>
            <a:endParaRPr lang="en-US" sz="1100" dirty="0"/>
          </a:p>
        </p:txBody>
      </p:sp>
      <p:sp>
        <p:nvSpPr>
          <p:cNvPr id="18" name="Text 15"/>
          <p:cNvSpPr txBox="1"/>
          <p:nvPr/>
        </p:nvSpPr>
        <p:spPr>
          <a:xfrm>
            <a:off x="2564892"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G2 — Diagnostic validé</a:t>
            </a:r>
            <a:endParaRPr lang="en-US" sz="1000" dirty="0"/>
          </a:p>
        </p:txBody>
      </p:sp>
      <p:sp>
        <p:nvSpPr>
          <p:cNvPr id="19" name="phase 3"/>
          <p:cNvSpPr/>
          <p:nvPr/>
        </p:nvSpPr>
        <p:spPr>
          <a:xfrm>
            <a:off x="4261104"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0" name="phase number"/>
          <p:cNvSpPr/>
          <p:nvPr/>
        </p:nvSpPr>
        <p:spPr>
          <a:xfrm>
            <a:off x="4443984" y="1965960"/>
            <a:ext cx="548640" cy="548640"/>
          </a:xfrm>
          <a:prstGeom prst="ellipse">
            <a:avLst/>
          </a:prstGeom>
          <a:solidFill>
            <a:srgbClr val="F8931D"/>
          </a:solidFill>
          <a:ln w="12700">
            <a:solidFill>
              <a:srgbClr val="F8931D"/>
            </a:solidFill>
            <a:prstDash val="solid"/>
          </a:ln>
        </p:spPr>
      </p:sp>
      <p:sp>
        <p:nvSpPr>
          <p:cNvPr id="21" name="Text 18"/>
          <p:cNvSpPr txBox="1"/>
          <p:nvPr/>
        </p:nvSpPr>
        <p:spPr>
          <a:xfrm>
            <a:off x="4443984"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2" name="Text 19"/>
          <p:cNvSpPr txBox="1"/>
          <p:nvPr/>
        </p:nvSpPr>
        <p:spPr>
          <a:xfrm>
            <a:off x="4443984"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Rapport d'ingénierie de formation et plan</a:t>
            </a:r>
            <a:endParaRPr lang="en-US" sz="1300" dirty="0"/>
          </a:p>
        </p:txBody>
      </p:sp>
      <p:sp>
        <p:nvSpPr>
          <p:cNvPr id="23" name="Text 20"/>
          <p:cNvSpPr txBox="1"/>
          <p:nvPr/>
        </p:nvSpPr>
        <p:spPr>
          <a:xfrm>
            <a:off x="4443984"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E2E-01 · E2E-03 · E2E-30 · E2E-22 · E2E-23 · E2E-16 · HCPR-E2E-02</a:t>
            </a:r>
            <a:endParaRPr lang="en-US" sz="1100" dirty="0"/>
          </a:p>
        </p:txBody>
      </p:sp>
      <p:sp>
        <p:nvSpPr>
          <p:cNvPr id="24" name="Text 21"/>
          <p:cNvSpPr txBox="1"/>
          <p:nvPr/>
        </p:nvSpPr>
        <p:spPr>
          <a:xfrm>
            <a:off x="4443984"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7 processus · 50 tâches</a:t>
            </a:r>
            <a:endParaRPr lang="en-US" sz="1100" dirty="0"/>
          </a:p>
        </p:txBody>
      </p:sp>
      <p:sp>
        <p:nvSpPr>
          <p:cNvPr id="25" name="Text 22"/>
          <p:cNvSpPr txBox="1"/>
          <p:nvPr/>
        </p:nvSpPr>
        <p:spPr>
          <a:xfrm>
            <a:off x="4443984"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G3 — Rapport et feuille de route approuvés</a:t>
            </a:r>
            <a:endParaRPr lang="en-US" sz="1000" dirty="0"/>
          </a:p>
        </p:txBody>
      </p:sp>
      <p:sp>
        <p:nvSpPr>
          <p:cNvPr id="26" name="phase 4"/>
          <p:cNvSpPr/>
          <p:nvPr/>
        </p:nvSpPr>
        <p:spPr>
          <a:xfrm>
            <a:off x="6140196"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7" name="phase number"/>
          <p:cNvSpPr/>
          <p:nvPr/>
        </p:nvSpPr>
        <p:spPr>
          <a:xfrm>
            <a:off x="6323076" y="1965960"/>
            <a:ext cx="548640" cy="548640"/>
          </a:xfrm>
          <a:prstGeom prst="ellipse">
            <a:avLst/>
          </a:prstGeom>
          <a:solidFill>
            <a:srgbClr val="F8931D"/>
          </a:solidFill>
          <a:ln w="12700">
            <a:solidFill>
              <a:srgbClr val="F8931D"/>
            </a:solidFill>
            <a:prstDash val="solid"/>
          </a:ln>
        </p:spPr>
      </p:sp>
      <p:sp>
        <p:nvSpPr>
          <p:cNvPr id="28" name="Text 25"/>
          <p:cNvSpPr txBox="1"/>
          <p:nvPr/>
        </p:nvSpPr>
        <p:spPr>
          <a:xfrm>
            <a:off x="6323076"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9" name="Text 26"/>
          <p:cNvSpPr txBox="1"/>
          <p:nvPr/>
        </p:nvSpPr>
        <p:spPr>
          <a:xfrm>
            <a:off x="6323076"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Conception et déploiement</a:t>
            </a:r>
            <a:endParaRPr lang="en-US" sz="1300" dirty="0"/>
          </a:p>
        </p:txBody>
      </p:sp>
      <p:sp>
        <p:nvSpPr>
          <p:cNvPr id="30" name="Text 27"/>
          <p:cNvSpPr txBox="1"/>
          <p:nvPr/>
        </p:nvSpPr>
        <p:spPr>
          <a:xfrm>
            <a:off x="6323076"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E2E-04 · E2E-05 · E2E-06 · E2E-13 · E2E-14</a:t>
            </a:r>
            <a:endParaRPr lang="en-US" sz="1100" dirty="0"/>
          </a:p>
        </p:txBody>
      </p:sp>
      <p:sp>
        <p:nvSpPr>
          <p:cNvPr id="31" name="Text 28"/>
          <p:cNvSpPr txBox="1"/>
          <p:nvPr/>
        </p:nvSpPr>
        <p:spPr>
          <a:xfrm>
            <a:off x="6323076"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5 processus · 39 tâches</a:t>
            </a:r>
            <a:endParaRPr lang="en-US" sz="1100" dirty="0"/>
          </a:p>
        </p:txBody>
      </p:sp>
      <p:sp>
        <p:nvSpPr>
          <p:cNvPr id="32" name="Text 29"/>
          <p:cNvSpPr txBox="1"/>
          <p:nvPr/>
        </p:nvSpPr>
        <p:spPr>
          <a:xfrm>
            <a:off x="6323076"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G4 — Prêt pour le déploiement</a:t>
            </a:r>
            <a:endParaRPr lang="en-US" sz="1000" dirty="0"/>
          </a:p>
        </p:txBody>
      </p:sp>
      <p:sp>
        <p:nvSpPr>
          <p:cNvPr id="33" name="phase 5"/>
          <p:cNvSpPr/>
          <p:nvPr/>
        </p:nvSpPr>
        <p:spPr>
          <a:xfrm>
            <a:off x="8019288"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34" name="phase number"/>
          <p:cNvSpPr/>
          <p:nvPr/>
        </p:nvSpPr>
        <p:spPr>
          <a:xfrm>
            <a:off x="8202168" y="1965960"/>
            <a:ext cx="548640" cy="548640"/>
          </a:xfrm>
          <a:prstGeom prst="ellipse">
            <a:avLst/>
          </a:prstGeom>
          <a:solidFill>
            <a:srgbClr val="F8931D"/>
          </a:solidFill>
          <a:ln w="12700">
            <a:solidFill>
              <a:srgbClr val="F8931D"/>
            </a:solidFill>
            <a:prstDash val="solid"/>
          </a:ln>
        </p:spPr>
      </p:sp>
      <p:sp>
        <p:nvSpPr>
          <p:cNvPr id="35" name="Text 32"/>
          <p:cNvSpPr txBox="1"/>
          <p:nvPr/>
        </p:nvSpPr>
        <p:spPr>
          <a:xfrm>
            <a:off x="8202168"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6" name="Text 33"/>
          <p:cNvSpPr txBox="1"/>
          <p:nvPr/>
        </p:nvSpPr>
        <p:spPr>
          <a:xfrm>
            <a:off x="8202168"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Évaluation, conformité et impact</a:t>
            </a:r>
            <a:endParaRPr lang="en-US" sz="1300" dirty="0"/>
          </a:p>
        </p:txBody>
      </p:sp>
      <p:sp>
        <p:nvSpPr>
          <p:cNvPr id="37" name="Text 34"/>
          <p:cNvSpPr txBox="1"/>
          <p:nvPr/>
        </p:nvSpPr>
        <p:spPr>
          <a:xfrm>
            <a:off x="8202168"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E2E-07 · E2E-08 · E2E-09 · HCPR-E2E-01</a:t>
            </a:r>
            <a:endParaRPr lang="en-US" sz="1100" dirty="0"/>
          </a:p>
        </p:txBody>
      </p:sp>
      <p:sp>
        <p:nvSpPr>
          <p:cNvPr id="38" name="Text 35"/>
          <p:cNvSpPr txBox="1"/>
          <p:nvPr/>
        </p:nvSpPr>
        <p:spPr>
          <a:xfrm>
            <a:off x="8202168"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4 processus · 26 tâches</a:t>
            </a:r>
            <a:endParaRPr lang="en-US" sz="1100" dirty="0"/>
          </a:p>
        </p:txBody>
      </p:sp>
      <p:sp>
        <p:nvSpPr>
          <p:cNvPr id="39" name="Text 36"/>
          <p:cNvSpPr txBox="1"/>
          <p:nvPr/>
        </p:nvSpPr>
        <p:spPr>
          <a:xfrm>
            <a:off x="8202168"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G5 — Évaluation et impact validés</a:t>
            </a:r>
            <a:endParaRPr lang="en-US" sz="1000" dirty="0"/>
          </a:p>
        </p:txBody>
      </p:sp>
      <p:sp>
        <p:nvSpPr>
          <p:cNvPr id="40" name="phase 6"/>
          <p:cNvSpPr/>
          <p:nvPr/>
        </p:nvSpPr>
        <p:spPr>
          <a:xfrm>
            <a:off x="9898380" y="1783080"/>
            <a:ext cx="1741932" cy="3337560"/>
          </a:xfrm>
          <a:prstGeom prst="roundRect">
            <a:avLst>
              <a:gd name="adj" fmla="val 41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41" name="phase number"/>
          <p:cNvSpPr/>
          <p:nvPr/>
        </p:nvSpPr>
        <p:spPr>
          <a:xfrm>
            <a:off x="10081260" y="1965960"/>
            <a:ext cx="548640" cy="548640"/>
          </a:xfrm>
          <a:prstGeom prst="ellipse">
            <a:avLst/>
          </a:prstGeom>
          <a:solidFill>
            <a:srgbClr val="F8931D"/>
          </a:solidFill>
          <a:ln w="12700">
            <a:solidFill>
              <a:srgbClr val="F8931D"/>
            </a:solidFill>
            <a:prstDash val="solid"/>
          </a:ln>
        </p:spPr>
      </p:sp>
      <p:sp>
        <p:nvSpPr>
          <p:cNvPr id="42" name="Text 39"/>
          <p:cNvSpPr txBox="1"/>
          <p:nvPr/>
        </p:nvSpPr>
        <p:spPr>
          <a:xfrm>
            <a:off x="10081260" y="1965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3" name="Text 40"/>
          <p:cNvSpPr txBox="1"/>
          <p:nvPr/>
        </p:nvSpPr>
        <p:spPr>
          <a:xfrm>
            <a:off x="10081260" y="2606040"/>
            <a:ext cx="1513332" cy="914400"/>
          </a:xfrm>
          <a:prstGeom prst="rect">
            <a:avLst/>
          </a:prstGeom>
          <a:noFill/>
          <a:ln/>
        </p:spPr>
        <p:txBody>
          <a:bodyPr wrap="square" lIns="0" tIns="0" rIns="0" bIns="0" rtlCol="0" anchor="t"/>
          <a:lstStyle/>
          <a:p>
            <a:pPr indent="0" marL="0">
              <a:buNone/>
            </a:pPr>
            <a:r>
              <a:rPr lang="en-US" sz="1300" b="1" dirty="0">
                <a:solidFill>
                  <a:srgbClr val="3A3A3C"/>
                </a:solidFill>
                <a:latin typeface="Cambria" pitchFamily="34" charset="0"/>
                <a:ea typeface="Cambria" pitchFamily="34" charset="-122"/>
                <a:cs typeface="Cambria" pitchFamily="34" charset="-120"/>
              </a:rPr>
              <a:t>Talents, savoirs et amélioration continue</a:t>
            </a:r>
            <a:endParaRPr lang="en-US" sz="1300" dirty="0"/>
          </a:p>
        </p:txBody>
      </p:sp>
      <p:sp>
        <p:nvSpPr>
          <p:cNvPr id="44" name="Text 41"/>
          <p:cNvSpPr txBox="1"/>
          <p:nvPr/>
        </p:nvSpPr>
        <p:spPr>
          <a:xfrm>
            <a:off x="10081260" y="3547872"/>
            <a:ext cx="1421892" cy="640080"/>
          </a:xfrm>
          <a:prstGeom prst="rect">
            <a:avLst/>
          </a:prstGeom>
          <a:noFill/>
          <a:ln/>
        </p:spPr>
        <p:txBody>
          <a:bodyPr wrap="square" lIns="0" tIns="0" rIns="0" bIns="0" rtlCol="0" anchor="t"/>
          <a:lstStyle/>
          <a:p>
            <a:pPr indent="0" marL="0">
              <a:buNone/>
            </a:pPr>
            <a:r>
              <a:rPr lang="en-US" sz="1100" dirty="0">
                <a:solidFill>
                  <a:srgbClr val="58595B"/>
                </a:solidFill>
                <a:latin typeface="Calibri" pitchFamily="34" charset="0"/>
                <a:ea typeface="Calibri" pitchFamily="34" charset="-122"/>
                <a:cs typeface="Calibri" pitchFamily="34" charset="-120"/>
              </a:rPr>
              <a:t>E2E-10 · E2E-11 · E2E-12 · E2E-31</a:t>
            </a:r>
            <a:endParaRPr lang="en-US" sz="1100" dirty="0"/>
          </a:p>
        </p:txBody>
      </p:sp>
      <p:sp>
        <p:nvSpPr>
          <p:cNvPr id="45" name="Text 42"/>
          <p:cNvSpPr txBox="1"/>
          <p:nvPr/>
        </p:nvSpPr>
        <p:spPr>
          <a:xfrm>
            <a:off x="10081260" y="4206240"/>
            <a:ext cx="1421892" cy="274320"/>
          </a:xfrm>
          <a:prstGeom prst="rect">
            <a:avLst/>
          </a:prstGeom>
          <a:noFill/>
          <a:ln/>
        </p:spPr>
        <p:txBody>
          <a:bodyPr wrap="square" lIns="0" tIns="0" rIns="0" bIns="0" rtlCol="0" anchor="ctr"/>
          <a:lstStyle/>
          <a:p>
            <a:pPr indent="0" marL="0">
              <a:buNone/>
            </a:pPr>
            <a:r>
              <a:rPr lang="en-US" sz="1100" b="1" dirty="0">
                <a:solidFill>
                  <a:srgbClr val="E07B00"/>
                </a:solidFill>
                <a:latin typeface="Calibri" pitchFamily="34" charset="0"/>
                <a:ea typeface="Calibri" pitchFamily="34" charset="-122"/>
                <a:cs typeface="Calibri" pitchFamily="34" charset="-120"/>
              </a:rPr>
              <a:t>4 processus · 30 tâches</a:t>
            </a:r>
            <a:endParaRPr lang="en-US" sz="1100" dirty="0"/>
          </a:p>
        </p:txBody>
      </p:sp>
      <p:sp>
        <p:nvSpPr>
          <p:cNvPr id="46" name="Text 43"/>
          <p:cNvSpPr txBox="1"/>
          <p:nvPr/>
        </p:nvSpPr>
        <p:spPr>
          <a:xfrm>
            <a:off x="10081260" y="4498848"/>
            <a:ext cx="1421892" cy="548640"/>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G6 — Clôture et amélioration continue</a:t>
            </a:r>
            <a:endParaRPr lang="en-US" sz="1000" dirty="0"/>
          </a:p>
        </p:txBody>
      </p:sp>
      <p:sp>
        <p:nvSpPr>
          <p:cNvPr id="47" name="enablers"/>
          <p:cNvSpPr/>
          <p:nvPr/>
        </p:nvSpPr>
        <p:spPr>
          <a:xfrm>
            <a:off x="457200" y="5303520"/>
            <a:ext cx="11274552" cy="822960"/>
          </a:xfrm>
          <a:prstGeom prst="roundRect">
            <a:avLst>
              <a:gd name="adj" fmla="val 8889"/>
            </a:avLst>
          </a:prstGeom>
          <a:solidFill>
            <a:srgbClr val="F2F2F3"/>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48" name="badge layers"/>
          <p:cNvSpPr/>
          <p:nvPr/>
        </p:nvSpPr>
        <p:spPr>
          <a:xfrm>
            <a:off x="640080" y="5440680"/>
            <a:ext cx="548640" cy="548640"/>
          </a:xfrm>
          <a:prstGeom prst="ellipse">
            <a:avLst/>
          </a:prstGeom>
          <a:solidFill>
            <a:srgbClr val="58595B"/>
          </a:solidFill>
          <a:ln w="12700">
            <a:solidFill>
              <a:srgbClr val="58595B"/>
            </a:solidFill>
            <a:prstDash val="solid"/>
          </a:ln>
        </p:spPr>
      </p:sp>
      <p:pic>
        <p:nvPicPr>
          <p:cNvPr id="49" name="Image 0" descr="layers">    </p:cNvPr>
          <p:cNvPicPr>
            <a:picLocks noChangeAspect="1"/>
          </p:cNvPicPr>
          <p:nvPr/>
        </p:nvPicPr>
        <p:blipFill>
          <a:blip r:embed="rId1"/>
          <a:stretch>
            <a:fillRect/>
          </a:stretch>
        </p:blipFill>
        <p:spPr>
          <a:xfrm>
            <a:off x="766267" y="5566867"/>
            <a:ext cx="296266" cy="296266"/>
          </a:xfrm>
          <a:prstGeom prst="rect">
            <a:avLst/>
          </a:prstGeom>
        </p:spPr>
      </p:pic>
      <p:sp>
        <p:nvSpPr>
          <p:cNvPr id="50" name="Text 46"/>
          <p:cNvSpPr txBox="1"/>
          <p:nvPr/>
        </p:nvSpPr>
        <p:spPr>
          <a:xfrm>
            <a:off x="1371600" y="5349240"/>
            <a:ext cx="10241280" cy="731520"/>
          </a:xfrm>
          <a:prstGeom prst="rect">
            <a:avLst/>
          </a:prstGeom>
          <a:noFill/>
          <a:ln/>
        </p:spPr>
        <p:txBody>
          <a:bodyPr wrap="square" lIns="0" tIns="0" rIns="0" bIns="0" rtlCol="0" anchor="ctr"/>
          <a:lstStyle/>
          <a:p>
            <a:pPr indent="0" marL="0">
              <a:buNone/>
            </a:pPr>
            <a:r>
              <a:rPr lang="en-US" sz="1300" b="1" dirty="0">
                <a:solidFill>
                  <a:srgbClr val="3A3A3C"/>
                </a:solidFill>
                <a:latin typeface="Calibri" pitchFamily="34" charset="0"/>
                <a:ea typeface="Calibri" pitchFamily="34" charset="-122"/>
                <a:cs typeface="Calibri" pitchFamily="34" charset="-120"/>
              </a:rPr>
              <a:t>Phase 0 — Catalyseurs, sur toutes les phases : </a:t>
            </a:r>
            <a:pPr indent="0" marL="0">
              <a:buNone/>
            </a:pPr>
            <a:r>
              <a:rPr lang="en-US" sz="1300" dirty="0">
                <a:solidFill>
                  <a:srgbClr val="58595B"/>
                </a:solidFill>
                <a:latin typeface="Calibri" pitchFamily="34" charset="0"/>
                <a:ea typeface="Calibri" pitchFamily="34" charset="-122"/>
                <a:cs typeface="Calibri" pitchFamily="34" charset="-120"/>
              </a:rPr>
              <a:t>E2E-15 Données, IA et intégrations · E2E-17 Du changement à l'adoption · E2E-18 Qualité, risques et amélioration</a:t>
            </a:r>
            <a:endParaRPr lang="en-US" sz="1300" dirty="0"/>
          </a:p>
        </p:txBody>
      </p:sp>
      <p:sp>
        <p:nvSpPr>
          <p:cNvPr id="5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DANS L’APPLICATION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Le cockpit du projet : 265 tâches terminées sur 265</a:t>
            </a:r>
            <a:endParaRPr lang="en-US" sz="2800" dirty="0"/>
          </a:p>
        </p:txBody>
      </p:sp>
      <p:sp>
        <p:nvSpPr>
          <p:cNvPr id="5" name="frame 01_project"/>
          <p:cNvSpPr/>
          <p:nvPr/>
        </p:nvSpPr>
        <p:spPr>
          <a:xfrm>
            <a:off x="1125038" y="1636776"/>
            <a:ext cx="6345284" cy="463600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01_project">    </p:cNvPr>
          <p:cNvPicPr>
            <a:picLocks noChangeAspect="1"/>
          </p:cNvPicPr>
          <p:nvPr/>
        </p:nvPicPr>
        <p:blipFill>
          <a:blip r:embed="rId1"/>
          <a:stretch>
            <a:fillRect/>
          </a:stretch>
        </p:blipFill>
        <p:spPr>
          <a:xfrm>
            <a:off x="1179902" y="1691640"/>
            <a:ext cx="6235556" cy="4526280"/>
          </a:xfrm>
          <a:prstGeom prst="rect">
            <a:avLst/>
          </a:prstGeom>
        </p:spPr>
      </p:pic>
      <p:sp>
        <p:nvSpPr>
          <p:cNvPr id="7" name="badge chart-column"/>
          <p:cNvSpPr/>
          <p:nvPr/>
        </p:nvSpPr>
        <p:spPr>
          <a:xfrm>
            <a:off x="8458200" y="1737360"/>
            <a:ext cx="502920" cy="502920"/>
          </a:xfrm>
          <a:prstGeom prst="ellipse">
            <a:avLst/>
          </a:prstGeom>
          <a:solidFill>
            <a:srgbClr val="F8931D"/>
          </a:solidFill>
          <a:ln w="12700">
            <a:solidFill>
              <a:srgbClr val="F8931D"/>
            </a:solidFill>
            <a:prstDash val="solid"/>
          </a:ln>
        </p:spPr>
      </p:sp>
      <p:pic>
        <p:nvPicPr>
          <p:cNvPr id="8" name="Image 1" descr="chart-column">    </p:cNvPr>
          <p:cNvPicPr>
            <a:picLocks noChangeAspect="1"/>
          </p:cNvPicPr>
          <p:nvPr/>
        </p:nvPicPr>
        <p:blipFill>
          <a:blip r:embed="rId2"/>
          <a:stretch>
            <a:fillRect/>
          </a:stretch>
        </p:blipFill>
        <p:spPr>
          <a:xfrm>
            <a:off x="8573872" y="1853032"/>
            <a:ext cx="271577" cy="271577"/>
          </a:xfrm>
          <a:prstGeom prst="rect">
            <a:avLst/>
          </a:prstGeom>
        </p:spPr>
      </p:pic>
      <p:sp>
        <p:nvSpPr>
          <p:cNvPr id="9" name="Text 4"/>
          <p:cNvSpPr txBox="1"/>
          <p:nvPr/>
        </p:nvSpPr>
        <p:spPr>
          <a:xfrm>
            <a:off x="9098280" y="1737360"/>
            <a:ext cx="2651760" cy="365760"/>
          </a:xfrm>
          <a:prstGeom prst="rect">
            <a:avLst/>
          </a:prstGeom>
          <a:noFill/>
          <a:ln/>
        </p:spPr>
        <p:txBody>
          <a:bodyPr wrap="square" lIns="0" tIns="0" rIns="0" bIns="0" rtlCol="0" anchor="ctr"/>
          <a:lstStyle/>
          <a:p>
            <a:pPr indent="0" marL="0">
              <a:buNone/>
            </a:pPr>
            <a:r>
              <a:rPr lang="en-US" sz="1500" b="1" dirty="0">
                <a:solidFill>
                  <a:srgbClr val="3A3A3C"/>
                </a:solidFill>
                <a:latin typeface="Cambria" pitchFamily="34" charset="0"/>
                <a:ea typeface="Cambria" pitchFamily="34" charset="-122"/>
                <a:cs typeface="Cambria" pitchFamily="34" charset="-120"/>
              </a:rPr>
              <a:t>Avancement par phase</a:t>
            </a:r>
            <a:endParaRPr lang="en-US" sz="1500" dirty="0"/>
          </a:p>
        </p:txBody>
      </p:sp>
      <p:sp>
        <p:nvSpPr>
          <p:cNvPr id="10" name="Text 5"/>
          <p:cNvSpPr txBox="1"/>
          <p:nvPr/>
        </p:nvSpPr>
        <p:spPr>
          <a:xfrm>
            <a:off x="9098280" y="2121408"/>
            <a:ext cx="26517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Chaque phase liste ses processus, responsables et nombres de tâches.</a:t>
            </a:r>
            <a:endParaRPr lang="en-US" sz="1300" dirty="0"/>
          </a:p>
        </p:txBody>
      </p:sp>
      <p:sp>
        <p:nvSpPr>
          <p:cNvPr id="11" name="badge clock"/>
          <p:cNvSpPr/>
          <p:nvPr/>
        </p:nvSpPr>
        <p:spPr>
          <a:xfrm>
            <a:off x="8458200" y="3218688"/>
            <a:ext cx="502920" cy="502920"/>
          </a:xfrm>
          <a:prstGeom prst="ellipse">
            <a:avLst/>
          </a:prstGeom>
          <a:solidFill>
            <a:srgbClr val="F8931D"/>
          </a:solidFill>
          <a:ln w="12700">
            <a:solidFill>
              <a:srgbClr val="F8931D"/>
            </a:solidFill>
            <a:prstDash val="solid"/>
          </a:ln>
        </p:spPr>
      </p:sp>
      <p:pic>
        <p:nvPicPr>
          <p:cNvPr id="12" name="Image 2" descr="clock">    </p:cNvPr>
          <p:cNvPicPr>
            <a:picLocks noChangeAspect="1"/>
          </p:cNvPicPr>
          <p:nvPr/>
        </p:nvPicPr>
        <p:blipFill>
          <a:blip r:embed="rId3"/>
          <a:stretch>
            <a:fillRect/>
          </a:stretch>
        </p:blipFill>
        <p:spPr>
          <a:xfrm>
            <a:off x="8573872" y="3334360"/>
            <a:ext cx="271577" cy="271577"/>
          </a:xfrm>
          <a:prstGeom prst="rect">
            <a:avLst/>
          </a:prstGeom>
        </p:spPr>
      </p:pic>
      <p:sp>
        <p:nvSpPr>
          <p:cNvPr id="13" name="Text 7"/>
          <p:cNvSpPr txBox="1"/>
          <p:nvPr/>
        </p:nvSpPr>
        <p:spPr>
          <a:xfrm>
            <a:off x="9098280" y="3218688"/>
            <a:ext cx="2651760" cy="365760"/>
          </a:xfrm>
          <a:prstGeom prst="rect">
            <a:avLst/>
          </a:prstGeom>
          <a:noFill/>
          <a:ln/>
        </p:spPr>
        <p:txBody>
          <a:bodyPr wrap="square" lIns="0" tIns="0" rIns="0" bIns="0" rtlCol="0" anchor="ctr"/>
          <a:lstStyle/>
          <a:p>
            <a:pPr indent="0" marL="0">
              <a:buNone/>
            </a:pPr>
            <a:r>
              <a:rPr lang="en-US" sz="1500" b="1" dirty="0">
                <a:solidFill>
                  <a:srgbClr val="3A3A3C"/>
                </a:solidFill>
                <a:latin typeface="Cambria" pitchFamily="34" charset="0"/>
                <a:ea typeface="Cambria" pitchFamily="34" charset="-122"/>
                <a:cs typeface="Cambria" pitchFamily="34" charset="-120"/>
              </a:rPr>
              <a:t>Aucune tâche en retard</a:t>
            </a:r>
            <a:endParaRPr lang="en-US" sz="1500" dirty="0"/>
          </a:p>
        </p:txBody>
      </p:sp>
      <p:sp>
        <p:nvSpPr>
          <p:cNvPr id="14" name="Text 8"/>
          <p:cNvSpPr txBox="1"/>
          <p:nvPr/>
        </p:nvSpPr>
        <p:spPr>
          <a:xfrm>
            <a:off x="9098280" y="3602736"/>
            <a:ext cx="26517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Échéances, responsables et évaluateurs sont fixés par tâche.</a:t>
            </a:r>
            <a:endParaRPr lang="en-US" sz="1300" dirty="0"/>
          </a:p>
        </p:txBody>
      </p:sp>
      <p:sp>
        <p:nvSpPr>
          <p:cNvPr id="15" name="badge gauge"/>
          <p:cNvSpPr/>
          <p:nvPr/>
        </p:nvSpPr>
        <p:spPr>
          <a:xfrm>
            <a:off x="8458200" y="4700016"/>
            <a:ext cx="502920" cy="502920"/>
          </a:xfrm>
          <a:prstGeom prst="ellipse">
            <a:avLst/>
          </a:prstGeom>
          <a:solidFill>
            <a:srgbClr val="F8931D"/>
          </a:solidFill>
          <a:ln w="12700">
            <a:solidFill>
              <a:srgbClr val="F8931D"/>
            </a:solidFill>
            <a:prstDash val="solid"/>
          </a:ln>
        </p:spPr>
      </p:sp>
      <p:pic>
        <p:nvPicPr>
          <p:cNvPr id="16" name="Image 3" descr="gauge">    </p:cNvPr>
          <p:cNvPicPr>
            <a:picLocks noChangeAspect="1"/>
          </p:cNvPicPr>
          <p:nvPr/>
        </p:nvPicPr>
        <p:blipFill>
          <a:blip r:embed="rId4"/>
          <a:stretch>
            <a:fillRect/>
          </a:stretch>
        </p:blipFill>
        <p:spPr>
          <a:xfrm>
            <a:off x="8573872" y="4815688"/>
            <a:ext cx="271577" cy="271577"/>
          </a:xfrm>
          <a:prstGeom prst="rect">
            <a:avLst/>
          </a:prstGeom>
        </p:spPr>
      </p:pic>
      <p:sp>
        <p:nvSpPr>
          <p:cNvPr id="17" name="Text 10"/>
          <p:cNvSpPr txBox="1"/>
          <p:nvPr/>
        </p:nvSpPr>
        <p:spPr>
          <a:xfrm>
            <a:off x="9098280" y="4700016"/>
            <a:ext cx="2651760" cy="365760"/>
          </a:xfrm>
          <a:prstGeom prst="rect">
            <a:avLst/>
          </a:prstGeom>
          <a:noFill/>
          <a:ln/>
        </p:spPr>
        <p:txBody>
          <a:bodyPr wrap="square" lIns="0" tIns="0" rIns="0" bIns="0" rtlCol="0" anchor="ctr"/>
          <a:lstStyle/>
          <a:p>
            <a:pPr indent="0" marL="0">
              <a:buNone/>
            </a:pPr>
            <a:r>
              <a:rPr lang="en-US" sz="1500" b="1" dirty="0">
                <a:solidFill>
                  <a:srgbClr val="3A3A3C"/>
                </a:solidFill>
                <a:latin typeface="Cambria" pitchFamily="34" charset="0"/>
                <a:ea typeface="Cambria" pitchFamily="34" charset="-122"/>
                <a:cs typeface="Cambria" pitchFamily="34" charset="-120"/>
              </a:rPr>
              <a:t>Score de complexité 72</a:t>
            </a:r>
            <a:endParaRPr lang="en-US" sz="1500" dirty="0"/>
          </a:p>
        </p:txBody>
      </p:sp>
      <p:sp>
        <p:nvSpPr>
          <p:cNvPr id="18" name="Text 11"/>
          <p:cNvSpPr txBox="1"/>
          <p:nvPr/>
        </p:nvSpPr>
        <p:spPr>
          <a:xfrm>
            <a:off x="9098280" y="5084064"/>
            <a:ext cx="2651760" cy="868680"/>
          </a:xfrm>
          <a:prstGeom prst="rect">
            <a:avLst/>
          </a:prstGeom>
          <a:noFill/>
          <a:ln/>
        </p:spPr>
        <p:txBody>
          <a:bodyPr wrap="square" lIns="0" tIns="0" rIns="0" bIns="0" rtlCol="0" anchor="t"/>
          <a:lstStyle/>
          <a:p>
            <a:pPr indent="0" marL="0">
              <a:buNone/>
            </a:pPr>
            <a:r>
              <a:rPr lang="en-US" sz="1300" dirty="0">
                <a:solidFill>
                  <a:srgbClr val="58595B"/>
                </a:solidFill>
                <a:latin typeface="Calibri" pitchFamily="34" charset="0"/>
                <a:ea typeface="Calibri" pitchFamily="34" charset="-122"/>
                <a:cs typeface="Calibri" pitchFamily="34" charset="-120"/>
              </a:rPr>
              <a:t>Mode complet choisi à partir de la notation du projet.</a:t>
            </a:r>
            <a:endParaRPr lang="en-US" sz="1300" dirty="0"/>
          </a:p>
        </p:txBody>
      </p:sp>
      <p:sp>
        <p:nvSpPr>
          <p:cNvPr id="19"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DANS L’APPLICATION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Découpage du travail et diagramme de Gantt du déroulé</a:t>
            </a:r>
            <a:endParaRPr lang="en-US" sz="2800" dirty="0"/>
          </a:p>
        </p:txBody>
      </p:sp>
      <p:sp>
        <p:nvSpPr>
          <p:cNvPr id="5" name="frame 02_gantt"/>
          <p:cNvSpPr/>
          <p:nvPr/>
        </p:nvSpPr>
        <p:spPr>
          <a:xfrm>
            <a:off x="3047805" y="163677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02_gantt">    </p:cNvPr>
          <p:cNvPicPr>
            <a:picLocks noChangeAspect="1"/>
          </p:cNvPicPr>
          <p:nvPr/>
        </p:nvPicPr>
        <p:blipFill>
          <a:blip r:embed="rId1"/>
          <a:stretch>
            <a:fillRect/>
          </a:stretch>
        </p:blipFill>
        <p:spPr>
          <a:xfrm>
            <a:off x="3102669" y="1691640"/>
            <a:ext cx="5983614" cy="4343400"/>
          </a:xfrm>
          <a:prstGeom prst="rect">
            <a:avLst/>
          </a:prstGeom>
        </p:spPr>
      </p:pic>
      <p:sp>
        <p:nvSpPr>
          <p:cNvPr id="7" name="Text 3"/>
          <p:cNvSpPr txBox="1"/>
          <p:nvPr/>
        </p:nvSpPr>
        <p:spPr>
          <a:xfrm>
            <a:off x="3102669" y="614476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Phases, processus et tâches sur une même frise, avec leurs dépendances.</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DANS L’APPLICATION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Comment les processus s’alimentent</a:t>
            </a:r>
            <a:endParaRPr lang="en-US" sz="2800" dirty="0"/>
          </a:p>
        </p:txBody>
      </p:sp>
      <p:sp>
        <p:nvSpPr>
          <p:cNvPr id="5" name="frame 03_chain"/>
          <p:cNvSpPr/>
          <p:nvPr/>
        </p:nvSpPr>
        <p:spPr>
          <a:xfrm>
            <a:off x="3047805" y="163677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03_chain">    </p:cNvPr>
          <p:cNvPicPr>
            <a:picLocks noChangeAspect="1"/>
          </p:cNvPicPr>
          <p:nvPr/>
        </p:nvPicPr>
        <p:blipFill>
          <a:blip r:embed="rId1"/>
          <a:stretch>
            <a:fillRect/>
          </a:stretch>
        </p:blipFill>
        <p:spPr>
          <a:xfrm>
            <a:off x="3102669" y="1691640"/>
            <a:ext cx="5983614" cy="4343400"/>
          </a:xfrm>
          <a:prstGeom prst="rect">
            <a:avLst/>
          </a:prstGeom>
        </p:spPr>
      </p:pic>
      <p:sp>
        <p:nvSpPr>
          <p:cNvPr id="7" name="Text 3"/>
          <p:cNvSpPr txBox="1"/>
          <p:nvPr/>
        </p:nvSpPr>
        <p:spPr>
          <a:xfrm>
            <a:off x="3102669" y="614476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Diagramme des chaînes : la sortie de chaque processus alimente les suivants.</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01</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1</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Périmètre et collecte de preuves</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4 processus · 37 tâches · 52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18 avr. 2026 – 23 mai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Fermée par G1 — Périmètre et preuves approuvés</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E2E-32   Du cahier des charges au plan d'ingénierie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E2E-33   Du questionnaire à la collecte des réponses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E2E-19   De la mission de conseil à la clôture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E2E-24   De la veille concurrentielle à la stratégie</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E2E-32 · RACINE — STRATÉGIQUE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cahier des charges au plan d'ingénierie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Définir et approuver le cahier des charges structuré et le registre des parties prenantes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Nouvelle mission d'ingénierie de formation, cycle du plan annuel ou demande de la direction.</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Cahier des charges approuvé avec matrice des critères et registre des parties prenantes transmis à la conception du questionnaire (E2E-33) et à l'analyse des besoins (E2E-03).</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9 tâches · 12 étapes
</a:t>
            </a:r>
            <a:pPr indent="0" marL="0">
              <a:buNone/>
            </a:pPr>
            <a:r>
              <a:rPr lang="en-US" sz="1100" dirty="0">
                <a:solidFill>
                  <a:srgbClr val="3A3A3C"/>
                </a:solidFill>
                <a:latin typeface="Calibri" pitchFamily="34" charset="0"/>
                <a:ea typeface="Calibri" pitchFamily="34" charset="-122"/>
                <a:cs typeface="Calibri" pitchFamily="34" charset="-120"/>
              </a:rPr>
              <a:t>26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MP-53 Définition et gestion du cahier des charges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MP-44 Architecture des emplois et gestion des fiches de poste · </a:t>
            </a:r>
            <a:pPr indent="0" marL="0">
              <a:buNone/>
            </a:pPr>
            <a:r>
              <a:rPr lang="en-US" sz="1000" dirty="0">
                <a:solidFill>
                  <a:srgbClr val="58595B"/>
                </a:solidFill>
                <a:latin typeface="Calibri" pitchFamily="34" charset="0"/>
                <a:ea typeface="Calibri" pitchFamily="34" charset="-122"/>
                <a:cs typeface="Calibri" pitchFamily="34" charset="-120"/>
              </a:rPr>
              <a:t>MP-45 GPEC et intégration stratégique RH (gestion prévisionnelle des emplois et des compétences)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UFT-32-01
</a:t>
                      </a:r>
                      <a:pPr indent="0" marL="0">
                        <a:buNone/>
                      </a:pPr>
                      <a:r>
                        <a:rPr lang="en-US" sz="1000" b="1" dirty="0">
                          <a:solidFill>
                            <a:srgbClr val="3A3A3C"/>
                          </a:solidFill>
                          <a:latin typeface="Calibri" pitchFamily="34" charset="0"/>
                          <a:ea typeface="Calibri" pitchFamily="34" charset="-122"/>
                          <a:cs typeface="Calibri" pitchFamily="34" charset="-120"/>
                        </a:rPr>
                        <a:t>Définir le cadre du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MP-53.1 </a:t>
                      </a:r>
                      <a:pPr indent="0" marL="0">
                        <a:buNone/>
                      </a:pPr>
                      <a:r>
                        <a:rPr lang="en-US" sz="1000" dirty="0">
                          <a:solidFill>
                            <a:srgbClr val="58595B"/>
                          </a:solidFill>
                          <a:latin typeface="Calibri" pitchFamily="34" charset="0"/>
                          <a:ea typeface="Calibri" pitchFamily="34" charset="-122"/>
                          <a:cs typeface="Calibri" pitchFamily="34" charset="-120"/>
                        </a:rPr>
                        <a:t>Définir le cadre (groupe oui/non)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MP-53.2 </a:t>
                      </a:r>
                      <a:pPr indent="0" marL="0">
                        <a:buNone/>
                      </a:pPr>
                      <a:r>
                        <a:rPr lang="en-US" sz="1000" dirty="0">
                          <a:solidFill>
                            <a:srgbClr val="58595B"/>
                          </a:solidFill>
                          <a:latin typeface="Calibri" pitchFamily="34" charset="0"/>
                          <a:ea typeface="Calibri" pitchFamily="34" charset="-122"/>
                          <a:cs typeface="Calibri" pitchFamily="34" charset="-120"/>
                        </a:rPr>
                        <a:t>Sélectionner l'organisation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Périmètre Groupe : Non. Organisation : Groupe Santéora Cliniques Privées.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UFT-32-02
</a:t>
                      </a:r>
                      <a:pPr indent="0" marL="0">
                        <a:buNone/>
                      </a:pPr>
                      <a:r>
                        <a:rPr lang="en-US" sz="1000" b="1" dirty="0">
                          <a:solidFill>
                            <a:srgbClr val="3A3A3C"/>
                          </a:solidFill>
                          <a:latin typeface="Calibri" pitchFamily="34" charset="0"/>
                          <a:ea typeface="Calibri" pitchFamily="34" charset="-122"/>
                          <a:cs typeface="Calibri" pitchFamily="34" charset="-120"/>
                        </a:rPr>
                        <a:t>Sélectionner le secteur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MP-53.3 </a:t>
                      </a:r>
                      <a:pPr indent="0" marL="0">
                        <a:buNone/>
                      </a:pPr>
                      <a:r>
                        <a:rPr lang="en-US" sz="1000" dirty="0">
                          <a:solidFill>
                            <a:srgbClr val="58595B"/>
                          </a:solidFill>
                          <a:latin typeface="Calibri" pitchFamily="34" charset="0"/>
                          <a:ea typeface="Calibri" pitchFamily="34" charset="-122"/>
                          <a:cs typeface="Calibri" pitchFamily="34" charset="-120"/>
                        </a:rPr>
                        <a:t>Sélectionner le secteur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Secteur : Établissements de santé.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UFT-32-03
</a:t>
                      </a:r>
                      <a:pPr indent="0" marL="0">
                        <a:buNone/>
                      </a:pPr>
                      <a:r>
                        <a:rPr lang="en-US" sz="1000" b="1" dirty="0">
                          <a:solidFill>
                            <a:srgbClr val="3A3A3C"/>
                          </a:solidFill>
                          <a:latin typeface="Calibri" pitchFamily="34" charset="0"/>
                          <a:ea typeface="Calibri" pitchFamily="34" charset="-122"/>
                          <a:cs typeface="Calibri" pitchFamily="34" charset="-120"/>
                        </a:rPr>
                        <a:t>Sélectionner les niveaux de décision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MP-53.4 </a:t>
                      </a:r>
                      <a:pPr indent="0" marL="0">
                        <a:buNone/>
                      </a:pPr>
                      <a:r>
                        <a:rPr lang="en-US" sz="1000" dirty="0">
                          <a:solidFill>
                            <a:srgbClr val="58595B"/>
                          </a:solidFill>
                          <a:latin typeface="Calibri" pitchFamily="34" charset="0"/>
                          <a:ea typeface="Calibri" pitchFamily="34" charset="-122"/>
                          <a:cs typeface="Calibri" pitchFamily="34" charset="-120"/>
                        </a:rPr>
                        <a:t>Sélectionner le niveau de décision (MS/MO/OP/personnalisé)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Niveaux de décision : MS, MO, OP (pas de niveau personnalisé).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UFT-32-04
</a:t>
                      </a:r>
                      <a:pPr indent="0" marL="0">
                        <a:buNone/>
                      </a:pPr>
                      <a:r>
                        <a:rPr lang="en-US" sz="1000" b="1" dirty="0">
                          <a:solidFill>
                            <a:srgbClr val="3A3A3C"/>
                          </a:solidFill>
                          <a:latin typeface="Calibri" pitchFamily="34" charset="0"/>
                          <a:ea typeface="Calibri" pitchFamily="34" charset="-122"/>
                          <a:cs typeface="Calibri" pitchFamily="34" charset="-120"/>
                        </a:rPr>
                        <a:t>Croiser fonctions × niveaux de décision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MP-53.5 </a:t>
                      </a:r>
                      <a:pPr indent="0" marL="0">
                        <a:buNone/>
                      </a:pPr>
                      <a:r>
                        <a:rPr lang="en-US" sz="1000" dirty="0">
                          <a:solidFill>
                            <a:srgbClr val="58595B"/>
                          </a:solidFill>
                          <a:latin typeface="Calibri" pitchFamily="34" charset="0"/>
                          <a:ea typeface="Calibri" pitchFamily="34" charset="-122"/>
                          <a:cs typeface="Calibri" pitchFamily="34" charset="-120"/>
                        </a:rPr>
                        <a:t>Croiser fonctions × niveaux de décision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Matrice : Soins cliniques et infirmiers × MS/MO/OP ; Qualité × MO/OP ; Finance × MS/MO ; RH × MS/MO.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UFT-32-05
</a:t>
                      </a:r>
                      <a:pPr indent="0" marL="0">
                        <a:buNone/>
                      </a:pPr>
                      <a:r>
                        <a:rPr lang="en-US" sz="1000" b="1" dirty="0">
                          <a:solidFill>
                            <a:srgbClr val="3A3A3C"/>
                          </a:solidFill>
                          <a:latin typeface="Calibri" pitchFamily="34" charset="0"/>
                          <a:ea typeface="Calibri" pitchFamily="34" charset="-122"/>
                          <a:cs typeface="Calibri" pitchFamily="34" charset="-120"/>
                        </a:rPr>
                        <a:t>Choisir l'orientation et ajouter des critères personnalisés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MP-53.6 </a:t>
                      </a:r>
                      <a:pPr indent="0" marL="0">
                        <a:buNone/>
                      </a:pPr>
                      <a:r>
                        <a:rPr lang="en-US" sz="1000" dirty="0">
                          <a:solidFill>
                            <a:srgbClr val="58595B"/>
                          </a:solidFill>
                          <a:latin typeface="Calibri" pitchFamily="34" charset="0"/>
                          <a:ea typeface="Calibri" pitchFamily="34" charset="-122"/>
                          <a:cs typeface="Calibri" pitchFamily="34" charset="-120"/>
                        </a:rPr>
                        <a:t>Sélectionner l'orientation (tous/digital/IA/personnalisée)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MP-53.7 </a:t>
                      </a:r>
                      <a:pPr indent="0" marL="0">
                        <a:buNone/>
                      </a:pPr>
                      <a:r>
                        <a:rPr lang="en-US" sz="1000" dirty="0">
                          <a:solidFill>
                            <a:srgbClr val="58595B"/>
                          </a:solidFill>
                          <a:latin typeface="Calibri" pitchFamily="34" charset="0"/>
                          <a:ea typeface="Calibri" pitchFamily="34" charset="-122"/>
                          <a:cs typeface="Calibri" pitchFamily="34" charset="-120"/>
                        </a:rPr>
                        <a:t>Ajouter des critères personnalisés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Focus : IA. Critère personnalisé : « Préparation à Triage IA et aide à la décision clinique » (poids 2,00).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3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2-06 Identifier les parties prenant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UFT-32-06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E2E-32 · RACINE — STRATÉGIQUE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cahier des charges au plan d'ingénierie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UFT-32-06
</a:t>
                      </a:r>
                      <a:pPr indent="0" marL="0">
                        <a:buNone/>
                      </a:pPr>
                      <a:r>
                        <a:rPr lang="en-US" sz="1000" b="1" dirty="0">
                          <a:solidFill>
                            <a:srgbClr val="3A3A3C"/>
                          </a:solidFill>
                          <a:latin typeface="Calibri" pitchFamily="34" charset="0"/>
                          <a:ea typeface="Calibri" pitchFamily="34" charset="-122"/>
                          <a:cs typeface="Calibri" pitchFamily="34" charset="-120"/>
                        </a:rPr>
                        <a:t>Identifier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MP-53.8 </a:t>
                      </a:r>
                      <a:pPr indent="0" marL="0">
                        <a:buNone/>
                      </a:pPr>
                      <a:r>
                        <a:rPr lang="en-US" sz="1000" dirty="0">
                          <a:solidFill>
                            <a:srgbClr val="58595B"/>
                          </a:solidFill>
                          <a:latin typeface="Calibri" pitchFamily="34" charset="0"/>
                          <a:ea typeface="Calibri" pitchFamily="34" charset="-122"/>
                          <a:cs typeface="Calibri" pitchFamily="34" charset="-120"/>
                        </a:rPr>
                        <a:t>Identifier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Enregistrer 40 parties prenantes : nom, rôle, fonction, niveau, site, canal préféré (e-mail, présentiel ou hybride).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UFT-32-07
</a:t>
                      </a:r>
                      <a:pPr indent="0" marL="0">
                        <a:buNone/>
                      </a:pPr>
                      <a:r>
                        <a:rPr lang="en-US" sz="1000" b="1" dirty="0">
                          <a:solidFill>
                            <a:srgbClr val="3A3A3C"/>
                          </a:solidFill>
                          <a:latin typeface="Calibri" pitchFamily="34" charset="0"/>
                          <a:ea typeface="Calibri" pitchFamily="34" charset="-122"/>
                          <a:cs typeface="Calibri" pitchFamily="34" charset="-120"/>
                        </a:rPr>
                        <a:t>Valider le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MP-53.9 </a:t>
                      </a:r>
                      <a:pPr indent="0" marL="0">
                        <a:buNone/>
                      </a:pPr>
                      <a:r>
                        <a:rPr lang="en-US" sz="1000" dirty="0">
                          <a:solidFill>
                            <a:srgbClr val="58595B"/>
                          </a:solidFill>
                          <a:latin typeface="Calibri" pitchFamily="34" charset="0"/>
                          <a:ea typeface="Calibri" pitchFamily="34" charset="-122"/>
                          <a:cs typeface="Calibri" pitchFamily="34" charset="-120"/>
                        </a:rPr>
                        <a:t>Valider et approuver le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Validation : chaque fonction du périmètre a au moins 3 parties prenantes ; complétude 100 %.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UFT-32-08
</a:t>
                      </a:r>
                      <a:pPr indent="0" marL="0">
                        <a:buNone/>
                      </a:pPr>
                      <a:r>
                        <a:rPr lang="en-US" sz="1000" b="1" dirty="0">
                          <a:solidFill>
                            <a:srgbClr val="3A3A3C"/>
                          </a:solidFill>
                          <a:latin typeface="Calibri" pitchFamily="34" charset="0"/>
                          <a:ea typeface="Calibri" pitchFamily="34" charset="-122"/>
                          <a:cs typeface="Calibri" pitchFamily="34" charset="-120"/>
                        </a:rPr>
                        <a:t>Approuver le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MP-53.9 </a:t>
                      </a:r>
                      <a:pPr indent="0" marL="0">
                        <a:buNone/>
                      </a:pPr>
                      <a:r>
                        <a:rPr lang="en-US" sz="1000" dirty="0">
                          <a:solidFill>
                            <a:srgbClr val="58595B"/>
                          </a:solidFill>
                          <a:latin typeface="Calibri" pitchFamily="34" charset="0"/>
                          <a:ea typeface="Calibri" pitchFamily="34" charset="-122"/>
                          <a:cs typeface="Calibri" pitchFamily="34" charset="-120"/>
                        </a:rPr>
                        <a:t>Valider et approuver le périmètre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MP-53.10 </a:t>
                      </a:r>
                      <a:pPr indent="0" marL="0">
                        <a:buNone/>
                      </a:pPr>
                      <a:r>
                        <a:rPr lang="en-US" sz="1000" dirty="0">
                          <a:solidFill>
                            <a:srgbClr val="58595B"/>
                          </a:solidFill>
                          <a:latin typeface="Calibri" pitchFamily="34" charset="0"/>
                          <a:ea typeface="Calibri" pitchFamily="34" charset="-122"/>
                          <a:cs typeface="Calibri" pitchFamily="34" charset="-120"/>
                        </a:rPr>
                        <a:t>Publier le périmètre et enregistrer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Statut : Approuvé (version 1). Justification : périmètre aligné sur OS-1 et OS-2.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UFT-32-09
</a:t>
                      </a:r>
                      <a:pPr indent="0" marL="0">
                        <a:buNone/>
                      </a:pPr>
                      <a:r>
                        <a:rPr lang="en-US" sz="1000" b="1" dirty="0">
                          <a:solidFill>
                            <a:srgbClr val="3A3A3C"/>
                          </a:solidFill>
                          <a:latin typeface="Calibri" pitchFamily="34" charset="0"/>
                          <a:ea typeface="Calibri" pitchFamily="34" charset="-122"/>
                          <a:cs typeface="Calibri" pitchFamily="34" charset="-120"/>
                        </a:rPr>
                        <a:t>Publier le périmètre et enregistrer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MP-53.10 </a:t>
                      </a:r>
                      <a:pPr indent="0" marL="0">
                        <a:buNone/>
                      </a:pPr>
                      <a:r>
                        <a:rPr lang="en-US" sz="1000" dirty="0">
                          <a:solidFill>
                            <a:srgbClr val="58595B"/>
                          </a:solidFill>
                          <a:latin typeface="Calibri" pitchFamily="34" charset="0"/>
                          <a:ea typeface="Calibri" pitchFamily="34" charset="-122"/>
                          <a:cs typeface="Calibri" pitchFamily="34" charset="-120"/>
                        </a:rPr>
                        <a:t>Publier le périmètre et enregistrer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Générer le document de périmètre (RPT-033) et transmettre périmètre et parties prenantes au studio questionnaires.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32"/>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2">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E2E-32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E2E-33, E2E-03, E2E-01</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E2E-33 · RACINE —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questionnaire à la collecte des réponses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Concevoir, diffuser et collecter les réponses aux questionnaires sur plusieurs canaux</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Un cahier des charges approuvé devient disponible (fin de E2E-32).</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Jeu de données consolidé et validé des réponses alimentant l'analyse des besoins (E2E-03), le diagnostic (E2E-20) et la collecte des demandes (E2E-27).</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12 tâches · 13 étapes
</a:t>
            </a:r>
            <a:pPr indent="0" marL="0">
              <a:buNone/>
            </a:pPr>
            <a:r>
              <a:rPr lang="en-US" sz="1100" dirty="0">
                <a:solidFill>
                  <a:srgbClr val="3A3A3C"/>
                </a:solidFill>
                <a:latin typeface="Calibri" pitchFamily="34" charset="0"/>
                <a:ea typeface="Calibri" pitchFamily="34" charset="-122"/>
                <a:cs typeface="Calibri" pitchFamily="34" charset="-120"/>
              </a:rPr>
              <a:t>35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MP-54 Conception, diffusion du questionnaire et collecte des réponses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MP-37 Diagnostic organisationnel multi-axes · </a:t>
            </a:r>
            <a:pPr indent="0" marL="0">
              <a:buNone/>
            </a:pPr>
            <a:r>
              <a:rPr lang="en-US" sz="1000" dirty="0">
                <a:solidFill>
                  <a:srgbClr val="58595B"/>
                </a:solidFill>
                <a:latin typeface="Calibri" pitchFamily="34" charset="0"/>
                <a:ea typeface="Calibri" pitchFamily="34" charset="-122"/>
                <a:cs typeface="Calibri" pitchFamily="34" charset="-120"/>
              </a:rPr>
              <a:t>MP-46 Collecte et consolidation des demandes de formation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UFT-33-01
</a:t>
                      </a:r>
                      <a:pPr indent="0" marL="0">
                        <a:buNone/>
                      </a:pPr>
                      <a:r>
                        <a:rPr lang="en-US" sz="1000" b="1" dirty="0">
                          <a:solidFill>
                            <a:srgbClr val="3A3A3C"/>
                          </a:solidFill>
                          <a:latin typeface="Calibri" pitchFamily="34" charset="0"/>
                          <a:ea typeface="Calibri" pitchFamily="34" charset="-122"/>
                          <a:cs typeface="Calibri" pitchFamily="34" charset="-120"/>
                        </a:rPr>
                        <a:t>Sélectionner le modèle de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 </a:t>
                      </a:r>
                      <a:pPr indent="0" marL="0">
                        <a:buNone/>
                      </a:pPr>
                      <a:r>
                        <a:rPr lang="en-US" sz="1000" dirty="0">
                          <a:solidFill>
                            <a:srgbClr val="58595B"/>
                          </a:solidFill>
                          <a:latin typeface="Calibri" pitchFamily="34" charset="0"/>
                          <a:ea typeface="Calibri" pitchFamily="34" charset="-122"/>
                          <a:cs typeface="Calibri" pitchFamily="34" charset="-120"/>
                        </a:rPr>
                        <a:t>Sélectionner le modèle de questionnaire par orientation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Modèle : « Besoins IA — Établissements de santé » dans la langue de l'utilisateur, 5 sections.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UFT-33-02
</a:t>
                      </a:r>
                      <a:pPr indent="0" marL="0">
                        <a:buNone/>
                      </a:pPr>
                      <a:r>
                        <a:rPr lang="en-US" sz="1000" b="1" dirty="0">
                          <a:solidFill>
                            <a:srgbClr val="3A3A3C"/>
                          </a:solidFill>
                          <a:latin typeface="Calibri" pitchFamily="34" charset="0"/>
                          <a:ea typeface="Calibri" pitchFamily="34" charset="-122"/>
                          <a:cs typeface="Calibri" pitchFamily="34" charset="-120"/>
                        </a:rPr>
                        <a:t>Élaborer le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MP-54.2 </a:t>
                      </a:r>
                      <a:pPr indent="0" marL="0">
                        <a:buNone/>
                      </a:pPr>
                      <a:r>
                        <a:rPr lang="en-US" sz="1000" dirty="0">
                          <a:solidFill>
                            <a:srgbClr val="58595B"/>
                          </a:solidFill>
                          <a:latin typeface="Calibri" pitchFamily="34" charset="0"/>
                          <a:ea typeface="Calibri" pitchFamily="34" charset="-122"/>
                          <a:cs typeface="Calibri" pitchFamily="34" charset="-120"/>
                        </a:rPr>
                        <a:t>Élaborer le questionnaire (charger/IA/manuel)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Mode d'élaboration : IA. 24 questions générées à partir du périmètre approuvé.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UFT-33-03
</a:t>
                      </a:r>
                      <a:pPr indent="0" marL="0">
                        <a:buNone/>
                      </a:pPr>
                      <a:r>
                        <a:rPr lang="en-US" sz="1000" b="1" dirty="0">
                          <a:solidFill>
                            <a:srgbClr val="3A3A3C"/>
                          </a:solidFill>
                          <a:latin typeface="Calibri" pitchFamily="34" charset="0"/>
                          <a:ea typeface="Calibri" pitchFamily="34" charset="-122"/>
                          <a:cs typeface="Calibri" pitchFamily="34" charset="-120"/>
                        </a:rPr>
                        <a:t>Adapter et valider le contenu</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MP-54.3 </a:t>
                      </a:r>
                      <a:pPr indent="0" marL="0">
                        <a:buNone/>
                      </a:pPr>
                      <a:r>
                        <a:rPr lang="en-US" sz="1000" dirty="0">
                          <a:solidFill>
                            <a:srgbClr val="58595B"/>
                          </a:solidFill>
                          <a:latin typeface="Calibri" pitchFamily="34" charset="0"/>
                          <a:ea typeface="Calibri" pitchFamily="34" charset="-122"/>
                          <a:cs typeface="Calibri" pitchFamily="34" charset="-120"/>
                        </a:rPr>
                        <a:t>Adapter au secteur et à l'orientation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Valider chaque question ; reformuler 5 avec le vocabulaire Soins cliniques et infirmiers ; supprimer 2 doublons.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UFT-33-04
</a:t>
                      </a:r>
                      <a:pPr indent="0" marL="0">
                        <a:buNone/>
                      </a:pPr>
                      <a:r>
                        <a:rPr lang="en-US" sz="1000" b="1" dirty="0">
                          <a:solidFill>
                            <a:srgbClr val="3A3A3C"/>
                          </a:solidFill>
                          <a:latin typeface="Calibri" pitchFamily="34" charset="0"/>
                          <a:ea typeface="Calibri" pitchFamily="34" charset="-122"/>
                          <a:cs typeface="Calibri" pitchFamily="34" charset="-120"/>
                        </a:rPr>
                        <a:t>Affecter le RACSI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MP-54.4 </a:t>
                      </a:r>
                      <a:pPr indent="0" marL="0">
                        <a:buNone/>
                      </a:pPr>
                      <a:r>
                        <a:rPr lang="en-US" sz="1000" dirty="0">
                          <a:solidFill>
                            <a:srgbClr val="58595B"/>
                          </a:solidFill>
                          <a:latin typeface="Calibri" pitchFamily="34" charset="0"/>
                          <a:ea typeface="Calibri" pitchFamily="34" charset="-122"/>
                          <a:cs typeface="Calibri" pitchFamily="34" charset="-120"/>
                        </a:rPr>
                        <a:t>Affecter le RACSI par section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Section « Pratiques numériques » : R analyste formation, A responsable formation, C consultant, S DSI, I DRH (un seul 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UFT-33-05
</a:t>
                      </a:r>
                      <a:pPr indent="0" marL="0">
                        <a:buNone/>
                      </a:pPr>
                      <a:r>
                        <a:rPr lang="en-US" sz="1000" b="1" dirty="0">
                          <a:solidFill>
                            <a:srgbClr val="3A3A3C"/>
                          </a:solidFill>
                          <a:latin typeface="Calibri" pitchFamily="34" charset="0"/>
                          <a:ea typeface="Calibri" pitchFamily="34" charset="-122"/>
                          <a:cs typeface="Calibri" pitchFamily="34" charset="-120"/>
                        </a:rPr>
                        <a:t>Choisir les canaux de diffusion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MP-54.5 </a:t>
                      </a:r>
                      <a:pPr indent="0" marL="0">
                        <a:buNone/>
                      </a:pPr>
                      <a:r>
                        <a:rPr lang="en-US" sz="1000" dirty="0">
                          <a:solidFill>
                            <a:srgbClr val="58595B"/>
                          </a:solidFill>
                          <a:latin typeface="Calibri" pitchFamily="34" charset="0"/>
                          <a:ea typeface="Calibri" pitchFamily="34" charset="-122"/>
                          <a:cs typeface="Calibri" pitchFamily="34" charset="-120"/>
                        </a:rPr>
                        <a:t>Choisir les canaux de diffusion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Canaux : MS et MO par e-mail ; OP en présentiel sur tablette ; équipe de nuit en hybride.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3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3-11 Vérifier le consentement et publier le jeu de donné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UFT-33-11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E2E-33 · RACINE —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questionnaire à la collecte des réponses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UFT-33-06
</a:t>
                      </a:r>
                      <a:pPr indent="0" marL="0">
                        <a:buNone/>
                      </a:pPr>
                      <a:r>
                        <a:rPr lang="en-US" sz="1000" b="1" dirty="0">
                          <a:solidFill>
                            <a:srgbClr val="3A3A3C"/>
                          </a:solidFill>
                          <a:latin typeface="Calibri" pitchFamily="34" charset="0"/>
                          <a:ea typeface="Calibri" pitchFamily="34" charset="-122"/>
                          <a:cs typeface="Calibri" pitchFamily="34" charset="-120"/>
                        </a:rPr>
                        <a:t>Diffuser le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MP-54.6 </a:t>
                      </a:r>
                      <a:pPr indent="0" marL="0">
                        <a:buNone/>
                      </a:pPr>
                      <a:r>
                        <a:rPr lang="en-US" sz="1000" dirty="0">
                          <a:solidFill>
                            <a:srgbClr val="58595B"/>
                          </a:solidFill>
                          <a:latin typeface="Calibri" pitchFamily="34" charset="0"/>
                          <a:ea typeface="Calibri" pitchFamily="34" charset="-122"/>
                          <a:cs typeface="Calibri" pitchFamily="34" charset="-120"/>
                        </a:rPr>
                        <a:t>Diffuser aux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Diffuser aux 40 parties prenantes ; 40 envois journalisés.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UFT-33-07
</a:t>
                      </a:r>
                      <a:pPr indent="0" marL="0">
                        <a:buNone/>
                      </a:pPr>
                      <a:r>
                        <a:rPr lang="en-US" sz="1000" b="1" dirty="0">
                          <a:solidFill>
                            <a:srgbClr val="3A3A3C"/>
                          </a:solidFill>
                          <a:latin typeface="Calibri" pitchFamily="34" charset="0"/>
                          <a:ea typeface="Calibri" pitchFamily="34" charset="-122"/>
                          <a:cs typeface="Calibri" pitchFamily="34" charset="-120"/>
                        </a:rPr>
                        <a:t>Envoyer les relances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MP-54.7 </a:t>
                      </a:r>
                      <a:pPr indent="0" marL="0">
                        <a:buNone/>
                      </a:pPr>
                      <a:r>
                        <a:rPr lang="en-US" sz="1000" dirty="0">
                          <a:solidFill>
                            <a:srgbClr val="58595B"/>
                          </a:solidFill>
                          <a:latin typeface="Calibri" pitchFamily="34" charset="0"/>
                          <a:ea typeface="Calibri" pitchFamily="34" charset="-122"/>
                          <a:cs typeface="Calibri" pitchFamily="34" charset="-120"/>
                        </a:rPr>
                        <a:t>Envoyer les relances selon la cadence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Relance 1 à J5 pour 17 non-répondants ; relance 2 à J10 pour 8.</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UFT-33-08
</a:t>
                      </a:r>
                      <a:pPr indent="0" marL="0">
                        <a:buNone/>
                      </a:pPr>
                      <a:r>
                        <a:rPr lang="en-US" sz="1000" b="1" dirty="0">
                          <a:solidFill>
                            <a:srgbClr val="3A3A3C"/>
                          </a:solidFill>
                          <a:latin typeface="Calibri" pitchFamily="34" charset="0"/>
                          <a:ea typeface="Calibri" pitchFamily="34" charset="-122"/>
                          <a:cs typeface="Calibri" pitchFamily="34" charset="-120"/>
                        </a:rPr>
                        <a:t>Collecter les réponses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MP-54.8 </a:t>
                      </a:r>
                      <a:pPr indent="0" marL="0">
                        <a:buNone/>
                      </a:pPr>
                      <a:r>
                        <a:rPr lang="en-US" sz="1000" dirty="0">
                          <a:solidFill>
                            <a:srgbClr val="58595B"/>
                          </a:solidFill>
                          <a:latin typeface="Calibri" pitchFamily="34" charset="0"/>
                          <a:ea typeface="Calibri" pitchFamily="34" charset="-122"/>
                          <a:cs typeface="Calibri" pitchFamily="34" charset="-120"/>
                        </a:rPr>
                        <a:t>Collecter les réponses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Réponses : 34 collectées (22 en ligne, 12 hors ligne synchronisées).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UFT-33-09
</a:t>
                      </a:r>
                      <a:pPr indent="0" marL="0">
                        <a:buNone/>
                      </a:pPr>
                      <a:r>
                        <a:rPr lang="en-US" sz="1000" b="1" dirty="0">
                          <a:solidFill>
                            <a:srgbClr val="3A3A3C"/>
                          </a:solidFill>
                          <a:latin typeface="Calibri" pitchFamily="34" charset="0"/>
                          <a:ea typeface="Calibri" pitchFamily="34" charset="-122"/>
                          <a:cs typeface="Calibri" pitchFamily="34" charset="-120"/>
                        </a:rPr>
                        <a:t>Valider la complétude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MP-54.9 </a:t>
                      </a:r>
                      <a:pPr indent="0" marL="0">
                        <a:buNone/>
                      </a:pPr>
                      <a:r>
                        <a:rPr lang="en-US" sz="1000" dirty="0">
                          <a:solidFill>
                            <a:srgbClr val="58595B"/>
                          </a:solidFill>
                          <a:latin typeface="Calibri" pitchFamily="34" charset="0"/>
                          <a:ea typeface="Calibri" pitchFamily="34" charset="-122"/>
                          <a:cs typeface="Calibri" pitchFamily="34" charset="-120"/>
                        </a:rPr>
                        <a:t>Valider la complétude et le consentement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Complétude : 31 complètes, 3 incomplètes signalées.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UFT-33-10
</a:t>
                      </a:r>
                      <a:pPr indent="0" marL="0">
                        <a:buNone/>
                      </a:pPr>
                      <a:r>
                        <a:rPr lang="en-US" sz="1000" b="1" dirty="0">
                          <a:solidFill>
                            <a:srgbClr val="3A3A3C"/>
                          </a:solidFill>
                          <a:latin typeface="Calibri" pitchFamily="34" charset="0"/>
                          <a:ea typeface="Calibri" pitchFamily="34" charset="-122"/>
                          <a:cs typeface="Calibri" pitchFamily="34" charset="-120"/>
                        </a:rPr>
                        <a:t>Consolider les réponses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MP-54.10 </a:t>
                      </a:r>
                      <a:pPr indent="0" marL="0">
                        <a:buNone/>
                      </a:pPr>
                      <a:r>
                        <a:rPr lang="en-US" sz="1000" dirty="0">
                          <a:solidFill>
                            <a:srgbClr val="58595B"/>
                          </a:solidFill>
                          <a:latin typeface="Calibri" pitchFamily="34" charset="0"/>
                          <a:ea typeface="Calibri" pitchFamily="34" charset="-122"/>
                          <a:cs typeface="Calibri" pitchFamily="34" charset="-120"/>
                        </a:rPr>
                        <a:t>Consolider les réponses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Jeu consolidé : 31 réponses, 24 questions, par fonction et niveau.</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UFT-33-11
</a:t>
                      </a:r>
                      <a:pPr indent="0" marL="0">
                        <a:buNone/>
                      </a:pPr>
                      <a:r>
                        <a:rPr lang="en-US" sz="1000" b="1" dirty="0">
                          <a:solidFill>
                            <a:srgbClr val="3A3A3C"/>
                          </a:solidFill>
                          <a:latin typeface="Calibri" pitchFamily="34" charset="0"/>
                          <a:ea typeface="Calibri" pitchFamily="34" charset="-122"/>
                          <a:cs typeface="Calibri" pitchFamily="34" charset="-120"/>
                        </a:rPr>
                        <a:t>Vérifier le consentement et publier le jeu de données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MP-54.11 </a:t>
                      </a:r>
                      <a:pPr indent="0" marL="0">
                        <a:buNone/>
                      </a:pPr>
                      <a:r>
                        <a:rPr lang="en-US" sz="1000" dirty="0">
                          <a:solidFill>
                            <a:srgbClr val="58595B"/>
                          </a:solidFill>
                          <a:latin typeface="Calibri" pitchFamily="34" charset="0"/>
                          <a:ea typeface="Calibri" pitchFamily="34" charset="-122"/>
                          <a:cs typeface="Calibri" pitchFamily="34" charset="-120"/>
                        </a:rPr>
                        <a:t>Alimenter l'analyse des besoins et le diagnostic</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MP-54.12 </a:t>
                      </a:r>
                      <a:pPr indent="0" marL="0">
                        <a:buNone/>
                      </a:pPr>
                      <a:r>
                        <a:rPr lang="en-US" sz="1000" dirty="0">
                          <a:solidFill>
                            <a:srgbClr val="58595B"/>
                          </a:solidFill>
                          <a:latin typeface="Calibri" pitchFamily="34" charset="0"/>
                          <a:ea typeface="Calibri" pitchFamily="34" charset="-122"/>
                          <a:cs typeface="Calibri" pitchFamily="34" charset="-120"/>
                        </a:rPr>
                        <a:t>Rendre compte du taux de réponse et de l'engagement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Consentement donné pour 31 réponses stockées sur 31 ; transmission à l'analyse des besoins, au diagnostic et aux demandes.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UFT-33-12
</a:t>
                      </a:r>
                      <a:pPr indent="0" marL="0">
                        <a:buNone/>
                      </a:pPr>
                      <a:r>
                        <a:rPr lang="en-US" sz="1000" b="1" dirty="0">
                          <a:solidFill>
                            <a:srgbClr val="3A3A3C"/>
                          </a:solidFill>
                          <a:latin typeface="Calibri" pitchFamily="34" charset="0"/>
                          <a:ea typeface="Calibri" pitchFamily="34" charset="-122"/>
                          <a:cs typeface="Calibri" pitchFamily="34" charset="-120"/>
                        </a:rPr>
                        <a:t>Rendre compte des réponses et de l'engagement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MP-54.12 </a:t>
                      </a:r>
                      <a:pPr indent="0" marL="0">
                        <a:buNone/>
                      </a:pPr>
                      <a:r>
                        <a:rPr lang="en-US" sz="1000" dirty="0">
                          <a:solidFill>
                            <a:srgbClr val="58595B"/>
                          </a:solidFill>
                          <a:latin typeface="Calibri" pitchFamily="34" charset="0"/>
                          <a:ea typeface="Calibri" pitchFamily="34" charset="-122"/>
                          <a:cs typeface="Calibri" pitchFamily="34" charset="-120"/>
                        </a:rPr>
                        <a:t>Rendre compte du taux de réponse et de l'engagement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Taux de réponse 85 % ; taux d'engagement 78 % ; complétude 91 % (RPT-034).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33"/>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3">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E2E-33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E2E-03, E2E-20, E2E-27</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E2E-19 · RACINE (CONSEIL)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mission de conseil à la clôture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Gérer le cycle de vie complet d'une mission de conseil</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Bon de commande client ou demande de mission reçu.</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Mission clôturée avec acceptation du client et REX enregistré.</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9 tâches · 15 étapes
</a:t>
            </a:r>
            <a:pPr indent="0" marL="0">
              <a:buNone/>
            </a:pPr>
            <a:r>
              <a:rPr lang="en-US" sz="1100" dirty="0">
                <a:solidFill>
                  <a:srgbClr val="3A3A3C"/>
                </a:solidFill>
                <a:latin typeface="Calibri" pitchFamily="34" charset="0"/>
                <a:ea typeface="Calibri" pitchFamily="34" charset="-122"/>
                <a:cs typeface="Calibri" pitchFamily="34" charset="-120"/>
              </a:rPr>
              <a:t>26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MP-36 Gestion des missions de conseil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MP-19 Conduite du changement et adoption · </a:t>
            </a:r>
            <a:pPr indent="0" marL="0">
              <a:buNone/>
            </a:pPr>
            <a:r>
              <a:rPr lang="en-US" sz="1000" dirty="0">
                <a:solidFill>
                  <a:srgbClr val="58595B"/>
                </a:solidFill>
                <a:latin typeface="Calibri" pitchFamily="34" charset="0"/>
                <a:ea typeface="Calibri" pitchFamily="34" charset="-122"/>
                <a:cs typeface="Calibri" pitchFamily="34" charset="-120"/>
              </a:rPr>
              <a:t>MP-20 Qualité, risques et amélioration continue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UFT-19-01
</a:t>
                      </a:r>
                      <a:pPr indent="0" marL="0">
                        <a:buNone/>
                      </a:pPr>
                      <a:r>
                        <a:rPr lang="en-US" sz="1000" b="1" dirty="0">
                          <a:solidFill>
                            <a:srgbClr val="3A3A3C"/>
                          </a:solidFill>
                          <a:latin typeface="Calibri" pitchFamily="34" charset="0"/>
                          <a:ea typeface="Calibri" pitchFamily="34" charset="-122"/>
                          <a:cs typeface="Calibri" pitchFamily="34" charset="-120"/>
                        </a:rPr>
                        <a:t>Enregistrer la mission et le bon de commande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MP-36.1 </a:t>
                      </a:r>
                      <a:pPr indent="0" marL="0">
                        <a:buNone/>
                      </a:pPr>
                      <a:r>
                        <a:rPr lang="en-US" sz="1000" dirty="0">
                          <a:solidFill>
                            <a:srgbClr val="58595B"/>
                          </a:solidFill>
                          <a:latin typeface="Calibri" pitchFamily="34" charset="0"/>
                          <a:ea typeface="Calibri" pitchFamily="34" charset="-122"/>
                          <a:cs typeface="Calibri" pitchFamily="34" charset="-120"/>
                        </a:rPr>
                        <a:t>Enregistrer la mission et le bon de commande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Mission « Ingénierie de formation 2026 — Groupe Santéora Cliniques Privées », BC-CL-221, 45 jours de conseil.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UFT-19-02
</a:t>
                      </a:r>
                      <a:pPr indent="0" marL="0">
                        <a:buNone/>
                      </a:pPr>
                      <a:r>
                        <a:rPr lang="en-US" sz="1000" b="1" dirty="0">
                          <a:solidFill>
                            <a:srgbClr val="3A3A3C"/>
                          </a:solidFill>
                          <a:latin typeface="Calibri" pitchFamily="34" charset="0"/>
                          <a:ea typeface="Calibri" pitchFamily="34" charset="-122"/>
                          <a:cs typeface="Calibri" pitchFamily="34" charset="-120"/>
                        </a:rPr>
                        <a:t>Tenir la réunion de lancement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MP-36.2 </a:t>
                      </a:r>
                      <a:pPr indent="0" marL="0">
                        <a:buNone/>
                      </a:pPr>
                      <a:r>
                        <a:rPr lang="en-US" sz="1000" dirty="0">
                          <a:solidFill>
                            <a:srgbClr val="58595B"/>
                          </a:solidFill>
                          <a:latin typeface="Calibri" pitchFamily="34" charset="0"/>
                          <a:ea typeface="Calibri" pitchFamily="34" charset="-122"/>
                          <a:cs typeface="Calibri" pitchFamily="34" charset="-120"/>
                        </a:rPr>
                        <a:t>Tenir la réunion de lancement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Réunion de lancement le 10 février avec la DRH, le responsable formation et 4 responsables de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UFT-19-03
</a:t>
                      </a:r>
                      <a:pPr indent="0" marL="0">
                        <a:buNone/>
                      </a:pPr>
                      <a:r>
                        <a:rPr lang="en-US" sz="1000" b="1" dirty="0">
                          <a:solidFill>
                            <a:srgbClr val="3A3A3C"/>
                          </a:solidFill>
                          <a:latin typeface="Calibri" pitchFamily="34" charset="0"/>
                          <a:ea typeface="Calibri" pitchFamily="34" charset="-122"/>
                          <a:cs typeface="Calibri" pitchFamily="34" charset="-120"/>
                        </a:rPr>
                        <a:t>Rédiger le compte rendu de réunion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MP-36.3 </a:t>
                      </a:r>
                      <a:pPr indent="0" marL="0">
                        <a:buNone/>
                      </a:pPr>
                      <a:r>
                        <a:rPr lang="en-US" sz="1000" dirty="0">
                          <a:solidFill>
                            <a:srgbClr val="58595B"/>
                          </a:solidFill>
                          <a:latin typeface="Calibri" pitchFamily="34" charset="0"/>
                          <a:ea typeface="Calibri" pitchFamily="34" charset="-122"/>
                          <a:cs typeface="Calibri" pitchFamily="34" charset="-120"/>
                        </a:rPr>
                        <a:t>Rédiger le compte rendu de réunion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Revoir le PV généré par l'IA : 6 décisions, 9 actions, RACSI extrait ; corriger 1 nom de responsable.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UFT-19-04
</a:t>
                      </a:r>
                      <a:pPr indent="0" marL="0">
                        <a:buNone/>
                      </a:pPr>
                      <a:r>
                        <a:rPr lang="en-US" sz="1000" b="1" dirty="0">
                          <a:solidFill>
                            <a:srgbClr val="3A3A3C"/>
                          </a:solidFill>
                          <a:latin typeface="Calibri" pitchFamily="34" charset="0"/>
                          <a:ea typeface="Calibri" pitchFamily="34" charset="-122"/>
                          <a:cs typeface="Calibri" pitchFamily="34" charset="-120"/>
                        </a:rPr>
                        <a:t>S'aligner sur la stratégie du client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Enregistrer les objectifs stratégiques de l'entreprise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MP-01.2 </a:t>
                      </a:r>
                      <a:pPr indent="0" marL="0">
                        <a:buNone/>
                      </a:pPr>
                      <a:r>
                        <a:rPr lang="en-US" sz="1000" dirty="0">
                          <a:solidFill>
                            <a:srgbClr val="58595B"/>
                          </a:solidFill>
                          <a:latin typeface="Calibri" pitchFamily="34" charset="0"/>
                          <a:ea typeface="Calibri" pitchFamily="34" charset="-122"/>
                          <a:cs typeface="Calibri" pitchFamily="34" charset="-120"/>
                        </a:rPr>
                        <a:t>Relier les objectifs aux fonctions et aux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Objectifs du client enregistrés : Triage IA et aide à la décision clinique et conformité ISO 7101 pour Soins cliniques et infirmiers.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UFT-19-05
</a:t>
                      </a:r>
                      <a:pPr indent="0" marL="0">
                        <a:buNone/>
                      </a:pPr>
                      <a:r>
                        <a:rPr lang="en-US" sz="1000" b="1" dirty="0">
                          <a:solidFill>
                            <a:srgbClr val="3A3A3C"/>
                          </a:solidFill>
                          <a:latin typeface="Calibri" pitchFamily="34" charset="0"/>
                          <a:ea typeface="Calibri" pitchFamily="34" charset="-122"/>
                          <a:cs typeface="Calibri" pitchFamily="34" charset="-120"/>
                        </a:rPr>
                        <a:t>Planifier l'organigramme des tâches de la 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MP-36.4 </a:t>
                      </a:r>
                      <a:pPr indent="0" marL="0">
                        <a:buNone/>
                      </a:pPr>
                      <a:r>
                        <a:rPr lang="en-US" sz="1000" dirty="0">
                          <a:solidFill>
                            <a:srgbClr val="58595B"/>
                          </a:solidFill>
                          <a:latin typeface="Calibri" pitchFamily="34" charset="0"/>
                          <a:ea typeface="Calibri" pitchFamily="34" charset="-122"/>
                          <a:cs typeface="Calibri" pitchFamily="34" charset="-120"/>
                        </a:rPr>
                        <a:t>Planifier l'organigramme des tâches de la 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WBS : 6 phases, 14 livrables, Gantt de février à novembre.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9"/>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9-04 S'aligner sur la stratégie du client">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UFT-19-04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E2E-19 · RACINE (CONSEIL)</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mission de conseil à la clôture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UFT-19-06
</a:t>
                      </a:r>
                      <a:pPr indent="0" marL="0">
                        <a:buNone/>
                      </a:pPr>
                      <a:r>
                        <a:rPr lang="en-US" sz="1000" b="1" dirty="0">
                          <a:solidFill>
                            <a:srgbClr val="3A3A3C"/>
                          </a:solidFill>
                          <a:latin typeface="Calibri" pitchFamily="34" charset="0"/>
                          <a:ea typeface="Calibri" pitchFamily="34" charset="-122"/>
                          <a:cs typeface="Calibri" pitchFamily="34" charset="-120"/>
                        </a:rPr>
                        <a:t>Planifier l'accompagnement du changement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MP-19.1 </a:t>
                      </a:r>
                      <a:pPr indent="0" marL="0">
                        <a:buNone/>
                      </a:pPr>
                      <a:r>
                        <a:rPr lang="en-US" sz="1000" dirty="0">
                          <a:solidFill>
                            <a:srgbClr val="58595B"/>
                          </a:solidFill>
                          <a:latin typeface="Calibri" pitchFamily="34" charset="0"/>
                          <a:ea typeface="Calibri" pitchFamily="34" charset="-122"/>
                          <a:cs typeface="Calibri" pitchFamily="34" charset="-120"/>
                        </a:rPr>
                        <a:t>Évaluer l'impact du changement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MP-19.2 </a:t>
                      </a:r>
                      <a:pPr indent="0" marL="0">
                        <a:buNone/>
                      </a:pPr>
                      <a:r>
                        <a:rPr lang="en-US" sz="1000" dirty="0">
                          <a:solidFill>
                            <a:srgbClr val="58595B"/>
                          </a:solidFill>
                          <a:latin typeface="Calibri" pitchFamily="34" charset="0"/>
                          <a:ea typeface="Calibri" pitchFamily="34" charset="-122"/>
                          <a:cs typeface="Calibri" pitchFamily="34" charset="-120"/>
                        </a:rPr>
                        <a:t>Construire le plan d'adoption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 de changement : 3 messages du sponsor, réseau de relais, 2 réunions plénières.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UFT-19-07
</a:t>
                      </a:r>
                      <a:pPr indent="0" marL="0">
                        <a:buNone/>
                      </a:pPr>
                      <a:r>
                        <a:rPr lang="en-US" sz="1000" b="1" dirty="0">
                          <a:solidFill>
                            <a:srgbClr val="3A3A3C"/>
                          </a:solidFill>
                          <a:latin typeface="Calibri" pitchFamily="34" charset="0"/>
                          <a:ea typeface="Calibri" pitchFamily="34" charset="-122"/>
                          <a:cs typeface="Calibri" pitchFamily="34" charset="-120"/>
                        </a:rPr>
                        <a:t>Suivre les livrables de la 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MP-36.5 </a:t>
                      </a:r>
                      <a:pPr indent="0" marL="0">
                        <a:buNone/>
                      </a:pPr>
                      <a:r>
                        <a:rPr lang="en-US" sz="1000" dirty="0">
                          <a:solidFill>
                            <a:srgbClr val="58595B"/>
                          </a:solidFill>
                          <a:latin typeface="Calibri" pitchFamily="34" charset="0"/>
                          <a:ea typeface="Calibri" pitchFamily="34" charset="-122"/>
                          <a:cs typeface="Calibri" pitchFamily="34" charset="-120"/>
                        </a:rPr>
                        <a:t>Suivre les livrables de la mission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Mener la revue qualité périodique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Livrables : 9 sur 14 livrés à temps, 1 en retard (SWOT), 4 planifiés.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UFT-19-08
</a:t>
                      </a:r>
                      <a:pPr indent="0" marL="0">
                        <a:buNone/>
                      </a:pPr>
                      <a:r>
                        <a:rPr lang="en-US" sz="1000" b="1" dirty="0">
                          <a:solidFill>
                            <a:srgbClr val="3A3A3C"/>
                          </a:solidFill>
                          <a:latin typeface="Calibri" pitchFamily="34" charset="0"/>
                          <a:ea typeface="Calibri" pitchFamily="34" charset="-122"/>
                          <a:cs typeface="Calibri" pitchFamily="34" charset="-120"/>
                        </a:rPr>
                        <a:t>Remettre le rapport final et obtenir l'acceptation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MP-36.6 </a:t>
                      </a:r>
                      <a:pPr indent="0" marL="0">
                        <a:buNone/>
                      </a:pPr>
                      <a:r>
                        <a:rPr lang="en-US" sz="1000" dirty="0">
                          <a:solidFill>
                            <a:srgbClr val="58595B"/>
                          </a:solidFill>
                          <a:latin typeface="Calibri" pitchFamily="34" charset="0"/>
                          <a:ea typeface="Calibri" pitchFamily="34" charset="-122"/>
                          <a:cs typeface="Calibri" pitchFamily="34" charset="-120"/>
                        </a:rPr>
                        <a:t>Remettre le rapport final</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MP-36.7 </a:t>
                      </a:r>
                      <a:pPr indent="0" marL="0">
                        <a:buNone/>
                      </a:pPr>
                      <a:r>
                        <a:rPr lang="en-US" sz="1000" dirty="0">
                          <a:solidFill>
                            <a:srgbClr val="58595B"/>
                          </a:solidFill>
                          <a:latin typeface="Calibri" pitchFamily="34" charset="0"/>
                          <a:ea typeface="Calibri" pitchFamily="34" charset="-122"/>
                          <a:cs typeface="Calibri" pitchFamily="34" charset="-120"/>
                        </a:rPr>
                        <a:t>Obtenir l'acceptation du client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Rapport final livré ; réception signée par la DRH le 28 novembre.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UFT-19-09
</a:t>
                      </a:r>
                      <a:pPr indent="0" marL="0">
                        <a:buNone/>
                      </a:pPr>
                      <a:r>
                        <a:rPr lang="en-US" sz="1000" b="1" dirty="0">
                          <a:solidFill>
                            <a:srgbClr val="3A3A3C"/>
                          </a:solidFill>
                          <a:latin typeface="Calibri" pitchFamily="34" charset="0"/>
                          <a:ea typeface="Calibri" pitchFamily="34" charset="-122"/>
                          <a:cs typeface="Calibri" pitchFamily="34" charset="-120"/>
                        </a:rPr>
                        <a:t>Enregistrer le REX de la 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MP-36.8 </a:t>
                      </a:r>
                      <a:pPr indent="0" marL="0">
                        <a:buNone/>
                      </a:pPr>
                      <a:r>
                        <a:rPr lang="en-US" sz="1000" dirty="0">
                          <a:solidFill>
                            <a:srgbClr val="58595B"/>
                          </a:solidFill>
                          <a:latin typeface="Calibri" pitchFamily="34" charset="0"/>
                          <a:ea typeface="Calibri" pitchFamily="34" charset="-122"/>
                          <a:cs typeface="Calibri" pitchFamily="34" charset="-120"/>
                        </a:rPr>
                        <a:t>Enregistrer le REX de la mission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MP-12.6 </a:t>
                      </a:r>
                      <a:pPr indent="0" marL="0">
                        <a:buNone/>
                      </a:pPr>
                      <a:r>
                        <a:rPr lang="en-US" sz="1000" dirty="0">
                          <a:solidFill>
                            <a:srgbClr val="58595B"/>
                          </a:solidFill>
                          <a:latin typeface="Calibri" pitchFamily="34" charset="0"/>
                          <a:ea typeface="Calibri" pitchFamily="34" charset="-122"/>
                          <a:cs typeface="Calibri" pitchFamily="34" charset="-120"/>
                        </a:rPr>
                        <a:t>Enregistrer une fiche REX</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MP-12.5 </a:t>
                      </a:r>
                      <a:pPr indent="0" marL="0">
                        <a:buNone/>
                      </a:pPr>
                      <a:r>
                        <a:rPr lang="en-US" sz="1000" dirty="0">
                          <a:solidFill>
                            <a:srgbClr val="58595B"/>
                          </a:solidFill>
                          <a:latin typeface="Calibri" pitchFamily="34" charset="0"/>
                          <a:ea typeface="Calibri" pitchFamily="34" charset="-122"/>
                          <a:cs typeface="Calibri" pitchFamily="34" charset="-120"/>
                        </a:rPr>
                        <a:t>Solliciter un REX à la clôture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REX : réussi — registre des parties prenantes ; moins bien — SWOT tardif ; cause — pas de suppléant ; note 4/5.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9"/>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9">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E2E-19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E2E-20, E2E-03, E2E-31</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E2E-24 · RACINE (STRATÉGIQUE)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veille concurrentielle à la stratégie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Analyser l'environnement externe et alimenter la stratégie de formation</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Cycle stratégique annuel ou demande de la direction d'une analyse de positionnement marché.</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Rapport de veille concurrentielle validé alimentant la stratégie de formation et le diagnostic organisationnel.</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MP-43 Veille stratégique et concurrentielle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MP-37 Diagnostic organisationnel multi-axes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UFT-24-01
</a:t>
                      </a:r>
                      <a:pPr indent="0" marL="0">
                        <a:buNone/>
                      </a:pPr>
                      <a:r>
                        <a:rPr lang="en-US" sz="1000" b="1" dirty="0">
                          <a:solidFill>
                            <a:srgbClr val="3A3A3C"/>
                          </a:solidFill>
                          <a:latin typeface="Calibri" pitchFamily="34" charset="0"/>
                          <a:ea typeface="Calibri" pitchFamily="34" charset="-122"/>
                          <a:cs typeface="Calibri" pitchFamily="34" charset="-120"/>
                        </a:rPr>
                        <a:t>Définir le périmètre de veille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MP-43.1 </a:t>
                      </a:r>
                      <a:pPr indent="0" marL="0">
                        <a:buNone/>
                      </a:pPr>
                      <a:r>
                        <a:rPr lang="en-US" sz="1000" dirty="0">
                          <a:solidFill>
                            <a:srgbClr val="58595B"/>
                          </a:solidFill>
                          <a:latin typeface="Calibri" pitchFamily="34" charset="0"/>
                          <a:ea typeface="Calibri" pitchFamily="34" charset="-122"/>
                          <a:cs typeface="Calibri" pitchFamily="34" charset="-120"/>
                        </a:rPr>
                        <a:t>Définir le périmètre de veille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Périmètre : marché Établissements de santé au Maroc et à l'export ; horizon 3 ans ; focus sur Triage IA et aide à la décision clinique et Assistance IA en imagerie médicale.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UFT-24-02
</a:t>
                      </a:r>
                      <a:pPr indent="0" marL="0">
                        <a:buNone/>
                      </a:pPr>
                      <a:r>
                        <a:rPr lang="en-US" sz="1000" b="1" dirty="0">
                          <a:solidFill>
                            <a:srgbClr val="3A3A3C"/>
                          </a:solidFill>
                          <a:latin typeface="Calibri" pitchFamily="34" charset="0"/>
                          <a:ea typeface="Calibri" pitchFamily="34" charset="-122"/>
                          <a:cs typeface="Calibri" pitchFamily="34" charset="-120"/>
                        </a:rPr>
                        <a:t>Réaliser les cinq forces de Porter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MP-43.2 </a:t>
                      </a:r>
                      <a:pPr indent="0" marL="0">
                        <a:buNone/>
                      </a:pPr>
                      <a:r>
                        <a:rPr lang="en-US" sz="1000" dirty="0">
                          <a:solidFill>
                            <a:srgbClr val="58595B"/>
                          </a:solidFill>
                          <a:latin typeface="Calibri" pitchFamily="34" charset="0"/>
                          <a:ea typeface="Calibri" pitchFamily="34" charset="-122"/>
                          <a:cs typeface="Calibri" pitchFamily="34" charset="-120"/>
                        </a:rPr>
                        <a:t>Réaliser l'analyse des cinq forces de Porter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Concurrence 4/5 ; nouveaux entrants 3/5 ; substituts 2/5 ; pouvoir des fournisseurs 3/5 ; pouvoir des clients 4/5.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UFT-24-03
</a:t>
                      </a:r>
                      <a:pPr indent="0" marL="0">
                        <a:buNone/>
                      </a:pPr>
                      <a:r>
                        <a:rPr lang="en-US" sz="1000" b="1" dirty="0">
                          <a:solidFill>
                            <a:srgbClr val="3A3A3C"/>
                          </a:solidFill>
                          <a:latin typeface="Calibri" pitchFamily="34" charset="0"/>
                          <a:ea typeface="Calibri" pitchFamily="34" charset="-122"/>
                          <a:cs typeface="Calibri" pitchFamily="34" charset="-120"/>
                        </a:rPr>
                        <a:t>Cartographier les segments de marché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MP-43.3 </a:t>
                      </a:r>
                      <a:pPr indent="0" marL="0">
                        <a:buNone/>
                      </a:pPr>
                      <a:r>
                        <a:rPr lang="en-US" sz="1000" dirty="0">
                          <a:solidFill>
                            <a:srgbClr val="58595B"/>
                          </a:solidFill>
                          <a:latin typeface="Calibri" pitchFamily="34" charset="0"/>
                          <a:ea typeface="Calibri" pitchFamily="34" charset="-122"/>
                          <a:cs typeface="Calibri" pitchFamily="34" charset="-120"/>
                        </a:rPr>
                        <a:t>Cartographier les segments de marché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Segments : grands comptes (55 % du CA), revendeurs (30 %), petits clients directs (15 %).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UFT-24-04
</a:t>
                      </a:r>
                      <a:pPr indent="0" marL="0">
                        <a:buNone/>
                      </a:pPr>
                      <a:r>
                        <a:rPr lang="en-US" sz="1000" b="1" dirty="0">
                          <a:solidFill>
                            <a:srgbClr val="3A3A3C"/>
                          </a:solidFill>
                          <a:latin typeface="Calibri" pitchFamily="34" charset="0"/>
                          <a:ea typeface="Calibri" pitchFamily="34" charset="-122"/>
                          <a:cs typeface="Calibri" pitchFamily="34" charset="-120"/>
                        </a:rPr>
                        <a:t>Analyser le positionnement des concurrents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MP-43.4 </a:t>
                      </a:r>
                      <a:pPr indent="0" marL="0">
                        <a:buNone/>
                      </a:pPr>
                      <a:r>
                        <a:rPr lang="en-US" sz="1000" dirty="0">
                          <a:solidFill>
                            <a:srgbClr val="58595B"/>
                          </a:solidFill>
                          <a:latin typeface="Calibri" pitchFamily="34" charset="0"/>
                          <a:ea typeface="Calibri" pitchFamily="34" charset="-122"/>
                          <a:cs typeface="Calibri" pitchFamily="34" charset="-120"/>
                        </a:rPr>
                        <a:t>Analyser le positionnement des concurrents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Le concurrent A est en avance sur Triage IA et aide à la décision clinique ; le concurrent B moins cher mais plus faible sur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4"/>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4-01 Définir le périmètre de veill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UFT-24-01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1 · E2E-24 · RACINE (STRATÉGIQUE)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veille concurrentielle à la stratégie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UFT-24-05
</a:t>
                      </a:r>
                      <a:pPr indent="0" marL="0">
                        <a:buNone/>
                      </a:pPr>
                      <a:r>
                        <a:rPr lang="en-US" sz="1000" b="1" dirty="0">
                          <a:solidFill>
                            <a:srgbClr val="3A3A3C"/>
                          </a:solidFill>
                          <a:latin typeface="Calibri" pitchFamily="34" charset="0"/>
                          <a:ea typeface="Calibri" pitchFamily="34" charset="-122"/>
                          <a:cs typeface="Calibri" pitchFamily="34" charset="-120"/>
                        </a:rPr>
                        <a:t>Suivre les tendances réglementaires et technologiques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MP-43.5 </a:t>
                      </a:r>
                      <a:pPr indent="0" marL="0">
                        <a:buNone/>
                      </a:pPr>
                      <a:r>
                        <a:rPr lang="en-US" sz="1000" dirty="0">
                          <a:solidFill>
                            <a:srgbClr val="58595B"/>
                          </a:solidFill>
                          <a:latin typeface="Calibri" pitchFamily="34" charset="0"/>
                          <a:ea typeface="Calibri" pitchFamily="34" charset="-122"/>
                          <a:cs typeface="Calibri" pitchFamily="34" charset="-120"/>
                        </a:rPr>
                        <a:t>Suivre les évolutions réglementaires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MP-43.6 </a:t>
                      </a:r>
                      <a:pPr indent="0" marL="0">
                        <a:buNone/>
                      </a:pPr>
                      <a:r>
                        <a:rPr lang="en-US" sz="1000" dirty="0">
                          <a:solidFill>
                            <a:srgbClr val="58595B"/>
                          </a:solidFill>
                          <a:latin typeface="Calibri" pitchFamily="34" charset="0"/>
                          <a:ea typeface="Calibri" pitchFamily="34" charset="-122"/>
                          <a:cs typeface="Calibri" pitchFamily="34" charset="-120"/>
                        </a:rPr>
                        <a:t>Suivre les tendances technologiques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MP-43.7 </a:t>
                      </a:r>
                      <a:pPr indent="0" marL="0">
                        <a:buNone/>
                      </a:pPr>
                      <a:r>
                        <a:rPr lang="en-US" sz="1000" dirty="0">
                          <a:solidFill>
                            <a:srgbClr val="58595B"/>
                          </a:solidFill>
                          <a:latin typeface="Calibri" pitchFamily="34" charset="0"/>
                          <a:ea typeface="Calibri" pitchFamily="34" charset="-122"/>
                          <a:cs typeface="Calibri" pitchFamily="34" charset="-120"/>
                        </a:rPr>
                        <a:t>Se comparer au secteur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Tendances : révision de ISO 7101 prévue l'an prochain ; forte croissance de Planification IA des lits et des effectifs.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UFT-24-06
</a:t>
                      </a:r>
                      <a:pPr indent="0" marL="0">
                        <a:buNone/>
                      </a:pPr>
                      <a:r>
                        <a:rPr lang="en-US" sz="1000" b="1" dirty="0">
                          <a:solidFill>
                            <a:srgbClr val="3A3A3C"/>
                          </a:solidFill>
                          <a:latin typeface="Calibri" pitchFamily="34" charset="0"/>
                          <a:ea typeface="Calibri" pitchFamily="34" charset="-122"/>
                          <a:cs typeface="Calibri" pitchFamily="34" charset="-120"/>
                        </a:rPr>
                        <a:t>Identifier les implications pour la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MP-43.8 </a:t>
                      </a:r>
                      <a:pPr indent="0" marL="0">
                        <a:buNone/>
                      </a:pPr>
                      <a:r>
                        <a:rPr lang="en-US" sz="1000" dirty="0">
                          <a:solidFill>
                            <a:srgbClr val="58595B"/>
                          </a:solidFill>
                          <a:latin typeface="Calibri" pitchFamily="34" charset="0"/>
                          <a:ea typeface="Calibri" pitchFamily="34" charset="-122"/>
                          <a:cs typeface="Calibri" pitchFamily="34" charset="-120"/>
                        </a:rPr>
                        <a:t>Identifier les implications stratégiques pour la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Implication formation : développer Triage IA et aide à la décision clinique chez les équipes grands comptes avant l'expansion du concurrent 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UFT-24-07
</a:t>
                      </a:r>
                      <a:pPr indent="0" marL="0">
                        <a:buNone/>
                      </a:pPr>
                      <a:r>
                        <a:rPr lang="en-US" sz="1000" b="1" dirty="0">
                          <a:solidFill>
                            <a:srgbClr val="3A3A3C"/>
                          </a:solidFill>
                          <a:latin typeface="Calibri" pitchFamily="34" charset="0"/>
                          <a:ea typeface="Calibri" pitchFamily="34" charset="-122"/>
                          <a:cs typeface="Calibri" pitchFamily="34" charset="-120"/>
                        </a:rPr>
                        <a:t>Publier le rapport de veille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MP-43.9 </a:t>
                      </a:r>
                      <a:pPr indent="0" marL="0">
                        <a:buNone/>
                      </a:pPr>
                      <a:r>
                        <a:rPr lang="en-US" sz="1000" dirty="0">
                          <a:solidFill>
                            <a:srgbClr val="58595B"/>
                          </a:solidFill>
                          <a:latin typeface="Calibri" pitchFamily="34" charset="0"/>
                          <a:ea typeface="Calibri" pitchFamily="34" charset="-122"/>
                          <a:cs typeface="Calibri" pitchFamily="34" charset="-120"/>
                        </a:rPr>
                        <a:t>Produire le rapport de veille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MP-43.10 </a:t>
                      </a:r>
                      <a:pPr indent="0" marL="0">
                        <a:buNone/>
                      </a:pPr>
                      <a:r>
                        <a:rPr lang="en-US" sz="1000" dirty="0">
                          <a:solidFill>
                            <a:srgbClr val="58595B"/>
                          </a:solidFill>
                          <a:latin typeface="Calibri" pitchFamily="34" charset="0"/>
                          <a:ea typeface="Calibri" pitchFamily="34" charset="-122"/>
                          <a:cs typeface="Calibri" pitchFamily="34" charset="-120"/>
                        </a:rPr>
                        <a:t>Alimenter la stratégie et le diagnostic avec la veille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MP-43.11 </a:t>
                      </a:r>
                      <a:pPr indent="0" marL="0">
                        <a:buNone/>
                      </a:pPr>
                      <a:r>
                        <a:rPr lang="en-US" sz="1000" dirty="0">
                          <a:solidFill>
                            <a:srgbClr val="58595B"/>
                          </a:solidFill>
                          <a:latin typeface="Calibri" pitchFamily="34" charset="0"/>
                          <a:ea typeface="Calibri" pitchFamily="34" charset="-122"/>
                          <a:cs typeface="Calibri" pitchFamily="34" charset="-120"/>
                        </a:rPr>
                        <a:t>Mettre à jour la veille en continu</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Rim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le rapport RPT-007 de veille concurrentielle au comité de direction.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4"/>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4">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E2E-24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E2E-01, E2E-20, E2E-29</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02</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2</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Diagnostic</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8 processus · 62 tâches · 100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16 mai 2026 – 14 juin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Fermée par G2 — Diagnostic validé</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E2E-20   Du diagnostic multi-axes au rapport de maturité</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E2E-25   De l'architecture des emplois à la cartographie des compétences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E2E-26   De la GPEC au plan de formation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E2E-27   De la collecte des demandes à leur consolidation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E2E-28   De l'évaluation de la performance au tableau de bord RAG</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E2E-29   Du SWOT fonctionnel aux axes d'amélioration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E2E-02   Des compétences au diagnostic des écarts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E2E-21   De l'impact du plan précédent à la mise à jour de la stratégie</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E2E-20 · RACINE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diagnostic multi-axes au rapport de maturité</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Mener le diagnostic à 5 axes, la maturité CMM et l'évaluation du leadership</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Lancement de mission ou cahier des charges approuvé demandant un diagnostic.</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Rapport de diagnostic à 5 axes, maturité CMM et maturité du leadership validé avec le sponsor.</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10 tâches · 17 étapes
</a:t>
            </a:r>
            <a:pPr indent="0" marL="0">
              <a:buNone/>
            </a:pPr>
            <a:r>
              <a:rPr lang="en-US" sz="1100" dirty="0">
                <a:solidFill>
                  <a:srgbClr val="3A3A3C"/>
                </a:solidFill>
                <a:latin typeface="Calibri" pitchFamily="34" charset="0"/>
                <a:ea typeface="Calibri" pitchFamily="34" charset="-122"/>
                <a:cs typeface="Calibri" pitchFamily="34" charset="-120"/>
              </a:rPr>
              <a:t>29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MP-37 Diagnostic organisationnel multi-axes · </a:t>
            </a:r>
            <a:pPr indent="0" marL="0">
              <a:buNone/>
            </a:pPr>
            <a:r>
              <a:rPr lang="en-US" sz="1000" dirty="0">
                <a:solidFill>
                  <a:srgbClr val="58595B"/>
                </a:solidFill>
                <a:latin typeface="Calibri" pitchFamily="34" charset="0"/>
                <a:ea typeface="Calibri" pitchFamily="34" charset="-122"/>
                <a:cs typeface="Calibri" pitchFamily="34" charset="-120"/>
              </a:rPr>
              <a:t>MP-38 Évaluation de la maturité organisationnelle (basée sur le CMM) · </a:t>
            </a:r>
            <a:pPr indent="0" marL="0">
              <a:buNone/>
            </a:pPr>
            <a:r>
              <a:rPr lang="en-US" sz="1000" dirty="0">
                <a:solidFill>
                  <a:srgbClr val="58595B"/>
                </a:solidFill>
                <a:latin typeface="Calibri" pitchFamily="34" charset="0"/>
                <a:ea typeface="Calibri" pitchFamily="34" charset="-122"/>
                <a:cs typeface="Calibri" pitchFamily="34" charset="-120"/>
              </a:rPr>
              <a:t>MP-42 Évaluation et développement de la maturité managériale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UFT-20-01
</a:t>
                      </a:r>
                      <a:pPr indent="0" marL="0">
                        <a:buNone/>
                      </a:pPr>
                      <a:r>
                        <a:rPr lang="en-US" sz="1000" b="1" dirty="0">
                          <a:solidFill>
                            <a:srgbClr val="3A3A3C"/>
                          </a:solidFill>
                          <a:latin typeface="Calibri" pitchFamily="34" charset="0"/>
                          <a:ea typeface="Calibri" pitchFamily="34" charset="-122"/>
                          <a:cs typeface="Calibri" pitchFamily="34" charset="-120"/>
                        </a:rPr>
                        <a:t>Définir les axes et l'échantillon du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MP-37.1 </a:t>
                      </a:r>
                      <a:pPr indent="0" marL="0">
                        <a:buNone/>
                      </a:pPr>
                      <a:r>
                        <a:rPr lang="en-US" sz="1000" dirty="0">
                          <a:solidFill>
                            <a:srgbClr val="58595B"/>
                          </a:solidFill>
                          <a:latin typeface="Calibri" pitchFamily="34" charset="0"/>
                          <a:ea typeface="Calibri" pitchFamily="34" charset="-122"/>
                          <a:cs typeface="Calibri" pitchFamily="34" charset="-120"/>
                        </a:rPr>
                        <a:t>Définir les axes et l'échantillon du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Axes : stratégie, organisation, processus, personnes, SI. Échantillon : 40 personnes (MS 8, MO 16, OP 16).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UFT-20-02
</a:t>
                      </a:r>
                      <a:pPr indent="0" marL="0">
                        <a:buNone/>
                      </a:pPr>
                      <a:r>
                        <a:rPr lang="en-US" sz="1000" b="1" dirty="0">
                          <a:solidFill>
                            <a:srgbClr val="3A3A3C"/>
                          </a:solidFill>
                          <a:latin typeface="Calibri" pitchFamily="34" charset="0"/>
                          <a:ea typeface="Calibri" pitchFamily="34" charset="-122"/>
                          <a:cs typeface="Calibri" pitchFamily="34" charset="-120"/>
                        </a:rPr>
                        <a:t>Diffuser le questionnaire de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MP-37.2 </a:t>
                      </a:r>
                      <a:pPr indent="0" marL="0">
                        <a:buNone/>
                      </a:pPr>
                      <a:r>
                        <a:rPr lang="en-US" sz="1000" dirty="0">
                          <a:solidFill>
                            <a:srgbClr val="58595B"/>
                          </a:solidFill>
                          <a:latin typeface="Calibri" pitchFamily="34" charset="0"/>
                          <a:ea typeface="Calibri" pitchFamily="34" charset="-122"/>
                          <a:cs typeface="Calibri" pitchFamily="34" charset="-120"/>
                        </a:rPr>
                        <a:t>Diffuser le questionnaire de diagnostic</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MP-37.4 </a:t>
                      </a:r>
                      <a:pPr indent="0" marL="0">
                        <a:buNone/>
                      </a:pPr>
                      <a:r>
                        <a:rPr lang="en-US" sz="1000" dirty="0">
                          <a:solidFill>
                            <a:srgbClr val="58595B"/>
                          </a:solidFill>
                          <a:latin typeface="Calibri" pitchFamily="34" charset="0"/>
                          <a:ea typeface="Calibri" pitchFamily="34" charset="-122"/>
                          <a:cs typeface="Calibri" pitchFamily="34" charset="-120"/>
                        </a:rPr>
                        <a:t>Collecter les réponses au questionnaire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Questionnaire de diagnostic diffusé à 40 personnes ; 34 réponses (85 %).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UFT-20-03
</a:t>
                      </a:r>
                      <a:pPr indent="0" marL="0">
                        <a:buNone/>
                      </a:pPr>
                      <a:r>
                        <a:rPr lang="en-US" sz="1000" b="1" dirty="0">
                          <a:solidFill>
                            <a:srgbClr val="3A3A3C"/>
                          </a:solidFill>
                          <a:latin typeface="Calibri" pitchFamily="34" charset="0"/>
                          <a:ea typeface="Calibri" pitchFamily="34" charset="-122"/>
                          <a:cs typeface="Calibri" pitchFamily="34" charset="-120"/>
                        </a:rPr>
                        <a:t>Mener les entretiens semi-directifs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MP-37.3 </a:t>
                      </a:r>
                      <a:pPr indent="0" marL="0">
                        <a:buNone/>
                      </a:pPr>
                      <a:r>
                        <a:rPr lang="en-US" sz="1000" dirty="0">
                          <a:solidFill>
                            <a:srgbClr val="58595B"/>
                          </a:solidFill>
                          <a:latin typeface="Calibri" pitchFamily="34" charset="0"/>
                          <a:ea typeface="Calibri" pitchFamily="34" charset="-122"/>
                          <a:cs typeface="Calibri" pitchFamily="34" charset="-120"/>
                        </a:rPr>
                        <a:t>Mener les entretiens semi-directifs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Notes d'entretien (OP, Soins cliniques et infirmiers) : « Les procédures existent mais ne sont pas mises à jour depuis 2023.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UFT-20-04
</a:t>
                      </a:r>
                      <a:pPr indent="0" marL="0">
                        <a:buNone/>
                      </a:pPr>
                      <a:r>
                        <a:rPr lang="en-US" sz="1000" b="1" dirty="0">
                          <a:solidFill>
                            <a:srgbClr val="3A3A3C"/>
                          </a:solidFill>
                          <a:latin typeface="Calibri" pitchFamily="34" charset="0"/>
                          <a:ea typeface="Calibri" pitchFamily="34" charset="-122"/>
                          <a:cs typeface="Calibri" pitchFamily="34" charset="-120"/>
                        </a:rPr>
                        <a:t>Noter les axes du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MP-37.5 </a:t>
                      </a:r>
                      <a:pPr indent="0" marL="0">
                        <a:buNone/>
                      </a:pPr>
                      <a:r>
                        <a:rPr lang="en-US" sz="1000" dirty="0">
                          <a:solidFill>
                            <a:srgbClr val="58595B"/>
                          </a:solidFill>
                          <a:latin typeface="Calibri" pitchFamily="34" charset="0"/>
                          <a:ea typeface="Calibri" pitchFamily="34" charset="-122"/>
                          <a:cs typeface="Calibri" pitchFamily="34" charset="-120"/>
                        </a:rPr>
                        <a:t>Noter les axes du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Notes des axes (1-5) : stratégie 3,4, organisation 2,8, processus 2,6, personnes 3,1, SI 2,2.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UFT-20-05
</a:t>
                      </a:r>
                      <a:pPr indent="0" marL="0">
                        <a:buNone/>
                      </a:pPr>
                      <a:r>
                        <a:rPr lang="en-US" sz="1000" b="1" dirty="0">
                          <a:solidFill>
                            <a:srgbClr val="3A3A3C"/>
                          </a:solidFill>
                          <a:latin typeface="Calibri" pitchFamily="34" charset="0"/>
                          <a:ea typeface="Calibri" pitchFamily="34" charset="-122"/>
                          <a:cs typeface="Calibri" pitchFamily="34" charset="-120"/>
                        </a:rPr>
                        <a:t>Choisir le modèle de maturité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MP-38.1 </a:t>
                      </a:r>
                      <a:pPr indent="0" marL="0">
                        <a:buNone/>
                      </a:pPr>
                      <a:r>
                        <a:rPr lang="en-US" sz="1000" dirty="0">
                          <a:solidFill>
                            <a:srgbClr val="58595B"/>
                          </a:solidFill>
                          <a:latin typeface="Calibri" pitchFamily="34" charset="0"/>
                          <a:ea typeface="Calibri" pitchFamily="34" charset="-122"/>
                          <a:cs typeface="Calibri" pitchFamily="34" charset="-120"/>
                        </a:rPr>
                        <a:t>Choisir les niveaux du modèle de maturité</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MP-38.2 </a:t>
                      </a:r>
                      <a:pPr indent="0" marL="0">
                        <a:buNone/>
                      </a:pPr>
                      <a:r>
                        <a:rPr lang="en-US" sz="1000" dirty="0">
                          <a:solidFill>
                            <a:srgbClr val="58595B"/>
                          </a:solidFill>
                          <a:latin typeface="Calibri" pitchFamily="34" charset="0"/>
                          <a:ea typeface="Calibri" pitchFamily="34" charset="-122"/>
                          <a:cs typeface="Calibri" pitchFamily="34" charset="-120"/>
                        </a:rPr>
                        <a:t>Définir les critères de preuve par niveau</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Modèle de maturité : CMM 5 niveaux ; preuve du niveau 3 = processus documenté et appliqué.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0"/>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0-03 Mener les entretiens semi-directif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UFT-20-03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E2E-20 · RACINE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diagnostic multi-axes au rapport de maturité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UFT-20-06
</a:t>
                      </a:r>
                      <a:pPr indent="0" marL="0">
                        <a:buNone/>
                      </a:pPr>
                      <a:r>
                        <a:rPr lang="en-US" sz="1000" b="1" dirty="0">
                          <a:solidFill>
                            <a:srgbClr val="3A3A3C"/>
                          </a:solidFill>
                          <a:latin typeface="Calibri" pitchFamily="34" charset="0"/>
                          <a:ea typeface="Calibri" pitchFamily="34" charset="-122"/>
                          <a:cs typeface="Calibri" pitchFamily="34" charset="-120"/>
                        </a:rPr>
                        <a:t>Noter la maturité des processus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MP-38.3 </a:t>
                      </a:r>
                      <a:pPr indent="0" marL="0">
                        <a:buNone/>
                      </a:pPr>
                      <a:r>
                        <a:rPr lang="en-US" sz="1000" dirty="0">
                          <a:solidFill>
                            <a:srgbClr val="58595B"/>
                          </a:solidFill>
                          <a:latin typeface="Calibri" pitchFamily="34" charset="0"/>
                          <a:ea typeface="Calibri" pitchFamily="34" charset="-122"/>
                          <a:cs typeface="Calibri" pitchFamily="34" charset="-120"/>
                        </a:rPr>
                        <a:t>Noter la maturité par domaine de processus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MP-38.4 </a:t>
                      </a:r>
                      <a:pPr indent="0" marL="0">
                        <a:buNone/>
                      </a:pPr>
                      <a:r>
                        <a:rPr lang="en-US" sz="1000" dirty="0">
                          <a:solidFill>
                            <a:srgbClr val="58595B"/>
                          </a:solidFill>
                          <a:latin typeface="Calibri" pitchFamily="34" charset="0"/>
                          <a:ea typeface="Calibri" pitchFamily="34" charset="-122"/>
                          <a:cs typeface="Calibri" pitchFamily="34" charset="-120"/>
                        </a:rPr>
                        <a:t>Calculer le profil de maturité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Maturité : gestion de la formation niveau 2 ; processus Soins cliniques et infirmiers niveau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UFT-20-07
</a:t>
                      </a:r>
                      <a:pPr indent="0" marL="0">
                        <a:buNone/>
                      </a:pPr>
                      <a:r>
                        <a:rPr lang="en-US" sz="1000" b="1" dirty="0">
                          <a:solidFill>
                            <a:srgbClr val="3A3A3C"/>
                          </a:solidFill>
                          <a:latin typeface="Calibri" pitchFamily="34" charset="0"/>
                          <a:ea typeface="Calibri" pitchFamily="34" charset="-122"/>
                          <a:cs typeface="Calibri" pitchFamily="34" charset="-120"/>
                        </a:rPr>
                        <a:t>Évaluer la maturité du leadership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MP-42.1 </a:t>
                      </a:r>
                      <a:pPr indent="0" marL="0">
                        <a:buNone/>
                      </a:pPr>
                      <a:r>
                        <a:rPr lang="en-US" sz="1000" dirty="0">
                          <a:solidFill>
                            <a:srgbClr val="58595B"/>
                          </a:solidFill>
                          <a:latin typeface="Calibri" pitchFamily="34" charset="0"/>
                          <a:ea typeface="Calibri" pitchFamily="34" charset="-122"/>
                          <a:cs typeface="Calibri" pitchFamily="34" charset="-120"/>
                        </a:rPr>
                        <a:t>Lancer l'évaluation 360 du leadership</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MP-42.2 </a:t>
                      </a:r>
                      <a:pPr indent="0" marL="0">
                        <a:buNone/>
                      </a:pPr>
                      <a:r>
                        <a:rPr lang="en-US" sz="1000" dirty="0">
                          <a:solidFill>
                            <a:srgbClr val="58595B"/>
                          </a:solidFill>
                          <a:latin typeface="Calibri" pitchFamily="34" charset="0"/>
                          <a:ea typeface="Calibri" pitchFamily="34" charset="-122"/>
                          <a:cs typeface="Calibri" pitchFamily="34" charset="-120"/>
                        </a:rPr>
                        <a:t>Calculer le niveau de maturité managériale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Leadership 360 : niveau moyen 3 (leadership d'équipe) sur 18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UFT-20-08
</a:t>
                      </a:r>
                      <a:pPr indent="0" marL="0">
                        <a:buNone/>
                      </a:pPr>
                      <a:r>
                        <a:rPr lang="en-US" sz="1000" b="1" dirty="0">
                          <a:solidFill>
                            <a:srgbClr val="3A3A3C"/>
                          </a:solidFill>
                          <a:latin typeface="Calibri" pitchFamily="34" charset="0"/>
                          <a:ea typeface="Calibri" pitchFamily="34" charset="-122"/>
                          <a:cs typeface="Calibri" pitchFamily="34" charset="-120"/>
                        </a:rPr>
                        <a:t>Croiser compétences et besoins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MP-02.7 </a:t>
                      </a:r>
                      <a:pPr indent="0" marL="0">
                        <a:buNone/>
                      </a:pPr>
                      <a:r>
                        <a:rPr lang="en-US" sz="1000" dirty="0">
                          <a:solidFill>
                            <a:srgbClr val="58595B"/>
                          </a:solidFill>
                          <a:latin typeface="Calibri" pitchFamily="34" charset="0"/>
                          <a:ea typeface="Calibri" pitchFamily="34" charset="-122"/>
                          <a:cs typeface="Calibri" pitchFamily="34" charset="-120"/>
                        </a:rPr>
                        <a:t>Valider l'inventaire des compétences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MP-03.2 </a:t>
                      </a:r>
                      <a:pPr indent="0" marL="0">
                        <a:buNone/>
                      </a:pPr>
                      <a:r>
                        <a:rPr lang="en-US" sz="1000" dirty="0">
                          <a:solidFill>
                            <a:srgbClr val="58595B"/>
                          </a:solidFill>
                          <a:latin typeface="Calibri" pitchFamily="34" charset="0"/>
                          <a:ea typeface="Calibri" pitchFamily="34" charset="-122"/>
                          <a:cs typeface="Calibri" pitchFamily="34" charset="-120"/>
                        </a:rPr>
                        <a:t>Revoir la matrice des écarts par site et par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Recoupement : faiblesse de l'axe SI confirmée par l'écart Triage IA et aide à la décision clinique (-1,4).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UFT-20-09
</a:t>
                      </a:r>
                      <a:pPr indent="0" marL="0">
                        <a:buNone/>
                      </a:pPr>
                      <a:r>
                        <a:rPr lang="en-US" sz="1000" b="1" dirty="0">
                          <a:solidFill>
                            <a:srgbClr val="3A3A3C"/>
                          </a:solidFill>
                          <a:latin typeface="Calibri" pitchFamily="34" charset="0"/>
                          <a:ea typeface="Calibri" pitchFamily="34" charset="-122"/>
                          <a:cs typeface="Calibri" pitchFamily="34" charset="-120"/>
                        </a:rPr>
                        <a:t>Rédiger les constats du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MP-37.6 </a:t>
                      </a:r>
                      <a:pPr indent="0" marL="0">
                        <a:buNone/>
                      </a:pPr>
                      <a:r>
                        <a:rPr lang="en-US" sz="1000" dirty="0">
                          <a:solidFill>
                            <a:srgbClr val="58595B"/>
                          </a:solidFill>
                          <a:latin typeface="Calibri" pitchFamily="34" charset="0"/>
                          <a:ea typeface="Calibri" pitchFamily="34" charset="-122"/>
                          <a:cs typeface="Calibri" pitchFamily="34" charset="-120"/>
                        </a:rPr>
                        <a:t>Rédiger les constats du diagnostic</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MP-38.5 </a:t>
                      </a:r>
                      <a:pPr indent="0" marL="0">
                        <a:buNone/>
                      </a:pPr>
                      <a:r>
                        <a:rPr lang="en-US" sz="1000" dirty="0">
                          <a:solidFill>
                            <a:srgbClr val="58595B"/>
                          </a:solidFill>
                          <a:latin typeface="Calibri" pitchFamily="34" charset="0"/>
                          <a:ea typeface="Calibri" pitchFamily="34" charset="-122"/>
                          <a:cs typeface="Calibri" pitchFamily="34" charset="-120"/>
                        </a:rPr>
                        <a:t>Produire le rapport de maturité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Modifier les constats IA : en garder 5, en fusionner 2, en ajouter un sur la documentation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UFT-20-10
</a:t>
                      </a:r>
                      <a:pPr indent="0" marL="0">
                        <a:buNone/>
                      </a:pPr>
                      <a:r>
                        <a:rPr lang="en-US" sz="1000" b="1" dirty="0">
                          <a:solidFill>
                            <a:srgbClr val="3A3A3C"/>
                          </a:solidFill>
                          <a:latin typeface="Calibri" pitchFamily="34" charset="0"/>
                          <a:ea typeface="Calibri" pitchFamily="34" charset="-122"/>
                          <a:cs typeface="Calibri" pitchFamily="34" charset="-120"/>
                        </a:rPr>
                        <a:t>Valider les constats avec le sponsor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MP-37.7 </a:t>
                      </a:r>
                      <a:pPr indent="0" marL="0">
                        <a:buNone/>
                      </a:pPr>
                      <a:r>
                        <a:rPr lang="en-US" sz="1000" dirty="0">
                          <a:solidFill>
                            <a:srgbClr val="58595B"/>
                          </a:solidFill>
                          <a:latin typeface="Calibri" pitchFamily="34" charset="0"/>
                          <a:ea typeface="Calibri" pitchFamily="34" charset="-122"/>
                          <a:cs typeface="Calibri" pitchFamily="34" charset="-120"/>
                        </a:rPr>
                        <a:t>Valider les constats avec le sponsor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MP-38.6 </a:t>
                      </a:r>
                      <a:pPr indent="0" marL="0">
                        <a:buNone/>
                      </a:pPr>
                      <a:r>
                        <a:rPr lang="en-US" sz="1000" dirty="0">
                          <a:solidFill>
                            <a:srgbClr val="58595B"/>
                          </a:solidFill>
                          <a:latin typeface="Calibri" pitchFamily="34" charset="0"/>
                          <a:ea typeface="Calibri" pitchFamily="34" charset="-122"/>
                          <a:cs typeface="Calibri" pitchFamily="34" charset="-120"/>
                        </a:rPr>
                        <a:t>Convenir de la maturité cible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Constats validés avec le sponsor ; maturité cible niveau 3 en 2026+1.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0"/>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0">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E2E-20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E2E-03, E2E-21</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E2E-25 · RACINE (ORGANISATIONNELLE)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l'architecture des emplois à la cartographie des compétences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Gérer organigrammes, fiches de poste et analyse des écarts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Changement organisationnel, création d'un nouveau rôle ou revue annuelle de l'architecture des emplois.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Organigrammes, fiches de poste et cartographies de compétences approuvés avec analyse des écarts.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12 étapes
</a:t>
            </a:r>
            <a:pPr indent="0" marL="0">
              <a:buNone/>
            </a:pPr>
            <a:r>
              <a:rPr lang="en-US" sz="1100" dirty="0">
                <a:solidFill>
                  <a:srgbClr val="3A3A3C"/>
                </a:solidFill>
                <a:latin typeface="Calibri" pitchFamily="34" charset="0"/>
                <a:ea typeface="Calibri" pitchFamily="34" charset="-122"/>
                <a:cs typeface="Calibri" pitchFamily="34" charset="-120"/>
              </a:rPr>
              <a:t>23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MP-44 Architecture des emplois et gestion des fiches de poste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MP-13 Développement des talents et des carrières · </a:t>
            </a:r>
            <a:pPr indent="0" marL="0">
              <a:buNone/>
            </a:pPr>
            <a:r>
              <a:rPr lang="en-US" sz="1000" dirty="0">
                <a:solidFill>
                  <a:srgbClr val="58595B"/>
                </a:solidFill>
                <a:latin typeface="Calibri" pitchFamily="34" charset="0"/>
                <a:ea typeface="Calibri" pitchFamily="34" charset="-122"/>
                <a:cs typeface="Calibri" pitchFamily="34" charset="-120"/>
              </a:rPr>
              <a:t>MP-37 Diagnostic organisationnel multi-axes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UFT-25-01
</a:t>
                      </a:r>
                      <a:pPr indent="0" marL="0">
                        <a:buNone/>
                      </a:pPr>
                      <a:r>
                        <a:rPr lang="en-US" sz="1000" b="1" dirty="0">
                          <a:solidFill>
                            <a:srgbClr val="3A3A3C"/>
                          </a:solidFill>
                          <a:latin typeface="Calibri" pitchFamily="34" charset="0"/>
                          <a:ea typeface="Calibri" pitchFamily="34" charset="-122"/>
                          <a:cs typeface="Calibri" pitchFamily="34" charset="-120"/>
                        </a:rPr>
                        <a:t>Cartographier la structure organisationnelle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MP-44.1 </a:t>
                      </a:r>
                      <a:pPr indent="0" marL="0">
                        <a:buNone/>
                      </a:pPr>
                      <a:r>
                        <a:rPr lang="en-US" sz="1000" dirty="0">
                          <a:solidFill>
                            <a:srgbClr val="58595B"/>
                          </a:solidFill>
                          <a:latin typeface="Calibri" pitchFamily="34" charset="0"/>
                          <a:ea typeface="Calibri" pitchFamily="34" charset="-122"/>
                          <a:cs typeface="Calibri" pitchFamily="34" charset="-120"/>
                        </a:rPr>
                        <a:t>Cartographier la structure organisationnelle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Structure : 6 fonctions, 14 départements, 3 sites ; 212 postes.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UFT-25-02
</a:t>
                      </a:r>
                      <a:pPr indent="0" marL="0">
                        <a:buNone/>
                      </a:pPr>
                      <a:r>
                        <a:rPr lang="en-US" sz="1000" b="1" dirty="0">
                          <a:solidFill>
                            <a:srgbClr val="3A3A3C"/>
                          </a:solidFill>
                          <a:latin typeface="Calibri" pitchFamily="34" charset="0"/>
                          <a:ea typeface="Calibri" pitchFamily="34" charset="-122"/>
                          <a:cs typeface="Calibri" pitchFamily="34" charset="-120"/>
                        </a:rPr>
                        <a:t>Concevoir les organigrammes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MP-44.2 </a:t>
                      </a:r>
                      <a:pPr indent="0" marL="0">
                        <a:buNone/>
                      </a:pPr>
                      <a:r>
                        <a:rPr lang="en-US" sz="1000" dirty="0">
                          <a:solidFill>
                            <a:srgbClr val="58595B"/>
                          </a:solidFill>
                          <a:latin typeface="Calibri" pitchFamily="34" charset="0"/>
                          <a:ea typeface="Calibri" pitchFamily="34" charset="-122"/>
                          <a:cs typeface="Calibri" pitchFamily="34" charset="-120"/>
                        </a:rPr>
                        <a:t>Concevoir les organigrammes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Organigramme « Soins cliniques et infirmiers » : directeur → 3 managers → 9 encadrants → opérateurs.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UFT-25-03
</a:t>
                      </a:r>
                      <a:pPr indent="0" marL="0">
                        <a:buNone/>
                      </a:pPr>
                      <a:r>
                        <a:rPr lang="en-US" sz="1000" b="1" dirty="0">
                          <a:solidFill>
                            <a:srgbClr val="3A3A3C"/>
                          </a:solidFill>
                          <a:latin typeface="Calibri" pitchFamily="34" charset="0"/>
                          <a:ea typeface="Calibri" pitchFamily="34" charset="-122"/>
                          <a:cs typeface="Calibri" pitchFamily="34" charset="-120"/>
                        </a:rPr>
                        <a:t>Réaliser l'analyse des emplois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MP-44.3 </a:t>
                      </a:r>
                      <a:pPr indent="0" marL="0">
                        <a:buNone/>
                      </a:pPr>
                      <a:r>
                        <a:rPr lang="en-US" sz="1000" dirty="0">
                          <a:solidFill>
                            <a:srgbClr val="58595B"/>
                          </a:solidFill>
                          <a:latin typeface="Calibri" pitchFamily="34" charset="0"/>
                          <a:ea typeface="Calibri" pitchFamily="34" charset="-122"/>
                          <a:cs typeface="Calibri" pitchFamily="34" charset="-120"/>
                        </a:rPr>
                        <a:t>Réaliser l'analyse des emplois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Analyse de poste « Encadrant Soins cliniques et infirmiers » : 8 activités principales, dont 2 appuyées désormais par Triage IA et aide à la décision clinique.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UFT-25-04
</a:t>
                      </a:r>
                      <a:pPr indent="0" marL="0">
                        <a:buNone/>
                      </a:pPr>
                      <a:r>
                        <a:rPr lang="en-US" sz="1000" b="1" dirty="0">
                          <a:solidFill>
                            <a:srgbClr val="3A3A3C"/>
                          </a:solidFill>
                          <a:latin typeface="Calibri" pitchFamily="34" charset="0"/>
                          <a:ea typeface="Calibri" pitchFamily="34" charset="-122"/>
                          <a:cs typeface="Calibri" pitchFamily="34" charset="-120"/>
                        </a:rPr>
                        <a:t>Rédiger les fiches de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MP-44.4 </a:t>
                      </a:r>
                      <a:pPr indent="0" marL="0">
                        <a:buNone/>
                      </a:pPr>
                      <a:r>
                        <a:rPr lang="en-US" sz="1000" dirty="0">
                          <a:solidFill>
                            <a:srgbClr val="58595B"/>
                          </a:solidFill>
                          <a:latin typeface="Calibri" pitchFamily="34" charset="0"/>
                          <a:ea typeface="Calibri" pitchFamily="34" charset="-122"/>
                          <a:cs typeface="Calibri" pitchFamily="34" charset="-120"/>
                        </a:rPr>
                        <a:t>Rédiger les fiches de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Fiche de poste rédigée : mission, activités, compétences (Triage IA et aide à la décision clinique niveau 3, ISO 7101 niveau 3), KPI.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UFT-25-05
</a:t>
                      </a:r>
                      <a:pPr indent="0" marL="0">
                        <a:buNone/>
                      </a:pPr>
                      <a:r>
                        <a:rPr lang="en-US" sz="1000" b="1" dirty="0">
                          <a:solidFill>
                            <a:srgbClr val="3A3A3C"/>
                          </a:solidFill>
                          <a:latin typeface="Calibri" pitchFamily="34" charset="0"/>
                          <a:ea typeface="Calibri" pitchFamily="34" charset="-122"/>
                          <a:cs typeface="Calibri" pitchFamily="34" charset="-120"/>
                        </a:rPr>
                        <a:t>Valider avec les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MP-44.5 </a:t>
                      </a:r>
                      <a:pPr indent="0" marL="0">
                        <a:buNone/>
                      </a:pPr>
                      <a:r>
                        <a:rPr lang="en-US" sz="1000" dirty="0">
                          <a:solidFill>
                            <a:srgbClr val="58595B"/>
                          </a:solidFill>
                          <a:latin typeface="Calibri" pitchFamily="34" charset="0"/>
                          <a:ea typeface="Calibri" pitchFamily="34" charset="-122"/>
                          <a:cs typeface="Calibri" pitchFamily="34" charset="-120"/>
                        </a:rPr>
                        <a:t>Valider les fiches avec les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Validée par le manager Soins cliniques et infirmiers avec 2 modifications sur les activités.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5"/>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5-03 Réaliser l'analyse des emploi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UFT-25-03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E2E-25 · RACINE (ORGANISATIONNELLE)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l'architecture des emplois à la cartographie des compétences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UFT-25-06
</a:t>
                      </a:r>
                      <a:pPr indent="0" marL="0">
                        <a:buNone/>
                      </a:pPr>
                      <a:r>
                        <a:rPr lang="en-US" sz="1000" b="1" dirty="0">
                          <a:solidFill>
                            <a:srgbClr val="3A3A3C"/>
                          </a:solidFill>
                          <a:latin typeface="Calibri" pitchFamily="34" charset="0"/>
                          <a:ea typeface="Calibri" pitchFamily="34" charset="-122"/>
                          <a:cs typeface="Calibri" pitchFamily="34" charset="-120"/>
                        </a:rPr>
                        <a:t>Analyser les écarts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MP-44.6 </a:t>
                      </a:r>
                      <a:pPr indent="0" marL="0">
                        <a:buNone/>
                      </a:pPr>
                      <a:r>
                        <a:rPr lang="en-US" sz="1000" dirty="0">
                          <a:solidFill>
                            <a:srgbClr val="58595B"/>
                          </a:solidFill>
                          <a:latin typeface="Calibri" pitchFamily="34" charset="0"/>
                          <a:ea typeface="Calibri" pitchFamily="34" charset="-122"/>
                          <a:cs typeface="Calibri" pitchFamily="34" charset="-120"/>
                        </a:rPr>
                        <a:t>Analyser les écarts entre existant et réel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Écart existant/réel : 11 fiches obsolètes ; 4 rôles avec de nouvelles tâches Triage IA et aide à la décision clinique.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UFT-25-07
</a:t>
                      </a:r>
                      <a:pPr indent="0" marL="0">
                        <a:buNone/>
                      </a:pPr>
                      <a:r>
                        <a:rPr lang="en-US" sz="1000" b="1" dirty="0">
                          <a:solidFill>
                            <a:srgbClr val="3A3A3C"/>
                          </a:solidFill>
                          <a:latin typeface="Calibri" pitchFamily="34" charset="0"/>
                          <a:ea typeface="Calibri" pitchFamily="34" charset="-122"/>
                          <a:cs typeface="Calibri" pitchFamily="34" charset="-120"/>
                        </a:rPr>
                        <a:t>Identifier les rôles à développer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MP-44.7 </a:t>
                      </a:r>
                      <a:pPr indent="0" marL="0">
                        <a:buNone/>
                      </a:pPr>
                      <a:r>
                        <a:rPr lang="en-US" sz="1000" dirty="0">
                          <a:solidFill>
                            <a:srgbClr val="58595B"/>
                          </a:solidFill>
                          <a:latin typeface="Calibri" pitchFamily="34" charset="0"/>
                          <a:ea typeface="Calibri" pitchFamily="34" charset="-122"/>
                          <a:cs typeface="Calibri" pitchFamily="34" charset="-120"/>
                        </a:rPr>
                        <a:t>Identifier les rôles à développer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MP-44.8 </a:t>
                      </a:r>
                      <a:pPr indent="0" marL="0">
                        <a:buNone/>
                      </a:pPr>
                      <a:r>
                        <a:rPr lang="en-US" sz="1000" dirty="0">
                          <a:solidFill>
                            <a:srgbClr val="58595B"/>
                          </a:solidFill>
                          <a:latin typeface="Calibri" pitchFamily="34" charset="0"/>
                          <a:ea typeface="Calibri" pitchFamily="34" charset="-122"/>
                          <a:cs typeface="Calibri" pitchFamily="34" charset="-120"/>
                        </a:rPr>
                        <a:t>Mettre à jour l'architecture des emplois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MP-44.9 </a:t>
                      </a:r>
                      <a:pPr indent="0" marL="0">
                        <a:buNone/>
                      </a:pPr>
                      <a:r>
                        <a:rPr lang="en-US" sz="1000" dirty="0">
                          <a:solidFill>
                            <a:srgbClr val="58595B"/>
                          </a:solidFill>
                          <a:latin typeface="Calibri" pitchFamily="34" charset="0"/>
                          <a:ea typeface="Calibri" pitchFamily="34" charset="-122"/>
                          <a:cs typeface="Calibri" pitchFamily="34" charset="-120"/>
                        </a:rPr>
                        <a:t>Aligner sur le référentiel de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Rôles « À développer » : encadrant data, technicien de maintenance 4.0.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UFT-25-08
</a:t>
                      </a:r>
                      <a:pPr indent="0" marL="0">
                        <a:buNone/>
                      </a:pPr>
                      <a:r>
                        <a:rPr lang="en-US" sz="1000" b="1" dirty="0">
                          <a:solidFill>
                            <a:srgbClr val="3A3A3C"/>
                          </a:solidFill>
                          <a:latin typeface="Calibri" pitchFamily="34" charset="0"/>
                          <a:ea typeface="Calibri" pitchFamily="34" charset="-122"/>
                          <a:cs typeface="Calibri" pitchFamily="34" charset="-120"/>
                        </a:rPr>
                        <a:t>Publier l'architecture approuvée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MP-44.10 </a:t>
                      </a:r>
                      <a:pPr indent="0" marL="0">
                        <a:buNone/>
                      </a:pPr>
                      <a:r>
                        <a:rPr lang="en-US" sz="1000" dirty="0">
                          <a:solidFill>
                            <a:srgbClr val="58595B"/>
                          </a:solidFill>
                          <a:latin typeface="Calibri" pitchFamily="34" charset="0"/>
                          <a:ea typeface="Calibri" pitchFamily="34" charset="-122"/>
                          <a:cs typeface="Calibri" pitchFamily="34" charset="-120"/>
                        </a:rPr>
                        <a:t>Publier les fiches de poste approuvées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MP-44.11 </a:t>
                      </a:r>
                      <a:pPr indent="0" marL="0">
                        <a:buNone/>
                      </a:pPr>
                      <a:r>
                        <a:rPr lang="en-US" sz="1000" dirty="0">
                          <a:solidFill>
                            <a:srgbClr val="58595B"/>
                          </a:solidFill>
                          <a:latin typeface="Calibri" pitchFamily="34" charset="0"/>
                          <a:ea typeface="Calibri" pitchFamily="34" charset="-122"/>
                          <a:cs typeface="Calibri" pitchFamily="34" charset="-120"/>
                        </a:rPr>
                        <a:t>Suivre les évolutions de l'architecture des emplois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MP-44.12 </a:t>
                      </a:r>
                      <a:pPr indent="0" marL="0">
                        <a:buNone/>
                      </a:pPr>
                      <a:r>
                        <a:rPr lang="en-US" sz="1000" dirty="0">
                          <a:solidFill>
                            <a:srgbClr val="58595B"/>
                          </a:solidFill>
                          <a:latin typeface="Calibri" pitchFamily="34" charset="0"/>
                          <a:ea typeface="Calibri" pitchFamily="34" charset="-122"/>
                          <a:cs typeface="Calibri" pitchFamily="34" charset="-120"/>
                        </a:rPr>
                        <a:t>Rendre compte de la santé de l'architecture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les 212 fiches approuvées et la cartographie à tous les salariés.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5"/>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5">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E2E-25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E2E-02, E2E-10, E2E-26</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E2E-26 · RACINE (INTÉGRATION RH)</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GPEC au plan de formation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Intégrer la gestion prévisionnelle des emplois et des compétences dans la formation</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Cycle annuel de planification stratégique RH ou revue GPEC (gestion prévisionnelle des emplois et des compétences).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Plan de formation aligné sur la GPEC et les orientations stratégiques RH.</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12 étapes
</a:t>
            </a:r>
            <a:pPr indent="0" marL="0">
              <a:buNone/>
            </a:pPr>
            <a:r>
              <a:rPr lang="en-US" sz="1100" dirty="0">
                <a:solidFill>
                  <a:srgbClr val="3A3A3C"/>
                </a:solidFill>
                <a:latin typeface="Calibri" pitchFamily="34" charset="0"/>
                <a:ea typeface="Calibri" pitchFamily="34" charset="-122"/>
                <a:cs typeface="Calibri" pitchFamily="34" charset="-120"/>
              </a:rPr>
              <a:t>23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MP-45 GPEC et intégration stratégique RH (gestion prévisionnelle des emplois et des compétences) · </a:t>
            </a:r>
            <a:pPr indent="0" marL="0">
              <a:buNone/>
            </a:pPr>
            <a:r>
              <a:rPr lang="en-US" sz="1000" dirty="0">
                <a:solidFill>
                  <a:srgbClr val="58595B"/>
                </a:solidFill>
                <a:latin typeface="Calibri" pitchFamily="34" charset="0"/>
                <a:ea typeface="Calibri" pitchFamily="34" charset="-122"/>
                <a:cs typeface="Calibri" pitchFamily="34" charset="-120"/>
              </a:rPr>
              <a:t>MP-13 Développement des talents et des carrières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UFT-26-01
</a:t>
                      </a:r>
                      <a:pPr indent="0" marL="0">
                        <a:buNone/>
                      </a:pPr>
                      <a:r>
                        <a:rPr lang="en-US" sz="1000" b="1" dirty="0">
                          <a:solidFill>
                            <a:srgbClr val="3A3A3C"/>
                          </a:solidFill>
                          <a:latin typeface="Calibri" pitchFamily="34" charset="0"/>
                          <a:ea typeface="Calibri" pitchFamily="34" charset="-122"/>
                          <a:cs typeface="Calibri" pitchFamily="34" charset="-120"/>
                        </a:rPr>
                        <a:t>Définir le périmètre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MP-45.1 </a:t>
                      </a:r>
                      <a:pPr indent="0" marL="0">
                        <a:buNone/>
                      </a:pPr>
                      <a:r>
                        <a:rPr lang="en-US" sz="1000" dirty="0">
                          <a:solidFill>
                            <a:srgbClr val="58595B"/>
                          </a:solidFill>
                          <a:latin typeface="Calibri" pitchFamily="34" charset="0"/>
                          <a:ea typeface="Calibri" pitchFamily="34" charset="-122"/>
                          <a:cs typeface="Calibri" pitchFamily="34" charset="-120"/>
                        </a:rPr>
                        <a:t>Définir le périmètre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Tazi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Périmètre GPEC : métiers Soins cliniques et infirmiers et systèmes d'information ; horizon 3 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UFT-26-02
</a:t>
                      </a:r>
                      <a:pPr indent="0" marL="0">
                        <a:buNone/>
                      </a:pPr>
                      <a:r>
                        <a:rPr lang="en-US" sz="1000" b="1" dirty="0">
                          <a:solidFill>
                            <a:srgbClr val="3A3A3C"/>
                          </a:solidFill>
                          <a:latin typeface="Calibri" pitchFamily="34" charset="0"/>
                          <a:ea typeface="Calibri" pitchFamily="34" charset="-122"/>
                          <a:cs typeface="Calibri" pitchFamily="34" charset="-120"/>
                        </a:rPr>
                        <a:t>Cartographier les orientations stratégiques RH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MP-45.2 </a:t>
                      </a:r>
                      <a:pPr indent="0" marL="0">
                        <a:buNone/>
                      </a:pPr>
                      <a:r>
                        <a:rPr lang="en-US" sz="1000" dirty="0">
                          <a:solidFill>
                            <a:srgbClr val="58595B"/>
                          </a:solidFill>
                          <a:latin typeface="Calibri" pitchFamily="34" charset="0"/>
                          <a:ea typeface="Calibri" pitchFamily="34" charset="-122"/>
                          <a:cs typeface="Calibri" pitchFamily="34" charset="-120"/>
                        </a:rPr>
                        <a:t>Cartographier les orientations stratégiques RH</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MP-45.3 </a:t>
                      </a:r>
                      <a:pPr indent="0" marL="0">
                        <a:buNone/>
                      </a:pPr>
                      <a:r>
                        <a:rPr lang="en-US" sz="1000" dirty="0">
                          <a:solidFill>
                            <a:srgbClr val="58595B"/>
                          </a:solidFill>
                          <a:latin typeface="Calibri" pitchFamily="34" charset="0"/>
                          <a:ea typeface="Calibri" pitchFamily="34" charset="-122"/>
                          <a:cs typeface="Calibri" pitchFamily="34" charset="-120"/>
                        </a:rPr>
                        <a:t>Aligner la formation sur la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Orientations RH : priorité à la mobilité interne ; 30 % des promotions issues des talents internes.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UFT-26-03
</a:t>
                      </a:r>
                      <a:pPr indent="0" marL="0">
                        <a:buNone/>
                      </a:pPr>
                      <a:r>
                        <a:rPr lang="en-US" sz="1000" b="1" dirty="0">
                          <a:solidFill>
                            <a:srgbClr val="3A3A3C"/>
                          </a:solidFill>
                          <a:latin typeface="Calibri" pitchFamily="34" charset="0"/>
                          <a:ea typeface="Calibri" pitchFamily="34" charset="-122"/>
                          <a:cs typeface="Calibri" pitchFamily="34" charset="-120"/>
                        </a:rPr>
                        <a:t>Mettre à jour le socle de développement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MP-45.4 </a:t>
                      </a:r>
                      <a:pPr indent="0" marL="0">
                        <a:buNone/>
                      </a:pPr>
                      <a:r>
                        <a:rPr lang="en-US" sz="1000" dirty="0">
                          <a:solidFill>
                            <a:srgbClr val="58595B"/>
                          </a:solidFill>
                          <a:latin typeface="Calibri" pitchFamily="34" charset="0"/>
                          <a:ea typeface="Calibri" pitchFamily="34" charset="-122"/>
                          <a:cs typeface="Calibri" pitchFamily="34" charset="-120"/>
                        </a:rPr>
                        <a:t>Mettre à jour le socle de développement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MP-45.5 </a:t>
                      </a:r>
                      <a:pPr indent="0" marL="0">
                        <a:buNone/>
                      </a:pPr>
                      <a:r>
                        <a:rPr lang="en-US" sz="1000" dirty="0">
                          <a:solidFill>
                            <a:srgbClr val="58595B"/>
                          </a:solidFill>
                          <a:latin typeface="Calibri" pitchFamily="34" charset="0"/>
                          <a:ea typeface="Calibri" pitchFamily="34" charset="-122"/>
                          <a:cs typeface="Calibri" pitchFamily="34" charset="-120"/>
                        </a:rPr>
                        <a:t>Soutenir le développement du capital humain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Socle de développement mis à jour : fiches, objectifs annuels, grille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UFT-26-04
</a:t>
                      </a:r>
                      <a:pPr indent="0" marL="0">
                        <a:buNone/>
                      </a:pPr>
                      <a:r>
                        <a:rPr lang="en-US" sz="1000" b="1" dirty="0">
                          <a:solidFill>
                            <a:srgbClr val="3A3A3C"/>
                          </a:solidFill>
                          <a:latin typeface="Calibri" pitchFamily="34" charset="0"/>
                          <a:ea typeface="Calibri" pitchFamily="34" charset="-122"/>
                          <a:cs typeface="Calibri" pitchFamily="34" charset="-120"/>
                        </a:rPr>
                        <a:t>Mettre à jour le répertoire des emplois et des compétences (REC)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MP-45.6 </a:t>
                      </a:r>
                      <a:pPr indent="0" marL="0">
                        <a:buNone/>
                      </a:pPr>
                      <a:r>
                        <a:rPr lang="en-US" sz="1000" dirty="0">
                          <a:solidFill>
                            <a:srgbClr val="58595B"/>
                          </a:solidFill>
                          <a:latin typeface="Calibri" pitchFamily="34" charset="0"/>
                          <a:ea typeface="Calibri" pitchFamily="34" charset="-122"/>
                          <a:cs typeface="Calibri" pitchFamily="34" charset="-120"/>
                        </a:rPr>
                        <a:t>Mettre à jour le répertoire des emplois et des compétences (REC)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Tazi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REC mis à jour : 42 métiers, 3 nouveaux métiers liés à Triage IA et aide à la décision clinique.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UFT-26-05
</a:t>
                      </a:r>
                      <a:pPr indent="0" marL="0">
                        <a:buNone/>
                      </a:pPr>
                      <a:r>
                        <a:rPr lang="en-US" sz="1000" b="1" dirty="0">
                          <a:solidFill>
                            <a:srgbClr val="3A3A3C"/>
                          </a:solidFill>
                          <a:latin typeface="Calibri" pitchFamily="34" charset="0"/>
                          <a:ea typeface="Calibri" pitchFamily="34" charset="-122"/>
                          <a:cs typeface="Calibri" pitchFamily="34" charset="-120"/>
                        </a:rPr>
                        <a:t>Redynamiser les évaluations périodiques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MP-45.7 </a:t>
                      </a:r>
                      <a:pPr indent="0" marL="0">
                        <a:buNone/>
                      </a:pPr>
                      <a:r>
                        <a:rPr lang="en-US" sz="1000" dirty="0">
                          <a:solidFill>
                            <a:srgbClr val="58595B"/>
                          </a:solidFill>
                          <a:latin typeface="Calibri" pitchFamily="34" charset="0"/>
                          <a:ea typeface="Calibri" pitchFamily="34" charset="-122"/>
                          <a:cs typeface="Calibri" pitchFamily="34" charset="-120"/>
                        </a:rPr>
                        <a:t>Redynamiser les évaluations périodiques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Évaluation périodique repensée : 2 entretiens par an, volet compétences ajouté.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6"/>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6-02 Cartographier les orientations stratégiques RH">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UFT-26-02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E2E-26 · RACINE (INTÉGRATION RH)</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GPEC au plan de formation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UFT-26-06
</a:t>
                      </a:r>
                      <a:pPr indent="0" marL="0">
                        <a:buNone/>
                      </a:pPr>
                      <a:r>
                        <a:rPr lang="en-US" sz="1000" b="1" dirty="0">
                          <a:solidFill>
                            <a:srgbClr val="3A3A3C"/>
                          </a:solidFill>
                          <a:latin typeface="Calibri" pitchFamily="34" charset="0"/>
                          <a:ea typeface="Calibri" pitchFamily="34" charset="-122"/>
                          <a:cs typeface="Calibri" pitchFamily="34" charset="-120"/>
                        </a:rPr>
                        <a:t>Concevoir les parcours de carrière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MP-45.8 </a:t>
                      </a:r>
                      <a:pPr indent="0" marL="0">
                        <a:buNone/>
                      </a:pPr>
                      <a:r>
                        <a:rPr lang="en-US" sz="1000" dirty="0">
                          <a:solidFill>
                            <a:srgbClr val="58595B"/>
                          </a:solidFill>
                          <a:latin typeface="Calibri" pitchFamily="34" charset="0"/>
                          <a:ea typeface="Calibri" pitchFamily="34" charset="-122"/>
                          <a:cs typeface="Calibri" pitchFamily="34" charset="-120"/>
                        </a:rPr>
                        <a:t>Concevoir les parcours de carrière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Chemin de carrière : opérateur → chef d'équipe → encadrant → manager Soins cliniques et infirmiers.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UFT-26-07
</a:t>
                      </a:r>
                      <a:pPr indent="0" marL="0">
                        <a:buNone/>
                      </a:pPr>
                      <a:r>
                        <a:rPr lang="en-US" sz="1000" b="1" dirty="0">
                          <a:solidFill>
                            <a:srgbClr val="3A3A3C"/>
                          </a:solidFill>
                          <a:latin typeface="Calibri" pitchFamily="34" charset="0"/>
                          <a:ea typeface="Calibri" pitchFamily="34" charset="-122"/>
                          <a:cs typeface="Calibri" pitchFamily="34" charset="-120"/>
                        </a:rPr>
                        <a:t>Documenter la gestion des carrières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MP-45.9 </a:t>
                      </a:r>
                      <a:pPr indent="0" marL="0">
                        <a:buNone/>
                      </a:pPr>
                      <a:r>
                        <a:rPr lang="en-US" sz="1000" dirty="0">
                          <a:solidFill>
                            <a:srgbClr val="58595B"/>
                          </a:solidFill>
                          <a:latin typeface="Calibri" pitchFamily="34" charset="0"/>
                          <a:ea typeface="Calibri" pitchFamily="34" charset="-122"/>
                          <a:cs typeface="Calibri" pitchFamily="34" charset="-120"/>
                        </a:rPr>
                        <a:t>Documenter le processus de gestion des carrières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MP-45.10 </a:t>
                      </a:r>
                      <a:pPr indent="0" marL="0">
                        <a:buNone/>
                      </a:pPr>
                      <a:r>
                        <a:rPr lang="en-US" sz="1000" dirty="0">
                          <a:solidFill>
                            <a:srgbClr val="58595B"/>
                          </a:solidFill>
                          <a:latin typeface="Calibri" pitchFamily="34" charset="0"/>
                          <a:ea typeface="Calibri" pitchFamily="34" charset="-122"/>
                          <a:cs typeface="Calibri" pitchFamily="34" charset="-120"/>
                        </a:rPr>
                        <a:t>Mettre en place la rémunération collective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Procédure de gestion des carrières documentée (v1) : éligibilité, comité, calendrier.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UFT-26-08
</a:t>
                      </a:r>
                      <a:pPr indent="0" marL="0">
                        <a:buNone/>
                      </a:pPr>
                      <a:r>
                        <a:rPr lang="en-US" sz="1000" b="1" dirty="0">
                          <a:solidFill>
                            <a:srgbClr val="3A3A3C"/>
                          </a:solidFill>
                          <a:latin typeface="Calibri" pitchFamily="34" charset="0"/>
                          <a:ea typeface="Calibri" pitchFamily="34" charset="-122"/>
                          <a:cs typeface="Calibri" pitchFamily="34" charset="-120"/>
                        </a:rPr>
                        <a:t>Aligner la formation sur la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MP-45.11 </a:t>
                      </a:r>
                      <a:pPr indent="0" marL="0">
                        <a:buNone/>
                      </a:pPr>
                      <a:r>
                        <a:rPr lang="en-US" sz="1000" dirty="0">
                          <a:solidFill>
                            <a:srgbClr val="58595B"/>
                          </a:solidFill>
                          <a:latin typeface="Calibri" pitchFamily="34" charset="0"/>
                          <a:ea typeface="Calibri" pitchFamily="34" charset="-122"/>
                          <a:cs typeface="Calibri" pitchFamily="34" charset="-120"/>
                        </a:rPr>
                        <a:t>Intégrer la GPEC aux besoins de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MP-45.12 </a:t>
                      </a:r>
                      <a:pPr indent="0" marL="0">
                        <a:buNone/>
                      </a:pPr>
                      <a:r>
                        <a:rPr lang="en-US" sz="1000" dirty="0">
                          <a:solidFill>
                            <a:srgbClr val="58595B"/>
                          </a:solidFill>
                          <a:latin typeface="Calibri" pitchFamily="34" charset="0"/>
                          <a:ea typeface="Calibri" pitchFamily="34" charset="-122"/>
                          <a:cs typeface="Calibri" pitchFamily="34" charset="-120"/>
                        </a:rPr>
                        <a:t>Rendre compte de l'intégration GPEC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Formation alignée sur la GPEC : 4 thèmes couvrent les 3 nouveaux métiers ; 2 thèmes retirés.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6"/>
          <p:cNvSpPr/>
          <p:nvPr/>
        </p:nvSpPr>
        <p:spPr>
          <a:xfrm>
            <a:off x="2828905" y="3749040"/>
            <a:ext cx="3120431" cy="22951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6">    </p:cNvPr>
          <p:cNvPicPr>
            <a:picLocks noChangeAspect="1"/>
          </p:cNvPicPr>
          <p:nvPr/>
        </p:nvPicPr>
        <p:blipFill>
          <a:blip r:embed="rId1"/>
          <a:stretch>
            <a:fillRect/>
          </a:stretch>
        </p:blipFill>
        <p:spPr>
          <a:xfrm>
            <a:off x="2883769" y="3803904"/>
            <a:ext cx="3010703" cy="21854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E2E-26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MP-45 GPEC et intégration stratégique RH (gestion prévisionnelle des emplois et des compétences)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MP-13 Développement des talents et des carrières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Analyse des besoins et diagnostic</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Gestion financière et budgétaire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E2E-30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E2E-27 · RACINE (DEMANDE)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collecte des demandes à leur consolidation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Collecter les demandes de formation individuelles et collectives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Cycle annuel du plan de formation ou demande ponctuelle de collecte.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Référentiel consolidé et priorisé des demandes intégré à l'analyse des besoins de formation.</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MP-46 Collecte et consolidation des demandes de formation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MP-08 Expérience et engagement des apprenants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UFT-27-01
</a:t>
                      </a:r>
                      <a:pPr indent="0" marL="0">
                        <a:buNone/>
                      </a:pPr>
                      <a:r>
                        <a:rPr lang="en-US" sz="1000" b="1" dirty="0">
                          <a:solidFill>
                            <a:srgbClr val="3A3A3C"/>
                          </a:solidFill>
                          <a:latin typeface="Calibri" pitchFamily="34" charset="0"/>
                          <a:ea typeface="Calibri" pitchFamily="34" charset="-122"/>
                          <a:cs typeface="Calibri" pitchFamily="34" charset="-120"/>
                        </a:rPr>
                        <a:t>Concevoir les formulaires de collecte des demandes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MP-46.1 </a:t>
                      </a:r>
                      <a:pPr indent="0" marL="0">
                        <a:buNone/>
                      </a:pPr>
                      <a:r>
                        <a:rPr lang="en-US" sz="1000" dirty="0">
                          <a:solidFill>
                            <a:srgbClr val="58595B"/>
                          </a:solidFill>
                          <a:latin typeface="Calibri" pitchFamily="34" charset="0"/>
                          <a:ea typeface="Calibri" pitchFamily="34" charset="-122"/>
                          <a:cs typeface="Calibri" pitchFamily="34" charset="-120"/>
                        </a:rPr>
                        <a:t>Concevoir les formulaires de collecte des demandes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Formulaires : individuel (5 questions) et collectif par équipe (3 questions).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UFT-27-02
</a:t>
                      </a:r>
                      <a:pPr indent="0" marL="0">
                        <a:buNone/>
                      </a:pPr>
                      <a:r>
                        <a:rPr lang="en-US" sz="1000" b="1" dirty="0">
                          <a:solidFill>
                            <a:srgbClr val="3A3A3C"/>
                          </a:solidFill>
                          <a:latin typeface="Calibri" pitchFamily="34" charset="0"/>
                          <a:ea typeface="Calibri" pitchFamily="34" charset="-122"/>
                          <a:cs typeface="Calibri" pitchFamily="34" charset="-120"/>
                        </a:rPr>
                        <a:t>Déployer la collecte des demandes individuelles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MP-46.2 </a:t>
                      </a:r>
                      <a:pPr indent="0" marL="0">
                        <a:buNone/>
                      </a:pPr>
                      <a:r>
                        <a:rPr lang="en-US" sz="1000" dirty="0">
                          <a:solidFill>
                            <a:srgbClr val="58595B"/>
                          </a:solidFill>
                          <a:latin typeface="Calibri" pitchFamily="34" charset="0"/>
                          <a:ea typeface="Calibri" pitchFamily="34" charset="-122"/>
                          <a:cs typeface="Calibri" pitchFamily="34" charset="-120"/>
                        </a:rPr>
                        <a:t>Déployer la collecte des demandes individuelles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Collecte individuelle ouverte du 1er au 20 mars ; 146 demandes reçues.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UFT-27-03
</a:t>
                      </a:r>
                      <a:pPr indent="0" marL="0">
                        <a:buNone/>
                      </a:pPr>
                      <a:r>
                        <a:rPr lang="en-US" sz="1000" b="1" dirty="0">
                          <a:solidFill>
                            <a:srgbClr val="3A3A3C"/>
                          </a:solidFill>
                          <a:latin typeface="Calibri" pitchFamily="34" charset="0"/>
                          <a:ea typeface="Calibri" pitchFamily="34" charset="-122"/>
                          <a:cs typeface="Calibri" pitchFamily="34" charset="-120"/>
                        </a:rPr>
                        <a:t>Déployer la collecte des demandes collectives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MP-46.3 </a:t>
                      </a:r>
                      <a:pPr indent="0" marL="0">
                        <a:buNone/>
                      </a:pPr>
                      <a:r>
                        <a:rPr lang="en-US" sz="1000" dirty="0">
                          <a:solidFill>
                            <a:srgbClr val="58595B"/>
                          </a:solidFill>
                          <a:latin typeface="Calibri" pitchFamily="34" charset="0"/>
                          <a:ea typeface="Calibri" pitchFamily="34" charset="-122"/>
                          <a:cs typeface="Calibri" pitchFamily="34" charset="-120"/>
                        </a:rPr>
                        <a:t>Déployer la collecte des demandes collectives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Collecte collective : 18 demandes d'équipe reçues.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UFT-27-04
</a:t>
                      </a:r>
                      <a:pPr indent="0" marL="0">
                        <a:buNone/>
                      </a:pPr>
                      <a:r>
                        <a:rPr lang="en-US" sz="1000" b="1" dirty="0">
                          <a:solidFill>
                            <a:srgbClr val="3A3A3C"/>
                          </a:solidFill>
                          <a:latin typeface="Calibri" pitchFamily="34" charset="0"/>
                          <a:ea typeface="Calibri" pitchFamily="34" charset="-122"/>
                          <a:cs typeface="Calibri" pitchFamily="34" charset="-120"/>
                        </a:rPr>
                        <a:t>Recueillir les recommandations des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MP-46.4 </a:t>
                      </a:r>
                      <a:pPr indent="0" marL="0">
                        <a:buNone/>
                      </a:pPr>
                      <a:r>
                        <a:rPr lang="en-US" sz="1000" dirty="0">
                          <a:solidFill>
                            <a:srgbClr val="58595B"/>
                          </a:solidFill>
                          <a:latin typeface="Calibri" pitchFamily="34" charset="0"/>
                          <a:ea typeface="Calibri" pitchFamily="34" charset="-122"/>
                          <a:cs typeface="Calibri" pitchFamily="34" charset="-120"/>
                        </a:rPr>
                        <a:t>Recueillir les recommandations des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Recommandations des managers : 24 reçues, 9 marquées prioritaires.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UFT-27-05
</a:t>
                      </a:r>
                      <a:pPr indent="0" marL="0">
                        <a:buNone/>
                      </a:pPr>
                      <a:r>
                        <a:rPr lang="en-US" sz="1000" b="1" dirty="0">
                          <a:solidFill>
                            <a:srgbClr val="3A3A3C"/>
                          </a:solidFill>
                          <a:latin typeface="Calibri" pitchFamily="34" charset="0"/>
                          <a:ea typeface="Calibri" pitchFamily="34" charset="-122"/>
                          <a:cs typeface="Calibri" pitchFamily="34" charset="-120"/>
                        </a:rPr>
                        <a:t>Consolider les demandes par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MP-46.5 </a:t>
                      </a:r>
                      <a:pPr indent="0" marL="0">
                        <a:buNone/>
                      </a:pPr>
                      <a:r>
                        <a:rPr lang="en-US" sz="1000" dirty="0">
                          <a:solidFill>
                            <a:srgbClr val="58595B"/>
                          </a:solidFill>
                          <a:latin typeface="Calibri" pitchFamily="34" charset="0"/>
                          <a:ea typeface="Calibri" pitchFamily="34" charset="-122"/>
                          <a:cs typeface="Calibri" pitchFamily="34" charset="-120"/>
                        </a:rPr>
                        <a:t>Consolider les demandes par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Consolidé : Soins cliniques et infirmiers 64 demandes, Opérations 41, Qualité 22, autres 37.</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7"/>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7-06 Rattacher les demandes aux compétenc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UFT-27-06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E2E-27 · RACINE (DEMANDE)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collecte des demandes à leur consolidation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UFT-27-06
</a:t>
                      </a:r>
                      <a:pPr indent="0" marL="0">
                        <a:buNone/>
                      </a:pPr>
                      <a:r>
                        <a:rPr lang="en-US" sz="1000" b="1" dirty="0">
                          <a:solidFill>
                            <a:srgbClr val="3A3A3C"/>
                          </a:solidFill>
                          <a:latin typeface="Calibri" pitchFamily="34" charset="0"/>
                          <a:ea typeface="Calibri" pitchFamily="34" charset="-122"/>
                          <a:cs typeface="Calibri" pitchFamily="34" charset="-120"/>
                        </a:rPr>
                        <a:t>Rattacher les demandes aux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MP-46.6 </a:t>
                      </a:r>
                      <a:pPr indent="0" marL="0">
                        <a:buNone/>
                      </a:pPr>
                      <a:r>
                        <a:rPr lang="en-US" sz="1000" dirty="0">
                          <a:solidFill>
                            <a:srgbClr val="58595B"/>
                          </a:solidFill>
                          <a:latin typeface="Calibri" pitchFamily="34" charset="0"/>
                          <a:ea typeface="Calibri" pitchFamily="34" charset="-122"/>
                          <a:cs typeface="Calibri" pitchFamily="34" charset="-120"/>
                        </a:rPr>
                        <a:t>Rattacher les demandes aux compétences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MP-46.7 </a:t>
                      </a:r>
                      <a:pPr indent="0" marL="0">
                        <a:buNone/>
                      </a:pPr>
                      <a:r>
                        <a:rPr lang="en-US" sz="1000" dirty="0">
                          <a:solidFill>
                            <a:srgbClr val="58595B"/>
                          </a:solidFill>
                          <a:latin typeface="Calibri" pitchFamily="34" charset="0"/>
                          <a:ea typeface="Calibri" pitchFamily="34" charset="-122"/>
                          <a:cs typeface="Calibri" pitchFamily="34" charset="-120"/>
                        </a:rPr>
                        <a:t>Prioriser les demandes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le rapprochement IA pour 139 demandes ; rapprocher 7 manuellement de « Assistance IA en imagerie médicale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UFT-27-07
</a:t>
                      </a:r>
                      <a:pPr indent="0" marL="0">
                        <a:buNone/>
                      </a:pPr>
                      <a:r>
                        <a:rPr lang="en-US" sz="1000" b="1" dirty="0">
                          <a:solidFill>
                            <a:srgbClr val="3A3A3C"/>
                          </a:solidFill>
                          <a:latin typeface="Calibri" pitchFamily="34" charset="0"/>
                          <a:ea typeface="Calibri" pitchFamily="34" charset="-122"/>
                          <a:cs typeface="Calibri" pitchFamily="34" charset="-120"/>
                        </a:rPr>
                        <a:t>Prioriser et valider les demandes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MP-46.8 </a:t>
                      </a:r>
                      <a:pPr indent="0" marL="0">
                        <a:buNone/>
                      </a:pPr>
                      <a:r>
                        <a:rPr lang="en-US" sz="1000" dirty="0">
                          <a:solidFill>
                            <a:srgbClr val="58595B"/>
                          </a:solidFill>
                          <a:latin typeface="Calibri" pitchFamily="34" charset="0"/>
                          <a:ea typeface="Calibri" pitchFamily="34" charset="-122"/>
                          <a:cs typeface="Calibri" pitchFamily="34" charset="-120"/>
                        </a:rPr>
                        <a:t>Valider les demandes avec les managers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MP-46.9 </a:t>
                      </a:r>
                      <a:pPr indent="0" marL="0">
                        <a:buNone/>
                      </a:pPr>
                      <a:r>
                        <a:rPr lang="en-US" sz="1000" dirty="0">
                          <a:solidFill>
                            <a:srgbClr val="58595B"/>
                          </a:solidFill>
                          <a:latin typeface="Calibri" pitchFamily="34" charset="0"/>
                          <a:ea typeface="Calibri" pitchFamily="34" charset="-122"/>
                          <a:cs typeface="Calibri" pitchFamily="34" charset="-120"/>
                        </a:rPr>
                        <a:t>Intégrer les demandes à l'analyse des besoins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MP-46.10 </a:t>
                      </a:r>
                      <a:pPr indent="0" marL="0">
                        <a:buNone/>
                      </a:pPr>
                      <a:r>
                        <a:rPr lang="en-US" sz="1000" dirty="0">
                          <a:solidFill>
                            <a:srgbClr val="58595B"/>
                          </a:solidFill>
                          <a:latin typeface="Calibri" pitchFamily="34" charset="0"/>
                          <a:ea typeface="Calibri" pitchFamily="34" charset="-122"/>
                          <a:cs typeface="Calibri" pitchFamily="34" charset="-120"/>
                        </a:rPr>
                        <a:t>Analyser les tendances des demandes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Validées : 112 demandes (haute 38, moyenne 51, basse 23) ; 34 rejetées avec motif.</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7"/>
          <p:cNvSpPr/>
          <p:nvPr/>
        </p:nvSpPr>
        <p:spPr>
          <a:xfrm>
            <a:off x="2671441" y="3520440"/>
            <a:ext cx="3435358" cy="25237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7">    </p:cNvPr>
          <p:cNvPicPr>
            <a:picLocks noChangeAspect="1"/>
          </p:cNvPicPr>
          <p:nvPr/>
        </p:nvPicPr>
        <p:blipFill>
          <a:blip r:embed="rId1"/>
          <a:stretch>
            <a:fillRect/>
          </a:stretch>
        </p:blipFill>
        <p:spPr>
          <a:xfrm>
            <a:off x="2726305" y="3575304"/>
            <a:ext cx="3325630" cy="24140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E2E-27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MP-46 Collecte et consolidation des demandes de formation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Analyse des besoins et diagnostic</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Expérience et engagement des apprenants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E2E-30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E2E-28 · RACINE (PERFORMANCE)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l'évaluation de la performance au tableau de bord RAG</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Évaluer la performance MS/MO/OP avec des notes RAG</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Cycle annuel de performance ou demande de la direction de visualiser la performance.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Évaluation validée de la performance MS/MO/OP (management stratégique / management opérationnel / opérationnel) avec tableaux de bord RAG (vert/orange/rouge).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1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MP-47 Évaluation et visualisation des niveaux de performance (MS/MO/OP) · </a:t>
            </a:r>
            <a:pPr indent="0" marL="0">
              <a:buNone/>
            </a:pPr>
            <a:r>
              <a:rPr lang="en-US" sz="1000" dirty="0">
                <a:solidFill>
                  <a:srgbClr val="58595B"/>
                </a:solidFill>
                <a:latin typeface="Calibri" pitchFamily="34" charset="0"/>
                <a:ea typeface="Calibri" pitchFamily="34" charset="-122"/>
                <a:cs typeface="Calibri" pitchFamily="34" charset="-120"/>
              </a:rPr>
              <a:t>MP-10 Reporting et analyses · </a:t>
            </a:r>
            <a:pPr indent="0" marL="0">
              <a:buNone/>
            </a:pPr>
            <a:r>
              <a:rPr lang="en-US" sz="1000" dirty="0">
                <a:solidFill>
                  <a:srgbClr val="58595B"/>
                </a:solidFill>
                <a:latin typeface="Calibri" pitchFamily="34" charset="0"/>
                <a:ea typeface="Calibri" pitchFamily="34" charset="-122"/>
                <a:cs typeface="Calibri" pitchFamily="34" charset="-120"/>
              </a:rPr>
              <a:t>MP-37 Diagnostic organisationnel multi-axes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UFT-28-01
</a:t>
                      </a:r>
                      <a:pPr indent="0" marL="0">
                        <a:buNone/>
                      </a:pPr>
                      <a:r>
                        <a:rPr lang="en-US" sz="1000" b="1" dirty="0">
                          <a:solidFill>
                            <a:srgbClr val="3A3A3C"/>
                          </a:solidFill>
                          <a:latin typeface="Calibri" pitchFamily="34" charset="0"/>
                          <a:ea typeface="Calibri" pitchFamily="34" charset="-122"/>
                          <a:cs typeface="Calibri" pitchFamily="34" charset="-120"/>
                        </a:rPr>
                        <a:t>Définir le cadre MS/MO/OP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MP-47.1 </a:t>
                      </a:r>
                      <a:pPr indent="0" marL="0">
                        <a:buNone/>
                      </a:pPr>
                      <a:r>
                        <a:rPr lang="en-US" sz="1000" dirty="0">
                          <a:solidFill>
                            <a:srgbClr val="58595B"/>
                          </a:solidFill>
                          <a:latin typeface="Calibri" pitchFamily="34" charset="0"/>
                          <a:ea typeface="Calibri" pitchFamily="34" charset="-122"/>
                          <a:cs typeface="Calibri" pitchFamily="34" charset="-120"/>
                        </a:rPr>
                        <a:t>Définir le cadre MS/MO/OP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MS = comité de direction ; MO = managers et encadrants ; OP = opérateurs et techniciens.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UFT-28-02
</a:t>
                      </a:r>
                      <a:pPr indent="0" marL="0">
                        <a:buNone/>
                      </a:pPr>
                      <a:r>
                        <a:rPr lang="en-US" sz="1000" b="1" dirty="0">
                          <a:solidFill>
                            <a:srgbClr val="3A3A3C"/>
                          </a:solidFill>
                          <a:latin typeface="Calibri" pitchFamily="34" charset="0"/>
                          <a:ea typeface="Calibri" pitchFamily="34" charset="-122"/>
                          <a:cs typeface="Calibri" pitchFamily="34" charset="-120"/>
                        </a:rPr>
                        <a:t>Définir les critères RAG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MP-47.2 </a:t>
                      </a:r>
                      <a:pPr indent="0" marL="0">
                        <a:buNone/>
                      </a:pPr>
                      <a:r>
                        <a:rPr lang="en-US" sz="1000" dirty="0">
                          <a:solidFill>
                            <a:srgbClr val="58595B"/>
                          </a:solidFill>
                          <a:latin typeface="Calibri" pitchFamily="34" charset="0"/>
                          <a:ea typeface="Calibri" pitchFamily="34" charset="-122"/>
                          <a:cs typeface="Calibri" pitchFamily="34" charset="-120"/>
                        </a:rPr>
                        <a:t>Définir les critères RAG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Vert ≥ 90 % de la cible ; Orange 70-89 % ; Rouge &lt; 70 %.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UFT-28-03
</a:t>
                      </a:r>
                      <a:pPr indent="0" marL="0">
                        <a:buNone/>
                      </a:pPr>
                      <a:r>
                        <a:rPr lang="en-US" sz="1000" b="1" dirty="0">
                          <a:solidFill>
                            <a:srgbClr val="3A3A3C"/>
                          </a:solidFill>
                          <a:latin typeface="Calibri" pitchFamily="34" charset="0"/>
                          <a:ea typeface="Calibri" pitchFamily="34" charset="-122"/>
                          <a:cs typeface="Calibri" pitchFamily="34" charset="-120"/>
                        </a:rPr>
                        <a:t>Collecter les données de performance par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MP-47.3 </a:t>
                      </a:r>
                      <a:pPr indent="0" marL="0">
                        <a:buNone/>
                      </a:pPr>
                      <a:r>
                        <a:rPr lang="en-US" sz="1000" dirty="0">
                          <a:solidFill>
                            <a:srgbClr val="58595B"/>
                          </a:solidFill>
                          <a:latin typeface="Calibri" pitchFamily="34" charset="0"/>
                          <a:ea typeface="Calibri" pitchFamily="34" charset="-122"/>
                          <a:cs typeface="Calibri" pitchFamily="34" charset="-120"/>
                        </a:rPr>
                        <a:t>Collecter les données de performance par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Données collectées pour 6 fonctions : 18 KPI, 12 derniers mois.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UFT-28-04
</a:t>
                      </a:r>
                      <a:pPr indent="0" marL="0">
                        <a:buNone/>
                      </a:pPr>
                      <a:r>
                        <a:rPr lang="en-US" sz="1000" b="1" dirty="0">
                          <a:solidFill>
                            <a:srgbClr val="3A3A3C"/>
                          </a:solidFill>
                          <a:latin typeface="Calibri" pitchFamily="34" charset="0"/>
                          <a:ea typeface="Calibri" pitchFamily="34" charset="-122"/>
                          <a:cs typeface="Calibri" pitchFamily="34" charset="-120"/>
                        </a:rPr>
                        <a:t>Évaluer la performance 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MP-47.4 </a:t>
                      </a:r>
                      <a:pPr indent="0" marL="0">
                        <a:buNone/>
                      </a:pPr>
                      <a:r>
                        <a:rPr lang="en-US" sz="1000" dirty="0">
                          <a:solidFill>
                            <a:srgbClr val="58595B"/>
                          </a:solidFill>
                          <a:latin typeface="Calibri" pitchFamily="34" charset="0"/>
                          <a:ea typeface="Calibri" pitchFamily="34" charset="-122"/>
                          <a:cs typeface="Calibri" pitchFamily="34" charset="-120"/>
                        </a:rPr>
                        <a:t>Évaluer la performance MS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MS : déploiement de la stratégie Orange (78 %) ; gouvernance Vert (92 %).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UFT-28-05
</a:t>
                      </a:r>
                      <a:pPr indent="0" marL="0">
                        <a:buNone/>
                      </a:pPr>
                      <a:r>
                        <a:rPr lang="en-US" sz="1000" b="1" dirty="0">
                          <a:solidFill>
                            <a:srgbClr val="3A3A3C"/>
                          </a:solidFill>
                          <a:latin typeface="Calibri" pitchFamily="34" charset="0"/>
                          <a:ea typeface="Calibri" pitchFamily="34" charset="-122"/>
                          <a:cs typeface="Calibri" pitchFamily="34" charset="-120"/>
                        </a:rPr>
                        <a:t>Évaluer la performance MO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MP-47.5 </a:t>
                      </a:r>
                      <a:pPr indent="0" marL="0">
                        <a:buNone/>
                      </a:pPr>
                      <a:r>
                        <a:rPr lang="en-US" sz="1000" dirty="0">
                          <a:solidFill>
                            <a:srgbClr val="58595B"/>
                          </a:solidFill>
                          <a:latin typeface="Calibri" pitchFamily="34" charset="0"/>
                          <a:ea typeface="Calibri" pitchFamily="34" charset="-122"/>
                          <a:cs typeface="Calibri" pitchFamily="34" charset="-120"/>
                        </a:rPr>
                        <a:t>Évaluer la performance MO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 : management d'équipe Soins cliniques et infirmiers Rouge (64 %) ; planification Orange (81 %).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UFT-28-06
</a:t>
                      </a:r>
                      <a:pPr indent="0" marL="0">
                        <a:buNone/>
                      </a:pPr>
                      <a:r>
                        <a:rPr lang="en-US" sz="1000" b="1" dirty="0">
                          <a:solidFill>
                            <a:srgbClr val="3A3A3C"/>
                          </a:solidFill>
                          <a:latin typeface="Calibri" pitchFamily="34" charset="0"/>
                          <a:ea typeface="Calibri" pitchFamily="34" charset="-122"/>
                          <a:cs typeface="Calibri" pitchFamily="34" charset="-120"/>
                        </a:rPr>
                        <a:t>Évaluer la performance OP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MP-47.6 </a:t>
                      </a:r>
                      <a:pPr indent="0" marL="0">
                        <a:buNone/>
                      </a:pPr>
                      <a:r>
                        <a:rPr lang="en-US" sz="1000" dirty="0">
                          <a:solidFill>
                            <a:srgbClr val="58595B"/>
                          </a:solidFill>
                          <a:latin typeface="Calibri" pitchFamily="34" charset="0"/>
                          <a:ea typeface="Calibri" pitchFamily="34" charset="-122"/>
                          <a:cs typeface="Calibri" pitchFamily="34" charset="-120"/>
                        </a:rPr>
                        <a:t>Évaluer la performance OP</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MP-47.7 </a:t>
                      </a:r>
                      <a:pPr indent="0" marL="0">
                        <a:buNone/>
                      </a:pPr>
                      <a:r>
                        <a:rPr lang="en-US" sz="1000" dirty="0">
                          <a:solidFill>
                            <a:srgbClr val="58595B"/>
                          </a:solidFill>
                          <a:latin typeface="Calibri" pitchFamily="34" charset="0"/>
                          <a:ea typeface="Calibri" pitchFamily="34" charset="-122"/>
                          <a:cs typeface="Calibri" pitchFamily="34" charset="-120"/>
                        </a:rPr>
                        <a:t>Appliquer les notes RAG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OP : conformité ISO 7101 Orange (85 %) ; productivité Vert (93 %).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8"/>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8-05 Évaluer la performance MO">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UFT-28-05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E2E-28 · RACINE (PERFORMANCE)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l'évaluation de la performance au tableau de bord RAG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UFT-28-07
</a:t>
                      </a:r>
                      <a:pPr indent="0" marL="0">
                        <a:buNone/>
                      </a:pPr>
                      <a:r>
                        <a:rPr lang="en-US" sz="1000" b="1" dirty="0">
                          <a:solidFill>
                            <a:srgbClr val="3A3A3C"/>
                          </a:solidFill>
                          <a:latin typeface="Calibri" pitchFamily="34" charset="0"/>
                          <a:ea typeface="Calibri" pitchFamily="34" charset="-122"/>
                          <a:cs typeface="Calibri" pitchFamily="34" charset="-120"/>
                        </a:rPr>
                        <a:t>Publier le tableau de bord RAG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MP-47.8 </a:t>
                      </a:r>
                      <a:pPr indent="0" marL="0">
                        <a:buNone/>
                      </a:pPr>
                      <a:r>
                        <a:rPr lang="en-US" sz="1000" dirty="0">
                          <a:solidFill>
                            <a:srgbClr val="58595B"/>
                          </a:solidFill>
                          <a:latin typeface="Calibri" pitchFamily="34" charset="0"/>
                          <a:ea typeface="Calibri" pitchFamily="34" charset="-122"/>
                          <a:cs typeface="Calibri" pitchFamily="34" charset="-120"/>
                        </a:rPr>
                        <a:t>Visualiser les tableaux de bord de performance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MP-47.9 </a:t>
                      </a:r>
                      <a:pPr indent="0" marL="0">
                        <a:buNone/>
                      </a:pPr>
                      <a:r>
                        <a:rPr lang="en-US" sz="1000" dirty="0">
                          <a:solidFill>
                            <a:srgbClr val="58595B"/>
                          </a:solidFill>
                          <a:latin typeface="Calibri" pitchFamily="34" charset="0"/>
                          <a:ea typeface="Calibri" pitchFamily="34" charset="-122"/>
                          <a:cs typeface="Calibri" pitchFamily="34" charset="-120"/>
                        </a:rPr>
                        <a:t>Identifier les écarts de performance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MP-47.10 </a:t>
                      </a:r>
                      <a:pPr indent="0" marL="0">
                        <a:buNone/>
                      </a:pPr>
                      <a:r>
                        <a:rPr lang="en-US" sz="1000" dirty="0">
                          <a:solidFill>
                            <a:srgbClr val="58595B"/>
                          </a:solidFill>
                          <a:latin typeface="Calibri" pitchFamily="34" charset="0"/>
                          <a:ea typeface="Calibri" pitchFamily="34" charset="-122"/>
                          <a:cs typeface="Calibri" pitchFamily="34" charset="-120"/>
                        </a:rPr>
                        <a:t>Alimenter le rapport de diagnostic avec la performance</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le tableau RAG MS/MO/OP RPT-005 au comité de direction.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8"/>
          <p:cNvSpPr/>
          <p:nvPr/>
        </p:nvSpPr>
        <p:spPr>
          <a:xfrm>
            <a:off x="2299827" y="2980944"/>
            <a:ext cx="4178586" cy="3063240"/>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8">    </p:cNvPr>
          <p:cNvPicPr>
            <a:picLocks noChangeAspect="1"/>
          </p:cNvPicPr>
          <p:nvPr/>
        </p:nvPicPr>
        <p:blipFill>
          <a:blip r:embed="rId1"/>
          <a:stretch>
            <a:fillRect/>
          </a:stretch>
        </p:blipFill>
        <p:spPr>
          <a:xfrm>
            <a:off x="2354691" y="3035808"/>
            <a:ext cx="4068858" cy="2953512"/>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E2E-28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MP-47 Évaluation et visualisation des niveaux de performance (MS/MO/OP)</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et analyses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MP-37 Diagnostic organisationnel multi-axes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E2E-20, E2E-29</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E2E-29 · RACINE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SWOT fonctionnel aux axes d'amélioration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Réaliser le SWOT par fonction et définir les axes d'amélioration</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Phase de diagnostic d'une mission d'ingénierie de formation ou revue fonctionnelle annuelle.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Rapports SWOT fonctionnels validés avec axes d'amélioration priorisés par fonction.</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MP-48 Analyse SWOT fonctionnelle et axes d'amélioration · </a:t>
            </a:r>
            <a:pPr indent="0" marL="0">
              <a:buNone/>
            </a:pPr>
            <a:r>
              <a:rPr lang="en-US" sz="1000" dirty="0">
                <a:solidFill>
                  <a:srgbClr val="58595B"/>
                </a:solidFill>
                <a:latin typeface="Calibri" pitchFamily="34" charset="0"/>
                <a:ea typeface="Calibri" pitchFamily="34" charset="-122"/>
                <a:cs typeface="Calibri" pitchFamily="34" charset="-120"/>
              </a:rPr>
              <a:t>MP-37 Diagnostic organisationnel multi-axes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MP-20 Qualité, risques et amélioration continue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UFT-29-01
</a:t>
                      </a:r>
                      <a:pPr indent="0" marL="0">
                        <a:buNone/>
                      </a:pPr>
                      <a:r>
                        <a:rPr lang="en-US" sz="1000" b="1" dirty="0">
                          <a:solidFill>
                            <a:srgbClr val="3A3A3C"/>
                          </a:solidFill>
                          <a:latin typeface="Calibri" pitchFamily="34" charset="0"/>
                          <a:ea typeface="Calibri" pitchFamily="34" charset="-122"/>
                          <a:cs typeface="Calibri" pitchFamily="34" charset="-120"/>
                        </a:rPr>
                        <a:t>Définir le périmètre de la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MP-48.1 </a:t>
                      </a:r>
                      <a:pPr indent="0" marL="0">
                        <a:buNone/>
                      </a:pPr>
                      <a:r>
                        <a:rPr lang="en-US" sz="1000" dirty="0">
                          <a:solidFill>
                            <a:srgbClr val="58595B"/>
                          </a:solidFill>
                          <a:latin typeface="Calibri" pitchFamily="34" charset="0"/>
                          <a:ea typeface="Calibri" pitchFamily="34" charset="-122"/>
                          <a:cs typeface="Calibri" pitchFamily="34" charset="-120"/>
                        </a:rPr>
                        <a:t>Définir le périmètre de la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Fonction dans le périmètre : Soins cliniques et infirmiers (3 sites, 96 personnes).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UFT-29-02
</a:t>
                      </a:r>
                      <a:pPr indent="0" marL="0">
                        <a:buNone/>
                      </a:pPr>
                      <a:r>
                        <a:rPr lang="en-US" sz="1000" b="1" dirty="0">
                          <a:solidFill>
                            <a:srgbClr val="3A3A3C"/>
                          </a:solidFill>
                          <a:latin typeface="Calibri" pitchFamily="34" charset="0"/>
                          <a:ea typeface="Calibri" pitchFamily="34" charset="-122"/>
                          <a:cs typeface="Calibri" pitchFamily="34" charset="-120"/>
                        </a:rPr>
                        <a:t>Réaliser le SWOT de la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MP-48.2 </a:t>
                      </a:r>
                      <a:pPr indent="0" marL="0">
                        <a:buNone/>
                      </a:pPr>
                      <a:r>
                        <a:rPr lang="en-US" sz="1000" dirty="0">
                          <a:solidFill>
                            <a:srgbClr val="58595B"/>
                          </a:solidFill>
                          <a:latin typeface="Calibri" pitchFamily="34" charset="0"/>
                          <a:ea typeface="Calibri" pitchFamily="34" charset="-122"/>
                          <a:cs typeface="Calibri" pitchFamily="34" charset="-120"/>
                        </a:rPr>
                        <a:t>Réaliser le SWOT de la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Atelier SWOT tenu avec le responsable de fonction et 6 encadrants.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UFT-29-03
</a:t>
                      </a:r>
                      <a:pPr indent="0" marL="0">
                        <a:buNone/>
                      </a:pPr>
                      <a:r>
                        <a:rPr lang="en-US" sz="1000" b="1" dirty="0">
                          <a:solidFill>
                            <a:srgbClr val="3A3A3C"/>
                          </a:solidFill>
                          <a:latin typeface="Calibri" pitchFamily="34" charset="0"/>
                          <a:ea typeface="Calibri" pitchFamily="34" charset="-122"/>
                          <a:cs typeface="Calibri" pitchFamily="34" charset="-120"/>
                        </a:rPr>
                        <a:t>Identifier forces et faiblesses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MP-48.3 </a:t>
                      </a:r>
                      <a:pPr indent="0" marL="0">
                        <a:buNone/>
                      </a:pPr>
                      <a:r>
                        <a:rPr lang="en-US" sz="1000" dirty="0">
                          <a:solidFill>
                            <a:srgbClr val="58595B"/>
                          </a:solidFill>
                          <a:latin typeface="Calibri" pitchFamily="34" charset="0"/>
                          <a:ea typeface="Calibri" pitchFamily="34" charset="-122"/>
                          <a:cs typeface="Calibri" pitchFamily="34" charset="-120"/>
                        </a:rPr>
                        <a:t>Identifier les forces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MP-48.4 </a:t>
                      </a:r>
                      <a:pPr indent="0" marL="0">
                        <a:buNone/>
                      </a:pPr>
                      <a:r>
                        <a:rPr lang="en-US" sz="1000" dirty="0">
                          <a:solidFill>
                            <a:srgbClr val="58595B"/>
                          </a:solidFill>
                          <a:latin typeface="Calibri" pitchFamily="34" charset="0"/>
                          <a:ea typeface="Calibri" pitchFamily="34" charset="-122"/>
                          <a:cs typeface="Calibri" pitchFamily="34" charset="-120"/>
                        </a:rPr>
                        <a:t>Identifier les faiblesses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Force : équipe expérimentée. Faiblesse : faible usage de Triage IA et aide à la décision clinique, registres papier.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UFT-29-04
</a:t>
                      </a:r>
                      <a:pPr indent="0" marL="0">
                        <a:buNone/>
                      </a:pPr>
                      <a:r>
                        <a:rPr lang="en-US" sz="1000" b="1" dirty="0">
                          <a:solidFill>
                            <a:srgbClr val="3A3A3C"/>
                          </a:solidFill>
                          <a:latin typeface="Calibri" pitchFamily="34" charset="0"/>
                          <a:ea typeface="Calibri" pitchFamily="34" charset="-122"/>
                          <a:cs typeface="Calibri" pitchFamily="34" charset="-120"/>
                        </a:rPr>
                        <a:t>Identifier opportunités et menaces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MP-48.5 </a:t>
                      </a:r>
                      <a:pPr indent="0" marL="0">
                        <a:buNone/>
                      </a:pPr>
                      <a:r>
                        <a:rPr lang="en-US" sz="1000" dirty="0">
                          <a:solidFill>
                            <a:srgbClr val="58595B"/>
                          </a:solidFill>
                          <a:latin typeface="Calibri" pitchFamily="34" charset="0"/>
                          <a:ea typeface="Calibri" pitchFamily="34" charset="-122"/>
                          <a:cs typeface="Calibri" pitchFamily="34" charset="-120"/>
                        </a:rPr>
                        <a:t>Identifier les opportunités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MP-48.6 </a:t>
                      </a:r>
                      <a:pPr indent="0" marL="0">
                        <a:buNone/>
                      </a:pPr>
                      <a:r>
                        <a:rPr lang="en-US" sz="1000" dirty="0">
                          <a:solidFill>
                            <a:srgbClr val="58595B"/>
                          </a:solidFill>
                          <a:latin typeface="Calibri" pitchFamily="34" charset="0"/>
                          <a:ea typeface="Calibri" pitchFamily="34" charset="-122"/>
                          <a:cs typeface="Calibri" pitchFamily="34" charset="-120"/>
                        </a:rPr>
                        <a:t>Identifier les menaces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Opportunité : Planification IA des lits et des effectifs. Menace : audits ISO 7101 plus stricts.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UFT-29-05
</a:t>
                      </a:r>
                      <a:pPr indent="0" marL="0">
                        <a:buNone/>
                      </a:pPr>
                      <a:r>
                        <a:rPr lang="en-US" sz="1000" b="1" dirty="0">
                          <a:solidFill>
                            <a:srgbClr val="3A3A3C"/>
                          </a:solidFill>
                          <a:latin typeface="Calibri" pitchFamily="34" charset="0"/>
                          <a:ea typeface="Calibri" pitchFamily="34" charset="-122"/>
                          <a:cs typeface="Calibri" pitchFamily="34" charset="-120"/>
                        </a:rPr>
                        <a:t>Définir les axes d'amélioration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MP-48.7 </a:t>
                      </a:r>
                      <a:pPr indent="0" marL="0">
                        <a:buNone/>
                      </a:pPr>
                      <a:r>
                        <a:rPr lang="en-US" sz="1000" dirty="0">
                          <a:solidFill>
                            <a:srgbClr val="58595B"/>
                          </a:solidFill>
                          <a:latin typeface="Calibri" pitchFamily="34" charset="0"/>
                          <a:ea typeface="Calibri" pitchFamily="34" charset="-122"/>
                          <a:cs typeface="Calibri" pitchFamily="34" charset="-120"/>
                        </a:rPr>
                        <a:t>Définir les axes d'amélioration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Axe 1 : numériser les registres de poste avec Triage IA et aide à la décision clinique. Axe 2 : certifier les encadrants sur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9"/>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9-05 Définir les axes d'améliorat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UFT-29-05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E2E-29 · RACINE (DIAGNOSTIC)</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SWOT fonctionnel aux axes d'amélioration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UFT-29-06
</a:t>
                      </a:r>
                      <a:pPr indent="0" marL="0">
                        <a:buNone/>
                      </a:pPr>
                      <a:r>
                        <a:rPr lang="en-US" sz="1000" b="1" dirty="0">
                          <a:solidFill>
                            <a:srgbClr val="3A3A3C"/>
                          </a:solidFill>
                          <a:latin typeface="Calibri" pitchFamily="34" charset="0"/>
                          <a:ea typeface="Calibri" pitchFamily="34" charset="-122"/>
                          <a:cs typeface="Calibri" pitchFamily="34" charset="-120"/>
                        </a:rPr>
                        <a:t>Valider avec les responsables de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MP-48.8 </a:t>
                      </a:r>
                      <a:pPr indent="0" marL="0">
                        <a:buNone/>
                      </a:pPr>
                      <a:r>
                        <a:rPr lang="en-US" sz="1000" dirty="0">
                          <a:solidFill>
                            <a:srgbClr val="58595B"/>
                          </a:solidFill>
                          <a:latin typeface="Calibri" pitchFamily="34" charset="0"/>
                          <a:ea typeface="Calibri" pitchFamily="34" charset="-122"/>
                          <a:cs typeface="Calibri" pitchFamily="34" charset="-120"/>
                        </a:rPr>
                        <a:t>Valider les axes avec les responsables de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Validé par le responsable de fonction le 18 avril ; échéance de l'axe 2 reportée au T3.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UFT-29-07
</a:t>
                      </a:r>
                      <a:pPr indent="0" marL="0">
                        <a:buNone/>
                      </a:pPr>
                      <a:r>
                        <a:rPr lang="en-US" sz="1000" b="1" dirty="0">
                          <a:solidFill>
                            <a:srgbClr val="3A3A3C"/>
                          </a:solidFill>
                          <a:latin typeface="Calibri" pitchFamily="34" charset="0"/>
                          <a:ea typeface="Calibri" pitchFamily="34" charset="-122"/>
                          <a:cs typeface="Calibri" pitchFamily="34" charset="-120"/>
                        </a:rPr>
                        <a:t>Prioriser les axes d'amélioration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MP-48.9 </a:t>
                      </a:r>
                      <a:pPr indent="0" marL="0">
                        <a:buNone/>
                      </a:pPr>
                      <a:r>
                        <a:rPr lang="en-US" sz="1000" dirty="0">
                          <a:solidFill>
                            <a:srgbClr val="58595B"/>
                          </a:solidFill>
                          <a:latin typeface="Calibri" pitchFamily="34" charset="0"/>
                          <a:ea typeface="Calibri" pitchFamily="34" charset="-122"/>
                          <a:cs typeface="Calibri" pitchFamily="34" charset="-120"/>
                        </a:rPr>
                        <a:t>Prioriser les axes d'amélioration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MP-48.10 </a:t>
                      </a:r>
                      <a:pPr indent="0" marL="0">
                        <a:buNone/>
                      </a:pPr>
                      <a:r>
                        <a:rPr lang="en-US" sz="1000" dirty="0">
                          <a:solidFill>
                            <a:srgbClr val="58595B"/>
                          </a:solidFill>
                          <a:latin typeface="Calibri" pitchFamily="34" charset="0"/>
                          <a:ea typeface="Calibri" pitchFamily="34" charset="-122"/>
                          <a:cs typeface="Calibri" pitchFamily="34" charset="-120"/>
                        </a:rPr>
                        <a:t>Alimenter le rapport de diagnostic avec le SWOT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MP-48.11 </a:t>
                      </a:r>
                      <a:pPr indent="0" marL="0">
                        <a:buNone/>
                      </a:pPr>
                      <a:r>
                        <a:rPr lang="en-US" sz="1000" dirty="0">
                          <a:solidFill>
                            <a:srgbClr val="58595B"/>
                          </a:solidFill>
                          <a:latin typeface="Calibri" pitchFamily="34" charset="0"/>
                          <a:ea typeface="Calibri" pitchFamily="34" charset="-122"/>
                          <a:cs typeface="Calibri" pitchFamily="34" charset="-120"/>
                        </a:rPr>
                        <a:t>Suivre la mise en œuvre des améliorations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Priorité : axe 1 (impact 5), axe 2 (impact 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9"/>
          <p:cNvSpPr/>
          <p:nvPr/>
        </p:nvSpPr>
        <p:spPr>
          <a:xfrm>
            <a:off x="2564366" y="3364992"/>
            <a:ext cx="3649508" cy="26791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9">    </p:cNvPr>
          <p:cNvPicPr>
            <a:picLocks noChangeAspect="1"/>
          </p:cNvPicPr>
          <p:nvPr/>
        </p:nvPicPr>
        <p:blipFill>
          <a:blip r:embed="rId1"/>
          <a:stretch>
            <a:fillRect/>
          </a:stretch>
        </p:blipFill>
        <p:spPr>
          <a:xfrm>
            <a:off x="2619230" y="3419856"/>
            <a:ext cx="3539780" cy="25694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E2E-29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MP-48 Analyse SWOT fonctionnelle et axes d'amélioration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MP-37 Diagnostic organisationnel multi-axes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Qualité, risques et amélioration continue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E2E-20, E2E-03</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E2E-02 · PARTITION DE E2E-01</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 compétences au diagnostic des écarts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Produire un diagnostic validé des écarts de compétences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Plan annuel de formation approuvé ou campagne d'évaluation des compétences planifiée.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Diagnostic validé des écarts de compétences transmis à l'analyse des besoins.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11 étapes
</a:t>
            </a:r>
            <a:pPr indent="0" marL="0">
              <a:buNone/>
            </a:pPr>
            <a:r>
              <a:rPr lang="en-US" sz="1100" dirty="0">
                <a:solidFill>
                  <a:srgbClr val="3A3A3C"/>
                </a:solidFill>
                <a:latin typeface="Calibri" pitchFamily="34" charset="0"/>
                <a:ea typeface="Calibri" pitchFamily="34" charset="-122"/>
                <a:cs typeface="Calibri" pitchFamily="34" charset="-120"/>
              </a:rPr>
              <a:t>20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MP-28 Analytique prédictive de l'apprentissage et intelligence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UFT-02-01
</a:t>
                      </a:r>
                      <a:pPr indent="0" marL="0">
                        <a:buNone/>
                      </a:pPr>
                      <a:r>
                        <a:rPr lang="en-US" sz="1000" b="1" dirty="0">
                          <a:solidFill>
                            <a:srgbClr val="3A3A3C"/>
                          </a:solidFill>
                          <a:latin typeface="Calibri" pitchFamily="34" charset="0"/>
                          <a:ea typeface="Calibri" pitchFamily="34" charset="-122"/>
                          <a:cs typeface="Calibri" pitchFamily="34" charset="-120"/>
                        </a:rPr>
                        <a:t>Maintenir le référentiel de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Définir les familles et niveaux de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Famille « Triage IA et aide à la décision clinique » : 4 compétences sur l'échelle 1-4 (Sensibilisé, Praticien, Autonome, 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UFT-02-02
</a:t>
                      </a:r>
                      <a:pPr indent="0" marL="0">
                        <a:buNone/>
                      </a:pPr>
                      <a:r>
                        <a:rPr lang="en-US" sz="1000" b="1" dirty="0">
                          <a:solidFill>
                            <a:srgbClr val="3A3A3C"/>
                          </a:solidFill>
                          <a:latin typeface="Calibri" pitchFamily="34" charset="0"/>
                          <a:ea typeface="Calibri" pitchFamily="34" charset="-122"/>
                          <a:cs typeface="Calibri" pitchFamily="34" charset="-120"/>
                        </a:rPr>
                        <a:t>Fixer les niveaux cibles par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MP-02.2 </a:t>
                      </a:r>
                      <a:pPr indent="0" marL="0">
                        <a:buNone/>
                      </a:pPr>
                      <a:r>
                        <a:rPr lang="en-US" sz="1000" dirty="0">
                          <a:solidFill>
                            <a:srgbClr val="58595B"/>
                          </a:solidFill>
                          <a:latin typeface="Calibri" pitchFamily="34" charset="0"/>
                          <a:ea typeface="Calibri" pitchFamily="34" charset="-122"/>
                          <a:cs typeface="Calibri" pitchFamily="34" charset="-120"/>
                        </a:rPr>
                        <a:t>Fixer les niveaux cibles par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Encadrant Soins cliniques et infirmiers : Triage IA et aide à la décision clinique = 3 ; ISO 7101 = 3. Opérateur Soins cliniques et infirmiers : Triage IA et aide à la décision clinique =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UFT-02-03
</a:t>
                      </a:r>
                      <a:pPr indent="0" marL="0">
                        <a:buNone/>
                      </a:pPr>
                      <a:r>
                        <a:rPr lang="en-US" sz="1000" b="1" dirty="0">
                          <a:solidFill>
                            <a:srgbClr val="3A3A3C"/>
                          </a:solidFill>
                          <a:latin typeface="Calibri" pitchFamily="34" charset="0"/>
                          <a:ea typeface="Calibri" pitchFamily="34" charset="-122"/>
                          <a:cs typeface="Calibri" pitchFamily="34" charset="-120"/>
                        </a:rPr>
                        <a:t>Lancer la campagne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MP-02.3 </a:t>
                      </a:r>
                      <a:pPr indent="0" marL="0">
                        <a:buNone/>
                      </a:pPr>
                      <a:r>
                        <a:rPr lang="en-US" sz="1000" dirty="0">
                          <a:solidFill>
                            <a:srgbClr val="58595B"/>
                          </a:solidFill>
                          <a:latin typeface="Calibri" pitchFamily="34" charset="0"/>
                          <a:ea typeface="Calibri" pitchFamily="34" charset="-122"/>
                          <a:cs typeface="Calibri" pitchFamily="34" charset="-120"/>
                        </a:rPr>
                        <a:t>Lancer la campagne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Campagne « Compétences 2026 » : population Soins cliniques et infirmiers et Opérations (212 personnes), 12 compétences, clôture le 30 avril.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UFT-02-04
</a:t>
                      </a:r>
                      <a:pPr indent="0" marL="0">
                        <a:buNone/>
                      </a:pPr>
                      <a:r>
                        <a:rPr lang="en-US" sz="1000" b="1" dirty="0">
                          <a:solidFill>
                            <a:srgbClr val="3A3A3C"/>
                          </a:solidFill>
                          <a:latin typeface="Calibri" pitchFamily="34" charset="0"/>
                          <a:ea typeface="Calibri" pitchFamily="34" charset="-122"/>
                          <a:cs typeface="Calibri" pitchFamily="34" charset="-120"/>
                        </a:rPr>
                        <a:t>Recueillir les auto-évaluations et évaluations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MP-02.4 </a:t>
                      </a:r>
                      <a:pPr indent="0" marL="0">
                        <a:buNone/>
                      </a:pPr>
                      <a:r>
                        <a:rPr lang="en-US" sz="1000" dirty="0">
                          <a:solidFill>
                            <a:srgbClr val="58595B"/>
                          </a:solidFill>
                          <a:latin typeface="Calibri" pitchFamily="34" charset="0"/>
                          <a:ea typeface="Calibri" pitchFamily="34" charset="-122"/>
                          <a:cs typeface="Calibri" pitchFamily="34" charset="-120"/>
                        </a:rPr>
                        <a:t>Soumettre les auto-évaluations et évaluations managers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MP-02.5 </a:t>
                      </a:r>
                      <a:pPr indent="0" marL="0">
                        <a:buNone/>
                      </a:pPr>
                      <a:r>
                        <a:rPr lang="en-US" sz="1000" dirty="0">
                          <a:solidFill>
                            <a:srgbClr val="58595B"/>
                          </a:solidFill>
                          <a:latin typeface="Calibri" pitchFamily="34" charset="0"/>
                          <a:ea typeface="Calibri" pitchFamily="34" charset="-122"/>
                          <a:cs typeface="Calibri" pitchFamily="34" charset="-120"/>
                        </a:rPr>
                        <a:t>Consolider les résultats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Auto-évaluation Triage IA et aide à la décision clinique : 2 ; validation manager : 2 avec commentaire « besoin de pratique sur cas réels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2-07 Calculer et prévoir les écart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UFT-02-07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E2E-02 · PARTITION DE E2E-01</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 compétences au diagnostic des écarts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UFT-02-05
</a:t>
                      </a:r>
                      <a:pPr indent="0" marL="0">
                        <a:buNone/>
                      </a:pPr>
                      <a:r>
                        <a:rPr lang="en-US" sz="1000" b="1" dirty="0">
                          <a:solidFill>
                            <a:srgbClr val="3A3A3C"/>
                          </a:solidFill>
                          <a:latin typeface="Calibri" pitchFamily="34" charset="0"/>
                          <a:ea typeface="Calibri" pitchFamily="34" charset="-122"/>
                          <a:cs typeface="Calibri" pitchFamily="34" charset="-120"/>
                        </a:rPr>
                        <a:t>Proposer une maîtrise à partir des preuves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MP-02.6 </a:t>
                      </a:r>
                      <a:pPr indent="0" marL="0">
                        <a:buNone/>
                      </a:pPr>
                      <a:r>
                        <a:rPr lang="en-US" sz="1000" dirty="0">
                          <a:solidFill>
                            <a:srgbClr val="58595B"/>
                          </a:solidFill>
                          <a:latin typeface="Calibri" pitchFamily="34" charset="0"/>
                          <a:ea typeface="Calibri" pitchFamily="34" charset="-122"/>
                          <a:cs typeface="Calibri" pitchFamily="34" charset="-120"/>
                        </a:rPr>
                        <a:t>Proposer une maîtrise à partir des preuves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38 niveaux suggérés, en modifier 4 (preuves trop anciennes), en rejeter 1. Chaque changement est annoté.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UFT-02-06
</a:t>
                      </a:r>
                      <a:pPr indent="0" marL="0">
                        <a:buNone/>
                      </a:pPr>
                      <a:r>
                        <a:rPr lang="en-US" sz="1000" b="1" dirty="0">
                          <a:solidFill>
                            <a:srgbClr val="3A3A3C"/>
                          </a:solidFill>
                          <a:latin typeface="Calibri" pitchFamily="34" charset="0"/>
                          <a:ea typeface="Calibri" pitchFamily="34" charset="-122"/>
                          <a:cs typeface="Calibri" pitchFamily="34" charset="-120"/>
                        </a:rPr>
                        <a:t>Valider l'inventaire des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MP-02.7 </a:t>
                      </a:r>
                      <a:pPr indent="0" marL="0">
                        <a:buNone/>
                      </a:pPr>
                      <a:r>
                        <a:rPr lang="en-US" sz="1000" dirty="0">
                          <a:solidFill>
                            <a:srgbClr val="58595B"/>
                          </a:solidFill>
                          <a:latin typeface="Calibri" pitchFamily="34" charset="0"/>
                          <a:ea typeface="Calibri" pitchFamily="34" charset="-122"/>
                          <a:cs typeface="Calibri" pitchFamily="34" charset="-120"/>
                        </a:rPr>
                        <a:t>Valider l'inventaire des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Inventaire validé : 212 salariés, 96 % d'évaluations complètes. Justification : échantillon contrôlé par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UFT-02-07
</a:t>
                      </a:r>
                      <a:pPr indent="0" marL="0">
                        <a:buNone/>
                      </a:pPr>
                      <a:r>
                        <a:rPr lang="en-US" sz="1000" b="1" dirty="0">
                          <a:solidFill>
                            <a:srgbClr val="3A3A3C"/>
                          </a:solidFill>
                          <a:latin typeface="Calibri" pitchFamily="34" charset="0"/>
                          <a:ea typeface="Calibri" pitchFamily="34" charset="-122"/>
                          <a:cs typeface="Calibri" pitchFamily="34" charset="-120"/>
                        </a:rPr>
                        <a:t>Calculer et prévoir les écarts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MP-03.1 </a:t>
                      </a:r>
                      <a:pPr indent="0" marL="0">
                        <a:buNone/>
                      </a:pPr>
                      <a:r>
                        <a:rPr lang="en-US" sz="1000" dirty="0">
                          <a:solidFill>
                            <a:srgbClr val="58595B"/>
                          </a:solidFill>
                          <a:latin typeface="Calibri" pitchFamily="34" charset="0"/>
                          <a:ea typeface="Calibri" pitchFamily="34" charset="-122"/>
                          <a:cs typeface="Calibri" pitchFamily="34" charset="-120"/>
                        </a:rPr>
                        <a:t>Calculer la matrice des écarts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MP-03.2 </a:t>
                      </a:r>
                      <a:pPr indent="0" marL="0">
                        <a:buNone/>
                      </a:pPr>
                      <a:r>
                        <a:rPr lang="en-US" sz="1000" dirty="0">
                          <a:solidFill>
                            <a:srgbClr val="58595B"/>
                          </a:solidFill>
                          <a:latin typeface="Calibri" pitchFamily="34" charset="0"/>
                          <a:ea typeface="Calibri" pitchFamily="34" charset="-122"/>
                          <a:cs typeface="Calibri" pitchFamily="34" charset="-120"/>
                        </a:rPr>
                        <a:t>Revoir la matrice des écarts par site et par fonction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MP-28.3 </a:t>
                      </a:r>
                      <a:pPr indent="0" marL="0">
                        <a:buNone/>
                      </a:pPr>
                      <a:r>
                        <a:rPr lang="en-US" sz="1000" dirty="0">
                          <a:solidFill>
                            <a:srgbClr val="58595B"/>
                          </a:solidFill>
                          <a:latin typeface="Calibri" pitchFamily="34" charset="0"/>
                          <a:ea typeface="Calibri" pitchFamily="34" charset="-122"/>
                          <a:cs typeface="Calibri" pitchFamily="34" charset="-120"/>
                        </a:rPr>
                        <a:t>Prévoir les écarts de compétences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Écarts critiques : Triage IA et aide à la décision clinique (-1,4 en moyenne chez les encadrants), Assistance IA en imagerie médicale (-1,1). Prévision : Planification IA des lits et des effectifs devient critique sous 12 mois.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2"/>
          <p:cNvSpPr/>
          <p:nvPr/>
        </p:nvSpPr>
        <p:spPr>
          <a:xfrm>
            <a:off x="2935980" y="3904488"/>
            <a:ext cx="2906280" cy="213969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2">    </p:cNvPr>
          <p:cNvPicPr>
            <a:picLocks noChangeAspect="1"/>
          </p:cNvPicPr>
          <p:nvPr/>
        </p:nvPicPr>
        <p:blipFill>
          <a:blip r:embed="rId1"/>
          <a:stretch>
            <a:fillRect/>
          </a:stretch>
        </p:blipFill>
        <p:spPr>
          <a:xfrm>
            <a:off x="2990844" y="3959352"/>
            <a:ext cx="2796552" cy="202996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E2E-02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MP-02 Gestion des compétences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MP-03 Analyse des besoins et diagnostic</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MP-28 Analytique prédictive de l'apprentissage et intelligence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E2E-10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E2E-21 · RACINE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l'impact du plan précédent à la mise à jour de la stratégie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Évaluer l'impact du plan N-1 et mettre à jour la stratégie</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Début d'un nouveau cycle de plan avec les données d'exécution N-1 disponibles.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Conclusions d'impact N-1 intégrées à la mise à jour de la stratégie.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12 étapes
</a:t>
            </a:r>
            <a:pPr indent="0" marL="0">
              <a:buNone/>
            </a:pPr>
            <a:r>
              <a:rPr lang="en-US" sz="1100" dirty="0">
                <a:solidFill>
                  <a:srgbClr val="3A3A3C"/>
                </a:solidFill>
                <a:latin typeface="Calibri" pitchFamily="34" charset="0"/>
                <a:ea typeface="Calibri" pitchFamily="34" charset="-122"/>
                <a:cs typeface="Calibri" pitchFamily="34" charset="-120"/>
              </a:rPr>
              <a:t>23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MP-39 Étude d'impact du plan de formation (N-1) · </a:t>
            </a:r>
            <a:pPr indent="0" marL="0">
              <a:buNone/>
            </a:pPr>
            <a:r>
              <a:rPr lang="en-US" sz="1000" dirty="0">
                <a:solidFill>
                  <a:srgbClr val="58595B"/>
                </a:solidFill>
                <a:latin typeface="Calibri" pitchFamily="34" charset="0"/>
                <a:ea typeface="Calibri" pitchFamily="34" charset="-122"/>
                <a:cs typeface="Calibri" pitchFamily="34" charset="-120"/>
              </a:rPr>
              <a:t>MP-09 Évaluation · </a:t>
            </a:r>
            <a:pPr indent="0" marL="0">
              <a:buNone/>
            </a:pPr>
            <a:r>
              <a:rPr lang="en-US" sz="1000" dirty="0">
                <a:solidFill>
                  <a:srgbClr val="58595B"/>
                </a:solidFill>
                <a:latin typeface="Calibri" pitchFamily="34" charset="0"/>
                <a:ea typeface="Calibri" pitchFamily="34" charset="-122"/>
                <a:cs typeface="Calibri" pitchFamily="34" charset="-120"/>
              </a:rPr>
              <a:t>MP-32 ROI de la formation et mesure de l'impact métier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UFT-21-01
</a:t>
                      </a:r>
                      <a:pPr indent="0" marL="0">
                        <a:buNone/>
                      </a:pPr>
                      <a:r>
                        <a:rPr lang="en-US" sz="1000" b="1" dirty="0">
                          <a:solidFill>
                            <a:srgbClr val="3A3A3C"/>
                          </a:solidFill>
                          <a:latin typeface="Calibri" pitchFamily="34" charset="0"/>
                          <a:ea typeface="Calibri" pitchFamily="34" charset="-122"/>
                          <a:cs typeface="Calibri" pitchFamily="34" charset="-120"/>
                        </a:rPr>
                        <a:t>Charger les données d'exécution du plan N-1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MP-39.1 </a:t>
                      </a:r>
                      <a:pPr indent="0" marL="0">
                        <a:buNone/>
                      </a:pPr>
                      <a:r>
                        <a:rPr lang="en-US" sz="1000" dirty="0">
                          <a:solidFill>
                            <a:srgbClr val="58595B"/>
                          </a:solidFill>
                          <a:latin typeface="Calibri" pitchFamily="34" charset="0"/>
                          <a:ea typeface="Calibri" pitchFamily="34" charset="-122"/>
                          <a:cs typeface="Calibri" pitchFamily="34" charset="-120"/>
                        </a:rPr>
                        <a:t>Charger les données d'exécution du plan N-1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Charger le plan N-1 : 28 sessions prévues, 23 réalisées, 1 410 000 MAD dépensés.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UFT-21-02
</a:t>
                      </a:r>
                      <a:pPr indent="0" marL="0">
                        <a:buNone/>
                      </a:pPr>
                      <a:r>
                        <a:rPr lang="en-US" sz="1000" b="1" dirty="0">
                          <a:solidFill>
                            <a:srgbClr val="3A3A3C"/>
                          </a:solidFill>
                          <a:latin typeface="Calibri" pitchFamily="34" charset="0"/>
                          <a:ea typeface="Calibri" pitchFamily="34" charset="-122"/>
                          <a:cs typeface="Calibri" pitchFamily="34" charset="-120"/>
                        </a:rPr>
                        <a:t>Définir les critères d'impact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MP-39.2 </a:t>
                      </a:r>
                      <a:pPr indent="0" marL="0">
                        <a:buNone/>
                      </a:pPr>
                      <a:r>
                        <a:rPr lang="en-US" sz="1000" dirty="0">
                          <a:solidFill>
                            <a:srgbClr val="58595B"/>
                          </a:solidFill>
                          <a:latin typeface="Calibri" pitchFamily="34" charset="0"/>
                          <a:ea typeface="Calibri" pitchFamily="34" charset="-122"/>
                          <a:cs typeface="Calibri" pitchFamily="34" charset="-120"/>
                        </a:rPr>
                        <a:t>Définir les critères d'impact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Critères d'impact : application au poste, évolution des KPI, satisfaction, coût par apprenant.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UFT-21-03
</a:t>
                      </a:r>
                      <a:pPr indent="0" marL="0">
                        <a:buNone/>
                      </a:pPr>
                      <a:r>
                        <a:rPr lang="en-US" sz="1000" b="1" dirty="0">
                          <a:solidFill>
                            <a:srgbClr val="3A3A3C"/>
                          </a:solidFill>
                          <a:latin typeface="Calibri" pitchFamily="34" charset="0"/>
                          <a:ea typeface="Calibri" pitchFamily="34" charset="-122"/>
                          <a:cs typeface="Calibri" pitchFamily="34" charset="-120"/>
                        </a:rPr>
                        <a:t>Interroger participants et managers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MP-39.3 </a:t>
                      </a:r>
                      <a:pPr indent="0" marL="0">
                        <a:buNone/>
                      </a:pPr>
                      <a:r>
                        <a:rPr lang="en-US" sz="1000" dirty="0">
                          <a:solidFill>
                            <a:srgbClr val="58595B"/>
                          </a:solidFill>
                          <a:latin typeface="Calibri" pitchFamily="34" charset="0"/>
                          <a:ea typeface="Calibri" pitchFamily="34" charset="-122"/>
                          <a:cs typeface="Calibri" pitchFamily="34" charset="-120"/>
                        </a:rPr>
                        <a:t>Interroger participants et managers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MP-09.5 </a:t>
                      </a:r>
                      <a:pPr indent="0" marL="0">
                        <a:buNone/>
                      </a:pPr>
                      <a:r>
                        <a:rPr lang="en-US" sz="1000" dirty="0">
                          <a:solidFill>
                            <a:srgbClr val="58595B"/>
                          </a:solidFill>
                          <a:latin typeface="Calibri" pitchFamily="34" charset="0"/>
                          <a:ea typeface="Calibri" pitchFamily="34" charset="-122"/>
                          <a:cs typeface="Calibri" pitchFamily="34" charset="-120"/>
                        </a:rPr>
                        <a:t>Enregistrer l'observation en situation de travail (niveau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Enquête envoyée à 190 participants et 34 managers ; 61 % de réponses.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UFT-21-04
</a:t>
                      </a:r>
                      <a:pPr indent="0" marL="0">
                        <a:buNone/>
                      </a:pPr>
                      <a:r>
                        <a:rPr lang="en-US" sz="1000" b="1" dirty="0">
                          <a:solidFill>
                            <a:srgbClr val="3A3A3C"/>
                          </a:solidFill>
                          <a:latin typeface="Calibri" pitchFamily="34" charset="0"/>
                          <a:ea typeface="Calibri" pitchFamily="34" charset="-122"/>
                          <a:cs typeface="Calibri" pitchFamily="34" charset="-120"/>
                        </a:rPr>
                        <a:t>Comparer le prévu et le réalisé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MP-39.4 </a:t>
                      </a:r>
                      <a:pPr indent="0" marL="0">
                        <a:buNone/>
                      </a:pPr>
                      <a:r>
                        <a:rPr lang="en-US" sz="1000" dirty="0">
                          <a:solidFill>
                            <a:srgbClr val="58595B"/>
                          </a:solidFill>
                          <a:latin typeface="Calibri" pitchFamily="34" charset="0"/>
                          <a:ea typeface="Calibri" pitchFamily="34" charset="-122"/>
                          <a:cs typeface="Calibri" pitchFamily="34" charset="-120"/>
                        </a:rPr>
                        <a:t>Comparer le prévu et le réalisé</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MP-32.3 </a:t>
                      </a:r>
                      <a:pPr indent="0" marL="0">
                        <a:buNone/>
                      </a:pPr>
                      <a:r>
                        <a:rPr lang="en-US" sz="1000" dirty="0">
                          <a:solidFill>
                            <a:srgbClr val="58595B"/>
                          </a:solidFill>
                          <a:latin typeface="Calibri" pitchFamily="34" charset="0"/>
                          <a:ea typeface="Calibri" pitchFamily="34" charset="-122"/>
                          <a:cs typeface="Calibri" pitchFamily="34" charset="-120"/>
                        </a:rPr>
                        <a:t>Isoler l'effet de la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Prévu vs réalisé : 82 % des sessions, 94 % du budget ; 2 thèmes non réalisés.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UFT-21-05
</a:t>
                      </a:r>
                      <a:pPr indent="0" marL="0">
                        <a:buNone/>
                      </a:pPr>
                      <a:r>
                        <a:rPr lang="en-US" sz="1000" b="1" dirty="0">
                          <a:solidFill>
                            <a:srgbClr val="3A3A3C"/>
                          </a:solidFill>
                          <a:latin typeface="Calibri" pitchFamily="34" charset="0"/>
                          <a:ea typeface="Calibri" pitchFamily="34" charset="-122"/>
                          <a:cs typeface="Calibri" pitchFamily="34" charset="-120"/>
                        </a:rPr>
                        <a:t>Revoir le ROI N-1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MP-32.4 </a:t>
                      </a:r>
                      <a:pPr indent="0" marL="0">
                        <a:buNone/>
                      </a:pPr>
                      <a:r>
                        <a:rPr lang="en-US" sz="1000" dirty="0">
                          <a:solidFill>
                            <a:srgbClr val="58595B"/>
                          </a:solidFill>
                          <a:latin typeface="Calibri" pitchFamily="34" charset="0"/>
                          <a:ea typeface="Calibri" pitchFamily="34" charset="-122"/>
                          <a:cs typeface="Calibri" pitchFamily="34" charset="-120"/>
                        </a:rPr>
                        <a:t>Calculer le ROI Phillips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MP-32.5 </a:t>
                      </a:r>
                      <a:pPr indent="0" marL="0">
                        <a:buNone/>
                      </a:pPr>
                      <a:r>
                        <a:rPr lang="en-US" sz="1000" dirty="0">
                          <a:solidFill>
                            <a:srgbClr val="58595B"/>
                          </a:solidFill>
                          <a:latin typeface="Calibri" pitchFamily="34" charset="0"/>
                          <a:ea typeface="Calibri" pitchFamily="34" charset="-122"/>
                          <a:cs typeface="Calibri" pitchFamily="34" charset="-120"/>
                        </a:rPr>
                        <a:t>Revoir le ROI avec la finance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ROI N-1 : Assistance IA en imagerie médicale 18 % ; thème sécurité 35 %.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1-08 Mettre à jour les priorités de la feuille de rout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UFT-21-08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2 · E2E-21 · RACINE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l'impact du plan précédent à la mise à jour de la stratégie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UFT-21-06
</a:t>
                      </a:r>
                      <a:pPr indent="0" marL="0">
                        <a:buNone/>
                      </a:pPr>
                      <a:r>
                        <a:rPr lang="en-US" sz="1000" b="1" dirty="0">
                          <a:solidFill>
                            <a:srgbClr val="3A3A3C"/>
                          </a:solidFill>
                          <a:latin typeface="Calibri" pitchFamily="34" charset="0"/>
                          <a:ea typeface="Calibri" pitchFamily="34" charset="-122"/>
                          <a:cs typeface="Calibri" pitchFamily="34" charset="-120"/>
                        </a:rPr>
                        <a:t>Rédiger les conclusions d'impact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MP-39.5 </a:t>
                      </a:r>
                      <a:pPr indent="0" marL="0">
                        <a:buNone/>
                      </a:pPr>
                      <a:r>
                        <a:rPr lang="en-US" sz="1000" dirty="0">
                          <a:solidFill>
                            <a:srgbClr val="58595B"/>
                          </a:solidFill>
                          <a:latin typeface="Calibri" pitchFamily="34" charset="0"/>
                          <a:ea typeface="Calibri" pitchFamily="34" charset="-122"/>
                          <a:cs typeface="Calibri" pitchFamily="34" charset="-120"/>
                        </a:rPr>
                        <a:t>Rédiger les conclusions de l'étude d'impact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les conclusions IA 1 à 3 ; réécrire la conclusion 4 (échantillon trop faible).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UFT-21-07
</a:t>
                      </a:r>
                      <a:pPr indent="0" marL="0">
                        <a:buNone/>
                      </a:pPr>
                      <a:r>
                        <a:rPr lang="en-US" sz="1000" b="1" dirty="0">
                          <a:solidFill>
                            <a:srgbClr val="3A3A3C"/>
                          </a:solidFill>
                          <a:latin typeface="Calibri" pitchFamily="34" charset="0"/>
                          <a:ea typeface="Calibri" pitchFamily="34" charset="-122"/>
                          <a:cs typeface="Calibri" pitchFamily="34" charset="-120"/>
                        </a:rPr>
                        <a:t>Intégrer les conclusions à la stratégie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MP-39.6 </a:t>
                      </a:r>
                      <a:pPr indent="0" marL="0">
                        <a:buNone/>
                      </a:pPr>
                      <a:r>
                        <a:rPr lang="en-US" sz="1000" dirty="0">
                          <a:solidFill>
                            <a:srgbClr val="58595B"/>
                          </a:solidFill>
                          <a:latin typeface="Calibri" pitchFamily="34" charset="0"/>
                          <a:ea typeface="Calibri" pitchFamily="34" charset="-122"/>
                          <a:cs typeface="Calibri" pitchFamily="34" charset="-120"/>
                        </a:rPr>
                        <a:t>Intégrer les conclusions à la mise à jour de la stratégie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Enregistrer les objectifs stratégiques de l'entreprise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Alimenter la stratégie : garder le format mixte ; arrêter les longues formations présentielles sur Assistance IA en imagerie médicale.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UFT-21-08
</a:t>
                      </a:r>
                      <a:pPr indent="0" marL="0">
                        <a:buNone/>
                      </a:pPr>
                      <a:r>
                        <a:rPr lang="en-US" sz="1000" b="1" dirty="0">
                          <a:solidFill>
                            <a:srgbClr val="3A3A3C"/>
                          </a:solidFill>
                          <a:latin typeface="Calibri" pitchFamily="34" charset="0"/>
                          <a:ea typeface="Calibri" pitchFamily="34" charset="-122"/>
                          <a:cs typeface="Calibri" pitchFamily="34" charset="-120"/>
                        </a:rPr>
                        <a:t>Mettre à jour les priorités de la feuille de route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MP-04.6 </a:t>
                      </a:r>
                      <a:pPr indent="0" marL="0">
                        <a:buNone/>
                      </a:pPr>
                      <a:r>
                        <a:rPr lang="en-US" sz="1000" dirty="0">
                          <a:solidFill>
                            <a:srgbClr val="58595B"/>
                          </a:solidFill>
                          <a:latin typeface="Calibri" pitchFamily="34" charset="0"/>
                          <a:ea typeface="Calibri" pitchFamily="34" charset="-122"/>
                          <a:cs typeface="Calibri" pitchFamily="34" charset="-120"/>
                        </a:rPr>
                        <a:t>Séquencer les initiatives de la feuille de route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Priorité de la feuille de route mise à jour : Triage IA et aide à la décision clinique avancé au T2 ; Assistance IA en imagerie médicale en micro-apprentissage.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21"/>
          <p:cNvSpPr/>
          <p:nvPr/>
        </p:nvSpPr>
        <p:spPr>
          <a:xfrm>
            <a:off x="2721829" y="3593592"/>
            <a:ext cx="3334581" cy="24505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1">    </p:cNvPr>
          <p:cNvPicPr>
            <a:picLocks noChangeAspect="1"/>
          </p:cNvPicPr>
          <p:nvPr/>
        </p:nvPicPr>
        <p:blipFill>
          <a:blip r:embed="rId1"/>
          <a:stretch>
            <a:fillRect/>
          </a:stretch>
        </p:blipFill>
        <p:spPr>
          <a:xfrm>
            <a:off x="2776693" y="3648456"/>
            <a:ext cx="3224853" cy="23408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E2E-21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MP-39 Étude d'impact du plan de formation (N-1)</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Évaluation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MP-32 ROI de la formation et mesure de l'impact métier</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MP-01 Alignement stratégie et gouvernance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E2E-01, E2E-03</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03</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3</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Rapport d'ingénierie de formation et plan</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7 processus · 50 tâches · 84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13 juin 2026 – 12 juil.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Fermée par G3 — Rapport et feuille de route approuvés</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E2E-01   De la stratégie au plan de formation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E2E-03   Des besoins au rapport d'ingénierie de formation et à la feuille de route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E2E-30   De la priorisation au plan de ressources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E2E-22   Du plan multi-sites au déploiement</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E2E-23   De la soumission réglementaire à la validation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E2E-16   Du prestataire à la finance</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HCPR-E2E-02   Des compétences critiques au plan de transformation — Établissements de santé</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E2E-01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stratégie au plan de formation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Traduire la stratégie de l'entreprise en un plan annuel de formation approuvé et un budget</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Ouverture du cycle stratégique annuel ou publication par le conseil d'objectifs révisés.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Plan annuel de formation et enveloppe budgétaire approuvés par le comité de pilotage et verrouillés.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16 étapes
</a:t>
            </a:r>
            <a:pPr indent="0" marL="0">
              <a:buNone/>
            </a:pPr>
            <a:r>
              <a:rPr lang="en-US" sz="1100" dirty="0">
                <a:solidFill>
                  <a:srgbClr val="3A3A3C"/>
                </a:solidFill>
                <a:latin typeface="Calibri" pitchFamily="34" charset="0"/>
                <a:ea typeface="Calibri" pitchFamily="34" charset="-122"/>
                <a:cs typeface="Calibri" pitchFamily="34" charset="-120"/>
              </a:rPr>
              <a:t>23 jours · 6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 · </a:t>
            </a:r>
            <a:pPr indent="0" marL="0">
              <a:buNone/>
            </a:pPr>
            <a:r>
              <a:rPr lang="en-US" sz="1000" dirty="0">
                <a:solidFill>
                  <a:srgbClr val="58595B"/>
                </a:solidFill>
                <a:latin typeface="Calibri" pitchFamily="34" charset="0"/>
                <a:ea typeface="Calibri" pitchFamily="34" charset="-122"/>
                <a:cs typeface="Calibri" pitchFamily="34" charset="-120"/>
              </a:rPr>
              <a:t>MP-19 Conduite du changement et adoption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UFT-01-01
</a:t>
                      </a:r>
                      <a:pPr indent="0" marL="0">
                        <a:buNone/>
                      </a:pPr>
                      <a:r>
                        <a:rPr lang="en-US" sz="1000" b="1" dirty="0">
                          <a:solidFill>
                            <a:srgbClr val="3A3A3C"/>
                          </a:solidFill>
                          <a:latin typeface="Calibri" pitchFamily="34" charset="0"/>
                          <a:ea typeface="Calibri" pitchFamily="34" charset="-122"/>
                          <a:cs typeface="Calibri" pitchFamily="34" charset="-120"/>
                        </a:rPr>
                        <a:t>Enregistrer les objectifs stratégiques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Enregistrer les objectifs stratégiques de l'entreprise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OS-1 : Triage IA et aide à la décision clinique utilisé par 80 % du personnel Soins cliniques et infirmiers fin 2026 (responsable : directeur des opérations, mesure trimestrielle). OS-2 : zéro écart majeur d'audit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UFT-01-02
</a:t>
                      </a:r>
                      <a:pPr indent="0" marL="0">
                        <a:buNone/>
                      </a:pPr>
                      <a:r>
                        <a:rPr lang="en-US" sz="1000" b="1" dirty="0">
                          <a:solidFill>
                            <a:srgbClr val="3A3A3C"/>
                          </a:solidFill>
                          <a:latin typeface="Calibri" pitchFamily="34" charset="0"/>
                          <a:ea typeface="Calibri" pitchFamily="34" charset="-122"/>
                          <a:cs typeface="Calibri" pitchFamily="34" charset="-120"/>
                        </a:rPr>
                        <a:t>Relier les objectifs aux fonctions et aux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MP-01.2 </a:t>
                      </a:r>
                      <a:pPr indent="0" marL="0">
                        <a:buNone/>
                      </a:pPr>
                      <a:r>
                        <a:rPr lang="en-US" sz="1000" dirty="0">
                          <a:solidFill>
                            <a:srgbClr val="58595B"/>
                          </a:solidFill>
                          <a:latin typeface="Calibri" pitchFamily="34" charset="0"/>
                          <a:ea typeface="Calibri" pitchFamily="34" charset="-122"/>
                          <a:cs typeface="Calibri" pitchFamily="34" charset="-120"/>
                        </a:rPr>
                        <a:t>Relier les objectifs aux fonctions et aux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OS-1 → Soins cliniques et infirmiers, Opérations, Systèmes d'information (tous sites). OS-2 → Qualité et HSE, Soins cliniques et infirmiers.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UFT-01-03
</a:t>
                      </a:r>
                      <a:pPr indent="0" marL="0">
                        <a:buNone/>
                      </a:pPr>
                      <a:r>
                        <a:rPr lang="en-US" sz="1000" b="1" dirty="0">
                          <a:solidFill>
                            <a:srgbClr val="3A3A3C"/>
                          </a:solidFill>
                          <a:latin typeface="Calibri" pitchFamily="34" charset="0"/>
                          <a:ea typeface="Calibri" pitchFamily="34" charset="-122"/>
                          <a:cs typeface="Calibri" pitchFamily="34" charset="-120"/>
                        </a:rPr>
                        <a:t>Cadrer les priorités de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Définir les familles et niveaux de compétences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MP-02.2 </a:t>
                      </a:r>
                      <a:pPr indent="0" marL="0">
                        <a:buNone/>
                      </a:pPr>
                      <a:r>
                        <a:rPr lang="en-US" sz="1000" dirty="0">
                          <a:solidFill>
                            <a:srgbClr val="58595B"/>
                          </a:solidFill>
                          <a:latin typeface="Calibri" pitchFamily="34" charset="0"/>
                          <a:ea typeface="Calibri" pitchFamily="34" charset="-122"/>
                          <a:cs typeface="Calibri" pitchFamily="34" charset="-120"/>
                        </a:rPr>
                        <a:t>Fixer les niveaux cibles par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Familles de compétences prioritaires : Triage IA et aide à la décision clinique ; Assistance IA en imagerie médicale ; conformité ISO 7101. Niveau cible 3 (Autonome) pour les encadrants.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1-01 Enregistrer les objectifs stratégiqu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UFT-01-01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E2E-01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stratégie au plan de formation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UFT-01-04
</a:t>
                      </a:r>
                      <a:pPr indent="0" marL="0">
                        <a:buNone/>
                      </a:pPr>
                      <a:r>
                        <a:rPr lang="en-US" sz="1000" b="1" dirty="0">
                          <a:solidFill>
                            <a:srgbClr val="3A3A3C"/>
                          </a:solidFill>
                          <a:latin typeface="Calibri" pitchFamily="34" charset="0"/>
                          <a:ea typeface="Calibri" pitchFamily="34" charset="-122"/>
                          <a:cs typeface="Calibri" pitchFamily="34" charset="-120"/>
                        </a:rPr>
                        <a:t>Pré-cadrer les besoins de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MP-03.1 </a:t>
                      </a:r>
                      <a:pPr indent="0" marL="0">
                        <a:buNone/>
                      </a:pPr>
                      <a:r>
                        <a:rPr lang="en-US" sz="1000" dirty="0">
                          <a:solidFill>
                            <a:srgbClr val="58595B"/>
                          </a:solidFill>
                          <a:latin typeface="Calibri" pitchFamily="34" charset="0"/>
                          <a:ea typeface="Calibri" pitchFamily="34" charset="-122"/>
                          <a:cs typeface="Calibri" pitchFamily="34" charset="-120"/>
                        </a:rPr>
                        <a:t>Calculer la matrice des écarts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MP-03.2 </a:t>
                      </a:r>
                      <a:pPr indent="0" marL="0">
                        <a:buNone/>
                      </a:pPr>
                      <a:r>
                        <a:rPr lang="en-US" sz="1000" dirty="0">
                          <a:solidFill>
                            <a:srgbClr val="58595B"/>
                          </a:solidFill>
                          <a:latin typeface="Calibri" pitchFamily="34" charset="0"/>
                          <a:ea typeface="Calibri" pitchFamily="34" charset="-122"/>
                          <a:cs typeface="Calibri" pitchFamily="34" charset="-120"/>
                        </a:rPr>
                        <a:t>Revoir la matrice des écarts par site et par fonction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Besoins pré-cadrés : 42 % des encadrants Soins cliniques et infirmiers sous la cible sur Triage IA et aide à la décision clinique ; 18 salariés sous la cible sur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UFT-01-05
</a:t>
                      </a:r>
                      <a:pPr indent="0" marL="0">
                        <a:buNone/>
                      </a:pPr>
                      <a:r>
                        <a:rPr lang="en-US" sz="1000" b="1" dirty="0">
                          <a:solidFill>
                            <a:srgbClr val="3A3A3C"/>
                          </a:solidFill>
                          <a:latin typeface="Calibri" pitchFamily="34" charset="0"/>
                          <a:ea typeface="Calibri" pitchFamily="34" charset="-122"/>
                          <a:cs typeface="Calibri" pitchFamily="34" charset="-120"/>
                        </a:rPr>
                        <a:t>Définir l'enveloppe budgétaire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MP-01.3 </a:t>
                      </a:r>
                      <a:pPr indent="0" marL="0">
                        <a:buNone/>
                      </a:pPr>
                      <a:r>
                        <a:rPr lang="en-US" sz="1000" dirty="0">
                          <a:solidFill>
                            <a:srgbClr val="58595B"/>
                          </a:solidFill>
                          <a:latin typeface="Calibri" pitchFamily="34" charset="0"/>
                          <a:ea typeface="Calibri" pitchFamily="34" charset="-122"/>
                          <a:cs typeface="Calibri" pitchFamily="34" charset="-120"/>
                        </a:rPr>
                        <a:t>Définir l'enveloppe budgétaire de la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MP-18.1 </a:t>
                      </a:r>
                      <a:pPr indent="0" marL="0">
                        <a:buNone/>
                      </a:pPr>
                      <a:r>
                        <a:rPr lang="en-US" sz="1000" dirty="0">
                          <a:solidFill>
                            <a:srgbClr val="58595B"/>
                          </a:solidFill>
                          <a:latin typeface="Calibri" pitchFamily="34" charset="0"/>
                          <a:ea typeface="Calibri" pitchFamily="34" charset="-122"/>
                          <a:cs typeface="Calibri" pitchFamily="34" charset="-120"/>
                        </a:rPr>
                        <a:t>Répartir le budget par thème et par site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MP-18.2 </a:t>
                      </a:r>
                      <a:pPr indent="0" marL="0">
                        <a:buNone/>
                      </a:pPr>
                      <a:r>
                        <a:rPr lang="en-US" sz="1000" dirty="0">
                          <a:solidFill>
                            <a:srgbClr val="58595B"/>
                          </a:solidFill>
                          <a:latin typeface="Calibri" pitchFamily="34" charset="0"/>
                          <a:ea typeface="Calibri" pitchFamily="34" charset="-122"/>
                          <a:cs typeface="Calibri" pitchFamily="34" charset="-120"/>
                        </a:rPr>
                        <a:t>Prévoir les remboursements OFPPT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Budget formation brut 2026 : 1 850 000 MAD ; remboursement prévu (OFPPT/CSF) : 520 000 MAD ; enveloppe nette : 1 330 000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UFT-01-06
</a:t>
                      </a:r>
                      <a:pPr indent="0" marL="0">
                        <a:buNone/>
                      </a:pPr>
                      <a:r>
                        <a:rPr lang="en-US" sz="1000" b="1" dirty="0">
                          <a:solidFill>
                            <a:srgbClr val="3A3A3C"/>
                          </a:solidFill>
                          <a:latin typeface="Calibri" pitchFamily="34" charset="0"/>
                          <a:ea typeface="Calibri" pitchFamily="34" charset="-122"/>
                          <a:cs typeface="Calibri" pitchFamily="34" charset="-120"/>
                        </a:rPr>
                        <a:t>Planifier le changement et l'adoption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MP-19.1 </a:t>
                      </a:r>
                      <a:pPr indent="0" marL="0">
                        <a:buNone/>
                      </a:pPr>
                      <a:r>
                        <a:rPr lang="en-US" sz="1000" dirty="0">
                          <a:solidFill>
                            <a:srgbClr val="58595B"/>
                          </a:solidFill>
                          <a:latin typeface="Calibri" pitchFamily="34" charset="0"/>
                          <a:ea typeface="Calibri" pitchFamily="34" charset="-122"/>
                          <a:cs typeface="Calibri" pitchFamily="34" charset="-120"/>
                        </a:rPr>
                        <a:t>Évaluer l'impact du changement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MP-19.2 </a:t>
                      </a:r>
                      <a:pPr indent="0" marL="0">
                        <a:buNone/>
                      </a:pPr>
                      <a:r>
                        <a:rPr lang="en-US" sz="1000" dirty="0">
                          <a:solidFill>
                            <a:srgbClr val="58595B"/>
                          </a:solidFill>
                          <a:latin typeface="Calibri" pitchFamily="34" charset="0"/>
                          <a:ea typeface="Calibri" pitchFamily="34" charset="-122"/>
                          <a:cs typeface="Calibri" pitchFamily="34" charset="-120"/>
                        </a:rPr>
                        <a:t>Construire le plan d'adoption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Impact du changement : élevé pour les encadrants Soins cliniques et infirmiers (nouvelles routines Triage IA et aide à la décision clinique). Sponsor : directeur des opérations. Relais : un par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UFT-01-07
</a:t>
                      </a:r>
                      <a:pPr indent="0" marL="0">
                        <a:buNone/>
                      </a:pPr>
                      <a:r>
                        <a:rPr lang="en-US" sz="1000" b="1" dirty="0">
                          <a:solidFill>
                            <a:srgbClr val="3A3A3C"/>
                          </a:solidFill>
                          <a:latin typeface="Calibri" pitchFamily="34" charset="0"/>
                          <a:ea typeface="Calibri" pitchFamily="34" charset="-122"/>
                          <a:cs typeface="Calibri" pitchFamily="34" charset="-120"/>
                        </a:rPr>
                        <a:t>Constituer le dossier d'approbation du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MP-01.4 </a:t>
                      </a:r>
                      <a:pPr indent="0" marL="0">
                        <a:buNone/>
                      </a:pPr>
                      <a:r>
                        <a:rPr lang="en-US" sz="1000" dirty="0">
                          <a:solidFill>
                            <a:srgbClr val="58595B"/>
                          </a:solidFill>
                          <a:latin typeface="Calibri" pitchFamily="34" charset="0"/>
                          <a:ea typeface="Calibri" pitchFamily="34" charset="-122"/>
                          <a:cs typeface="Calibri" pitchFamily="34" charset="-120"/>
                        </a:rPr>
                        <a:t>Planifier les jalons du comité de pilotage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MP-01.5 </a:t>
                      </a:r>
                      <a:pPr indent="0" marL="0">
                        <a:buNone/>
                      </a:pPr>
                      <a:r>
                        <a:rPr lang="en-US" sz="1000" dirty="0">
                          <a:solidFill>
                            <a:srgbClr val="58595B"/>
                          </a:solidFill>
                          <a:latin typeface="Calibri" pitchFamily="34" charset="0"/>
                          <a:ea typeface="Calibri" pitchFamily="34" charset="-122"/>
                          <a:cs typeface="Calibri" pitchFamily="34" charset="-120"/>
                        </a:rPr>
                        <a:t>Constituer le dossier d'approbation du plan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MP-04.1 </a:t>
                      </a:r>
                      <a:pPr indent="0" marL="0">
                        <a:buNone/>
                      </a:pPr>
                      <a:r>
                        <a:rPr lang="en-US" sz="1000" dirty="0">
                          <a:solidFill>
                            <a:srgbClr val="58595B"/>
                          </a:solidFill>
                          <a:latin typeface="Calibri" pitchFamily="34" charset="0"/>
                          <a:ea typeface="Calibri" pitchFamily="34" charset="-122"/>
                          <a:cs typeface="Calibri" pitchFamily="34" charset="-120"/>
                        </a:rPr>
                        <a:t>Consolider les livrables amont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Dossier d'approbation : 2 objectifs, budget net 1 330 000 MAD, 6 thèmes prioritaires, comité le 15 mars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UFT-01-08
</a:t>
                      </a:r>
                      <a:pPr indent="0" marL="0">
                        <a:buNone/>
                      </a:pPr>
                      <a:r>
                        <a:rPr lang="en-US" sz="1000" b="1" dirty="0">
                          <a:solidFill>
                            <a:srgbClr val="3A3A3C"/>
                          </a:solidFill>
                          <a:latin typeface="Calibri" pitchFamily="34" charset="0"/>
                          <a:ea typeface="Calibri" pitchFamily="34" charset="-122"/>
                          <a:cs typeface="Calibri" pitchFamily="34" charset="-120"/>
                        </a:rPr>
                        <a:t>Approuver et verrouiller le plan annuel de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MP-01.6 </a:t>
                      </a:r>
                      <a:pPr indent="0" marL="0">
                        <a:buNone/>
                      </a:pPr>
                      <a:r>
                        <a:rPr lang="en-US" sz="1000" dirty="0">
                          <a:solidFill>
                            <a:srgbClr val="58595B"/>
                          </a:solidFill>
                          <a:latin typeface="Calibri" pitchFamily="34" charset="0"/>
                          <a:ea typeface="Calibri" pitchFamily="34" charset="-122"/>
                          <a:cs typeface="Calibri" pitchFamily="34" charset="-120"/>
                        </a:rPr>
                        <a:t>Enregistrer la décision du comité de pilotage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MP-01.7 </a:t>
                      </a:r>
                      <a:pPr indent="0" marL="0">
                        <a:buNone/>
                      </a:pPr>
                      <a:r>
                        <a:rPr lang="en-US" sz="1000" dirty="0">
                          <a:solidFill>
                            <a:srgbClr val="58595B"/>
                          </a:solidFill>
                          <a:latin typeface="Calibri" pitchFamily="34" charset="0"/>
                          <a:ea typeface="Calibri" pitchFamily="34" charset="-122"/>
                          <a:cs typeface="Calibri" pitchFamily="34" charset="-120"/>
                        </a:rPr>
                        <a:t>Verrouiller et diffuser le plan approuvé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Décision : Approuver. Justification : aligné sur OS-1 et OS-2 ; budget dans l'enveloppe. Plan verrouillé en version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1"/>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1">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E2E-01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E2E-02, E2E-03</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E2E-03 · CHAÎNE RACINE / MAÎTRESSE (PHARE)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 besoins au rapport d'ingénierie de formation et à la feuille de route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Produire le rapport d'ingénierie de formation et la feuille de route priorisée</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Diagnostic validé des écarts, demandes consolidées, cahier des charges approuvé ou constats de diagnostic disponibles.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Rapport d'ingénierie de formation et feuille de route priorisée approuvés et publiés.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10 tâches · 17 étapes
</a:t>
            </a:r>
            <a:pPr indent="0" marL="0">
              <a:buNone/>
            </a:pPr>
            <a:r>
              <a:rPr lang="en-US" sz="1100" dirty="0">
                <a:solidFill>
                  <a:srgbClr val="3A3A3C"/>
                </a:solidFill>
                <a:latin typeface="Calibri" pitchFamily="34" charset="0"/>
                <a:ea typeface="Calibri" pitchFamily="34" charset="-122"/>
                <a:cs typeface="Calibri" pitchFamily="34" charset="-120"/>
              </a:rPr>
              <a:t>29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 · </a:t>
            </a:r>
            <a:pPr indent="0" marL="0">
              <a:buNone/>
            </a:pPr>
            <a:r>
              <a:rPr lang="en-US" sz="1000" dirty="0">
                <a:solidFill>
                  <a:srgbClr val="58595B"/>
                </a:solidFill>
                <a:latin typeface="Calibri" pitchFamily="34" charset="0"/>
                <a:ea typeface="Calibri" pitchFamily="34" charset="-122"/>
                <a:cs typeface="Calibri" pitchFamily="34" charset="-120"/>
              </a:rPr>
              <a:t>MP-20 Qualité, risques et amélioration continue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UFT-03-01
</a:t>
                      </a:r>
                      <a:pPr indent="0" marL="0">
                        <a:buNone/>
                      </a:pPr>
                      <a:r>
                        <a:rPr lang="en-US" sz="1000" b="1" dirty="0">
                          <a:solidFill>
                            <a:srgbClr val="3A3A3C"/>
                          </a:solidFill>
                          <a:latin typeface="Calibri" pitchFamily="34" charset="0"/>
                          <a:ea typeface="Calibri" pitchFamily="34" charset="-122"/>
                          <a:cs typeface="Calibri" pitchFamily="34" charset="-120"/>
                        </a:rPr>
                        <a:t>Planifier les entretiens de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MP-03.3 </a:t>
                      </a:r>
                      <a:pPr indent="0" marL="0">
                        <a:buNone/>
                      </a:pPr>
                      <a:r>
                        <a:rPr lang="en-US" sz="1000" dirty="0">
                          <a:solidFill>
                            <a:srgbClr val="58595B"/>
                          </a:solidFill>
                          <a:latin typeface="Calibri" pitchFamily="34" charset="0"/>
                          <a:ea typeface="Calibri" pitchFamily="34" charset="-122"/>
                          <a:cs typeface="Calibri" pitchFamily="34" charset="-120"/>
                        </a:rPr>
                        <a:t>Planifier les entretiens de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 d'entretiens : 14 entretiens semi-directifs (4 MS, 6 MO, 4 OP), 45 minutes chacun, semaines 10-11.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UFT-03-02
</a:t>
                      </a:r>
                      <a:pPr indent="0" marL="0">
                        <a:buNone/>
                      </a:pPr>
                      <a:r>
                        <a:rPr lang="en-US" sz="1000" b="1" dirty="0">
                          <a:solidFill>
                            <a:srgbClr val="3A3A3C"/>
                          </a:solidFill>
                          <a:latin typeface="Calibri" pitchFamily="34" charset="0"/>
                          <a:ea typeface="Calibri" pitchFamily="34" charset="-122"/>
                          <a:cs typeface="Calibri" pitchFamily="34" charset="-120"/>
                        </a:rPr>
                        <a:t>Enregistrer les constats d'entretien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MP-03.4 </a:t>
                      </a:r>
                      <a:pPr indent="0" marL="0">
                        <a:buNone/>
                      </a:pPr>
                      <a:r>
                        <a:rPr lang="en-US" sz="1000" dirty="0">
                          <a:solidFill>
                            <a:srgbClr val="58595B"/>
                          </a:solidFill>
                          <a:latin typeface="Calibri" pitchFamily="34" charset="0"/>
                          <a:ea typeface="Calibri" pitchFamily="34" charset="-122"/>
                          <a:cs typeface="Calibri" pitchFamily="34" charset="-120"/>
                        </a:rPr>
                        <a:t>Enregistrer les constats d'entretien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Constat (MO, Soins cliniques et infirmiers) : « Les encadrants n'ont pas confiance dans les données Triage IA et aide à la décision clinique ; ils ressaisissent sur papier.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UFT-03-03
</a:t>
                      </a:r>
                      <a:pPr indent="0" marL="0">
                        <a:buNone/>
                      </a:pPr>
                      <a:r>
                        <a:rPr lang="en-US" sz="1000" b="1" dirty="0">
                          <a:solidFill>
                            <a:srgbClr val="3A3A3C"/>
                          </a:solidFill>
                          <a:latin typeface="Calibri" pitchFamily="34" charset="0"/>
                          <a:ea typeface="Calibri" pitchFamily="34" charset="-122"/>
                          <a:cs typeface="Calibri" pitchFamily="34" charset="-120"/>
                        </a:rPr>
                        <a:t>Regrouper les besoins en thèmes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MP-03.5 </a:t>
                      </a:r>
                      <a:pPr indent="0" marL="0">
                        <a:buNone/>
                      </a:pPr>
                      <a:r>
                        <a:rPr lang="en-US" sz="1000" dirty="0">
                          <a:solidFill>
                            <a:srgbClr val="58595B"/>
                          </a:solidFill>
                          <a:latin typeface="Calibri" pitchFamily="34" charset="0"/>
                          <a:ea typeface="Calibri" pitchFamily="34" charset="-122"/>
                          <a:cs typeface="Calibri" pitchFamily="34" charset="-120"/>
                        </a:rPr>
                        <a:t>Regrouper les besoins en thèmes de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le thème « Triage IA et aide à la décision clinique pour les encadrants » ; fusionner deux doublons sur Assistance IA en imagerie médicale ; scinder « ISO 7101 » en sensibilisation et auditeur.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UFT-03-04
</a:t>
                      </a:r>
                      <a:pPr indent="0" marL="0">
                        <a:buNone/>
                      </a:pPr>
                      <a:r>
                        <a:rPr lang="en-US" sz="1000" b="1" dirty="0">
                          <a:solidFill>
                            <a:srgbClr val="3A3A3C"/>
                          </a:solidFill>
                          <a:latin typeface="Calibri" pitchFamily="34" charset="0"/>
                          <a:ea typeface="Calibri" pitchFamily="34" charset="-122"/>
                          <a:cs typeface="Calibri" pitchFamily="34" charset="-120"/>
                        </a:rPr>
                        <a:t>Prioriser les besoins selon l'impact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MP-03.6 </a:t>
                      </a:r>
                      <a:pPr indent="0" marL="0">
                        <a:buNone/>
                      </a:pPr>
                      <a:r>
                        <a:rPr lang="en-US" sz="1000" dirty="0">
                          <a:solidFill>
                            <a:srgbClr val="58595B"/>
                          </a:solidFill>
                          <a:latin typeface="Calibri" pitchFamily="34" charset="0"/>
                          <a:ea typeface="Calibri" pitchFamily="34" charset="-122"/>
                          <a:cs typeface="Calibri" pitchFamily="34" charset="-120"/>
                        </a:rPr>
                        <a:t>Prioriser les besoins selon l'impact métier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Triage IA et aide à la décision clinique : impact 5, urgence 4. Assistance IA en imagerie médicale : impact 4, urgence 3. ISO 7101 : impact 4, urgence 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3-03 Regrouper les besoins en thèm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UFT-03-03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E2E-03 · CHAÎNE RACINE / MAÎTRESSE (PHARE)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 besoins au rapport d'ingénierie de formation et à la feuille de route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UFT-03-05
</a:t>
                      </a:r>
                      <a:pPr indent="0" marL="0">
                        <a:buNone/>
                      </a:pPr>
                      <a:r>
                        <a:rPr lang="en-US" sz="1000" b="1" dirty="0">
                          <a:solidFill>
                            <a:srgbClr val="3A3A3C"/>
                          </a:solidFill>
                          <a:latin typeface="Calibri" pitchFamily="34" charset="0"/>
                          <a:ea typeface="Calibri" pitchFamily="34" charset="-122"/>
                          <a:cs typeface="Calibri" pitchFamily="34" charset="-120"/>
                        </a:rPr>
                        <a:t>Valider le registre des besoins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MP-03.7 </a:t>
                      </a:r>
                      <a:pPr indent="0" marL="0">
                        <a:buNone/>
                      </a:pPr>
                      <a:r>
                        <a:rPr lang="en-US" sz="1000" dirty="0">
                          <a:solidFill>
                            <a:srgbClr val="58595B"/>
                          </a:solidFill>
                          <a:latin typeface="Calibri" pitchFamily="34" charset="0"/>
                          <a:ea typeface="Calibri" pitchFamily="34" charset="-122"/>
                          <a:cs typeface="Calibri" pitchFamily="34" charset="-120"/>
                        </a:rPr>
                        <a:t>Valider le registre des besoins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Registre des besoins validé : 23 besoins, 6 thèmes. Justification : couvre OS-1 et OS-2 ; revu par le sponsor.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UFT-03-06
</a:t>
                      </a:r>
                      <a:pPr indent="0" marL="0">
                        <a:buNone/>
                      </a:pPr>
                      <a:r>
                        <a:rPr lang="en-US" sz="1000" b="1" dirty="0">
                          <a:solidFill>
                            <a:srgbClr val="3A3A3C"/>
                          </a:solidFill>
                          <a:latin typeface="Calibri" pitchFamily="34" charset="0"/>
                          <a:ea typeface="Calibri" pitchFamily="34" charset="-122"/>
                          <a:cs typeface="Calibri" pitchFamily="34" charset="-120"/>
                        </a:rPr>
                        <a:t>Consolider les intrants d'ingénierie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MP-04.1 </a:t>
                      </a:r>
                      <a:pPr indent="0" marL="0">
                        <a:buNone/>
                      </a:pPr>
                      <a:r>
                        <a:rPr lang="en-US" sz="1000" dirty="0">
                          <a:solidFill>
                            <a:srgbClr val="58595B"/>
                          </a:solidFill>
                          <a:latin typeface="Calibri" pitchFamily="34" charset="0"/>
                          <a:ea typeface="Calibri" pitchFamily="34" charset="-122"/>
                          <a:cs typeface="Calibri" pitchFamily="34" charset="-120"/>
                        </a:rPr>
                        <a:t>Consolider les livrables amont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MP-04.2 </a:t>
                      </a:r>
                      <a:pPr indent="0" marL="0">
                        <a:buNone/>
                      </a:pPr>
                      <a:r>
                        <a:rPr lang="en-US" sz="1000" dirty="0">
                          <a:solidFill>
                            <a:srgbClr val="58595B"/>
                          </a:solidFill>
                          <a:latin typeface="Calibri" pitchFamily="34" charset="0"/>
                          <a:ea typeface="Calibri" pitchFamily="34" charset="-122"/>
                          <a:cs typeface="Calibri" pitchFamily="34" charset="-120"/>
                        </a:rPr>
                        <a:t>Vérifier la complétude des intrants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Intrants complets : périmètre, 187 réponses, matrice des écarts, tableau RAG, SWOT, demandes. Manquants : aucun.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UFT-03-07
</a:t>
                      </a:r>
                      <a:pPr indent="0" marL="0">
                        <a:buNone/>
                      </a:pPr>
                      <a:r>
                        <a:rPr lang="en-US" sz="1000" b="1" dirty="0">
                          <a:solidFill>
                            <a:srgbClr val="3A3A3C"/>
                          </a:solidFill>
                          <a:latin typeface="Calibri" pitchFamily="34" charset="0"/>
                          <a:ea typeface="Calibri" pitchFamily="34" charset="-122"/>
                          <a:cs typeface="Calibri" pitchFamily="34" charset="-120"/>
                        </a:rPr>
                        <a:t>Rédiger le rapport d'ingénierie de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MP-04.3 </a:t>
                      </a:r>
                      <a:pPr indent="0" marL="0">
                        <a:buNone/>
                      </a:pPr>
                      <a:r>
                        <a:rPr lang="en-US" sz="1000" dirty="0">
                          <a:solidFill>
                            <a:srgbClr val="58595B"/>
                          </a:solidFill>
                          <a:latin typeface="Calibri" pitchFamily="34" charset="0"/>
                          <a:ea typeface="Calibri" pitchFamily="34" charset="-122"/>
                          <a:cs typeface="Calibri" pitchFamily="34" charset="-120"/>
                        </a:rPr>
                        <a:t>Générer le projet de rapport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MP-04.4 </a:t>
                      </a:r>
                      <a:pPr indent="0" marL="0">
                        <a:buNone/>
                      </a:pPr>
                      <a:r>
                        <a:rPr lang="en-US" sz="1000" dirty="0">
                          <a:solidFill>
                            <a:srgbClr val="58595B"/>
                          </a:solidFill>
                          <a:latin typeface="Calibri" pitchFamily="34" charset="0"/>
                          <a:ea typeface="Calibri" pitchFamily="34" charset="-122"/>
                          <a:cs typeface="Calibri" pitchFamily="34" charset="-120"/>
                        </a:rPr>
                        <a:t>Modifier et compléter les sections du rapport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Section 3 « Diagnostic » : modifier le brouillon IA, ajouter la citation d'entretien sur Triage IA et aide à la décision clinique, garder le tableau RAG.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UFT-03-08
</a:t>
                      </a:r>
                      <a:pPr indent="0" marL="0">
                        <a:buNone/>
                      </a:pPr>
                      <a:r>
                        <a:rPr lang="en-US" sz="1000" b="1" dirty="0">
                          <a:solidFill>
                            <a:srgbClr val="3A3A3C"/>
                          </a:solidFill>
                          <a:latin typeface="Calibri" pitchFamily="34" charset="0"/>
                          <a:ea typeface="Calibri" pitchFamily="34" charset="-122"/>
                          <a:cs typeface="Calibri" pitchFamily="34" charset="-120"/>
                        </a:rPr>
                        <a:t>Mener la revue qualité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MP-04.5 </a:t>
                      </a:r>
                      <a:pPr indent="0" marL="0">
                        <a:buNone/>
                      </a:pPr>
                      <a:r>
                        <a:rPr lang="en-US" sz="1000" dirty="0">
                          <a:solidFill>
                            <a:srgbClr val="58595B"/>
                          </a:solidFill>
                          <a:latin typeface="Calibri" pitchFamily="34" charset="0"/>
                          <a:ea typeface="Calibri" pitchFamily="34" charset="-122"/>
                          <a:cs typeface="Calibri" pitchFamily="34" charset="-120"/>
                        </a:rPr>
                        <a:t>Réaliser la revue qualité du rapport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Mener la revue qualité périodique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Revue qualité : 11/12 points conformes ; corriger « sources citées pour chaque chiffre ». Résultat : validé après correction.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UFT-03-09
</a:t>
                      </a:r>
                      <a:pPr indent="0" marL="0">
                        <a:buNone/>
                      </a:pPr>
                      <a:r>
                        <a:rPr lang="en-US" sz="1000" b="1" dirty="0">
                          <a:solidFill>
                            <a:srgbClr val="3A3A3C"/>
                          </a:solidFill>
                          <a:latin typeface="Calibri" pitchFamily="34" charset="0"/>
                          <a:ea typeface="Calibri" pitchFamily="34" charset="-122"/>
                          <a:cs typeface="Calibri" pitchFamily="34" charset="-120"/>
                        </a:rPr>
                        <a:t>Séquencer et budgéter la feuille de route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MP-04.6 </a:t>
                      </a:r>
                      <a:pPr indent="0" marL="0">
                        <a:buNone/>
                      </a:pPr>
                      <a:r>
                        <a:rPr lang="en-US" sz="1000" dirty="0">
                          <a:solidFill>
                            <a:srgbClr val="58595B"/>
                          </a:solidFill>
                          <a:latin typeface="Calibri" pitchFamily="34" charset="0"/>
                          <a:ea typeface="Calibri" pitchFamily="34" charset="-122"/>
                          <a:cs typeface="Calibri" pitchFamily="34" charset="-120"/>
                        </a:rPr>
                        <a:t>Séquencer les initiatives de la feuille de route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MP-18.1 </a:t>
                      </a:r>
                      <a:pPr indent="0" marL="0">
                        <a:buNone/>
                      </a:pPr>
                      <a:r>
                        <a:rPr lang="en-US" sz="1000" dirty="0">
                          <a:solidFill>
                            <a:srgbClr val="58595B"/>
                          </a:solidFill>
                          <a:latin typeface="Calibri" pitchFamily="34" charset="0"/>
                          <a:ea typeface="Calibri" pitchFamily="34" charset="-122"/>
                          <a:cs typeface="Calibri" pitchFamily="34" charset="-120"/>
                        </a:rPr>
                        <a:t>Répartir le budget par thème et par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Feuille de route : T2 Triage IA et aide à la décision clinique (6 groupes) ; T3 ISO 7101 (4 groupes) ; T4 Assistance IA en imagerie médicale (3 groupes). Total 1 240 000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UFT-03-10
</a:t>
                      </a:r>
                      <a:pPr indent="0" marL="0">
                        <a:buNone/>
                      </a:pPr>
                      <a:r>
                        <a:rPr lang="en-US" sz="1000" b="1" dirty="0">
                          <a:solidFill>
                            <a:srgbClr val="3A3A3C"/>
                          </a:solidFill>
                          <a:latin typeface="Calibri" pitchFamily="34" charset="0"/>
                          <a:ea typeface="Calibri" pitchFamily="34" charset="-122"/>
                          <a:cs typeface="Calibri" pitchFamily="34" charset="-120"/>
                        </a:rPr>
                        <a:t>Approuver et publier le rapport et la feuille de route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MP-04.7 </a:t>
                      </a:r>
                      <a:pPr indent="0" marL="0">
                        <a:buNone/>
                      </a:pPr>
                      <a:r>
                        <a:rPr lang="en-US" sz="1000" dirty="0">
                          <a:solidFill>
                            <a:srgbClr val="58595B"/>
                          </a:solidFill>
                          <a:latin typeface="Calibri" pitchFamily="34" charset="0"/>
                          <a:ea typeface="Calibri" pitchFamily="34" charset="-122"/>
                          <a:cs typeface="Calibri" pitchFamily="34" charset="-120"/>
                        </a:rPr>
                        <a:t>Soumettre la feuille de route pour approbation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MP-04.8 </a:t>
                      </a:r>
                      <a:pPr indent="0" marL="0">
                        <a:buNone/>
                      </a:pPr>
                      <a:r>
                        <a:rPr lang="en-US" sz="1000" dirty="0">
                          <a:solidFill>
                            <a:srgbClr val="58595B"/>
                          </a:solidFill>
                          <a:latin typeface="Calibri" pitchFamily="34" charset="0"/>
                          <a:ea typeface="Calibri" pitchFamily="34" charset="-122"/>
                          <a:cs typeface="Calibri" pitchFamily="34" charset="-120"/>
                        </a:rPr>
                        <a:t>Enregistrer l'approbation de la feuille de route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MP-04.9 </a:t>
                      </a:r>
                      <a:pPr indent="0" marL="0">
                        <a:buNone/>
                      </a:pPr>
                      <a:r>
                        <a:rPr lang="en-US" sz="1000" dirty="0">
                          <a:solidFill>
                            <a:srgbClr val="58595B"/>
                          </a:solidFill>
                          <a:latin typeface="Calibri" pitchFamily="34" charset="0"/>
                          <a:ea typeface="Calibri" pitchFamily="34" charset="-122"/>
                          <a:cs typeface="Calibri" pitchFamily="34" charset="-120"/>
                        </a:rPr>
                        <a:t>Publier le rapport et la feuille de route approuvés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Décision : Approuver le rapport et la feuille de route v1. Justification : dans le budget, reliés à OS-1/OS-2. Publier à toutes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3"/>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3">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E2E-03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E2E-04, E2E-22, E2E-23</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E2E-30 · RACINE (PLANIFICATION)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priorisation au plan de ressources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Prioriser les thèmes et planifier jours, groupes, formateurs et budget</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Thèmes de formation consolidés à prioriser et dont les ressources sont à planifier.</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Plan de formation priorisé approuvé avec jours par thème, planification des groupes, affectation des formateurs et budget.</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5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MP-49 Priorisation du plan de formation et planification des ressources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 · </a:t>
            </a:r>
            <a:pPr indent="0" marL="0">
              <a:buNone/>
            </a:pPr>
            <a:r>
              <a:rPr lang="en-US" sz="1000" dirty="0">
                <a:solidFill>
                  <a:srgbClr val="58595B"/>
                </a:solidFill>
                <a:latin typeface="Calibri" pitchFamily="34" charset="0"/>
                <a:ea typeface="Calibri" pitchFamily="34" charset="-122"/>
                <a:cs typeface="Calibri" pitchFamily="34" charset="-120"/>
              </a:rPr>
              <a:t>MP-11 Administration et opérations · </a:t>
            </a:r>
            <a:pPr indent="0" marL="0">
              <a:buNone/>
            </a:pPr>
            <a:r>
              <a:rPr lang="en-US" sz="1000" dirty="0">
                <a:solidFill>
                  <a:srgbClr val="58595B"/>
                </a:solidFill>
                <a:latin typeface="Calibri" pitchFamily="34" charset="0"/>
                <a:ea typeface="Calibri" pitchFamily="34" charset="-122"/>
                <a:cs typeface="Calibri" pitchFamily="34" charset="-120"/>
              </a:rPr>
              <a:t>MP-07 Réalisation et mise en œuvre de la formation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UFT-30-01
</a:t>
                      </a:r>
                      <a:pPr indent="0" marL="0">
                        <a:buNone/>
                      </a:pPr>
                      <a:r>
                        <a:rPr lang="en-US" sz="1000" b="1" dirty="0">
                          <a:solidFill>
                            <a:srgbClr val="3A3A3C"/>
                          </a:solidFill>
                          <a:latin typeface="Calibri" pitchFamily="34" charset="0"/>
                          <a:ea typeface="Calibri" pitchFamily="34" charset="-122"/>
                          <a:cs typeface="Calibri" pitchFamily="34" charset="-120"/>
                        </a:rPr>
                        <a:t>Consolider les thèmes de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MP-49.1 </a:t>
                      </a:r>
                      <a:pPr indent="0" marL="0">
                        <a:buNone/>
                      </a:pPr>
                      <a:r>
                        <a:rPr lang="en-US" sz="1000" dirty="0">
                          <a:solidFill>
                            <a:srgbClr val="58595B"/>
                          </a:solidFill>
                          <a:latin typeface="Calibri" pitchFamily="34" charset="0"/>
                          <a:ea typeface="Calibri" pitchFamily="34" charset="-122"/>
                          <a:cs typeface="Calibri" pitchFamily="34" charset="-120"/>
                        </a:rPr>
                        <a:t>Consolider les thèmes de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Liste consolidée : 9 thèmes issus des besoins, demandes, GPEC et SWOT.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UFT-30-02
</a:t>
                      </a:r>
                      <a:pPr indent="0" marL="0">
                        <a:buNone/>
                      </a:pPr>
                      <a:r>
                        <a:rPr lang="en-US" sz="1000" b="1" dirty="0">
                          <a:solidFill>
                            <a:srgbClr val="3A3A3C"/>
                          </a:solidFill>
                          <a:latin typeface="Calibri" pitchFamily="34" charset="0"/>
                          <a:ea typeface="Calibri" pitchFamily="34" charset="-122"/>
                          <a:cs typeface="Calibri" pitchFamily="34" charset="-120"/>
                        </a:rPr>
                        <a:t>Définir les critères de priorisation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MP-49.2 </a:t>
                      </a:r>
                      <a:pPr indent="0" marL="0">
                        <a:buNone/>
                      </a:pPr>
                      <a:r>
                        <a:rPr lang="en-US" sz="1000" dirty="0">
                          <a:solidFill>
                            <a:srgbClr val="58595B"/>
                          </a:solidFill>
                          <a:latin typeface="Calibri" pitchFamily="34" charset="0"/>
                          <a:ea typeface="Calibri" pitchFamily="34" charset="-122"/>
                          <a:cs typeface="Calibri" pitchFamily="34" charset="-120"/>
                        </a:rPr>
                        <a:t>Définir les critères de priorisation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Critères : impact stratégique 40 %, urgence 30 %, nombre d'apprenants 20 %, coût 10 %.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UFT-30-03
</a:t>
                      </a:r>
                      <a:pPr indent="0" marL="0">
                        <a:buNone/>
                      </a:pPr>
                      <a:r>
                        <a:rPr lang="en-US" sz="1000" b="1" dirty="0">
                          <a:solidFill>
                            <a:srgbClr val="3A3A3C"/>
                          </a:solidFill>
                          <a:latin typeface="Calibri" pitchFamily="34" charset="0"/>
                          <a:ea typeface="Calibri" pitchFamily="34" charset="-122"/>
                          <a:cs typeface="Calibri" pitchFamily="34" charset="-120"/>
                        </a:rPr>
                        <a:t>Prioriser les thèmes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MP-49.3 </a:t>
                      </a:r>
                      <a:pPr indent="0" marL="0">
                        <a:buNone/>
                      </a:pPr>
                      <a:r>
                        <a:rPr lang="en-US" sz="1000" dirty="0">
                          <a:solidFill>
                            <a:srgbClr val="58595B"/>
                          </a:solidFill>
                          <a:latin typeface="Calibri" pitchFamily="34" charset="0"/>
                          <a:ea typeface="Calibri" pitchFamily="34" charset="-122"/>
                          <a:cs typeface="Calibri" pitchFamily="34" charset="-120"/>
                        </a:rPr>
                        <a:t>Prioriser les thèmes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Rang 1 Triage IA et aide à la décision clinique (score 86) ; rang 2 ISO 7101 (81) ; rang 3 Assistance IA en imagerie médicale (74).</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UFT-30-04
</a:t>
                      </a:r>
                      <a:pPr indent="0" marL="0">
                        <a:buNone/>
                      </a:pPr>
                      <a:r>
                        <a:rPr lang="en-US" sz="1000" b="1" dirty="0">
                          <a:solidFill>
                            <a:srgbClr val="3A3A3C"/>
                          </a:solidFill>
                          <a:latin typeface="Calibri" pitchFamily="34" charset="0"/>
                          <a:ea typeface="Calibri" pitchFamily="34" charset="-122"/>
                          <a:cs typeface="Calibri" pitchFamily="34" charset="-120"/>
                        </a:rPr>
                        <a:t>Estimer les jours par thème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MP-49.4 </a:t>
                      </a:r>
                      <a:pPr indent="0" marL="0">
                        <a:buNone/>
                      </a:pPr>
                      <a:r>
                        <a:rPr lang="en-US" sz="1000" dirty="0">
                          <a:solidFill>
                            <a:srgbClr val="58595B"/>
                          </a:solidFill>
                          <a:latin typeface="Calibri" pitchFamily="34" charset="0"/>
                          <a:ea typeface="Calibri" pitchFamily="34" charset="-122"/>
                          <a:cs typeface="Calibri" pitchFamily="34" charset="-120"/>
                        </a:rPr>
                        <a:t>Estimer les jours par thème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Triage IA et aide à la décision clinique : 3 jours par groupe ; ISO 7101 : 2 jours ; Assistance IA en imagerie médicale : 1,5 jour.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30"/>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0-03 Prioriser les thèm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UFT-30-03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E2E-30 · RACINE (PLANIFICATION)</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priorisation au plan de ressources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UFT-30-05
</a:t>
                      </a:r>
                      <a:pPr indent="0" marL="0">
                        <a:buNone/>
                      </a:pPr>
                      <a:r>
                        <a:rPr lang="en-US" sz="1000" b="1" dirty="0">
                          <a:solidFill>
                            <a:srgbClr val="3A3A3C"/>
                          </a:solidFill>
                          <a:latin typeface="Calibri" pitchFamily="34" charset="0"/>
                          <a:ea typeface="Calibri" pitchFamily="34" charset="-122"/>
                          <a:cs typeface="Calibri" pitchFamily="34" charset="-120"/>
                        </a:rPr>
                        <a:t>Définir les groupes par thème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MP-49.5 </a:t>
                      </a:r>
                      <a:pPr indent="0" marL="0">
                        <a:buNone/>
                      </a:pPr>
                      <a:r>
                        <a:rPr lang="en-US" sz="1000" dirty="0">
                          <a:solidFill>
                            <a:srgbClr val="58595B"/>
                          </a:solidFill>
                          <a:latin typeface="Calibri" pitchFamily="34" charset="0"/>
                          <a:ea typeface="Calibri" pitchFamily="34" charset="-122"/>
                          <a:cs typeface="Calibri" pitchFamily="34" charset="-120"/>
                        </a:rPr>
                        <a:t>Définir le nombre de groupes par thème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MP-49.6 </a:t>
                      </a:r>
                      <a:pPr indent="0" marL="0">
                        <a:buNone/>
                      </a:pPr>
                      <a:r>
                        <a:rPr lang="en-US" sz="1000" dirty="0">
                          <a:solidFill>
                            <a:srgbClr val="58595B"/>
                          </a:solidFill>
                          <a:latin typeface="Calibri" pitchFamily="34" charset="0"/>
                          <a:ea typeface="Calibri" pitchFamily="34" charset="-122"/>
                          <a:cs typeface="Calibri" pitchFamily="34" charset="-120"/>
                        </a:rPr>
                        <a:t>Affecter les formateurs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Triage IA et aide à la décision clinique : 6 groupes de 12 ; ISO 7101 : 4 groupes ; Assistance IA en imagerie médicale : 3 groupes.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UFT-30-06
</a:t>
                      </a:r>
                      <a:pPr indent="0" marL="0">
                        <a:buNone/>
                      </a:pPr>
                      <a:r>
                        <a:rPr lang="en-US" sz="1000" b="1" dirty="0">
                          <a:solidFill>
                            <a:srgbClr val="3A3A3C"/>
                          </a:solidFill>
                          <a:latin typeface="Calibri" pitchFamily="34" charset="0"/>
                          <a:ea typeface="Calibri" pitchFamily="34" charset="-122"/>
                          <a:cs typeface="Calibri" pitchFamily="34" charset="-120"/>
                        </a:rPr>
                        <a:t>Affecter formateurs et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MP-49.7 </a:t>
                      </a:r>
                      <a:pPr indent="0" marL="0">
                        <a:buNone/>
                      </a:pPr>
                      <a:r>
                        <a:rPr lang="en-US" sz="1000" dirty="0">
                          <a:solidFill>
                            <a:srgbClr val="58595B"/>
                          </a:solidFill>
                          <a:latin typeface="Calibri" pitchFamily="34" charset="0"/>
                          <a:ea typeface="Calibri" pitchFamily="34" charset="-122"/>
                          <a:cs typeface="Calibri" pitchFamily="34" charset="-120"/>
                        </a:rPr>
                        <a:t>Estimer le budget du plan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MP-49.8 </a:t>
                      </a:r>
                      <a:pPr indent="0" marL="0">
                        <a:buNone/>
                      </a:pPr>
                      <a:r>
                        <a:rPr lang="en-US" sz="1000" dirty="0">
                          <a:solidFill>
                            <a:srgbClr val="58595B"/>
                          </a:solidFill>
                          <a:latin typeface="Calibri" pitchFamily="34" charset="0"/>
                          <a:ea typeface="Calibri" pitchFamily="34" charset="-122"/>
                          <a:cs typeface="Calibri" pitchFamily="34" charset="-120"/>
                        </a:rPr>
                        <a:t>Séquencer la réalisation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MP-49.9 </a:t>
                      </a:r>
                      <a:pPr indent="0" marL="0">
                        <a:buNone/>
                      </a:pPr>
                      <a:r>
                        <a:rPr lang="en-US" sz="1000" dirty="0">
                          <a:solidFill>
                            <a:srgbClr val="58595B"/>
                          </a:solidFill>
                          <a:latin typeface="Calibri" pitchFamily="34" charset="0"/>
                          <a:ea typeface="Calibri" pitchFamily="34" charset="-122"/>
                          <a:cs typeface="Calibri" pitchFamily="34" charset="-120"/>
                        </a:rPr>
                        <a:t>Valider le plan en gouvernance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Formateurs : 2 internes, prestataire A ; budget 1 240 000 MAD (dans l'enveloppe).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UFT-30-07
</a:t>
                      </a:r>
                      <a:pPr indent="0" marL="0">
                        <a:buNone/>
                      </a:pPr>
                      <a:r>
                        <a:rPr lang="en-US" sz="1000" b="1" dirty="0">
                          <a:solidFill>
                            <a:srgbClr val="3A3A3C"/>
                          </a:solidFill>
                          <a:latin typeface="Calibri" pitchFamily="34" charset="0"/>
                          <a:ea typeface="Calibri" pitchFamily="34" charset="-122"/>
                          <a:cs typeface="Calibri" pitchFamily="34" charset="-120"/>
                        </a:rPr>
                        <a:t>Publier le plan de formation priorisé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MP-49.10 </a:t>
                      </a:r>
                      <a:pPr indent="0" marL="0">
                        <a:buNone/>
                      </a:pPr>
                      <a:r>
                        <a:rPr lang="en-US" sz="1000" dirty="0">
                          <a:solidFill>
                            <a:srgbClr val="58595B"/>
                          </a:solidFill>
                          <a:latin typeface="Calibri" pitchFamily="34" charset="0"/>
                          <a:ea typeface="Calibri" pitchFamily="34" charset="-122"/>
                          <a:cs typeface="Calibri" pitchFamily="34" charset="-120"/>
                        </a:rPr>
                        <a:t>Publier le plan priorisé</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MP-49.11 </a:t>
                      </a:r>
                      <a:pPr indent="0" marL="0">
                        <a:buNone/>
                      </a:pPr>
                      <a:r>
                        <a:rPr lang="en-US" sz="1000" dirty="0">
                          <a:solidFill>
                            <a:srgbClr val="58595B"/>
                          </a:solidFill>
                          <a:latin typeface="Calibri" pitchFamily="34" charset="0"/>
                          <a:ea typeface="Calibri" pitchFamily="34" charset="-122"/>
                          <a:cs typeface="Calibri" pitchFamily="34" charset="-120"/>
                        </a:rPr>
                        <a:t>Suivre l'exécution du plan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MP-49.12 </a:t>
                      </a:r>
                      <a:pPr indent="0" marL="0">
                        <a:buNone/>
                      </a:pPr>
                      <a:r>
                        <a:rPr lang="en-US" sz="1000" dirty="0">
                          <a:solidFill>
                            <a:srgbClr val="58595B"/>
                          </a:solidFill>
                          <a:latin typeface="Calibri" pitchFamily="34" charset="0"/>
                          <a:ea typeface="Calibri" pitchFamily="34" charset="-122"/>
                          <a:cs typeface="Calibri" pitchFamily="34" charset="-120"/>
                        </a:rPr>
                        <a:t>Rendre compte de l'utilisation des ressources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le plan de formation priorisé RPT-002 2026 à toutes les parties prenantes.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30"/>
          <p:cNvSpPr/>
          <p:nvPr/>
        </p:nvSpPr>
        <p:spPr>
          <a:xfrm>
            <a:off x="2828905" y="3749040"/>
            <a:ext cx="3120431" cy="22951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0">    </p:cNvPr>
          <p:cNvPicPr>
            <a:picLocks noChangeAspect="1"/>
          </p:cNvPicPr>
          <p:nvPr/>
        </p:nvPicPr>
        <p:blipFill>
          <a:blip r:embed="rId1"/>
          <a:stretch>
            <a:fillRect/>
          </a:stretch>
        </p:blipFill>
        <p:spPr>
          <a:xfrm>
            <a:off x="2883769" y="3803904"/>
            <a:ext cx="3010703" cy="21854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E2E-30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MP-49 Priorisation du plan de formation et planification des ressources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Gestion financière et budgétaire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MP-11 Administration et opérations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Réalisation et mise en œuvre de la formation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E2E-16</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E2E-22 · PARTITION DE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plan multi-sites au déploiement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Adapter et déployer les plans sur les sites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Feuille de route approuvée pour une organisation à plusieurs sites ou entités.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Plans de site adaptés, validés et déployés, avec escalade des écarts.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12 étapes
</a:t>
            </a:r>
            <a:pPr indent="0" marL="0">
              <a:buNone/>
            </a:pPr>
            <a:r>
              <a:rPr lang="en-US" sz="1100" dirty="0">
                <a:solidFill>
                  <a:srgbClr val="3A3A3C"/>
                </a:solidFill>
                <a:latin typeface="Calibri" pitchFamily="34" charset="0"/>
                <a:ea typeface="Calibri" pitchFamily="34" charset="-122"/>
                <a:cs typeface="Calibri" pitchFamily="34" charset="-120"/>
              </a:rPr>
              <a:t>23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MP-40 Déploiement du plan de formation multi-sites / multi-entités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MP-07 Réalisation et mise en œuvre de la formation · </a:t>
            </a:r>
            <a:pPr indent="0" marL="0">
              <a:buNone/>
            </a:pPr>
            <a:r>
              <a:rPr lang="en-US" sz="1000" dirty="0">
                <a:solidFill>
                  <a:srgbClr val="58595B"/>
                </a:solidFill>
                <a:latin typeface="Calibri" pitchFamily="34" charset="0"/>
                <a:ea typeface="Calibri" pitchFamily="34" charset="-122"/>
                <a:cs typeface="Calibri" pitchFamily="34" charset="-120"/>
              </a:rPr>
              <a:t>MP-11 Administration et opérations · </a:t>
            </a:r>
            <a:pPr indent="0" marL="0">
              <a:buNone/>
            </a:pPr>
            <a:r>
              <a:rPr lang="en-US" sz="1000" dirty="0">
                <a:solidFill>
                  <a:srgbClr val="58595B"/>
                </a:solidFill>
                <a:latin typeface="Calibri" pitchFamily="34" charset="0"/>
                <a:ea typeface="Calibri" pitchFamily="34" charset="-122"/>
                <a:cs typeface="Calibri" pitchFamily="34" charset="-120"/>
              </a:rPr>
              <a:t>MP-23 Localisation, accessibilité et inclusion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UFT-22-01
</a:t>
                      </a:r>
                      <a:pPr indent="0" marL="0">
                        <a:buNone/>
                      </a:pPr>
                      <a:r>
                        <a:rPr lang="en-US" sz="1000" b="1" dirty="0">
                          <a:solidFill>
                            <a:srgbClr val="3A3A3C"/>
                          </a:solidFill>
                          <a:latin typeface="Calibri" pitchFamily="34" charset="0"/>
                          <a:ea typeface="Calibri" pitchFamily="34" charset="-122"/>
                          <a:cs typeface="Calibri" pitchFamily="34" charset="-120"/>
                        </a:rPr>
                        <a:t>Découper le plan par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MP-40.1 </a:t>
                      </a:r>
                      <a:pPr indent="0" marL="0">
                        <a:buNone/>
                      </a:pPr>
                      <a:r>
                        <a:rPr lang="en-US" sz="1000" dirty="0">
                          <a:solidFill>
                            <a:srgbClr val="58595B"/>
                          </a:solidFill>
                          <a:latin typeface="Calibri" pitchFamily="34" charset="0"/>
                          <a:ea typeface="Calibri" pitchFamily="34" charset="-122"/>
                          <a:cs typeface="Calibri" pitchFamily="34" charset="-120"/>
                        </a:rPr>
                        <a:t>Découper le plan par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Découper le plan en 3 sites : Casablanca 55 %, Tanger 30 %, Agadir 15 %.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UFT-22-02
</a:t>
                      </a:r>
                      <a:pPr indent="0" marL="0">
                        <a:buNone/>
                      </a:pPr>
                      <a:r>
                        <a:rPr lang="en-US" sz="1000" b="1" dirty="0">
                          <a:solidFill>
                            <a:srgbClr val="3A3A3C"/>
                          </a:solidFill>
                          <a:latin typeface="Calibri" pitchFamily="34" charset="0"/>
                          <a:ea typeface="Calibri" pitchFamily="34" charset="-122"/>
                          <a:cs typeface="Calibri" pitchFamily="34" charset="-120"/>
                        </a:rPr>
                        <a:t>Adapter le plan de site aux contraintes locales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MP-40.2 </a:t>
                      </a:r>
                      <a:pPr indent="0" marL="0">
                        <a:buNone/>
                      </a:pPr>
                      <a:r>
                        <a:rPr lang="en-US" sz="1000" dirty="0">
                          <a:solidFill>
                            <a:srgbClr val="58595B"/>
                          </a:solidFill>
                          <a:latin typeface="Calibri" pitchFamily="34" charset="0"/>
                          <a:ea typeface="Calibri" pitchFamily="34" charset="-122"/>
                          <a:cs typeface="Calibri" pitchFamily="34" charset="-120"/>
                        </a:rPr>
                        <a:t>Adapter le plan de site aux contraintes locales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Imane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Tanger : contraintes de postes → sessions de 4 heures au lieu de journées complètes.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UFT-22-03
</a:t>
                      </a:r>
                      <a:pPr indent="0" marL="0">
                        <a:buNone/>
                      </a:pPr>
                      <a:r>
                        <a:rPr lang="en-US" sz="1000" b="1" dirty="0">
                          <a:solidFill>
                            <a:srgbClr val="3A3A3C"/>
                          </a:solidFill>
                          <a:latin typeface="Calibri" pitchFamily="34" charset="0"/>
                          <a:ea typeface="Calibri" pitchFamily="34" charset="-122"/>
                          <a:cs typeface="Calibri" pitchFamily="34" charset="-120"/>
                        </a:rPr>
                        <a:t>Localiser les supports du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MP-23.1 </a:t>
                      </a:r>
                      <a:pPr indent="0" marL="0">
                        <a:buNone/>
                      </a:pPr>
                      <a:r>
                        <a:rPr lang="en-US" sz="1000" dirty="0">
                          <a:solidFill>
                            <a:srgbClr val="58595B"/>
                          </a:solidFill>
                          <a:latin typeface="Calibri" pitchFamily="34" charset="0"/>
                          <a:ea typeface="Calibri" pitchFamily="34" charset="-122"/>
                          <a:cs typeface="Calibri" pitchFamily="34" charset="-120"/>
                        </a:rPr>
                        <a:t>Demander une traduction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MP-23.3 </a:t>
                      </a:r>
                      <a:pPr indent="0" marL="0">
                        <a:buNone/>
                      </a:pPr>
                      <a:r>
                        <a:rPr lang="en-US" sz="1000" dirty="0">
                          <a:solidFill>
                            <a:srgbClr val="58595B"/>
                          </a:solidFill>
                          <a:latin typeface="Calibri" pitchFamily="34" charset="0"/>
                          <a:ea typeface="Calibri" pitchFamily="34" charset="-122"/>
                          <a:cs typeface="Calibri" pitchFamily="34" charset="-120"/>
                        </a:rPr>
                        <a:t>Valider la traduction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MP-23.6 </a:t>
                      </a:r>
                      <a:pPr indent="0" marL="0">
                        <a:buNone/>
                      </a:pPr>
                      <a:r>
                        <a:rPr lang="en-US" sz="1000" dirty="0">
                          <a:solidFill>
                            <a:srgbClr val="58595B"/>
                          </a:solidFill>
                          <a:latin typeface="Calibri" pitchFamily="34" charset="0"/>
                          <a:ea typeface="Calibri" pitchFamily="34" charset="-122"/>
                          <a:cs typeface="Calibri" pitchFamily="34" charset="-120"/>
                        </a:rPr>
                        <a:t>Revoir l'équité de participation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Supports d'Agadir traduits en AR ; validés par l'expert du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UFT-22-04
</a:t>
                      </a:r>
                      <a:pPr indent="0" marL="0">
                        <a:buNone/>
                      </a:pPr>
                      <a:r>
                        <a:rPr lang="en-US" sz="1000" b="1" dirty="0">
                          <a:solidFill>
                            <a:srgbClr val="3A3A3C"/>
                          </a:solidFill>
                          <a:latin typeface="Calibri" pitchFamily="34" charset="0"/>
                          <a:ea typeface="Calibri" pitchFamily="34" charset="-122"/>
                          <a:cs typeface="Calibri" pitchFamily="34" charset="-120"/>
                        </a:rPr>
                        <a:t>Valider le plan de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MP-40.3 </a:t>
                      </a:r>
                      <a:pPr indent="0" marL="0">
                        <a:buNone/>
                      </a:pPr>
                      <a:r>
                        <a:rPr lang="en-US" sz="1000" dirty="0">
                          <a:solidFill>
                            <a:srgbClr val="58595B"/>
                          </a:solidFill>
                          <a:latin typeface="Calibri" pitchFamily="34" charset="0"/>
                          <a:ea typeface="Calibri" pitchFamily="34" charset="-122"/>
                          <a:cs typeface="Calibri" pitchFamily="34" charset="-120"/>
                        </a:rPr>
                        <a:t>Valider le plan de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Plans des sites validés au siège ; écart budgétaire dans ±5 %.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UFT-22-05
</a:t>
                      </a:r>
                      <a:pPr indent="0" marL="0">
                        <a:buNone/>
                      </a:pPr>
                      <a:r>
                        <a:rPr lang="en-US" sz="1000" b="1" dirty="0">
                          <a:solidFill>
                            <a:srgbClr val="3A3A3C"/>
                          </a:solidFill>
                          <a:latin typeface="Calibri" pitchFamily="34" charset="0"/>
                          <a:ea typeface="Calibri" pitchFamily="34" charset="-122"/>
                          <a:cs typeface="Calibri" pitchFamily="34" charset="-120"/>
                        </a:rPr>
                        <a:t>Planifier les sessions du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MP-07.1 </a:t>
                      </a:r>
                      <a:pPr indent="0" marL="0">
                        <a:buNone/>
                      </a:pPr>
                      <a:r>
                        <a:rPr lang="en-US" sz="1000" dirty="0">
                          <a:solidFill>
                            <a:srgbClr val="58595B"/>
                          </a:solidFill>
                          <a:latin typeface="Calibri" pitchFamily="34" charset="0"/>
                          <a:ea typeface="Calibri" pitchFamily="34" charset="-122"/>
                          <a:cs typeface="Calibri" pitchFamily="34" charset="-120"/>
                        </a:rPr>
                        <a:t>Créer la session de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MP-11.1 </a:t>
                      </a:r>
                      <a:pPr indent="0" marL="0">
                        <a:buNone/>
                      </a:pPr>
                      <a:r>
                        <a:rPr lang="en-US" sz="1000" dirty="0">
                          <a:solidFill>
                            <a:srgbClr val="58595B"/>
                          </a:solidFill>
                          <a:latin typeface="Calibri" pitchFamily="34" charset="0"/>
                          <a:ea typeface="Calibri" pitchFamily="34" charset="-122"/>
                          <a:cs typeface="Calibri" pitchFamily="34" charset="-120"/>
                        </a:rPr>
                        <a:t>Réserver salles et équipements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Planning Tanger : 8 sessions, salles réservées, 2 formateurs.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UFT-22-06
</a:t>
                      </a:r>
                      <a:pPr indent="0" marL="0">
                        <a:buNone/>
                      </a:pPr>
                      <a:r>
                        <a:rPr lang="en-US" sz="1000" b="1" dirty="0">
                          <a:solidFill>
                            <a:srgbClr val="3A3A3C"/>
                          </a:solidFill>
                          <a:latin typeface="Calibri" pitchFamily="34" charset="0"/>
                          <a:ea typeface="Calibri" pitchFamily="34" charset="-122"/>
                          <a:cs typeface="Calibri" pitchFamily="34" charset="-120"/>
                        </a:rPr>
                        <a:t>Déployer le planning du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MP-40.4 </a:t>
                      </a:r>
                      <a:pPr indent="0" marL="0">
                        <a:buNone/>
                      </a:pPr>
                      <a:r>
                        <a:rPr lang="en-US" sz="1000" dirty="0">
                          <a:solidFill>
                            <a:srgbClr val="58595B"/>
                          </a:solidFill>
                          <a:latin typeface="Calibri" pitchFamily="34" charset="0"/>
                          <a:ea typeface="Calibri" pitchFamily="34" charset="-122"/>
                          <a:cs typeface="Calibri" pitchFamily="34" charset="-120"/>
                        </a:rPr>
                        <a:t>Déployer le planning du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Imane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Plannings déployés et communiqués aux directeurs de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2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2-02 Adapter le plan de site aux contraintes local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UFT-22-02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E2E-22 · PARTITION DE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plan multi-sites au déploiement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UFT-22-07
</a:t>
                      </a:r>
                      <a:pPr indent="0" marL="0">
                        <a:buNone/>
                      </a:pPr>
                      <a:r>
                        <a:rPr lang="en-US" sz="1000" b="1" dirty="0">
                          <a:solidFill>
                            <a:srgbClr val="3A3A3C"/>
                          </a:solidFill>
                          <a:latin typeface="Calibri" pitchFamily="34" charset="0"/>
                          <a:ea typeface="Calibri" pitchFamily="34" charset="-122"/>
                          <a:cs typeface="Calibri" pitchFamily="34" charset="-120"/>
                        </a:rPr>
                        <a:t>Consolider le statut des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MP-40.5 </a:t>
                      </a:r>
                      <a:pPr indent="0" marL="0">
                        <a:buNone/>
                      </a:pPr>
                      <a:r>
                        <a:rPr lang="en-US" sz="1000" dirty="0">
                          <a:solidFill>
                            <a:srgbClr val="58595B"/>
                          </a:solidFill>
                          <a:latin typeface="Calibri" pitchFamily="34" charset="0"/>
                          <a:ea typeface="Calibri" pitchFamily="34" charset="-122"/>
                          <a:cs typeface="Calibri" pitchFamily="34" charset="-120"/>
                        </a:rPr>
                        <a:t>Consolider le statut des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Statut : Casablanca 70 %, Tanger 45 %, Agadir 20 % réalisés.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UFT-22-08
</a:t>
                      </a:r>
                      <a:pPr indent="0" marL="0">
                        <a:buNone/>
                      </a:pPr>
                      <a:r>
                        <a:rPr lang="en-US" sz="1000" b="1" dirty="0">
                          <a:solidFill>
                            <a:srgbClr val="3A3A3C"/>
                          </a:solidFill>
                          <a:latin typeface="Calibri" pitchFamily="34" charset="0"/>
                          <a:ea typeface="Calibri" pitchFamily="34" charset="-122"/>
                          <a:cs typeface="Calibri" pitchFamily="34" charset="-120"/>
                        </a:rPr>
                        <a:t>Escalader un écart de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MP-40.6 </a:t>
                      </a:r>
                      <a:pPr indent="0" marL="0">
                        <a:buNone/>
                      </a:pPr>
                      <a:r>
                        <a:rPr lang="en-US" sz="1000" dirty="0">
                          <a:solidFill>
                            <a:srgbClr val="58595B"/>
                          </a:solidFill>
                          <a:latin typeface="Calibri" pitchFamily="34" charset="0"/>
                          <a:ea typeface="Calibri" pitchFamily="34" charset="-122"/>
                          <a:cs typeface="Calibri" pitchFamily="34" charset="-120"/>
                        </a:rPr>
                        <a:t>Escalader un écart de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Escalader l'écart d'Agadir (-25 %) à la DRH avec un plan de rattrapage.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2"/>
          <p:cNvSpPr/>
          <p:nvPr/>
        </p:nvSpPr>
        <p:spPr>
          <a:xfrm>
            <a:off x="2035288" y="2596896"/>
            <a:ext cx="4707663" cy="34472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2">    </p:cNvPr>
          <p:cNvPicPr>
            <a:picLocks noChangeAspect="1"/>
          </p:cNvPicPr>
          <p:nvPr/>
        </p:nvPicPr>
        <p:blipFill>
          <a:blip r:embed="rId1"/>
          <a:stretch>
            <a:fillRect/>
          </a:stretch>
        </p:blipFill>
        <p:spPr>
          <a:xfrm>
            <a:off x="2090152" y="2651760"/>
            <a:ext cx="4597935" cy="33375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E2E-22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MP-40 Déploiement du plan de formation multi-sites / multi-entités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MP-04 Élaboration du rapport d'ingénierie de formation et de la feuille de route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Réalisation et mise en œuvre de la formation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MP-11 Administration et opérations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MP-23 Localisation, accessibilité et inclusion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E2E-23 · RACINE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soumission réglementaire à la validation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Soumettre et faire valider les plans de formation auprès des organismes réglementaires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Plan approuvé nécessitant une validation ou un financement externe (ex. OFPPT, GIAC-Agro).</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Plan validé par l'organisme réglementaire et preuves archivées.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10 étapes
</a:t>
            </a:r>
            <a:pPr indent="0" marL="0">
              <a:buNone/>
            </a:pPr>
            <a:r>
              <a:rPr lang="en-US" sz="1100" dirty="0">
                <a:solidFill>
                  <a:srgbClr val="3A3A3C"/>
                </a:solidFill>
                <a:latin typeface="Calibri" pitchFamily="34" charset="0"/>
                <a:ea typeface="Calibri" pitchFamily="34" charset="-122"/>
                <a:cs typeface="Calibri" pitchFamily="34" charset="-120"/>
              </a:rPr>
              <a:t>20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MP-41 Validation externe du plan de formation et conformité réglementaire · </a:t>
            </a:r>
            <a:pPr indent="0" marL="0">
              <a:buNone/>
            </a:pPr>
            <a:r>
              <a:rPr lang="en-US" sz="1000" dirty="0">
                <a:solidFill>
                  <a:srgbClr val="58595B"/>
                </a:solidFill>
                <a:latin typeface="Calibri" pitchFamily="34" charset="0"/>
                <a:ea typeface="Calibri" pitchFamily="34" charset="-122"/>
                <a:cs typeface="Calibri" pitchFamily="34" charset="-120"/>
              </a:rPr>
              <a:t>MP-14 Gestion de la conformité et des certifications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 · </a:t>
            </a:r>
            <a:pPr indent="0" marL="0">
              <a:buNone/>
            </a:pPr>
            <a:r>
              <a:rPr lang="en-US" sz="1000" dirty="0">
                <a:solidFill>
                  <a:srgbClr val="58595B"/>
                </a:solidFill>
                <a:latin typeface="Calibri" pitchFamily="34" charset="0"/>
                <a:ea typeface="Calibri" pitchFamily="34" charset="-122"/>
                <a:cs typeface="Calibri" pitchFamily="34" charset="-120"/>
              </a:rPr>
              <a:t>MP-20 Qualité, risques et amélioration continue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UFT-23-01
</a:t>
                      </a:r>
                      <a:pPr indent="0" marL="0">
                        <a:buNone/>
                      </a:pPr>
                      <a:r>
                        <a:rPr lang="en-US" sz="1000" b="1" dirty="0">
                          <a:solidFill>
                            <a:srgbClr val="3A3A3C"/>
                          </a:solidFill>
                          <a:latin typeface="Calibri" pitchFamily="34" charset="0"/>
                          <a:ea typeface="Calibri" pitchFamily="34" charset="-122"/>
                          <a:cs typeface="Calibri" pitchFamily="34" charset="-120"/>
                        </a:rPr>
                        <a:t>Choisir le modèle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MP-41.1 </a:t>
                      </a:r>
                      <a:pPr indent="0" marL="0">
                        <a:buNone/>
                      </a:pPr>
                      <a:r>
                        <a:rPr lang="en-US" sz="1000" dirty="0">
                          <a:solidFill>
                            <a:srgbClr val="58595B"/>
                          </a:solidFill>
                          <a:latin typeface="Calibri" pitchFamily="34" charset="0"/>
                          <a:ea typeface="Calibri" pitchFamily="34" charset="-122"/>
                          <a:cs typeface="Calibri" pitchFamily="34" charset="-120"/>
                        </a:rPr>
                        <a:t>Choisir le modèle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Modèle : contrats spéciaux de formation OFPPT (CSF) — dossier plan.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UFT-23-02
</a:t>
                      </a:r>
                      <a:pPr indent="0" marL="0">
                        <a:buNone/>
                      </a:pPr>
                      <a:r>
                        <a:rPr lang="en-US" sz="1000" b="1" dirty="0">
                          <a:solidFill>
                            <a:srgbClr val="3A3A3C"/>
                          </a:solidFill>
                          <a:latin typeface="Calibri" pitchFamily="34" charset="0"/>
                          <a:ea typeface="Calibri" pitchFamily="34" charset="-122"/>
                          <a:cs typeface="Calibri" pitchFamily="34" charset="-120"/>
                        </a:rPr>
                        <a:t>Générer le dossier de soumission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MP-41.2 </a:t>
                      </a:r>
                      <a:pPr indent="0" marL="0">
                        <a:buNone/>
                      </a:pPr>
                      <a:r>
                        <a:rPr lang="en-US" sz="1000" dirty="0">
                          <a:solidFill>
                            <a:srgbClr val="58595B"/>
                          </a:solidFill>
                          <a:latin typeface="Calibri" pitchFamily="34" charset="0"/>
                          <a:ea typeface="Calibri" pitchFamily="34" charset="-122"/>
                          <a:cs typeface="Calibri" pitchFamily="34" charset="-120"/>
                        </a:rPr>
                        <a:t>Générer le dossier de soumission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Mener la revue qualité périodique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Dossier de dépôt généré : plan, thèmes, prestataires, coûts ; contrôle qualité réussi.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UFT-23-03
</a:t>
                      </a:r>
                      <a:pPr indent="0" marL="0">
                        <a:buNone/>
                      </a:pPr>
                      <a:r>
                        <a:rPr lang="en-US" sz="1000" b="1" dirty="0">
                          <a:solidFill>
                            <a:srgbClr val="3A3A3C"/>
                          </a:solidFill>
                          <a:latin typeface="Calibri" pitchFamily="34" charset="0"/>
                          <a:ea typeface="Calibri" pitchFamily="34" charset="-122"/>
                          <a:cs typeface="Calibri" pitchFamily="34" charset="-120"/>
                        </a:rPr>
                        <a:t>Soumettre le plan à l'organisme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MP-41.3 </a:t>
                      </a:r>
                      <a:pPr indent="0" marL="0">
                        <a:buNone/>
                      </a:pPr>
                      <a:r>
                        <a:rPr lang="en-US" sz="1000" dirty="0">
                          <a:solidFill>
                            <a:srgbClr val="58595B"/>
                          </a:solidFill>
                          <a:latin typeface="Calibri" pitchFamily="34" charset="0"/>
                          <a:ea typeface="Calibri" pitchFamily="34" charset="-122"/>
                          <a:cs typeface="Calibri" pitchFamily="34" charset="-120"/>
                        </a:rPr>
                        <a:t>Soumettre le plan à l'organisme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Déposé au comité régional le 5 mars ; référence GSF-2026-118.</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UFT-23-04
</a:t>
                      </a:r>
                      <a:pPr indent="0" marL="0">
                        <a:buNone/>
                      </a:pPr>
                      <a:r>
                        <a:rPr lang="en-US" sz="1000" b="1" dirty="0">
                          <a:solidFill>
                            <a:srgbClr val="3A3A3C"/>
                          </a:solidFill>
                          <a:latin typeface="Calibri" pitchFamily="34" charset="0"/>
                          <a:ea typeface="Calibri" pitchFamily="34" charset="-122"/>
                          <a:cs typeface="Calibri" pitchFamily="34" charset="-120"/>
                        </a:rPr>
                        <a:t>Suivre le statut de la soumission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MP-41.4 </a:t>
                      </a:r>
                      <a:pPr indent="0" marL="0">
                        <a:buNone/>
                      </a:pPr>
                      <a:r>
                        <a:rPr lang="en-US" sz="1000" dirty="0">
                          <a:solidFill>
                            <a:srgbClr val="58595B"/>
                          </a:solidFill>
                          <a:latin typeface="Calibri" pitchFamily="34" charset="0"/>
                          <a:ea typeface="Calibri" pitchFamily="34" charset="-122"/>
                          <a:cs typeface="Calibri" pitchFamily="34" charset="-120"/>
                        </a:rPr>
                        <a:t>Suivre le statut de la soumission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Statut : pièce complémentaire demandée (agrément du prestataire) — envoyée le 12 mars.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UFT-23-05
</a:t>
                      </a:r>
                      <a:pPr indent="0" marL="0">
                        <a:buNone/>
                      </a:pPr>
                      <a:r>
                        <a:rPr lang="en-US" sz="1000" b="1" dirty="0">
                          <a:solidFill>
                            <a:srgbClr val="3A3A3C"/>
                          </a:solidFill>
                          <a:latin typeface="Calibri" pitchFamily="34" charset="0"/>
                          <a:ea typeface="Calibri" pitchFamily="34" charset="-122"/>
                          <a:cs typeface="Calibri" pitchFamily="34" charset="-120"/>
                        </a:rPr>
                        <a:t>Enregistrer la décision du régulateur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MP-41.5 </a:t>
                      </a:r>
                      <a:pPr indent="0" marL="0">
                        <a:buNone/>
                      </a:pPr>
                      <a:r>
                        <a:rPr lang="en-US" sz="1000" dirty="0">
                          <a:solidFill>
                            <a:srgbClr val="58595B"/>
                          </a:solidFill>
                          <a:latin typeface="Calibri" pitchFamily="34" charset="0"/>
                          <a:ea typeface="Calibri" pitchFamily="34" charset="-122"/>
                          <a:cs typeface="Calibri" pitchFamily="34" charset="-120"/>
                        </a:rPr>
                        <a:t>Enregistrer la décision du régulateur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MP-14.1 </a:t>
                      </a:r>
                      <a:pPr indent="0" marL="0">
                        <a:buNone/>
                      </a:pPr>
                      <a:r>
                        <a:rPr lang="en-US" sz="1000" dirty="0">
                          <a:solidFill>
                            <a:srgbClr val="58595B"/>
                          </a:solidFill>
                          <a:latin typeface="Calibri" pitchFamily="34" charset="0"/>
                          <a:ea typeface="Calibri" pitchFamily="34" charset="-122"/>
                          <a:cs typeface="Calibri" pitchFamily="34" charset="-120"/>
                        </a:rPr>
                        <a:t>Enregistrer une exigence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Décision : approuvé avec un plafond de 520 000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2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23-02 Générer le dossier de soumiss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UFT-23-02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E2E-23 · RACINE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soumission réglementaire à la validation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UFT-23-06
</a:t>
                      </a:r>
                      <a:pPr indent="0" marL="0">
                        <a:buNone/>
                      </a:pPr>
                      <a:r>
                        <a:rPr lang="en-US" sz="1000" b="1" dirty="0">
                          <a:solidFill>
                            <a:srgbClr val="3A3A3C"/>
                          </a:solidFill>
                          <a:latin typeface="Calibri" pitchFamily="34" charset="0"/>
                          <a:ea typeface="Calibri" pitchFamily="34" charset="-122"/>
                          <a:cs typeface="Calibri" pitchFamily="34" charset="-120"/>
                        </a:rPr>
                        <a:t>Déposer les demandes de remboursement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MP-18.5 </a:t>
                      </a:r>
                      <a:pPr indent="0" marL="0">
                        <a:buNone/>
                      </a:pPr>
                      <a:r>
                        <a:rPr lang="en-US" sz="1000" dirty="0">
                          <a:solidFill>
                            <a:srgbClr val="58595B"/>
                          </a:solidFill>
                          <a:latin typeface="Calibri" pitchFamily="34" charset="0"/>
                          <a:ea typeface="Calibri" pitchFamily="34" charset="-122"/>
                          <a:cs typeface="Calibri" pitchFamily="34" charset="-120"/>
                        </a:rPr>
                        <a:t>Déposer les demandes de remboursement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Demandes de remboursement déposées pour 12 actions réalisées : 318 000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UFT-23-07
</a:t>
                      </a:r>
                      <a:pPr indent="0" marL="0">
                        <a:buNone/>
                      </a:pPr>
                      <a:r>
                        <a:rPr lang="en-US" sz="1000" b="1" dirty="0">
                          <a:solidFill>
                            <a:srgbClr val="3A3A3C"/>
                          </a:solidFill>
                          <a:latin typeface="Calibri" pitchFamily="34" charset="0"/>
                          <a:ea typeface="Calibri" pitchFamily="34" charset="-122"/>
                          <a:cs typeface="Calibri" pitchFamily="34" charset="-120"/>
                        </a:rPr>
                        <a:t>Archiver les preuves de soumission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MP-41.6 </a:t>
                      </a:r>
                      <a:pPr indent="0" marL="0">
                        <a:buNone/>
                      </a:pPr>
                      <a:r>
                        <a:rPr lang="en-US" sz="1000" dirty="0">
                          <a:solidFill>
                            <a:srgbClr val="58595B"/>
                          </a:solidFill>
                          <a:latin typeface="Calibri" pitchFamily="34" charset="0"/>
                          <a:ea typeface="Calibri" pitchFamily="34" charset="-122"/>
                          <a:cs typeface="Calibri" pitchFamily="34" charset="-120"/>
                        </a:rPr>
                        <a:t>Archiver les preuves de soumission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MP-18.6 </a:t>
                      </a:r>
                      <a:pPr indent="0" marL="0">
                        <a:buNone/>
                      </a:pPr>
                      <a:r>
                        <a:rPr lang="en-US" sz="1000" dirty="0">
                          <a:solidFill>
                            <a:srgbClr val="58595B"/>
                          </a:solidFill>
                          <a:latin typeface="Calibri" pitchFamily="34" charset="0"/>
                          <a:ea typeface="Calibri" pitchFamily="34" charset="-122"/>
                          <a:cs typeface="Calibri" pitchFamily="34" charset="-120"/>
                        </a:rPr>
                        <a:t>Clôturer la période budgétaire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Archiver dossier, décision et demandes ; conservation 10 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23"/>
          <p:cNvSpPr/>
          <p:nvPr/>
        </p:nvSpPr>
        <p:spPr>
          <a:xfrm>
            <a:off x="2249439" y="2907792"/>
            <a:ext cx="4279362" cy="31363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23">    </p:cNvPr>
          <p:cNvPicPr>
            <a:picLocks noChangeAspect="1"/>
          </p:cNvPicPr>
          <p:nvPr/>
        </p:nvPicPr>
        <p:blipFill>
          <a:blip r:embed="rId1"/>
          <a:stretch>
            <a:fillRect/>
          </a:stretch>
        </p:blipFill>
        <p:spPr>
          <a:xfrm>
            <a:off x="2304303" y="2962656"/>
            <a:ext cx="4169634" cy="30266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E2E-23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MP-41 Validation externe du plan de formation et conformité réglementaire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MP-14 Gestion de la conformité et des certifications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Gestion financière et budgétaire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Qualité, risques et amélioration continue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E2E-16 · PARTITION DE E2E-15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prestataire à la finance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Gérer les prestataires de la sélection au paiement</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Besoin de formation nécessitant un prestataire externe.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Prestataire choisi, commande émise et paiement approuvé sur la base de la présence.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6 tâches · 10 étapes
</a:t>
            </a:r>
            <a:pPr indent="0" marL="0">
              <a:buNone/>
            </a:pPr>
            <a:r>
              <a:rPr lang="en-US" sz="1100" dirty="0">
                <a:solidFill>
                  <a:srgbClr val="3A3A3C"/>
                </a:solidFill>
                <a:latin typeface="Calibri" pitchFamily="34" charset="0"/>
                <a:ea typeface="Calibri" pitchFamily="34" charset="-122"/>
                <a:cs typeface="Calibri" pitchFamily="34" charset="-120"/>
              </a:rPr>
              <a:t>17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MP-15 Gestion des prestataires et partenaires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 · </a:t>
            </a:r>
            <a:pPr indent="0" marL="0">
              <a:buNone/>
            </a:pPr>
            <a:r>
              <a:rPr lang="en-US" sz="1000" dirty="0">
                <a:solidFill>
                  <a:srgbClr val="58595B"/>
                </a:solidFill>
                <a:latin typeface="Calibri" pitchFamily="34" charset="0"/>
                <a:ea typeface="Calibri" pitchFamily="34" charset="-122"/>
                <a:cs typeface="Calibri" pitchFamily="34" charset="-120"/>
              </a:rPr>
              <a:t>MP-11 Administration et opérations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UFT-16-01
</a:t>
                      </a:r>
                      <a:pPr indent="0" marL="0">
                        <a:buNone/>
                      </a:pPr>
                      <a:r>
                        <a:rPr lang="en-US" sz="1000" b="1" dirty="0">
                          <a:solidFill>
                            <a:srgbClr val="3A3A3C"/>
                          </a:solidFill>
                          <a:latin typeface="Calibri" pitchFamily="34" charset="0"/>
                          <a:ea typeface="Calibri" pitchFamily="34" charset="-122"/>
                          <a:cs typeface="Calibri" pitchFamily="34" charset="-120"/>
                        </a:rPr>
                        <a:t>Émettre un appel d'offres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MP-15.1 </a:t>
                      </a:r>
                      <a:pPr indent="0" marL="0">
                        <a:buNone/>
                      </a:pPr>
                      <a:r>
                        <a:rPr lang="en-US" sz="1000" dirty="0">
                          <a:solidFill>
                            <a:srgbClr val="58595B"/>
                          </a:solidFill>
                          <a:latin typeface="Calibri" pitchFamily="34" charset="0"/>
                          <a:ea typeface="Calibri" pitchFamily="34" charset="-122"/>
                          <a:cs typeface="Calibri" pitchFamily="34" charset="-120"/>
                        </a:rPr>
                        <a:t>Émettre un appel d'offres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Appel d'offres « Formation Triage IA et aide à la décision clinique » envoyé à 4 prestataires, réponses le 15 mai.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UFT-16-02
</a:t>
                      </a:r>
                      <a:pPr indent="0" marL="0">
                        <a:buNone/>
                      </a:pPr>
                      <a:r>
                        <a:rPr lang="en-US" sz="1000" b="1" dirty="0">
                          <a:solidFill>
                            <a:srgbClr val="3A3A3C"/>
                          </a:solidFill>
                          <a:latin typeface="Calibri" pitchFamily="34" charset="0"/>
                          <a:ea typeface="Calibri" pitchFamily="34" charset="-122"/>
                          <a:cs typeface="Calibri" pitchFamily="34" charset="-120"/>
                        </a:rPr>
                        <a:t>Noter les offres des prestataires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MP-15.2 </a:t>
                      </a:r>
                      <a:pPr indent="0" marL="0">
                        <a:buNone/>
                      </a:pPr>
                      <a:r>
                        <a:rPr lang="en-US" sz="1000" dirty="0">
                          <a:solidFill>
                            <a:srgbClr val="58595B"/>
                          </a:solidFill>
                          <a:latin typeface="Calibri" pitchFamily="34" charset="0"/>
                          <a:ea typeface="Calibri" pitchFamily="34" charset="-122"/>
                          <a:cs typeface="Calibri" pitchFamily="34" charset="-120"/>
                        </a:rPr>
                        <a:t>Noter les offres des prestataires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Notes : prestataire A 82, B 76, C 64 (prix 40 %, expertise 40 %, références 20 %).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UFT-16-03
</a:t>
                      </a:r>
                      <a:pPr indent="0" marL="0">
                        <a:buNone/>
                      </a:pPr>
                      <a:r>
                        <a:rPr lang="en-US" sz="1000" b="1" dirty="0">
                          <a:solidFill>
                            <a:srgbClr val="3A3A3C"/>
                          </a:solidFill>
                          <a:latin typeface="Calibri" pitchFamily="34" charset="0"/>
                          <a:ea typeface="Calibri" pitchFamily="34" charset="-122"/>
                          <a:cs typeface="Calibri" pitchFamily="34" charset="-120"/>
                        </a:rPr>
                        <a:t>Enregistrer et vérifier le prestataire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MP-15.3 </a:t>
                      </a:r>
                      <a:pPr indent="0" marL="0">
                        <a:buNone/>
                      </a:pPr>
                      <a:r>
                        <a:rPr lang="en-US" sz="1000" dirty="0">
                          <a:solidFill>
                            <a:srgbClr val="58595B"/>
                          </a:solidFill>
                          <a:latin typeface="Calibri" pitchFamily="34" charset="0"/>
                          <a:ea typeface="Calibri" pitchFamily="34" charset="-122"/>
                          <a:cs typeface="Calibri" pitchFamily="34" charset="-120"/>
                        </a:rPr>
                        <a:t>Enregistrer la fiche prestataire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MP-15.4 </a:t>
                      </a:r>
                      <a:pPr indent="0" marL="0">
                        <a:buNone/>
                      </a:pPr>
                      <a:r>
                        <a:rPr lang="en-US" sz="1000" dirty="0">
                          <a:solidFill>
                            <a:srgbClr val="58595B"/>
                          </a:solidFill>
                          <a:latin typeface="Calibri" pitchFamily="34" charset="0"/>
                          <a:ea typeface="Calibri" pitchFamily="34" charset="-122"/>
                          <a:cs typeface="Calibri" pitchFamily="34" charset="-120"/>
                        </a:rPr>
                        <a:t>Vérifier l'accréditation du prestataire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Enregistrer le prestataire A ; agrément OFPPT vérifié, valable jusqu'en décembre.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UFT-16-04
</a:t>
                      </a:r>
                      <a:pPr indent="0" marL="0">
                        <a:buNone/>
                      </a:pPr>
                      <a:r>
                        <a:rPr lang="en-US" sz="1000" b="1" dirty="0">
                          <a:solidFill>
                            <a:srgbClr val="3A3A3C"/>
                          </a:solidFill>
                          <a:latin typeface="Calibri" pitchFamily="34" charset="0"/>
                          <a:ea typeface="Calibri" pitchFamily="34" charset="-122"/>
                          <a:cs typeface="Calibri" pitchFamily="34" charset="-120"/>
                        </a:rPr>
                        <a:t>Émettre le bon de commande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MP-15.5 </a:t>
                      </a:r>
                      <a:pPr indent="0" marL="0">
                        <a:buNone/>
                      </a:pPr>
                      <a:r>
                        <a:rPr lang="en-US" sz="1000" dirty="0">
                          <a:solidFill>
                            <a:srgbClr val="58595B"/>
                          </a:solidFill>
                          <a:latin typeface="Calibri" pitchFamily="34" charset="0"/>
                          <a:ea typeface="Calibri" pitchFamily="34" charset="-122"/>
                          <a:cs typeface="Calibri" pitchFamily="34" charset="-120"/>
                        </a:rPr>
                        <a:t>Émettre le bon de commande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MP-18.3 </a:t>
                      </a:r>
                      <a:pPr indent="0" marL="0">
                        <a:buNone/>
                      </a:pPr>
                      <a:r>
                        <a:rPr lang="en-US" sz="1000" dirty="0">
                          <a:solidFill>
                            <a:srgbClr val="58595B"/>
                          </a:solidFill>
                          <a:latin typeface="Calibri" pitchFamily="34" charset="0"/>
                          <a:ea typeface="Calibri" pitchFamily="34" charset="-122"/>
                          <a:cs typeface="Calibri" pitchFamily="34" charset="-120"/>
                        </a:rPr>
                        <a:t>Enregistrer les engagements et coûts réels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Youssef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Bon de commande PO-2026-044 : 180 000 MAD sur la ligne budgétaire « Triage IA et aide à la décision clinique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UFT-16-05
</a:t>
                      </a:r>
                      <a:pPr indent="0" marL="0">
                        <a:buNone/>
                      </a:pPr>
                      <a:r>
                        <a:rPr lang="en-US" sz="1000" b="1" dirty="0">
                          <a:solidFill>
                            <a:srgbClr val="3A3A3C"/>
                          </a:solidFill>
                          <a:latin typeface="Calibri" pitchFamily="34" charset="0"/>
                          <a:ea typeface="Calibri" pitchFamily="34" charset="-122"/>
                          <a:cs typeface="Calibri" pitchFamily="34" charset="-120"/>
                        </a:rPr>
                        <a:t>Rapprocher facture, commande et présence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MP-15.6 </a:t>
                      </a:r>
                      <a:pPr indent="0" marL="0">
                        <a:buNone/>
                      </a:pPr>
                      <a:r>
                        <a:rPr lang="en-US" sz="1000" dirty="0">
                          <a:solidFill>
                            <a:srgbClr val="58595B"/>
                          </a:solidFill>
                          <a:latin typeface="Calibri" pitchFamily="34" charset="0"/>
                          <a:ea typeface="Calibri" pitchFamily="34" charset="-122"/>
                          <a:cs typeface="Calibri" pitchFamily="34" charset="-120"/>
                        </a:rPr>
                        <a:t>Rapprocher facture, commande et présence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MP-11.5 </a:t>
                      </a:r>
                      <a:pPr indent="0" marL="0">
                        <a:buNone/>
                      </a:pPr>
                      <a:r>
                        <a:rPr lang="en-US" sz="1000" dirty="0">
                          <a:solidFill>
                            <a:srgbClr val="58595B"/>
                          </a:solidFill>
                          <a:latin typeface="Calibri" pitchFamily="34" charset="0"/>
                          <a:ea typeface="Calibri" pitchFamily="34" charset="-122"/>
                          <a:cs typeface="Calibri" pitchFamily="34" charset="-120"/>
                        </a:rPr>
                        <a:t>Rapprocher présences et factures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27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Facture rapprochée du bon de commande et de la présence (3 jours × 12 apprenants) : conforme.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6"/>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6-01 Émettre un appel d'offr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UFT-16-01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E2E-16 · PARTITION DE E2E-15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prestataire à la finance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UFT-16-06
</a:t>
                      </a:r>
                      <a:pPr indent="0" marL="0">
                        <a:buNone/>
                      </a:pPr>
                      <a:r>
                        <a:rPr lang="en-US" sz="1000" b="1" dirty="0">
                          <a:solidFill>
                            <a:srgbClr val="3A3A3C"/>
                          </a:solidFill>
                          <a:latin typeface="Calibri" pitchFamily="34" charset="0"/>
                          <a:ea typeface="Calibri" pitchFamily="34" charset="-122"/>
                          <a:cs typeface="Calibri" pitchFamily="34" charset="-120"/>
                        </a:rPr>
                        <a:t>Approuver le paiement du prestataire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MP-15.7 </a:t>
                      </a:r>
                      <a:pPr indent="0" marL="0">
                        <a:buNone/>
                      </a:pPr>
                      <a:r>
                        <a:rPr lang="en-US" sz="1000" dirty="0">
                          <a:solidFill>
                            <a:srgbClr val="58595B"/>
                          </a:solidFill>
                          <a:latin typeface="Calibri" pitchFamily="34" charset="0"/>
                          <a:ea typeface="Calibri" pitchFamily="34" charset="-122"/>
                          <a:cs typeface="Calibri" pitchFamily="34" charset="-120"/>
                        </a:rPr>
                        <a:t>Approuver le paiement du prestataire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MP-18.4 </a:t>
                      </a:r>
                      <a:pPr indent="0" marL="0">
                        <a:buNone/>
                      </a:pPr>
                      <a:r>
                        <a:rPr lang="en-US" sz="1000" dirty="0">
                          <a:solidFill>
                            <a:srgbClr val="58595B"/>
                          </a:solidFill>
                          <a:latin typeface="Calibri" pitchFamily="34" charset="0"/>
                          <a:ea typeface="Calibri" pitchFamily="34" charset="-122"/>
                          <a:cs typeface="Calibri" pitchFamily="34" charset="-120"/>
                        </a:rPr>
                        <a:t>Comparer les dépenses au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30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Approuver le paiement de 180 000 MAD ; évaluation du prestataire 4/5.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6"/>
          <p:cNvSpPr/>
          <p:nvPr/>
        </p:nvSpPr>
        <p:spPr>
          <a:xfrm>
            <a:off x="1877825" y="2368296"/>
            <a:ext cx="5022590" cy="36758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6">    </p:cNvPr>
          <p:cNvPicPr>
            <a:picLocks noChangeAspect="1"/>
          </p:cNvPicPr>
          <p:nvPr/>
        </p:nvPicPr>
        <p:blipFill>
          <a:blip r:embed="rId1"/>
          <a:stretch>
            <a:fillRect/>
          </a:stretch>
        </p:blipFill>
        <p:spPr>
          <a:xfrm>
            <a:off x="1932689" y="2423160"/>
            <a:ext cx="4912862" cy="35661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E2E-16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MP-15 Gestion des prestataires et partenaires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Gestion financière et budgétaire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MP-11 Administration et opérations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E2E-05</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3 · HCPR-E2E-02 · VERTICALE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 compétences critiques au plan de transformation — Établissements de santé</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Transformer les écarts de compétences critiques et les cas d'usage numériques et IA en plan de transformation.</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Cycle annuel du plan ou évolution technologique dans le secteur Établissements de santé.</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Parcours de transformation approuvés.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4 tâches · 7 étapes
</a:t>
            </a:r>
            <a:pPr indent="0" marL="0">
              <a:buNone/>
            </a:pPr>
            <a:r>
              <a:rPr lang="en-US" sz="1100" dirty="0">
                <a:solidFill>
                  <a:srgbClr val="3A3A3C"/>
                </a:solidFill>
                <a:latin typeface="Calibri" pitchFamily="34" charset="0"/>
                <a:ea typeface="Calibri" pitchFamily="34" charset="-122"/>
                <a:cs typeface="Calibri" pitchFamily="34" charset="-120"/>
              </a:rPr>
              <a:t>11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MP-03 Analyse des besoins et diagnostic · </a:t>
            </a:r>
            <a:pPr indent="0" marL="0">
              <a:buNone/>
            </a:pPr>
            <a:r>
              <a:rPr lang="en-US" sz="1000" dirty="0">
                <a:solidFill>
                  <a:srgbClr val="58595B"/>
                </a:solidFill>
                <a:latin typeface="Calibri" pitchFamily="34" charset="0"/>
                <a:ea typeface="Calibri" pitchFamily="34" charset="-122"/>
                <a:cs typeface="Calibri" pitchFamily="34" charset="-120"/>
              </a:rPr>
              <a:t>MP-05 Conception pédagogique et ingénierie des cursus · </a:t>
            </a:r>
            <a:pPr indent="0" marL="0">
              <a:buNone/>
            </a:pPr>
            <a:r>
              <a:rPr lang="en-US" sz="1000" dirty="0">
                <a:solidFill>
                  <a:srgbClr val="58595B"/>
                </a:solidFill>
                <a:latin typeface="Calibri" pitchFamily="34" charset="0"/>
                <a:ea typeface="Calibri" pitchFamily="34" charset="-122"/>
                <a:cs typeface="Calibri" pitchFamily="34" charset="-120"/>
              </a:rPr>
              <a:t>HCPR-MP-02 HCPR-MP-02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UFT-HCPR-E2-01
</a:t>
                      </a:r>
                      <a:pPr indent="0" marL="0">
                        <a:buNone/>
                      </a:pPr>
                      <a:r>
                        <a:rPr lang="en-US" sz="1000" b="1" dirty="0">
                          <a:solidFill>
                            <a:srgbClr val="3A3A3C"/>
                          </a:solidFill>
                          <a:latin typeface="Calibri" pitchFamily="34" charset="0"/>
                          <a:ea typeface="Calibri" pitchFamily="34" charset="-122"/>
                          <a:cs typeface="Calibri" pitchFamily="34" charset="-120"/>
                        </a:rPr>
                        <a:t>Lister les compétences critiques Soins cliniques et infirmiers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Définir les familles et niveaux de compétences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MP-03.1 </a:t>
                      </a:r>
                      <a:pPr indent="0" marL="0">
                        <a:buNone/>
                      </a:pPr>
                      <a:r>
                        <a:rPr lang="en-US" sz="1000" dirty="0">
                          <a:solidFill>
                            <a:srgbClr val="58595B"/>
                          </a:solidFill>
                          <a:latin typeface="Calibri" pitchFamily="34" charset="0"/>
                          <a:ea typeface="Calibri" pitchFamily="34" charset="-122"/>
                          <a:cs typeface="Calibri" pitchFamily="34" charset="-120"/>
                        </a:rPr>
                        <a:t>Calculer la matrice des écarts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15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Compétences critiques : 6 pour Soins cliniques et infirmiers, chacune au niveau cible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UFT-HCPR-E2-02
</a:t>
                      </a:r>
                      <a:pPr indent="0" marL="0">
                        <a:buNone/>
                      </a:pPr>
                      <a:r>
                        <a:rPr lang="en-US" sz="1000" b="1" dirty="0">
                          <a:solidFill>
                            <a:srgbClr val="3A3A3C"/>
                          </a:solidFill>
                          <a:latin typeface="Calibri" pitchFamily="34" charset="0"/>
                          <a:ea typeface="Calibri" pitchFamily="34" charset="-122"/>
                          <a:cs typeface="Calibri" pitchFamily="34" charset="-120"/>
                        </a:rPr>
                        <a:t>Lister les cas d'usage numériques et 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MP-03.3 </a:t>
                      </a:r>
                      <a:pPr indent="0" marL="0">
                        <a:buNone/>
                      </a:pPr>
                      <a:r>
                        <a:rPr lang="en-US" sz="1000" dirty="0">
                          <a:solidFill>
                            <a:srgbClr val="58595B"/>
                          </a:solidFill>
                          <a:latin typeface="Calibri" pitchFamily="34" charset="0"/>
                          <a:ea typeface="Calibri" pitchFamily="34" charset="-122"/>
                          <a:cs typeface="Calibri" pitchFamily="34" charset="-120"/>
                        </a:rPr>
                        <a:t>Planifier les entretiens de diagnostic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18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Cas d'usage : Triage IA et aide à la décision clinique ; Assistance IA en imagerie médicale ; Planification IA des lits et des effectifs.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UFT-HCPR-E2-03
</a:t>
                      </a:r>
                      <a:pPr indent="0" marL="0">
                        <a:buNone/>
                      </a:pPr>
                      <a:r>
                        <a:rPr lang="en-US" sz="1000" b="1" dirty="0">
                          <a:solidFill>
                            <a:srgbClr val="3A3A3C"/>
                          </a:solidFill>
                          <a:latin typeface="Calibri" pitchFamily="34" charset="0"/>
                          <a:ea typeface="Calibri" pitchFamily="34" charset="-122"/>
                          <a:cs typeface="Calibri" pitchFamily="34" charset="-120"/>
                        </a:rPr>
                        <a:t>Prévoir les rôles impactés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MP-03.5 </a:t>
                      </a:r>
                      <a:pPr indent="0" marL="0">
                        <a:buNone/>
                      </a:pPr>
                      <a:r>
                        <a:rPr lang="en-US" sz="1000" dirty="0">
                          <a:solidFill>
                            <a:srgbClr val="58595B"/>
                          </a:solidFill>
                          <a:latin typeface="Calibri" pitchFamily="34" charset="0"/>
                          <a:ea typeface="Calibri" pitchFamily="34" charset="-122"/>
                          <a:cs typeface="Calibri" pitchFamily="34" charset="-120"/>
                        </a:rPr>
                        <a:t>Regrouper les besoins en thèmes de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MP-28.3 </a:t>
                      </a:r>
                      <a:pPr indent="0" marL="0">
                        <a:buNone/>
                      </a:pPr>
                      <a:r>
                        <a:rPr lang="en-US" sz="1000" dirty="0">
                          <a:solidFill>
                            <a:srgbClr val="58595B"/>
                          </a:solidFill>
                          <a:latin typeface="Calibri" pitchFamily="34" charset="0"/>
                          <a:ea typeface="Calibri" pitchFamily="34" charset="-122"/>
                          <a:cs typeface="Calibri" pitchFamily="34" charset="-120"/>
                        </a:rPr>
                        <a:t>Prévoir les écarts de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21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Rôles impactés : encadrants (élevé), opérateurs (moyen) ; accepter la prévision 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UFT-HCPR-E2-04
</a:t>
                      </a:r>
                      <a:pPr indent="0" marL="0">
                        <a:buNone/>
                      </a:pPr>
                      <a:r>
                        <a:rPr lang="en-US" sz="1000" b="1" dirty="0">
                          <a:solidFill>
                            <a:srgbClr val="3A3A3C"/>
                          </a:solidFill>
                          <a:latin typeface="Calibri" pitchFamily="34" charset="0"/>
                          <a:ea typeface="Calibri" pitchFamily="34" charset="-122"/>
                          <a:cs typeface="Calibri" pitchFamily="34" charset="-120"/>
                        </a:rPr>
                        <a:t>Approuver les parcours de transformation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MP-05.2 </a:t>
                      </a:r>
                      <a:pPr indent="0" marL="0">
                        <a:buNone/>
                      </a:pPr>
                      <a:r>
                        <a:rPr lang="en-US" sz="1000" dirty="0">
                          <a:solidFill>
                            <a:srgbClr val="58595B"/>
                          </a:solidFill>
                          <a:latin typeface="Calibri" pitchFamily="34" charset="0"/>
                          <a:ea typeface="Calibri" pitchFamily="34" charset="-122"/>
                          <a:cs typeface="Calibri" pitchFamily="34" charset="-120"/>
                        </a:rPr>
                        <a:t>Définir le parcours d'apprentissage et les modules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MP-05.7 </a:t>
                      </a:r>
                      <a:pPr indent="0" marL="0">
                        <a:buNone/>
                      </a:pPr>
                      <a:r>
                        <a:rPr lang="en-US" sz="1000" dirty="0">
                          <a:solidFill>
                            <a:srgbClr val="58595B"/>
                          </a:solidFill>
                          <a:latin typeface="Calibri" pitchFamily="34" charset="0"/>
                          <a:ea typeface="Calibri" pitchFamily="34" charset="-122"/>
                          <a:cs typeface="Calibri" pitchFamily="34" charset="-120"/>
                        </a:rPr>
                        <a:t>Approuver le document de conception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24 juin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Approuver 2 parcours : « Triage IA et aide à la décision clinique pour encadrants », « Assistance IA en imagerie médicale pour opérateurs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HCPR-E2E-0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HCPR-E2-04 Approuver les parcours de transformation">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UFT-HCPR-E2-04 ouverte dans CortexSkills : quoi saisir, ses étapes et son résultat.</a:t>
            </a:r>
            <a:endParaRPr lang="en-US" sz="1000" dirty="0"/>
          </a:p>
        </p:txBody>
      </p:sp>
      <p:sp>
        <p:nvSpPr>
          <p:cNvPr id="17"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04</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4</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Conception et déploiement</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5 processus · 39 tâches · 99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11 juil. 2026 – 6 août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Fermée par G4 — Prêt pour le déploiement</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E2E-04   De la feuille de route à la conception des cursus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E2E-05   De la conception à la réalisation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E2E-06   Du parcours apprenant à l'engagement</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E2E-13   Du contenu à la curation puis au retrait</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E2E-14   Formation de l'entreprise étendue</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E2E-04 · PARTITION DE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feuille de route à la conception des cursus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Convertir la feuille de route en cartes de cursus, parcours et documents de conception</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Rapport d'ingénierie de formation et feuille de route approuvés publiés.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Cartes de cursus, parcours d'apprentissage et documents de conception approuvés.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15 étapes
</a:t>
            </a:r>
            <a:pPr indent="0" marL="0">
              <a:buNone/>
            </a:pPr>
            <a:r>
              <a:rPr lang="en-US" sz="1100" dirty="0">
                <a:solidFill>
                  <a:srgbClr val="3A3A3C"/>
                </a:solidFill>
                <a:latin typeface="Calibri" pitchFamily="34" charset="0"/>
                <a:ea typeface="Calibri" pitchFamily="34" charset="-122"/>
                <a:cs typeface="Calibri" pitchFamily="34" charset="-120"/>
              </a:rPr>
              <a:t>23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MP-04 Élaboration du rapport d'ingénierie de formation et de la feuille de route · </a:t>
            </a:r>
            <a:pPr indent="0" marL="0">
              <a:buNone/>
            </a:pPr>
            <a:r>
              <a:rPr lang="en-US" sz="1000" dirty="0">
                <a:solidFill>
                  <a:srgbClr val="58595B"/>
                </a:solidFill>
                <a:latin typeface="Calibri" pitchFamily="34" charset="0"/>
                <a:ea typeface="Calibri" pitchFamily="34" charset="-122"/>
                <a:cs typeface="Calibri" pitchFamily="34" charset="-120"/>
              </a:rPr>
              <a:t>MP-05 Conception pédagogique et ingénierie des cursus · </a:t>
            </a:r>
            <a:pPr indent="0" marL="0">
              <a:buNone/>
            </a:pPr>
            <a:r>
              <a:rPr lang="en-US" sz="1000" dirty="0">
                <a:solidFill>
                  <a:srgbClr val="58595B"/>
                </a:solidFill>
                <a:latin typeface="Calibri" pitchFamily="34" charset="0"/>
                <a:ea typeface="Calibri" pitchFamily="34" charset="-122"/>
                <a:cs typeface="Calibri" pitchFamily="34" charset="-120"/>
              </a:rPr>
              <a:t>MP-06 Gestion des contenus et des ressources · </a:t>
            </a:r>
            <a:pPr indent="0" marL="0">
              <a:buNone/>
            </a:pPr>
            <a:r>
              <a:rPr lang="en-US" sz="1000" dirty="0">
                <a:solidFill>
                  <a:srgbClr val="58595B"/>
                </a:solidFill>
                <a:latin typeface="Calibri" pitchFamily="34" charset="0"/>
                <a:ea typeface="Calibri" pitchFamily="34" charset="-122"/>
                <a:cs typeface="Calibri" pitchFamily="34" charset="-120"/>
              </a:rPr>
              <a:t>MP-23 Localisation, accessibilité et inclusion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UFT-04-01
</a:t>
                      </a:r>
                      <a:pPr indent="0" marL="0">
                        <a:buNone/>
                      </a:pPr>
                      <a:r>
                        <a:rPr lang="en-US" sz="1000" b="1" dirty="0">
                          <a:solidFill>
                            <a:srgbClr val="3A3A3C"/>
                          </a:solidFill>
                          <a:latin typeface="Calibri" pitchFamily="34" charset="0"/>
                          <a:ea typeface="Calibri" pitchFamily="34" charset="-122"/>
                          <a:cs typeface="Calibri" pitchFamily="34" charset="-120"/>
                        </a:rPr>
                        <a:t>Créer la carte des cursus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MP-05.1 </a:t>
                      </a:r>
                      <a:pPr indent="0" marL="0">
                        <a:buNone/>
                      </a:pPr>
                      <a:r>
                        <a:rPr lang="en-US" sz="1000" dirty="0">
                          <a:solidFill>
                            <a:srgbClr val="58595B"/>
                          </a:solidFill>
                          <a:latin typeface="Calibri" pitchFamily="34" charset="0"/>
                          <a:ea typeface="Calibri" pitchFamily="34" charset="-122"/>
                          <a:cs typeface="Calibri" pitchFamily="34" charset="-120"/>
                        </a:rPr>
                        <a:t>Créer la carte des cursus à partir de la feuille de route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Cartographie « Triage IA et aide à la décision clinique » : 3 parcours (opérateurs, encadrants, managers), 9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UFT-04-02
</a:t>
                      </a:r>
                      <a:pPr indent="0" marL="0">
                        <a:buNone/>
                      </a:pPr>
                      <a:r>
                        <a:rPr lang="en-US" sz="1000" b="1" dirty="0">
                          <a:solidFill>
                            <a:srgbClr val="3A3A3C"/>
                          </a:solidFill>
                          <a:latin typeface="Calibri" pitchFamily="34" charset="0"/>
                          <a:ea typeface="Calibri" pitchFamily="34" charset="-122"/>
                          <a:cs typeface="Calibri" pitchFamily="34" charset="-120"/>
                        </a:rPr>
                        <a:t>Définir les parcours et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MP-05.2 </a:t>
                      </a:r>
                      <a:pPr indent="0" marL="0">
                        <a:buNone/>
                      </a:pPr>
                      <a:r>
                        <a:rPr lang="en-US" sz="1000" dirty="0">
                          <a:solidFill>
                            <a:srgbClr val="58595B"/>
                          </a:solidFill>
                          <a:latin typeface="Calibri" pitchFamily="34" charset="0"/>
                          <a:ea typeface="Calibri" pitchFamily="34" charset="-122"/>
                          <a:cs typeface="Calibri" pitchFamily="34" charset="-120"/>
                        </a:rPr>
                        <a:t>Définir le parcours d'apprentissage et les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Parcours « Encadrants — Triage IA et aide à la décision clinique » : 4 modules, 3 jours en mixte (1 jour e-learning, 2 jours d'atelier).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UFT-04-03
</a:t>
                      </a:r>
                      <a:pPr indent="0" marL="0">
                        <a:buNone/>
                      </a:pPr>
                      <a:r>
                        <a:rPr lang="en-US" sz="1000" b="1" dirty="0">
                          <a:solidFill>
                            <a:srgbClr val="3A3A3C"/>
                          </a:solidFill>
                          <a:latin typeface="Calibri" pitchFamily="34" charset="0"/>
                          <a:ea typeface="Calibri" pitchFamily="34" charset="-122"/>
                          <a:cs typeface="Calibri" pitchFamily="34" charset="-120"/>
                        </a:rPr>
                        <a:t>Rédiger les objectifs pédagogiques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MP-05.3 </a:t>
                      </a:r>
                      <a:pPr indent="0" marL="0">
                        <a:buNone/>
                      </a:pPr>
                      <a:r>
                        <a:rPr lang="en-US" sz="1000" dirty="0">
                          <a:solidFill>
                            <a:srgbClr val="58595B"/>
                          </a:solidFill>
                          <a:latin typeface="Calibri" pitchFamily="34" charset="0"/>
                          <a:ea typeface="Calibri" pitchFamily="34" charset="-122"/>
                          <a:cs typeface="Calibri" pitchFamily="34" charset="-120"/>
                        </a:rPr>
                        <a:t>Rédiger les objectifs pédagogiques par module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Objectif M1 : « À la fin, l'encadrant lit le tableau de bord Triage IA et aide à la décision clinique et décide l'action d'équipe en 5 minutes.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UFT-04-04
</a:t>
                      </a:r>
                      <a:pPr indent="0" marL="0">
                        <a:buNone/>
                      </a:pPr>
                      <a:r>
                        <a:rPr lang="en-US" sz="1000" b="1" dirty="0">
                          <a:solidFill>
                            <a:srgbClr val="3A3A3C"/>
                          </a:solidFill>
                          <a:latin typeface="Calibri" pitchFamily="34" charset="0"/>
                          <a:ea typeface="Calibri" pitchFamily="34" charset="-122"/>
                          <a:cs typeface="Calibri" pitchFamily="34" charset="-120"/>
                        </a:rPr>
                        <a:t>Proposer la structure des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MP-05.4 </a:t>
                      </a:r>
                      <a:pPr indent="0" marL="0">
                        <a:buNone/>
                      </a:pPr>
                      <a:r>
                        <a:rPr lang="en-US" sz="1000" dirty="0">
                          <a:solidFill>
                            <a:srgbClr val="58595B"/>
                          </a:solidFill>
                          <a:latin typeface="Calibri" pitchFamily="34" charset="0"/>
                          <a:ea typeface="Calibri" pitchFamily="34" charset="-122"/>
                          <a:cs typeface="Calibri" pitchFamily="34" charset="-120"/>
                        </a:rPr>
                        <a:t>Proposer la structure des modules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la structure proposée (intro, démo, pratique, quiz) ; remplacer le quiz par un cas réel Soins cliniques et infirmiers.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4"/>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4-06 Développer et étiqueter les contenu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UFT-04-06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E2E-04 · PARTITION DE E2E-03</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feuille de route à la conception des cursus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UFT-04-05
</a:t>
                      </a:r>
                      <a:pPr indent="0" marL="0">
                        <a:buNone/>
                      </a:pPr>
                      <a:r>
                        <a:rPr lang="en-US" sz="1000" b="1" dirty="0">
                          <a:solidFill>
                            <a:srgbClr val="3A3A3C"/>
                          </a:solidFill>
                          <a:latin typeface="Calibri" pitchFamily="34" charset="0"/>
                          <a:ea typeface="Calibri" pitchFamily="34" charset="-122"/>
                          <a:cs typeface="Calibri" pitchFamily="34" charset="-120"/>
                        </a:rPr>
                        <a:t>Définir la stratégie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MP-05.5 </a:t>
                      </a:r>
                      <a:pPr indent="0" marL="0">
                        <a:buNone/>
                      </a:pPr>
                      <a:r>
                        <a:rPr lang="en-US" sz="1000" dirty="0">
                          <a:solidFill>
                            <a:srgbClr val="58595B"/>
                          </a:solidFill>
                          <a:latin typeface="Calibri" pitchFamily="34" charset="0"/>
                          <a:ea typeface="Calibri" pitchFamily="34" charset="-122"/>
                          <a:cs typeface="Calibri" pitchFamily="34" charset="-120"/>
                        </a:rPr>
                        <a:t>Définir la stratégie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Évaluation : test avant/après (niveau 2) et observation du manager à 30 jours (niveau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UFT-04-06
</a:t>
                      </a:r>
                      <a:pPr indent="0" marL="0">
                        <a:buNone/>
                      </a:pPr>
                      <a:r>
                        <a:rPr lang="en-US" sz="1000" b="1" dirty="0">
                          <a:solidFill>
                            <a:srgbClr val="3A3A3C"/>
                          </a:solidFill>
                          <a:latin typeface="Calibri" pitchFamily="34" charset="0"/>
                          <a:ea typeface="Calibri" pitchFamily="34" charset="-122"/>
                          <a:cs typeface="Calibri" pitchFamily="34" charset="-120"/>
                        </a:rPr>
                        <a:t>Développer et étiqueter les contenus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MP-06.1 </a:t>
                      </a:r>
                      <a:pPr indent="0" marL="0">
                        <a:buNone/>
                      </a:pPr>
                      <a:r>
                        <a:rPr lang="en-US" sz="1000" dirty="0">
                          <a:solidFill>
                            <a:srgbClr val="58595B"/>
                          </a:solidFill>
                          <a:latin typeface="Calibri" pitchFamily="34" charset="0"/>
                          <a:ea typeface="Calibri" pitchFamily="34" charset="-122"/>
                          <a:cs typeface="Calibri" pitchFamily="34" charset="-120"/>
                        </a:rPr>
                        <a:t>Charger les contenus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MP-06.2 </a:t>
                      </a:r>
                      <a:pPr indent="0" marL="0">
                        <a:buNone/>
                      </a:pPr>
                      <a:r>
                        <a:rPr lang="en-US" sz="1000" dirty="0">
                          <a:solidFill>
                            <a:srgbClr val="58595B"/>
                          </a:solidFill>
                          <a:latin typeface="Calibri" pitchFamily="34" charset="0"/>
                          <a:ea typeface="Calibri" pitchFamily="34" charset="-122"/>
                          <a:cs typeface="Calibri" pitchFamily="34" charset="-120"/>
                        </a:rPr>
                        <a:t>Valider le format du paquet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MP-06.5 </a:t>
                      </a:r>
                      <a:pPr indent="0" marL="0">
                        <a:buNone/>
                      </a:pPr>
                      <a:r>
                        <a:rPr lang="en-US" sz="1000" dirty="0">
                          <a:solidFill>
                            <a:srgbClr val="58595B"/>
                          </a:solidFill>
                          <a:latin typeface="Calibri" pitchFamily="34" charset="0"/>
                          <a:ea typeface="Calibri" pitchFamily="34" charset="-122"/>
                          <a:cs typeface="Calibri" pitchFamily="34" charset="-120"/>
                        </a:rPr>
                        <a:t>Étiqueter le contenu avec les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Téléverser « M1_Triage IA et aide à la décision clinique.pptx » et « M1_video.mp4 » ; étiqueter la compétence « Triage IA et aide à la décision clinique » niveau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UFT-04-07
</a:t>
                      </a:r>
                      <a:pPr indent="0" marL="0">
                        <a:buNone/>
                      </a:pPr>
                      <a:r>
                        <a:rPr lang="en-US" sz="1000" b="1" dirty="0">
                          <a:solidFill>
                            <a:srgbClr val="3A3A3C"/>
                          </a:solidFill>
                          <a:latin typeface="Calibri" pitchFamily="34" charset="0"/>
                          <a:ea typeface="Calibri" pitchFamily="34" charset="-122"/>
                          <a:cs typeface="Calibri" pitchFamily="34" charset="-120"/>
                        </a:rPr>
                        <a:t>Localiser et vérifier l'accessibilité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MP-23.1 </a:t>
                      </a:r>
                      <a:pPr indent="0" marL="0">
                        <a:buNone/>
                      </a:pPr>
                      <a:r>
                        <a:rPr lang="en-US" sz="1000" dirty="0">
                          <a:solidFill>
                            <a:srgbClr val="58595B"/>
                          </a:solidFill>
                          <a:latin typeface="Calibri" pitchFamily="34" charset="0"/>
                          <a:ea typeface="Calibri" pitchFamily="34" charset="-122"/>
                          <a:cs typeface="Calibri" pitchFamily="34" charset="-120"/>
                        </a:rPr>
                        <a:t>Demander une traduction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MP-23.2 </a:t>
                      </a:r>
                      <a:pPr indent="0" marL="0">
                        <a:buNone/>
                      </a:pPr>
                      <a:r>
                        <a:rPr lang="en-US" sz="1000" dirty="0">
                          <a:solidFill>
                            <a:srgbClr val="58595B"/>
                          </a:solidFill>
                          <a:latin typeface="Calibri" pitchFamily="34" charset="0"/>
                          <a:ea typeface="Calibri" pitchFamily="34" charset="-122"/>
                          <a:cs typeface="Calibri" pitchFamily="34" charset="-120"/>
                        </a:rPr>
                        <a:t>Rédiger une traduction automatique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MP-23.3 </a:t>
                      </a:r>
                      <a:pPr indent="0" marL="0">
                        <a:buNone/>
                      </a:pPr>
                      <a:r>
                        <a:rPr lang="en-US" sz="1000" dirty="0">
                          <a:solidFill>
                            <a:srgbClr val="58595B"/>
                          </a:solidFill>
                          <a:latin typeface="Calibri" pitchFamily="34" charset="0"/>
                          <a:ea typeface="Calibri" pitchFamily="34" charset="-122"/>
                          <a:cs typeface="Calibri" pitchFamily="34" charset="-120"/>
                        </a:rPr>
                        <a:t>Valider la traduction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Demander les versions FR et AR ; valider la traduction IA ; contrôle d'accessibilité : 0 anomalie bloquante.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UFT-04-08
</a:t>
                      </a:r>
                      <a:pPr indent="0" marL="0">
                        <a:buNone/>
                      </a:pPr>
                      <a:r>
                        <a:rPr lang="en-US" sz="1000" b="1" dirty="0">
                          <a:solidFill>
                            <a:srgbClr val="3A3A3C"/>
                          </a:solidFill>
                          <a:latin typeface="Calibri" pitchFamily="34" charset="0"/>
                          <a:ea typeface="Calibri" pitchFamily="34" charset="-122"/>
                          <a:cs typeface="Calibri" pitchFamily="34" charset="-120"/>
                        </a:rPr>
                        <a:t>Approuver le document de conception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MP-05.6 </a:t>
                      </a:r>
                      <a:pPr indent="0" marL="0">
                        <a:buNone/>
                      </a:pPr>
                      <a:r>
                        <a:rPr lang="en-US" sz="1000" dirty="0">
                          <a:solidFill>
                            <a:srgbClr val="58595B"/>
                          </a:solidFill>
                          <a:latin typeface="Calibri" pitchFamily="34" charset="0"/>
                          <a:ea typeface="Calibri" pitchFamily="34" charset="-122"/>
                          <a:cs typeface="Calibri" pitchFamily="34" charset="-120"/>
                        </a:rPr>
                        <a:t>Revoir la conception avec l'expert métier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MP-05.7 </a:t>
                      </a:r>
                      <a:pPr indent="0" marL="0">
                        <a:buNone/>
                      </a:pPr>
                      <a:r>
                        <a:rPr lang="en-US" sz="1000" dirty="0">
                          <a:solidFill>
                            <a:srgbClr val="58595B"/>
                          </a:solidFill>
                          <a:latin typeface="Calibri" pitchFamily="34" charset="0"/>
                          <a:ea typeface="Calibri" pitchFamily="34" charset="-122"/>
                          <a:cs typeface="Calibri" pitchFamily="34" charset="-120"/>
                        </a:rPr>
                        <a:t>Approuver le document de conception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Décision : conception approuvée. Commentaire : revue expert faite le 12 mai ; prêt pour le déploiement.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4"/>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4">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E2E-04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E2E-05, E2E-11</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E2E-05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conception à la réalisation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Réaliser la formation selon toutes les modalités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Document de conception approuvé et plan de formation priorisé.</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Formation réalisée selon toutes les modalités avec présence et achèvement enregistrés.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9 tâches · 27 étapes
</a:t>
            </a:r>
            <a:pPr indent="0" marL="0">
              <a:buNone/>
            </a:pPr>
            <a:r>
              <a:rPr lang="en-US" sz="1100" dirty="0">
                <a:solidFill>
                  <a:srgbClr val="3A3A3C"/>
                </a:solidFill>
                <a:latin typeface="Calibri" pitchFamily="34" charset="0"/>
                <a:ea typeface="Calibri" pitchFamily="34" charset="-122"/>
                <a:cs typeface="Calibri" pitchFamily="34" charset="-120"/>
              </a:rPr>
              <a:t>26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MP-05 Conception pédagogique et ingénierie des cursus · </a:t>
            </a:r>
            <a:pPr indent="0" marL="0">
              <a:buNone/>
            </a:pPr>
            <a:r>
              <a:rPr lang="en-US" sz="1000" dirty="0">
                <a:solidFill>
                  <a:srgbClr val="58595B"/>
                </a:solidFill>
                <a:latin typeface="Calibri" pitchFamily="34" charset="0"/>
                <a:ea typeface="Calibri" pitchFamily="34" charset="-122"/>
                <a:cs typeface="Calibri" pitchFamily="34" charset="-120"/>
              </a:rPr>
              <a:t>MP-06 Gestion des contenus et des ressources · </a:t>
            </a:r>
            <a:pPr indent="0" marL="0">
              <a:buNone/>
            </a:pPr>
            <a:r>
              <a:rPr lang="en-US" sz="1000" dirty="0">
                <a:solidFill>
                  <a:srgbClr val="58595B"/>
                </a:solidFill>
                <a:latin typeface="Calibri" pitchFamily="34" charset="0"/>
                <a:ea typeface="Calibri" pitchFamily="34" charset="-122"/>
                <a:cs typeface="Calibri" pitchFamily="34" charset="-120"/>
              </a:rPr>
              <a:t>MP-07 Réalisation et mise en œuvre de la formation · </a:t>
            </a:r>
            <a:pPr indent="0" marL="0">
              <a:buNone/>
            </a:pPr>
            <a:r>
              <a:rPr lang="en-US" sz="1000" dirty="0">
                <a:solidFill>
                  <a:srgbClr val="58595B"/>
                </a:solidFill>
                <a:latin typeface="Calibri" pitchFamily="34" charset="0"/>
                <a:ea typeface="Calibri" pitchFamily="34" charset="-122"/>
                <a:cs typeface="Calibri" pitchFamily="34" charset="-120"/>
              </a:rPr>
              <a:t>MP-11 Administration et opérations · </a:t>
            </a:r>
            <a:pPr indent="0" marL="0">
              <a:buNone/>
            </a:pPr>
            <a:r>
              <a:rPr lang="en-US" sz="1000" dirty="0">
                <a:solidFill>
                  <a:srgbClr val="58595B"/>
                </a:solidFill>
                <a:latin typeface="Calibri" pitchFamily="34" charset="0"/>
                <a:ea typeface="Calibri" pitchFamily="34" charset="-122"/>
                <a:cs typeface="Calibri" pitchFamily="34" charset="-120"/>
              </a:rPr>
              <a:t>MP-17 Gestion des identités, des accès et de la sécurité · </a:t>
            </a:r>
            <a:pPr indent="0" marL="0">
              <a:buNone/>
            </a:pPr>
            <a:r>
              <a:rPr lang="en-US" sz="1000" dirty="0">
                <a:solidFill>
                  <a:srgbClr val="58595B"/>
                </a:solidFill>
                <a:latin typeface="Calibri" pitchFamily="34" charset="0"/>
                <a:ea typeface="Calibri" pitchFamily="34" charset="-122"/>
                <a:cs typeface="Calibri" pitchFamily="34" charset="-120"/>
              </a:rPr>
              <a:t>MP-25 Micro-apprentissage et apprentissage dans le flux de travail · </a:t>
            </a:r>
            <a:pPr indent="0" marL="0">
              <a:buNone/>
            </a:pPr>
            <a:r>
              <a:rPr lang="en-US" sz="1000" dirty="0">
                <a:solidFill>
                  <a:srgbClr val="58595B"/>
                </a:solidFill>
                <a:latin typeface="Calibri" pitchFamily="34" charset="0"/>
                <a:ea typeface="Calibri" pitchFamily="34" charset="-122"/>
                <a:cs typeface="Calibri" pitchFamily="34" charset="-120"/>
              </a:rPr>
              <a:t>MP-30 Apprentissage immersif (RV/RA/simulation)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UFT-05-01
</a:t>
                      </a:r>
                      <a:pPr indent="0" marL="0">
                        <a:buNone/>
                      </a:pPr>
                      <a:r>
                        <a:rPr lang="en-US" sz="1000" b="1" dirty="0">
                          <a:solidFill>
                            <a:srgbClr val="3A3A3C"/>
                          </a:solidFill>
                          <a:latin typeface="Calibri" pitchFamily="34" charset="0"/>
                          <a:ea typeface="Calibri" pitchFamily="34" charset="-122"/>
                          <a:cs typeface="Calibri" pitchFamily="34" charset="-120"/>
                        </a:rPr>
                        <a:t>Publier le contenu au catalogue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MP-06.3 </a:t>
                      </a:r>
                      <a:pPr indent="0" marL="0">
                        <a:buNone/>
                      </a:pPr>
                      <a:r>
                        <a:rPr lang="en-US" sz="1000" dirty="0">
                          <a:solidFill>
                            <a:srgbClr val="58595B"/>
                          </a:solidFill>
                          <a:latin typeface="Calibri" pitchFamily="34" charset="0"/>
                          <a:ea typeface="Calibri" pitchFamily="34" charset="-122"/>
                          <a:cs typeface="Calibri" pitchFamily="34" charset="-120"/>
                        </a:rPr>
                        <a:t>Soumettre le contenu à la revue de l'expert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MP-06.4 </a:t>
                      </a:r>
                      <a:pPr indent="0" marL="0">
                        <a:buNone/>
                      </a:pPr>
                      <a:r>
                        <a:rPr lang="en-US" sz="1000" dirty="0">
                          <a:solidFill>
                            <a:srgbClr val="58595B"/>
                          </a:solidFill>
                          <a:latin typeface="Calibri" pitchFamily="34" charset="0"/>
                          <a:ea typeface="Calibri" pitchFamily="34" charset="-122"/>
                          <a:cs typeface="Calibri" pitchFamily="34" charset="-120"/>
                        </a:rPr>
                        <a:t>Enregistrer la décision de revue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MP-06.6 </a:t>
                      </a:r>
                      <a:pPr indent="0" marL="0">
                        <a:buNone/>
                      </a:pPr>
                      <a:r>
                        <a:rPr lang="en-US" sz="1000" dirty="0">
                          <a:solidFill>
                            <a:srgbClr val="58595B"/>
                          </a:solidFill>
                          <a:latin typeface="Calibri" pitchFamily="34" charset="0"/>
                          <a:ea typeface="Calibri" pitchFamily="34" charset="-122"/>
                          <a:cs typeface="Calibri" pitchFamily="34" charset="-120"/>
                        </a:rPr>
                        <a:t>Publier le contenu au catalogue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le module « M1 Triage IA et aide à la décision clinique » au catalogue ; public : encadrants ; langues EN/FR/AR.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UFT-05-02
</a:t>
                      </a:r>
                      <a:pPr indent="0" marL="0">
                        <a:buNone/>
                      </a:pPr>
                      <a:r>
                        <a:rPr lang="en-US" sz="1000" b="1" dirty="0">
                          <a:solidFill>
                            <a:srgbClr val="3A3A3C"/>
                          </a:solidFill>
                          <a:latin typeface="Calibri" pitchFamily="34" charset="0"/>
                          <a:ea typeface="Calibri" pitchFamily="34" charset="-122"/>
                          <a:cs typeface="Calibri" pitchFamily="34" charset="-120"/>
                        </a:rPr>
                        <a:t>Réserver la logistique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MP-11.1 </a:t>
                      </a:r>
                      <a:pPr indent="0" marL="0">
                        <a:buNone/>
                      </a:pPr>
                      <a:r>
                        <a:rPr lang="en-US" sz="1000" dirty="0">
                          <a:solidFill>
                            <a:srgbClr val="58595B"/>
                          </a:solidFill>
                          <a:latin typeface="Calibri" pitchFamily="34" charset="0"/>
                          <a:ea typeface="Calibri" pitchFamily="34" charset="-122"/>
                          <a:cs typeface="Calibri" pitchFamily="34" charset="-120"/>
                        </a:rPr>
                        <a:t>Réserver salles et équipements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MP-11.2 </a:t>
                      </a:r>
                      <a:pPr indent="0" marL="0">
                        <a:buNone/>
                      </a:pPr>
                      <a:r>
                        <a:rPr lang="en-US" sz="1000" dirty="0">
                          <a:solidFill>
                            <a:srgbClr val="58595B"/>
                          </a:solidFill>
                          <a:latin typeface="Calibri" pitchFamily="34" charset="0"/>
                          <a:ea typeface="Calibri" pitchFamily="34" charset="-122"/>
                          <a:cs typeface="Calibri" pitchFamily="34" charset="-120"/>
                        </a:rPr>
                        <a:t>Gérer les agendas des formateurs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Salle « Formation A » (20 places) du 3 au 5 juin ; vidéoprojecteur ; agenda du formateur bloqué.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UFT-05-03
</a:t>
                      </a:r>
                      <a:pPr indent="0" marL="0">
                        <a:buNone/>
                      </a:pPr>
                      <a:r>
                        <a:rPr lang="en-US" sz="1000" b="1" dirty="0">
                          <a:solidFill>
                            <a:srgbClr val="3A3A3C"/>
                          </a:solidFill>
                          <a:latin typeface="Calibri" pitchFamily="34" charset="0"/>
                          <a:ea typeface="Calibri" pitchFamily="34" charset="-122"/>
                          <a:cs typeface="Calibri" pitchFamily="34" charset="-120"/>
                        </a:rPr>
                        <a:t>Planifier les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MP-07.1 </a:t>
                      </a:r>
                      <a:pPr indent="0" marL="0">
                        <a:buNone/>
                      </a:pPr>
                      <a:r>
                        <a:rPr lang="en-US" sz="1000" dirty="0">
                          <a:solidFill>
                            <a:srgbClr val="58595B"/>
                          </a:solidFill>
                          <a:latin typeface="Calibri" pitchFamily="34" charset="0"/>
                          <a:ea typeface="Calibri" pitchFamily="34" charset="-122"/>
                          <a:cs typeface="Calibri" pitchFamily="34" charset="-120"/>
                        </a:rPr>
                        <a:t>Créer la session de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MP-07.2 </a:t>
                      </a:r>
                      <a:pPr indent="0" marL="0">
                        <a:buNone/>
                      </a:pPr>
                      <a:r>
                        <a:rPr lang="en-US" sz="1000" dirty="0">
                          <a:solidFill>
                            <a:srgbClr val="58595B"/>
                          </a:solidFill>
                          <a:latin typeface="Calibri" pitchFamily="34" charset="0"/>
                          <a:ea typeface="Calibri" pitchFamily="34" charset="-122"/>
                          <a:cs typeface="Calibri" pitchFamily="34" charset="-120"/>
                        </a:rPr>
                        <a:t>Vérifier les conflits de planning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Session S-01 « Triage IA et aide à la décision clinique — encadrants », 3-5 juin, 12 places, aucun conflit.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UFT-05-04
</a:t>
                      </a:r>
                      <a:pPr indent="0" marL="0">
                        <a:buNone/>
                      </a:pPr>
                      <a:r>
                        <a:rPr lang="en-US" sz="1000" b="1" dirty="0">
                          <a:solidFill>
                            <a:srgbClr val="3A3A3C"/>
                          </a:solidFill>
                          <a:latin typeface="Calibri" pitchFamily="34" charset="0"/>
                          <a:ea typeface="Calibri" pitchFamily="34" charset="-122"/>
                          <a:cs typeface="Calibri" pitchFamily="34" charset="-120"/>
                        </a:rPr>
                        <a:t>Inscrire les apprenants et envoyer les convocations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MP-07.3 </a:t>
                      </a:r>
                      <a:pPr indent="0" marL="0">
                        <a:buNone/>
                      </a:pPr>
                      <a:r>
                        <a:rPr lang="en-US" sz="1000" dirty="0">
                          <a:solidFill>
                            <a:srgbClr val="58595B"/>
                          </a:solidFill>
                          <a:latin typeface="Calibri" pitchFamily="34" charset="0"/>
                          <a:ea typeface="Calibri" pitchFamily="34" charset="-122"/>
                          <a:cs typeface="Calibri" pitchFamily="34" charset="-120"/>
                        </a:rPr>
                        <a:t>Inscrire les apprenants à la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MP-07.4 </a:t>
                      </a:r>
                      <a:pPr indent="0" marL="0">
                        <a:buNone/>
                      </a:pPr>
                      <a:r>
                        <a:rPr lang="en-US" sz="1000" dirty="0">
                          <a:solidFill>
                            <a:srgbClr val="58595B"/>
                          </a:solidFill>
                          <a:latin typeface="Calibri" pitchFamily="34" charset="0"/>
                          <a:ea typeface="Calibri" pitchFamily="34" charset="-122"/>
                          <a:cs typeface="Calibri" pitchFamily="34" charset="-120"/>
                        </a:rPr>
                        <a:t>Envoyer les convocations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MP-17.1 </a:t>
                      </a:r>
                      <a:pPr indent="0" marL="0">
                        <a:buNone/>
                      </a:pPr>
                      <a:r>
                        <a:rPr lang="en-US" sz="1000" dirty="0">
                          <a:solidFill>
                            <a:srgbClr val="58595B"/>
                          </a:solidFill>
                          <a:latin typeface="Calibri" pitchFamily="34" charset="0"/>
                          <a:ea typeface="Calibri" pitchFamily="34" charset="-122"/>
                          <a:cs typeface="Calibri" pitchFamily="34" charset="-120"/>
                        </a:rPr>
                        <a:t>Provisionner les utilisateurs via SSO</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Inscrire 12 encadrants ; convocations envoyées par e-mail et SMS dans la langue de chacun.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05"/>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5-05 Pousser les capsules de micro-apprentissag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UFT-05-05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E2E-05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conception à la réalisation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UFT-05-05
</a:t>
                      </a:r>
                      <a:pPr indent="0" marL="0">
                        <a:buNone/>
                      </a:pPr>
                      <a:r>
                        <a:rPr lang="en-US" sz="1000" b="1" dirty="0">
                          <a:solidFill>
                            <a:srgbClr val="3A3A3C"/>
                          </a:solidFill>
                          <a:latin typeface="Calibri" pitchFamily="34" charset="0"/>
                          <a:ea typeface="Calibri" pitchFamily="34" charset="-122"/>
                          <a:cs typeface="Calibri" pitchFamily="34" charset="-120"/>
                        </a:rPr>
                        <a:t>Pousser les capsules de micro-apprentissage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MP-25.1 </a:t>
                      </a:r>
                      <a:pPr indent="0" marL="0">
                        <a:buNone/>
                      </a:pPr>
                      <a:r>
                        <a:rPr lang="en-US" sz="1000" dirty="0">
                          <a:solidFill>
                            <a:srgbClr val="58595B"/>
                          </a:solidFill>
                          <a:latin typeface="Calibri" pitchFamily="34" charset="0"/>
                          <a:ea typeface="Calibri" pitchFamily="34" charset="-122"/>
                          <a:cs typeface="Calibri" pitchFamily="34" charset="-120"/>
                        </a:rPr>
                        <a:t>Rédiger une capsule de micro-apprentissage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MP-25.2 </a:t>
                      </a:r>
                      <a:pPr indent="0" marL="0">
                        <a:buNone/>
                      </a:pPr>
                      <a:r>
                        <a:rPr lang="en-US" sz="1000" dirty="0">
                          <a:solidFill>
                            <a:srgbClr val="58595B"/>
                          </a:solidFill>
                          <a:latin typeface="Calibri" pitchFamily="34" charset="0"/>
                          <a:ea typeface="Calibri" pitchFamily="34" charset="-122"/>
                          <a:cs typeface="Calibri" pitchFamily="34" charset="-120"/>
                        </a:rPr>
                        <a:t>Générer un projet de capsule à partir d'une source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MP-25.3 </a:t>
                      </a:r>
                      <a:pPr indent="0" marL="0">
                        <a:buNone/>
                      </a:pPr>
                      <a:r>
                        <a:rPr lang="en-US" sz="1000" dirty="0">
                          <a:solidFill>
                            <a:srgbClr val="58595B"/>
                          </a:solidFill>
                          <a:latin typeface="Calibri" pitchFamily="34" charset="0"/>
                          <a:ea typeface="Calibri" pitchFamily="34" charset="-122"/>
                          <a:cs typeface="Calibri" pitchFamily="34" charset="-120"/>
                        </a:rPr>
                        <a:t>Pousser la capsule vers un canal collaboratif</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Capsule « Vérification Assistance IA en imagerie médicale en 5 minutes » poussée dans le canal Teams Soins cliniques et infirmiers ; 48 vues en semaine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UFT-05-06
</a:t>
                      </a:r>
                      <a:pPr indent="0" marL="0">
                        <a:buNone/>
                      </a:pPr>
                      <a:r>
                        <a:rPr lang="en-US" sz="1000" b="1" dirty="0">
                          <a:solidFill>
                            <a:srgbClr val="3A3A3C"/>
                          </a:solidFill>
                          <a:latin typeface="Calibri" pitchFamily="34" charset="0"/>
                          <a:ea typeface="Calibri" pitchFamily="34" charset="-122"/>
                          <a:cs typeface="Calibri" pitchFamily="34" charset="-120"/>
                        </a:rPr>
                        <a:t>Mener les simulations immersives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MP-30.1 </a:t>
                      </a:r>
                      <a:pPr indent="0" marL="0">
                        <a:buNone/>
                      </a:pPr>
                      <a:r>
                        <a:rPr lang="en-US" sz="1000" dirty="0">
                          <a:solidFill>
                            <a:srgbClr val="58595B"/>
                          </a:solidFill>
                          <a:latin typeface="Calibri" pitchFamily="34" charset="0"/>
                          <a:ea typeface="Calibri" pitchFamily="34" charset="-122"/>
                          <a:cs typeface="Calibri" pitchFamily="34" charset="-120"/>
                        </a:rPr>
                        <a:t>Définir le scénario de simulation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MP-30.2 </a:t>
                      </a:r>
                      <a:pPr indent="0" marL="0">
                        <a:buNone/>
                      </a:pPr>
                      <a:r>
                        <a:rPr lang="en-US" sz="1000" dirty="0">
                          <a:solidFill>
                            <a:srgbClr val="58595B"/>
                          </a:solidFill>
                          <a:latin typeface="Calibri" pitchFamily="34" charset="0"/>
                          <a:ea typeface="Calibri" pitchFamily="34" charset="-122"/>
                          <a:cs typeface="Calibri" pitchFamily="34" charset="-120"/>
                        </a:rPr>
                        <a:t>Configurer la notation de la simulation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MP-30.3 </a:t>
                      </a:r>
                      <a:pPr indent="0" marL="0">
                        <a:buNone/>
                      </a:pPr>
                      <a:r>
                        <a:rPr lang="en-US" sz="1000" dirty="0">
                          <a:solidFill>
                            <a:srgbClr val="58595B"/>
                          </a:solidFill>
                          <a:latin typeface="Calibri" pitchFamily="34" charset="0"/>
                          <a:ea typeface="Calibri" pitchFamily="34" charset="-122"/>
                          <a:cs typeface="Calibri" pitchFamily="34" charset="-120"/>
                        </a:rPr>
                        <a:t>Lancer la séance de simulation</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+ 3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Simulation « incident Soins cliniques et infirmiers » : score 78/100 ; notes de débriefing enregistrées ; preuves sauvegardées.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UFT-05-07
</a:t>
                      </a:r>
                      <a:pPr indent="0" marL="0">
                        <a:buNone/>
                      </a:pPr>
                      <a:r>
                        <a:rPr lang="en-US" sz="1000" b="1" dirty="0">
                          <a:solidFill>
                            <a:srgbClr val="3A3A3C"/>
                          </a:solidFill>
                          <a:latin typeface="Calibri" pitchFamily="34" charset="0"/>
                          <a:ea typeface="Calibri" pitchFamily="34" charset="-122"/>
                          <a:cs typeface="Calibri" pitchFamily="34" charset="-120"/>
                        </a:rPr>
                        <a:t>Enregistrer la présence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MP-07.5 </a:t>
                      </a:r>
                      <a:pPr indent="0" marL="0">
                        <a:buNone/>
                      </a:pPr>
                      <a:r>
                        <a:rPr lang="en-US" sz="1000" dirty="0">
                          <a:solidFill>
                            <a:srgbClr val="58595B"/>
                          </a:solidFill>
                          <a:latin typeface="Calibri" pitchFamily="34" charset="0"/>
                          <a:ea typeface="Calibri" pitchFamily="34" charset="-122"/>
                          <a:cs typeface="Calibri" pitchFamily="34" charset="-120"/>
                        </a:rPr>
                        <a:t>Enregistrer la présence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Présence S-01 : 11 présents, 1 absent (justifié). Feuille d'émargement jointe.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UFT-05-08
</a:t>
                      </a:r>
                      <a:pPr indent="0" marL="0">
                        <a:buNone/>
                      </a:pPr>
                      <a:r>
                        <a:rPr lang="en-US" sz="1000" b="1" dirty="0">
                          <a:solidFill>
                            <a:srgbClr val="3A3A3C"/>
                          </a:solidFill>
                          <a:latin typeface="Calibri" pitchFamily="34" charset="0"/>
                          <a:ea typeface="Calibri" pitchFamily="34" charset="-122"/>
                          <a:cs typeface="Calibri" pitchFamily="34" charset="-120"/>
                        </a:rPr>
                        <a:t>Clôturer les sessions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MP-07.6 </a:t>
                      </a:r>
                      <a:pPr indent="0" marL="0">
                        <a:buNone/>
                      </a:pPr>
                      <a:r>
                        <a:rPr lang="en-US" sz="1000" dirty="0">
                          <a:solidFill>
                            <a:srgbClr val="58595B"/>
                          </a:solidFill>
                          <a:latin typeface="Calibri" pitchFamily="34" charset="0"/>
                          <a:ea typeface="Calibri" pitchFamily="34" charset="-122"/>
                          <a:cs typeface="Calibri" pitchFamily="34" charset="-120"/>
                        </a:rPr>
                        <a:t>Clôturer la session et enregistrer l'achèvement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Clôturer S-01 : 11 réussites enregistrées ; attestation remise à chaque participant.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UFT-05-09
</a:t>
                      </a:r>
                      <a:pPr indent="0" marL="0">
                        <a:buNone/>
                      </a:pPr>
                      <a:r>
                        <a:rPr lang="en-US" sz="1000" b="1" dirty="0">
                          <a:solidFill>
                            <a:srgbClr val="3A3A3C"/>
                          </a:solidFill>
                          <a:latin typeface="Calibri" pitchFamily="34" charset="0"/>
                          <a:ea typeface="Calibri" pitchFamily="34" charset="-122"/>
                          <a:cs typeface="Calibri" pitchFamily="34" charset="-120"/>
                        </a:rPr>
                        <a:t>Rapprocher et archiver la période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MP-11.5 </a:t>
                      </a:r>
                      <a:pPr indent="0" marL="0">
                        <a:buNone/>
                      </a:pPr>
                      <a:r>
                        <a:rPr lang="en-US" sz="1000" dirty="0">
                          <a:solidFill>
                            <a:srgbClr val="58595B"/>
                          </a:solidFill>
                          <a:latin typeface="Calibri" pitchFamily="34" charset="0"/>
                          <a:ea typeface="Calibri" pitchFamily="34" charset="-122"/>
                          <a:cs typeface="Calibri" pitchFamily="34" charset="-120"/>
                        </a:rPr>
                        <a:t>Rapprocher présences et factures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MP-11.6 </a:t>
                      </a:r>
                      <a:pPr indent="0" marL="0">
                        <a:buNone/>
                      </a:pPr>
                      <a:r>
                        <a:rPr lang="en-US" sz="1000" dirty="0">
                          <a:solidFill>
                            <a:srgbClr val="58595B"/>
                          </a:solidFill>
                          <a:latin typeface="Calibri" pitchFamily="34" charset="0"/>
                          <a:ea typeface="Calibri" pitchFamily="34" charset="-122"/>
                          <a:cs typeface="Calibri" pitchFamily="34" charset="-120"/>
                        </a:rPr>
                        <a:t>Archiver les dossiers de la période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MP-11.3 </a:t>
                      </a:r>
                      <a:pPr indent="0" marL="0">
                        <a:buNone/>
                      </a:pPr>
                      <a:r>
                        <a:rPr lang="en-US" sz="1000" dirty="0">
                          <a:solidFill>
                            <a:srgbClr val="58595B"/>
                          </a:solidFill>
                          <a:latin typeface="Calibri" pitchFamily="34" charset="0"/>
                          <a:ea typeface="Calibri" pitchFamily="34" charset="-122"/>
                          <a:cs typeface="Calibri" pitchFamily="34" charset="-120"/>
                        </a:rPr>
                        <a:t>Importer les dossiers de formation externes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6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Rapprocher la facture INV-2026-118 (3 jours × 12 apprenants) de la présence ; archiver la période T2.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5"/>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5">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E2E-05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E2E-06, E2E-07, E2E-13</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E2E-06 · PARTITION DE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parcours apprenant à l'engagement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Offrir une expérience d'apprentissage personnalisée et engageante</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Apprenant inscrit à un parcours ou à une session.</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Parcours apprenant personnalisé terminé avec engagement mesuré.</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33 étapes
</a:t>
            </a:r>
            <a:pPr indent="0" marL="0">
              <a:buNone/>
            </a:pPr>
            <a:r>
              <a:rPr lang="en-US" sz="1100" dirty="0">
                <a:solidFill>
                  <a:srgbClr val="3A3A3C"/>
                </a:solidFill>
                <a:latin typeface="Calibri" pitchFamily="34" charset="0"/>
                <a:ea typeface="Calibri" pitchFamily="34" charset="-122"/>
                <a:cs typeface="Calibri" pitchFamily="34" charset="-120"/>
              </a:rPr>
              <a:t>23 jours · 5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MP-08 Expérience et engagement des apprenants · </a:t>
            </a:r>
            <a:pPr indent="0" marL="0">
              <a:buNone/>
            </a:pPr>
            <a:r>
              <a:rPr lang="en-US" sz="1000" dirty="0">
                <a:solidFill>
                  <a:srgbClr val="58595B"/>
                </a:solidFill>
                <a:latin typeface="Calibri" pitchFamily="34" charset="0"/>
                <a:ea typeface="Calibri" pitchFamily="34" charset="-122"/>
                <a:cs typeface="Calibri" pitchFamily="34" charset="-120"/>
              </a:rPr>
              <a:t>MP-24 Personnalisation par l'IA et apprentissage adaptatif · </a:t>
            </a:r>
            <a:pPr indent="0" marL="0">
              <a:buNone/>
            </a:pPr>
            <a:r>
              <a:rPr lang="en-US" sz="1000" dirty="0">
                <a:solidFill>
                  <a:srgbClr val="58595B"/>
                </a:solidFill>
                <a:latin typeface="Calibri" pitchFamily="34" charset="0"/>
                <a:ea typeface="Calibri" pitchFamily="34" charset="-122"/>
                <a:cs typeface="Calibri" pitchFamily="34" charset="-120"/>
              </a:rPr>
              <a:t>MP-25 Micro-apprentissage et apprentissage dans le flux de travail · </a:t>
            </a:r>
            <a:pPr indent="0" marL="0">
              <a:buNone/>
            </a:pPr>
            <a:r>
              <a:rPr lang="en-US" sz="1000" dirty="0">
                <a:solidFill>
                  <a:srgbClr val="58595B"/>
                </a:solidFill>
                <a:latin typeface="Calibri" pitchFamily="34" charset="0"/>
                <a:ea typeface="Calibri" pitchFamily="34" charset="-122"/>
                <a:cs typeface="Calibri" pitchFamily="34" charset="-120"/>
              </a:rPr>
              <a:t>MP-26 Réseaux d'apprentissage social et collaboratif · </a:t>
            </a:r>
            <a:pPr indent="0" marL="0">
              <a:buNone/>
            </a:pPr>
            <a:r>
              <a:rPr lang="en-US" sz="1000" dirty="0">
                <a:solidFill>
                  <a:srgbClr val="58595B"/>
                </a:solidFill>
                <a:latin typeface="Calibri" pitchFamily="34" charset="0"/>
                <a:ea typeface="Calibri" pitchFamily="34" charset="-122"/>
                <a:cs typeface="Calibri" pitchFamily="34" charset="-120"/>
              </a:rPr>
              <a:t>MP-27 Ludification et mécanismes d'engagement</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UFT-06-01
</a:t>
                      </a:r>
                      <a:pPr indent="0" marL="0">
                        <a:buNone/>
                      </a:pPr>
                      <a:r>
                        <a:rPr lang="en-US" sz="1000" b="1" dirty="0">
                          <a:solidFill>
                            <a:srgbClr val="3A3A3C"/>
                          </a:solidFill>
                          <a:latin typeface="Calibri" pitchFamily="34" charset="0"/>
                          <a:ea typeface="Calibri" pitchFamily="34" charset="-122"/>
                          <a:cs typeface="Calibri" pitchFamily="34" charset="-120"/>
                        </a:rPr>
                        <a:t>Générer le plan d'apprentissage personnel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MP-08.1 </a:t>
                      </a:r>
                      <a:pPr indent="0" marL="0">
                        <a:buNone/>
                      </a:pPr>
                      <a:r>
                        <a:rPr lang="en-US" sz="1000" dirty="0">
                          <a:solidFill>
                            <a:srgbClr val="58595B"/>
                          </a:solidFill>
                          <a:latin typeface="Calibri" pitchFamily="34" charset="0"/>
                          <a:ea typeface="Calibri" pitchFamily="34" charset="-122"/>
                          <a:cs typeface="Calibri" pitchFamily="34" charset="-120"/>
                        </a:rPr>
                        <a:t>Générer le plan d'apprentissage personnel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 personnel généré pour chaque apprenant : 3 éléments sur Triage IA et aide à la décision clinique, 1 capsule sur Assistance IA en imagerie médicale.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UFT-06-02
</a:t>
                      </a:r>
                      <a:pPr indent="0" marL="0">
                        <a:buNone/>
                      </a:pPr>
                      <a:r>
                        <a:rPr lang="en-US" sz="1000" b="1" dirty="0">
                          <a:solidFill>
                            <a:srgbClr val="3A3A3C"/>
                          </a:solidFill>
                          <a:latin typeface="Calibri" pitchFamily="34" charset="0"/>
                          <a:ea typeface="Calibri" pitchFamily="34" charset="-122"/>
                          <a:cs typeface="Calibri" pitchFamily="34" charset="-120"/>
                        </a:rPr>
                        <a:t>Recommander des éléments d'apprentissage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MP-08.2 </a:t>
                      </a:r>
                      <a:pPr indent="0" marL="0">
                        <a:buNone/>
                      </a:pPr>
                      <a:r>
                        <a:rPr lang="en-US" sz="1000" dirty="0">
                          <a:solidFill>
                            <a:srgbClr val="58595B"/>
                          </a:solidFill>
                          <a:latin typeface="Calibri" pitchFamily="34" charset="0"/>
                          <a:ea typeface="Calibri" pitchFamily="34" charset="-122"/>
                          <a:cs typeface="Calibri" pitchFamily="34" charset="-120"/>
                        </a:rPr>
                        <a:t>Recommander des éléments d'apprentissage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MP-24.1 </a:t>
                      </a:r>
                      <a:pPr indent="0" marL="0">
                        <a:buNone/>
                      </a:pPr>
                      <a:r>
                        <a:rPr lang="en-US" sz="1000" dirty="0">
                          <a:solidFill>
                            <a:srgbClr val="58595B"/>
                          </a:solidFill>
                          <a:latin typeface="Calibri" pitchFamily="34" charset="0"/>
                          <a:ea typeface="Calibri" pitchFamily="34" charset="-122"/>
                          <a:cs typeface="Calibri" pitchFamily="34" charset="-120"/>
                        </a:rPr>
                        <a:t>Activer la personnalisation par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2 recommandations, en rejeter 1 (« déjà maîtrisé »). Le résultat est journalisé.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UFT-06-03
</a:t>
                      </a:r>
                      <a:pPr indent="0" marL="0">
                        <a:buNone/>
                      </a:pPr>
                      <a:r>
                        <a:rPr lang="en-US" sz="1000" b="1" dirty="0">
                          <a:solidFill>
                            <a:srgbClr val="3A3A3C"/>
                          </a:solidFill>
                          <a:latin typeface="Calibri" pitchFamily="34" charset="0"/>
                          <a:ea typeface="Calibri" pitchFamily="34" charset="-122"/>
                          <a:cs typeface="Calibri" pitchFamily="34" charset="-120"/>
                        </a:rPr>
                        <a:t>Adapter le parcours à la performance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MP-24.2 </a:t>
                      </a:r>
                      <a:pPr indent="0" marL="0">
                        <a:buNone/>
                      </a:pPr>
                      <a:r>
                        <a:rPr lang="en-US" sz="1000" dirty="0">
                          <a:solidFill>
                            <a:srgbClr val="58595B"/>
                          </a:solidFill>
                          <a:latin typeface="Calibri" pitchFamily="34" charset="0"/>
                          <a:ea typeface="Calibri" pitchFamily="34" charset="-122"/>
                          <a:cs typeface="Calibri" pitchFamily="34" charset="-120"/>
                        </a:rPr>
                        <a:t>Définir les règles d'adaptation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MP-24.3 </a:t>
                      </a:r>
                      <a:pPr indent="0" marL="0">
                        <a:buNone/>
                      </a:pPr>
                      <a:r>
                        <a:rPr lang="en-US" sz="1000" dirty="0">
                          <a:solidFill>
                            <a:srgbClr val="58595B"/>
                          </a:solidFill>
                          <a:latin typeface="Calibri" pitchFamily="34" charset="0"/>
                          <a:ea typeface="Calibri" pitchFamily="34" charset="-122"/>
                          <a:cs typeface="Calibri" pitchFamily="34" charset="-120"/>
                        </a:rPr>
                        <a:t>Adapter le parcours à la performance de l'apprenant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MP-24.4 </a:t>
                      </a:r>
                      <a:pPr indent="0" marL="0">
                        <a:buNone/>
                      </a:pPr>
                      <a:r>
                        <a:rPr lang="en-US" sz="1000" dirty="0">
                          <a:solidFill>
                            <a:srgbClr val="58595B"/>
                          </a:solidFill>
                          <a:latin typeface="Calibri" pitchFamily="34" charset="0"/>
                          <a:ea typeface="Calibri" pitchFamily="34" charset="-122"/>
                          <a:cs typeface="Calibri" pitchFamily="34" charset="-120"/>
                        </a:rPr>
                        <a:t>Enregistrer la réponse de l'apprenant à l'adaptation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Règle : si le score du quiz &lt; 60 %, ajouter la capsule de remédiation « bases Triage IA et aide à la décision clinique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6"/>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6-01 Générer le plan d'apprentissage personnel">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UFT-06-01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E2E-06 · PARTITION DE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parcours apprenant à l'engagement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UFT-06-04
</a:t>
                      </a:r>
                      <a:pPr indent="0" marL="0">
                        <a:buNone/>
                      </a:pPr>
                      <a:r>
                        <a:rPr lang="en-US" sz="1000" b="1" dirty="0">
                          <a:solidFill>
                            <a:srgbClr val="3A3A3C"/>
                          </a:solidFill>
                          <a:latin typeface="Calibri" pitchFamily="34" charset="0"/>
                          <a:ea typeface="Calibri" pitchFamily="34" charset="-122"/>
                          <a:cs typeface="Calibri" pitchFamily="34" charset="-120"/>
                        </a:rPr>
                        <a:t>Animer l'apprentissage social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MP-26.1 </a:t>
                      </a:r>
                      <a:pPr indent="0" marL="0">
                        <a:buNone/>
                      </a:pPr>
                      <a:r>
                        <a:rPr lang="en-US" sz="1000" dirty="0">
                          <a:solidFill>
                            <a:srgbClr val="58595B"/>
                          </a:solidFill>
                          <a:latin typeface="Calibri" pitchFamily="34" charset="0"/>
                          <a:ea typeface="Calibri" pitchFamily="34" charset="-122"/>
                          <a:cs typeface="Calibri" pitchFamily="34" charset="-120"/>
                        </a:rPr>
                        <a:t>Créer une cohorte d'apprentissage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MP-26.2 </a:t>
                      </a:r>
                      <a:pPr indent="0" marL="0">
                        <a:buNone/>
                      </a:pPr>
                      <a:r>
                        <a:rPr lang="en-US" sz="1000" dirty="0">
                          <a:solidFill>
                            <a:srgbClr val="58595B"/>
                          </a:solidFill>
                          <a:latin typeface="Calibri" pitchFamily="34" charset="0"/>
                          <a:ea typeface="Calibri" pitchFamily="34" charset="-122"/>
                          <a:cs typeface="Calibri" pitchFamily="34" charset="-120"/>
                        </a:rPr>
                        <a:t>Inviter les membres du groupe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MP-26.3 </a:t>
                      </a:r>
                      <a:pPr indent="0" marL="0">
                        <a:buNone/>
                      </a:pPr>
                      <a:r>
                        <a:rPr lang="en-US" sz="1000" dirty="0">
                          <a:solidFill>
                            <a:srgbClr val="58595B"/>
                          </a:solidFill>
                          <a:latin typeface="Calibri" pitchFamily="34" charset="0"/>
                          <a:ea typeface="Calibri" pitchFamily="34" charset="-122"/>
                          <a:cs typeface="Calibri" pitchFamily="34" charset="-120"/>
                        </a:rPr>
                        <a:t>Publier une question ou une réponse</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+ 3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Créer la cohorte « Encadrants Triage IA et aide à la décision clinique 2026 » et inviter 12 membres ; première question postée.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UFT-06-05
</a:t>
                      </a:r>
                      <a:pPr indent="0" marL="0">
                        <a:buNone/>
                      </a:pPr>
                      <a:r>
                        <a:rPr lang="en-US" sz="1000" b="1" dirty="0">
                          <a:solidFill>
                            <a:srgbClr val="3A3A3C"/>
                          </a:solidFill>
                          <a:latin typeface="Calibri" pitchFamily="34" charset="0"/>
                          <a:ea typeface="Calibri" pitchFamily="34" charset="-122"/>
                          <a:cs typeface="Calibri" pitchFamily="34" charset="-120"/>
                        </a:rPr>
                        <a:t>Animer la ludification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MP-27.1 </a:t>
                      </a:r>
                      <a:pPr indent="0" marL="0">
                        <a:buNone/>
                      </a:pPr>
                      <a:r>
                        <a:rPr lang="en-US" sz="1000" dirty="0">
                          <a:solidFill>
                            <a:srgbClr val="58595B"/>
                          </a:solidFill>
                          <a:latin typeface="Calibri" pitchFamily="34" charset="0"/>
                          <a:ea typeface="Calibri" pitchFamily="34" charset="-122"/>
                          <a:cs typeface="Calibri" pitchFamily="34" charset="-120"/>
                        </a:rPr>
                        <a:t>Définir les règles de points et de badges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MP-27.2 </a:t>
                      </a:r>
                      <a:pPr indent="0" marL="0">
                        <a:buNone/>
                      </a:pPr>
                      <a:r>
                        <a:rPr lang="en-US" sz="1000" dirty="0">
                          <a:solidFill>
                            <a:srgbClr val="58595B"/>
                          </a:solidFill>
                          <a:latin typeface="Calibri" pitchFamily="34" charset="0"/>
                          <a:ea typeface="Calibri" pitchFamily="34" charset="-122"/>
                          <a:cs typeface="Calibri" pitchFamily="34" charset="-120"/>
                        </a:rPr>
                        <a:t>Configurer le périmètre du classement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MP-27.3 </a:t>
                      </a:r>
                      <a:pPr indent="0" marL="0">
                        <a:buNone/>
                      </a:pPr>
                      <a:r>
                        <a:rPr lang="en-US" sz="1000" dirty="0">
                          <a:solidFill>
                            <a:srgbClr val="58595B"/>
                          </a:solidFill>
                          <a:latin typeface="Calibri" pitchFamily="34" charset="0"/>
                          <a:ea typeface="Calibri" pitchFamily="34" charset="-122"/>
                          <a:cs typeface="Calibri" pitchFamily="34" charset="-120"/>
                        </a:rPr>
                        <a:t>Attribuer des points à l'achèvement</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Badge « Praticien Triage IA et aide à la décision clinique » pour 3 modules terminés ; 10 points par capsule.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UFT-06-06
</a:t>
                      </a:r>
                      <a:pPr indent="0" marL="0">
                        <a:buNone/>
                      </a:pPr>
                      <a:r>
                        <a:rPr lang="en-US" sz="1000" b="1" dirty="0">
                          <a:solidFill>
                            <a:srgbClr val="3A3A3C"/>
                          </a:solidFill>
                          <a:latin typeface="Calibri" pitchFamily="34" charset="0"/>
                          <a:ea typeface="Calibri" pitchFamily="34" charset="-122"/>
                          <a:cs typeface="Calibri" pitchFamily="34" charset="-120"/>
                        </a:rPr>
                        <a:t>Associer et mener le coaching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MP-21.1 </a:t>
                      </a:r>
                      <a:pPr indent="0" marL="0">
                        <a:buNone/>
                      </a:pPr>
                      <a:r>
                        <a:rPr lang="en-US" sz="1000" dirty="0">
                          <a:solidFill>
                            <a:srgbClr val="58595B"/>
                          </a:solidFill>
                          <a:latin typeface="Calibri" pitchFamily="34" charset="0"/>
                          <a:ea typeface="Calibri" pitchFamily="34" charset="-122"/>
                          <a:cs typeface="Calibri" pitchFamily="34" charset="-120"/>
                        </a:rPr>
                        <a:t>Demander un coaching</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MP-21.2 </a:t>
                      </a:r>
                      <a:pPr indent="0" marL="0">
                        <a:buNone/>
                      </a:pPr>
                      <a:r>
                        <a:rPr lang="en-US" sz="1000" dirty="0">
                          <a:solidFill>
                            <a:srgbClr val="58595B"/>
                          </a:solidFill>
                          <a:latin typeface="Calibri" pitchFamily="34" charset="0"/>
                          <a:ea typeface="Calibri" pitchFamily="34" charset="-122"/>
                          <a:cs typeface="Calibri" pitchFamily="34" charset="-120"/>
                        </a:rPr>
                        <a:t>Associer un coach à l'apprenant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MP-21.3 </a:t>
                      </a:r>
                      <a:pPr indent="0" marL="0">
                        <a:buNone/>
                      </a:pPr>
                      <a:r>
                        <a:rPr lang="en-US" sz="1000" dirty="0">
                          <a:solidFill>
                            <a:srgbClr val="58595B"/>
                          </a:solidFill>
                          <a:latin typeface="Calibri" pitchFamily="34" charset="0"/>
                          <a:ea typeface="Calibri" pitchFamily="34" charset="-122"/>
                          <a:cs typeface="Calibri" pitchFamily="34" charset="-120"/>
                        </a:rPr>
                        <a:t>Planifier les séances de coaching</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+ 3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Associer le coach « Encadrant senior Soins cliniques et infirmiers » à 3 apprenants ; 4 séances d'une heure.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UFT-06-07
</a:t>
                      </a:r>
                      <a:pPr indent="0" marL="0">
                        <a:buNone/>
                      </a:pPr>
                      <a:r>
                        <a:rPr lang="en-US" sz="1000" b="1" dirty="0">
                          <a:solidFill>
                            <a:srgbClr val="3A3A3C"/>
                          </a:solidFill>
                          <a:latin typeface="Calibri" pitchFamily="34" charset="0"/>
                          <a:ea typeface="Calibri" pitchFamily="34" charset="-122"/>
                          <a:cs typeface="Calibri" pitchFamily="34" charset="-120"/>
                        </a:rPr>
                        <a:t>Recueillir les retours des apprenants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MP-08.3 </a:t>
                      </a:r>
                      <a:pPr indent="0" marL="0">
                        <a:buNone/>
                      </a:pPr>
                      <a:r>
                        <a:rPr lang="en-US" sz="1000" dirty="0">
                          <a:solidFill>
                            <a:srgbClr val="58595B"/>
                          </a:solidFill>
                          <a:latin typeface="Calibri" pitchFamily="34" charset="0"/>
                          <a:ea typeface="Calibri" pitchFamily="34" charset="-122"/>
                          <a:cs typeface="Calibri" pitchFamily="34" charset="-120"/>
                        </a:rPr>
                        <a:t>S'inscrire à l'élément recommandé</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MP-08.4 </a:t>
                      </a:r>
                      <a:pPr indent="0" marL="0">
                        <a:buNone/>
                      </a:pPr>
                      <a:r>
                        <a:rPr lang="en-US" sz="1000" dirty="0">
                          <a:solidFill>
                            <a:srgbClr val="58595B"/>
                          </a:solidFill>
                          <a:latin typeface="Calibri" pitchFamily="34" charset="0"/>
                          <a:ea typeface="Calibri" pitchFamily="34" charset="-122"/>
                          <a:cs typeface="Calibri" pitchFamily="34" charset="-120"/>
                        </a:rPr>
                        <a:t>Donner un retour sur l'apprentissage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Retour : 4,4/5 ; commentaire « plus de cas réels Soins cliniques et infirmiers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UFT-06-08
</a:t>
                      </a:r>
                      <a:pPr indent="0" marL="0">
                        <a:buNone/>
                      </a:pPr>
                      <a:r>
                        <a:rPr lang="en-US" sz="1000" b="1" dirty="0">
                          <a:solidFill>
                            <a:srgbClr val="3A3A3C"/>
                          </a:solidFill>
                          <a:latin typeface="Calibri" pitchFamily="34" charset="0"/>
                          <a:ea typeface="Calibri" pitchFamily="34" charset="-122"/>
                          <a:cs typeface="Calibri" pitchFamily="34" charset="-120"/>
                        </a:rPr>
                        <a:t>Suivre l'engagement et relancer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MP-08.5 </a:t>
                      </a:r>
                      <a:pPr indent="0" marL="0">
                        <a:buNone/>
                      </a:pPr>
                      <a:r>
                        <a:rPr lang="en-US" sz="1000" dirty="0">
                          <a:solidFill>
                            <a:srgbClr val="58595B"/>
                          </a:solidFill>
                          <a:latin typeface="Calibri" pitchFamily="34" charset="0"/>
                          <a:ea typeface="Calibri" pitchFamily="34" charset="-122"/>
                          <a:cs typeface="Calibri" pitchFamily="34" charset="-120"/>
                        </a:rPr>
                        <a:t>Suivre les indicateurs d'engagement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MP-08.6 </a:t>
                      </a:r>
                      <a:pPr indent="0" marL="0">
                        <a:buNone/>
                      </a:pPr>
                      <a:r>
                        <a:rPr lang="en-US" sz="1000" dirty="0">
                          <a:solidFill>
                            <a:srgbClr val="58595B"/>
                          </a:solidFill>
                          <a:latin typeface="Calibri" pitchFamily="34" charset="0"/>
                          <a:ea typeface="Calibri" pitchFamily="34" charset="-122"/>
                          <a:cs typeface="Calibri" pitchFamily="34" charset="-120"/>
                        </a:rPr>
                        <a:t>Déclencher une relance de réengagement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MP-24.5 </a:t>
                      </a:r>
                      <a:pPr indent="0" marL="0">
                        <a:buNone/>
                      </a:pPr>
                      <a:r>
                        <a:rPr lang="en-US" sz="1000" dirty="0">
                          <a:solidFill>
                            <a:srgbClr val="58595B"/>
                          </a:solidFill>
                          <a:latin typeface="Calibri" pitchFamily="34" charset="0"/>
                          <a:ea typeface="Calibri" pitchFamily="34" charset="-122"/>
                          <a:cs typeface="Calibri" pitchFamily="34" charset="-120"/>
                        </a:rPr>
                        <a:t>Revoir l'acceptation des recommandations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+ 5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Engagement 81 % ; relance envoyée à 9 apprenants inactifs ; risque d'abandon élevé pour 2 apprenants.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6"/>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6">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E2E-06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E2E-10, E2E-07</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 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E2E-13 · PARTITION DE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contenu à la curation puis au retrait</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Publier, maintenir et retirer les contenus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Nouveau contenu publié ou contenu dont la date de revue est dépassée.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Catalogue sélectionné, maintenu et contenus obsolètes retirés.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MP-06 Gestion des contenus et des ressources · </a:t>
            </a:r>
            <a:pPr indent="0" marL="0">
              <a:buNone/>
            </a:pPr>
            <a:r>
              <a:rPr lang="en-US" sz="1000" dirty="0">
                <a:solidFill>
                  <a:srgbClr val="58595B"/>
                </a:solidFill>
                <a:latin typeface="Calibri" pitchFamily="34" charset="0"/>
                <a:ea typeface="Calibri" pitchFamily="34" charset="-122"/>
                <a:cs typeface="Calibri" pitchFamily="34" charset="-120"/>
              </a:rPr>
              <a:t>MP-29 Moteur de curation et d'agrégation de contenus · </a:t>
            </a:r>
            <a:pPr indent="0" marL="0">
              <a:buNone/>
            </a:pPr>
            <a:r>
              <a:rPr lang="en-US" sz="1000" dirty="0">
                <a:solidFill>
                  <a:srgbClr val="58595B"/>
                </a:solidFill>
                <a:latin typeface="Calibri" pitchFamily="34" charset="0"/>
                <a:ea typeface="Calibri" pitchFamily="34" charset="-122"/>
                <a:cs typeface="Calibri" pitchFamily="34" charset="-120"/>
              </a:rPr>
              <a:t>MP-33 Contenus générés par les utilisateurs et partage de connaissances entre pairs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UFT-13-01
</a:t>
                      </a:r>
                      <a:pPr indent="0" marL="0">
                        <a:buNone/>
                      </a:pPr>
                      <a:r>
                        <a:rPr lang="en-US" sz="1000" b="1" dirty="0">
                          <a:solidFill>
                            <a:srgbClr val="3A3A3C"/>
                          </a:solidFill>
                          <a:latin typeface="Calibri" pitchFamily="34" charset="0"/>
                          <a:ea typeface="Calibri" pitchFamily="34" charset="-122"/>
                          <a:cs typeface="Calibri" pitchFamily="34" charset="-120"/>
                        </a:rPr>
                        <a:t>Agréger les catalogues fournisseurs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MP-29.1 </a:t>
                      </a:r>
                      <a:pPr indent="0" marL="0">
                        <a:buNone/>
                      </a:pPr>
                      <a:r>
                        <a:rPr lang="en-US" sz="1000" dirty="0">
                          <a:solidFill>
                            <a:srgbClr val="58595B"/>
                          </a:solidFill>
                          <a:latin typeface="Calibri" pitchFamily="34" charset="0"/>
                          <a:ea typeface="Calibri" pitchFamily="34" charset="-122"/>
                          <a:cs typeface="Calibri" pitchFamily="34" charset="-120"/>
                        </a:rPr>
                        <a:t>Agréger les catalogues fournisseurs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Agréger 2 catalogues fournisseurs (LinkedIn Learning, Coursera) : 1 240 éléments importés.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UFT-13-02
</a:t>
                      </a:r>
                      <a:pPr indent="0" marL="0">
                        <a:buNone/>
                      </a:pPr>
                      <a:r>
                        <a:rPr lang="en-US" sz="1000" b="1" dirty="0">
                          <a:solidFill>
                            <a:srgbClr val="3A3A3C"/>
                          </a:solidFill>
                          <a:latin typeface="Calibri" pitchFamily="34" charset="0"/>
                          <a:ea typeface="Calibri" pitchFamily="34" charset="-122"/>
                          <a:cs typeface="Calibri" pitchFamily="34" charset="-120"/>
                        </a:rPr>
                        <a:t>Recommander des éléments sélectionnés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MP-29.2 </a:t>
                      </a:r>
                      <a:pPr indent="0" marL="0">
                        <a:buNone/>
                      </a:pPr>
                      <a:r>
                        <a:rPr lang="en-US" sz="1000" dirty="0">
                          <a:solidFill>
                            <a:srgbClr val="58595B"/>
                          </a:solidFill>
                          <a:latin typeface="Calibri" pitchFamily="34" charset="0"/>
                          <a:ea typeface="Calibri" pitchFamily="34" charset="-122"/>
                          <a:cs typeface="Calibri" pitchFamily="34" charset="-120"/>
                        </a:rPr>
                        <a:t>Recommander des éléments sélectionnés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Garder les 15 éléments les mieux classés sur Triage IA et aide à la décision clinique ; rejeter 3 éléments de plus de 3 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UFT-13-03
</a:t>
                      </a:r>
                      <a:pPr indent="0" marL="0">
                        <a:buNone/>
                      </a:pPr>
                      <a:r>
                        <a:rPr lang="en-US" sz="1000" b="1" dirty="0">
                          <a:solidFill>
                            <a:srgbClr val="3A3A3C"/>
                          </a:solidFill>
                          <a:latin typeface="Calibri" pitchFamily="34" charset="0"/>
                          <a:ea typeface="Calibri" pitchFamily="34" charset="-122"/>
                          <a:cs typeface="Calibri" pitchFamily="34" charset="-120"/>
                        </a:rPr>
                        <a:t>Approuver et organiser les collections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MP-29.3 </a:t>
                      </a:r>
                      <a:pPr indent="0" marL="0">
                        <a:buNone/>
                      </a:pPr>
                      <a:r>
                        <a:rPr lang="en-US" sz="1000" dirty="0">
                          <a:solidFill>
                            <a:srgbClr val="58595B"/>
                          </a:solidFill>
                          <a:latin typeface="Calibri" pitchFamily="34" charset="0"/>
                          <a:ea typeface="Calibri" pitchFamily="34" charset="-122"/>
                          <a:cs typeface="Calibri" pitchFamily="34" charset="-120"/>
                        </a:rPr>
                        <a:t>Approuver l'élément sélectionné</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MP-29.4 </a:t>
                      </a:r>
                      <a:pPr indent="0" marL="0">
                        <a:buNone/>
                      </a:pPr>
                      <a:r>
                        <a:rPr lang="en-US" sz="1000" dirty="0">
                          <a:solidFill>
                            <a:srgbClr val="58595B"/>
                          </a:solidFill>
                          <a:latin typeface="Calibri" pitchFamily="34" charset="0"/>
                          <a:ea typeface="Calibri" pitchFamily="34" charset="-122"/>
                          <a:cs typeface="Calibri" pitchFamily="34" charset="-120"/>
                        </a:rPr>
                        <a:t>Organiser une collection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Collection « Kit de démarrage Triage IA et aide à la décision clinique » : 8 éléments, public encadrants, revue dans 12 mois.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UFT-13-04
</a:t>
                      </a:r>
                      <a:pPr indent="0" marL="0">
                        <a:buNone/>
                      </a:pPr>
                      <a:r>
                        <a:rPr lang="en-US" sz="1000" b="1" dirty="0">
                          <a:solidFill>
                            <a:srgbClr val="3A3A3C"/>
                          </a:solidFill>
                          <a:latin typeface="Calibri" pitchFamily="34" charset="0"/>
                          <a:ea typeface="Calibri" pitchFamily="34" charset="-122"/>
                          <a:cs typeface="Calibri" pitchFamily="34" charset="-120"/>
                        </a:rPr>
                        <a:t>Revoir les contenus entre pairs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MP-33.1 </a:t>
                      </a:r>
                      <a:pPr indent="0" marL="0">
                        <a:buNone/>
                      </a:pPr>
                      <a:r>
                        <a:rPr lang="en-US" sz="1000" dirty="0">
                          <a:solidFill>
                            <a:srgbClr val="58595B"/>
                          </a:solidFill>
                          <a:latin typeface="Calibri" pitchFamily="34" charset="0"/>
                          <a:ea typeface="Calibri" pitchFamily="34" charset="-122"/>
                          <a:cs typeface="Calibri" pitchFamily="34" charset="-120"/>
                        </a:rPr>
                        <a:t>Soumettre un contenu utilisateur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MP-33.2 </a:t>
                      </a:r>
                      <a:pPr indent="0" marL="0">
                        <a:buNone/>
                      </a:pPr>
                      <a:r>
                        <a:rPr lang="en-US" sz="1000" dirty="0">
                          <a:solidFill>
                            <a:srgbClr val="58595B"/>
                          </a:solidFill>
                          <a:latin typeface="Calibri" pitchFamily="34" charset="0"/>
                          <a:ea typeface="Calibri" pitchFamily="34" charset="-122"/>
                          <a:cs typeface="Calibri" pitchFamily="34" charset="-120"/>
                        </a:rPr>
                        <a:t>Vérifier le contenu au regard de la politique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MP-33.3 </a:t>
                      </a:r>
                      <a:pPr indent="0" marL="0">
                        <a:buNone/>
                      </a:pPr>
                      <a:r>
                        <a:rPr lang="en-US" sz="1000" dirty="0">
                          <a:solidFill>
                            <a:srgbClr val="58595B"/>
                          </a:solidFill>
                          <a:latin typeface="Calibri" pitchFamily="34" charset="0"/>
                          <a:ea typeface="Calibri" pitchFamily="34" charset="-122"/>
                          <a:cs typeface="Calibri" pitchFamily="34" charset="-120"/>
                        </a:rPr>
                        <a:t>Relecture par les pairs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Vidéo pair « Comment nous utilisons Assistance IA en imagerie médicale au poste » revue par un expert : approuvée avec 1 correction.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UFT-13-05
</a:t>
                      </a:r>
                      <a:pPr indent="0" marL="0">
                        <a:buNone/>
                      </a:pPr>
                      <a:r>
                        <a:rPr lang="en-US" sz="1000" b="1" dirty="0">
                          <a:solidFill>
                            <a:srgbClr val="3A3A3C"/>
                          </a:solidFill>
                          <a:latin typeface="Calibri" pitchFamily="34" charset="0"/>
                          <a:ea typeface="Calibri" pitchFamily="34" charset="-122"/>
                          <a:cs typeface="Calibri" pitchFamily="34" charset="-120"/>
                        </a:rPr>
                        <a:t>Promouvoir et noter les contenus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MP-33.5 </a:t>
                      </a:r>
                      <a:pPr indent="0" marL="0">
                        <a:buNone/>
                      </a:pPr>
                      <a:r>
                        <a:rPr lang="en-US" sz="1000" dirty="0">
                          <a:solidFill>
                            <a:srgbClr val="58595B"/>
                          </a:solidFill>
                          <a:latin typeface="Calibri" pitchFamily="34" charset="0"/>
                          <a:ea typeface="Calibri" pitchFamily="34" charset="-122"/>
                          <a:cs typeface="Calibri" pitchFamily="34" charset="-120"/>
                        </a:rPr>
                        <a:t>Transmettre le contenu approuvé à la curation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MP-33.6 </a:t>
                      </a:r>
                      <a:pPr indent="0" marL="0">
                        <a:buNone/>
                      </a:pPr>
                      <a:r>
                        <a:rPr lang="en-US" sz="1000" dirty="0">
                          <a:solidFill>
                            <a:srgbClr val="58595B"/>
                          </a:solidFill>
                          <a:latin typeface="Calibri" pitchFamily="34" charset="0"/>
                          <a:ea typeface="Calibri" pitchFamily="34" charset="-122"/>
                          <a:cs typeface="Calibri" pitchFamily="34" charset="-120"/>
                        </a:rPr>
                        <a:t>Noter un contenu utilisateur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Envoyer le contenu pair approuvé à la curation ; note moyenne des apprenants 4,5/5.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3"/>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3-04 Revoir les contenus entre pair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UFT-13-04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E2E-13 · PARTITION DE E2E-05</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contenu à la curation puis au retrait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UFT-13-06
</a:t>
                      </a:r>
                      <a:pPr indent="0" marL="0">
                        <a:buNone/>
                      </a:pPr>
                      <a:r>
                        <a:rPr lang="en-US" sz="1000" b="1" dirty="0">
                          <a:solidFill>
                            <a:srgbClr val="3A3A3C"/>
                          </a:solidFill>
                          <a:latin typeface="Calibri" pitchFamily="34" charset="0"/>
                          <a:ea typeface="Calibri" pitchFamily="34" charset="-122"/>
                          <a:cs typeface="Calibri" pitchFamily="34" charset="-120"/>
                        </a:rPr>
                        <a:t>Signaler les contenus dont la date de revue est dépassée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MP-29.5 </a:t>
                      </a:r>
                      <a:pPr indent="0" marL="0">
                        <a:buNone/>
                      </a:pPr>
                      <a:r>
                        <a:rPr lang="en-US" sz="1000" dirty="0">
                          <a:solidFill>
                            <a:srgbClr val="58595B"/>
                          </a:solidFill>
                          <a:latin typeface="Calibri" pitchFamily="34" charset="0"/>
                          <a:ea typeface="Calibri" pitchFamily="34" charset="-122"/>
                          <a:cs typeface="Calibri" pitchFamily="34" charset="-120"/>
                        </a:rPr>
                        <a:t>Signaler les contenus dont la date de revue est dépassée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14 éléments dépassant la date de revue signalés ; propriétaires notifiés.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UFT-13-07
</a:t>
                      </a:r>
                      <a:pPr indent="0" marL="0">
                        <a:buNone/>
                      </a:pPr>
                      <a:r>
                        <a:rPr lang="en-US" sz="1000" b="1" dirty="0">
                          <a:solidFill>
                            <a:srgbClr val="3A3A3C"/>
                          </a:solidFill>
                          <a:latin typeface="Calibri" pitchFamily="34" charset="0"/>
                          <a:ea typeface="Calibri" pitchFamily="34" charset="-122"/>
                          <a:cs typeface="Calibri" pitchFamily="34" charset="-120"/>
                        </a:rPr>
                        <a:t>Retirer les contenus obsolètes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MP-29.6 </a:t>
                      </a:r>
                      <a:pPr indent="0" marL="0">
                        <a:buNone/>
                      </a:pPr>
                      <a:r>
                        <a:rPr lang="en-US" sz="1000" dirty="0">
                          <a:solidFill>
                            <a:srgbClr val="58595B"/>
                          </a:solidFill>
                          <a:latin typeface="Calibri" pitchFamily="34" charset="0"/>
                          <a:ea typeface="Calibri" pitchFamily="34" charset="-122"/>
                          <a:cs typeface="Calibri" pitchFamily="34" charset="-120"/>
                        </a:rPr>
                        <a:t>Retirer les contenus obsolètes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MP-25.6 </a:t>
                      </a:r>
                      <a:pPr indent="0" marL="0">
                        <a:buNone/>
                      </a:pPr>
                      <a:r>
                        <a:rPr lang="en-US" sz="1000" dirty="0">
                          <a:solidFill>
                            <a:srgbClr val="58595B"/>
                          </a:solidFill>
                          <a:latin typeface="Calibri" pitchFamily="34" charset="0"/>
                          <a:ea typeface="Calibri" pitchFamily="34" charset="-122"/>
                          <a:cs typeface="Calibri" pitchFamily="34" charset="-120"/>
                        </a:rPr>
                        <a:t>Retirer une capsule à faible valeur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Retirer 6 éléments obsolètes et 2 capsules à faible valeur ; santé de la bibliothèque 92 %.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3"/>
          <p:cNvSpPr/>
          <p:nvPr/>
        </p:nvSpPr>
        <p:spPr>
          <a:xfrm>
            <a:off x="2249439" y="2907792"/>
            <a:ext cx="4279362" cy="31363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3">    </p:cNvPr>
          <p:cNvPicPr>
            <a:picLocks noChangeAspect="1"/>
          </p:cNvPicPr>
          <p:nvPr/>
        </p:nvPicPr>
        <p:blipFill>
          <a:blip r:embed="rId1"/>
          <a:stretch>
            <a:fillRect/>
          </a:stretch>
        </p:blipFill>
        <p:spPr>
          <a:xfrm>
            <a:off x="2304303" y="2962656"/>
            <a:ext cx="4169634" cy="30266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E2E-13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MP-06 Gestion des contenus et des ressources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MP-29 Moteur de curation et d'agrégation de contenus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MP-33 Contenus générés par les utilisateurs et partage de connaissances entre pairs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E2E-14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Formation de l'entreprise étendue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Certifier les partenaires et former les clients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Lancement d'un programme de formation partenaires, revendeurs ou clients.</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Apprenants externes formés, facturés et certifiés.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MP-22 Entreprise étendue et formation externe · </a:t>
            </a:r>
            <a:pPr indent="0" marL="0">
              <a:buNone/>
            </a:pPr>
            <a:r>
              <a:rPr lang="en-US" sz="1000" dirty="0">
                <a:solidFill>
                  <a:srgbClr val="58595B"/>
                </a:solidFill>
                <a:latin typeface="Calibri" pitchFamily="34" charset="0"/>
                <a:ea typeface="Calibri" pitchFamily="34" charset="-122"/>
                <a:cs typeface="Calibri" pitchFamily="34" charset="-120"/>
              </a:rPr>
              <a:t>MP-07 Réalisation et mise en œuvre de la formation · </a:t>
            </a:r>
            <a:pPr indent="0" marL="0">
              <a:buNone/>
            </a:pPr>
            <a:r>
              <a:rPr lang="en-US" sz="1000" dirty="0">
                <a:solidFill>
                  <a:srgbClr val="58595B"/>
                </a:solidFill>
                <a:latin typeface="Calibri" pitchFamily="34" charset="0"/>
                <a:ea typeface="Calibri" pitchFamily="34" charset="-122"/>
                <a:cs typeface="Calibri" pitchFamily="34" charset="-120"/>
              </a:rPr>
              <a:t>MP-14 Gestion de la conformité et des certifications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UFT-14-01
</a:t>
                      </a:r>
                      <a:pPr indent="0" marL="0">
                        <a:buNone/>
                      </a:pPr>
                      <a:r>
                        <a:rPr lang="en-US" sz="1000" b="1" dirty="0">
                          <a:solidFill>
                            <a:srgbClr val="3A3A3C"/>
                          </a:solidFill>
                          <a:latin typeface="Calibri" pitchFamily="34" charset="0"/>
                          <a:ea typeface="Calibri" pitchFamily="34" charset="-122"/>
                          <a:cs typeface="Calibri" pitchFamily="34" charset="-120"/>
                        </a:rPr>
                        <a:t>Créer un sous-portail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MP-22.1 </a:t>
                      </a:r>
                      <a:pPr indent="0" marL="0">
                        <a:buNone/>
                      </a:pPr>
                      <a:r>
                        <a:rPr lang="en-US" sz="1000" dirty="0">
                          <a:solidFill>
                            <a:srgbClr val="58595B"/>
                          </a:solidFill>
                          <a:latin typeface="Calibri" pitchFamily="34" charset="0"/>
                          <a:ea typeface="Calibri" pitchFamily="34" charset="-122"/>
                          <a:cs typeface="Calibri" pitchFamily="34" charset="-120"/>
                        </a:rPr>
                        <a:t>Créer un sous-portail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Sous-portail « Académie partenaires — Groupe Santéora Cliniques Privées » créé pour distributeurs et installateurs.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UFT-14-02
</a:t>
                      </a:r>
                      <a:pPr indent="0" marL="0">
                        <a:buNone/>
                      </a:pPr>
                      <a:r>
                        <a:rPr lang="en-US" sz="1000" b="1" dirty="0">
                          <a:solidFill>
                            <a:srgbClr val="3A3A3C"/>
                          </a:solidFill>
                          <a:latin typeface="Calibri" pitchFamily="34" charset="0"/>
                          <a:ea typeface="Calibri" pitchFamily="34" charset="-122"/>
                          <a:cs typeface="Calibri" pitchFamily="34" charset="-120"/>
                        </a:rPr>
                        <a:t>Configurer le catalogue et les tarifs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MP-22.2 </a:t>
                      </a:r>
                      <a:pPr indent="0" marL="0">
                        <a:buNone/>
                      </a:pPr>
                      <a:r>
                        <a:rPr lang="en-US" sz="1000" dirty="0">
                          <a:solidFill>
                            <a:srgbClr val="58595B"/>
                          </a:solidFill>
                          <a:latin typeface="Calibri" pitchFamily="34" charset="0"/>
                          <a:ea typeface="Calibri" pitchFamily="34" charset="-122"/>
                          <a:cs typeface="Calibri" pitchFamily="34" charset="-120"/>
                        </a:rPr>
                        <a:t>Configurer le catalogue externe et les tarifs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MP-18.1 </a:t>
                      </a:r>
                      <a:pPr indent="0" marL="0">
                        <a:buNone/>
                      </a:pPr>
                      <a:r>
                        <a:rPr lang="en-US" sz="1000" dirty="0">
                          <a:solidFill>
                            <a:srgbClr val="58595B"/>
                          </a:solidFill>
                          <a:latin typeface="Calibri" pitchFamily="34" charset="0"/>
                          <a:ea typeface="Calibri" pitchFamily="34" charset="-122"/>
                          <a:cs typeface="Calibri" pitchFamily="34" charset="-120"/>
                        </a:rPr>
                        <a:t>Répartir le budget par thème et par site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Catalogue : « ISO 7101 pour partenaires » 1 200 MAD ; « Certification Triage IA et aide à la décision clinique » 2 400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UFT-14-03
</a:t>
                      </a:r>
                      <a:pPr indent="0" marL="0">
                        <a:buNone/>
                      </a:pPr>
                      <a:r>
                        <a:rPr lang="en-US" sz="1000" b="1" dirty="0">
                          <a:solidFill>
                            <a:srgbClr val="3A3A3C"/>
                          </a:solidFill>
                          <a:latin typeface="Calibri" pitchFamily="34" charset="0"/>
                          <a:ea typeface="Calibri" pitchFamily="34" charset="-122"/>
                          <a:cs typeface="Calibri" pitchFamily="34" charset="-120"/>
                        </a:rPr>
                        <a:t>Traiter le paiement et inscrire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MP-22.3 </a:t>
                      </a:r>
                      <a:pPr indent="0" marL="0">
                        <a:buNone/>
                      </a:pPr>
                      <a:r>
                        <a:rPr lang="en-US" sz="1000" dirty="0">
                          <a:solidFill>
                            <a:srgbClr val="58595B"/>
                          </a:solidFill>
                          <a:latin typeface="Calibri" pitchFamily="34" charset="0"/>
                          <a:ea typeface="Calibri" pitchFamily="34" charset="-122"/>
                          <a:cs typeface="Calibri" pitchFamily="34" charset="-120"/>
                        </a:rPr>
                        <a:t>Traiter le paiement en ligne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MP-22.4 </a:t>
                      </a:r>
                      <a:pPr indent="0" marL="0">
                        <a:buNone/>
                      </a:pPr>
                      <a:r>
                        <a:rPr lang="en-US" sz="1000" dirty="0">
                          <a:solidFill>
                            <a:srgbClr val="58595B"/>
                          </a:solidFill>
                          <a:latin typeface="Calibri" pitchFamily="34" charset="0"/>
                          <a:ea typeface="Calibri" pitchFamily="34" charset="-122"/>
                          <a:cs typeface="Calibri" pitchFamily="34" charset="-120"/>
                        </a:rPr>
                        <a:t>Inscrire l'apprenant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18 paiements en ligne traités ; 18 apprenants externes inscrits.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UFT-14-04
</a:t>
                      </a:r>
                      <a:pPr indent="0" marL="0">
                        <a:buNone/>
                      </a:pPr>
                      <a:r>
                        <a:rPr lang="en-US" sz="1000" b="1" dirty="0">
                          <a:solidFill>
                            <a:srgbClr val="3A3A3C"/>
                          </a:solidFill>
                          <a:latin typeface="Calibri" pitchFamily="34" charset="0"/>
                          <a:ea typeface="Calibri" pitchFamily="34" charset="-122"/>
                          <a:cs typeface="Calibri" pitchFamily="34" charset="-120"/>
                        </a:rPr>
                        <a:t>Réaliser les sessions externes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MP-07.1 </a:t>
                      </a:r>
                      <a:pPr indent="0" marL="0">
                        <a:buNone/>
                      </a:pPr>
                      <a:r>
                        <a:rPr lang="en-US" sz="1000" dirty="0">
                          <a:solidFill>
                            <a:srgbClr val="58595B"/>
                          </a:solidFill>
                          <a:latin typeface="Calibri" pitchFamily="34" charset="0"/>
                          <a:ea typeface="Calibri" pitchFamily="34" charset="-122"/>
                          <a:cs typeface="Calibri" pitchFamily="34" charset="-120"/>
                        </a:rPr>
                        <a:t>Créer la session de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MP-07.5 </a:t>
                      </a:r>
                      <a:pPr indent="0" marL="0">
                        <a:buNone/>
                      </a:pPr>
                      <a:r>
                        <a:rPr lang="en-US" sz="1000" dirty="0">
                          <a:solidFill>
                            <a:srgbClr val="58595B"/>
                          </a:solidFill>
                          <a:latin typeface="Calibri" pitchFamily="34" charset="0"/>
                          <a:ea typeface="Calibri" pitchFamily="34" charset="-122"/>
                          <a:cs typeface="Calibri" pitchFamily="34" charset="-120"/>
                        </a:rPr>
                        <a:t>Enregistrer la présence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Session P-01 (virtuelle), 18 invités, 16 présents.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UFT-14-05
</a:t>
                      </a:r>
                      <a:pPr indent="0" marL="0">
                        <a:buNone/>
                      </a:pPr>
                      <a:r>
                        <a:rPr lang="en-US" sz="1000" b="1" dirty="0">
                          <a:solidFill>
                            <a:srgbClr val="3A3A3C"/>
                          </a:solidFill>
                          <a:latin typeface="Calibri" pitchFamily="34" charset="0"/>
                          <a:ea typeface="Calibri" pitchFamily="34" charset="-122"/>
                          <a:cs typeface="Calibri" pitchFamily="34" charset="-120"/>
                        </a:rPr>
                        <a:t>Suivre l'achèvement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MP-22.5 </a:t>
                      </a:r>
                      <a:pPr indent="0" marL="0">
                        <a:buNone/>
                      </a:pPr>
                      <a:r>
                        <a:rPr lang="en-US" sz="1000" dirty="0">
                          <a:solidFill>
                            <a:srgbClr val="58595B"/>
                          </a:solidFill>
                          <a:latin typeface="Calibri" pitchFamily="34" charset="0"/>
                          <a:ea typeface="Calibri" pitchFamily="34" charset="-122"/>
                          <a:cs typeface="Calibri" pitchFamily="34" charset="-120"/>
                        </a:rPr>
                        <a:t>Suivre l'achèvement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Achèvement : 15 sur 16 ont réussi le quiz final.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4"/>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4-02 Configurer le catalogue et les tarif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UFT-14-02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4 · E2E-14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Formation de l'entreprise étendue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UFT-14-06
</a:t>
                      </a:r>
                      <a:pPr indent="0" marL="0">
                        <a:buNone/>
                      </a:pPr>
                      <a:r>
                        <a:rPr lang="en-US" sz="1000" b="1" dirty="0">
                          <a:solidFill>
                            <a:srgbClr val="3A3A3C"/>
                          </a:solidFill>
                          <a:latin typeface="Calibri" pitchFamily="34" charset="0"/>
                          <a:ea typeface="Calibri" pitchFamily="34" charset="-122"/>
                          <a:cs typeface="Calibri" pitchFamily="34" charset="-120"/>
                        </a:rPr>
                        <a:t>Délivrer la certification partenaire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MP-22.6 </a:t>
                      </a:r>
                      <a:pPr indent="0" marL="0">
                        <a:buNone/>
                      </a:pPr>
                      <a:r>
                        <a:rPr lang="en-US" sz="1000" dirty="0">
                          <a:solidFill>
                            <a:srgbClr val="58595B"/>
                          </a:solidFill>
                          <a:latin typeface="Calibri" pitchFamily="34" charset="0"/>
                          <a:ea typeface="Calibri" pitchFamily="34" charset="-122"/>
                          <a:cs typeface="Calibri" pitchFamily="34" charset="-120"/>
                        </a:rPr>
                        <a:t>Délivrer la certification partenaire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MP-14.4 </a:t>
                      </a:r>
                      <a:pPr indent="0" marL="0">
                        <a:buNone/>
                      </a:pPr>
                      <a:r>
                        <a:rPr lang="en-US" sz="1000" dirty="0">
                          <a:solidFill>
                            <a:srgbClr val="58595B"/>
                          </a:solidFill>
                          <a:latin typeface="Calibri" pitchFamily="34" charset="0"/>
                          <a:ea typeface="Calibri" pitchFamily="34" charset="-122"/>
                          <a:cs typeface="Calibri" pitchFamily="34" charset="-120"/>
                        </a:rPr>
                        <a:t>Délivrer le certificat à l'achèvement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Émettre 15 certificats partenaires valables 2 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UFT-14-07
</a:t>
                      </a:r>
                      <a:pPr indent="0" marL="0">
                        <a:buNone/>
                      </a:pPr>
                      <a:r>
                        <a:rPr lang="en-US" sz="1000" b="1" dirty="0">
                          <a:solidFill>
                            <a:srgbClr val="3A3A3C"/>
                          </a:solidFill>
                          <a:latin typeface="Calibri" pitchFamily="34" charset="0"/>
                          <a:ea typeface="Calibri" pitchFamily="34" charset="-122"/>
                          <a:cs typeface="Calibri" pitchFamily="34" charset="-120"/>
                        </a:rPr>
                        <a:t>Rapprocher les revenus externes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MP-18.3 </a:t>
                      </a:r>
                      <a:pPr indent="0" marL="0">
                        <a:buNone/>
                      </a:pPr>
                      <a:r>
                        <a:rPr lang="en-US" sz="1000" dirty="0">
                          <a:solidFill>
                            <a:srgbClr val="58595B"/>
                          </a:solidFill>
                          <a:latin typeface="Calibri" pitchFamily="34" charset="0"/>
                          <a:ea typeface="Calibri" pitchFamily="34" charset="-122"/>
                          <a:cs typeface="Calibri" pitchFamily="34" charset="-120"/>
                        </a:rPr>
                        <a:t>Enregistrer les engagements et coûts réels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MP-18.4 </a:t>
                      </a:r>
                      <a:pPr indent="0" marL="0">
                        <a:buNone/>
                      </a:pPr>
                      <a:r>
                        <a:rPr lang="en-US" sz="1000" dirty="0">
                          <a:solidFill>
                            <a:srgbClr val="58595B"/>
                          </a:solidFill>
                          <a:latin typeface="Calibri" pitchFamily="34" charset="0"/>
                          <a:ea typeface="Calibri" pitchFamily="34" charset="-122"/>
                          <a:cs typeface="Calibri" pitchFamily="34" charset="-120"/>
                        </a:rPr>
                        <a:t>Comparer les dépenses au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Chiffre d'affaires 43 200 MAD rapproché avec l'ERP ; 0 impayé.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4"/>
          <p:cNvSpPr/>
          <p:nvPr/>
        </p:nvSpPr>
        <p:spPr>
          <a:xfrm>
            <a:off x="2249439" y="2907792"/>
            <a:ext cx="4279362" cy="31363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4">    </p:cNvPr>
          <p:cNvPicPr>
            <a:picLocks noChangeAspect="1"/>
          </p:cNvPicPr>
          <p:nvPr/>
        </p:nvPicPr>
        <p:blipFill>
          <a:blip r:embed="rId1"/>
          <a:stretch>
            <a:fillRect/>
          </a:stretch>
        </p:blipFill>
        <p:spPr>
          <a:xfrm>
            <a:off x="2304303" y="2962656"/>
            <a:ext cx="4169634" cy="30266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E2E-14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MP-22 Entreprise étendue et formation externe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Réalisation et mise en œuvre de la formation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MP-14 Gestion de la conformité et des certifications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Gestion financière et budgétaire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E2E-16</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05</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5</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Évaluation, conformité et impact</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4 processus · 26 tâches · 43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8 août 2026 – 31 août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Fermée par G5 — Évaluation et impact validés</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E2E-07   De l'évaluation des acquis à l'évaluation de l'efficacité</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E2E-08   De l'apprentissage au ROI</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E2E-09   De la conformité à la certification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HCPR-E2E-01   Conformité et préparation à la certification — Établissements de santé</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E2E-07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l'évaluation des acquis à l'évaluation de l'efficacité</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Mesurer l'efficacité de la formation et la progression des compétences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Session ou parcours de formation terminé.</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Efficacité mesurée sur les niveaux Kirkpatrick 1 à 3 et progression des compétences calculée.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12 étapes
</a:t>
            </a:r>
            <a:pPr indent="0" marL="0">
              <a:buNone/>
            </a:pPr>
            <a:r>
              <a:rPr lang="en-US" sz="1100" dirty="0">
                <a:solidFill>
                  <a:srgbClr val="3A3A3C"/>
                </a:solidFill>
                <a:latin typeface="Calibri" pitchFamily="34" charset="0"/>
                <a:ea typeface="Calibri" pitchFamily="34" charset="-122"/>
                <a:cs typeface="Calibri" pitchFamily="34" charset="-120"/>
              </a:rPr>
              <a:t>23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MP-09 Évaluation · </a:t>
            </a:r>
            <a:pPr indent="0" marL="0">
              <a:buNone/>
            </a:pPr>
            <a:r>
              <a:rPr lang="en-US" sz="1000" dirty="0">
                <a:solidFill>
                  <a:srgbClr val="58595B"/>
                </a:solidFill>
                <a:latin typeface="Calibri" pitchFamily="34" charset="0"/>
                <a:ea typeface="Calibri" pitchFamily="34" charset="-122"/>
                <a:cs typeface="Calibri" pitchFamily="34" charset="-120"/>
              </a:rPr>
              <a:t>MP-10 Reporting et analyses · </a:t>
            </a:r>
            <a:pPr indent="0" marL="0">
              <a:buNone/>
            </a:pPr>
            <a:r>
              <a:rPr lang="en-US" sz="1000" dirty="0">
                <a:solidFill>
                  <a:srgbClr val="58595B"/>
                </a:solidFill>
                <a:latin typeface="Calibri" pitchFamily="34" charset="0"/>
                <a:ea typeface="Calibri" pitchFamily="34" charset="-122"/>
                <a:cs typeface="Calibri" pitchFamily="34" charset="-120"/>
              </a:rPr>
              <a:t>MP-20 Qualité, risques et amélioration continue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UFT-07-01
</a:t>
                      </a:r>
                      <a:pPr indent="0" marL="0">
                        <a:buNone/>
                      </a:pPr>
                      <a:r>
                        <a:rPr lang="en-US" sz="1000" b="1" dirty="0">
                          <a:solidFill>
                            <a:srgbClr val="3A3A3C"/>
                          </a:solidFill>
                          <a:latin typeface="Calibri" pitchFamily="34" charset="0"/>
                          <a:ea typeface="Calibri" pitchFamily="34" charset="-122"/>
                          <a:cs typeface="Calibri" pitchFamily="34" charset="-120"/>
                        </a:rPr>
                        <a:t>Créer l'instrument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MP-09.1 </a:t>
                      </a:r>
                      <a:pPr indent="0" marL="0">
                        <a:buNone/>
                      </a:pPr>
                      <a:r>
                        <a:rPr lang="en-US" sz="1000" dirty="0">
                          <a:solidFill>
                            <a:srgbClr val="58595B"/>
                          </a:solidFill>
                          <a:latin typeface="Calibri" pitchFamily="34" charset="0"/>
                          <a:ea typeface="Calibri" pitchFamily="34" charset="-122"/>
                          <a:cs typeface="Calibri" pitchFamily="34" charset="-120"/>
                        </a:rPr>
                        <a:t>Créer l'instrument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Instrument « Test Triage IA et aide à la décision clinique M1 » : 15 questions, seuil de réussite 70 %.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UFT-07-02
</a:t>
                      </a:r>
                      <a:pPr indent="0" marL="0">
                        <a:buNone/>
                      </a:pPr>
                      <a:r>
                        <a:rPr lang="en-US" sz="1000" b="1" dirty="0">
                          <a:solidFill>
                            <a:srgbClr val="3A3A3C"/>
                          </a:solidFill>
                          <a:latin typeface="Calibri" pitchFamily="34" charset="0"/>
                          <a:ea typeface="Calibri" pitchFamily="34" charset="-122"/>
                          <a:cs typeface="Calibri" pitchFamily="34" charset="-120"/>
                        </a:rPr>
                        <a:t>Rédiger la banque de questions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MP-09.2 </a:t>
                      </a:r>
                      <a:pPr indent="0" marL="0">
                        <a:buNone/>
                      </a:pPr>
                      <a:r>
                        <a:rPr lang="en-US" sz="1000" dirty="0">
                          <a:solidFill>
                            <a:srgbClr val="58595B"/>
                          </a:solidFill>
                          <a:latin typeface="Calibri" pitchFamily="34" charset="0"/>
                          <a:ea typeface="Calibri" pitchFamily="34" charset="-122"/>
                          <a:cs typeface="Calibri" pitchFamily="34" charset="-120"/>
                        </a:rPr>
                        <a:t>Générer un projet de banque de questions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Ghita Bouzidi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Garder 12 questions rédigées par l'IA, réécrire 3 avec le vocabulaire Soins cliniques et infirmiers ; valider chacune.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UFT-07-03
</a:t>
                      </a:r>
                      <a:pPr indent="0" marL="0">
                        <a:buNone/>
                      </a:pPr>
                      <a:r>
                        <a:rPr lang="en-US" sz="1000" b="1" dirty="0">
                          <a:solidFill>
                            <a:srgbClr val="3A3A3C"/>
                          </a:solidFill>
                          <a:latin typeface="Calibri" pitchFamily="34" charset="0"/>
                          <a:ea typeface="Calibri" pitchFamily="34" charset="-122"/>
                          <a:cs typeface="Calibri" pitchFamily="34" charset="-120"/>
                        </a:rPr>
                        <a:t>Recueillir le questionnaire de satisfaction (niveau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MP-09.3 </a:t>
                      </a:r>
                      <a:pPr indent="0" marL="0">
                        <a:buNone/>
                      </a:pPr>
                      <a:r>
                        <a:rPr lang="en-US" sz="1000" dirty="0">
                          <a:solidFill>
                            <a:srgbClr val="58595B"/>
                          </a:solidFill>
                          <a:latin typeface="Calibri" pitchFamily="34" charset="0"/>
                          <a:ea typeface="Calibri" pitchFamily="34" charset="-122"/>
                          <a:cs typeface="Calibri" pitchFamily="34" charset="-120"/>
                        </a:rPr>
                        <a:t>Recueillir le questionnaire de satisfaction (niveau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Enquête à chaud S-01 : 11 réponses, satisfaction 4,3/5.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UFT-07-04
</a:t>
                      </a:r>
                      <a:pPr indent="0" marL="0">
                        <a:buNone/>
                      </a:pPr>
                      <a:r>
                        <a:rPr lang="en-US" sz="1000" b="1" dirty="0">
                          <a:solidFill>
                            <a:srgbClr val="3A3A3C"/>
                          </a:solidFill>
                          <a:latin typeface="Calibri" pitchFamily="34" charset="0"/>
                          <a:ea typeface="Calibri" pitchFamily="34" charset="-122"/>
                          <a:cs typeface="Calibri" pitchFamily="34" charset="-120"/>
                        </a:rPr>
                        <a:t>Enregistrer les résultats d'apprentissage (niveau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MP-09.4 </a:t>
                      </a:r>
                      <a:pPr indent="0" marL="0">
                        <a:buNone/>
                      </a:pPr>
                      <a:r>
                        <a:rPr lang="en-US" sz="1000" dirty="0">
                          <a:solidFill>
                            <a:srgbClr val="58595B"/>
                          </a:solidFill>
                          <a:latin typeface="Calibri" pitchFamily="34" charset="0"/>
                          <a:ea typeface="Calibri" pitchFamily="34" charset="-122"/>
                          <a:cs typeface="Calibri" pitchFamily="34" charset="-120"/>
                        </a:rPr>
                        <a:t>Enregistrer les résultats d'apprentissage (niveau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Niveau 2 : pré-test moyen 48 %, post-test 81 % (+33 points).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UFT-07-05
</a:t>
                      </a:r>
                      <a:pPr indent="0" marL="0">
                        <a:buNone/>
                      </a:pPr>
                      <a:r>
                        <a:rPr lang="en-US" sz="1000" b="1" dirty="0">
                          <a:solidFill>
                            <a:srgbClr val="3A3A3C"/>
                          </a:solidFill>
                          <a:latin typeface="Calibri" pitchFamily="34" charset="0"/>
                          <a:ea typeface="Calibri" pitchFamily="34" charset="-122"/>
                          <a:cs typeface="Calibri" pitchFamily="34" charset="-120"/>
                        </a:rPr>
                        <a:t>Enregistrer l'observation en situation de travail (niveau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MP-09.5 </a:t>
                      </a:r>
                      <a:pPr indent="0" marL="0">
                        <a:buNone/>
                      </a:pPr>
                      <a:r>
                        <a:rPr lang="en-US" sz="1000" dirty="0">
                          <a:solidFill>
                            <a:srgbClr val="58595B"/>
                          </a:solidFill>
                          <a:latin typeface="Calibri" pitchFamily="34" charset="0"/>
                          <a:ea typeface="Calibri" pitchFamily="34" charset="-122"/>
                          <a:cs typeface="Calibri" pitchFamily="34" charset="-120"/>
                        </a:rPr>
                        <a:t>Enregistrer l'observation en situation de travail (niveau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Niveau 3 (J+30) : 9 encadrants sur 11 appliquent la routine Triage IA et aide à la décision clinique chaque jour.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7"/>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7-02 Rédiger la banque de question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UFT-07-02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E2E-07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l'évaluation des acquis à l'évaluation de l'efficacité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UFT-07-06
</a:t>
                      </a:r>
                      <a:pPr indent="0" marL="0">
                        <a:buNone/>
                      </a:pPr>
                      <a:r>
                        <a:rPr lang="en-US" sz="1000" b="1" dirty="0">
                          <a:solidFill>
                            <a:srgbClr val="3A3A3C"/>
                          </a:solidFill>
                          <a:latin typeface="Calibri" pitchFamily="34" charset="0"/>
                          <a:ea typeface="Calibri" pitchFamily="34" charset="-122"/>
                          <a:cs typeface="Calibri" pitchFamily="34" charset="-120"/>
                        </a:rPr>
                        <a:t>Calculer la progression des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MP-09.6 </a:t>
                      </a:r>
                      <a:pPr indent="0" marL="0">
                        <a:buNone/>
                      </a:pPr>
                      <a:r>
                        <a:rPr lang="en-US" sz="1000" dirty="0">
                          <a:solidFill>
                            <a:srgbClr val="58595B"/>
                          </a:solidFill>
                          <a:latin typeface="Calibri" pitchFamily="34" charset="0"/>
                          <a:ea typeface="Calibri" pitchFamily="34" charset="-122"/>
                          <a:cs typeface="Calibri" pitchFamily="34" charset="-120"/>
                        </a:rPr>
                        <a:t>Calculer la progression des compétences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MP-10.3 </a:t>
                      </a:r>
                      <a:pPr indent="0" marL="0">
                        <a:buNone/>
                      </a:pPr>
                      <a:r>
                        <a:rPr lang="en-US" sz="1000" dirty="0">
                          <a:solidFill>
                            <a:srgbClr val="58595B"/>
                          </a:solidFill>
                          <a:latin typeface="Calibri" pitchFamily="34" charset="0"/>
                          <a:ea typeface="Calibri" pitchFamily="34" charset="-122"/>
                          <a:cs typeface="Calibri" pitchFamily="34" charset="-120"/>
                        </a:rPr>
                        <a:t>Actualiser le calcul des indicateurs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Progression : Triage IA et aide à la décision clinique de 1,8 à 2,7 (cible 3).</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UFT-07-07
</a:t>
                      </a:r>
                      <a:pPr indent="0" marL="0">
                        <a:buNone/>
                      </a:pPr>
                      <a:r>
                        <a:rPr lang="en-US" sz="1000" b="1" dirty="0">
                          <a:solidFill>
                            <a:srgbClr val="3A3A3C"/>
                          </a:solidFill>
                          <a:latin typeface="Calibri" pitchFamily="34" charset="0"/>
                          <a:ea typeface="Calibri" pitchFamily="34" charset="-122"/>
                          <a:cs typeface="Calibri" pitchFamily="34" charset="-120"/>
                        </a:rPr>
                        <a:t>Revoir les résultats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MP-09.7 </a:t>
                      </a:r>
                      <a:pPr indent="0" marL="0">
                        <a:buNone/>
                      </a:pPr>
                      <a:r>
                        <a:rPr lang="en-US" sz="1000" dirty="0">
                          <a:solidFill>
                            <a:srgbClr val="58595B"/>
                          </a:solidFill>
                          <a:latin typeface="Calibri" pitchFamily="34" charset="0"/>
                          <a:ea typeface="Calibri" pitchFamily="34" charset="-122"/>
                          <a:cs typeface="Calibri" pitchFamily="34" charset="-120"/>
                        </a:rPr>
                        <a:t>Revoir les résultats d'évaluation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Mener la revue qualité périodique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Revue : module M3 sous 70 % de réussite → action d'amélioration confiée au concepteur.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UFT-07-08
</a:t>
                      </a:r>
                      <a:pPr indent="0" marL="0">
                        <a:buNone/>
                      </a:pPr>
                      <a:r>
                        <a:rPr lang="en-US" sz="1000" b="1" dirty="0">
                          <a:solidFill>
                            <a:srgbClr val="3A3A3C"/>
                          </a:solidFill>
                          <a:latin typeface="Calibri" pitchFamily="34" charset="0"/>
                          <a:ea typeface="Calibri" pitchFamily="34" charset="-122"/>
                          <a:cs typeface="Calibri" pitchFamily="34" charset="-120"/>
                        </a:rPr>
                        <a:t>Publier le rapport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MP-10.4 </a:t>
                      </a:r>
                      <a:pPr indent="0" marL="0">
                        <a:buNone/>
                      </a:pPr>
                      <a:r>
                        <a:rPr lang="en-US" sz="1000" dirty="0">
                          <a:solidFill>
                            <a:srgbClr val="58595B"/>
                          </a:solidFill>
                          <a:latin typeface="Calibri" pitchFamily="34" charset="0"/>
                          <a:ea typeface="Calibri" pitchFamily="34" charset="-122"/>
                          <a:cs typeface="Calibri" pitchFamily="34" charset="-120"/>
                        </a:rPr>
                        <a:t>Exporter le rapport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MP-10.6 </a:t>
                      </a:r>
                      <a:pPr indent="0" marL="0">
                        <a:buNone/>
                      </a:pPr>
                      <a:r>
                        <a:rPr lang="en-US" sz="1000" dirty="0">
                          <a:solidFill>
                            <a:srgbClr val="58595B"/>
                          </a:solidFill>
                          <a:latin typeface="Calibri" pitchFamily="34" charset="0"/>
                          <a:ea typeface="Calibri" pitchFamily="34" charset="-122"/>
                          <a:cs typeface="Calibri" pitchFamily="34" charset="-120"/>
                        </a:rPr>
                        <a:t>Partager les enseignements avec les parties prenantes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MP-10.2 </a:t>
                      </a:r>
                      <a:pPr indent="0" marL="0">
                        <a:buNone/>
                      </a:pPr>
                      <a:r>
                        <a:rPr lang="en-US" sz="1000" dirty="0">
                          <a:solidFill>
                            <a:srgbClr val="58595B"/>
                          </a:solidFill>
                          <a:latin typeface="Calibri" pitchFamily="34" charset="0"/>
                          <a:ea typeface="Calibri" pitchFamily="34" charset="-122"/>
                          <a:cs typeface="Calibri" pitchFamily="34" charset="-120"/>
                        </a:rPr>
                        <a:t>Configurer les widgets du tableau de bord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Exporter le rapport Kirkpatrick RPT-016 (PDF) et le partager au comité de pilotage.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07"/>
          <p:cNvSpPr/>
          <p:nvPr/>
        </p:nvSpPr>
        <p:spPr>
          <a:xfrm>
            <a:off x="2828905" y="3749040"/>
            <a:ext cx="3120431" cy="22951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7">    </p:cNvPr>
          <p:cNvPicPr>
            <a:picLocks noChangeAspect="1"/>
          </p:cNvPicPr>
          <p:nvPr/>
        </p:nvPicPr>
        <p:blipFill>
          <a:blip r:embed="rId1"/>
          <a:stretch>
            <a:fillRect/>
          </a:stretch>
        </p:blipFill>
        <p:spPr>
          <a:xfrm>
            <a:off x="2883769" y="3803904"/>
            <a:ext cx="3010703" cy="21854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E2E-07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Évaluation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et analyses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Qualité, risques et amélioration continue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E2E-08, E2E-21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E2E-08 · PARTITION DE E2E-07</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l'apprentissage au ROI</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Valider le ROI et l'impact métier</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Résultats d'évaluation disponibles pour un thème choisi pour une étude de ROI.</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ROI Phillips validé avec la finance et rapport d'impact métier publié.</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MP-09 Évaluation · </a:t>
            </a:r>
            <a:pPr indent="0" marL="0">
              <a:buNone/>
            </a:pPr>
            <a:r>
              <a:rPr lang="en-US" sz="1000" dirty="0">
                <a:solidFill>
                  <a:srgbClr val="58595B"/>
                </a:solidFill>
                <a:latin typeface="Calibri" pitchFamily="34" charset="0"/>
                <a:ea typeface="Calibri" pitchFamily="34" charset="-122"/>
                <a:cs typeface="Calibri" pitchFamily="34" charset="-120"/>
              </a:rPr>
              <a:t>MP-10 Reporting et analyses · </a:t>
            </a:r>
            <a:pPr indent="0" marL="0">
              <a:buNone/>
            </a:pPr>
            <a:r>
              <a:rPr lang="en-US" sz="1000" dirty="0">
                <a:solidFill>
                  <a:srgbClr val="58595B"/>
                </a:solidFill>
                <a:latin typeface="Calibri" pitchFamily="34" charset="0"/>
                <a:ea typeface="Calibri" pitchFamily="34" charset="-122"/>
                <a:cs typeface="Calibri" pitchFamily="34" charset="-120"/>
              </a:rPr>
              <a:t>MP-18 Gestion financière et budgétaire · </a:t>
            </a:r>
            <a:pPr indent="0" marL="0">
              <a:buNone/>
            </a:pPr>
            <a:r>
              <a:rPr lang="en-US" sz="1000" dirty="0">
                <a:solidFill>
                  <a:srgbClr val="58595B"/>
                </a:solidFill>
                <a:latin typeface="Calibri" pitchFamily="34" charset="0"/>
                <a:ea typeface="Calibri" pitchFamily="34" charset="-122"/>
                <a:cs typeface="Calibri" pitchFamily="34" charset="-120"/>
              </a:rPr>
              <a:t>MP-32 ROI de la formation et mesure de l'impact métier</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UFT-08-01
</a:t>
                      </a:r>
                      <a:pPr indent="0" marL="0">
                        <a:buNone/>
                      </a:pPr>
                      <a:r>
                        <a:rPr lang="en-US" sz="1000" b="1" dirty="0">
                          <a:solidFill>
                            <a:srgbClr val="3A3A3C"/>
                          </a:solidFill>
                          <a:latin typeface="Calibri" pitchFamily="34" charset="0"/>
                          <a:ea typeface="Calibri" pitchFamily="34" charset="-122"/>
                          <a:cs typeface="Calibri" pitchFamily="34" charset="-120"/>
                        </a:rPr>
                        <a:t>Choisir le thème de l'étude ROI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MP-32.1 </a:t>
                      </a:r>
                      <a:pPr indent="0" marL="0">
                        <a:buNone/>
                      </a:pPr>
                      <a:r>
                        <a:rPr lang="en-US" sz="1000" dirty="0">
                          <a:solidFill>
                            <a:srgbClr val="58595B"/>
                          </a:solidFill>
                          <a:latin typeface="Calibri" pitchFamily="34" charset="0"/>
                          <a:ea typeface="Calibri" pitchFamily="34" charset="-122"/>
                          <a:cs typeface="Calibri" pitchFamily="34" charset="-120"/>
                        </a:rPr>
                        <a:t>Choisir le thème de l'étude ROI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Étude ROI sur le thème « Triage IA et aide à la décision clinique » — population : 36 encadrants, 3 sites.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UFT-08-02
</a:t>
                      </a:r>
                      <a:pPr indent="0" marL="0">
                        <a:buNone/>
                      </a:pPr>
                      <a:r>
                        <a:rPr lang="en-US" sz="1000" b="1" dirty="0">
                          <a:solidFill>
                            <a:srgbClr val="3A3A3C"/>
                          </a:solidFill>
                          <a:latin typeface="Calibri" pitchFamily="34" charset="0"/>
                          <a:ea typeface="Calibri" pitchFamily="34" charset="-122"/>
                          <a:cs typeface="Calibri" pitchFamily="34" charset="-120"/>
                        </a:rPr>
                        <a:t>Définir les indicateurs métier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MP-32.2 </a:t>
                      </a:r>
                      <a:pPr indent="0" marL="0">
                        <a:buNone/>
                      </a:pPr>
                      <a:r>
                        <a:rPr lang="en-US" sz="1000" dirty="0">
                          <a:solidFill>
                            <a:srgbClr val="58595B"/>
                          </a:solidFill>
                          <a:latin typeface="Calibri" pitchFamily="34" charset="0"/>
                          <a:ea typeface="Calibri" pitchFamily="34" charset="-122"/>
                          <a:cs typeface="Calibri" pitchFamily="34" charset="-120"/>
                        </a:rPr>
                        <a:t>Définir les indicateurs métier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MP-10.1 </a:t>
                      </a:r>
                      <a:pPr indent="0" marL="0">
                        <a:buNone/>
                      </a:pPr>
                      <a:r>
                        <a:rPr lang="en-US" sz="1000" dirty="0">
                          <a:solidFill>
                            <a:srgbClr val="58595B"/>
                          </a:solidFill>
                          <a:latin typeface="Calibri" pitchFamily="34" charset="0"/>
                          <a:ea typeface="Calibri" pitchFamily="34" charset="-122"/>
                          <a:cs typeface="Calibri" pitchFamily="34" charset="-120"/>
                        </a:rPr>
                        <a:t>Définir le jeu d'indicateurs par public</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Indicateurs : taux de reprise, minutes d'arrêt par poste, heures de ressaisie.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UFT-08-03
</a:t>
                      </a:r>
                      <a:pPr indent="0" marL="0">
                        <a:buNone/>
                      </a:pPr>
                      <a:r>
                        <a:rPr lang="en-US" sz="1000" b="1" dirty="0">
                          <a:solidFill>
                            <a:srgbClr val="3A3A3C"/>
                          </a:solidFill>
                          <a:latin typeface="Calibri" pitchFamily="34" charset="0"/>
                          <a:ea typeface="Calibri" pitchFamily="34" charset="-122"/>
                          <a:cs typeface="Calibri" pitchFamily="34" charset="-120"/>
                        </a:rPr>
                        <a:t>Collecter les données de coûts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MP-18.3 </a:t>
                      </a:r>
                      <a:pPr indent="0" marL="0">
                        <a:buNone/>
                      </a:pPr>
                      <a:r>
                        <a:rPr lang="en-US" sz="1000" dirty="0">
                          <a:solidFill>
                            <a:srgbClr val="58595B"/>
                          </a:solidFill>
                          <a:latin typeface="Calibri" pitchFamily="34" charset="0"/>
                          <a:ea typeface="Calibri" pitchFamily="34" charset="-122"/>
                          <a:cs typeface="Calibri" pitchFamily="34" charset="-120"/>
                        </a:rPr>
                        <a:t>Enregistrer les engagements et coûts réels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MP-18.4 </a:t>
                      </a:r>
                      <a:pPr indent="0" marL="0">
                        <a:buNone/>
                      </a:pPr>
                      <a:r>
                        <a:rPr lang="en-US" sz="1000" dirty="0">
                          <a:solidFill>
                            <a:srgbClr val="58595B"/>
                          </a:solidFill>
                          <a:latin typeface="Calibri" pitchFamily="34" charset="0"/>
                          <a:ea typeface="Calibri" pitchFamily="34" charset="-122"/>
                          <a:cs typeface="Calibri" pitchFamily="34" charset="-120"/>
                        </a:rPr>
                        <a:t>Comparer les dépenses au budget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Coûts : conception 60 000 MAD ; animation 180 000 MAD ; temps des participants 95 000 MAD.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UFT-08-04
</a:t>
                      </a:r>
                      <a:pPr indent="0" marL="0">
                        <a:buNone/>
                      </a:pPr>
                      <a:r>
                        <a:rPr lang="en-US" sz="1000" b="1" dirty="0">
                          <a:solidFill>
                            <a:srgbClr val="3A3A3C"/>
                          </a:solidFill>
                          <a:latin typeface="Calibri" pitchFamily="34" charset="0"/>
                          <a:ea typeface="Calibri" pitchFamily="34" charset="-122"/>
                          <a:cs typeface="Calibri" pitchFamily="34" charset="-120"/>
                        </a:rPr>
                        <a:t>Isoler l'effet de la formation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MP-32.3 </a:t>
                      </a:r>
                      <a:pPr indent="0" marL="0">
                        <a:buNone/>
                      </a:pPr>
                      <a:r>
                        <a:rPr lang="en-US" sz="1000" dirty="0">
                          <a:solidFill>
                            <a:srgbClr val="58595B"/>
                          </a:solidFill>
                          <a:latin typeface="Calibri" pitchFamily="34" charset="0"/>
                          <a:ea typeface="Calibri" pitchFamily="34" charset="-122"/>
                          <a:cs typeface="Calibri" pitchFamily="34" charset="-120"/>
                        </a:rPr>
                        <a:t>Isoler l'effet de la formation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MP-09.6 </a:t>
                      </a:r>
                      <a:pPr indent="0" marL="0">
                        <a:buNone/>
                      </a:pPr>
                      <a:r>
                        <a:rPr lang="en-US" sz="1000" dirty="0">
                          <a:solidFill>
                            <a:srgbClr val="58595B"/>
                          </a:solidFill>
                          <a:latin typeface="Calibri" pitchFamily="34" charset="0"/>
                          <a:ea typeface="Calibri" pitchFamily="34" charset="-122"/>
                          <a:cs typeface="Calibri" pitchFamily="34" charset="-120"/>
                        </a:rPr>
                        <a:t>Calculer la progression des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Groupe témoin : site B (non formé). Bénéfice isolé : 410 000 MAD par an.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UFT-08-05
</a:t>
                      </a:r>
                      <a:pPr indent="0" marL="0">
                        <a:buNone/>
                      </a:pPr>
                      <a:r>
                        <a:rPr lang="en-US" sz="1000" b="1" dirty="0">
                          <a:solidFill>
                            <a:srgbClr val="3A3A3C"/>
                          </a:solidFill>
                          <a:latin typeface="Calibri" pitchFamily="34" charset="0"/>
                          <a:ea typeface="Calibri" pitchFamily="34" charset="-122"/>
                          <a:cs typeface="Calibri" pitchFamily="34" charset="-120"/>
                        </a:rPr>
                        <a:t>Calculer le ROI Phillips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MP-32.4 </a:t>
                      </a:r>
                      <a:pPr indent="0" marL="0">
                        <a:buNone/>
                      </a:pPr>
                      <a:r>
                        <a:rPr lang="en-US" sz="1000" dirty="0">
                          <a:solidFill>
                            <a:srgbClr val="58595B"/>
                          </a:solidFill>
                          <a:latin typeface="Calibri" pitchFamily="34" charset="0"/>
                          <a:ea typeface="Calibri" pitchFamily="34" charset="-122"/>
                          <a:cs typeface="Calibri" pitchFamily="34" charset="-120"/>
                        </a:rPr>
                        <a:t>Calculer le ROI Phillips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ROI = (410 000 − 335 000) / 335 000 = 22 % ; ratio bénéfice-coût 1,22.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8"/>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8-01 Choisir le thème de l'étude ROI">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UFT-08-01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E2E-08 · PARTITION DE E2E-07</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l'apprentissage au ROI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UFT-08-06
</a:t>
                      </a:r>
                      <a:pPr indent="0" marL="0">
                        <a:buNone/>
                      </a:pPr>
                      <a:r>
                        <a:rPr lang="en-US" sz="1000" b="1" dirty="0">
                          <a:solidFill>
                            <a:srgbClr val="3A3A3C"/>
                          </a:solidFill>
                          <a:latin typeface="Calibri" pitchFamily="34" charset="0"/>
                          <a:ea typeface="Calibri" pitchFamily="34" charset="-122"/>
                          <a:cs typeface="Calibri" pitchFamily="34" charset="-120"/>
                        </a:rPr>
                        <a:t>Revoir le ROI avec la finance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MP-32.5 </a:t>
                      </a:r>
                      <a:pPr indent="0" marL="0">
                        <a:buNone/>
                      </a:pPr>
                      <a:r>
                        <a:rPr lang="en-US" sz="1000" dirty="0">
                          <a:solidFill>
                            <a:srgbClr val="58595B"/>
                          </a:solidFill>
                          <a:latin typeface="Calibri" pitchFamily="34" charset="0"/>
                          <a:ea typeface="Calibri" pitchFamily="34" charset="-122"/>
                          <a:cs typeface="Calibri" pitchFamily="34" charset="-120"/>
                        </a:rPr>
                        <a:t>Revoir le ROI avec la finance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Kawtar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Revue finance : hypothèses acceptées ; arrêt valorisé à 180 MAD la minute.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UFT-08-07
</a:t>
                      </a:r>
                      <a:pPr indent="0" marL="0">
                        <a:buNone/>
                      </a:pPr>
                      <a:r>
                        <a:rPr lang="en-US" sz="1000" b="1" dirty="0">
                          <a:solidFill>
                            <a:srgbClr val="3A3A3C"/>
                          </a:solidFill>
                          <a:latin typeface="Calibri" pitchFamily="34" charset="0"/>
                          <a:ea typeface="Calibri" pitchFamily="34" charset="-122"/>
                          <a:cs typeface="Calibri" pitchFamily="34" charset="-120"/>
                        </a:rPr>
                        <a:t>Publier le rapport d'impact métier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MP-32.6 </a:t>
                      </a:r>
                      <a:pPr indent="0" marL="0">
                        <a:buNone/>
                      </a:pPr>
                      <a:r>
                        <a:rPr lang="en-US" sz="1000" dirty="0">
                          <a:solidFill>
                            <a:srgbClr val="58595B"/>
                          </a:solidFill>
                          <a:latin typeface="Calibri" pitchFamily="34" charset="0"/>
                          <a:ea typeface="Calibri" pitchFamily="34" charset="-122"/>
                          <a:cs typeface="Calibri" pitchFamily="34" charset="-120"/>
                        </a:rPr>
                        <a:t>Publier le rapport d'impact métier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MP-10.4 </a:t>
                      </a:r>
                      <a:pPr indent="0" marL="0">
                        <a:buNone/>
                      </a:pPr>
                      <a:r>
                        <a:rPr lang="en-US" sz="1000" dirty="0">
                          <a:solidFill>
                            <a:srgbClr val="58595B"/>
                          </a:solidFill>
                          <a:latin typeface="Calibri" pitchFamily="34" charset="0"/>
                          <a:ea typeface="Calibri" pitchFamily="34" charset="-122"/>
                          <a:cs typeface="Calibri" pitchFamily="34" charset="-120"/>
                        </a:rPr>
                        <a:t>Exporter le rapport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MP-10.5 </a:t>
                      </a:r>
                      <a:pPr indent="0" marL="0">
                        <a:buNone/>
                      </a:pPr>
                      <a:r>
                        <a:rPr lang="en-US" sz="1000" dirty="0">
                          <a:solidFill>
                            <a:srgbClr val="58595B"/>
                          </a:solidFill>
                          <a:latin typeface="Calibri" pitchFamily="34" charset="0"/>
                          <a:ea typeface="Calibri" pitchFamily="34" charset="-122"/>
                          <a:cs typeface="Calibri" pitchFamily="34" charset="-120"/>
                        </a:rPr>
                        <a:t>Interroger les données via l'assistant 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Hicham Naciri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le rapport RPT-012 ROI et impact métier à la direction générale.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8"/>
          <p:cNvSpPr/>
          <p:nvPr/>
        </p:nvSpPr>
        <p:spPr>
          <a:xfrm>
            <a:off x="2249439" y="2907792"/>
            <a:ext cx="4279362" cy="31363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8">    </p:cNvPr>
          <p:cNvPicPr>
            <a:picLocks noChangeAspect="1"/>
          </p:cNvPicPr>
          <p:nvPr/>
        </p:nvPicPr>
        <p:blipFill>
          <a:blip r:embed="rId1"/>
          <a:stretch>
            <a:fillRect/>
          </a:stretch>
        </p:blipFill>
        <p:spPr>
          <a:xfrm>
            <a:off x="2304303" y="2962656"/>
            <a:ext cx="4169634" cy="30266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E2E-08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Évaluation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et analyses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MP-18 Gestion financière et budgétaire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MP-32 ROI de la formation et mesure de l'impact métier</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E2E-21</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E2E-16</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E2E-09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conformité à la certification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Garantir un personnel conforme avec des certifications valides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Nouvelle exigence réglementaire ou certification proche de l'expiration.</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Personnel conforme avec certifications valides et extrait d'audit disponible.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11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MP-14 Gestion de la conformité et des certifications · </a:t>
            </a:r>
            <a:pPr indent="0" marL="0">
              <a:buNone/>
            </a:pPr>
            <a:r>
              <a:rPr lang="en-US" sz="1000" dirty="0">
                <a:solidFill>
                  <a:srgbClr val="58595B"/>
                </a:solidFill>
                <a:latin typeface="Calibri" pitchFamily="34" charset="0"/>
                <a:ea typeface="Calibri" pitchFamily="34" charset="-122"/>
                <a:cs typeface="Calibri" pitchFamily="34" charset="-120"/>
              </a:rPr>
              <a:t>MP-07 Réalisation et mise en œuvre de la formation · </a:t>
            </a:r>
            <a:pPr indent="0" marL="0">
              <a:buNone/>
            </a:pPr>
            <a:r>
              <a:rPr lang="en-US" sz="1000" dirty="0">
                <a:solidFill>
                  <a:srgbClr val="58595B"/>
                </a:solidFill>
                <a:latin typeface="Calibri" pitchFamily="34" charset="0"/>
                <a:ea typeface="Calibri" pitchFamily="34" charset="-122"/>
                <a:cs typeface="Calibri" pitchFamily="34" charset="-120"/>
              </a:rPr>
              <a:t>MP-09 Évaluation · </a:t>
            </a:r>
            <a:pPr indent="0" marL="0">
              <a:buNone/>
            </a:pPr>
            <a:r>
              <a:rPr lang="en-US" sz="1000" dirty="0">
                <a:solidFill>
                  <a:srgbClr val="58595B"/>
                </a:solidFill>
                <a:latin typeface="Calibri" pitchFamily="34" charset="0"/>
                <a:ea typeface="Calibri" pitchFamily="34" charset="-122"/>
                <a:cs typeface="Calibri" pitchFamily="34" charset="-120"/>
              </a:rPr>
              <a:t>MP-10 Reporting et analyses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UFT-09-01
</a:t>
                      </a:r>
                      <a:pPr indent="0" marL="0">
                        <a:buNone/>
                      </a:pPr>
                      <a:r>
                        <a:rPr lang="en-US" sz="1000" b="1" dirty="0">
                          <a:solidFill>
                            <a:srgbClr val="3A3A3C"/>
                          </a:solidFill>
                          <a:latin typeface="Calibri" pitchFamily="34" charset="0"/>
                          <a:ea typeface="Calibri" pitchFamily="34" charset="-122"/>
                          <a:cs typeface="Calibri" pitchFamily="34" charset="-120"/>
                        </a:rPr>
                        <a:t>Enregistrer une exigence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MP-14.1 </a:t>
                      </a:r>
                      <a:pPr indent="0" marL="0">
                        <a:buNone/>
                      </a:pPr>
                      <a:r>
                        <a:rPr lang="en-US" sz="1000" dirty="0">
                          <a:solidFill>
                            <a:srgbClr val="58595B"/>
                          </a:solidFill>
                          <a:latin typeface="Calibri" pitchFamily="34" charset="0"/>
                          <a:ea typeface="Calibri" pitchFamily="34" charset="-122"/>
                          <a:cs typeface="Calibri" pitchFamily="34" charset="-120"/>
                        </a:rPr>
                        <a:t>Enregistrer une exigence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Exigence « Sensibilisation ISO 7101 », tous les 24 mois, source : clause compétences de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UFT-09-02
</a:t>
                      </a:r>
                      <a:pPr indent="0" marL="0">
                        <a:buNone/>
                      </a:pPr>
                      <a:r>
                        <a:rPr lang="en-US" sz="1000" b="1" dirty="0">
                          <a:solidFill>
                            <a:srgbClr val="3A3A3C"/>
                          </a:solidFill>
                          <a:latin typeface="Calibri" pitchFamily="34" charset="0"/>
                          <a:ea typeface="Calibri" pitchFamily="34" charset="-122"/>
                          <a:cs typeface="Calibri" pitchFamily="34" charset="-120"/>
                        </a:rPr>
                        <a:t>Affecter les formations obligatoires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MP-14.2 </a:t>
                      </a:r>
                      <a:pPr indent="0" marL="0">
                        <a:buNone/>
                      </a:pPr>
                      <a:r>
                        <a:rPr lang="en-US" sz="1000" dirty="0">
                          <a:solidFill>
                            <a:srgbClr val="58595B"/>
                          </a:solidFill>
                          <a:latin typeface="Calibri" pitchFamily="34" charset="0"/>
                          <a:ea typeface="Calibri" pitchFamily="34" charset="-122"/>
                          <a:cs typeface="Calibri" pitchFamily="34" charset="-120"/>
                        </a:rPr>
                        <a:t>Affecter les formations obligatoires par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Affecter aux postes : opérateur Soins cliniques et infirmiers, encadrant Soins cliniques et infirmiers, contrôleur qualité.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UFT-09-03
</a:t>
                      </a:r>
                      <a:pPr indent="0" marL="0">
                        <a:buNone/>
                      </a:pPr>
                      <a:r>
                        <a:rPr lang="en-US" sz="1000" b="1" dirty="0">
                          <a:solidFill>
                            <a:srgbClr val="3A3A3C"/>
                          </a:solidFill>
                          <a:latin typeface="Calibri" pitchFamily="34" charset="0"/>
                          <a:ea typeface="Calibri" pitchFamily="34" charset="-122"/>
                          <a:cs typeface="Calibri" pitchFamily="34" charset="-120"/>
                        </a:rPr>
                        <a:t>Réaliser les sessions obligatoires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MP-07.3 </a:t>
                      </a:r>
                      <a:pPr indent="0" marL="0">
                        <a:buNone/>
                      </a:pPr>
                      <a:r>
                        <a:rPr lang="en-US" sz="1000" dirty="0">
                          <a:solidFill>
                            <a:srgbClr val="58595B"/>
                          </a:solidFill>
                          <a:latin typeface="Calibri" pitchFamily="34" charset="0"/>
                          <a:ea typeface="Calibri" pitchFamily="34" charset="-122"/>
                          <a:cs typeface="Calibri" pitchFamily="34" charset="-120"/>
                        </a:rPr>
                        <a:t>Inscrire les apprenants à la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MP-07.5 </a:t>
                      </a:r>
                      <a:pPr indent="0" marL="0">
                        <a:buNone/>
                      </a:pPr>
                      <a:r>
                        <a:rPr lang="en-US" sz="1000" dirty="0">
                          <a:solidFill>
                            <a:srgbClr val="58595B"/>
                          </a:solidFill>
                          <a:latin typeface="Calibri" pitchFamily="34" charset="0"/>
                          <a:ea typeface="Calibri" pitchFamily="34" charset="-122"/>
                          <a:cs typeface="Calibri" pitchFamily="34" charset="-120"/>
                        </a:rPr>
                        <a:t>Enregistrer la présence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Inscrire 24 salariés à la session « Sensibilisation ISO 7101 » ; présence enregistrée.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UFT-09-04
</a:t>
                      </a:r>
                      <a:pPr indent="0" marL="0">
                        <a:buNone/>
                      </a:pPr>
                      <a:r>
                        <a:rPr lang="en-US" sz="1000" b="1" dirty="0">
                          <a:solidFill>
                            <a:srgbClr val="3A3A3C"/>
                          </a:solidFill>
                          <a:latin typeface="Calibri" pitchFamily="34" charset="0"/>
                          <a:ea typeface="Calibri" pitchFamily="34" charset="-122"/>
                          <a:cs typeface="Calibri" pitchFamily="34" charset="-120"/>
                        </a:rPr>
                        <a:t>Évaluer et certifier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MP-09.4 </a:t>
                      </a:r>
                      <a:pPr indent="0" marL="0">
                        <a:buNone/>
                      </a:pPr>
                      <a:r>
                        <a:rPr lang="en-US" sz="1000" dirty="0">
                          <a:solidFill>
                            <a:srgbClr val="58595B"/>
                          </a:solidFill>
                          <a:latin typeface="Calibri" pitchFamily="34" charset="0"/>
                          <a:ea typeface="Calibri" pitchFamily="34" charset="-122"/>
                          <a:cs typeface="Calibri" pitchFamily="34" charset="-120"/>
                        </a:rPr>
                        <a:t>Enregistrer les résultats d'apprentissage (niveau 2)</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MP-14.4 </a:t>
                      </a:r>
                      <a:pPr indent="0" marL="0">
                        <a:buNone/>
                      </a:pPr>
                      <a:r>
                        <a:rPr lang="en-US" sz="1000" dirty="0">
                          <a:solidFill>
                            <a:srgbClr val="58595B"/>
                          </a:solidFill>
                          <a:latin typeface="Calibri" pitchFamily="34" charset="0"/>
                          <a:ea typeface="Calibri" pitchFamily="34" charset="-122"/>
                          <a:cs typeface="Calibri" pitchFamily="34" charset="-120"/>
                        </a:rPr>
                        <a:t>Délivrer le certificat à l'achèvement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Zineb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Résultat 86 % ; certificat « Sensibilisation ISO 7101 » émis, valable jusqu'à 2026+2.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UFT-09-05
</a:t>
                      </a:r>
                      <a:pPr indent="0" marL="0">
                        <a:buNone/>
                      </a:pPr>
                      <a:r>
                        <a:rPr lang="en-US" sz="1000" b="1" dirty="0">
                          <a:solidFill>
                            <a:srgbClr val="3A3A3C"/>
                          </a:solidFill>
                          <a:latin typeface="Calibri" pitchFamily="34" charset="0"/>
                          <a:ea typeface="Calibri" pitchFamily="34" charset="-122"/>
                          <a:cs typeface="Calibri" pitchFamily="34" charset="-120"/>
                        </a:rPr>
                        <a:t>Calculer la validité des certifications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MP-14.3 </a:t>
                      </a:r>
                      <a:pPr indent="0" marL="0">
                        <a:buNone/>
                      </a:pPr>
                      <a:r>
                        <a:rPr lang="en-US" sz="1000" dirty="0">
                          <a:solidFill>
                            <a:srgbClr val="58595B"/>
                          </a:solidFill>
                          <a:latin typeface="Calibri" pitchFamily="34" charset="0"/>
                          <a:ea typeface="Calibri" pitchFamily="34" charset="-122"/>
                          <a:cs typeface="Calibri" pitchFamily="34" charset="-120"/>
                        </a:rPr>
                        <a:t>Calculer la validité des certifications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Validité : 212 valides, 9 expirent sous 60 jours, 3 expirés.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09"/>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09-02 Affecter les formations obligatoir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UFT-09-02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E2E-09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conformité à la certification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UFT-09-06
</a:t>
                      </a:r>
                      <a:pPr indent="0" marL="0">
                        <a:buNone/>
                      </a:pPr>
                      <a:r>
                        <a:rPr lang="en-US" sz="1000" b="1" dirty="0">
                          <a:solidFill>
                            <a:srgbClr val="3A3A3C"/>
                          </a:solidFill>
                          <a:latin typeface="Calibri" pitchFamily="34" charset="0"/>
                          <a:ea typeface="Calibri" pitchFamily="34" charset="-122"/>
                          <a:cs typeface="Calibri" pitchFamily="34" charset="-120"/>
                        </a:rPr>
                        <a:t>Gérer les renouvellements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MP-14.5 </a:t>
                      </a:r>
                      <a:pPr indent="0" marL="0">
                        <a:buNone/>
                      </a:pPr>
                      <a:r>
                        <a:rPr lang="en-US" sz="1000" dirty="0">
                          <a:solidFill>
                            <a:srgbClr val="58595B"/>
                          </a:solidFill>
                          <a:latin typeface="Calibri" pitchFamily="34" charset="0"/>
                          <a:ea typeface="Calibri" pitchFamily="34" charset="-122"/>
                          <a:cs typeface="Calibri" pitchFamily="34" charset="-120"/>
                        </a:rPr>
                        <a:t>Lancer l'inscription au renouvellement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MP-14.6 </a:t>
                      </a:r>
                      <a:pPr indent="0" marL="0">
                        <a:buNone/>
                      </a:pPr>
                      <a:r>
                        <a:rPr lang="en-US" sz="1000" dirty="0">
                          <a:solidFill>
                            <a:srgbClr val="58595B"/>
                          </a:solidFill>
                          <a:latin typeface="Calibri" pitchFamily="34" charset="0"/>
                          <a:ea typeface="Calibri" pitchFamily="34" charset="-122"/>
                          <a:cs typeface="Calibri" pitchFamily="34" charset="-120"/>
                        </a:rPr>
                        <a:t>Confirmer l'achèvement du renouvellement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Lancer le renouvellement pour les 12 salariés ; confirmer 10 réussites, 2 reprogrammés.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UFT-09-07
</a:t>
                      </a:r>
                      <a:pPr indent="0" marL="0">
                        <a:buNone/>
                      </a:pPr>
                      <a:r>
                        <a:rPr lang="en-US" sz="1000" b="1" dirty="0">
                          <a:solidFill>
                            <a:srgbClr val="3A3A3C"/>
                          </a:solidFill>
                          <a:latin typeface="Calibri" pitchFamily="34" charset="0"/>
                          <a:ea typeface="Calibri" pitchFamily="34" charset="-122"/>
                          <a:cs typeface="Calibri" pitchFamily="34" charset="-120"/>
                        </a:rPr>
                        <a:t>Produire l'extrait d'audit de conformité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MP-14.7 </a:t>
                      </a:r>
                      <a:pPr indent="0" marL="0">
                        <a:buNone/>
                      </a:pPr>
                      <a:r>
                        <a:rPr lang="en-US" sz="1000" dirty="0">
                          <a:solidFill>
                            <a:srgbClr val="58595B"/>
                          </a:solidFill>
                          <a:latin typeface="Calibri" pitchFamily="34" charset="0"/>
                          <a:ea typeface="Calibri" pitchFamily="34" charset="-122"/>
                          <a:cs typeface="Calibri" pitchFamily="34" charset="-120"/>
                        </a:rPr>
                        <a:t>Produire l'extrait d'audit de conformité</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MP-10.4 </a:t>
                      </a:r>
                      <a:pPr indent="0" marL="0">
                        <a:buNone/>
                      </a:pPr>
                      <a:r>
                        <a:rPr lang="en-US" sz="1000" dirty="0">
                          <a:solidFill>
                            <a:srgbClr val="58595B"/>
                          </a:solidFill>
                          <a:latin typeface="Calibri" pitchFamily="34" charset="0"/>
                          <a:ea typeface="Calibri" pitchFamily="34" charset="-122"/>
                          <a:cs typeface="Calibri" pitchFamily="34" charset="-120"/>
                        </a:rPr>
                        <a:t>Exporter le rapport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Exporter l'extrait d'audit de conformité ISO 7101 (XLSX) pour l'auditeur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09"/>
          <p:cNvSpPr/>
          <p:nvPr/>
        </p:nvSpPr>
        <p:spPr>
          <a:xfrm>
            <a:off x="2356514" y="3063240"/>
            <a:ext cx="4065212" cy="29809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09">    </p:cNvPr>
          <p:cNvPicPr>
            <a:picLocks noChangeAspect="1"/>
          </p:cNvPicPr>
          <p:nvPr/>
        </p:nvPicPr>
        <p:blipFill>
          <a:blip r:embed="rId1"/>
          <a:stretch>
            <a:fillRect/>
          </a:stretch>
        </p:blipFill>
        <p:spPr>
          <a:xfrm>
            <a:off x="2411378" y="3118104"/>
            <a:ext cx="3955484" cy="28712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E2E-09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MP-14 Gestion de la conformité et des certifications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Réalisation et mise en œuvre de la formation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Évaluation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et analyses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E2E-14</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E2E-18</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5 · HCPR-E2E-01 · VERTICALE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Conformité et préparation à la certification — Établissements de santé</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Maintenir les rôles réglementés Établissements de santé certifiés selon ISO 7101.</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Nouvelle exigence ISO 7101 ou expiration de certification.</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Extrait de conformité sectorielle émis, rôles critiques certifiés.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4 tâches · 8 étapes
</a:t>
            </a:r>
            <a:pPr indent="0" marL="0">
              <a:buNone/>
            </a:pPr>
            <a:r>
              <a:rPr lang="en-US" sz="1100" dirty="0">
                <a:solidFill>
                  <a:srgbClr val="3A3A3C"/>
                </a:solidFill>
                <a:latin typeface="Calibri" pitchFamily="34" charset="0"/>
                <a:ea typeface="Calibri" pitchFamily="34" charset="-122"/>
                <a:cs typeface="Calibri" pitchFamily="34" charset="-120"/>
              </a:rPr>
              <a:t>11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MP-01 Alignement stratégie et gouvernance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MP-14 Gestion de la conformité et des certifications · </a:t>
            </a:r>
            <a:pPr indent="0" marL="0">
              <a:buNone/>
            </a:pPr>
            <a:r>
              <a:rPr lang="en-US" sz="1000" dirty="0">
                <a:solidFill>
                  <a:srgbClr val="58595B"/>
                </a:solidFill>
                <a:latin typeface="Calibri" pitchFamily="34" charset="0"/>
                <a:ea typeface="Calibri" pitchFamily="34" charset="-122"/>
                <a:cs typeface="Calibri" pitchFamily="34" charset="-120"/>
              </a:rPr>
              <a:t>HCPR-MP-01 HCPR-MP-01</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UFT-HCPR-E1-01
</a:t>
                      </a:r>
                      <a:pPr indent="0" marL="0">
                        <a:buNone/>
                      </a:pPr>
                      <a:r>
                        <a:rPr lang="en-US" sz="1000" b="1" dirty="0">
                          <a:solidFill>
                            <a:srgbClr val="3A3A3C"/>
                          </a:solidFill>
                          <a:latin typeface="Calibri" pitchFamily="34" charset="0"/>
                          <a:ea typeface="Calibri" pitchFamily="34" charset="-122"/>
                          <a:cs typeface="Calibri" pitchFamily="34" charset="-120"/>
                        </a:rPr>
                        <a:t>Enregistrer les obligations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MP-01.1 </a:t>
                      </a:r>
                      <a:pPr indent="0" marL="0">
                        <a:buNone/>
                      </a:pPr>
                      <a:r>
                        <a:rPr lang="en-US" sz="1000" dirty="0">
                          <a:solidFill>
                            <a:srgbClr val="58595B"/>
                          </a:solidFill>
                          <a:latin typeface="Calibri" pitchFamily="34" charset="0"/>
                          <a:ea typeface="Calibri" pitchFamily="34" charset="-122"/>
                          <a:cs typeface="Calibri" pitchFamily="34" charset="-120"/>
                        </a:rPr>
                        <a:t>Enregistrer les objectifs stratégiques de l'entreprise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MP-14.1 </a:t>
                      </a:r>
                      <a:pPr indent="0" marL="0">
                        <a:buNone/>
                      </a:pPr>
                      <a:r>
                        <a:rPr lang="en-US" sz="1000" dirty="0">
                          <a:solidFill>
                            <a:srgbClr val="58595B"/>
                          </a:solidFill>
                          <a:latin typeface="Calibri" pitchFamily="34" charset="0"/>
                          <a:ea typeface="Calibri" pitchFamily="34" charset="-122"/>
                          <a:cs typeface="Calibri" pitchFamily="34" charset="-120"/>
                        </a:rPr>
                        <a:t>Enregistrer une exigence réglementaire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Obligation « Formation ISO 7101 », tous les 12 mois, responsable conformité.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UFT-HCPR-E1-02
</a:t>
                      </a:r>
                      <a:pPr indent="0" marL="0">
                        <a:buNone/>
                      </a:pPr>
                      <a:r>
                        <a:rPr lang="en-US" sz="1000" b="1" dirty="0">
                          <a:solidFill>
                            <a:srgbClr val="3A3A3C"/>
                          </a:solidFill>
                          <a:latin typeface="Calibri" pitchFamily="34" charset="0"/>
                          <a:ea typeface="Calibri" pitchFamily="34" charset="-122"/>
                          <a:cs typeface="Calibri" pitchFamily="34" charset="-120"/>
                        </a:rPr>
                        <a:t>Relier les obligations aux postes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MP-01.2 </a:t>
                      </a:r>
                      <a:pPr indent="0" marL="0">
                        <a:buNone/>
                      </a:pPr>
                      <a:r>
                        <a:rPr lang="en-US" sz="1000" dirty="0">
                          <a:solidFill>
                            <a:srgbClr val="58595B"/>
                          </a:solidFill>
                          <a:latin typeface="Calibri" pitchFamily="34" charset="0"/>
                          <a:ea typeface="Calibri" pitchFamily="34" charset="-122"/>
                          <a:cs typeface="Calibri" pitchFamily="34" charset="-120"/>
                        </a:rPr>
                        <a:t>Relier les objectifs aux fonctions et aux sites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MP-14.2 </a:t>
                      </a:r>
                      <a:pPr indent="0" marL="0">
                        <a:buNone/>
                      </a:pPr>
                      <a:r>
                        <a:rPr lang="en-US" sz="1000" dirty="0">
                          <a:solidFill>
                            <a:srgbClr val="58595B"/>
                          </a:solidFill>
                          <a:latin typeface="Calibri" pitchFamily="34" charset="0"/>
                          <a:ea typeface="Calibri" pitchFamily="34" charset="-122"/>
                          <a:cs typeface="Calibri" pitchFamily="34" charset="-120"/>
                        </a:rPr>
                        <a:t>Affecter les formations obligatoires par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Reliée à 5 postes Soins cliniques et infirmiers (38 salariés).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UFT-HCPR-E1-03
</a:t>
                      </a:r>
                      <a:pPr indent="0" marL="0">
                        <a:buNone/>
                      </a:pPr>
                      <a:r>
                        <a:rPr lang="en-US" sz="1000" b="1" dirty="0">
                          <a:solidFill>
                            <a:srgbClr val="3A3A3C"/>
                          </a:solidFill>
                          <a:latin typeface="Calibri" pitchFamily="34" charset="0"/>
                          <a:ea typeface="Calibri" pitchFamily="34" charset="-122"/>
                          <a:cs typeface="Calibri" pitchFamily="34" charset="-120"/>
                        </a:rPr>
                        <a:t>Suivre la validité des certifications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MP-02.1 </a:t>
                      </a:r>
                      <a:pPr indent="0" marL="0">
                        <a:buNone/>
                      </a:pPr>
                      <a:r>
                        <a:rPr lang="en-US" sz="1000" dirty="0">
                          <a:solidFill>
                            <a:srgbClr val="58595B"/>
                          </a:solidFill>
                          <a:latin typeface="Calibri" pitchFamily="34" charset="0"/>
                          <a:ea typeface="Calibri" pitchFamily="34" charset="-122"/>
                          <a:cs typeface="Calibri" pitchFamily="34" charset="-120"/>
                        </a:rPr>
                        <a:t>Définir les familles et niveaux de compétences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MP-14.3 </a:t>
                      </a:r>
                      <a:pPr indent="0" marL="0">
                        <a:buNone/>
                      </a:pPr>
                      <a:r>
                        <a:rPr lang="en-US" sz="1000" dirty="0">
                          <a:solidFill>
                            <a:srgbClr val="58595B"/>
                          </a:solidFill>
                          <a:latin typeface="Calibri" pitchFamily="34" charset="0"/>
                          <a:ea typeface="Calibri" pitchFamily="34" charset="-122"/>
                          <a:cs typeface="Calibri" pitchFamily="34" charset="-120"/>
                        </a:rPr>
                        <a:t>Calculer la validité des certifications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Validité : 33 valides, 5 expirent sous 60 jours.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UFT-HCPR-E1-04
</a:t>
                      </a:r>
                      <a:pPr indent="0" marL="0">
                        <a:buNone/>
                      </a:pPr>
                      <a:r>
                        <a:rPr lang="en-US" sz="1000" b="1" dirty="0">
                          <a:solidFill>
                            <a:srgbClr val="3A3A3C"/>
                          </a:solidFill>
                          <a:latin typeface="Calibri" pitchFamily="34" charset="0"/>
                          <a:ea typeface="Calibri" pitchFamily="34" charset="-122"/>
                          <a:cs typeface="Calibri" pitchFamily="34" charset="-120"/>
                        </a:rPr>
                        <a:t>Émettre l'extrait de conformité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MP-02.2 </a:t>
                      </a:r>
                      <a:pPr indent="0" marL="0">
                        <a:buNone/>
                      </a:pPr>
                      <a:r>
                        <a:rPr lang="en-US" sz="1000" dirty="0">
                          <a:solidFill>
                            <a:srgbClr val="58595B"/>
                          </a:solidFill>
                          <a:latin typeface="Calibri" pitchFamily="34" charset="0"/>
                          <a:ea typeface="Calibri" pitchFamily="34" charset="-122"/>
                          <a:cs typeface="Calibri" pitchFamily="34" charset="-120"/>
                        </a:rPr>
                        <a:t>Fixer les niveaux cibles par poste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MP-14.7 </a:t>
                      </a:r>
                      <a:pPr indent="0" marL="0">
                        <a:buNone/>
                      </a:pPr>
                      <a:r>
                        <a:rPr lang="en-US" sz="1000" dirty="0">
                          <a:solidFill>
                            <a:srgbClr val="58595B"/>
                          </a:solidFill>
                          <a:latin typeface="Calibri" pitchFamily="34" charset="0"/>
                          <a:ea typeface="Calibri" pitchFamily="34" charset="-122"/>
                          <a:cs typeface="Calibri" pitchFamily="34" charset="-120"/>
                        </a:rPr>
                        <a:t>Produire l'extrait d'audit de conformité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Rachid Kettani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août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Extrait émis pour l'audit ISO 7101 du 15 octobre.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HCPR-E2E-0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HCPR-E1-01 Enregistrer les obligations ISO 7101">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UFT-HCPR-E1-01 ouverte dans CortexSkills : quoi saisir, ses étapes et son résultat.</a:t>
            </a:r>
            <a:endParaRPr lang="en-US" sz="1000" dirty="0"/>
          </a:p>
        </p:txBody>
      </p:sp>
      <p:sp>
        <p:nvSpPr>
          <p:cNvPr id="17"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06</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6</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Talents, savoirs et amélioration continue</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4 processus · 30 tâches · 51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5 sept. 2026 – 28 sept.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Fermée par G6 — Clôture et amélioration continue</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E2E-10   Du talent à la mobilité</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E2E-11   De l'intégration à la productivité</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E2E-12   De la capture au transfert des savoirs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E2E-31   De la mission à la feuille de route</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E2E-10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talent à la mobilité</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Favoriser la mobilité interne et la progression de carrière</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Poste interne publié ou revue annuelle de carrière.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Mobilité interne décidée avec plan de reconversion affecté.</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18 étapes
</a:t>
            </a:r>
            <a:pPr indent="0" marL="0">
              <a:buNone/>
            </a:pPr>
            <a:r>
              <a:rPr lang="en-US" sz="1100" dirty="0">
                <a:solidFill>
                  <a:srgbClr val="3A3A3C"/>
                </a:solidFill>
                <a:latin typeface="Calibri" pitchFamily="34" charset="0"/>
                <a:ea typeface="Calibri" pitchFamily="34" charset="-122"/>
                <a:cs typeface="Calibri" pitchFamily="34" charset="-120"/>
              </a:rPr>
              <a:t>23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MP-13 Développement des talents et des carrières · </a:t>
            </a:r>
            <a:pPr indent="0" marL="0">
              <a:buNone/>
            </a:pPr>
            <a:r>
              <a:rPr lang="en-US" sz="1000" dirty="0">
                <a:solidFill>
                  <a:srgbClr val="58595B"/>
                </a:solidFill>
                <a:latin typeface="Calibri" pitchFamily="34" charset="0"/>
                <a:ea typeface="Calibri" pitchFamily="34" charset="-122"/>
                <a:cs typeface="Calibri" pitchFamily="34" charset="-120"/>
              </a:rPr>
              <a:t>MP-31 Place de marché des talents par compétences et mobilité interne · </a:t>
            </a:r>
            <a:pPr indent="0" marL="0">
              <a:buNone/>
            </a:pPr>
            <a:r>
              <a:rPr lang="en-US" sz="1000" dirty="0">
                <a:solidFill>
                  <a:srgbClr val="58595B"/>
                </a:solidFill>
                <a:latin typeface="Calibri" pitchFamily="34" charset="0"/>
                <a:ea typeface="Calibri" pitchFamily="34" charset="-122"/>
                <a:cs typeface="Calibri" pitchFamily="34" charset="-120"/>
              </a:rPr>
              <a:t>MP-02 Gestion des compétences · </a:t>
            </a:r>
            <a:pPr indent="0" marL="0">
              <a:buNone/>
            </a:pPr>
            <a:r>
              <a:rPr lang="en-US" sz="1000" dirty="0">
                <a:solidFill>
                  <a:srgbClr val="58595B"/>
                </a:solidFill>
                <a:latin typeface="Calibri" pitchFamily="34" charset="0"/>
                <a:ea typeface="Calibri" pitchFamily="34" charset="-122"/>
                <a:cs typeface="Calibri" pitchFamily="34" charset="-120"/>
              </a:rPr>
              <a:t>MP-08 Expérience et engagement des apprenants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UFT-10-01
</a:t>
                      </a:r>
                      <a:pPr indent="0" marL="0">
                        <a:buNone/>
                      </a:pPr>
                      <a:r>
                        <a:rPr lang="en-US" sz="1000" b="1" dirty="0">
                          <a:solidFill>
                            <a:srgbClr val="3A3A3C"/>
                          </a:solidFill>
                          <a:latin typeface="Calibri" pitchFamily="34" charset="0"/>
                          <a:ea typeface="Calibri" pitchFamily="34" charset="-122"/>
                          <a:cs typeface="Calibri" pitchFamily="34" charset="-120"/>
                        </a:rPr>
                        <a:t>Modéliser les parcours de carrière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MP-13.1 </a:t>
                      </a:r>
                      <a:pPr indent="0" marL="0">
                        <a:buNone/>
                      </a:pPr>
                      <a:r>
                        <a:rPr lang="en-US" sz="1000" dirty="0">
                          <a:solidFill>
                            <a:srgbClr val="58595B"/>
                          </a:solidFill>
                          <a:latin typeface="Calibri" pitchFamily="34" charset="0"/>
                          <a:ea typeface="Calibri" pitchFamily="34" charset="-122"/>
                          <a:cs typeface="Calibri" pitchFamily="34" charset="-120"/>
                        </a:rPr>
                        <a:t>Modéliser le parcours de carrière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MP-13.2 </a:t>
                      </a:r>
                      <a:pPr indent="0" marL="0">
                        <a:buNone/>
                      </a:pPr>
                      <a:r>
                        <a:rPr lang="en-US" sz="1000" dirty="0">
                          <a:solidFill>
                            <a:srgbClr val="58595B"/>
                          </a:solidFill>
                          <a:latin typeface="Calibri" pitchFamily="34" charset="0"/>
                          <a:ea typeface="Calibri" pitchFamily="34" charset="-122"/>
                          <a:cs typeface="Calibri" pitchFamily="34" charset="-120"/>
                        </a:rPr>
                        <a:t>Relier les étapes du parcours aux cibles de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Parcours : opérateur Soins cliniques et infirmiers → chef d'équipe → encadrant, avec cibles de compétences par étape.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UFT-10-02
</a:t>
                      </a:r>
                      <a:pPr indent="0" marL="0">
                        <a:buNone/>
                      </a:pPr>
                      <a:r>
                        <a:rPr lang="en-US" sz="1000" b="1" dirty="0">
                          <a:solidFill>
                            <a:srgbClr val="3A3A3C"/>
                          </a:solidFill>
                          <a:latin typeface="Calibri" pitchFamily="34" charset="0"/>
                          <a:ea typeface="Calibri" pitchFamily="34" charset="-122"/>
                          <a:cs typeface="Calibri" pitchFamily="34" charset="-120"/>
                        </a:rPr>
                        <a:t>Publier un poste interne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MP-31.1 </a:t>
                      </a:r>
                      <a:pPr indent="0" marL="0">
                        <a:buNone/>
                      </a:pPr>
                      <a:r>
                        <a:rPr lang="en-US" sz="1000" dirty="0">
                          <a:solidFill>
                            <a:srgbClr val="58595B"/>
                          </a:solidFill>
                          <a:latin typeface="Calibri" pitchFamily="34" charset="0"/>
                          <a:ea typeface="Calibri" pitchFamily="34" charset="-122"/>
                          <a:cs typeface="Calibri" pitchFamily="34" charset="-120"/>
                        </a:rPr>
                        <a:t>Publier un poste interne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MP-31.2 </a:t>
                      </a:r>
                      <a:pPr indent="0" marL="0">
                        <a:buNone/>
                      </a:pPr>
                      <a:r>
                        <a:rPr lang="en-US" sz="1000" dirty="0">
                          <a:solidFill>
                            <a:srgbClr val="58595B"/>
                          </a:solidFill>
                          <a:latin typeface="Calibri" pitchFamily="34" charset="0"/>
                          <a:ea typeface="Calibri" pitchFamily="34" charset="-122"/>
                          <a:cs typeface="Calibri" pitchFamily="34" charset="-120"/>
                        </a:rPr>
                        <a:t>Définir les compétences requises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Poste « Chef d'équipe Soins cliniques et infirmiers », compétences requises : Triage IA et aide à la décision clinique niveau 3, leadership niveau 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UFT-10-03
</a:t>
                      </a:r>
                      <a:pPr indent="0" marL="0">
                        <a:buNone/>
                      </a:pPr>
                      <a:r>
                        <a:rPr lang="en-US" sz="1000" b="1" dirty="0">
                          <a:solidFill>
                            <a:srgbClr val="3A3A3C"/>
                          </a:solidFill>
                          <a:latin typeface="Calibri" pitchFamily="34" charset="0"/>
                          <a:ea typeface="Calibri" pitchFamily="34" charset="-122"/>
                          <a:cs typeface="Calibri" pitchFamily="34" charset="-120"/>
                        </a:rPr>
                        <a:t>Rapprocher les collaborateurs du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MP-31.3 </a:t>
                      </a:r>
                      <a:pPr indent="0" marL="0">
                        <a:buNone/>
                      </a:pPr>
                      <a:r>
                        <a:rPr lang="en-US" sz="1000" dirty="0">
                          <a:solidFill>
                            <a:srgbClr val="58595B"/>
                          </a:solidFill>
                          <a:latin typeface="Calibri" pitchFamily="34" charset="0"/>
                          <a:ea typeface="Calibri" pitchFamily="34" charset="-122"/>
                          <a:cs typeface="Calibri" pitchFamily="34" charset="-120"/>
                        </a:rPr>
                        <a:t>Rapprocher les collaborateurs du poste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MP-02.7 </a:t>
                      </a:r>
                      <a:pPr indent="0" marL="0">
                        <a:buNone/>
                      </a:pPr>
                      <a:r>
                        <a:rPr lang="en-US" sz="1000" dirty="0">
                          <a:solidFill>
                            <a:srgbClr val="58595B"/>
                          </a:solidFill>
                          <a:latin typeface="Calibri" pitchFamily="34" charset="0"/>
                          <a:ea typeface="Calibri" pitchFamily="34" charset="-122"/>
                          <a:cs typeface="Calibri" pitchFamily="34" charset="-120"/>
                        </a:rPr>
                        <a:t>Valider l'inventaire des compétences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Revoir 6 correspondances IA ; garder 4 candidats au score supérieur à 75 %.</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UFT-10-04
</a:t>
                      </a:r>
                      <a:pPr indent="0" marL="0">
                        <a:buNone/>
                      </a:pPr>
                      <a:r>
                        <a:rPr lang="en-US" sz="1000" b="1" dirty="0">
                          <a:solidFill>
                            <a:srgbClr val="3A3A3C"/>
                          </a:solidFill>
                          <a:latin typeface="Calibri" pitchFamily="34" charset="0"/>
                          <a:ea typeface="Calibri" pitchFamily="34" charset="-122"/>
                          <a:cs typeface="Calibri" pitchFamily="34" charset="-120"/>
                        </a:rPr>
                        <a:t>Postuler à un poste interne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MP-31.4 </a:t>
                      </a:r>
                      <a:pPr indent="0" marL="0">
                        <a:buNone/>
                      </a:pPr>
                      <a:r>
                        <a:rPr lang="en-US" sz="1000" dirty="0">
                          <a:solidFill>
                            <a:srgbClr val="58595B"/>
                          </a:solidFill>
                          <a:latin typeface="Calibri" pitchFamily="34" charset="0"/>
                          <a:ea typeface="Calibri" pitchFamily="34" charset="-122"/>
                          <a:cs typeface="Calibri" pitchFamily="34" charset="-120"/>
                        </a:rPr>
                        <a:t>Postuler à un poste interne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Candidature avec note de motivation et accord du manager actuel.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UFT-10-05
</a:t>
                      </a:r>
                      <a:pPr indent="0" marL="0">
                        <a:buNone/>
                      </a:pPr>
                      <a:r>
                        <a:rPr lang="en-US" sz="1000" b="1" dirty="0">
                          <a:solidFill>
                            <a:srgbClr val="3A3A3C"/>
                          </a:solidFill>
                          <a:latin typeface="Calibri" pitchFamily="34" charset="0"/>
                          <a:ea typeface="Calibri" pitchFamily="34" charset="-122"/>
                          <a:cs typeface="Calibri" pitchFamily="34" charset="-120"/>
                        </a:rPr>
                        <a:t>Présélectionner les candidats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MP-31.5 </a:t>
                      </a:r>
                      <a:pPr indent="0" marL="0">
                        <a:buNone/>
                      </a:pPr>
                      <a:r>
                        <a:rPr lang="en-US" sz="1000" dirty="0">
                          <a:solidFill>
                            <a:srgbClr val="58595B"/>
                          </a:solidFill>
                          <a:latin typeface="Calibri" pitchFamily="34" charset="0"/>
                          <a:ea typeface="Calibri" pitchFamily="34" charset="-122"/>
                          <a:cs typeface="Calibri" pitchFamily="34" charset="-120"/>
                        </a:rPr>
                        <a:t>Présélectionner les candidats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Liste restreinte : 2 candidats ; entretiens les 20 et 21 juin.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0"/>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0-02 Publier un poste intern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UFT-10-02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E2E-10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talent à la mobilité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UFT-10-06
</a:t>
                      </a:r>
                      <a:pPr indent="0" marL="0">
                        <a:buNone/>
                      </a:pPr>
                      <a:r>
                        <a:rPr lang="en-US" sz="1000" b="1" dirty="0">
                          <a:solidFill>
                            <a:srgbClr val="3A3A3C"/>
                          </a:solidFill>
                          <a:latin typeface="Calibri" pitchFamily="34" charset="0"/>
                          <a:ea typeface="Calibri" pitchFamily="34" charset="-122"/>
                          <a:cs typeface="Calibri" pitchFamily="34" charset="-120"/>
                        </a:rPr>
                        <a:t>Planifier le développement individuel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MP-13.3 </a:t>
                      </a:r>
                      <a:pPr indent="0" marL="0">
                        <a:buNone/>
                      </a:pPr>
                      <a:r>
                        <a:rPr lang="en-US" sz="1000" dirty="0">
                          <a:solidFill>
                            <a:srgbClr val="58595B"/>
                          </a:solidFill>
                          <a:latin typeface="Calibri" pitchFamily="34" charset="0"/>
                          <a:ea typeface="Calibri" pitchFamily="34" charset="-122"/>
                          <a:cs typeface="Calibri" pitchFamily="34" charset="-120"/>
                        </a:rPr>
                        <a:t>Créer le plan de développement individuel</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MP-13.4 </a:t>
                      </a:r>
                      <a:pPr indent="0" marL="0">
                        <a:buNone/>
                      </a:pPr>
                      <a:r>
                        <a:rPr lang="en-US" sz="1000" dirty="0">
                          <a:solidFill>
                            <a:srgbClr val="58595B"/>
                          </a:solidFill>
                          <a:latin typeface="Calibri" pitchFamily="34" charset="0"/>
                          <a:ea typeface="Calibri" pitchFamily="34" charset="-122"/>
                          <a:cs typeface="Calibri" pitchFamily="34" charset="-120"/>
                        </a:rPr>
                        <a:t>Proposer des actions de développement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MP-42.3 </a:t>
                      </a:r>
                      <a:pPr indent="0" marL="0">
                        <a:buNone/>
                      </a:pPr>
                      <a:r>
                        <a:rPr lang="en-US" sz="1000" dirty="0">
                          <a:solidFill>
                            <a:srgbClr val="58595B"/>
                          </a:solidFill>
                          <a:latin typeface="Calibri" pitchFamily="34" charset="0"/>
                          <a:ea typeface="Calibri" pitchFamily="34" charset="-122"/>
                          <a:cs typeface="Calibri" pitchFamily="34" charset="-120"/>
                        </a:rPr>
                        <a:t>Construire le plan de développement du leadership</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 de développement : 2 modules Triage IA et aide à la décision clinique, 1 atelier leadership, 3 mois de mentorat.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UFT-10-07
</a:t>
                      </a:r>
                      <a:pPr indent="0" marL="0">
                        <a:buNone/>
                      </a:pPr>
                      <a:r>
                        <a:rPr lang="en-US" sz="1000" b="1" dirty="0">
                          <a:solidFill>
                            <a:srgbClr val="3A3A3C"/>
                          </a:solidFill>
                          <a:latin typeface="Calibri" pitchFamily="34" charset="0"/>
                          <a:ea typeface="Calibri" pitchFamily="34" charset="-122"/>
                          <a:cs typeface="Calibri" pitchFamily="34" charset="-120"/>
                        </a:rPr>
                        <a:t>Affecter un plan de reconversion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MP-31.6 </a:t>
                      </a:r>
                      <a:pPr indent="0" marL="0">
                        <a:buNone/>
                      </a:pPr>
                      <a:r>
                        <a:rPr lang="en-US" sz="1000" dirty="0">
                          <a:solidFill>
                            <a:srgbClr val="58595B"/>
                          </a:solidFill>
                          <a:latin typeface="Calibri" pitchFamily="34" charset="0"/>
                          <a:ea typeface="Calibri" pitchFamily="34" charset="-122"/>
                          <a:cs typeface="Calibri" pitchFamily="34" charset="-120"/>
                        </a:rPr>
                        <a:t>Affecter un plan de reconversion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MP-08.1 </a:t>
                      </a:r>
                      <a:pPr indent="0" marL="0">
                        <a:buNone/>
                      </a:pPr>
                      <a:r>
                        <a:rPr lang="en-US" sz="1000" dirty="0">
                          <a:solidFill>
                            <a:srgbClr val="58595B"/>
                          </a:solidFill>
                          <a:latin typeface="Calibri" pitchFamily="34" charset="0"/>
                          <a:ea typeface="Calibri" pitchFamily="34" charset="-122"/>
                          <a:cs typeface="Calibri" pitchFamily="34" charset="-120"/>
                        </a:rPr>
                        <a:t>Générer le plan d'apprentissage personnel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Affecter le parcours de reconversion « Triage IA et aide à la décision clinique pour chefs d'équipe » au candidat retenu.</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UFT-10-08
</a:t>
                      </a:r>
                      <a:pPr indent="0" marL="0">
                        <a:buNone/>
                      </a:pPr>
                      <a:r>
                        <a:rPr lang="en-US" sz="1000" b="1" dirty="0">
                          <a:solidFill>
                            <a:srgbClr val="3A3A3C"/>
                          </a:solidFill>
                          <a:latin typeface="Calibri" pitchFamily="34" charset="0"/>
                          <a:ea typeface="Calibri" pitchFamily="34" charset="-122"/>
                          <a:cs typeface="Calibri" pitchFamily="34" charset="-120"/>
                        </a:rPr>
                        <a:t>Revoir carrières et succession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MP-13.5 </a:t>
                      </a:r>
                      <a:pPr indent="0" marL="0">
                        <a:buNone/>
                      </a:pPr>
                      <a:r>
                        <a:rPr lang="en-US" sz="1000" dirty="0">
                          <a:solidFill>
                            <a:srgbClr val="58595B"/>
                          </a:solidFill>
                          <a:latin typeface="Calibri" pitchFamily="34" charset="0"/>
                          <a:ea typeface="Calibri" pitchFamily="34" charset="-122"/>
                          <a:cs typeface="Calibri" pitchFamily="34" charset="-120"/>
                        </a:rPr>
                        <a:t>Mener la revue de carrière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MP-13.6 </a:t>
                      </a:r>
                      <a:pPr indent="0" marL="0">
                        <a:buNone/>
                      </a:pPr>
                      <a:r>
                        <a:rPr lang="en-US" sz="1000" dirty="0">
                          <a:solidFill>
                            <a:srgbClr val="58595B"/>
                          </a:solidFill>
                          <a:latin typeface="Calibri" pitchFamily="34" charset="0"/>
                          <a:ea typeface="Calibri" pitchFamily="34" charset="-122"/>
                          <a:cs typeface="Calibri" pitchFamily="34" charset="-120"/>
                        </a:rPr>
                        <a:t>Mettre à jour la préparation à la succession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MP-42.5 </a:t>
                      </a:r>
                      <a:pPr indent="0" marL="0">
                        <a:buNone/>
                      </a:pPr>
                      <a:r>
                        <a:rPr lang="en-US" sz="1000" dirty="0">
                          <a:solidFill>
                            <a:srgbClr val="58595B"/>
                          </a:solidFill>
                          <a:latin typeface="Calibri" pitchFamily="34" charset="0"/>
                          <a:ea typeface="Calibri" pitchFamily="34" charset="-122"/>
                          <a:cs typeface="Calibri" pitchFamily="34" charset="-120"/>
                        </a:rPr>
                        <a:t>Revoir le vivier de dirigeants</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Préparation à la succession mise à jour : 2 prêts maintenant, 3 prêts sous 12 mois.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0"/>
          <p:cNvSpPr/>
          <p:nvPr/>
        </p:nvSpPr>
        <p:spPr>
          <a:xfrm>
            <a:off x="8494776" y="1271016"/>
            <a:ext cx="3291840" cy="2419567"/>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0">    </p:cNvPr>
          <p:cNvPicPr>
            <a:picLocks noChangeAspect="1"/>
          </p:cNvPicPr>
          <p:nvPr/>
        </p:nvPicPr>
        <p:blipFill>
          <a:blip r:embed="rId1"/>
          <a:stretch>
            <a:fillRect/>
          </a:stretch>
        </p:blipFill>
        <p:spPr>
          <a:xfrm>
            <a:off x="8549640" y="1325880"/>
            <a:ext cx="3182112" cy="2309839"/>
          </a:xfrm>
          <a:prstGeom prst="rect">
            <a:avLst/>
          </a:prstGeom>
        </p:spPr>
      </p:pic>
      <p:sp>
        <p:nvSpPr>
          <p:cNvPr id="8" name="Text 3"/>
          <p:cNvSpPr txBox="1"/>
          <p:nvPr/>
        </p:nvSpPr>
        <p:spPr>
          <a:xfrm>
            <a:off x="8549640" y="3727159"/>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E2E-10 dans CortexSkills : ses tâches, responsables et échéances, et la fiche du processus.</a:t>
            </a:r>
            <a:endParaRPr lang="en-US" sz="1000" dirty="0"/>
          </a:p>
        </p:txBody>
      </p:sp>
      <p:sp>
        <p:nvSpPr>
          <p:cNvPr id="9" name="feeds"/>
          <p:cNvSpPr/>
          <p:nvPr/>
        </p:nvSpPr>
        <p:spPr>
          <a:xfrm>
            <a:off x="8549640" y="4572000"/>
            <a:ext cx="3182112" cy="1508760"/>
          </a:xfrm>
          <a:prstGeom prst="roundRect">
            <a:avLst>
              <a:gd name="adj" fmla="val 4848"/>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686800" y="4645152"/>
            <a:ext cx="2926080" cy="1371600"/>
          </a:xfrm>
          <a:prstGeom prst="rect">
            <a:avLst/>
          </a:prstGeom>
          <a:noFill/>
          <a:ln/>
        </p:spPr>
        <p:txBody>
          <a:bodyPr wrap="square" lIns="0" tIns="0" rIns="0" bIns="0" rtlCol="0" anchor="t"/>
          <a:lstStyle/>
          <a:p>
            <a:pPr indent="0" marL="0">
              <a:buNone/>
            </a:pPr>
            <a:r>
              <a:rPr lang="en-US" sz="1000" b="1" dirty="0">
                <a:solidFill>
                  <a:srgbClr val="E07B00"/>
                </a:solidFill>
                <a:latin typeface="Calibri" pitchFamily="34" charset="0"/>
                <a:ea typeface="Calibri" pitchFamily="34" charset="-122"/>
                <a:cs typeface="Calibri" pitchFamily="34" charset="-120"/>
              </a:rPr>
              <a:t>Alimente
</a:t>
            </a:r>
            <a:pPr indent="0" marL="0">
              <a:buNone/>
            </a:pPr>
            <a:r>
              <a:rPr lang="en-US" sz="1100" dirty="0">
                <a:solidFill>
                  <a:srgbClr val="3A3A3C"/>
                </a:solidFill>
                <a:latin typeface="Calibri" pitchFamily="34" charset="0"/>
                <a:ea typeface="Calibri" pitchFamily="34" charset="-122"/>
                <a:cs typeface="Calibri" pitchFamily="34" charset="-120"/>
              </a:rPr>
              <a:t>E2E-11</a:t>
            </a:r>
            <a:endParaRPr lang="en-US" sz="1100" dirty="0"/>
          </a:p>
          <a:p>
            <a:pPr indent="0" marL="0">
              <a:buNone/>
            </a:pPr>
            <a:r>
              <a:rPr lang="en-US" sz="1000" b="1" dirty="0">
                <a:solidFill>
                  <a:srgbClr val="E07B00"/>
                </a:solidFill>
                <a:latin typeface="Calibri" pitchFamily="34" charset="0"/>
                <a:ea typeface="Calibri" pitchFamily="34" charset="-122"/>
                <a:cs typeface="Calibri" pitchFamily="34" charset="-120"/>
              </a:rPr>
              <a:t>Soutenu par
</a:t>
            </a:r>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E2E-11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l'intégration à la productivité</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Accélérer l'atteinte de la productivité</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Nouvelle recrue ou mobilité interne confirmée.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Collaborateur productif dans le délai cible et intégration clôturée.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11 étapes
</a:t>
            </a:r>
            <a:pPr indent="0" marL="0">
              <a:buNone/>
            </a:pPr>
            <a:r>
              <a:rPr lang="en-US" sz="1100" dirty="0">
                <a:solidFill>
                  <a:srgbClr val="3A3A3C"/>
                </a:solidFill>
                <a:latin typeface="Calibri" pitchFamily="34" charset="0"/>
                <a:ea typeface="Calibri" pitchFamily="34" charset="-122"/>
                <a:cs typeface="Calibri" pitchFamily="34" charset="-120"/>
              </a:rPr>
              <a:t>20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MP-35 Intégration et montée en compétences rapide · </a:t>
            </a:r>
            <a:pPr indent="0" marL="0">
              <a:buNone/>
            </a:pPr>
            <a:r>
              <a:rPr lang="en-US" sz="1000" dirty="0">
                <a:solidFill>
                  <a:srgbClr val="58595B"/>
                </a:solidFill>
                <a:latin typeface="Calibri" pitchFamily="34" charset="0"/>
                <a:ea typeface="Calibri" pitchFamily="34" charset="-122"/>
                <a:cs typeface="Calibri" pitchFamily="34" charset="-120"/>
              </a:rPr>
              <a:t>MP-07 Réalisation et mise en œuvre de la formation · </a:t>
            </a:r>
            <a:pPr indent="0" marL="0">
              <a:buNone/>
            </a:pPr>
            <a:r>
              <a:rPr lang="en-US" sz="1000" dirty="0">
                <a:solidFill>
                  <a:srgbClr val="58595B"/>
                </a:solidFill>
                <a:latin typeface="Calibri" pitchFamily="34" charset="0"/>
                <a:ea typeface="Calibri" pitchFamily="34" charset="-122"/>
                <a:cs typeface="Calibri" pitchFamily="34" charset="-120"/>
              </a:rPr>
              <a:t>MP-08 Expérience et engagement des apprenants · </a:t>
            </a:r>
            <a:pPr indent="0" marL="0">
              <a:buNone/>
            </a:pPr>
            <a:r>
              <a:rPr lang="en-US" sz="1000" dirty="0">
                <a:solidFill>
                  <a:srgbClr val="58595B"/>
                </a:solidFill>
                <a:latin typeface="Calibri" pitchFamily="34" charset="0"/>
                <a:ea typeface="Calibri" pitchFamily="34" charset="-122"/>
                <a:cs typeface="Calibri" pitchFamily="34" charset="-120"/>
              </a:rPr>
              <a:t>MP-13 Développement des talents et des carrières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UFT-11-01
</a:t>
                      </a:r>
                      <a:pPr indent="0" marL="0">
                        <a:buNone/>
                      </a:pPr>
                      <a:r>
                        <a:rPr lang="en-US" sz="1000" b="1" dirty="0">
                          <a:solidFill>
                            <a:srgbClr val="3A3A3C"/>
                          </a:solidFill>
                          <a:latin typeface="Calibri" pitchFamily="34" charset="0"/>
                          <a:ea typeface="Calibri" pitchFamily="34" charset="-122"/>
                          <a:cs typeface="Calibri" pitchFamily="34" charset="-120"/>
                        </a:rPr>
                        <a:t>Créer le dossier d'intégration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MP-35.1 </a:t>
                      </a:r>
                      <a:pPr indent="0" marL="0">
                        <a:buNone/>
                      </a:pPr>
                      <a:r>
                        <a:rPr lang="en-US" sz="1000" dirty="0">
                          <a:solidFill>
                            <a:srgbClr val="58595B"/>
                          </a:solidFill>
                          <a:latin typeface="Calibri" pitchFamily="34" charset="0"/>
                          <a:ea typeface="Calibri" pitchFamily="34" charset="-122"/>
                          <a:cs typeface="Calibri" pitchFamily="34" charset="-120"/>
                        </a:rPr>
                        <a:t>Créer le dossier d'intégration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Dossier d'intégration du nouveau technicien Soins cliniques et infirmiers, arrivée le 1er juillet, parrain désigné.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UFT-11-02
</a:t>
                      </a:r>
                      <a:pPr indent="0" marL="0">
                        <a:buNone/>
                      </a:pPr>
                      <a:r>
                        <a:rPr lang="en-US" sz="1000" b="1" dirty="0">
                          <a:solidFill>
                            <a:srgbClr val="3A3A3C"/>
                          </a:solidFill>
                          <a:latin typeface="Calibri" pitchFamily="34" charset="0"/>
                          <a:ea typeface="Calibri" pitchFamily="34" charset="-122"/>
                          <a:cs typeface="Calibri" pitchFamily="34" charset="-120"/>
                        </a:rPr>
                        <a:t>Générer le parcours 30-60-90 jours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MP-35.2 </a:t>
                      </a:r>
                      <a:pPr indent="0" marL="0">
                        <a:buNone/>
                      </a:pPr>
                      <a:r>
                        <a:rPr lang="en-US" sz="1000" dirty="0">
                          <a:solidFill>
                            <a:srgbClr val="58595B"/>
                          </a:solidFill>
                          <a:latin typeface="Calibri" pitchFamily="34" charset="0"/>
                          <a:ea typeface="Calibri" pitchFamily="34" charset="-122"/>
                          <a:cs typeface="Calibri" pitchFamily="34" charset="-120"/>
                        </a:rPr>
                        <a:t>Générer le parcours 30-60-90 jours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MP-08.1 </a:t>
                      </a:r>
                      <a:pPr indent="0" marL="0">
                        <a:buNone/>
                      </a:pPr>
                      <a:r>
                        <a:rPr lang="en-US" sz="1000" dirty="0">
                          <a:solidFill>
                            <a:srgbClr val="58595B"/>
                          </a:solidFill>
                          <a:latin typeface="Calibri" pitchFamily="34" charset="0"/>
                          <a:ea typeface="Calibri" pitchFamily="34" charset="-122"/>
                          <a:cs typeface="Calibri" pitchFamily="34" charset="-120"/>
                        </a:rPr>
                        <a:t>Générer le plan d'apprentissage personnel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Parcours 30-60-90 : J30 sécurité et ISO 7101 ; J60 Triage IA et aide à la décision clinique ; J90 autonomie au poste.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UFT-11-03
</a:t>
                      </a:r>
                      <a:pPr indent="0" marL="0">
                        <a:buNone/>
                      </a:pPr>
                      <a:r>
                        <a:rPr lang="en-US" sz="1000" b="1" dirty="0">
                          <a:solidFill>
                            <a:srgbClr val="3A3A3C"/>
                          </a:solidFill>
                          <a:latin typeface="Calibri" pitchFamily="34" charset="0"/>
                          <a:ea typeface="Calibri" pitchFamily="34" charset="-122"/>
                          <a:cs typeface="Calibri" pitchFamily="34" charset="-120"/>
                        </a:rPr>
                        <a:t>S'inscrire aux sessions d'intégration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MP-07.3 </a:t>
                      </a:r>
                      <a:pPr indent="0" marL="0">
                        <a:buNone/>
                      </a:pPr>
                      <a:r>
                        <a:rPr lang="en-US" sz="1000" dirty="0">
                          <a:solidFill>
                            <a:srgbClr val="58595B"/>
                          </a:solidFill>
                          <a:latin typeface="Calibri" pitchFamily="34" charset="0"/>
                          <a:ea typeface="Calibri" pitchFamily="34" charset="-122"/>
                          <a:cs typeface="Calibri" pitchFamily="34" charset="-120"/>
                        </a:rPr>
                        <a:t>Inscrire les apprenants à la session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MP-07.4 </a:t>
                      </a:r>
                      <a:pPr indent="0" marL="0">
                        <a:buNone/>
                      </a:pPr>
                      <a:r>
                        <a:rPr lang="en-US" sz="1000" dirty="0">
                          <a:solidFill>
                            <a:srgbClr val="58595B"/>
                          </a:solidFill>
                          <a:latin typeface="Calibri" pitchFamily="34" charset="0"/>
                          <a:ea typeface="Calibri" pitchFamily="34" charset="-122"/>
                          <a:cs typeface="Calibri" pitchFamily="34" charset="-120"/>
                        </a:rPr>
                        <a:t>Envoyer les convocations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Inscrire à la session d'accueil du 2 juillet ; convocation envoyée.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UFT-11-04
</a:t>
                      </a:r>
                      <a:pPr indent="0" marL="0">
                        <a:buNone/>
                      </a:pPr>
                      <a:r>
                        <a:rPr lang="en-US" sz="1000" b="1" dirty="0">
                          <a:solidFill>
                            <a:srgbClr val="3A3A3C"/>
                          </a:solidFill>
                          <a:latin typeface="Calibri" pitchFamily="34" charset="0"/>
                          <a:ea typeface="Calibri" pitchFamily="34" charset="-122"/>
                          <a:cs typeface="Calibri" pitchFamily="34" charset="-120"/>
                        </a:rPr>
                        <a:t>Réaliser les tâches d'intégration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MP-35.3 </a:t>
                      </a:r>
                      <a:pPr indent="0" marL="0">
                        <a:buNone/>
                      </a:pPr>
                      <a:r>
                        <a:rPr lang="en-US" sz="1000" dirty="0">
                          <a:solidFill>
                            <a:srgbClr val="58595B"/>
                          </a:solidFill>
                          <a:latin typeface="Calibri" pitchFamily="34" charset="0"/>
                          <a:ea typeface="Calibri" pitchFamily="34" charset="-122"/>
                          <a:cs typeface="Calibri" pitchFamily="34" charset="-120"/>
                        </a:rPr>
                        <a:t>Réaliser les tâches d'intégration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Reda Sefrioui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Tâches réalisées : badge, compte informatique, visite sécurité, rencontre équipe.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UFT-11-05
</a:t>
                      </a:r>
                      <a:pPr indent="0" marL="0">
                        <a:buNone/>
                      </a:pPr>
                      <a:r>
                        <a:rPr lang="en-US" sz="1000" b="1" dirty="0">
                          <a:solidFill>
                            <a:srgbClr val="3A3A3C"/>
                          </a:solidFill>
                          <a:latin typeface="Calibri" pitchFamily="34" charset="0"/>
                          <a:ea typeface="Calibri" pitchFamily="34" charset="-122"/>
                          <a:cs typeface="Calibri" pitchFamily="34" charset="-120"/>
                        </a:rPr>
                        <a:t>Tenir les points d'étape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MP-35.4 </a:t>
                      </a:r>
                      <a:pPr indent="0" marL="0">
                        <a:buNone/>
                      </a:pPr>
                      <a:r>
                        <a:rPr lang="en-US" sz="1000" dirty="0">
                          <a:solidFill>
                            <a:srgbClr val="58595B"/>
                          </a:solidFill>
                          <a:latin typeface="Calibri" pitchFamily="34" charset="0"/>
                          <a:ea typeface="Calibri" pitchFamily="34" charset="-122"/>
                          <a:cs typeface="Calibri" pitchFamily="34" charset="-120"/>
                        </a:rPr>
                        <a:t>Tenir le point d'étape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MP-21.3 </a:t>
                      </a:r>
                      <a:pPr indent="0" marL="0">
                        <a:buNone/>
                      </a:pPr>
                      <a:r>
                        <a:rPr lang="en-US" sz="1000" dirty="0">
                          <a:solidFill>
                            <a:srgbClr val="58595B"/>
                          </a:solidFill>
                          <a:latin typeface="Calibri" pitchFamily="34" charset="0"/>
                          <a:ea typeface="Calibri" pitchFamily="34" charset="-122"/>
                          <a:cs typeface="Calibri" pitchFamily="34" charset="-120"/>
                        </a:rPr>
                        <a:t>Planifier les séances de coaching</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Point J30 : conforme ; accompagnement nécessaire sur la saisie Triage IA et aide à la décision clinique.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1-02 Générer le parcours 30-60-90 jour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UFT-11-02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E2E-11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l'intégration à la productivité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UFT-11-06
</a:t>
                      </a:r>
                      <a:pPr indent="0" marL="0">
                        <a:buNone/>
                      </a:pPr>
                      <a:r>
                        <a:rPr lang="en-US" sz="1000" b="1" dirty="0">
                          <a:solidFill>
                            <a:srgbClr val="3A3A3C"/>
                          </a:solidFill>
                          <a:latin typeface="Calibri" pitchFamily="34" charset="0"/>
                          <a:ea typeface="Calibri" pitchFamily="34" charset="-122"/>
                          <a:cs typeface="Calibri" pitchFamily="34" charset="-120"/>
                        </a:rPr>
                        <a:t>Évaluer le délai d'atteinte de la productivité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MP-35.5 </a:t>
                      </a:r>
                      <a:pPr indent="0" marL="0">
                        <a:buNone/>
                      </a:pPr>
                      <a:r>
                        <a:rPr lang="en-US" sz="1000" dirty="0">
                          <a:solidFill>
                            <a:srgbClr val="58595B"/>
                          </a:solidFill>
                          <a:latin typeface="Calibri" pitchFamily="34" charset="0"/>
                          <a:ea typeface="Calibri" pitchFamily="34" charset="-122"/>
                          <a:cs typeface="Calibri" pitchFamily="34" charset="-120"/>
                        </a:rPr>
                        <a:t>Évaluer le délai d'atteinte de la productivité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Délai de productivité : 74 jours (cible 90).</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UFT-11-07
</a:t>
                      </a:r>
                      <a:pPr indent="0" marL="0">
                        <a:buNone/>
                      </a:pPr>
                      <a:r>
                        <a:rPr lang="en-US" sz="1000" b="1" dirty="0">
                          <a:solidFill>
                            <a:srgbClr val="3A3A3C"/>
                          </a:solidFill>
                          <a:latin typeface="Calibri" pitchFamily="34" charset="0"/>
                          <a:ea typeface="Calibri" pitchFamily="34" charset="-122"/>
                          <a:cs typeface="Calibri" pitchFamily="34" charset="-120"/>
                        </a:rPr>
                        <a:t>Clôturer l'intégration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MP-35.6 </a:t>
                      </a:r>
                      <a:pPr indent="0" marL="0">
                        <a:buNone/>
                      </a:pPr>
                      <a:r>
                        <a:rPr lang="en-US" sz="1000" dirty="0">
                          <a:solidFill>
                            <a:srgbClr val="58595B"/>
                          </a:solidFill>
                          <a:latin typeface="Calibri" pitchFamily="34" charset="0"/>
                          <a:ea typeface="Calibri" pitchFamily="34" charset="-122"/>
                          <a:cs typeface="Calibri" pitchFamily="34" charset="-120"/>
                        </a:rPr>
                        <a:t>Clôturer l'intégration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MP-13.3 </a:t>
                      </a:r>
                      <a:pPr indent="0" marL="0">
                        <a:buNone/>
                      </a:pPr>
                      <a:r>
                        <a:rPr lang="en-US" sz="1000" dirty="0">
                          <a:solidFill>
                            <a:srgbClr val="58595B"/>
                          </a:solidFill>
                          <a:latin typeface="Calibri" pitchFamily="34" charset="0"/>
                          <a:ea typeface="Calibri" pitchFamily="34" charset="-122"/>
                          <a:cs typeface="Calibri" pitchFamily="34" charset="-120"/>
                        </a:rPr>
                        <a:t>Créer le plan de développement individuel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Clôturer l'intégration ; rattacher le plan de développement de l'année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1"/>
          <p:cNvSpPr/>
          <p:nvPr/>
        </p:nvSpPr>
        <p:spPr>
          <a:xfrm>
            <a:off x="2249439" y="2907792"/>
            <a:ext cx="4279362" cy="3136392"/>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1">    </p:cNvPr>
          <p:cNvPicPr>
            <a:picLocks noChangeAspect="1"/>
          </p:cNvPicPr>
          <p:nvPr/>
        </p:nvPicPr>
        <p:blipFill>
          <a:blip r:embed="rId1"/>
          <a:stretch>
            <a:fillRect/>
          </a:stretch>
        </p:blipFill>
        <p:spPr>
          <a:xfrm>
            <a:off x="2304303" y="2962656"/>
            <a:ext cx="4169634" cy="3026664"/>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E2E-11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MP-35 Intégration et montée en compétences rapide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MP-07 Réalisation et mise en œuvre de la formation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Expérience et engagement des apprenants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MP-13 Développement des talents et des carrières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E2E-10</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E2E-12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capture au transfert des savoirs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Capturer et transférer les savoirs institutionnels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Expert critique identifié comme partant, en retraite ou détenteur de savoirs à risque.</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Savoirs capturés, publiés et transférés à un successeur validé.</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10 étapes
</a:t>
            </a:r>
            <a:pPr indent="0" marL="0">
              <a:buNone/>
            </a:pPr>
            <a:r>
              <a:rPr lang="en-US" sz="1100" dirty="0">
                <a:solidFill>
                  <a:srgbClr val="3A3A3C"/>
                </a:solidFill>
                <a:latin typeface="Calibri" pitchFamily="34" charset="0"/>
                <a:ea typeface="Calibri" pitchFamily="34" charset="-122"/>
                <a:cs typeface="Calibri" pitchFamily="34" charset="-120"/>
              </a:rPr>
              <a:t>20 jours · 4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MP-34 Capture et transfert des savoirs d'experts · </a:t>
            </a:r>
            <a:pPr indent="0" marL="0">
              <a:buNone/>
            </a:pPr>
            <a:r>
              <a:rPr lang="en-US" sz="1000" dirty="0">
                <a:solidFill>
                  <a:srgbClr val="58595B"/>
                </a:solidFill>
                <a:latin typeface="Calibri" pitchFamily="34" charset="0"/>
                <a:ea typeface="Calibri" pitchFamily="34" charset="-122"/>
                <a:cs typeface="Calibri" pitchFamily="34" charset="-120"/>
              </a:rPr>
              <a:t>MP-12 Culture d'apprentissage et gestion des connaissances · </a:t>
            </a:r>
            <a:pPr indent="0" marL="0">
              <a:buNone/>
            </a:pPr>
            <a:r>
              <a:rPr lang="en-US" sz="1000" dirty="0">
                <a:solidFill>
                  <a:srgbClr val="58595B"/>
                </a:solidFill>
                <a:latin typeface="Calibri" pitchFamily="34" charset="0"/>
                <a:ea typeface="Calibri" pitchFamily="34" charset="-122"/>
                <a:cs typeface="Calibri" pitchFamily="34" charset="-120"/>
              </a:rPr>
              <a:t>MP-33 Contenus générés par les utilisateurs et partage de connaissances entre pairs · </a:t>
            </a:r>
            <a:pPr indent="0" marL="0">
              <a:buNone/>
            </a:pPr>
            <a:r>
              <a:rPr lang="en-US" sz="1000" dirty="0">
                <a:solidFill>
                  <a:srgbClr val="58595B"/>
                </a:solidFill>
                <a:latin typeface="Calibri" pitchFamily="34" charset="0"/>
                <a:ea typeface="Calibri" pitchFamily="34" charset="-122"/>
                <a:cs typeface="Calibri" pitchFamily="34" charset="-120"/>
              </a:rPr>
              <a:t>MP-06 Gestion des contenus et des ressources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UFT-12-01
</a:t>
                      </a:r>
                      <a:pPr indent="0" marL="0">
                        <a:buNone/>
                      </a:pPr>
                      <a:r>
                        <a:rPr lang="en-US" sz="1000" b="1" dirty="0">
                          <a:solidFill>
                            <a:srgbClr val="3A3A3C"/>
                          </a:solidFill>
                          <a:latin typeface="Calibri" pitchFamily="34" charset="0"/>
                          <a:ea typeface="Calibri" pitchFamily="34" charset="-122"/>
                          <a:cs typeface="Calibri" pitchFamily="34" charset="-120"/>
                        </a:rPr>
                        <a:t>Identifier les experts critiques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MP-34.1 </a:t>
                      </a:r>
                      <a:pPr indent="0" marL="0">
                        <a:buNone/>
                      </a:pPr>
                      <a:r>
                        <a:rPr lang="en-US" sz="1000" dirty="0">
                          <a:solidFill>
                            <a:srgbClr val="58595B"/>
                          </a:solidFill>
                          <a:latin typeface="Calibri" pitchFamily="34" charset="0"/>
                          <a:ea typeface="Calibri" pitchFamily="34" charset="-122"/>
                          <a:cs typeface="Calibri" pitchFamily="34" charset="-120"/>
                        </a:rPr>
                        <a:t>Identifier les experts critiques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Chraibi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Expert critique : ingénieur senior Soins cliniques et infirmiers, départ à la retraite dans 8 mois ; risque de perte : élevé.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UFT-12-02
</a:t>
                      </a:r>
                      <a:pPr indent="0" marL="0">
                        <a:buNone/>
                      </a:pPr>
                      <a:r>
                        <a:rPr lang="en-US" sz="1000" b="1" dirty="0">
                          <a:solidFill>
                            <a:srgbClr val="3A3A3C"/>
                          </a:solidFill>
                          <a:latin typeface="Calibri" pitchFamily="34" charset="0"/>
                          <a:ea typeface="Calibri" pitchFamily="34" charset="-122"/>
                          <a:cs typeface="Calibri" pitchFamily="34" charset="-120"/>
                        </a:rPr>
                        <a:t>Planifier les séances de capture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MP-34.2 </a:t>
                      </a:r>
                      <a:pPr indent="0" marL="0">
                        <a:buNone/>
                      </a:pPr>
                      <a:r>
                        <a:rPr lang="en-US" sz="1000" dirty="0">
                          <a:solidFill>
                            <a:srgbClr val="58595B"/>
                          </a:solidFill>
                          <a:latin typeface="Calibri" pitchFamily="34" charset="0"/>
                          <a:ea typeface="Calibri" pitchFamily="34" charset="-122"/>
                          <a:cs typeface="Calibri" pitchFamily="34" charset="-120"/>
                        </a:rPr>
                        <a:t>Planifier les séances de capture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 de capture : 4 séances de 90 minutes sur le dépannage et les pratiques ISO 7101.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UFT-12-03
</a:t>
                      </a:r>
                      <a:pPr indent="0" marL="0">
                        <a:buNone/>
                      </a:pPr>
                      <a:r>
                        <a:rPr lang="en-US" sz="1000" b="1" dirty="0">
                          <a:solidFill>
                            <a:srgbClr val="3A3A3C"/>
                          </a:solidFill>
                          <a:latin typeface="Calibri" pitchFamily="34" charset="0"/>
                          <a:ea typeface="Calibri" pitchFamily="34" charset="-122"/>
                          <a:cs typeface="Calibri" pitchFamily="34" charset="-120"/>
                        </a:rPr>
                        <a:t>Enregistrer l'entretien d'expert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MP-34.3 </a:t>
                      </a:r>
                      <a:pPr indent="0" marL="0">
                        <a:buNone/>
                      </a:pPr>
                      <a:r>
                        <a:rPr lang="en-US" sz="1000" dirty="0">
                          <a:solidFill>
                            <a:srgbClr val="58595B"/>
                          </a:solidFill>
                          <a:latin typeface="Calibri" pitchFamily="34" charset="0"/>
                          <a:ea typeface="Calibri" pitchFamily="34" charset="-122"/>
                          <a:cs typeface="Calibri" pitchFamily="34" charset="-120"/>
                        </a:rPr>
                        <a:t>Enregistrer l'entretien d'expert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Entretien 1 enregistré (82 minutes) ; transcription jointe.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UFT-12-04
</a:t>
                      </a:r>
                      <a:pPr indent="0" marL="0">
                        <a:buNone/>
                      </a:pPr>
                      <a:r>
                        <a:rPr lang="en-US" sz="1000" b="1" dirty="0">
                          <a:solidFill>
                            <a:srgbClr val="3A3A3C"/>
                          </a:solidFill>
                          <a:latin typeface="Calibri" pitchFamily="34" charset="0"/>
                          <a:ea typeface="Calibri" pitchFamily="34" charset="-122"/>
                          <a:cs typeface="Calibri" pitchFamily="34" charset="-120"/>
                        </a:rPr>
                        <a:t>Structurer les savoirs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MP-34.4 </a:t>
                      </a:r>
                      <a:pPr indent="0" marL="0">
                        <a:buNone/>
                      </a:pPr>
                      <a:r>
                        <a:rPr lang="en-US" sz="1000" dirty="0">
                          <a:solidFill>
                            <a:srgbClr val="58595B"/>
                          </a:solidFill>
                          <a:latin typeface="Calibri" pitchFamily="34" charset="0"/>
                          <a:ea typeface="Calibri" pitchFamily="34" charset="-122"/>
                          <a:cs typeface="Calibri" pitchFamily="34" charset="-120"/>
                        </a:rPr>
                        <a:t>Structurer les savoirs à partir de la transcription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Accepter la structure IA : 5 modes de défaillance, 12 contrôles, 3 règles de décision ; corriger 2 termes techniques.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UFT-12-05
</a:t>
                      </a:r>
                      <a:pPr indent="0" marL="0">
                        <a:buNone/>
                      </a:pPr>
                      <a:r>
                        <a:rPr lang="en-US" sz="1000" b="1" dirty="0">
                          <a:solidFill>
                            <a:srgbClr val="3A3A3C"/>
                          </a:solidFill>
                          <a:latin typeface="Calibri" pitchFamily="34" charset="0"/>
                          <a:ea typeface="Calibri" pitchFamily="34" charset="-122"/>
                          <a:cs typeface="Calibri" pitchFamily="34" charset="-120"/>
                        </a:rPr>
                        <a:t>Publier un article de connaissance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MP-12.1 </a:t>
                      </a:r>
                      <a:pPr indent="0" marL="0">
                        <a:buNone/>
                      </a:pPr>
                      <a:r>
                        <a:rPr lang="en-US" sz="1000" dirty="0">
                          <a:solidFill>
                            <a:srgbClr val="58595B"/>
                          </a:solidFill>
                          <a:latin typeface="Calibri" pitchFamily="34" charset="0"/>
                          <a:ea typeface="Calibri" pitchFamily="34" charset="-122"/>
                          <a:cs typeface="Calibri" pitchFamily="34" charset="-120"/>
                        </a:rPr>
                        <a:t>Publier un article de connaissance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MP-12.2 </a:t>
                      </a:r>
                      <a:pPr indent="0" marL="0">
                        <a:buNone/>
                      </a:pPr>
                      <a:r>
                        <a:rPr lang="en-US" sz="1000" dirty="0">
                          <a:solidFill>
                            <a:srgbClr val="58595B"/>
                          </a:solidFill>
                          <a:latin typeface="Calibri" pitchFamily="34" charset="0"/>
                          <a:ea typeface="Calibri" pitchFamily="34" charset="-122"/>
                          <a:cs typeface="Calibri" pitchFamily="34" charset="-120"/>
                        </a:rPr>
                        <a:t>Indexer l'article pour la recherche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MP-33.4 </a:t>
                      </a:r>
                      <a:pPr indent="0" marL="0">
                        <a:buNone/>
                      </a:pPr>
                      <a:r>
                        <a:rPr lang="en-US" sz="1000" dirty="0">
                          <a:solidFill>
                            <a:srgbClr val="58595B"/>
                          </a:solidFill>
                          <a:latin typeface="Calibri" pitchFamily="34" charset="0"/>
                          <a:ea typeface="Calibri" pitchFamily="34" charset="-122"/>
                          <a:cs typeface="Calibri" pitchFamily="34" charset="-120"/>
                        </a:rPr>
                        <a:t>Approuver la publication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l'article « Guide de dépannage — Soins cliniques et infirmiers » en EN/FR/AR ; indexé pour la recherche.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2"/>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2-01 Identifier les experts critiqu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UFT-12-01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E2E-12 · CHAÎNE RACINE / MAÎTRESSE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capture au transfert des savoirs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UFT-12-06
</a:t>
                      </a:r>
                      <a:pPr indent="0" marL="0">
                        <a:buNone/>
                      </a:pPr>
                      <a:r>
                        <a:rPr lang="en-US" sz="1000" b="1" dirty="0">
                          <a:solidFill>
                            <a:srgbClr val="3A3A3C"/>
                          </a:solidFill>
                          <a:latin typeface="Calibri" pitchFamily="34" charset="0"/>
                          <a:ea typeface="Calibri" pitchFamily="34" charset="-122"/>
                          <a:cs typeface="Calibri" pitchFamily="34" charset="-120"/>
                        </a:rPr>
                        <a:t>Affecter le parcours au successeur</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MP-34.5 </a:t>
                      </a:r>
                      <a:pPr indent="0" marL="0">
                        <a:buNone/>
                      </a:pPr>
                      <a:r>
                        <a:rPr lang="en-US" sz="1000" dirty="0">
                          <a:solidFill>
                            <a:srgbClr val="58595B"/>
                          </a:solidFill>
                          <a:latin typeface="Calibri" pitchFamily="34" charset="0"/>
                          <a:ea typeface="Calibri" pitchFamily="34" charset="-122"/>
                          <a:cs typeface="Calibri" pitchFamily="34" charset="-120"/>
                        </a:rPr>
                        <a:t>Affecter le parcours au successeur</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MP-06.6 </a:t>
                      </a:r>
                      <a:pPr indent="0" marL="0">
                        <a:buNone/>
                      </a:pPr>
                      <a:r>
                        <a:rPr lang="en-US" sz="1000" dirty="0">
                          <a:solidFill>
                            <a:srgbClr val="58595B"/>
                          </a:solidFill>
                          <a:latin typeface="Calibri" pitchFamily="34" charset="0"/>
                          <a:ea typeface="Calibri" pitchFamily="34" charset="-122"/>
                          <a:cs typeface="Calibri" pitchFamily="34" charset="-120"/>
                        </a:rPr>
                        <a:t>Publier le contenu au catalogue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Karim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Affecter le parcours du successeur : article + 3 séances en binôme avec l'expert.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UFT-12-07
</a:t>
                      </a:r>
                      <a:pPr indent="0" marL="0">
                        <a:buNone/>
                      </a:pPr>
                      <a:r>
                        <a:rPr lang="en-US" sz="1000" b="1" dirty="0">
                          <a:solidFill>
                            <a:srgbClr val="3A3A3C"/>
                          </a:solidFill>
                          <a:latin typeface="Calibri" pitchFamily="34" charset="0"/>
                          <a:ea typeface="Calibri" pitchFamily="34" charset="-122"/>
                          <a:cs typeface="Calibri" pitchFamily="34" charset="-120"/>
                        </a:rPr>
                        <a:t>Valider l'achèvement du transfert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MP-34.6 </a:t>
                      </a:r>
                      <a:pPr indent="0" marL="0">
                        <a:buNone/>
                      </a:pPr>
                      <a:r>
                        <a:rPr lang="en-US" sz="1000" dirty="0">
                          <a:solidFill>
                            <a:srgbClr val="58595B"/>
                          </a:solidFill>
                          <a:latin typeface="Calibri" pitchFamily="34" charset="0"/>
                          <a:ea typeface="Calibri" pitchFamily="34" charset="-122"/>
                          <a:cs typeface="Calibri" pitchFamily="34" charset="-120"/>
                        </a:rPr>
                        <a:t>Valider l'achèvement du transfert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Hamza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Transfert validé : le successeur a résolu seul 4 cas tests sur 5.</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2"/>
          <p:cNvSpPr/>
          <p:nvPr/>
        </p:nvSpPr>
        <p:spPr>
          <a:xfrm>
            <a:off x="2035288" y="2596896"/>
            <a:ext cx="4707663" cy="344728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2">    </p:cNvPr>
          <p:cNvPicPr>
            <a:picLocks noChangeAspect="1"/>
          </p:cNvPicPr>
          <p:nvPr/>
        </p:nvPicPr>
        <p:blipFill>
          <a:blip r:embed="rId1"/>
          <a:stretch>
            <a:fillRect/>
          </a:stretch>
        </p:blipFill>
        <p:spPr>
          <a:xfrm>
            <a:off x="2090152" y="2651760"/>
            <a:ext cx="4597935" cy="333756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E2E-12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MP-34 Capture et transfert des savoirs d'experts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MP-12 Culture d'apprentissage et gestion des connaissances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MP-33 Contenus générés par les utilisateurs et partage de connaissances entre pairs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MP-06 Gestion des contenus et des ressources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E2E-13, E2E-06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E2E-17</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E2E-31 · RACINE (FEUILLE DE ROUTE)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mission à la feuille de route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Définir la feuille de route post-mission et l'amélioration continue</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Clôture de la mission d'ingénierie de formation en cours (E2E-19).</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Feuille de route post-mission approuvée avec missions futures et plan d'amélioration continue.</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8 tâches · 12 étapes
</a:t>
            </a:r>
            <a:pPr indent="0" marL="0">
              <a:buNone/>
            </a:pPr>
            <a:r>
              <a:rPr lang="en-US" sz="1100" dirty="0">
                <a:solidFill>
                  <a:srgbClr val="3A3A3C"/>
                </a:solidFill>
                <a:latin typeface="Calibri" pitchFamily="34" charset="0"/>
                <a:ea typeface="Calibri" pitchFamily="34" charset="-122"/>
                <a:cs typeface="Calibri" pitchFamily="34" charset="-120"/>
              </a:rPr>
              <a:t>23 jours · 5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MP-50 Feuille de route post-mission et amélioration continue · </a:t>
            </a:r>
            <a:pPr indent="0" marL="0">
              <a:buNone/>
            </a:pPr>
            <a:r>
              <a:rPr lang="en-US" sz="1000" dirty="0">
                <a:solidFill>
                  <a:srgbClr val="58595B"/>
                </a:solidFill>
                <a:latin typeface="Calibri" pitchFamily="34" charset="0"/>
                <a:ea typeface="Calibri" pitchFamily="34" charset="-122"/>
                <a:cs typeface="Calibri" pitchFamily="34" charset="-120"/>
              </a:rPr>
              <a:t>MP-36 Gestion des missions de conseil · </a:t>
            </a:r>
            <a:pPr indent="0" marL="0">
              <a:buNone/>
            </a:pPr>
            <a:r>
              <a:rPr lang="en-US" sz="1000" dirty="0">
                <a:solidFill>
                  <a:srgbClr val="58595B"/>
                </a:solidFill>
                <a:latin typeface="Calibri" pitchFamily="34" charset="0"/>
                <a:ea typeface="Calibri" pitchFamily="34" charset="-122"/>
                <a:cs typeface="Calibri" pitchFamily="34" charset="-120"/>
              </a:rPr>
              <a:t>MP-19 Conduite du changement et adoption · </a:t>
            </a:r>
            <a:pPr indent="0" marL="0">
              <a:buNone/>
            </a:pPr>
            <a:r>
              <a:rPr lang="en-US" sz="1000" dirty="0">
                <a:solidFill>
                  <a:srgbClr val="58595B"/>
                </a:solidFill>
                <a:latin typeface="Calibri" pitchFamily="34" charset="0"/>
                <a:ea typeface="Calibri" pitchFamily="34" charset="-122"/>
                <a:cs typeface="Calibri" pitchFamily="34" charset="-120"/>
              </a:rPr>
              <a:t>MP-12 Culture d'apprentissage et gestion des connaissances · </a:t>
            </a:r>
            <a:pPr indent="0" marL="0">
              <a:buNone/>
            </a:pPr>
            <a:r>
              <a:rPr lang="en-US" sz="1000" dirty="0">
                <a:solidFill>
                  <a:srgbClr val="58595B"/>
                </a:solidFill>
                <a:latin typeface="Calibri" pitchFamily="34" charset="0"/>
                <a:ea typeface="Calibri" pitchFamily="34" charset="-122"/>
                <a:cs typeface="Calibri" pitchFamily="34" charset="-120"/>
              </a:rPr>
              <a:t>MP-16 Gouvernance des données, de l'IA et des intégrations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UFT-31-01
</a:t>
                      </a:r>
                      <a:pPr indent="0" marL="0">
                        <a:buNone/>
                      </a:pPr>
                      <a:r>
                        <a:rPr lang="en-US" sz="1000" b="1" dirty="0">
                          <a:solidFill>
                            <a:srgbClr val="3A3A3C"/>
                          </a:solidFill>
                          <a:latin typeface="Calibri" pitchFamily="34" charset="0"/>
                          <a:ea typeface="Calibri" pitchFamily="34" charset="-122"/>
                          <a:cs typeface="Calibri" pitchFamily="34" charset="-120"/>
                        </a:rPr>
                        <a:t>Consolider les constats de la 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MP-50.1 </a:t>
                      </a:r>
                      <a:pPr indent="0" marL="0">
                        <a:buNone/>
                      </a:pPr>
                      <a:r>
                        <a:rPr lang="en-US" sz="1000" dirty="0">
                          <a:solidFill>
                            <a:srgbClr val="58595B"/>
                          </a:solidFill>
                          <a:latin typeface="Calibri" pitchFamily="34" charset="0"/>
                          <a:ea typeface="Calibri" pitchFamily="34" charset="-122"/>
                          <a:cs typeface="Calibri" pitchFamily="34" charset="-120"/>
                        </a:rPr>
                        <a:t>Consolider les constats de la mission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7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Constats : 6 livrables, 3 enseignements, 2 sujets ouverts (SI, organisation).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UFT-31-02
</a:t>
                      </a:r>
                      <a:pPr indent="0" marL="0">
                        <a:buNone/>
                      </a:pPr>
                      <a:r>
                        <a:rPr lang="en-US" sz="1000" b="1" dirty="0">
                          <a:solidFill>
                            <a:srgbClr val="3A3A3C"/>
                          </a:solidFill>
                          <a:latin typeface="Calibri" pitchFamily="34" charset="0"/>
                          <a:ea typeface="Calibri" pitchFamily="34" charset="-122"/>
                          <a:cs typeface="Calibri" pitchFamily="34" charset="-120"/>
                        </a:rPr>
                        <a:t>Définir les perspectives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MP-50.2 </a:t>
                      </a:r>
                      <a:pPr indent="0" marL="0">
                        <a:buNone/>
                      </a:pPr>
                      <a:r>
                        <a:rPr lang="en-US" sz="1000" dirty="0">
                          <a:solidFill>
                            <a:srgbClr val="58595B"/>
                          </a:solidFill>
                          <a:latin typeface="Calibri" pitchFamily="34" charset="0"/>
                          <a:ea typeface="Calibri" pitchFamily="34" charset="-122"/>
                          <a:cs typeface="Calibri" pitchFamily="34" charset="-120"/>
                        </a:rPr>
                        <a:t>Définir les perspectives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10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Perspectives : programme Planification IA des lits et des effectifs, deuxième vague pour le niveau OP.</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UFT-31-03
</a:t>
                      </a:r>
                      <a:pPr indent="0" marL="0">
                        <a:buNone/>
                      </a:pPr>
                      <a:r>
                        <a:rPr lang="en-US" sz="1000" b="1" dirty="0">
                          <a:solidFill>
                            <a:srgbClr val="3A3A3C"/>
                          </a:solidFill>
                          <a:latin typeface="Calibri" pitchFamily="34" charset="0"/>
                          <a:ea typeface="Calibri" pitchFamily="34" charset="-122"/>
                          <a:cs typeface="Calibri" pitchFamily="34" charset="-120"/>
                        </a:rPr>
                        <a:t>Planifier le coaching individuel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MP-50.3 </a:t>
                      </a:r>
                      <a:pPr indent="0" marL="0">
                        <a:buNone/>
                      </a:pPr>
                      <a:r>
                        <a:rPr lang="en-US" sz="1000" dirty="0">
                          <a:solidFill>
                            <a:srgbClr val="58595B"/>
                          </a:solidFill>
                          <a:latin typeface="Calibri" pitchFamily="34" charset="0"/>
                          <a:ea typeface="Calibri" pitchFamily="34" charset="-122"/>
                          <a:cs typeface="Calibri" pitchFamily="34" charset="-120"/>
                        </a:rPr>
                        <a:t>Planifier le coaching individuel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Amine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Coaching individuel : 6 managers, 6 séances chacun sur 6 mois.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UFT-31-04
</a:t>
                      </a:r>
                      <a:pPr indent="0" marL="0">
                        <a:buNone/>
                      </a:pPr>
                      <a:r>
                        <a:rPr lang="en-US" sz="1000" b="1" dirty="0">
                          <a:solidFill>
                            <a:srgbClr val="3A3A3C"/>
                          </a:solidFill>
                          <a:latin typeface="Calibri" pitchFamily="34" charset="0"/>
                          <a:ea typeface="Calibri" pitchFamily="34" charset="-122"/>
                          <a:cs typeface="Calibri" pitchFamily="34" charset="-120"/>
                        </a:rPr>
                        <a:t>Planifier l'optimisation organisationnelle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MP-50.4 </a:t>
                      </a:r>
                      <a:pPr indent="0" marL="0">
                        <a:buNone/>
                      </a:pPr>
                      <a:r>
                        <a:rPr lang="en-US" sz="1000" dirty="0">
                          <a:solidFill>
                            <a:srgbClr val="58595B"/>
                          </a:solidFill>
                          <a:latin typeface="Calibri" pitchFamily="34" charset="0"/>
                          <a:ea typeface="Calibri" pitchFamily="34" charset="-122"/>
                          <a:cs typeface="Calibri" pitchFamily="34" charset="-120"/>
                        </a:rPr>
                        <a:t>Planifier l'optimisation organisationnelle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Mehdi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Optimisation organisationnelle : fusionner 2 cellules de planification ; mettre à jour 11 fiches.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UFT-31-05
</a:t>
                      </a:r>
                      <a:pPr indent="0" marL="0">
                        <a:buNone/>
                      </a:pPr>
                      <a:r>
                        <a:rPr lang="en-US" sz="1000" b="1" dirty="0">
                          <a:solidFill>
                            <a:srgbClr val="3A3A3C"/>
                          </a:solidFill>
                          <a:latin typeface="Calibri" pitchFamily="34" charset="0"/>
                          <a:ea typeface="Calibri" pitchFamily="34" charset="-122"/>
                          <a:cs typeface="Calibri" pitchFamily="34" charset="-120"/>
                        </a:rPr>
                        <a:t>Planifier la réhabilitation du SI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MP-50.5 </a:t>
                      </a:r>
                      <a:pPr indent="0" marL="0">
                        <a:buNone/>
                      </a:pPr>
                      <a:r>
                        <a:rPr lang="en-US" sz="1000" dirty="0">
                          <a:solidFill>
                            <a:srgbClr val="58595B"/>
                          </a:solidFill>
                          <a:latin typeface="Calibri" pitchFamily="34" charset="0"/>
                          <a:ea typeface="Calibri" pitchFamily="34" charset="-122"/>
                          <a:cs typeface="Calibri" pitchFamily="34" charset="-120"/>
                        </a:rPr>
                        <a:t>Planifier la réhabilitation du SI</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Réhabilitation SI : connecter SIRH et plateforme de formation ; supprimer 2 tableurs.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31"/>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31-02 Définir les perspectives">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UFT-31-02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6 · E2E-31 · RACINE (FEUILLE DE ROUTE)</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 la mission à la feuille de route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UFT-31-06
</a:t>
                      </a:r>
                      <a:pPr indent="0" marL="0">
                        <a:buNone/>
                      </a:pPr>
                      <a:r>
                        <a:rPr lang="en-US" sz="1000" b="1" dirty="0">
                          <a:solidFill>
                            <a:srgbClr val="3A3A3C"/>
                          </a:solidFill>
                          <a:latin typeface="Calibri" pitchFamily="34" charset="0"/>
                          <a:ea typeface="Calibri" pitchFamily="34" charset="-122"/>
                          <a:cs typeface="Calibri" pitchFamily="34" charset="-120"/>
                        </a:rPr>
                        <a:t>Définir les indicateurs et tableaux de bord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MP-50.6 </a:t>
                      </a:r>
                      <a:pPr indent="0" marL="0">
                        <a:buNone/>
                      </a:pPr>
                      <a:r>
                        <a:rPr lang="en-US" sz="1000" dirty="0">
                          <a:solidFill>
                            <a:srgbClr val="58595B"/>
                          </a:solidFill>
                          <a:latin typeface="Calibri" pitchFamily="34" charset="0"/>
                          <a:ea typeface="Calibri" pitchFamily="34" charset="-122"/>
                          <a:cs typeface="Calibri" pitchFamily="34" charset="-120"/>
                        </a:rPr>
                        <a:t>Définir les indicateurs et tableaux de bord</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Anas Hajji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KPI : couverture de formation, délai d'acquisition, ROI par thème ; tableau de bord mensuel.</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UFT-31-07
</a:t>
                      </a:r>
                      <a:pPr indent="0" marL="0">
                        <a:buNone/>
                      </a:pPr>
                      <a:r>
                        <a:rPr lang="en-US" sz="1000" b="1" dirty="0">
                          <a:solidFill>
                            <a:srgbClr val="3A3A3C"/>
                          </a:solidFill>
                          <a:latin typeface="Calibri" pitchFamily="34" charset="0"/>
                          <a:ea typeface="Calibri" pitchFamily="34" charset="-122"/>
                          <a:cs typeface="Calibri" pitchFamily="34" charset="-120"/>
                        </a:rPr>
                        <a:t>Prioriser les missions futures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MP-50.7 </a:t>
                      </a:r>
                      <a:pPr indent="0" marL="0">
                        <a:buNone/>
                      </a:pPr>
                      <a:r>
                        <a:rPr lang="en-US" sz="1000" dirty="0">
                          <a:solidFill>
                            <a:srgbClr val="58595B"/>
                          </a:solidFill>
                          <a:latin typeface="Calibri" pitchFamily="34" charset="0"/>
                          <a:ea typeface="Calibri" pitchFamily="34" charset="-122"/>
                          <a:cs typeface="Calibri" pitchFamily="34" charset="-120"/>
                        </a:rPr>
                        <a:t>Prioriser les missions futures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MP-50.8 </a:t>
                      </a:r>
                      <a:pPr indent="0" marL="0">
                        <a:buNone/>
                      </a:pPr>
                      <a:r>
                        <a:rPr lang="en-US" sz="1000" dirty="0">
                          <a:solidFill>
                            <a:srgbClr val="58595B"/>
                          </a:solidFill>
                          <a:latin typeface="Calibri" pitchFamily="34" charset="0"/>
                          <a:ea typeface="Calibri" pitchFamily="34" charset="-122"/>
                          <a:cs typeface="Calibri" pitchFamily="34" charset="-120"/>
                        </a:rPr>
                        <a:t>Valider la feuille de route avec la direction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Missions prioritaires : 1 réhabilitation SI, 2 coaching, 3 optimisation organisationnelle.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UFT-31-08
</a:t>
                      </a:r>
                      <a:pPr indent="0" marL="0">
                        <a:buNone/>
                      </a:pPr>
                      <a:r>
                        <a:rPr lang="en-US" sz="1000" b="1" dirty="0">
                          <a:solidFill>
                            <a:srgbClr val="3A3A3C"/>
                          </a:solidFill>
                          <a:latin typeface="Calibri" pitchFamily="34" charset="0"/>
                          <a:ea typeface="Calibri" pitchFamily="34" charset="-122"/>
                          <a:cs typeface="Calibri" pitchFamily="34" charset="-120"/>
                        </a:rPr>
                        <a:t>Publier la feuille de route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MP-50.9 </a:t>
                      </a:r>
                      <a:pPr indent="0" marL="0">
                        <a:buNone/>
                      </a:pPr>
                      <a:r>
                        <a:rPr lang="en-US" sz="1000" dirty="0">
                          <a:solidFill>
                            <a:srgbClr val="58595B"/>
                          </a:solidFill>
                          <a:latin typeface="Calibri" pitchFamily="34" charset="0"/>
                          <a:ea typeface="Calibri" pitchFamily="34" charset="-122"/>
                          <a:cs typeface="Calibri" pitchFamily="34" charset="-120"/>
                        </a:rPr>
                        <a:t>Publier la feuille de route post-mission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MP-50.10 </a:t>
                      </a:r>
                      <a:pPr indent="0" marL="0">
                        <a:buNone/>
                      </a:pPr>
                      <a:r>
                        <a:rPr lang="en-US" sz="1000" dirty="0">
                          <a:solidFill>
                            <a:srgbClr val="58595B"/>
                          </a:solidFill>
                          <a:latin typeface="Calibri" pitchFamily="34" charset="0"/>
                          <a:ea typeface="Calibri" pitchFamily="34" charset="-122"/>
                          <a:cs typeface="Calibri" pitchFamily="34" charset="-120"/>
                        </a:rPr>
                        <a:t>Suivre l'exécution de la feuille de route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MP-50.11 </a:t>
                      </a:r>
                      <a:pPr indent="0" marL="0">
                        <a:buNone/>
                      </a:pPr>
                      <a:r>
                        <a:rPr lang="en-US" sz="1000" dirty="0">
                          <a:solidFill>
                            <a:srgbClr val="58595B"/>
                          </a:solidFill>
                          <a:latin typeface="Calibri" pitchFamily="34" charset="0"/>
                          <a:ea typeface="Calibri" pitchFamily="34" charset="-122"/>
                          <a:cs typeface="Calibri" pitchFamily="34" charset="-120"/>
                        </a:rPr>
                        <a:t>Améliorer la feuille de route en continu</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+ 1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Nadia Lahlou</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sept.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Publier la feuille de route post-mission RPT-010 au comité de direction.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31"/>
          <p:cNvSpPr/>
          <p:nvPr/>
        </p:nvSpPr>
        <p:spPr>
          <a:xfrm>
            <a:off x="3043055" y="4059936"/>
            <a:ext cx="2692130" cy="198424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31">    </p:cNvPr>
          <p:cNvPicPr>
            <a:picLocks noChangeAspect="1"/>
          </p:cNvPicPr>
          <p:nvPr/>
        </p:nvPicPr>
        <p:blipFill>
          <a:blip r:embed="rId1"/>
          <a:stretch>
            <a:fillRect/>
          </a:stretch>
        </p:blipFill>
        <p:spPr>
          <a:xfrm>
            <a:off x="3097919" y="4114800"/>
            <a:ext cx="2582402" cy="1874520"/>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E2E-31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MP-50 Feuille de route post-mission et amélioration continue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MP-36 Gestion des missions de conseil</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MP-19 Conduite du changement et adoption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MP-12 Culture d'apprentissage et gestion des connaissances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MP-16 Gouvernance des données, de l'IA et des intégrations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E2E-17, E2E-18</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2" name=""/>
        <p:cNvGrpSpPr/>
        <p:nvPr/>
      </p:nvGrpSpPr>
      <p:grpSpPr>
        <a:xfrm>
          <a:off x="0" y="0"/>
          <a:ext cx="0" cy="0"/>
          <a:chOff x="0" y="0"/>
          <a:chExt cx="0" cy="0"/>
        </a:xfrm>
      </p:grpSpPr>
      <p:sp>
        <p:nvSpPr>
          <p:cNvPr id="3" name="Text 0"/>
          <p:cNvSpPr txBox="1"/>
          <p:nvPr/>
        </p:nvSpPr>
        <p:spPr>
          <a:xfrm>
            <a:off x="457200" y="914400"/>
            <a:ext cx="2743200" cy="1280160"/>
          </a:xfrm>
          <a:prstGeom prst="rect">
            <a:avLst/>
          </a:prstGeom>
          <a:noFill/>
          <a:ln/>
        </p:spPr>
        <p:txBody>
          <a:bodyPr wrap="square" lIns="0" tIns="0" rIns="0" bIns="0" rtlCol="0" anchor="ctr"/>
          <a:lstStyle/>
          <a:p>
            <a:pPr indent="0" marL="0">
              <a:buNone/>
            </a:pPr>
            <a:r>
              <a:rPr lang="en-US" sz="8000" b="1" dirty="0">
                <a:solidFill>
                  <a:srgbClr val="F8931D"/>
                </a:solidFill>
                <a:latin typeface="Cambria" pitchFamily="34" charset="0"/>
                <a:ea typeface="Cambria" pitchFamily="34" charset="-122"/>
                <a:cs typeface="Cambria" pitchFamily="34" charset="-120"/>
              </a:rPr>
              <a:t>00</a:t>
            </a:r>
            <a:endParaRPr lang="en-US" sz="8000" dirty="0"/>
          </a:p>
        </p:txBody>
      </p:sp>
      <p:sp>
        <p:nvSpPr>
          <p:cNvPr id="4" name="Text 1"/>
          <p:cNvSpPr txBox="1"/>
          <p:nvPr/>
        </p:nvSpPr>
        <p:spPr>
          <a:xfrm>
            <a:off x="457200" y="2331720"/>
            <a:ext cx="5486400" cy="320040"/>
          </a:xfrm>
          <a:prstGeom prst="rect">
            <a:avLst/>
          </a:prstGeom>
          <a:noFill/>
          <a:ln/>
        </p:spPr>
        <p:txBody>
          <a:bodyPr wrap="square" lIns="0" tIns="0" rIns="0" bIns="0" rtlCol="0" anchor="ctr"/>
          <a:lstStyle/>
          <a:p>
            <a:pPr indent="0" marL="0">
              <a:buNone/>
            </a:pPr>
            <a:r>
              <a:rPr lang="en-US" sz="1300" b="1" spc="300" kern="0" dirty="0">
                <a:solidFill>
                  <a:srgbClr val="F8931D"/>
                </a:solidFill>
                <a:latin typeface="Calibri" pitchFamily="34" charset="0"/>
                <a:ea typeface="Calibri" pitchFamily="34" charset="-122"/>
                <a:cs typeface="Calibri" pitchFamily="34" charset="-120"/>
              </a:rPr>
              <a:t>PHASE 0</a:t>
            </a:r>
            <a:endParaRPr lang="en-US" sz="1300" dirty="0"/>
          </a:p>
        </p:txBody>
      </p:sp>
      <p:sp>
        <p:nvSpPr>
          <p:cNvPr id="5" name="Text 2"/>
          <p:cNvSpPr txBox="1"/>
          <p:nvPr/>
        </p:nvSpPr>
        <p:spPr>
          <a:xfrm>
            <a:off x="457200" y="2697480"/>
            <a:ext cx="566928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Catalyseurs (transverses à toutes les phases)</a:t>
            </a:r>
            <a:endParaRPr lang="en-US" sz="3600" dirty="0"/>
          </a:p>
        </p:txBody>
      </p:sp>
      <p:sp>
        <p:nvSpPr>
          <p:cNvPr id="6" name="Text 3"/>
          <p:cNvSpPr txBox="1"/>
          <p:nvPr/>
        </p:nvSpPr>
        <p:spPr>
          <a:xfrm>
            <a:off x="457200" y="4206240"/>
            <a:ext cx="5669280" cy="1097280"/>
          </a:xfrm>
          <a:prstGeom prst="rect">
            <a:avLst/>
          </a:prstGeom>
          <a:noFill/>
          <a:ln/>
        </p:spPr>
        <p:txBody>
          <a:bodyPr wrap="square" lIns="0" tIns="0" rIns="0" bIns="0" rtlCol="0" anchor="t"/>
          <a:lstStyle/>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3 processus · 21 tâches · 34 étapes</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18 avr. 2026 – 31 juil. 2026</a:t>
            </a:r>
            <a:endParaRPr lang="en-US" sz="1500" dirty="0"/>
          </a:p>
          <a:p>
            <a:pPr indent="0" marL="0">
              <a:spcAft>
                <a:spcPts val="400"/>
              </a:spcAft>
              <a:buNone/>
            </a:pPr>
            <a:r>
              <a:rPr lang="en-US" sz="1500" dirty="0">
                <a:solidFill>
                  <a:srgbClr val="D6D6D8"/>
                </a:solidFill>
                <a:latin typeface="Calibri" pitchFamily="34" charset="0"/>
                <a:ea typeface="Calibri" pitchFamily="34" charset="-122"/>
                <a:cs typeface="Calibri" pitchFamily="34" charset="-120"/>
              </a:rPr>
              <a:t>Sur toutes les phases</a:t>
            </a:r>
            <a:endParaRPr lang="en-US" sz="1500" dirty="0"/>
          </a:p>
        </p:txBody>
      </p:sp>
      <p:sp>
        <p:nvSpPr>
          <p:cNvPr id="7" name="Text 4"/>
          <p:cNvSpPr txBox="1"/>
          <p:nvPr/>
        </p:nvSpPr>
        <p:spPr>
          <a:xfrm>
            <a:off x="6675120" y="1097280"/>
            <a:ext cx="5029200" cy="4754880"/>
          </a:xfrm>
          <a:prstGeom prst="rect">
            <a:avLst/>
          </a:prstGeom>
          <a:noFill/>
          <a:ln/>
        </p:spPr>
        <p:txBody>
          <a:bodyPr wrap="square" lIns="0" tIns="0" rIns="0" bIns="0" rtlCol="0" anchor="ctr"/>
          <a:lstStyle/>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E2E-15   Données, IA et intégrations</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E2E-17   Du changement à l'adoption</a:t>
            </a:r>
            <a:endParaRPr lang="en-US" sz="1500" dirty="0"/>
          </a:p>
          <a:p>
            <a:pPr indent="0" marL="0">
              <a:spcAft>
                <a:spcPts val="600"/>
              </a:spcAft>
              <a:buNone/>
            </a:pPr>
            <a:r>
              <a:rPr lang="en-US" sz="1500" dirty="0">
                <a:solidFill>
                  <a:srgbClr val="FFFFFF"/>
                </a:solidFill>
                <a:latin typeface="Calibri" pitchFamily="34" charset="0"/>
                <a:ea typeface="Calibri" pitchFamily="34" charset="-122"/>
                <a:cs typeface="Calibri" pitchFamily="34" charset="-120"/>
              </a:rPr>
              <a:t>E2E-18   Qualité, risques et amélioration</a:t>
            </a:r>
            <a:endParaRPr lang="en-US" sz="15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E2E-15 · RACINE / CATALYSEUR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Données, IA et intégrations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Gouverner les données, l'IA et les intégrations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Nouvelle intégration, source de données ou cas d'usage IA à gouverner.</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Intégrations, données et IA gouvernées, avec santé, conservation et usage revus.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11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MP-16 Gouvernance des données, de l'IA et des intégrations · </a:t>
            </a:r>
            <a:pPr indent="0" marL="0">
              <a:buNone/>
            </a:pPr>
            <a:r>
              <a:rPr lang="en-US" sz="1000" dirty="0">
                <a:solidFill>
                  <a:srgbClr val="58595B"/>
                </a:solidFill>
                <a:latin typeface="Calibri" pitchFamily="34" charset="0"/>
                <a:ea typeface="Calibri" pitchFamily="34" charset="-122"/>
                <a:cs typeface="Calibri" pitchFamily="34" charset="-120"/>
              </a:rPr>
              <a:t>MP-17 Gestion des identités, des accès et de la sécurité · </a:t>
            </a:r>
            <a:pPr indent="0" marL="0">
              <a:buNone/>
            </a:pPr>
            <a:r>
              <a:rPr lang="en-US" sz="1000" dirty="0">
                <a:solidFill>
                  <a:srgbClr val="58595B"/>
                </a:solidFill>
                <a:latin typeface="Calibri" pitchFamily="34" charset="0"/>
                <a:ea typeface="Calibri" pitchFamily="34" charset="-122"/>
                <a:cs typeface="Calibri" pitchFamily="34" charset="-120"/>
              </a:rPr>
              <a:t>MP-10 Reporting et analyses · </a:t>
            </a:r>
            <a:pPr indent="0" marL="0">
              <a:buNone/>
            </a:pPr>
            <a:r>
              <a:rPr lang="en-US" sz="1000" dirty="0">
                <a:solidFill>
                  <a:srgbClr val="58595B"/>
                </a:solidFill>
                <a:latin typeface="Calibri" pitchFamily="34" charset="0"/>
                <a:ea typeface="Calibri" pitchFamily="34" charset="-122"/>
                <a:cs typeface="Calibri" pitchFamily="34" charset="-120"/>
              </a:rPr>
              <a:t>MP-24 Personnalisation par l'IA et apprentissage adaptatif · </a:t>
            </a:r>
            <a:pPr indent="0" marL="0">
              <a:buNone/>
            </a:pPr>
            <a:r>
              <a:rPr lang="en-US" sz="1000" dirty="0">
                <a:solidFill>
                  <a:srgbClr val="58595B"/>
                </a:solidFill>
                <a:latin typeface="Calibri" pitchFamily="34" charset="0"/>
                <a:ea typeface="Calibri" pitchFamily="34" charset="-122"/>
                <a:cs typeface="Calibri" pitchFamily="34" charset="-120"/>
              </a:rPr>
              <a:t>MP-28 Analytique prédictive de l'apprentissage et intelligence</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UFT-15-01
</a:t>
                      </a:r>
                      <a:pPr indent="0" marL="0">
                        <a:buNone/>
                      </a:pPr>
                      <a:r>
                        <a:rPr lang="en-US" sz="1000" b="1" dirty="0">
                          <a:solidFill>
                            <a:srgbClr val="3A3A3C"/>
                          </a:solidFill>
                          <a:latin typeface="Calibri" pitchFamily="34" charset="0"/>
                          <a:ea typeface="Calibri" pitchFamily="34" charset="-122"/>
                          <a:cs typeface="Calibri" pitchFamily="34" charset="-120"/>
                        </a:rPr>
                        <a:t>Enregistrer une intégration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MP-16.1 </a:t>
                      </a:r>
                      <a:pPr indent="0" marL="0">
                        <a:buNone/>
                      </a:pPr>
                      <a:r>
                        <a:rPr lang="en-US" sz="1000" dirty="0">
                          <a:solidFill>
                            <a:srgbClr val="58595B"/>
                          </a:solidFill>
                          <a:latin typeface="Calibri" pitchFamily="34" charset="0"/>
                          <a:ea typeface="Calibri" pitchFamily="34" charset="-122"/>
                          <a:cs typeface="Calibri" pitchFamily="34" charset="-120"/>
                        </a:rPr>
                        <a:t>Enregistrer une intégration externe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Loubna Mansouri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Enregistrer l'intégration « SIRH — Workday » (INT-HR-01) ; référence d'identifiants stockée chiffrée.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UFT-15-02
</a:t>
                      </a:r>
                      <a:pPr indent="0" marL="0">
                        <a:buNone/>
                      </a:pPr>
                      <a:r>
                        <a:rPr lang="en-US" sz="1000" b="1" dirty="0">
                          <a:solidFill>
                            <a:srgbClr val="3A3A3C"/>
                          </a:solidFill>
                          <a:latin typeface="Calibri" pitchFamily="34" charset="0"/>
                          <a:ea typeface="Calibri" pitchFamily="34" charset="-122"/>
                          <a:cs typeface="Calibri" pitchFamily="34" charset="-120"/>
                        </a:rPr>
                        <a:t>Mapper les champs et vérifier la santé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MP-16.2 </a:t>
                      </a:r>
                      <a:pPr indent="0" marL="0">
                        <a:buNone/>
                      </a:pPr>
                      <a:r>
                        <a:rPr lang="en-US" sz="1000" dirty="0">
                          <a:solidFill>
                            <a:srgbClr val="58595B"/>
                          </a:solidFill>
                          <a:latin typeface="Calibri" pitchFamily="34" charset="0"/>
                          <a:ea typeface="Calibri" pitchFamily="34" charset="-122"/>
                          <a:cs typeface="Calibri" pitchFamily="34" charset="-120"/>
                        </a:rPr>
                        <a:t>Mapper les champs de l'intégration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MP-16.3 </a:t>
                      </a:r>
                      <a:pPr indent="0" marL="0">
                        <a:buNone/>
                      </a:pPr>
                      <a:r>
                        <a:rPr lang="en-US" sz="1000" dirty="0">
                          <a:solidFill>
                            <a:srgbClr val="58595B"/>
                          </a:solidFill>
                          <a:latin typeface="Calibri" pitchFamily="34" charset="0"/>
                          <a:ea typeface="Calibri" pitchFamily="34" charset="-122"/>
                          <a:cs typeface="Calibri" pitchFamily="34" charset="-120"/>
                        </a:rPr>
                        <a:t>Vérifier la santé de l'intégration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Mapper les champs : employee_id → matricule ; position → poste. Test de santé : succès.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UFT-15-03
</a:t>
                      </a:r>
                      <a:pPr indent="0" marL="0">
                        <a:buNone/>
                      </a:pPr>
                      <a:r>
                        <a:rPr lang="en-US" sz="1000" b="1" dirty="0">
                          <a:solidFill>
                            <a:srgbClr val="3A3A3C"/>
                          </a:solidFill>
                          <a:latin typeface="Calibri" pitchFamily="34" charset="0"/>
                          <a:ea typeface="Calibri" pitchFamily="34" charset="-122"/>
                          <a:cs typeface="Calibri" pitchFamily="34" charset="-120"/>
                        </a:rPr>
                        <a:t>Lancer la synchronisation SIRH</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MP-16.4 </a:t>
                      </a:r>
                      <a:pPr indent="0" marL="0">
                        <a:buNone/>
                      </a:pPr>
                      <a:r>
                        <a:rPr lang="en-US" sz="1000" dirty="0">
                          <a:solidFill>
                            <a:srgbClr val="58595B"/>
                          </a:solidFill>
                          <a:latin typeface="Calibri" pitchFamily="34" charset="0"/>
                          <a:ea typeface="Calibri" pitchFamily="34" charset="-122"/>
                          <a:cs typeface="Calibri" pitchFamily="34" charset="-120"/>
                        </a:rPr>
                        <a:t>Lancer la synchronisation SIRH</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MP-16.5 </a:t>
                      </a:r>
                      <a:pPr indent="0" marL="0">
                        <a:buNone/>
                      </a:pPr>
                      <a:r>
                        <a:rPr lang="en-US" sz="1000" dirty="0">
                          <a:solidFill>
                            <a:srgbClr val="58595B"/>
                          </a:solidFill>
                          <a:latin typeface="Calibri" pitchFamily="34" charset="0"/>
                          <a:ea typeface="Calibri" pitchFamily="34" charset="-122"/>
                          <a:cs typeface="Calibri" pitchFamily="34" charset="-120"/>
                        </a:rPr>
                        <a:t>Revoir les rejets de synchronisation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Synchronisation : 1 204 fiches mises à jour, 3 rejetées (poste manquant) — corrigées.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UFT-15-04
</a:t>
                      </a:r>
                      <a:pPr indent="0" marL="0">
                        <a:buNone/>
                      </a:pPr>
                      <a:r>
                        <a:rPr lang="en-US" sz="1000" b="1" dirty="0">
                          <a:solidFill>
                            <a:srgbClr val="3A3A3C"/>
                          </a:solidFill>
                          <a:latin typeface="Calibri" pitchFamily="34" charset="0"/>
                          <a:ea typeface="Calibri" pitchFamily="34" charset="-122"/>
                          <a:cs typeface="Calibri" pitchFamily="34" charset="-120"/>
                        </a:rPr>
                        <a:t>Définir une règle de conservation des données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MP-16.6 </a:t>
                      </a:r>
                      <a:pPr indent="0" marL="0">
                        <a:buNone/>
                      </a:pPr>
                      <a:r>
                        <a:rPr lang="en-US" sz="1000" dirty="0">
                          <a:solidFill>
                            <a:srgbClr val="58595B"/>
                          </a:solidFill>
                          <a:latin typeface="Calibri" pitchFamily="34" charset="0"/>
                          <a:ea typeface="Calibri" pitchFamily="34" charset="-122"/>
                          <a:cs typeface="Calibri" pitchFamily="34" charset="-120"/>
                        </a:rPr>
                        <a:t>Définir une règle de conservation des données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Conservation : réponses aux questionnaires 3 ans ; dossiers de formation 10 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UFT-15-05
</a:t>
                      </a:r>
                      <a:pPr indent="0" marL="0">
                        <a:buNone/>
                      </a:pPr>
                      <a:r>
                        <a:rPr lang="en-US" sz="1000" b="1" dirty="0">
                          <a:solidFill>
                            <a:srgbClr val="3A3A3C"/>
                          </a:solidFill>
                          <a:latin typeface="Calibri" pitchFamily="34" charset="0"/>
                          <a:ea typeface="Calibri" pitchFamily="34" charset="-122"/>
                          <a:cs typeface="Calibri" pitchFamily="34" charset="-120"/>
                        </a:rPr>
                        <a:t>Tenir le registre des cas d'usage 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MP-16.7 </a:t>
                      </a:r>
                      <a:pPr indent="0" marL="0">
                        <a:buNone/>
                      </a:pPr>
                      <a:r>
                        <a:rPr lang="en-US" sz="1000" dirty="0">
                          <a:solidFill>
                            <a:srgbClr val="58595B"/>
                          </a:solidFill>
                          <a:latin typeface="Calibri" pitchFamily="34" charset="0"/>
                          <a:ea typeface="Calibri" pitchFamily="34" charset="-122"/>
                          <a:cs typeface="Calibri" pitchFamily="34" charset="-120"/>
                        </a:rPr>
                        <a:t>Tenir le registre des cas d'usage 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Loubna Mansouri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Ajouter le cas d'usage « Synthèse des rapports de poste » (Assistif), version 1.</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5"/>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5-01 Enregistrer une intégration extern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UFT-15-01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E2E-15 · RACINE / CATALYSEUR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Données, IA et intégrations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UFT-15-06
</a:t>
                      </a:r>
                      <a:pPr indent="0" marL="0">
                        <a:buNone/>
                      </a:pPr>
                      <a:r>
                        <a:rPr lang="en-US" sz="1000" b="1" dirty="0">
                          <a:solidFill>
                            <a:srgbClr val="3A3A3C"/>
                          </a:solidFill>
                          <a:latin typeface="Calibri" pitchFamily="34" charset="0"/>
                          <a:ea typeface="Calibri" pitchFamily="34" charset="-122"/>
                          <a:cs typeface="Calibri" pitchFamily="34" charset="-120"/>
                        </a:rPr>
                        <a:t>Définir l'activation de l'IA par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MP-16.8 </a:t>
                      </a:r>
                      <a:pPr indent="0" marL="0">
                        <a:buNone/>
                      </a:pPr>
                      <a:r>
                        <a:rPr lang="en-US" sz="1000" dirty="0">
                          <a:solidFill>
                            <a:srgbClr val="58595B"/>
                          </a:solidFill>
                          <a:latin typeface="Calibri" pitchFamily="34" charset="0"/>
                          <a:ea typeface="Calibri" pitchFamily="34" charset="-122"/>
                          <a:cs typeface="Calibri" pitchFamily="34" charset="-120"/>
                        </a:rPr>
                        <a:t>Définir l'activation de l'IA par périmètre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MP-24.1 </a:t>
                      </a:r>
                      <a:pPr indent="0" marL="0">
                        <a:buNone/>
                      </a:pPr>
                      <a:r>
                        <a:rPr lang="en-US" sz="1000" dirty="0">
                          <a:solidFill>
                            <a:srgbClr val="58595B"/>
                          </a:solidFill>
                          <a:latin typeface="Calibri" pitchFamily="34" charset="0"/>
                          <a:ea typeface="Calibri" pitchFamily="34" charset="-122"/>
                          <a:cs typeface="Calibri" pitchFamily="34" charset="-120"/>
                        </a:rPr>
                        <a:t>Activer la personnalisation par périmètre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Loubna Mansouri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Activer AIUC-35 et AIUC-36 pour l'organisation ; forçage Off pour le projet pilote B.</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UFT-15-07
</a:t>
                      </a:r>
                      <a:pPr indent="0" marL="0">
                        <a:buNone/>
                      </a:pPr>
                      <a:r>
                        <a:rPr lang="en-US" sz="1000" b="1" dirty="0">
                          <a:solidFill>
                            <a:srgbClr val="3A3A3C"/>
                          </a:solidFill>
                          <a:latin typeface="Calibri" pitchFamily="34" charset="0"/>
                          <a:ea typeface="Calibri" pitchFamily="34" charset="-122"/>
                          <a:cs typeface="Calibri" pitchFamily="34" charset="-120"/>
                        </a:rPr>
                        <a:t>Revoir le journal d'usage de l'IA</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MP-16.9 </a:t>
                      </a:r>
                      <a:pPr indent="0" marL="0">
                        <a:buNone/>
                      </a:pPr>
                      <a:r>
                        <a:rPr lang="en-US" sz="1000" dirty="0">
                          <a:solidFill>
                            <a:srgbClr val="58595B"/>
                          </a:solidFill>
                          <a:latin typeface="Calibri" pitchFamily="34" charset="0"/>
                          <a:ea typeface="Calibri" pitchFamily="34" charset="-122"/>
                          <a:cs typeface="Calibri" pitchFamily="34" charset="-120"/>
                        </a:rPr>
                        <a:t>Revoir le journal d'usage de l'IA</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MP-28.2 </a:t>
                      </a:r>
                      <a:pPr indent="0" marL="0">
                        <a:buNone/>
                      </a:pPr>
                      <a:r>
                        <a:rPr lang="en-US" sz="1000" dirty="0">
                          <a:solidFill>
                            <a:srgbClr val="58595B"/>
                          </a:solidFill>
                          <a:latin typeface="Calibri" pitchFamily="34" charset="0"/>
                          <a:ea typeface="Calibri" pitchFamily="34" charset="-122"/>
                          <a:cs typeface="Calibri" pitchFamily="34" charset="-120"/>
                        </a:rPr>
                        <a:t>Valider la qualité du jeu de données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Revue d'usage : 412 suggestions — 71 % acceptées, 20 % modifiées, 9 % rejetées.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5"/>
          <p:cNvSpPr/>
          <p:nvPr/>
        </p:nvSpPr>
        <p:spPr>
          <a:xfrm>
            <a:off x="2356514" y="3063240"/>
            <a:ext cx="4065212" cy="29809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5">    </p:cNvPr>
          <p:cNvPicPr>
            <a:picLocks noChangeAspect="1"/>
          </p:cNvPicPr>
          <p:nvPr/>
        </p:nvPicPr>
        <p:blipFill>
          <a:blip r:embed="rId1"/>
          <a:stretch>
            <a:fillRect/>
          </a:stretch>
        </p:blipFill>
        <p:spPr>
          <a:xfrm>
            <a:off x="2411378" y="3118104"/>
            <a:ext cx="3955484" cy="28712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E2E-15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MP-16 Gouvernance des données, de l'IA et des intégrations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MP-17 Gestion des identités, des accès et de la sécurité</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MP-10 Reporting et analyses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MP-24 Personnalisation par l'IA et apprentissage adaptatif</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MP-28 Analytique prédictive de l'apprentissage et intelligence</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All E2E processes</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E2E-17 · RACINE / CATALYSEUR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changement à l'adoption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Favoriser une adoption durable et le changement de culture</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Plan approuvé ou nouvelle capacité de la plateforme nécessitant une adoption.</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Adoption durable atteinte et groupes à faible adoption renforcés.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11 étapes
</a:t>
            </a:r>
            <a:pPr indent="0" marL="0">
              <a:buNone/>
            </a:pPr>
            <a:r>
              <a:rPr lang="en-US" sz="1100" dirty="0">
                <a:solidFill>
                  <a:srgbClr val="3A3A3C"/>
                </a:solidFill>
                <a:latin typeface="Calibri" pitchFamily="34" charset="0"/>
                <a:ea typeface="Calibri" pitchFamily="34" charset="-122"/>
                <a:cs typeface="Calibri" pitchFamily="34" charset="-120"/>
              </a:rPr>
              <a:t>20 jours · 3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MP-19 Conduite du changement et adoption · </a:t>
            </a:r>
            <a:pPr indent="0" marL="0">
              <a:buNone/>
            </a:pPr>
            <a:r>
              <a:rPr lang="en-US" sz="1000" dirty="0">
                <a:solidFill>
                  <a:srgbClr val="58595B"/>
                </a:solidFill>
                <a:latin typeface="Calibri" pitchFamily="34" charset="0"/>
                <a:ea typeface="Calibri" pitchFamily="34" charset="-122"/>
                <a:cs typeface="Calibri" pitchFamily="34" charset="-120"/>
              </a:rPr>
              <a:t>MP-12 Culture d'apprentissage et gestion des connaissances · </a:t>
            </a:r>
            <a:pPr indent="0" marL="0">
              <a:buNone/>
            </a:pPr>
            <a:r>
              <a:rPr lang="en-US" sz="1000" dirty="0">
                <a:solidFill>
                  <a:srgbClr val="58595B"/>
                </a:solidFill>
                <a:latin typeface="Calibri" pitchFamily="34" charset="0"/>
                <a:ea typeface="Calibri" pitchFamily="34" charset="-122"/>
                <a:cs typeface="Calibri" pitchFamily="34" charset="-120"/>
              </a:rPr>
              <a:t>MP-08 Expérience et engagement des apprenants · </a:t>
            </a:r>
            <a:pPr indent="0" marL="0">
              <a:buNone/>
            </a:pPr>
            <a:r>
              <a:rPr lang="en-US" sz="1000" dirty="0">
                <a:solidFill>
                  <a:srgbClr val="58595B"/>
                </a:solidFill>
                <a:latin typeface="Calibri" pitchFamily="34" charset="0"/>
                <a:ea typeface="Calibri" pitchFamily="34" charset="-122"/>
                <a:cs typeface="Calibri" pitchFamily="34" charset="-120"/>
              </a:rPr>
              <a:t>MP-26 Réseaux d'apprentissage social et collaboratif</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UFT-17-01
</a:t>
                      </a:r>
                      <a:pPr indent="0" marL="0">
                        <a:buNone/>
                      </a:pPr>
                      <a:r>
                        <a:rPr lang="en-US" sz="1000" b="1" dirty="0">
                          <a:solidFill>
                            <a:srgbClr val="3A3A3C"/>
                          </a:solidFill>
                          <a:latin typeface="Calibri" pitchFamily="34" charset="0"/>
                          <a:ea typeface="Calibri" pitchFamily="34" charset="-122"/>
                          <a:cs typeface="Calibri" pitchFamily="34" charset="-120"/>
                        </a:rPr>
                        <a:t>Évaluer l'impact du changement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MP-19.1 </a:t>
                      </a:r>
                      <a:pPr indent="0" marL="0">
                        <a:buNone/>
                      </a:pPr>
                      <a:r>
                        <a:rPr lang="en-US" sz="1000" dirty="0">
                          <a:solidFill>
                            <a:srgbClr val="58595B"/>
                          </a:solidFill>
                          <a:latin typeface="Calibri" pitchFamily="34" charset="0"/>
                          <a:ea typeface="Calibri" pitchFamily="34" charset="-122"/>
                          <a:cs typeface="Calibri" pitchFamily="34" charset="-120"/>
                        </a:rPr>
                        <a:t>Évaluer l'impact du changement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13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Impact : encadrants Soins cliniques et infirmiers élevé, opérateurs moyen, fonctions support faible.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UFT-17-02
</a:t>
                      </a:r>
                      <a:pPr indent="0" marL="0">
                        <a:buNone/>
                      </a:pPr>
                      <a:r>
                        <a:rPr lang="en-US" sz="1000" b="1" dirty="0">
                          <a:solidFill>
                            <a:srgbClr val="3A3A3C"/>
                          </a:solidFill>
                          <a:latin typeface="Calibri" pitchFamily="34" charset="0"/>
                          <a:ea typeface="Calibri" pitchFamily="34" charset="-122"/>
                          <a:cs typeface="Calibri" pitchFamily="34" charset="-120"/>
                        </a:rPr>
                        <a:t>Construire le plan d'adoption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MP-19.2 </a:t>
                      </a:r>
                      <a:pPr indent="0" marL="0">
                        <a:buNone/>
                      </a:pPr>
                      <a:r>
                        <a:rPr lang="en-US" sz="1000" dirty="0">
                          <a:solidFill>
                            <a:srgbClr val="58595B"/>
                          </a:solidFill>
                          <a:latin typeface="Calibri" pitchFamily="34" charset="0"/>
                          <a:ea typeface="Calibri" pitchFamily="34" charset="-122"/>
                          <a:cs typeface="Calibri" pitchFamily="34" charset="-120"/>
                        </a:rPr>
                        <a:t>Construire le plan d'adoption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16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Plan d'adoption : message du sponsor, 6 relais, points de 15 minutes chaque semaine pendant 8 semaines.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UFT-17-03
</a:t>
                      </a:r>
                      <a:pPr indent="0" marL="0">
                        <a:buNone/>
                      </a:pPr>
                      <a:r>
                        <a:rPr lang="en-US" sz="1000" b="1" dirty="0">
                          <a:solidFill>
                            <a:srgbClr val="3A3A3C"/>
                          </a:solidFill>
                          <a:latin typeface="Calibri" pitchFamily="34" charset="0"/>
                          <a:ea typeface="Calibri" pitchFamily="34" charset="-122"/>
                          <a:cs typeface="Calibri" pitchFamily="34" charset="-120"/>
                        </a:rPr>
                        <a:t>Lancer la campagne de communication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MP-19.3 </a:t>
                      </a:r>
                      <a:pPr indent="0" marL="0">
                        <a:buNone/>
                      </a:pPr>
                      <a:r>
                        <a:rPr lang="en-US" sz="1000" dirty="0">
                          <a:solidFill>
                            <a:srgbClr val="58595B"/>
                          </a:solidFill>
                          <a:latin typeface="Calibri" pitchFamily="34" charset="0"/>
                          <a:ea typeface="Calibri" pitchFamily="34" charset="-122"/>
                          <a:cs typeface="Calibri" pitchFamily="34" charset="-120"/>
                        </a:rPr>
                        <a:t>Lancer la campagne de communication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19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Campagne « Triage IA et aide à la décision clinique — pourquoi c'est important » par e-mail, intranet et écrans.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UFT-17-04
</a:t>
                      </a:r>
                      <a:pPr indent="0" marL="0">
                        <a:buNone/>
                      </a:pPr>
                      <a:r>
                        <a:rPr lang="en-US" sz="1000" b="1" dirty="0">
                          <a:solidFill>
                            <a:srgbClr val="3A3A3C"/>
                          </a:solidFill>
                          <a:latin typeface="Calibri" pitchFamily="34" charset="0"/>
                          <a:ea typeface="Calibri" pitchFamily="34" charset="-122"/>
                          <a:cs typeface="Calibri" pitchFamily="34" charset="-120"/>
                        </a:rPr>
                        <a:t>Ouvrir l'espace communautaire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MP-12.3 </a:t>
                      </a:r>
                      <a:pPr indent="0" marL="0">
                        <a:buNone/>
                      </a:pPr>
                      <a:r>
                        <a:rPr lang="en-US" sz="1000" dirty="0">
                          <a:solidFill>
                            <a:srgbClr val="58595B"/>
                          </a:solidFill>
                          <a:latin typeface="Calibri" pitchFamily="34" charset="0"/>
                          <a:ea typeface="Calibri" pitchFamily="34" charset="-122"/>
                          <a:cs typeface="Calibri" pitchFamily="34" charset="-120"/>
                        </a:rPr>
                        <a:t>Créer un espace communautaire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MP-12.4 </a:t>
                      </a:r>
                      <a:pPr indent="0" marL="0">
                        <a:buNone/>
                      </a:pPr>
                      <a:r>
                        <a:rPr lang="en-US" sz="1000" dirty="0">
                          <a:solidFill>
                            <a:srgbClr val="58595B"/>
                          </a:solidFill>
                          <a:latin typeface="Calibri" pitchFamily="34" charset="0"/>
                          <a:ea typeface="Calibri" pitchFamily="34" charset="-122"/>
                          <a:cs typeface="Calibri" pitchFamily="34" charset="-120"/>
                        </a:rPr>
                        <a:t>Modérer les publications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MP-26.1 </a:t>
                      </a:r>
                      <a:pPr indent="0" marL="0">
                        <a:buNone/>
                      </a:pPr>
                      <a:r>
                        <a:rPr lang="en-US" sz="1000" dirty="0">
                          <a:solidFill>
                            <a:srgbClr val="58595B"/>
                          </a:solidFill>
                          <a:latin typeface="Calibri" pitchFamily="34" charset="0"/>
                          <a:ea typeface="Calibri" pitchFamily="34" charset="-122"/>
                          <a:cs typeface="Calibri" pitchFamily="34" charset="-120"/>
                        </a:rPr>
                        <a:t>Créer une cohorte d'apprentissage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Asmae Ziani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22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Espace communautaire « Questions Triage IA et aide à la décision clinique » ouvert ; règles de modération publiées.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UFT-17-05
</a:t>
                      </a:r>
                      <a:pPr indent="0" marL="0">
                        <a:buNone/>
                      </a:pPr>
                      <a:r>
                        <a:rPr lang="en-US" sz="1000" b="1" dirty="0">
                          <a:solidFill>
                            <a:srgbClr val="3A3A3C"/>
                          </a:solidFill>
                          <a:latin typeface="Calibri" pitchFamily="34" charset="0"/>
                          <a:ea typeface="Calibri" pitchFamily="34" charset="-122"/>
                          <a:cs typeface="Calibri" pitchFamily="34" charset="-120"/>
                        </a:rPr>
                        <a:t>Suivre l'usage et l'adoption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MP-19.4 </a:t>
                      </a:r>
                      <a:pPr indent="0" marL="0">
                        <a:buNone/>
                      </a:pPr>
                      <a:r>
                        <a:rPr lang="en-US" sz="1000" dirty="0">
                          <a:solidFill>
                            <a:srgbClr val="58595B"/>
                          </a:solidFill>
                          <a:latin typeface="Calibri" pitchFamily="34" charset="0"/>
                          <a:ea typeface="Calibri" pitchFamily="34" charset="-122"/>
                          <a:cs typeface="Calibri" pitchFamily="34" charset="-120"/>
                        </a:rPr>
                        <a:t>Suivre l'usage et l'adoption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MP-08.5 </a:t>
                      </a:r>
                      <a:pPr indent="0" marL="0">
                        <a:buNone/>
                      </a:pPr>
                      <a:r>
                        <a:rPr lang="en-US" sz="1000" dirty="0">
                          <a:solidFill>
                            <a:srgbClr val="58595B"/>
                          </a:solidFill>
                          <a:latin typeface="Calibri" pitchFamily="34" charset="0"/>
                          <a:ea typeface="Calibri" pitchFamily="34" charset="-122"/>
                          <a:cs typeface="Calibri" pitchFamily="34" charset="-120"/>
                        </a:rPr>
                        <a:t>Suivre les indicateurs d'engagement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Berrada</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25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Utilisateurs actifs hebdomadaires : 64 % de la population cible.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14" name="frame task_E2E-17"/>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7-04 Ouvrir l'espace communautair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UFT-17-04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E2E-17 · RACINE / CATALYSEUR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Du changement à l'adoption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UFT-17-06
</a:t>
                      </a:r>
                      <a:pPr indent="0" marL="0">
                        <a:buNone/>
                      </a:pPr>
                      <a:r>
                        <a:rPr lang="en-US" sz="1000" b="1" dirty="0">
                          <a:solidFill>
                            <a:srgbClr val="3A3A3C"/>
                          </a:solidFill>
                          <a:latin typeface="Calibri" pitchFamily="34" charset="0"/>
                          <a:ea typeface="Calibri" pitchFamily="34" charset="-122"/>
                          <a:cs typeface="Calibri" pitchFamily="34" charset="-120"/>
                        </a:rPr>
                        <a:t>Identifier les groupes à faible 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MP-19.5 </a:t>
                      </a:r>
                      <a:pPr indent="0" marL="0">
                        <a:buNone/>
                      </a:pPr>
                      <a:r>
                        <a:rPr lang="en-US" sz="1000" dirty="0">
                          <a:solidFill>
                            <a:srgbClr val="58595B"/>
                          </a:solidFill>
                          <a:latin typeface="Calibri" pitchFamily="34" charset="0"/>
                          <a:ea typeface="Calibri" pitchFamily="34" charset="-122"/>
                          <a:cs typeface="Calibri" pitchFamily="34" charset="-120"/>
                        </a:rPr>
                        <a:t>Identifier les groupes à faible adoption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28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Faible adoption confirmée pour l'équipe de nuit (31 %) ; un groupe rejeté (faux positif).</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UFT-17-07
</a:t>
                      </a:r>
                      <a:pPr indent="0" marL="0">
                        <a:buNone/>
                      </a:pPr>
                      <a:r>
                        <a:rPr lang="en-US" sz="1000" b="1" dirty="0">
                          <a:solidFill>
                            <a:srgbClr val="3A3A3C"/>
                          </a:solidFill>
                          <a:latin typeface="Calibri" pitchFamily="34" charset="0"/>
                          <a:ea typeface="Calibri" pitchFamily="34" charset="-122"/>
                          <a:cs typeface="Calibri" pitchFamily="34" charset="-120"/>
                        </a:rPr>
                        <a:t>Mener les actions de renforcement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MP-19.6 </a:t>
                      </a:r>
                      <a:pPr indent="0" marL="0">
                        <a:buNone/>
                      </a:pPr>
                      <a:r>
                        <a:rPr lang="en-US" sz="1000" dirty="0">
                          <a:solidFill>
                            <a:srgbClr val="58595B"/>
                          </a:solidFill>
                          <a:latin typeface="Calibri" pitchFamily="34" charset="0"/>
                          <a:ea typeface="Calibri" pitchFamily="34" charset="-122"/>
                          <a:cs typeface="Calibri" pitchFamily="34" charset="-120"/>
                        </a:rPr>
                        <a:t>Mener les actions de renforcement</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MP-08.6 </a:t>
                      </a:r>
                      <a:pPr indent="0" marL="0">
                        <a:buNone/>
                      </a:pPr>
                      <a:r>
                        <a:rPr lang="en-US" sz="1000" dirty="0">
                          <a:solidFill>
                            <a:srgbClr val="58595B"/>
                          </a:solidFill>
                          <a:latin typeface="Calibri" pitchFamily="34" charset="0"/>
                          <a:ea typeface="Calibri" pitchFamily="34" charset="-122"/>
                          <a:cs typeface="Calibri" pitchFamily="34" charset="-120"/>
                        </a:rPr>
                        <a:t>Déclencher une relance de réengagement</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Yassine Fassi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31 juil.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Renforcement : coaching de l'équipe de nuit ; adoption à 58 % après 4 semaines.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6" name="frame run_E2E-17"/>
          <p:cNvSpPr/>
          <p:nvPr/>
        </p:nvSpPr>
        <p:spPr>
          <a:xfrm>
            <a:off x="2356514" y="3063240"/>
            <a:ext cx="4065212" cy="2980944"/>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7">    </p:cNvPr>
          <p:cNvPicPr>
            <a:picLocks noChangeAspect="1"/>
          </p:cNvPicPr>
          <p:nvPr/>
        </p:nvPicPr>
        <p:blipFill>
          <a:blip r:embed="rId1"/>
          <a:stretch>
            <a:fillRect/>
          </a:stretch>
        </p:blipFill>
        <p:spPr>
          <a:xfrm>
            <a:off x="2411378" y="3118104"/>
            <a:ext cx="3955484" cy="2871216"/>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E2E-17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MP-19 Conduite du changement et adoption</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MP-12 Culture d'apprentissage et gestion des connaissances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MP-08 Expérience et engagement des apprenants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MP-26 Réseaux d'apprentissage social et collaboratif</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E2E-01, E2E-05, E2E-06</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E2E-15</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E2E-18 · RACINE / CATALYSEUR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Qualité, risques et amélioration</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Améliorer les processus et maîtriser les risques</a:t>
            </a:r>
            <a:endParaRPr lang="en-US" sz="1400" dirty="0"/>
          </a:p>
        </p:txBody>
      </p:sp>
      <p:sp>
        <p:nvSpPr>
          <p:cNvPr id="6" name="Déclencheur"/>
          <p:cNvSpPr/>
          <p:nvPr/>
        </p:nvSpPr>
        <p:spPr>
          <a:xfrm>
            <a:off x="4572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5669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DÉCLENCHEUR
</a:t>
            </a:r>
            <a:pPr indent="0" marL="0">
              <a:buNone/>
            </a:pPr>
            <a:r>
              <a:rPr lang="en-US" sz="1000" dirty="0">
                <a:solidFill>
                  <a:srgbClr val="3A3A3C"/>
                </a:solidFill>
                <a:latin typeface="Calibri" pitchFamily="34" charset="0"/>
                <a:ea typeface="Calibri" pitchFamily="34" charset="-122"/>
                <a:cs typeface="Calibri" pitchFamily="34" charset="-120"/>
              </a:rPr>
              <a:t>Risque enregistré, revue qualité périodique due ou test de contrôle planifié.</a:t>
            </a:r>
            <a:endParaRPr lang="en-US" sz="1000" dirty="0"/>
          </a:p>
        </p:txBody>
      </p:sp>
      <p:sp>
        <p:nvSpPr>
          <p:cNvPr id="8" name="État final"/>
          <p:cNvSpPr/>
          <p:nvPr/>
        </p:nvSpPr>
        <p:spPr>
          <a:xfrm>
            <a:off x="3200400" y="1645920"/>
            <a:ext cx="2606040" cy="841248"/>
          </a:xfrm>
          <a:prstGeom prst="roundRect">
            <a:avLst>
              <a:gd name="adj" fmla="val 8696"/>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9" name="Text 6"/>
          <p:cNvSpPr txBox="1"/>
          <p:nvPr/>
        </p:nvSpPr>
        <p:spPr>
          <a:xfrm>
            <a:off x="3310128" y="1682496"/>
            <a:ext cx="2395728" cy="768096"/>
          </a:xfrm>
          <a:prstGeom prst="rect">
            <a:avLst/>
          </a:prstGeom>
          <a:noFill/>
          <a:ln/>
        </p:spPr>
        <p:txBody>
          <a:bodyPr wrap="square" lIns="0" tIns="0" rIns="0" bIns="0" rtlCol="0" anchor="t">
            <a:normAutofit/>
          </a:bodyPr>
          <a:lstStyle/>
          <a:p>
            <a:pPr indent="0" marL="0">
              <a:buNone/>
            </a:pPr>
            <a:r>
              <a:rPr lang="en-US" sz="900" b="1" spc="100" kern="0" dirty="0">
                <a:solidFill>
                  <a:srgbClr val="E07B00"/>
                </a:solidFill>
                <a:latin typeface="Calibri" pitchFamily="34" charset="0"/>
                <a:ea typeface="Calibri" pitchFamily="34" charset="-122"/>
                <a:cs typeface="Calibri" pitchFamily="34" charset="-120"/>
              </a:rPr>
              <a:t>ÉTAT FINAL
</a:t>
            </a:r>
            <a:pPr indent="0" marL="0">
              <a:buNone/>
            </a:pPr>
            <a:r>
              <a:rPr lang="en-US" sz="1000" dirty="0">
                <a:solidFill>
                  <a:srgbClr val="3A3A3C"/>
                </a:solidFill>
                <a:latin typeface="Calibri" pitchFamily="34" charset="0"/>
                <a:ea typeface="Calibri" pitchFamily="34" charset="-122"/>
                <a:cs typeface="Calibri" pitchFamily="34" charset="-120"/>
              </a:rPr>
              <a:t>Risques maîtrisés, actions évaluées par une autre personne, contrôles notés.</a:t>
            </a:r>
            <a:endParaRPr lang="en-US" sz="1000" dirty="0"/>
          </a:p>
        </p:txBody>
      </p:sp>
      <p:sp>
        <p:nvSpPr>
          <p:cNvPr id="10" name="figures"/>
          <p:cNvSpPr/>
          <p:nvPr/>
        </p:nvSpPr>
        <p:spPr>
          <a:xfrm>
            <a:off x="5943600" y="1645920"/>
            <a:ext cx="2377440" cy="841248"/>
          </a:xfrm>
          <a:prstGeom prst="roundRect">
            <a:avLst>
              <a:gd name="adj" fmla="val 8696"/>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6053328" y="1682496"/>
            <a:ext cx="2194560" cy="768096"/>
          </a:xfrm>
          <a:prstGeom prst="rect">
            <a:avLst/>
          </a:prstGeom>
          <a:noFill/>
          <a:ln/>
        </p:spPr>
        <p:txBody>
          <a:bodyPr wrap="square" lIns="0" tIns="0" rIns="0" bIns="0" rtlCol="0" anchor="ctr"/>
          <a:lstStyle/>
          <a:p>
            <a:pPr indent="0" marL="0">
              <a:buNone/>
            </a:pPr>
            <a:r>
              <a:rPr lang="en-US" sz="1300" b="1" dirty="0">
                <a:solidFill>
                  <a:srgbClr val="E07B00"/>
                </a:solidFill>
                <a:latin typeface="Calibri" pitchFamily="34" charset="0"/>
                <a:ea typeface="Calibri" pitchFamily="34" charset="-122"/>
                <a:cs typeface="Calibri" pitchFamily="34" charset="-120"/>
              </a:rPr>
              <a:t>7 tâches · 12 étapes
</a:t>
            </a:r>
            <a:pPr indent="0" marL="0">
              <a:buNone/>
            </a:pPr>
            <a:r>
              <a:rPr lang="en-US" sz="1100" dirty="0">
                <a:solidFill>
                  <a:srgbClr val="3A3A3C"/>
                </a:solidFill>
                <a:latin typeface="Calibri" pitchFamily="34" charset="0"/>
                <a:ea typeface="Calibri" pitchFamily="34" charset="-122"/>
                <a:cs typeface="Calibri" pitchFamily="34" charset="-120"/>
              </a:rPr>
              <a:t>20 jours · 2 responsables · 100 %</a:t>
            </a:r>
            <a:endParaRPr lang="en-US" sz="1100" dirty="0"/>
          </a:p>
        </p:txBody>
      </p:sp>
      <p:sp>
        <p:nvSpPr>
          <p:cNvPr id="12" name="Text 9"/>
          <p:cNvSpPr txBox="1"/>
          <p:nvPr/>
        </p:nvSpPr>
        <p:spPr>
          <a:xfrm>
            <a:off x="457200" y="2542032"/>
            <a:ext cx="7863840" cy="384048"/>
          </a:xfrm>
          <a:prstGeom prst="rect">
            <a:avLst/>
          </a:prstGeom>
          <a:noFill/>
          <a:ln/>
        </p:spPr>
        <p:txBody>
          <a:bodyPr wrap="square" lIns="0" tIns="0" rIns="0" bIns="0" rtlCol="0" anchor="ctr">
            <a:normAutofit/>
          </a:bodyPr>
          <a:lstStyle/>
          <a:p>
            <a:pPr indent="0" marL="0">
              <a:buNone/>
            </a:pPr>
            <a:r>
              <a:rPr lang="en-US" sz="1000" b="1" dirty="0">
                <a:solidFill>
                  <a:srgbClr val="3A3A3C"/>
                </a:solidFill>
                <a:latin typeface="Calibri" pitchFamily="34" charset="0"/>
                <a:ea typeface="Calibri" pitchFamily="34" charset="-122"/>
                <a:cs typeface="Calibri" pitchFamily="34" charset="-120"/>
              </a:rPr>
              <a:t>Macro-processus : </a:t>
            </a:r>
            <a:pPr indent="0" marL="0">
              <a:buNone/>
            </a:pPr>
            <a:r>
              <a:rPr lang="en-US" sz="1000" dirty="0">
                <a:solidFill>
                  <a:srgbClr val="58595B"/>
                </a:solidFill>
                <a:latin typeface="Calibri" pitchFamily="34" charset="0"/>
                <a:ea typeface="Calibri" pitchFamily="34" charset="-122"/>
                <a:cs typeface="Calibri" pitchFamily="34" charset="-120"/>
              </a:rPr>
              <a:t>MP-20 Qualité, risques et amélioration continue · </a:t>
            </a:r>
            <a:pPr indent="0" marL="0">
              <a:buNone/>
            </a:pPr>
            <a:r>
              <a:rPr lang="en-US" sz="1000" dirty="0">
                <a:solidFill>
                  <a:srgbClr val="58595B"/>
                </a:solidFill>
                <a:latin typeface="Calibri" pitchFamily="34" charset="0"/>
                <a:ea typeface="Calibri" pitchFamily="34" charset="-122"/>
                <a:cs typeface="Calibri" pitchFamily="34" charset="-120"/>
              </a:rPr>
              <a:t>MP-16 Gouvernance des données, de l'IA et des intégrations · </a:t>
            </a:r>
            <a:pPr indent="0" marL="0">
              <a:buNone/>
            </a:pPr>
            <a:r>
              <a:rPr lang="en-US" sz="1000" dirty="0">
                <a:solidFill>
                  <a:srgbClr val="58595B"/>
                </a:solidFill>
                <a:latin typeface="Calibri" pitchFamily="34" charset="0"/>
                <a:ea typeface="Calibri" pitchFamily="34" charset="-122"/>
                <a:cs typeface="Calibri" pitchFamily="34" charset="-120"/>
              </a:rPr>
              <a:t>MP-17 Gestion des identités, des accès et de la sécurité · </a:t>
            </a:r>
            <a:pPr indent="0" marL="0">
              <a:buNone/>
            </a:pPr>
            <a:r>
              <a:rPr lang="en-US" sz="1000" dirty="0">
                <a:solidFill>
                  <a:srgbClr val="58595B"/>
                </a:solidFill>
                <a:latin typeface="Calibri" pitchFamily="34" charset="0"/>
                <a:ea typeface="Calibri" pitchFamily="34" charset="-122"/>
                <a:cs typeface="Calibri" pitchFamily="34" charset="-120"/>
              </a:rPr>
              <a:t>MP-09 Évaluation</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UFT-18-01
</a:t>
                      </a:r>
                      <a:pPr indent="0" marL="0">
                        <a:buNone/>
                      </a:pPr>
                      <a:r>
                        <a:rPr lang="en-US" sz="1000" b="1" dirty="0">
                          <a:solidFill>
                            <a:srgbClr val="3A3A3C"/>
                          </a:solidFill>
                          <a:latin typeface="Calibri" pitchFamily="34" charset="0"/>
                          <a:ea typeface="Calibri" pitchFamily="34" charset="-122"/>
                          <a:cs typeface="Calibri" pitchFamily="34" charset="-120"/>
                        </a:rPr>
                        <a:t>Enregistrer un risque ou une opportunité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MP-20.1 </a:t>
                      </a:r>
                      <a:pPr indent="0" marL="0">
                        <a:buNone/>
                      </a:pPr>
                      <a:r>
                        <a:rPr lang="en-US" sz="1000" dirty="0">
                          <a:solidFill>
                            <a:srgbClr val="58595B"/>
                          </a:solidFill>
                          <a:latin typeface="Calibri" pitchFamily="34" charset="0"/>
                          <a:ea typeface="Calibri" pitchFamily="34" charset="-122"/>
                          <a:cs typeface="Calibri" pitchFamily="34" charset="-120"/>
                        </a:rPr>
                        <a:t>Enregistrer un risque ou une opportunité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20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Risque « Formateurs indisponibles au T3 » : probabilité 3, impact 4, score 12.</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UFT-18-02
</a:t>
                      </a:r>
                      <a:pPr indent="0" marL="0">
                        <a:buNone/>
                      </a:pPr>
                      <a:r>
                        <a:rPr lang="en-US" sz="1000" b="1" dirty="0">
                          <a:solidFill>
                            <a:srgbClr val="3A3A3C"/>
                          </a:solidFill>
                          <a:latin typeface="Calibri" pitchFamily="34" charset="0"/>
                          <a:ea typeface="Calibri" pitchFamily="34" charset="-122"/>
                          <a:cs typeface="Calibri" pitchFamily="34" charset="-120"/>
                        </a:rPr>
                        <a:t>Affecter une action de maîtrise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MP-20.2 </a:t>
                      </a:r>
                      <a:pPr indent="0" marL="0">
                        <a:buNone/>
                      </a:pPr>
                      <a:r>
                        <a:rPr lang="en-US" sz="1000" dirty="0">
                          <a:solidFill>
                            <a:srgbClr val="58595B"/>
                          </a:solidFill>
                          <a:latin typeface="Calibri" pitchFamily="34" charset="0"/>
                          <a:ea typeface="Calibri" pitchFamily="34" charset="-122"/>
                          <a:cs typeface="Calibri" pitchFamily="34" charset="-120"/>
                        </a:rPr>
                        <a:t>Affecter une action de maîtrise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23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Action : contractualiser un second prestataire ; responsable acheteur ; évaluateur responsable qualité.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UFT-18-03
</a:t>
                      </a:r>
                      <a:pPr indent="0" marL="0">
                        <a:buNone/>
                      </a:pPr>
                      <a:r>
                        <a:rPr lang="en-US" sz="1000" b="1" dirty="0">
                          <a:solidFill>
                            <a:srgbClr val="3A3A3C"/>
                          </a:solidFill>
                          <a:latin typeface="Calibri" pitchFamily="34" charset="0"/>
                          <a:ea typeface="Calibri" pitchFamily="34" charset="-122"/>
                          <a:cs typeface="Calibri" pitchFamily="34" charset="-120"/>
                        </a:rPr>
                        <a:t>Exécuter l'action d'amélioration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MP-20.3 </a:t>
                      </a:r>
                      <a:pPr indent="0" marL="0">
                        <a:buNone/>
                      </a:pPr>
                      <a:r>
                        <a:rPr lang="en-US" sz="1000" dirty="0">
                          <a:solidFill>
                            <a:srgbClr val="58595B"/>
                          </a:solidFill>
                          <a:latin typeface="Calibri" pitchFamily="34" charset="0"/>
                          <a:ea typeface="Calibri" pitchFamily="34" charset="-122"/>
                          <a:cs typeface="Calibri" pitchFamily="34" charset="-120"/>
                        </a:rPr>
                        <a:t>Exécuter l'action d'amélioration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26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Action réalisée : contrat-cadre signé avec le prestataire B ; preuve jointe.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UFT-18-04
</a:t>
                      </a:r>
                      <a:pPr indent="0" marL="0">
                        <a:buNone/>
                      </a:pPr>
                      <a:r>
                        <a:rPr lang="en-US" sz="1000" b="1" dirty="0">
                          <a:solidFill>
                            <a:srgbClr val="3A3A3C"/>
                          </a:solidFill>
                          <a:latin typeface="Calibri" pitchFamily="34" charset="0"/>
                          <a:ea typeface="Calibri" pitchFamily="34" charset="-122"/>
                          <a:cs typeface="Calibri" pitchFamily="34" charset="-120"/>
                        </a:rPr>
                        <a:t>Évaluer l'efficacité de l'action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MP-20.4 </a:t>
                      </a:r>
                      <a:pPr indent="0" marL="0">
                        <a:buNone/>
                      </a:pPr>
                      <a:r>
                        <a:rPr lang="en-US" sz="1000" dirty="0">
                          <a:solidFill>
                            <a:srgbClr val="58595B"/>
                          </a:solidFill>
                          <a:latin typeface="Calibri" pitchFamily="34" charset="0"/>
                          <a:ea typeface="Calibri" pitchFamily="34" charset="-122"/>
                          <a:cs typeface="Calibri" pitchFamily="34" charset="-120"/>
                        </a:rPr>
                        <a:t>Évaluer l'efficacité de l'action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29 avr.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Verdict : efficace. L'évaluateur est un utilisateur différent du responsable.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bl>
          </a:graphicData>
        </a:graphic>
      </p:graphicFrame>
      <p:sp>
        <p:nvSpPr>
          <p:cNvPr id="14" name="frame task_E2E-18"/>
          <p:cNvSpPr/>
          <p:nvPr/>
        </p:nvSpPr>
        <p:spPr>
          <a:xfrm>
            <a:off x="8494776" y="1591056"/>
            <a:ext cx="3291840" cy="387801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15" name="Image 0" descr="UFT-18-02 Affecter une action de maîtrise">    </p:cNvPr>
          <p:cNvPicPr>
            <a:picLocks noChangeAspect="1"/>
          </p:cNvPicPr>
          <p:nvPr/>
        </p:nvPicPr>
        <p:blipFill>
          <a:blip r:embed="rId1"/>
          <a:stretch>
            <a:fillRect/>
          </a:stretch>
        </p:blipFill>
        <p:spPr>
          <a:xfrm>
            <a:off x="8549640" y="1645920"/>
            <a:ext cx="3182112" cy="3768291"/>
          </a:xfrm>
          <a:prstGeom prst="rect">
            <a:avLst/>
          </a:prstGeom>
        </p:spPr>
      </p:pic>
      <p:sp>
        <p:nvSpPr>
          <p:cNvPr id="16" name="Text 11"/>
          <p:cNvSpPr txBox="1"/>
          <p:nvPr/>
        </p:nvSpPr>
        <p:spPr>
          <a:xfrm>
            <a:off x="8549640" y="5505651"/>
            <a:ext cx="318211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UFT-18-02 ouverte dans CortexSkills : quoi saisir, ses étapes et son résultat.</a:t>
            </a:r>
            <a:endParaRPr lang="en-US" sz="1000" dirty="0"/>
          </a:p>
        </p:txBody>
      </p:sp>
      <p:sp>
        <p:nvSpPr>
          <p:cNvPr id="17" name="Text 12"/>
          <p:cNvSpPr txBox="1"/>
          <p:nvPr/>
        </p:nvSpPr>
        <p:spPr>
          <a:xfrm>
            <a:off x="8549640" y="6144768"/>
            <a:ext cx="3182112" cy="228600"/>
          </a:xfrm>
          <a:prstGeom prst="rect">
            <a:avLst/>
          </a:prstGeom>
          <a:noFill/>
          <a:ln/>
        </p:spPr>
        <p:txBody>
          <a:bodyPr wrap="square" lIns="0" tIns="0" rIns="0" bIns="0" rtlCol="0" anchor="ctr"/>
          <a:lstStyle/>
          <a:p>
            <a:pPr algn="r" indent="0" marL="0">
              <a:buNone/>
            </a:pPr>
            <a:r>
              <a:rPr lang="en-US" sz="900" i="1" dirty="0">
                <a:solidFill>
                  <a:srgbClr val="808184"/>
                </a:solidFill>
                <a:latin typeface="Calibri" pitchFamily="34" charset="0"/>
                <a:ea typeface="Calibri" pitchFamily="34" charset="-122"/>
                <a:cs typeface="Calibri" pitchFamily="34" charset="-120"/>
              </a:rPr>
              <a:t>Suite sur la diapositive suivante</a:t>
            </a:r>
            <a:endParaRPr lang="en-US" sz="900" dirty="0"/>
          </a:p>
        </p:txBody>
      </p:sp>
      <p:sp>
        <p:nvSpPr>
          <p:cNvPr id="1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PHASE 0 · E2E-18 · RACINE / CATALYSEUR</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Qualité, risques et amélioration (suite)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863840" cy="914400"/>
        </p:xfrm>
        <a:graphic>
          <a:graphicData uri="http://schemas.openxmlformats.org/drawingml/2006/table">
            <a:tbl>
              <a:tblPr/>
              <a:tblGrid>
                <a:gridCol w="1965960"/>
                <a:gridCol w="2377440"/>
                <a:gridCol w="1188720"/>
                <a:gridCol w="23317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Tâche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Étapes exécutées</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Responsable · fait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Ce qui a été saisi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UFT-18-05
</a:t>
                      </a:r>
                      <a:pPr indent="0" marL="0">
                        <a:buNone/>
                      </a:pPr>
                      <a:r>
                        <a:rPr lang="en-US" sz="1000" b="1" dirty="0">
                          <a:solidFill>
                            <a:srgbClr val="3A3A3C"/>
                          </a:solidFill>
                          <a:latin typeface="Calibri" pitchFamily="34" charset="0"/>
                          <a:ea typeface="Calibri" pitchFamily="34" charset="-122"/>
                          <a:cs typeface="Calibri" pitchFamily="34" charset="-120"/>
                        </a:rPr>
                        <a:t>Revoir les accès et la sécurité</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MP-17.4 </a:t>
                      </a:r>
                      <a:pPr indent="0" marL="0">
                        <a:buNone/>
                      </a:pPr>
                      <a:r>
                        <a:rPr lang="en-US" sz="1000" dirty="0">
                          <a:solidFill>
                            <a:srgbClr val="58595B"/>
                          </a:solidFill>
                          <a:latin typeface="Calibri" pitchFamily="34" charset="0"/>
                          <a:ea typeface="Calibri" pitchFamily="34" charset="-122"/>
                          <a:cs typeface="Calibri" pitchFamily="34" charset="-120"/>
                        </a:rPr>
                        <a:t>Revoir le journal des violations d'accès</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MP-17.6 </a:t>
                      </a:r>
                      <a:pPr indent="0" marL="0">
                        <a:buNone/>
                      </a:pPr>
                      <a:r>
                        <a:rPr lang="en-US" sz="1000" dirty="0">
                          <a:solidFill>
                            <a:srgbClr val="58595B"/>
                          </a:solidFill>
                          <a:latin typeface="Calibri" pitchFamily="34" charset="0"/>
                          <a:ea typeface="Calibri" pitchFamily="34" charset="-122"/>
                          <a:cs typeface="Calibri" pitchFamily="34" charset="-120"/>
                        </a:rPr>
                        <a:t>Appliquer la limite de tentatives de connexion</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MP-17.2 </a:t>
                      </a:r>
                      <a:pPr indent="0" marL="0">
                        <a:buNone/>
                      </a:pPr>
                      <a:r>
                        <a:rPr lang="en-US" sz="1000" dirty="0">
                          <a:solidFill>
                            <a:srgbClr val="58595B"/>
                          </a:solidFill>
                          <a:latin typeface="Calibri" pitchFamily="34" charset="0"/>
                          <a:ea typeface="Calibri" pitchFamily="34" charset="-122"/>
                          <a:cs typeface="Calibri" pitchFamily="34" charset="-120"/>
                        </a:rPr>
                        <a:t>Attribuer des rôles à l'utilisateur</a:t>
                      </a:r>
                      <a:endParaRPr lang="en-US" sz="1000" dirty="0">
                        <a:latin typeface="Calibri" charset="0"/>
                        <a:ea typeface="Calibri" charset="0"/>
                        <a:cs typeface="Calibri" charset="0"/>
                      </a:endParaRPr>
                    </a:p>
                    <a:p>
                      <a:pPr indent="0" marL="0">
                        <a:buNone/>
                      </a:pPr>
                      <a:r>
                        <a:rPr lang="en-US" sz="1000" i="1" dirty="0">
                          <a:solidFill>
                            <a:srgbClr val="58595B"/>
                          </a:solidFill>
                          <a:latin typeface="Calibri" pitchFamily="34" charset="0"/>
                          <a:ea typeface="Calibri" pitchFamily="34" charset="-122"/>
                          <a:cs typeface="Calibri" pitchFamily="34" charset="-120"/>
                        </a:rPr>
                        <a:t>+ 2 autres étapes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Omar El Idrissi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2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Revue des accès : 2 comptes inactifs désactivés ; 0 tentative inter-organisations.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UFT-18-06
</a:t>
                      </a:r>
                      <a:pPr indent="0" marL="0">
                        <a:buNone/>
                      </a:pPr>
                      <a:r>
                        <a:rPr lang="en-US" sz="1000" b="1" dirty="0">
                          <a:solidFill>
                            <a:srgbClr val="3A3A3C"/>
                          </a:solidFill>
                          <a:latin typeface="Calibri" pitchFamily="34" charset="0"/>
                          <a:ea typeface="Calibri" pitchFamily="34" charset="-122"/>
                          <a:cs typeface="Calibri" pitchFamily="34" charset="-120"/>
                        </a:rPr>
                        <a:t>Mener la revue qualité périodique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MP-20.5 </a:t>
                      </a:r>
                      <a:pPr indent="0" marL="0">
                        <a:buNone/>
                      </a:pPr>
                      <a:r>
                        <a:rPr lang="en-US" sz="1000" dirty="0">
                          <a:solidFill>
                            <a:srgbClr val="58595B"/>
                          </a:solidFill>
                          <a:latin typeface="Calibri" pitchFamily="34" charset="0"/>
                          <a:ea typeface="Calibri" pitchFamily="34" charset="-122"/>
                          <a:cs typeface="Calibri" pitchFamily="34" charset="-120"/>
                        </a:rPr>
                        <a:t>Mener la revue qualité périodique</a:t>
                      </a:r>
                      <a:endParaRPr lang="en-US" sz="1000" dirty="0">
                        <a:latin typeface="Calibri" charset="0"/>
                        <a:ea typeface="Calibri" charset="0"/>
                        <a:cs typeface="Calibri" charset="0"/>
                      </a:endParaRPr>
                    </a:p>
                    <a:p>
                      <a:pPr indent="0" marL="0">
                        <a:buNone/>
                      </a:pPr>
                      <a:r>
                        <a:rPr lang="en-US" sz="1000" b="1" dirty="0">
                          <a:solidFill>
                            <a:srgbClr val="3A3A3C"/>
                          </a:solidFill>
                          <a:latin typeface="Calibri" pitchFamily="34" charset="0"/>
                          <a:ea typeface="Calibri" pitchFamily="34" charset="-122"/>
                          <a:cs typeface="Calibri" pitchFamily="34" charset="-120"/>
                        </a:rPr>
                        <a:t>MP-09.7 </a:t>
                      </a:r>
                      <a:pPr indent="0" marL="0">
                        <a:buNone/>
                      </a:pPr>
                      <a:r>
                        <a:rPr lang="en-US" sz="1000" dirty="0">
                          <a:solidFill>
                            <a:srgbClr val="58595B"/>
                          </a:solidFill>
                          <a:latin typeface="Calibri" pitchFamily="34" charset="0"/>
                          <a:ea typeface="Calibri" pitchFamily="34" charset="-122"/>
                          <a:cs typeface="Calibri" pitchFamily="34" charset="-120"/>
                        </a:rPr>
                        <a:t>Revoir les résultats d'évaluation</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5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Compte rendu de revue qualité : 3 KPI rouges, 2 actions ouvertes, prochaine revue dans 30 jours.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r>
              <a:tr h="0">
                <a:tc>
                  <a:txBody>
                    <a:bodyPr/>
                    <a:lstStyle/>
                    <a:p>
                      <a:pPr indent="0" marL="0">
                        <a:buNone/>
                      </a:pPr>
                      <a:r>
                        <a:rPr lang="en-US" sz="1000" b="1" dirty="0">
                          <a:solidFill>
                            <a:srgbClr val="E07B00"/>
                          </a:solidFill>
                          <a:latin typeface="Calibri" pitchFamily="34" charset="0"/>
                          <a:ea typeface="Calibri" pitchFamily="34" charset="-122"/>
                          <a:cs typeface="Calibri" pitchFamily="34" charset="-120"/>
                        </a:rPr>
                        <a:t>UFT-18-07
</a:t>
                      </a:r>
                      <a:pPr indent="0" marL="0">
                        <a:buNone/>
                      </a:pPr>
                      <a:r>
                        <a:rPr lang="en-US" sz="1000" b="1" dirty="0">
                          <a:solidFill>
                            <a:srgbClr val="3A3A3C"/>
                          </a:solidFill>
                          <a:latin typeface="Calibri" pitchFamily="34" charset="0"/>
                          <a:ea typeface="Calibri" pitchFamily="34" charset="-122"/>
                          <a:cs typeface="Calibri" pitchFamily="34" charset="-120"/>
                        </a:rPr>
                        <a:t>Mettre à jour l'efficacité des contrôles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b="1" dirty="0">
                          <a:solidFill>
                            <a:srgbClr val="3A3A3C"/>
                          </a:solidFill>
                          <a:latin typeface="Calibri" pitchFamily="34" charset="0"/>
                          <a:ea typeface="Calibri" pitchFamily="34" charset="-122"/>
                          <a:cs typeface="Calibri" pitchFamily="34" charset="-120"/>
                        </a:rPr>
                        <a:t>MP-20.6 </a:t>
                      </a:r>
                      <a:pPr indent="0" marL="0">
                        <a:buNone/>
                      </a:pPr>
                      <a:r>
                        <a:rPr lang="en-US" sz="1000" dirty="0">
                          <a:solidFill>
                            <a:srgbClr val="58595B"/>
                          </a:solidFill>
                          <a:latin typeface="Calibri" pitchFamily="34" charset="0"/>
                          <a:ea typeface="Calibri" pitchFamily="34" charset="-122"/>
                          <a:cs typeface="Calibri" pitchFamily="34" charset="-120"/>
                        </a:rPr>
                        <a:t>Mettre à jour la note d'efficacité des contrôles</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Soukaina Bennani</a:t>
                      </a:r>
                      <a:endParaRPr lang="en-US" sz="1000" dirty="0">
                        <a:latin typeface="Calibri" charset="0"/>
                        <a:ea typeface="Calibri" charset="0"/>
                        <a:cs typeface="Calibri" charset="0"/>
                      </a:endParaRPr>
                    </a:p>
                    <a:p>
                      <a:pPr indent="0" marL="0">
                        <a:buNone/>
                      </a:pPr>
                      <a:r>
                        <a:rPr lang="en-US" sz="900" dirty="0">
                          <a:solidFill>
                            <a:srgbClr val="808184"/>
                          </a:solidFill>
                          <a:latin typeface="Calibri" pitchFamily="34" charset="0"/>
                          <a:ea typeface="Calibri" pitchFamily="34" charset="-122"/>
                          <a:cs typeface="Calibri" pitchFamily="34" charset="-120"/>
                        </a:rPr>
                        <a:t>8 mai 2026</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000" dirty="0">
                          <a:solidFill>
                            <a:srgbClr val="58595B"/>
                          </a:solidFill>
                          <a:latin typeface="Calibri" pitchFamily="34" charset="0"/>
                          <a:ea typeface="Calibri" pitchFamily="34" charset="-122"/>
                          <a:cs typeface="Calibri" pitchFamily="34" charset="-120"/>
                        </a:rPr>
                        <a:t>Efficacité du contrôle CTRL-002 : Efficace ; CTRL-031 : Partiellement efficace.</a:t>
                      </a:r>
                      <a:endParaRPr lang="en-US" sz="10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r>
            </a:tbl>
          </a:graphicData>
        </a:graphic>
      </p:graphicFrame>
      <p:sp>
        <p:nvSpPr>
          <p:cNvPr id="6" name="frame run_E2E-18"/>
          <p:cNvSpPr/>
          <p:nvPr/>
        </p:nvSpPr>
        <p:spPr>
          <a:xfrm>
            <a:off x="2935980" y="3904488"/>
            <a:ext cx="2906280" cy="2139696"/>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7" name="Image 0" descr="run_E2E-18">    </p:cNvPr>
          <p:cNvPicPr>
            <a:picLocks noChangeAspect="1"/>
          </p:cNvPicPr>
          <p:nvPr/>
        </p:nvPicPr>
        <p:blipFill>
          <a:blip r:embed="rId1"/>
          <a:stretch>
            <a:fillRect/>
          </a:stretch>
        </p:blipFill>
        <p:spPr>
          <a:xfrm>
            <a:off x="2990844" y="3959352"/>
            <a:ext cx="2796552" cy="2029968"/>
          </a:xfrm>
          <a:prstGeom prst="rect">
            <a:avLst/>
          </a:prstGeom>
        </p:spPr>
      </p:pic>
      <p:sp>
        <p:nvSpPr>
          <p:cNvPr id="8" name="Text 3"/>
          <p:cNvSpPr txBox="1"/>
          <p:nvPr/>
        </p:nvSpPr>
        <p:spPr>
          <a:xfrm>
            <a:off x="457200" y="6062472"/>
            <a:ext cx="786384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La page de E2E-18 dans CortexSkills : ses tâches, responsables et échéances, et la fiche du processus.</a:t>
            </a:r>
            <a:endParaRPr lang="en-US" sz="1000" dirty="0"/>
          </a:p>
        </p:txBody>
      </p:sp>
      <p:sp>
        <p:nvSpPr>
          <p:cNvPr id="9" name="macro processes"/>
          <p:cNvSpPr/>
          <p:nvPr/>
        </p:nvSpPr>
        <p:spPr>
          <a:xfrm>
            <a:off x="8549640" y="1325880"/>
            <a:ext cx="3182112" cy="4754880"/>
          </a:xfrm>
          <a:prstGeom prst="roundRect">
            <a:avLst>
              <a:gd name="adj" fmla="val 2299"/>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0" name="Text 5"/>
          <p:cNvSpPr txBox="1"/>
          <p:nvPr/>
        </p:nvSpPr>
        <p:spPr>
          <a:xfrm>
            <a:off x="8732520" y="1463040"/>
            <a:ext cx="2834640" cy="4480560"/>
          </a:xfrm>
          <a:prstGeom prst="rect">
            <a:avLst/>
          </a:prstGeom>
          <a:noFill/>
          <a:ln/>
        </p:spPr>
        <p:txBody>
          <a:bodyPr wrap="square" lIns="0" tIns="0" rIns="0" bIns="0" rtlCol="0" anchor="t"/>
          <a:lstStyle/>
          <a:p>
            <a:pPr indent="0" marL="0">
              <a:spcAft>
                <a:spcPts val="200"/>
              </a:spcAft>
              <a:buNone/>
            </a:pPr>
            <a:r>
              <a:rPr lang="en-US" sz="1100" b="1" dirty="0">
                <a:solidFill>
                  <a:srgbClr val="E07B00"/>
                </a:solidFill>
                <a:latin typeface="Calibri" pitchFamily="34" charset="0"/>
                <a:ea typeface="Calibri" pitchFamily="34" charset="-122"/>
                <a:cs typeface="Calibri" pitchFamily="34" charset="-120"/>
              </a:rPr>
              <a:t>Macro-processus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MP-20 Qualité, risques et amélioration continue</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MP-16 Gouvernance des données, de l'IA et des intégrations</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MP-17 Gestion des identités, des accès et de la sécurité</a:t>
            </a:r>
            <a:endParaRPr lang="en-US" sz="1100" dirty="0"/>
          </a:p>
          <a:p>
            <a:pPr marL="342900" indent="-342900">
              <a:spcAft>
                <a:spcPts val="400"/>
              </a:spcAft>
              <a:buSzPct val="100000"/>
              <a:buChar char="•"/>
            </a:pPr>
            <a:r>
              <a:rPr lang="en-US" sz="1100" dirty="0">
                <a:solidFill>
                  <a:srgbClr val="3A3A3C"/>
                </a:solidFill>
                <a:latin typeface="Calibri" pitchFamily="34" charset="0"/>
                <a:ea typeface="Calibri" pitchFamily="34" charset="-122"/>
                <a:cs typeface="Calibri" pitchFamily="34" charset="-120"/>
              </a:rPr>
              <a:t>MP-09 Évaluation</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Alimente</a:t>
            </a:r>
            <a:endParaRPr lang="en-US" sz="1100" dirty="0"/>
          </a:p>
          <a:p>
            <a:pPr indent="0" marL="0">
              <a:spcAft>
                <a:spcPts val="200"/>
              </a:spcAft>
              <a:buNone/>
            </a:pPr>
            <a:r>
              <a:rPr lang="en-US" sz="1100" dirty="0">
                <a:solidFill>
                  <a:srgbClr val="3A3A3C"/>
                </a:solidFill>
                <a:latin typeface="Calibri" pitchFamily="34" charset="0"/>
                <a:ea typeface="Calibri" pitchFamily="34" charset="-122"/>
                <a:cs typeface="Calibri" pitchFamily="34" charset="-120"/>
              </a:rPr>
              <a:t>E2E-03, E2E-07, E2E-09</a:t>
            </a:r>
            <a:endParaRPr lang="en-US" sz="1100" dirty="0"/>
          </a:p>
          <a:p>
            <a:pPr indent="0" marL="0">
              <a:spcBef>
                <a:spcPts val="1000"/>
              </a:spcBef>
              <a:spcAft>
                <a:spcPts val="200"/>
              </a:spcAft>
              <a:buNone/>
            </a:pPr>
            <a:r>
              <a:rPr lang="en-US" sz="1100" b="1" dirty="0">
                <a:solidFill>
                  <a:srgbClr val="E07B00"/>
                </a:solidFill>
                <a:latin typeface="Calibri" pitchFamily="34" charset="0"/>
                <a:ea typeface="Calibri" pitchFamily="34" charset="-122"/>
                <a:cs typeface="Calibri" pitchFamily="34" charset="-120"/>
              </a:rPr>
              <a:t>Soutenu par</a:t>
            </a:r>
            <a:endParaRPr lang="en-US" sz="1100" dirty="0"/>
          </a:p>
          <a:p>
            <a:pPr indent="0" marL="0">
              <a:buNone/>
            </a:pPr>
            <a:r>
              <a:rPr lang="en-US" sz="1100" dirty="0">
                <a:solidFill>
                  <a:srgbClr val="3A3A3C"/>
                </a:solidFill>
                <a:latin typeface="Calibri" pitchFamily="34" charset="0"/>
                <a:ea typeface="Calibri" pitchFamily="34" charset="-122"/>
                <a:cs typeface="Calibri" pitchFamily="34" charset="-120"/>
              </a:rPr>
              <a:t>—</a:t>
            </a:r>
            <a:endParaRPr lang="en-US" sz="1100" dirty="0"/>
          </a:p>
        </p:txBody>
      </p:sp>
      <p:sp>
        <p:nvSpPr>
          <p:cNvPr id="11"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RÉSULTATS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Ce que le déroulé a produit, en chiffres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Chaque chiffre est la valeur saisie ou calculée à l’étape indiquée dessous</a:t>
            </a:r>
            <a:endParaRPr lang="en-US" sz="1400" dirty="0"/>
          </a:p>
        </p:txBody>
      </p:sp>
      <p:sp>
        <p:nvSpPr>
          <p:cNvPr id="6" name="kpi réponses au questionnaire consolidées"/>
          <p:cNvSpPr/>
          <p:nvPr/>
        </p:nvSpPr>
        <p:spPr>
          <a:xfrm>
            <a:off x="457200" y="178308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640080" y="189280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187</a:t>
            </a:r>
            <a:endParaRPr lang="en-US" sz="3200" dirty="0"/>
          </a:p>
        </p:txBody>
      </p:sp>
      <p:sp>
        <p:nvSpPr>
          <p:cNvPr id="8" name="Text 5"/>
          <p:cNvSpPr txBox="1"/>
          <p:nvPr/>
        </p:nvSpPr>
        <p:spPr>
          <a:xfrm>
            <a:off x="640080" y="245973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réponses au questionnaire consolidées</a:t>
            </a:r>
            <a:endParaRPr lang="en-US" sz="1200" dirty="0"/>
          </a:p>
        </p:txBody>
      </p:sp>
      <p:sp>
        <p:nvSpPr>
          <p:cNvPr id="9" name="Text 6"/>
          <p:cNvSpPr txBox="1"/>
          <p:nvPr/>
        </p:nvSpPr>
        <p:spPr>
          <a:xfrm>
            <a:off x="640080" y="299008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UFT-03-06</a:t>
            </a:r>
            <a:endParaRPr lang="en-US" sz="1000" dirty="0"/>
          </a:p>
        </p:txBody>
      </p:sp>
      <p:sp>
        <p:nvSpPr>
          <p:cNvPr id="10" name="kpi thèmes construits à partir de 23 besoins validés"/>
          <p:cNvSpPr/>
          <p:nvPr/>
        </p:nvSpPr>
        <p:spPr>
          <a:xfrm>
            <a:off x="4251960" y="178308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1" name="Text 8"/>
          <p:cNvSpPr txBox="1"/>
          <p:nvPr/>
        </p:nvSpPr>
        <p:spPr>
          <a:xfrm>
            <a:off x="4434840" y="189280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6</a:t>
            </a:r>
            <a:endParaRPr lang="en-US" sz="3200" dirty="0"/>
          </a:p>
        </p:txBody>
      </p:sp>
      <p:sp>
        <p:nvSpPr>
          <p:cNvPr id="12" name="Text 9"/>
          <p:cNvSpPr txBox="1"/>
          <p:nvPr/>
        </p:nvSpPr>
        <p:spPr>
          <a:xfrm>
            <a:off x="4434840" y="245973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thèmes construits à partir de 23 besoins validés</a:t>
            </a:r>
            <a:endParaRPr lang="en-US" sz="1200" dirty="0"/>
          </a:p>
        </p:txBody>
      </p:sp>
      <p:sp>
        <p:nvSpPr>
          <p:cNvPr id="13" name="Text 10"/>
          <p:cNvSpPr txBox="1"/>
          <p:nvPr/>
        </p:nvSpPr>
        <p:spPr>
          <a:xfrm>
            <a:off x="4434840" y="299008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UFT-03-05</a:t>
            </a:r>
            <a:endParaRPr lang="en-US" sz="1000" dirty="0"/>
          </a:p>
        </p:txBody>
      </p:sp>
      <p:sp>
        <p:nvSpPr>
          <p:cNvPr id="14" name="kpi MAD de budget formation net approuvé"/>
          <p:cNvSpPr/>
          <p:nvPr/>
        </p:nvSpPr>
        <p:spPr>
          <a:xfrm>
            <a:off x="8046720" y="178308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5" name="Text 12"/>
          <p:cNvSpPr txBox="1"/>
          <p:nvPr/>
        </p:nvSpPr>
        <p:spPr>
          <a:xfrm>
            <a:off x="8229600" y="189280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1,33 M</a:t>
            </a:r>
            <a:endParaRPr lang="en-US" sz="3200" dirty="0"/>
          </a:p>
        </p:txBody>
      </p:sp>
      <p:sp>
        <p:nvSpPr>
          <p:cNvPr id="16" name="Text 13"/>
          <p:cNvSpPr txBox="1"/>
          <p:nvPr/>
        </p:nvSpPr>
        <p:spPr>
          <a:xfrm>
            <a:off x="8229600" y="245973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MAD de budget formation net approuvé</a:t>
            </a:r>
            <a:endParaRPr lang="en-US" sz="1200" dirty="0"/>
          </a:p>
        </p:txBody>
      </p:sp>
      <p:sp>
        <p:nvSpPr>
          <p:cNvPr id="17" name="Text 14"/>
          <p:cNvSpPr txBox="1"/>
          <p:nvPr/>
        </p:nvSpPr>
        <p:spPr>
          <a:xfrm>
            <a:off x="8229600" y="299008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UFT-01-05</a:t>
            </a:r>
            <a:endParaRPr lang="en-US" sz="1000" dirty="0"/>
          </a:p>
        </p:txBody>
      </p:sp>
      <p:sp>
        <p:nvSpPr>
          <p:cNvPr id="18" name="kpi score au test, de 48 % à 81 % (niveau 2)"/>
          <p:cNvSpPr/>
          <p:nvPr/>
        </p:nvSpPr>
        <p:spPr>
          <a:xfrm>
            <a:off x="457200" y="393192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9" name="Text 16"/>
          <p:cNvSpPr txBox="1"/>
          <p:nvPr/>
        </p:nvSpPr>
        <p:spPr>
          <a:xfrm>
            <a:off x="640080" y="404164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+33 pts</a:t>
            </a:r>
            <a:endParaRPr lang="en-US" sz="3200" dirty="0"/>
          </a:p>
        </p:txBody>
      </p:sp>
      <p:sp>
        <p:nvSpPr>
          <p:cNvPr id="20" name="Text 17"/>
          <p:cNvSpPr txBox="1"/>
          <p:nvPr/>
        </p:nvSpPr>
        <p:spPr>
          <a:xfrm>
            <a:off x="640080" y="460857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score au test, de 48 % à 81 % (niveau 2)</a:t>
            </a:r>
            <a:endParaRPr lang="en-US" sz="1200" dirty="0"/>
          </a:p>
        </p:txBody>
      </p:sp>
      <p:sp>
        <p:nvSpPr>
          <p:cNvPr id="21" name="Text 18"/>
          <p:cNvSpPr txBox="1"/>
          <p:nvPr/>
        </p:nvSpPr>
        <p:spPr>
          <a:xfrm>
            <a:off x="640080" y="513892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UFT-07-04</a:t>
            </a:r>
            <a:endParaRPr lang="en-US" sz="1000" dirty="0"/>
          </a:p>
        </p:txBody>
      </p:sp>
      <p:sp>
        <p:nvSpPr>
          <p:cNvPr id="22" name="kpi superviseurs appliquent la routine à J+30"/>
          <p:cNvSpPr/>
          <p:nvPr/>
        </p:nvSpPr>
        <p:spPr>
          <a:xfrm>
            <a:off x="4251960" y="393192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3" name="Text 20"/>
          <p:cNvSpPr txBox="1"/>
          <p:nvPr/>
        </p:nvSpPr>
        <p:spPr>
          <a:xfrm>
            <a:off x="4434840" y="404164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9 / 11</a:t>
            </a:r>
            <a:endParaRPr lang="en-US" sz="3200" dirty="0"/>
          </a:p>
        </p:txBody>
      </p:sp>
      <p:sp>
        <p:nvSpPr>
          <p:cNvPr id="24" name="Text 21"/>
          <p:cNvSpPr txBox="1"/>
          <p:nvPr/>
        </p:nvSpPr>
        <p:spPr>
          <a:xfrm>
            <a:off x="4434840" y="460857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superviseurs appliquent la routine à J+30</a:t>
            </a:r>
            <a:endParaRPr lang="en-US" sz="1200" dirty="0"/>
          </a:p>
        </p:txBody>
      </p:sp>
      <p:sp>
        <p:nvSpPr>
          <p:cNvPr id="25" name="Text 22"/>
          <p:cNvSpPr txBox="1"/>
          <p:nvPr/>
        </p:nvSpPr>
        <p:spPr>
          <a:xfrm>
            <a:off x="4434840" y="513892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UFT-07-05</a:t>
            </a:r>
            <a:endParaRPr lang="en-US" sz="1000" dirty="0"/>
          </a:p>
        </p:txBody>
      </p:sp>
      <p:sp>
        <p:nvSpPr>
          <p:cNvPr id="26" name="kpi ROI, ratio bénéfice-coût 1,22"/>
          <p:cNvSpPr/>
          <p:nvPr/>
        </p:nvSpPr>
        <p:spPr>
          <a:xfrm>
            <a:off x="8046720" y="3931920"/>
            <a:ext cx="3611880" cy="1143000"/>
          </a:xfrm>
          <a:prstGeom prst="roundRect">
            <a:avLst>
              <a:gd name="adj" fmla="val 6400"/>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7" name="Text 24"/>
          <p:cNvSpPr txBox="1"/>
          <p:nvPr/>
        </p:nvSpPr>
        <p:spPr>
          <a:xfrm>
            <a:off x="8229600" y="4041648"/>
            <a:ext cx="3246120" cy="566928"/>
          </a:xfrm>
          <a:prstGeom prst="rect">
            <a:avLst/>
          </a:prstGeom>
          <a:noFill/>
          <a:ln/>
        </p:spPr>
        <p:txBody>
          <a:bodyPr wrap="square" lIns="0" tIns="0" rIns="0" bIns="0" rtlCol="0" anchor="ctr"/>
          <a:lstStyle/>
          <a:p>
            <a:pPr indent="0" marL="0">
              <a:buNone/>
            </a:pPr>
            <a:r>
              <a:rPr lang="en-US" sz="3200" b="1" dirty="0">
                <a:solidFill>
                  <a:srgbClr val="E07B00"/>
                </a:solidFill>
                <a:latin typeface="Cambria" pitchFamily="34" charset="0"/>
                <a:ea typeface="Cambria" pitchFamily="34" charset="-122"/>
                <a:cs typeface="Cambria" pitchFamily="34" charset="-120"/>
              </a:rPr>
              <a:t>22 %</a:t>
            </a:r>
            <a:endParaRPr lang="en-US" sz="3200" dirty="0"/>
          </a:p>
        </p:txBody>
      </p:sp>
      <p:sp>
        <p:nvSpPr>
          <p:cNvPr id="28" name="Text 25"/>
          <p:cNvSpPr txBox="1"/>
          <p:nvPr/>
        </p:nvSpPr>
        <p:spPr>
          <a:xfrm>
            <a:off x="8229600" y="4608576"/>
            <a:ext cx="3246120" cy="384048"/>
          </a:xfrm>
          <a:prstGeom prst="rect">
            <a:avLst/>
          </a:prstGeom>
          <a:noFill/>
          <a:ln/>
        </p:spPr>
        <p:txBody>
          <a:bodyPr wrap="square" lIns="0" tIns="0" rIns="0" bIns="0" rtlCol="0" anchor="t"/>
          <a:lstStyle/>
          <a:p>
            <a:pPr indent="0" marL="0">
              <a:buNone/>
            </a:pPr>
            <a:r>
              <a:rPr lang="en-US" sz="1200" dirty="0">
                <a:solidFill>
                  <a:srgbClr val="58595B"/>
                </a:solidFill>
                <a:latin typeface="Calibri" pitchFamily="34" charset="0"/>
                <a:ea typeface="Calibri" pitchFamily="34" charset="-122"/>
                <a:cs typeface="Calibri" pitchFamily="34" charset="-120"/>
              </a:rPr>
              <a:t>ROI, ratio bénéfice-coût 1,22</a:t>
            </a:r>
            <a:endParaRPr lang="en-US" sz="1200" dirty="0"/>
          </a:p>
        </p:txBody>
      </p:sp>
      <p:sp>
        <p:nvSpPr>
          <p:cNvPr id="29" name="Text 26"/>
          <p:cNvSpPr txBox="1"/>
          <p:nvPr/>
        </p:nvSpPr>
        <p:spPr>
          <a:xfrm>
            <a:off x="8229600" y="5138928"/>
            <a:ext cx="3200400" cy="274320"/>
          </a:xfrm>
          <a:prstGeom prst="rect">
            <a:avLst/>
          </a:prstGeom>
          <a:noFill/>
          <a:ln/>
        </p:spPr>
        <p:txBody>
          <a:bodyPr wrap="square" lIns="0" tIns="0" rIns="0" bIns="0" rtlCol="0" anchor="ctr"/>
          <a:lstStyle/>
          <a:p>
            <a:pPr indent="0" marL="0">
              <a:buNone/>
            </a:pPr>
            <a:r>
              <a:rPr lang="en-US" sz="1000" i="1" dirty="0">
                <a:solidFill>
                  <a:srgbClr val="808184"/>
                </a:solidFill>
                <a:latin typeface="Calibri" pitchFamily="34" charset="0"/>
                <a:ea typeface="Calibri" pitchFamily="34" charset="-122"/>
                <a:cs typeface="Calibri" pitchFamily="34" charset="-120"/>
              </a:rPr>
              <a:t>UFT-08-05</a:t>
            </a:r>
            <a:endParaRPr lang="en-US" sz="1000" dirty="0"/>
          </a:p>
        </p:txBody>
      </p:sp>
      <p:sp>
        <p:nvSpPr>
          <p:cNvPr id="30"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RÉSULTATS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La formation mesurée à chaque niveau de Kirkpatrick</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Session S-01, triage IA et aide à la décision clinique pour les superviseurs</a:t>
            </a:r>
            <a:endParaRPr lang="en-US" sz="1400" dirty="0"/>
          </a:p>
        </p:txBody>
      </p:sp>
      <p:graphicFrame>
        <p:nvGraphicFramePr>
          <p:cNvPr id="6" name="Chart 0" descr=""/>
          <p:cNvGraphicFramePr/>
          <p:nvPr/>
        </p:nvGraphicFramePr>
        <p:xfrm>
          <a:off x="457200" y="1783080"/>
          <a:ext cx="6766560" cy="416052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457200" y="5989320"/>
            <a:ext cx="6766560"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Satisfaction 4,3/5 affichée à 86 % ; 9 participants sur 11 affichés à 82 %. Source : tâches UFT-07-03 à UFT-07-05.</a:t>
            </a:r>
            <a:endParaRPr lang="en-US" sz="1000" dirty="0"/>
          </a:p>
        </p:txBody>
      </p:sp>
      <p:sp>
        <p:nvSpPr>
          <p:cNvPr id="8" name="badge smile"/>
          <p:cNvSpPr/>
          <p:nvPr/>
        </p:nvSpPr>
        <p:spPr>
          <a:xfrm>
            <a:off x="7589520" y="1783080"/>
            <a:ext cx="475488" cy="475488"/>
          </a:xfrm>
          <a:prstGeom prst="ellipse">
            <a:avLst/>
          </a:prstGeom>
          <a:solidFill>
            <a:srgbClr val="58595B"/>
          </a:solidFill>
          <a:ln w="12700">
            <a:solidFill>
              <a:srgbClr val="58595B"/>
            </a:solidFill>
            <a:prstDash val="solid"/>
          </a:ln>
        </p:spPr>
      </p:sp>
      <p:pic>
        <p:nvPicPr>
          <p:cNvPr id="9" name="Image 0" descr="smile">    </p:cNvPr>
          <p:cNvPicPr>
            <a:picLocks noChangeAspect="1"/>
          </p:cNvPicPr>
          <p:nvPr/>
        </p:nvPicPr>
        <p:blipFill>
          <a:blip r:embed="rId2"/>
          <a:stretch>
            <a:fillRect/>
          </a:stretch>
        </p:blipFill>
        <p:spPr>
          <a:xfrm>
            <a:off x="7698882" y="1892442"/>
            <a:ext cx="256764" cy="256764"/>
          </a:xfrm>
          <a:prstGeom prst="rect">
            <a:avLst/>
          </a:prstGeom>
        </p:spPr>
      </p:pic>
      <p:sp>
        <p:nvSpPr>
          <p:cNvPr id="10" name="Text 5"/>
          <p:cNvSpPr txBox="1"/>
          <p:nvPr/>
        </p:nvSpPr>
        <p:spPr>
          <a:xfrm>
            <a:off x="8183880" y="1746504"/>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Niveau 1 — Réaction
</a:t>
            </a:r>
            <a:pPr indent="0" marL="0">
              <a:buNone/>
            </a:pPr>
            <a:r>
              <a:rPr lang="en-US" sz="1100" dirty="0">
                <a:solidFill>
                  <a:srgbClr val="58595B"/>
                </a:solidFill>
                <a:latin typeface="Calibri" pitchFamily="34" charset="0"/>
                <a:ea typeface="Calibri" pitchFamily="34" charset="-122"/>
                <a:cs typeface="Calibri" pitchFamily="34" charset="-120"/>
              </a:rPr>
              <a:t>Enquête à chaud S-01 : 11 réponses, satisfaction 4,3/5.</a:t>
            </a:r>
            <a:endParaRPr lang="en-US" sz="1100" dirty="0"/>
          </a:p>
        </p:txBody>
      </p:sp>
      <p:sp>
        <p:nvSpPr>
          <p:cNvPr id="11" name="badge brain"/>
          <p:cNvSpPr/>
          <p:nvPr/>
        </p:nvSpPr>
        <p:spPr>
          <a:xfrm>
            <a:off x="7589520" y="2852928"/>
            <a:ext cx="475488" cy="475488"/>
          </a:xfrm>
          <a:prstGeom prst="ellipse">
            <a:avLst/>
          </a:prstGeom>
          <a:solidFill>
            <a:srgbClr val="58595B"/>
          </a:solidFill>
          <a:ln w="12700">
            <a:solidFill>
              <a:srgbClr val="58595B"/>
            </a:solidFill>
            <a:prstDash val="solid"/>
          </a:ln>
        </p:spPr>
      </p:sp>
      <p:pic>
        <p:nvPicPr>
          <p:cNvPr id="12" name="Image 1" descr="brain">    </p:cNvPr>
          <p:cNvPicPr>
            <a:picLocks noChangeAspect="1"/>
          </p:cNvPicPr>
          <p:nvPr/>
        </p:nvPicPr>
        <p:blipFill>
          <a:blip r:embed="rId3"/>
          <a:stretch>
            <a:fillRect/>
          </a:stretch>
        </p:blipFill>
        <p:spPr>
          <a:xfrm>
            <a:off x="7698882" y="2962290"/>
            <a:ext cx="256764" cy="256764"/>
          </a:xfrm>
          <a:prstGeom prst="rect">
            <a:avLst/>
          </a:prstGeom>
        </p:spPr>
      </p:pic>
      <p:sp>
        <p:nvSpPr>
          <p:cNvPr id="13" name="Text 7"/>
          <p:cNvSpPr txBox="1"/>
          <p:nvPr/>
        </p:nvSpPr>
        <p:spPr>
          <a:xfrm>
            <a:off x="8183880" y="2816352"/>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Niveau 2 — Apprentissage
</a:t>
            </a:r>
            <a:pPr indent="0" marL="0">
              <a:buNone/>
            </a:pPr>
            <a:r>
              <a:rPr lang="en-US" sz="1100" dirty="0">
                <a:solidFill>
                  <a:srgbClr val="58595B"/>
                </a:solidFill>
                <a:latin typeface="Calibri" pitchFamily="34" charset="0"/>
                <a:ea typeface="Calibri" pitchFamily="34" charset="-122"/>
                <a:cs typeface="Calibri" pitchFamily="34" charset="-120"/>
              </a:rPr>
              <a:t>Niveau 2 : pré-test moyen 48 %, post-test 81 % (+33 points).</a:t>
            </a:r>
            <a:endParaRPr lang="en-US" sz="1100" dirty="0"/>
          </a:p>
        </p:txBody>
      </p:sp>
      <p:sp>
        <p:nvSpPr>
          <p:cNvPr id="14" name="badge activity"/>
          <p:cNvSpPr/>
          <p:nvPr/>
        </p:nvSpPr>
        <p:spPr>
          <a:xfrm>
            <a:off x="7589520" y="3922776"/>
            <a:ext cx="475488" cy="475488"/>
          </a:xfrm>
          <a:prstGeom prst="ellipse">
            <a:avLst/>
          </a:prstGeom>
          <a:solidFill>
            <a:srgbClr val="58595B"/>
          </a:solidFill>
          <a:ln w="12700">
            <a:solidFill>
              <a:srgbClr val="58595B"/>
            </a:solidFill>
            <a:prstDash val="solid"/>
          </a:ln>
        </p:spPr>
      </p:sp>
      <p:pic>
        <p:nvPicPr>
          <p:cNvPr id="15" name="Image 2" descr="activity">    </p:cNvPr>
          <p:cNvPicPr>
            <a:picLocks noChangeAspect="1"/>
          </p:cNvPicPr>
          <p:nvPr/>
        </p:nvPicPr>
        <p:blipFill>
          <a:blip r:embed="rId4"/>
          <a:stretch>
            <a:fillRect/>
          </a:stretch>
        </p:blipFill>
        <p:spPr>
          <a:xfrm>
            <a:off x="7698882" y="4032138"/>
            <a:ext cx="256764" cy="256764"/>
          </a:xfrm>
          <a:prstGeom prst="rect">
            <a:avLst/>
          </a:prstGeom>
        </p:spPr>
      </p:pic>
      <p:sp>
        <p:nvSpPr>
          <p:cNvPr id="16" name="Text 9"/>
          <p:cNvSpPr txBox="1"/>
          <p:nvPr/>
        </p:nvSpPr>
        <p:spPr>
          <a:xfrm>
            <a:off x="8183880" y="3886200"/>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Niveau 3 — Comportement
</a:t>
            </a:r>
            <a:pPr indent="0" marL="0">
              <a:buNone/>
            </a:pPr>
            <a:r>
              <a:rPr lang="en-US" sz="1100" dirty="0">
                <a:solidFill>
                  <a:srgbClr val="58595B"/>
                </a:solidFill>
                <a:latin typeface="Calibri" pitchFamily="34" charset="0"/>
                <a:ea typeface="Calibri" pitchFamily="34" charset="-122"/>
                <a:cs typeface="Calibri" pitchFamily="34" charset="-120"/>
              </a:rPr>
              <a:t>Niveau 3 (J+30) : 9 encadrants sur 11 appliquent la routine Triage IA et aide à la décision clinique chaque jour.</a:t>
            </a:r>
            <a:endParaRPr lang="en-US" sz="1100" dirty="0"/>
          </a:p>
        </p:txBody>
      </p:sp>
      <p:sp>
        <p:nvSpPr>
          <p:cNvPr id="17" name="badge coins"/>
          <p:cNvSpPr/>
          <p:nvPr/>
        </p:nvSpPr>
        <p:spPr>
          <a:xfrm>
            <a:off x="7589520" y="4992624"/>
            <a:ext cx="475488" cy="475488"/>
          </a:xfrm>
          <a:prstGeom prst="ellipse">
            <a:avLst/>
          </a:prstGeom>
          <a:solidFill>
            <a:srgbClr val="F8931D"/>
          </a:solidFill>
          <a:ln w="12700">
            <a:solidFill>
              <a:srgbClr val="F8931D"/>
            </a:solidFill>
            <a:prstDash val="solid"/>
          </a:ln>
        </p:spPr>
      </p:sp>
      <p:pic>
        <p:nvPicPr>
          <p:cNvPr id="18" name="Image 3" descr="coins">    </p:cNvPr>
          <p:cNvPicPr>
            <a:picLocks noChangeAspect="1"/>
          </p:cNvPicPr>
          <p:nvPr/>
        </p:nvPicPr>
        <p:blipFill>
          <a:blip r:embed="rId5"/>
          <a:stretch>
            <a:fillRect/>
          </a:stretch>
        </p:blipFill>
        <p:spPr>
          <a:xfrm>
            <a:off x="7698882" y="5101986"/>
            <a:ext cx="256764" cy="256764"/>
          </a:xfrm>
          <a:prstGeom prst="rect">
            <a:avLst/>
          </a:prstGeom>
        </p:spPr>
      </p:pic>
      <p:sp>
        <p:nvSpPr>
          <p:cNvPr id="19" name="Text 11"/>
          <p:cNvSpPr txBox="1"/>
          <p:nvPr/>
        </p:nvSpPr>
        <p:spPr>
          <a:xfrm>
            <a:off x="8183880" y="4956048"/>
            <a:ext cx="3566160" cy="987552"/>
          </a:xfrm>
          <a:prstGeom prst="rect">
            <a:avLst/>
          </a:prstGeom>
          <a:noFill/>
          <a:ln/>
        </p:spPr>
        <p:txBody>
          <a:bodyPr wrap="square" lIns="0" tIns="0" rIns="0" bIns="0" rtlCol="0" anchor="t"/>
          <a:lstStyle/>
          <a:p>
            <a:pPr indent="0" marL="0">
              <a:buNone/>
            </a:pPr>
            <a:r>
              <a:rPr lang="en-US" sz="1300" b="1" dirty="0">
                <a:solidFill>
                  <a:srgbClr val="3A3A3C"/>
                </a:solidFill>
                <a:latin typeface="Calibri" pitchFamily="34" charset="0"/>
                <a:ea typeface="Calibri" pitchFamily="34" charset="-122"/>
                <a:cs typeface="Calibri" pitchFamily="34" charset="-120"/>
              </a:rPr>
              <a:t>Niveau 4 — ROI
</a:t>
            </a:r>
            <a:pPr indent="0" marL="0">
              <a:buNone/>
            </a:pPr>
            <a:r>
              <a:rPr lang="en-US" sz="1100" dirty="0">
                <a:solidFill>
                  <a:srgbClr val="58595B"/>
                </a:solidFill>
                <a:latin typeface="Calibri" pitchFamily="34" charset="0"/>
                <a:ea typeface="Calibri" pitchFamily="34" charset="-122"/>
                <a:cs typeface="Calibri" pitchFamily="34" charset="-120"/>
              </a:rPr>
              <a:t>ROI = (410 000 − 335 000) / 335 000 = 22 % ; ratio bénéfice-coût 1,22.</a:t>
            </a:r>
            <a:endParaRPr lang="en-US" sz="1100" dirty="0"/>
          </a:p>
        </p:txBody>
      </p:sp>
      <p:sp>
        <p:nvSpPr>
          <p:cNvPr id="20"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RÉSULTATS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Tous les KPI du projet dans la cible</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61 KPI sur 61 au vert — les dix premiers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6309360" cy="914400"/>
        </p:xfrm>
        <a:graphic>
          <a:graphicData uri="http://schemas.openxmlformats.org/drawingml/2006/table">
            <a:tbl>
              <a:tblPr/>
              <a:tblGrid>
                <a:gridCol w="822960"/>
                <a:gridCol w="2834640"/>
                <a:gridCol w="731520"/>
                <a:gridCol w="731520"/>
                <a:gridCol w="118872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KPI</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Valeur</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Cible</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Statut</a:t>
                      </a:r>
                      <a:endParaRPr lang="en-US" sz="1000" dirty="0">
                        <a:latin typeface="Calibri" charset="0"/>
                        <a:ea typeface="Calibri" charset="0"/>
                        <a:cs typeface="Calibri" charset="0"/>
                      </a:endParaRPr>
                    </a:p>
                  </a:txBody>
                  <a:tcPr marL="63500" marR="63500" marT="38100" marB="38100" anchor="ctr">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8931D"/>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KPI-001</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Couverture des objectifs stratégiques</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KPI-002</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Taux de validation de l'inventaire des compétences</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102,6</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KPI-003</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Taux d'écarts critiques</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8,2</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KPI-004</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Délai de production du rapport d'ingénierie de formation</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24,6</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Délai d'approbation de la conception</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KPI-006</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Conformité de la licence %</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KPI-007</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Délai de publication des contenus</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12,3</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Taux de remplissage des sessions</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KPI-009</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Taux de réalisation du plan</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97,2</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r h="365760">
                <a:tc>
                  <a:txBody>
                    <a:bodyPr/>
                    <a:lstStyle/>
                    <a:p>
                      <a:pPr indent="0" marL="0">
                        <a:buNone/>
                      </a:pPr>
                      <a:r>
                        <a:rPr lang="en-US" sz="1100" b="1" dirty="0">
                          <a:solidFill>
                            <a:srgbClr val="3A3A3C"/>
                          </a:solidFill>
                          <a:latin typeface="Calibri" pitchFamily="34" charset="0"/>
                          <a:ea typeface="Calibri" pitchFamily="34" charset="-122"/>
                          <a:cs typeface="Calibri" pitchFamily="34" charset="-120"/>
                        </a:rPr>
                        <a:t>KPI-010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indent="0" marL="0">
                        <a:buNone/>
                      </a:pPr>
                      <a:r>
                        <a:rPr lang="en-US" sz="1100" dirty="0">
                          <a:solidFill>
                            <a:srgbClr val="58595B"/>
                          </a:solidFill>
                          <a:latin typeface="Calibri" pitchFamily="34" charset="0"/>
                          <a:ea typeface="Calibri" pitchFamily="34" charset="-122"/>
                          <a:cs typeface="Calibri" pitchFamily="34" charset="-120"/>
                        </a:rPr>
                        <a:t>Taux d'achèvement des apprenants</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86,4</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r" indent="0" marL="0">
                        <a:buNone/>
                      </a:pPr>
                      <a:r>
                        <a:rPr lang="en-US" sz="1100" dirty="0">
                          <a:solidFill>
                            <a:srgbClr val="58595B"/>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F2F2F3"/>
                    </a:solidFill>
                  </a:tcPr>
                </a:tc>
                <a:tc>
                  <a:txBody>
                    <a:bodyPr/>
                    <a:lstStyle/>
                    <a:p>
                      <a:pPr algn="ctr" indent="0" marL="0">
                        <a:buNone/>
                      </a:pPr>
                      <a:r>
                        <a:rPr lang="en-US" sz="1100" b="1" dirty="0">
                          <a:solidFill>
                            <a:srgbClr val="3A3A3C"/>
                          </a:solidFill>
                          <a:latin typeface="Calibri" pitchFamily="34" charset="0"/>
                          <a:ea typeface="Calibri" pitchFamily="34" charset="-122"/>
                          <a:cs typeface="Calibri" pitchFamily="34" charset="-120"/>
                        </a:rPr>
                        <a:t>Dans la cible</a:t>
                      </a:r>
                      <a:endParaRPr lang="en-US" sz="1100" dirty="0">
                        <a:latin typeface="Calibri" charset="0"/>
                        <a:ea typeface="Calibri" charset="0"/>
                        <a:cs typeface="Calibri" charset="0"/>
                      </a:endParaRPr>
                    </a:p>
                  </a:txBody>
                  <a:tcPr marL="63500" marR="63500" marT="38100" marB="38100" anchor="t">
                    <a:lnL w="6350" cap="flat" cmpd="sng" algn="ctr">
                      <a:solidFill>
                        <a:srgbClr val="E3E3E4"/>
                      </a:solidFill>
                      <a:prstDash val="solid"/>
                      <a:round/>
                      <a:headEnd type="none" w="med" len="med"/>
                      <a:tailEnd type="none" w="med" len="med"/>
                    </a:lnL>
                    <a:lnR w="6350" cap="flat" cmpd="sng" algn="ctr">
                      <a:solidFill>
                        <a:srgbClr val="E3E3E4"/>
                      </a:solidFill>
                      <a:prstDash val="solid"/>
                      <a:round/>
                      <a:headEnd type="none" w="med" len="med"/>
                      <a:tailEnd type="none" w="med" len="med"/>
                    </a:lnR>
                    <a:lnT w="6350" cap="flat" cmpd="sng" algn="ctr">
                      <a:solidFill>
                        <a:srgbClr val="E3E3E4"/>
                      </a:solidFill>
                      <a:prstDash val="solid"/>
                      <a:round/>
                      <a:headEnd type="none" w="med" len="med"/>
                      <a:tailEnd type="none" w="med" len="med"/>
                    </a:lnT>
                    <a:lnB w="6350" cap="flat" cmpd="sng" algn="ctr">
                      <a:solidFill>
                        <a:srgbClr val="E3E3E4"/>
                      </a:solidFill>
                      <a:prstDash val="solid"/>
                      <a:round/>
                      <a:headEnd type="none" w="med" len="med"/>
                      <a:tailEnd type="none" w="med" len="med"/>
                    </a:lnB>
                    <a:solidFill>
                      <a:srgbClr val="D9EAD3"/>
                    </a:solidFill>
                  </a:tcPr>
                </a:tc>
              </a:tr>
            </a:tbl>
          </a:graphicData>
        </a:graphic>
      </p:graphicFrame>
      <p:sp>
        <p:nvSpPr>
          <p:cNvPr id="7" name="frame 14_kpis"/>
          <p:cNvSpPr/>
          <p:nvPr/>
        </p:nvSpPr>
        <p:spPr>
          <a:xfrm>
            <a:off x="6986016" y="1728216"/>
            <a:ext cx="4800600" cy="3514749"/>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8" name="Image 0" descr="14_kpis">    </p:cNvPr>
          <p:cNvPicPr>
            <a:picLocks noChangeAspect="1"/>
          </p:cNvPicPr>
          <p:nvPr/>
        </p:nvPicPr>
        <p:blipFill>
          <a:blip r:embed="rId1"/>
          <a:stretch>
            <a:fillRect/>
          </a:stretch>
        </p:blipFill>
        <p:spPr>
          <a:xfrm>
            <a:off x="7040880" y="1783080"/>
            <a:ext cx="4690872" cy="3405021"/>
          </a:xfrm>
          <a:prstGeom prst="rect">
            <a:avLst/>
          </a:prstGeom>
        </p:spPr>
      </p:pic>
      <p:sp>
        <p:nvSpPr>
          <p:cNvPr id="9" name="Text 4"/>
          <p:cNvSpPr txBox="1"/>
          <p:nvPr/>
        </p:nvSpPr>
        <p:spPr>
          <a:xfrm>
            <a:off x="7040880" y="5279541"/>
            <a:ext cx="4690872"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Page des KPI du projet dans CortexSkills.</a:t>
            </a:r>
            <a:endParaRPr lang="en-US" sz="1000" dirty="0"/>
          </a:p>
        </p:txBody>
      </p:sp>
      <p:sp>
        <p:nvSpPr>
          <p:cNvPr id="10"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LIVRABLES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La campagne de questionnaires</a:t>
            </a:r>
            <a:endParaRPr lang="en-US" sz="2800" dirty="0"/>
          </a:p>
        </p:txBody>
      </p:sp>
      <p:sp>
        <p:nvSpPr>
          <p:cNvPr id="5" name="frame 10_questionnaires"/>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0_questionnaires">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Campagne à trois formulaires (direction générale, encadrement, collaborateurs), canaux, taux de réponse et complétude.</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LIVRABLES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Le plan de formation 2026</a:t>
            </a:r>
            <a:endParaRPr lang="en-US" sz="2800" dirty="0"/>
          </a:p>
        </p:txBody>
      </p:sp>
      <p:sp>
        <p:nvSpPr>
          <p:cNvPr id="5" name="frame 11_training_plan"/>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1_training_plan">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Programmes, formations, agendas par demi-journée et règles d’or vérifiées sur chaque formation.</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LIVRABLES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38 documents publiés, versionnés et approuvés</a:t>
            </a:r>
            <a:endParaRPr lang="en-US" sz="2800" dirty="0"/>
          </a:p>
        </p:txBody>
      </p:sp>
      <p:sp>
        <p:nvSpPr>
          <p:cNvPr id="5" name="frame 12_documents"/>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2_documents">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Rapport d’ingénierie de formation, plan de formation, audit, rapport ROI et les autres documents, chacun avec un auteur, un approbateur et une date de revue.</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LIVRABLES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Des rapports standard prêts à exporter</a:t>
            </a:r>
            <a:endParaRPr lang="en-US" sz="2800" dirty="0"/>
          </a:p>
        </p:txBody>
      </p:sp>
      <p:sp>
        <p:nvSpPr>
          <p:cNvPr id="5" name="frame 13_reports"/>
          <p:cNvSpPr/>
          <p:nvPr/>
        </p:nvSpPr>
        <p:spPr>
          <a:xfrm>
            <a:off x="3047805" y="1362456"/>
            <a:ext cx="6093342" cy="4453128"/>
          </a:xfrm>
          <a:prstGeom prst="rect">
            <a:avLst/>
          </a:prstGeom>
          <a:solidFill>
            <a:srgbClr val="FFFFFF"/>
          </a:solidFill>
          <a:ln w="9525">
            <a:solidFill>
              <a:srgbClr val="E3E3E4"/>
            </a:solidFill>
            <a:prstDash val="solid"/>
          </a:ln>
          <a:effectLst>
            <a:outerShdw sx="100000" sy="100000" kx="0" ky="0" algn="bl" rotWithShape="0" blurRad="76200" dist="25400" dir="5400000">
              <a:srgbClr val="000000">
                <a:alpha val="12000"/>
              </a:srgbClr>
            </a:outerShdw>
          </a:effectLst>
        </p:spPr>
      </p:sp>
      <p:pic>
        <p:nvPicPr>
          <p:cNvPr id="6" name="Image 0" descr="13_reports">    </p:cNvPr>
          <p:cNvPicPr>
            <a:picLocks noChangeAspect="1"/>
          </p:cNvPicPr>
          <p:nvPr/>
        </p:nvPicPr>
        <p:blipFill>
          <a:blip r:embed="rId1"/>
          <a:stretch>
            <a:fillRect/>
          </a:stretch>
        </p:blipFill>
        <p:spPr>
          <a:xfrm>
            <a:off x="3102669" y="1417320"/>
            <a:ext cx="5983614" cy="4343400"/>
          </a:xfrm>
          <a:prstGeom prst="rect">
            <a:avLst/>
          </a:prstGeom>
        </p:spPr>
      </p:pic>
      <p:sp>
        <p:nvSpPr>
          <p:cNvPr id="7" name="Text 3"/>
          <p:cNvSpPr txBox="1"/>
          <p:nvPr/>
        </p:nvSpPr>
        <p:spPr>
          <a:xfrm>
            <a:off x="3102669" y="5870448"/>
            <a:ext cx="5983614" cy="292608"/>
          </a:xfrm>
          <a:prstGeom prst="rect">
            <a:avLst/>
          </a:prstGeom>
          <a:noFill/>
          <a:ln/>
        </p:spPr>
        <p:txBody>
          <a:bodyPr wrap="square" lIns="0" tIns="0" rIns="0" bIns="0" rtlCol="0" anchor="t"/>
          <a:lstStyle/>
          <a:p>
            <a:pPr indent="0" marL="0">
              <a:buNone/>
            </a:pPr>
            <a:r>
              <a:rPr lang="en-US" sz="1000" i="1" dirty="0">
                <a:solidFill>
                  <a:srgbClr val="58595B"/>
                </a:solidFill>
                <a:latin typeface="Calibri" pitchFamily="34" charset="0"/>
                <a:ea typeface="Calibri" pitchFamily="34" charset="-122"/>
                <a:cs typeface="Calibri" pitchFamily="34" charset="-120"/>
              </a:rPr>
              <a:t>34 rapports standard, prévisualisés et téléchargés en PDF, Excel ou Word.</a:t>
            </a:r>
            <a:endParaRPr lang="en-US" sz="1000" dirty="0"/>
          </a:p>
        </p:txBody>
      </p:sp>
      <p:sp>
        <p:nvSpPr>
          <p:cNvPr id="8"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2" name=""/>
        <p:cNvGrpSpPr/>
        <p:nvPr/>
      </p:nvGrpSpPr>
      <p:grpSpPr>
        <a:xfrm>
          <a:off x="0" y="0"/>
          <a:ext cx="0" cy="0"/>
          <a:chOff x="0" y="0"/>
          <a:chExt cx="0" cy="0"/>
        </a:xfrm>
      </p:grpSpPr>
      <p:sp>
        <p:nvSpPr>
          <p:cNvPr id="3" name="Text 0"/>
          <p:cNvSpPr txBox="1"/>
          <p:nvPr/>
        </p:nvSpPr>
        <p:spPr>
          <a:xfrm>
            <a:off x="457200" y="347472"/>
            <a:ext cx="11247120" cy="274320"/>
          </a:xfrm>
          <a:prstGeom prst="rect">
            <a:avLst/>
          </a:prstGeom>
          <a:noFill/>
          <a:ln/>
        </p:spPr>
        <p:txBody>
          <a:bodyPr wrap="square" lIns="0" tIns="0" rIns="0" bIns="0" rtlCol="0" anchor="ctr"/>
          <a:lstStyle/>
          <a:p>
            <a:pPr indent="0" marL="0">
              <a:buNone/>
            </a:pPr>
            <a:r>
              <a:rPr lang="en-US" sz="1100" b="1" spc="200" kern="0" dirty="0">
                <a:solidFill>
                  <a:srgbClr val="E07B00"/>
                </a:solidFill>
                <a:latin typeface="Calibri" pitchFamily="34" charset="0"/>
                <a:ea typeface="Calibri" pitchFamily="34" charset="-122"/>
                <a:cs typeface="Calibri" pitchFamily="34" charset="-120"/>
              </a:rPr>
              <a:t>PROCHAINES ÉTAPES</a:t>
            </a:r>
            <a:endParaRPr lang="en-US" sz="1100" dirty="0"/>
          </a:p>
        </p:txBody>
      </p:sp>
      <p:sp>
        <p:nvSpPr>
          <p:cNvPr id="4" name="Text 1"/>
          <p:cNvSpPr txBox="1"/>
          <p:nvPr/>
        </p:nvSpPr>
        <p:spPr>
          <a:xfrm>
            <a:off x="457200" y="621792"/>
            <a:ext cx="11247120" cy="566928"/>
          </a:xfrm>
          <a:prstGeom prst="rect">
            <a:avLst/>
          </a:prstGeom>
          <a:noFill/>
          <a:ln/>
        </p:spPr>
        <p:txBody>
          <a:bodyPr wrap="square" lIns="0" tIns="0" rIns="0" bIns="0" rtlCol="0" anchor="ctr">
            <a:normAutofit/>
          </a:bodyPr>
          <a:lstStyle/>
          <a:p>
            <a:pPr indent="0" marL="0">
              <a:buNone/>
            </a:pPr>
            <a:r>
              <a:rPr lang="en-US" sz="2800" b="1" dirty="0">
                <a:solidFill>
                  <a:srgbClr val="3A3A3C"/>
                </a:solidFill>
                <a:latin typeface="Cambria" pitchFamily="34" charset="0"/>
                <a:ea typeface="Cambria" pitchFamily="34" charset="-122"/>
                <a:cs typeface="Cambria" pitchFamily="34" charset="-120"/>
              </a:rPr>
              <a:t>Parcours proposé pour vos cliniques</a:t>
            </a:r>
            <a:endParaRPr lang="en-US" sz="2800" dirty="0"/>
          </a:p>
        </p:txBody>
      </p:sp>
      <p:sp>
        <p:nvSpPr>
          <p:cNvPr id="5" name="Text 2"/>
          <p:cNvSpPr txBox="1"/>
          <p:nvPr/>
        </p:nvSpPr>
        <p:spPr>
          <a:xfrm>
            <a:off x="457200" y="1188720"/>
            <a:ext cx="11247120" cy="36576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Les durées sont indicatives et fixées avec vous lors de l’atelier de cadrage</a:t>
            </a:r>
            <a:endParaRPr lang="en-US" sz="1400" dirty="0"/>
          </a:p>
        </p:txBody>
      </p:sp>
      <p:sp>
        <p:nvSpPr>
          <p:cNvPr id="6" name="step 0"/>
          <p:cNvSpPr/>
          <p:nvPr/>
        </p:nvSpPr>
        <p:spPr>
          <a:xfrm>
            <a:off x="457200" y="1783080"/>
            <a:ext cx="3611880" cy="3291840"/>
          </a:xfrm>
          <a:prstGeom prst="roundRect">
            <a:avLst>
              <a:gd name="adj" fmla="val 2222"/>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7" name="Text 4"/>
          <p:cNvSpPr txBox="1"/>
          <p:nvPr/>
        </p:nvSpPr>
        <p:spPr>
          <a:xfrm>
            <a:off x="731520" y="1965960"/>
            <a:ext cx="914400" cy="731520"/>
          </a:xfrm>
          <a:prstGeom prst="rect">
            <a:avLst/>
          </a:prstGeom>
          <a:noFill/>
          <a:ln/>
        </p:spPr>
        <p:txBody>
          <a:bodyPr wrap="square" lIns="0" tIns="0" rIns="0" bIns="0" rtlCol="0" anchor="ctr"/>
          <a:lstStyle/>
          <a:p>
            <a:pPr indent="0" marL="0">
              <a:buNone/>
            </a:pPr>
            <a:r>
              <a:rPr lang="en-US" sz="4400" b="1" dirty="0">
                <a:solidFill>
                  <a:srgbClr val="E07B00"/>
                </a:solidFill>
                <a:latin typeface="Cambria" pitchFamily="34" charset="0"/>
                <a:ea typeface="Cambria" pitchFamily="34" charset="-122"/>
                <a:cs typeface="Cambria" pitchFamily="34" charset="-120"/>
              </a:rPr>
              <a:t>1</a:t>
            </a:r>
            <a:endParaRPr lang="en-US" sz="4400" dirty="0"/>
          </a:p>
        </p:txBody>
      </p:sp>
      <p:sp>
        <p:nvSpPr>
          <p:cNvPr id="8" name="badge calendar-check"/>
          <p:cNvSpPr/>
          <p:nvPr/>
        </p:nvSpPr>
        <p:spPr>
          <a:xfrm>
            <a:off x="3200400" y="2057400"/>
            <a:ext cx="566928" cy="566928"/>
          </a:xfrm>
          <a:prstGeom prst="ellipse">
            <a:avLst/>
          </a:prstGeom>
          <a:solidFill>
            <a:srgbClr val="58595B"/>
          </a:solidFill>
          <a:ln w="12700">
            <a:solidFill>
              <a:srgbClr val="58595B"/>
            </a:solidFill>
            <a:prstDash val="solid"/>
          </a:ln>
        </p:spPr>
      </p:sp>
      <p:pic>
        <p:nvPicPr>
          <p:cNvPr id="9" name="Image 0" descr="calendar-check">    </p:cNvPr>
          <p:cNvPicPr>
            <a:picLocks noChangeAspect="1"/>
          </p:cNvPicPr>
          <p:nvPr/>
        </p:nvPicPr>
        <p:blipFill>
          <a:blip r:embed="rId1"/>
          <a:stretch>
            <a:fillRect/>
          </a:stretch>
        </p:blipFill>
        <p:spPr>
          <a:xfrm>
            <a:off x="3330793" y="2187793"/>
            <a:ext cx="306141" cy="306141"/>
          </a:xfrm>
          <a:prstGeom prst="rect">
            <a:avLst/>
          </a:prstGeom>
        </p:spPr>
      </p:pic>
      <p:sp>
        <p:nvSpPr>
          <p:cNvPr id="10" name="Text 6"/>
          <p:cNvSpPr txBox="1"/>
          <p:nvPr/>
        </p:nvSpPr>
        <p:spPr>
          <a:xfrm>
            <a:off x="731520" y="2834640"/>
            <a:ext cx="3108960" cy="457200"/>
          </a:xfrm>
          <a:prstGeom prst="rect">
            <a:avLst/>
          </a:prstGeom>
          <a:noFill/>
          <a:ln/>
        </p:spPr>
        <p:txBody>
          <a:bodyPr wrap="square" lIns="0" tIns="0" rIns="0" bIns="0" rtlCol="0" anchor="ctr"/>
          <a:lstStyle/>
          <a:p>
            <a:pPr indent="0" marL="0">
              <a:buNone/>
            </a:pPr>
            <a:r>
              <a:rPr lang="en-US" sz="1800" b="1" dirty="0">
                <a:solidFill>
                  <a:srgbClr val="3A3A3C"/>
                </a:solidFill>
                <a:latin typeface="Cambria" pitchFamily="34" charset="0"/>
                <a:ea typeface="Cambria" pitchFamily="34" charset="-122"/>
                <a:cs typeface="Cambria" pitchFamily="34" charset="-120"/>
              </a:rPr>
              <a:t>Atelier de cadrage</a:t>
            </a:r>
            <a:endParaRPr lang="en-US" sz="1800" dirty="0"/>
          </a:p>
        </p:txBody>
      </p:sp>
      <p:sp>
        <p:nvSpPr>
          <p:cNvPr id="11" name="Text 7"/>
          <p:cNvSpPr txBox="1"/>
          <p:nvPr/>
        </p:nvSpPr>
        <p:spPr>
          <a:xfrm>
            <a:off x="731520" y="3337560"/>
            <a:ext cx="3108960" cy="155448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Une demi-journée : sites, fonctions, niveaux de décision, orientation et parties prenantes — phase 1 dans l’application.</a:t>
            </a:r>
            <a:endParaRPr lang="en-US" sz="1400" dirty="0"/>
          </a:p>
        </p:txBody>
      </p:sp>
      <p:sp>
        <p:nvSpPr>
          <p:cNvPr id="12" name="step 1"/>
          <p:cNvSpPr/>
          <p:nvPr/>
        </p:nvSpPr>
        <p:spPr>
          <a:xfrm>
            <a:off x="4251960" y="1783080"/>
            <a:ext cx="3611880" cy="3291840"/>
          </a:xfrm>
          <a:prstGeom prst="roundRect">
            <a:avLst>
              <a:gd name="adj" fmla="val 2222"/>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3" name="Text 9"/>
          <p:cNvSpPr txBox="1"/>
          <p:nvPr/>
        </p:nvSpPr>
        <p:spPr>
          <a:xfrm>
            <a:off x="4526280" y="1965960"/>
            <a:ext cx="914400" cy="731520"/>
          </a:xfrm>
          <a:prstGeom prst="rect">
            <a:avLst/>
          </a:prstGeom>
          <a:noFill/>
          <a:ln/>
        </p:spPr>
        <p:txBody>
          <a:bodyPr wrap="square" lIns="0" tIns="0" rIns="0" bIns="0" rtlCol="0" anchor="ctr"/>
          <a:lstStyle/>
          <a:p>
            <a:pPr indent="0" marL="0">
              <a:buNone/>
            </a:pPr>
            <a:r>
              <a:rPr lang="en-US" sz="4400" b="1" dirty="0">
                <a:solidFill>
                  <a:srgbClr val="E07B00"/>
                </a:solidFill>
                <a:latin typeface="Cambria" pitchFamily="34" charset="0"/>
                <a:ea typeface="Cambria" pitchFamily="34" charset="-122"/>
                <a:cs typeface="Cambria" pitchFamily="34" charset="-120"/>
              </a:rPr>
              <a:t>2</a:t>
            </a:r>
            <a:endParaRPr lang="en-US" sz="4400" dirty="0"/>
          </a:p>
        </p:txBody>
      </p:sp>
      <p:sp>
        <p:nvSpPr>
          <p:cNvPr id="14" name="badge hospital"/>
          <p:cNvSpPr/>
          <p:nvPr/>
        </p:nvSpPr>
        <p:spPr>
          <a:xfrm>
            <a:off x="6995160" y="2057400"/>
            <a:ext cx="566928" cy="566928"/>
          </a:xfrm>
          <a:prstGeom prst="ellipse">
            <a:avLst/>
          </a:prstGeom>
          <a:solidFill>
            <a:srgbClr val="F8931D"/>
          </a:solidFill>
          <a:ln w="12700">
            <a:solidFill>
              <a:srgbClr val="F8931D"/>
            </a:solidFill>
            <a:prstDash val="solid"/>
          </a:ln>
        </p:spPr>
      </p:sp>
      <p:pic>
        <p:nvPicPr>
          <p:cNvPr id="15" name="Image 1" descr="hospital">    </p:cNvPr>
          <p:cNvPicPr>
            <a:picLocks noChangeAspect="1"/>
          </p:cNvPicPr>
          <p:nvPr/>
        </p:nvPicPr>
        <p:blipFill>
          <a:blip r:embed="rId2"/>
          <a:stretch>
            <a:fillRect/>
          </a:stretch>
        </p:blipFill>
        <p:spPr>
          <a:xfrm>
            <a:off x="7125553" y="2187793"/>
            <a:ext cx="306141" cy="306141"/>
          </a:xfrm>
          <a:prstGeom prst="rect">
            <a:avLst/>
          </a:prstGeom>
        </p:spPr>
      </p:pic>
      <p:sp>
        <p:nvSpPr>
          <p:cNvPr id="16" name="Text 11"/>
          <p:cNvSpPr txBox="1"/>
          <p:nvPr/>
        </p:nvSpPr>
        <p:spPr>
          <a:xfrm>
            <a:off x="4526280" y="2834640"/>
            <a:ext cx="3108960" cy="457200"/>
          </a:xfrm>
          <a:prstGeom prst="rect">
            <a:avLst/>
          </a:prstGeom>
          <a:noFill/>
          <a:ln/>
        </p:spPr>
        <p:txBody>
          <a:bodyPr wrap="square" lIns="0" tIns="0" rIns="0" bIns="0" rtlCol="0" anchor="ctr"/>
          <a:lstStyle/>
          <a:p>
            <a:pPr indent="0" marL="0">
              <a:buNone/>
            </a:pPr>
            <a:r>
              <a:rPr lang="en-US" sz="1800" b="1" dirty="0">
                <a:solidFill>
                  <a:srgbClr val="3A3A3C"/>
                </a:solidFill>
                <a:latin typeface="Cambria" pitchFamily="34" charset="0"/>
                <a:ea typeface="Cambria" pitchFamily="34" charset="-122"/>
                <a:cs typeface="Cambria" pitchFamily="34" charset="-120"/>
              </a:rPr>
              <a:t>Pilote sur une clinique</a:t>
            </a:r>
            <a:endParaRPr lang="en-US" sz="1800" dirty="0"/>
          </a:p>
        </p:txBody>
      </p:sp>
      <p:sp>
        <p:nvSpPr>
          <p:cNvPr id="17" name="Text 12"/>
          <p:cNvSpPr txBox="1"/>
          <p:nvPr/>
        </p:nvSpPr>
        <p:spPr>
          <a:xfrm>
            <a:off x="4526280" y="3337560"/>
            <a:ext cx="3108960" cy="155448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Questionnaires, diagnostic et rapport d’ingénierie de formation sur vos données — phases 1 à 3.</a:t>
            </a:r>
            <a:endParaRPr lang="en-US" sz="1400" dirty="0"/>
          </a:p>
        </p:txBody>
      </p:sp>
      <p:sp>
        <p:nvSpPr>
          <p:cNvPr id="18" name="step 2"/>
          <p:cNvSpPr/>
          <p:nvPr/>
        </p:nvSpPr>
        <p:spPr>
          <a:xfrm>
            <a:off x="8046720" y="1783080"/>
            <a:ext cx="3611880" cy="3291840"/>
          </a:xfrm>
          <a:prstGeom prst="roundRect">
            <a:avLst>
              <a:gd name="adj" fmla="val 2222"/>
            </a:avLst>
          </a:prstGeom>
          <a:solidFill>
            <a:srgbClr val="FFFFFF"/>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19" name="Text 14"/>
          <p:cNvSpPr txBox="1"/>
          <p:nvPr/>
        </p:nvSpPr>
        <p:spPr>
          <a:xfrm>
            <a:off x="8321040" y="1965960"/>
            <a:ext cx="914400" cy="731520"/>
          </a:xfrm>
          <a:prstGeom prst="rect">
            <a:avLst/>
          </a:prstGeom>
          <a:noFill/>
          <a:ln/>
        </p:spPr>
        <p:txBody>
          <a:bodyPr wrap="square" lIns="0" tIns="0" rIns="0" bIns="0" rtlCol="0" anchor="ctr"/>
          <a:lstStyle/>
          <a:p>
            <a:pPr indent="0" marL="0">
              <a:buNone/>
            </a:pPr>
            <a:r>
              <a:rPr lang="en-US" sz="4400" b="1" dirty="0">
                <a:solidFill>
                  <a:srgbClr val="E07B00"/>
                </a:solidFill>
                <a:latin typeface="Cambria" pitchFamily="34" charset="0"/>
                <a:ea typeface="Cambria" pitchFamily="34" charset="-122"/>
                <a:cs typeface="Cambria" pitchFamily="34" charset="-120"/>
              </a:rPr>
              <a:t>3</a:t>
            </a:r>
            <a:endParaRPr lang="en-US" sz="4400" dirty="0"/>
          </a:p>
        </p:txBody>
      </p:sp>
      <p:sp>
        <p:nvSpPr>
          <p:cNvPr id="20" name="badge network"/>
          <p:cNvSpPr/>
          <p:nvPr/>
        </p:nvSpPr>
        <p:spPr>
          <a:xfrm>
            <a:off x="10789920" y="2057400"/>
            <a:ext cx="566928" cy="566928"/>
          </a:xfrm>
          <a:prstGeom prst="ellipse">
            <a:avLst/>
          </a:prstGeom>
          <a:solidFill>
            <a:srgbClr val="58595B"/>
          </a:solidFill>
          <a:ln w="12700">
            <a:solidFill>
              <a:srgbClr val="58595B"/>
            </a:solidFill>
            <a:prstDash val="solid"/>
          </a:ln>
        </p:spPr>
      </p:sp>
      <p:pic>
        <p:nvPicPr>
          <p:cNvPr id="21" name="Image 2" descr="network">    </p:cNvPr>
          <p:cNvPicPr>
            <a:picLocks noChangeAspect="1"/>
          </p:cNvPicPr>
          <p:nvPr/>
        </p:nvPicPr>
        <p:blipFill>
          <a:blip r:embed="rId3"/>
          <a:stretch>
            <a:fillRect/>
          </a:stretch>
        </p:blipFill>
        <p:spPr>
          <a:xfrm>
            <a:off x="10920313" y="2187793"/>
            <a:ext cx="306141" cy="306141"/>
          </a:xfrm>
          <a:prstGeom prst="rect">
            <a:avLst/>
          </a:prstGeom>
        </p:spPr>
      </p:pic>
      <p:sp>
        <p:nvSpPr>
          <p:cNvPr id="22" name="Text 16"/>
          <p:cNvSpPr txBox="1"/>
          <p:nvPr/>
        </p:nvSpPr>
        <p:spPr>
          <a:xfrm>
            <a:off x="8321040" y="2834640"/>
            <a:ext cx="3108960" cy="457200"/>
          </a:xfrm>
          <a:prstGeom prst="rect">
            <a:avLst/>
          </a:prstGeom>
          <a:noFill/>
          <a:ln/>
        </p:spPr>
        <p:txBody>
          <a:bodyPr wrap="square" lIns="0" tIns="0" rIns="0" bIns="0" rtlCol="0" anchor="ctr"/>
          <a:lstStyle/>
          <a:p>
            <a:pPr indent="0" marL="0">
              <a:buNone/>
            </a:pPr>
            <a:r>
              <a:rPr lang="en-US" sz="1800" b="1" dirty="0">
                <a:solidFill>
                  <a:srgbClr val="3A3A3C"/>
                </a:solidFill>
                <a:latin typeface="Cambria" pitchFamily="34" charset="0"/>
                <a:ea typeface="Cambria" pitchFamily="34" charset="-122"/>
                <a:cs typeface="Cambria" pitchFamily="34" charset="-120"/>
              </a:rPr>
              <a:t>Déploiement sur toutes les cliniques</a:t>
            </a:r>
            <a:endParaRPr lang="en-US" sz="1800" dirty="0"/>
          </a:p>
        </p:txBody>
      </p:sp>
      <p:sp>
        <p:nvSpPr>
          <p:cNvPr id="23" name="Text 17"/>
          <p:cNvSpPr txBox="1"/>
          <p:nvPr/>
        </p:nvSpPr>
        <p:spPr>
          <a:xfrm>
            <a:off x="8321040" y="3337560"/>
            <a:ext cx="3108960" cy="1554480"/>
          </a:xfrm>
          <a:prstGeom prst="rect">
            <a:avLst/>
          </a:prstGeom>
          <a:noFill/>
          <a:ln/>
        </p:spPr>
        <p:txBody>
          <a:bodyPr wrap="square" lIns="0" tIns="0" rIns="0" bIns="0" rtlCol="0" anchor="t"/>
          <a:lstStyle/>
          <a:p>
            <a:pPr indent="0" marL="0">
              <a:buNone/>
            </a:pPr>
            <a:r>
              <a:rPr lang="en-US" sz="1400" dirty="0">
                <a:solidFill>
                  <a:srgbClr val="58595B"/>
                </a:solidFill>
                <a:latin typeface="Calibri" pitchFamily="34" charset="0"/>
                <a:ea typeface="Calibri" pitchFamily="34" charset="-122"/>
                <a:cs typeface="Calibri" pitchFamily="34" charset="-120"/>
              </a:rPr>
              <a:t>Déploiement, évaluation jusqu’au ROI et amélioration continue — phases 4 à 6.</a:t>
            </a:r>
            <a:endParaRPr lang="en-US" sz="1400" dirty="0"/>
          </a:p>
        </p:txBody>
      </p:sp>
      <p:sp>
        <p:nvSpPr>
          <p:cNvPr id="24" name="deployment"/>
          <p:cNvSpPr/>
          <p:nvPr/>
        </p:nvSpPr>
        <p:spPr>
          <a:xfrm>
            <a:off x="457200" y="5303520"/>
            <a:ext cx="11274552" cy="777240"/>
          </a:xfrm>
          <a:prstGeom prst="roundRect">
            <a:avLst>
              <a:gd name="adj" fmla="val 9412"/>
            </a:avLst>
          </a:prstGeom>
          <a:solidFill>
            <a:srgbClr val="FDEEDA"/>
          </a:solidFill>
          <a:ln w="6350">
            <a:solidFill>
              <a:srgbClr val="E3E3E4"/>
            </a:solidFill>
            <a:prstDash val="solid"/>
          </a:ln>
          <a:effectLst>
            <a:outerShdw sx="100000" sy="100000" kx="0" ky="0" algn="bl" rotWithShape="0" blurRad="63500" dist="19050" dir="5400000">
              <a:srgbClr val="000000">
                <a:alpha val="10000"/>
              </a:srgbClr>
            </a:outerShdw>
          </a:effectLst>
        </p:spPr>
      </p:sp>
      <p:sp>
        <p:nvSpPr>
          <p:cNvPr id="25" name="Text 19"/>
          <p:cNvSpPr txBox="1"/>
          <p:nvPr/>
        </p:nvSpPr>
        <p:spPr>
          <a:xfrm>
            <a:off x="731520" y="5349240"/>
            <a:ext cx="10789920" cy="685800"/>
          </a:xfrm>
          <a:prstGeom prst="rect">
            <a:avLst/>
          </a:prstGeom>
          <a:noFill/>
          <a:ln/>
        </p:spPr>
        <p:txBody>
          <a:bodyPr wrap="square" lIns="0" tIns="0" rIns="0" bIns="0" rtlCol="0" anchor="ctr"/>
          <a:lstStyle/>
          <a:p>
            <a:pPr indent="0" marL="0">
              <a:buNone/>
            </a:pPr>
            <a:r>
              <a:rPr lang="en-US" sz="1400" dirty="0">
                <a:solidFill>
                  <a:srgbClr val="3A3A3C"/>
                </a:solidFill>
                <a:latin typeface="Calibri" pitchFamily="34" charset="0"/>
                <a:ea typeface="Calibri" pitchFamily="34" charset="-122"/>
                <a:cs typeface="Calibri" pitchFamily="34" charset="-120"/>
              </a:rPr>
              <a:t>Installation sur votre cloud privé ou sur site, sous licence ; interface et documents en français, anglais et arabe.</a:t>
            </a:r>
            <a:endParaRPr lang="en-US" sz="1400" dirty="0"/>
          </a:p>
        </p:txBody>
      </p:sp>
      <p:sp>
        <p:nvSpPr>
          <p:cNvPr id="2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08184"/>
                </a:solidFill>
                <a:latin typeface="Calibri"/>
                <a:ea typeface="Calibri"/>
                <a:cs typeface="Calibr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2" name=""/>
        <p:cNvGrpSpPr/>
        <p:nvPr/>
      </p:nvGrpSpPr>
      <p:grpSpPr>
        <a:xfrm>
          <a:off x="0" y="0"/>
          <a:ext cx="0" cy="0"/>
          <a:chOff x="0" y="0"/>
          <a:chExt cx="0" cy="0"/>
        </a:xfrm>
      </p:grpSpPr>
      <p:sp>
        <p:nvSpPr>
          <p:cNvPr id="3" name="Text 0"/>
          <p:cNvSpPr txBox="1"/>
          <p:nvPr/>
        </p:nvSpPr>
        <p:spPr>
          <a:xfrm>
            <a:off x="457200" y="2103120"/>
            <a:ext cx="73152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Merci</a:t>
            </a:r>
            <a:endParaRPr lang="en-US" sz="4800" dirty="0"/>
          </a:p>
        </p:txBody>
      </p:sp>
      <p:sp>
        <p:nvSpPr>
          <p:cNvPr id="4" name="Text 1"/>
          <p:cNvSpPr txBox="1"/>
          <p:nvPr/>
        </p:nvSpPr>
        <p:spPr>
          <a:xfrm>
            <a:off x="457200" y="3291840"/>
            <a:ext cx="9144000" cy="457200"/>
          </a:xfrm>
          <a:prstGeom prst="rect">
            <a:avLst/>
          </a:prstGeom>
          <a:noFill/>
          <a:ln/>
        </p:spPr>
        <p:txBody>
          <a:bodyPr wrap="square" lIns="0" tIns="0" rIns="0" bIns="0" rtlCol="0" anchor="ctr"/>
          <a:lstStyle/>
          <a:p>
            <a:pPr indent="0" marL="0">
              <a:buNone/>
            </a:pPr>
            <a:r>
              <a:rPr lang="en-US" sz="1800" dirty="0">
                <a:solidFill>
                  <a:srgbClr val="F8931D"/>
                </a:solidFill>
                <a:latin typeface="Calibri" pitchFamily="34" charset="0"/>
                <a:ea typeface="Calibri" pitchFamily="34" charset="-122"/>
                <a:cs typeface="Calibri" pitchFamily="34" charset="-120"/>
              </a:rPr>
              <a:t>POWERACT Consulting · CortexSkills, l’ingénierie de formation pour la santé</a:t>
            </a:r>
            <a:endParaRPr lang="en-US" sz="1800" dirty="0"/>
          </a:p>
        </p:txBody>
      </p:sp>
      <p:sp>
        <p:nvSpPr>
          <p:cNvPr id="5" name="Text 2"/>
          <p:cNvSpPr txBox="1"/>
          <p:nvPr/>
        </p:nvSpPr>
        <p:spPr>
          <a:xfrm>
            <a:off x="457200" y="3931920"/>
            <a:ext cx="9144000" cy="457200"/>
          </a:xfrm>
          <a:prstGeom prst="rect">
            <a:avLst/>
          </a:prstGeom>
          <a:noFill/>
          <a:ln/>
        </p:spPr>
        <p:txBody>
          <a:bodyPr wrap="square" lIns="0" tIns="0" rIns="0" bIns="0" rtlCol="0" anchor="ctr"/>
          <a:lstStyle/>
          <a:p>
            <a:pPr indent="0" marL="0">
              <a:buNone/>
            </a:pPr>
            <a:r>
              <a:rPr lang="en-US" sz="1600" dirty="0">
                <a:solidFill>
                  <a:srgbClr val="D6D6D8"/>
                </a:solidFill>
                <a:latin typeface="Calibri" pitchFamily="34" charset="0"/>
                <a:ea typeface="Calibri" pitchFamily="34" charset="-122"/>
                <a:cs typeface="Calibri" pitchFamily="34" charset="-120"/>
              </a:rPr>
              <a:t>Questions et échanges</a:t>
            </a:r>
            <a:endParaRPr lang="en-US" sz="1600" dirty="0"/>
          </a:p>
        </p:txBody>
      </p:sp>
      <p:sp>
        <p:nvSpPr>
          <p:cNvPr id="6" name="Slide Number Placeholder 0"/>
          <p:cNvSpPr>
            <a:spLocks noGrp="1"/>
          </p:cNvSpPr>
          <p:nvPr>
            <p:ph type="sldNum" sz="quarter" idx="4294967295"/>
          </p:nvPr>
        </p:nvSpPr>
        <p:spPr>
          <a:xfrm>
            <a:off x="1124712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DBDBF"/>
                </a:solidFill>
                <a:latin typeface="Calibri"/>
                <a:ea typeface="Calibri"/>
                <a:cs typeface="Calibri"/>
              </a:defRPr>
            </a:lvl1pPr>
          </a:lstStyle>
          <a:p>
            <a:pPr algn="r"/>
            <a:fld id="{F7021451-1387-4CA6-816F-3879F97B5CBC}" type="slidenum">
              <a:rPr b="0" lang="en-US"/>
              <a:t>93</a:t>
            </a:fld>
            <a:endParaRPr lang="en-US"/>
          </a:p>
        </p:txBody>
      </p:sp>
    </p:spTree>
  </p:cSld>
  <p:clrMapOvr>
    <a:masterClrMapping/>
  </p:clrMapOvr>
</p:sld>
</file>

<file path=ppt/theme/theme1.xml><?xml version="1.0" encoding="utf-8"?>
<a:theme xmlns:a="http://schemas.openxmlformats.org/drawingml/2006/main" name="POWERACT">
  <a:themeElements>
    <a:clrScheme name="POWERACT">
      <a:dk1>
        <a:srgbClr val="3A3A3C"/>
      </a:dk1>
      <a:lt1>
        <a:srgbClr val="FFFFFF"/>
      </a:lt1>
      <a:dk2>
        <a:srgbClr val="58595B"/>
      </a:dk2>
      <a:lt2>
        <a:srgbClr val="F2F2F3"/>
      </a:lt2>
      <a:accent1>
        <a:srgbClr val="F8931D"/>
      </a:accent1>
      <a:accent2>
        <a:srgbClr val="E07B00"/>
      </a:accent2>
      <a:accent3>
        <a:srgbClr val="808184"/>
      </a:accent3>
      <a:accent4>
        <a:srgbClr val="3A6EA5"/>
      </a:accent4>
      <a:accent5>
        <a:srgbClr val="5AA469"/>
      </a:accent5>
      <a:accent6>
        <a:srgbClr val="FDEEDA"/>
      </a:accent6>
      <a:hlink>
        <a:srgbClr val="E07B00"/>
      </a:hlink>
      <a:folHlink>
        <a:srgbClr val="58595B"/>
      </a:folHlink>
    </a:clrScheme>
    <a:fontScheme name="POWERA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POWERACT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cas groupe de cliniques privées — CortexSkills</dc:title>
  <dc:subject>PptxGenJS Presentation</dc:subject>
  <dc:creator>POWERACT Consulting</dc:creator>
  <cp:lastModifiedBy>POWERACT Consulting</cp:lastModifiedBy>
  <cp:revision>1</cp:revision>
  <dcterms:created xsi:type="dcterms:W3CDTF">2026-10-16T10:54:26Z</dcterms:created>
  <dcterms:modified xsi:type="dcterms:W3CDTF">2026-10-16T10:54:26Z</dcterms:modified>
</cp:coreProperties>
</file>
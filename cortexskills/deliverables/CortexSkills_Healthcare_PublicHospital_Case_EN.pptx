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8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9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0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11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12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charts/chart13.xml" ContentType="application/vnd.openxmlformats-officedocument.drawingml.chart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General Manager</c:v>
                </c:pt>
              </c:strCache>
            </c:strRef>
          </c:tx>
          <c:spPr>
            <a:solidFill>
              <a:srgbClr val="12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Finance</c:v>
                  </c:pt>
                  <c:pt idx="3">
                    <c:v>Human Resources</c:v>
                  </c:pt>
                  <c:pt idx="4">
                    <c:v>Sales &amp; Marketing</c:v>
                  </c:pt>
                  <c:pt idx="5">
                    <c:v>Information Systems</c:v>
                  </c:pt>
                  <c:pt idx="6">
                    <c:v>Clinical Care &amp; Nursing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Management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Finance</c:v>
                  </c:pt>
                  <c:pt idx="3">
                    <c:v>Human Resources</c:v>
                  </c:pt>
                  <c:pt idx="4">
                    <c:v>Sales &amp; Marketing</c:v>
                  </c:pt>
                  <c:pt idx="5">
                    <c:v>Information Systems</c:v>
                  </c:pt>
                  <c:pt idx="6">
                    <c:v>Clinical Care &amp; Nursing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member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Finance</c:v>
                  </c:pt>
                  <c:pt idx="3">
                    <c:v>Human Resources</c:v>
                  </c:pt>
                  <c:pt idx="4">
                    <c:v>Sales &amp; Marketing</c:v>
                  </c:pt>
                  <c:pt idx="5">
                    <c:v>Information Systems</c:v>
                  </c:pt>
                  <c:pt idx="6">
                    <c:v>Clinical Care &amp; Nursing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rate (%)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Operations</c:v>
                  </c:pt>
                  <c:pt idx="1">
                    <c:v>Quality &amp; HSE</c:v>
                  </c:pt>
                  <c:pt idx="2">
                    <c:v>Human Resources</c:v>
                  </c:pt>
                  <c:pt idx="3">
                    <c:v>Sales &amp; Marketing</c:v>
                  </c:pt>
                  <c:pt idx="4">
                    <c:v>Information Systems</c:v>
                  </c:pt>
                  <c:pt idx="5">
                    <c:v>Clinical Care &amp; Nursing</c:v>
                  </c:pt>
                  <c:pt idx="6">
                    <c:v>Finance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83</c:v>
                </c:pt>
                <c:pt idx="2">
                  <c:v>83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83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(out of 5)</c:v>
                </c:pt>
              </c:strCache>
            </c:strRef>
          </c:tx>
          <c:spPr>
            <a:solidFill>
              <a:srgbClr val="1876C6"/>
            </a:solidFill>
            <a:ln w="25400" cap="flat">
              <a:solidFill>
                <a:srgbClr val="1876C6"/>
              </a:solidFill>
              <a:prstDash val="solid,dash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876C6"/>
              </a:solidFill>
              <a:ln w="9525" cap="flat">
                <a:solidFill>
                  <a:srgbClr val="1876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Strategy</c:v>
                  </c:pt>
                  <c:pt idx="1">
                    <c:v>Organization</c:v>
                  </c:pt>
                  <c:pt idx="2">
                    <c:v>Processes</c:v>
                  </c:pt>
                  <c:pt idx="3">
                    <c:v>People and skills</c:v>
                  </c:pt>
                  <c:pt idx="4">
                    <c:v>Information systems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2.8</c:v>
                </c:pt>
                <c:pt idx="2">
                  <c:v>2.6</c:v>
                </c:pt>
                <c:pt idx="3">
                  <c:v>3.1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5A6B7B"/>
            </a:solidFill>
            <a:ln w="25400" cap="flat">
              <a:solidFill>
                <a:srgbClr val="5A6B7B"/>
              </a:solidFill>
              <a:prstDash val="solid,dash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5A6B7B"/>
              </a:solidFill>
              <a:ln w="9525" cap="flat">
                <a:solidFill>
                  <a:srgbClr val="5A6B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Strategy</c:v>
                  </c:pt>
                  <c:pt idx="1">
                    <c:v>Organization</c:v>
                  </c:pt>
                  <c:pt idx="2">
                    <c:v>Processes</c:v>
                  </c:pt>
                  <c:pt idx="3">
                    <c:v>People and skills</c:v>
                  </c:pt>
                  <c:pt idx="4">
                    <c:v>Information systems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12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Finance</c:v>
                  </c:pt>
                  <c:pt idx="1">
                    <c:v>Clinical Care &amp; Nursing</c:v>
                  </c:pt>
                  <c:pt idx="2">
                    <c:v>Human Resources</c:v>
                  </c:pt>
                  <c:pt idx="3">
                    <c:v>Sales &amp; Marketing</c:v>
                  </c:pt>
                  <c:pt idx="4">
                    <c:v>Operations</c:v>
                  </c:pt>
                  <c:pt idx="5">
                    <c:v>Information Systems</c:v>
                  </c:pt>
                  <c:pt idx="6">
                    <c:v>Quality &amp; HSE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62</c:v>
                </c:pt>
                <c:pt idx="1">
                  <c:v>59</c:v>
                </c:pt>
                <c:pt idx="2">
                  <c:v>73</c:v>
                </c:pt>
                <c:pt idx="3">
                  <c:v>92</c:v>
                </c:pt>
                <c:pt idx="4">
                  <c:v>75</c:v>
                </c:pt>
                <c:pt idx="5">
                  <c:v>65</c:v>
                </c:pt>
                <c:pt idx="6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Finance</c:v>
                  </c:pt>
                  <c:pt idx="1">
                    <c:v>Clinical Care &amp; Nursing</c:v>
                  </c:pt>
                  <c:pt idx="2">
                    <c:v>Human Resources</c:v>
                  </c:pt>
                  <c:pt idx="3">
                    <c:v>Sales &amp; Marketing</c:v>
                  </c:pt>
                  <c:pt idx="4">
                    <c:v>Operations</c:v>
                  </c:pt>
                  <c:pt idx="5">
                    <c:v>Information Systems</c:v>
                  </c:pt>
                  <c:pt idx="6">
                    <c:v>Quality &amp; HSE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</c:v>
                </c:pt>
                <c:pt idx="1">
                  <c:v>56</c:v>
                </c:pt>
                <c:pt idx="2">
                  <c:v>70</c:v>
                </c:pt>
                <c:pt idx="3">
                  <c:v>62</c:v>
                </c:pt>
                <c:pt idx="4">
                  <c:v>76</c:v>
                </c:pt>
                <c:pt idx="5">
                  <c:v>55</c:v>
                </c:pt>
                <c:pt idx="6">
                  <c:v>56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Finance</c:v>
                  </c:pt>
                  <c:pt idx="1">
                    <c:v>Clinical Care &amp; Nursing</c:v>
                  </c:pt>
                  <c:pt idx="2">
                    <c:v>Human Resources</c:v>
                  </c:pt>
                  <c:pt idx="3">
                    <c:v>Sales &amp; Marketing</c:v>
                  </c:pt>
                  <c:pt idx="4">
                    <c:v>Operations</c:v>
                  </c:pt>
                  <c:pt idx="5">
                    <c:v>Information Systems</c:v>
                  </c:pt>
                  <c:pt idx="6">
                    <c:v>Quality &amp; HSE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89</c:v>
                </c:pt>
                <c:pt idx="1">
                  <c:v>64</c:v>
                </c:pt>
                <c:pt idx="2">
                  <c:v>75</c:v>
                </c:pt>
                <c:pt idx="3">
                  <c:v>52</c:v>
                </c:pt>
                <c:pt idx="4">
                  <c:v>68</c:v>
                </c:pt>
                <c:pt idx="5">
                  <c:v>84</c:v>
                </c:pt>
                <c:pt idx="6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AI bed and staff capacity planning</c:v>
                  </c:pt>
                  <c:pt idx="1">
                    <c:v>AI medical imaging assistance</c:v>
                  </c:pt>
                  <c:pt idx="2">
                    <c:v>Communication with the team</c:v>
                  </c:pt>
                  <c:pt idx="3">
                    <c:v>Problem solving</c:v>
                  </c:pt>
                  <c:pt idx="4">
                    <c:v>AI triage and clinical decision support</c:v>
                  </c:pt>
                  <c:pt idx="5">
                    <c:v>Time management and priorities</c:v>
                  </c:pt>
                  <c:pt idx="6">
                    <c:v>ISO 7101 requirements</c:v>
                  </c:pt>
                  <c:pt idx="7">
                    <c:v>Dashboards</c:v>
                  </c:pt>
                  <c:pt idx="8">
                    <c:v>data quality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108</c:v>
                </c:pt>
                <c:pt idx="1">
                  <c:v>103</c:v>
                </c:pt>
                <c:pt idx="2">
                  <c:v>101</c:v>
                </c:pt>
                <c:pt idx="3">
                  <c:v>101</c:v>
                </c:pt>
                <c:pt idx="4">
                  <c:v>82</c:v>
                </c:pt>
                <c:pt idx="5">
                  <c:v>65</c:v>
                </c:pt>
                <c:pt idx="6">
                  <c:v>64</c:v>
                </c:pt>
                <c:pt idx="7">
                  <c:v>64</c:v>
                </c:pt>
                <c:pt idx="8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respondents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Personal productivity</c:v>
                  </c:pt>
                  <c:pt idx="1">
                    <c:v>Personal leadership</c:v>
                  </c:pt>
                  <c:pt idx="2">
                    <c:v>Leadership applied to teams</c:v>
                  </c:pt>
                  <c:pt idx="3">
                    <c:v>Leadership of a sub-function of t…</c:v>
                  </c:pt>
                  <c:pt idx="4">
                    <c:v>Leadership of a function or of th…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27.6</c:v>
                </c:pt>
                <c:pt idx="1">
                  <c:v>18.5</c:v>
                </c:pt>
                <c:pt idx="2">
                  <c:v>12.1</c:v>
                </c:pt>
                <c:pt idx="3">
                  <c:v>7.9</c:v>
                </c:pt>
                <c:pt idx="4">
                  <c:v>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Self-assessed</c:v>
                </c:pt>
              </c:strCache>
            </c:strRef>
          </c:tx>
          <c:spPr>
            <a:solidFill>
              <a:srgbClr val="5A6B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Validated by the manager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2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medical imaging assistance</c:v>
                  </c:pt>
                  <c:pt idx="1">
                    <c:v>AI triage and clinical decision s…</c:v>
                  </c:pt>
                  <c:pt idx="2">
                    <c:v>AI bed and staff capacity planning</c:v>
                  </c:pt>
                  <c:pt idx="3">
                    <c:v>AI literacy for all staff</c:v>
                  </c:pt>
                  <c:pt idx="4">
                    <c:v>Responsible AI and data protection</c:v>
                  </c:pt>
                  <c:pt idx="5">
                    <c:v>Prompting and generative AI at wo…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medical imaging assistance</c:v>
                  </c:pt>
                  <c:pt idx="1">
                    <c:v>AI triage and clinical decision s…</c:v>
                  </c:pt>
                  <c:pt idx="2">
                    <c:v>AI bed and staff capacity planning</c:v>
                  </c:pt>
                  <c:pt idx="3">
                    <c:v>AI literacy for all staff</c:v>
                  </c:pt>
                  <c:pt idx="4">
                    <c:v>Responsible AI and data protection</c:v>
                  </c:pt>
                  <c:pt idx="5">
                    <c:v>Prompting and generative AI at wo…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medical imaging assistance</c:v>
                  </c:pt>
                  <c:pt idx="1">
                    <c:v>AI triage and clinical decision s…</c:v>
                  </c:pt>
                  <c:pt idx="2">
                    <c:v>AI bed and staff capacity planning</c:v>
                  </c:pt>
                  <c:pt idx="3">
                    <c:v>AI literacy for all staff</c:v>
                  </c:pt>
                  <c:pt idx="4">
                    <c:v>Responsible AI and data protection</c:v>
                  </c:pt>
                  <c:pt idx="5">
                    <c:v>Prompting and generative AI at wo…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0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Implemented (%)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#1 AI triage and clinical decision s…</c:v>
                  </c:pt>
                  <c:pt idx="1">
                    <c:v>#2 AI medical imaging assistance</c:v>
                  </c:pt>
                  <c:pt idx="2">
                    <c:v>#3 AI bed and staff capacity planning</c:v>
                  </c:pt>
                  <c:pt idx="3">
                    <c:v>#4 AI literacy for all staff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deci…</c:v>
                  </c:pt>
                  <c:pt idx="1">
                    <c:v>AI medical imaging assistan…</c:v>
                  </c:pt>
                  <c:pt idx="2">
                    <c:v>AI bed and staff capacity p…</c:v>
                  </c:pt>
                  <c:pt idx="3">
                    <c:v>AI literacy for all staff</c:v>
                  </c:pt>
                  <c:pt idx="4">
                    <c:v>Prompting and generative AI…</c:v>
                  </c:pt>
                  <c:pt idx="5">
                    <c:v>Responsible AI and data pro…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Allocated</c:v>
                </c:pt>
              </c:strCache>
            </c:strRef>
          </c:tx>
          <c:spPr>
            <a:solidFill>
              <a:srgbClr val="5A6B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de…</c:v>
                  </c:pt>
                  <c:pt idx="1">
                    <c:v>AI medical imaging assist…</c:v>
                  </c:pt>
                  <c:pt idx="2">
                    <c:v>AI bed and staff capacity…</c:v>
                  </c:pt>
                  <c:pt idx="3">
                    <c:v>AI literacy for all staff</c:v>
                  </c:pt>
                  <c:pt idx="4">
                    <c:v>Prompting and generative …</c:v>
                  </c:pt>
                  <c:pt idx="5">
                    <c:v>Responsible AI and data p…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360000</c:v>
                </c:pt>
                <c:pt idx="1">
                  <c:v>300000</c:v>
                </c:pt>
                <c:pt idx="2">
                  <c:v>240000</c:v>
                </c:pt>
                <c:pt idx="3">
                  <c:v>180000</c:v>
                </c:pt>
                <c:pt idx="4">
                  <c:v>120000</c:v>
                </c:pt>
                <c:pt idx="5">
                  <c:v>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triage and clinical de…</c:v>
                  </c:pt>
                  <c:pt idx="1">
                    <c:v>AI medical imaging assist…</c:v>
                  </c:pt>
                  <c:pt idx="2">
                    <c:v>AI bed and staff capacity…</c:v>
                  </c:pt>
                  <c:pt idx="3">
                    <c:v>AI literacy for all staff</c:v>
                  </c:pt>
                  <c:pt idx="4">
                    <c:v>Prompting and generative …</c:v>
                  </c:pt>
                  <c:pt idx="5">
                    <c:v>Responsible AI and data p…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347127</c:v>
                </c:pt>
                <c:pt idx="1">
                  <c:v>266091</c:v>
                </c:pt>
                <c:pt idx="2">
                  <c:v>243800</c:v>
                </c:pt>
                <c:pt idx="3">
                  <c:v>156192</c:v>
                </c:pt>
                <c:pt idx="4">
                  <c:v>118913</c:v>
                </c:pt>
                <c:pt idx="5">
                  <c:v>60539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 (%)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Level 1</c:v>
                  </c:pt>
                  <c:pt idx="1">
                    <c:v>Level 2</c:v>
                  </c:pt>
                  <c:pt idx="2">
                    <c:v>Level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</c:v>
                </c:pt>
                <c:pt idx="1">
                  <c:v>93</c:v>
                </c:pt>
                <c:pt idx="2">
                  <c:v>84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Findings</c:v>
                </c:pt>
              </c:strCache>
            </c:strRef>
          </c:tx>
          <c:spPr>
            <a:solidFill>
              <a:srgbClr val="1876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2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Major nonconformity</c:v>
                  </c:pt>
                  <c:pt idx="1">
                    <c:v>Minor nonconformity</c:v>
                  </c:pt>
                  <c:pt idx="2">
                    <c:v>Observation</c:v>
                  </c:pt>
                  <c:pt idx="3">
                    <c:v>Opportunity for improvement</c:v>
                  </c:pt>
                  <c:pt idx="4">
                    <c:v>Strength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2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1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b"/>
        <c:majorGridlines>
          <c:spPr>
            <a:ln w="9525" cap="flat">
              <a:solidFill>
                <a:srgbClr val="E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B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26-1.png"/><Relationship Id="rId3" Type="http://schemas.openxmlformats.org/officeDocument/2006/relationships/image" Target="../media/image-26-2.png"/><Relationship Id="rId4" Type="http://schemas.openxmlformats.org/officeDocument/2006/relationships/image" Target="../media/image-2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image" Target="../media/image-63-6.png"/><Relationship Id="rId7" Type="http://schemas.openxmlformats.org/officeDocument/2006/relationships/image" Target="../media/image-6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image" Target="../media/image-6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138160" y="-2011680"/>
            <a:ext cx="6858000" cy="6858000"/>
          </a:xfrm>
          <a:prstGeom prst="ellipse">
            <a:avLst/>
          </a:prstGeom>
          <a:solidFill>
            <a:srgbClr val="1876C6">
              <a:alpha val="18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pic>
        <p:nvPicPr>
          <p:cNvPr id="4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743200" cy="50673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CASE · HEALTHCARE · 2026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2402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skills training engineering at a public hospital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069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Hospital Centre: the project, the Training Engineering Report, the Training Plan and every document produced with CortexSkills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080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537960" y="169164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CortexSkil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case is presented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Agenda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Hospi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225673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2004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hospital and the project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Context, charter, scope, method, schedule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29768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0" y="210312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Stethosc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225673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Diagnosis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Questionnaires, maturity, gaps, needs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046720" y="18288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3" name="Image 3" descr="FileTex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59" y="225673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06984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83210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Engineering Report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8321040" y="32186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Structure, findings, roadmap, risks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9" name="Image 4" descr="GraduationC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4405579"/>
            <a:ext cx="332842" cy="33284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200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3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Plan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2296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Programs, agendas, design, budget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429768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57200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5" name="Image 5" descr="ChartColum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619" y="4405579"/>
            <a:ext cx="332842" cy="33284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494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Delivery, evaluation and audit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457200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Sessions, Kirkpatrick, ROI, audit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8046720" y="3977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41" name="Image 6" descr="FileSta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4659" y="4405579"/>
            <a:ext cx="332842" cy="33284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69848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43" name="Text 33"/>
          <p:cNvSpPr txBox="1"/>
          <p:nvPr/>
        </p:nvSpPr>
        <p:spPr>
          <a:xfrm>
            <a:off x="832104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produced</a:t>
            </a:r>
            <a:endParaRPr lang="en-US" sz="1600" dirty="0"/>
          </a:p>
        </p:txBody>
      </p:sp>
      <p:sp>
        <p:nvSpPr>
          <p:cNvPr id="44" name="Text 34"/>
          <p:cNvSpPr txBox="1"/>
          <p:nvPr/>
        </p:nvSpPr>
        <p:spPr>
          <a:xfrm>
            <a:off x="8321040" y="5367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published documents, traced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complete AI skills cycle, documented end to end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Hospital Centre · 3,400 employees · AI Skills Full Run 2026 — Regional Hospital Centre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summary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2" name="Image 1" descr="Circ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100 %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the run completed — 35 end-to-end processes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57016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Clipboard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1579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33088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/ 40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answered the questionnaires (93 %)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64224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15798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0296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6364224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trainings in 2 programs, prioritized by impact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7143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7" name="Image 4" descr="Wal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5798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747504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1,260,000</a:t>
            </a:r>
            <a:endParaRPr lang="en-US" sz="2500" dirty="0"/>
          </a:p>
        </p:txBody>
      </p:sp>
      <p:sp>
        <p:nvSpPr>
          <p:cNvPr id="29" name="Text 21"/>
          <p:cNvSpPr txBox="1"/>
          <p:nvPr/>
        </p:nvSpPr>
        <p:spPr>
          <a:xfrm>
            <a:off x="9171432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budget; 1,192,662 spent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48640" y="3291840"/>
            <a:ext cx="11094415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68680" y="3456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case shows</a:t>
            </a:r>
            <a:endParaRPr lang="en-US" sz="1700" dirty="0"/>
          </a:p>
        </p:txBody>
      </p:sp>
      <p:sp>
        <p:nvSpPr>
          <p:cNvPr id="32" name="Shape 24"/>
          <p:cNvSpPr/>
          <p:nvPr/>
        </p:nvSpPr>
        <p:spPr>
          <a:xfrm>
            <a:off x="868680" y="393192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33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024092"/>
            <a:ext cx="199705" cy="199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417320" y="3904488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Diagnosis: “Information systems” is the weakest axis (2 / 5); the largest skill gap is “AI bed and staff capacity planning” (average gap 3.0).</a:t>
            </a:r>
            <a:endParaRPr lang="en-US" sz="1350" dirty="0"/>
          </a:p>
        </p:txBody>
      </p:sp>
      <p:sp>
        <p:nvSpPr>
          <p:cNvPr id="35" name="Shape 26"/>
          <p:cNvSpPr/>
          <p:nvPr/>
        </p:nvSpPr>
        <p:spPr>
          <a:xfrm>
            <a:off x="868680" y="4462272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6" name="Image 6" descr="ArrowRigh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4554444"/>
            <a:ext cx="199705" cy="199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417320" y="443484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training needs were validated and grouped into 6 themes, deployed in 4 roadmap initiatives over three waves.</a:t>
            </a:r>
            <a:endParaRPr lang="en-US" sz="1350" dirty="0"/>
          </a:p>
        </p:txBody>
      </p:sp>
      <p:sp>
        <p:nvSpPr>
          <p:cNvPr id="38" name="Shape 28"/>
          <p:cNvSpPr/>
          <p:nvPr/>
        </p:nvSpPr>
        <p:spPr>
          <a:xfrm>
            <a:off x="868680" y="4992624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9" name="Image 7" descr="Shield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852" y="5084796"/>
            <a:ext cx="199705" cy="199705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417320" y="4965192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Kirkpatrick results 86 % · 93 % · 84 %; training ROI 108 % (target ≥ 100%).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868680" y="5522976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42" name="Image 8" descr="CircleDo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852" y="5615148"/>
            <a:ext cx="199705" cy="199705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1417320" y="5495544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published, 1,060 pages; the Training Engineering Report alone has 198 pages.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hospital and the project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Context, charter, scope, method and schedule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Regional Hospital Centre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Hospital Centre operates in the Healthcare Providers sector, in Région, with 3400 employees.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Topic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Become the reference of Healthcare Providers in the region, with teams trained to the best standards.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Deliver safe, compliant service through skilled people and controlled processes.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Values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Commitment · Excellence · Sharing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Context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Strong competition, stricter ISO 7101 audits and the arrival of AI triage and clinical decision support.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Products — existing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Core services of Clinical Care &amp; Nursing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Products — new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Digital services supported by 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Market segments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Large accounts · Public sector · Individual customers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589520" y="1828800"/>
            <a:ext cx="4050792" cy="4206240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 and headcount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423160"/>
          <a:ext cx="36118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People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 Resources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THIS PROJECT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public hospital under pressure: why skills come first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the functional SWOTs and the strategic objectives say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58968" cy="1938528"/>
          </a:xfrm>
          <a:prstGeom prst="roundRect">
            <a:avLst>
              <a:gd name="adj" fmla="val 4717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2" name="Image 1" descr="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1781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084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External pressure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2542032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Stricter ISO 7101 audits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Departure of key experts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90488" y="1828800"/>
            <a:ext cx="5458968" cy="1938528"/>
          </a:xfrm>
          <a:prstGeom prst="roundRect">
            <a:avLst>
              <a:gd name="adj" fmla="val 4717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9088" y="205740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217810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04888" y="2084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 to seize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104888" y="2542032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Demand for digital services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Training contracts refunded by OFPPT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bed and staff capacity planning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5458968" cy="1938528"/>
          </a:xfrm>
          <a:prstGeom prst="roundRect">
            <a:avLst>
              <a:gd name="adj" fmla="val 4717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Activ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8122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 points today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1463040" y="4645152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triage and clinical decision support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Reporting kept in spreadsheets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Little versatility between roles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bed and staff capacity planning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medical imaging assistance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190488" y="3931920"/>
            <a:ext cx="5458968" cy="1938528"/>
          </a:xfrm>
          <a:prstGeom prst="roundRect">
            <a:avLst>
              <a:gd name="adj" fmla="val 471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19088" y="416052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27" name="Image 4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89" y="4281221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104888" y="4187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direction commits to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104888" y="4645152"/>
            <a:ext cx="4343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SO-1: Adopt AI triage and clinical decision support across Clinical Care &amp; Nursing by end 2027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SO-2: Zero major findings in ISO 7101 audits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SWOT of TER 1.4, functional SWOT records (E2E-25) and strategic objectives of the Scope of Work.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HOSPITAL PROFILE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dates and SWOT of the hospital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2008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 founded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55848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84448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2014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site opened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63056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91656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2019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391656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ISO 7101 certification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970264" y="18288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198864" y="19385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9198864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transformation program launched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B6D7A8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49808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749808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Experienced, committed team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Good knowledge of the market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Stable processes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3355848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557016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Areas for improvement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3557016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triage and clinical decision support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Reporting kept in spreadsheets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Little versatility between roles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bed and staff capacity planning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medical imaging assistance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163056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364224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364224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Demand for digital services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Training contracts refunded by OFPPT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970264" y="3246120"/>
            <a:ext cx="2651760" cy="2834640"/>
          </a:xfrm>
          <a:prstGeom prst="roundRect">
            <a:avLst>
              <a:gd name="adj" fmla="val 3448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171432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Threats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9171432" y="3767328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Stricter ISO 7101 audits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Departure of key experts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1.3 and 1.4.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CHARTER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Skills Full Run 2026 — Regional Hospital Centre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cycle focused on AI skills for Healthcare Providers: scope, evidence, diagnosis, report, delivery, evaluation and continuous improvement.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213969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2" name="Image 1" descr="Gau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4942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complexity score (out of 100): full run with gates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55848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57016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24942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33088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stakeholders registered and consulted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63056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64224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Cross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24942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0296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6364224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 criteria approved in the Scope of Work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264" y="192024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71432" y="213969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7" name="Image 4" descr="Lay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24942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747504" y="20665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 · MO · OP</a:t>
            </a:r>
            <a:endParaRPr lang="en-US" sz="2500" dirty="0"/>
          </a:p>
        </p:txBody>
      </p:sp>
      <p:sp>
        <p:nvSpPr>
          <p:cNvPr id="29" name="Text 21"/>
          <p:cNvSpPr txBox="1"/>
          <p:nvPr/>
        </p:nvSpPr>
        <p:spPr>
          <a:xfrm>
            <a:off x="9171432" y="268833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 levels covered (strategic, middle, operational)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48640" y="3429000"/>
            <a:ext cx="11094415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6868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objectives</a:t>
            </a:r>
            <a:endParaRPr lang="en-US" sz="1700" dirty="0"/>
          </a:p>
        </p:txBody>
      </p:sp>
      <p:sp>
        <p:nvSpPr>
          <p:cNvPr id="32" name="Shape 24"/>
          <p:cNvSpPr/>
          <p:nvPr/>
        </p:nvSpPr>
        <p:spPr>
          <a:xfrm>
            <a:off x="868680" y="411480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33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52" y="4206972"/>
            <a:ext cx="199705" cy="199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417320" y="40873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SO-1 — Adopt AI triage and clinical decision support across Clinical Care &amp; Nursing by end 2027 (horizon 2027-12-31)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868680" y="48006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6" name="Image 6" descr="ArrowRigh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852" y="4892772"/>
            <a:ext cx="199705" cy="1997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417320" y="4773168"/>
            <a:ext cx="990569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SO-2 — Zero major findings in ISO 7101 audits (horizon 2026-12-31)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 OF THE MISSION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Functions and decision levels in scope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Focus: AI · Decision levels: MS, MO, OP · Approval: Approved (2026-04-30, Soukaina Ouazzani)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 — strategic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 — middle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 — operational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 Resources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●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818120" y="1874520"/>
            <a:ext cx="3822192" cy="3200400"/>
          </a:xfrm>
          <a:prstGeom prst="roundRect">
            <a:avLst>
              <a:gd name="adj" fmla="val 285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scope is set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046720" y="2468880"/>
            <a:ext cx="3429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function × decision-level cell is a weighted criterion of the Scope of Work. 16 criteria were approved by the sponsor before any questionnaire was sent; every later table of the report is filtered by this scope.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 1.8.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phases, each closed by a gate with its deliverables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training engineering mission follows the phases below, each closed by a gate with its deliverables.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492240"/>
                <a:gridCol w="1307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End-to-end processes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Scope &amp; evidence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E2E-32 · E2E-33 · E2E-19 · E2E-24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Diagnosis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E2E-20 · E2E-25 · E2E-26 · E2E-27 · E2E-28 · E2E-29 · E2E-02 · E2E-21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Training Engineering Report &amp;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E2E-01 · E2E-03 · E2E-30 · E2E-22 · E2E-23 · E2E-16 · HCPR-E2E-02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Design &amp; delivery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E2E-04 · E2E-05 · E2E-06 · E2E-13 · E2E-14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Evaluation, compliance &amp; impact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E2E-07 · E2E-08 · E2E-09 · HCPR-E2E-01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Talent, knowledge &amp; continuous improvement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E2E-10 · E2E-11 · E2E-12 · E2E-31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Training Engineering Report, section 1.5 “The current mission”.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RUN IN FIGURES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end-to-end processes, 265 tasks, all completed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process has an owner, its tasks, its dates and the document it produces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5895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188720"/>
                <a:gridCol w="960120"/>
                <a:gridCol w="960120"/>
                <a:gridCol w="731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Tasks done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Start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Enablers (run across all phases)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 / 21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2026-04-10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&amp; evidence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37 / 37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2026-04-10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62 / 62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&amp; plan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 / 50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 &amp; delivery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39 / 39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2026-07-30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Evaluation, compliance &amp; impact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 / 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2026-07-31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2026-08-24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Talent, knowledge &amp; continuous improvement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 / 30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2026-08-28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2026-09-21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8366760" y="1828800"/>
            <a:ext cx="32735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56792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3" name="Image 1" descr="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56" y="215798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144000" y="197510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265 / 265</a:t>
            </a:r>
            <a:endParaRPr lang="en-US" sz="2500" dirty="0"/>
          </a:p>
        </p:txBody>
      </p:sp>
      <p:sp>
        <p:nvSpPr>
          <p:cNvPr id="15" name="Text 9"/>
          <p:cNvSpPr txBox="1"/>
          <p:nvPr/>
        </p:nvSpPr>
        <p:spPr>
          <a:xfrm>
            <a:off x="8567928" y="259689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tasks completed, none overdue or blocked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366760" y="3200400"/>
            <a:ext cx="32735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567928" y="34198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8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3529584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144000" y="334670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2500" dirty="0"/>
          </a:p>
        </p:txBody>
      </p:sp>
      <p:sp>
        <p:nvSpPr>
          <p:cNvPr id="20" name="Text 13"/>
          <p:cNvSpPr txBox="1"/>
          <p:nvPr/>
        </p:nvSpPr>
        <p:spPr>
          <a:xfrm>
            <a:off x="8567928" y="396849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owners from the project team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366760" y="4572000"/>
            <a:ext cx="327355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8567928" y="47914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3" name="Image 3" descr="FileSta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4901184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144000" y="4718304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2500" dirty="0"/>
          </a:p>
        </p:txBody>
      </p:sp>
      <p:sp>
        <p:nvSpPr>
          <p:cNvPr id="25" name="Text 17"/>
          <p:cNvSpPr txBox="1"/>
          <p:nvPr/>
        </p:nvSpPr>
        <p:spPr>
          <a:xfrm>
            <a:off x="8567928" y="5340096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published documents, one per process and more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project workspace (phases, processes, tasks).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AND OWNERS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carried each process of the run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846320"/>
                <a:gridCol w="2651760"/>
                <a:gridCol w="1947672"/>
                <a:gridCol w="8229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 — document produced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Tasks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Data, AI and integration governance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Enablers (run across all phas…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Sara El Idrissi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Change and adoption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Enablers (run across all phas…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Rim Kettani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Quality, risk and improvement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Enablers (run across all phas…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Mansouri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of work and stakeholder register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&amp; evidence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9/9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Questionnaire campaign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&amp; evidence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Asmae Fassi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12/12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Consulting engagement closure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&amp; evidence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Benjelloun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9/9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Competitive intelligence note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&amp; evidence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Omar Benjelloun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Multi-axis diagnostic and maturity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Benjelloun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10/10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Job architecture and competency 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Soukaina Ouazzani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Forward planning of jobs and skills (GPEC)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Soukaina Ouazzani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demand consolidation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Performance assessment and RAG dashboard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Functional SWOT and improvement axes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Skills gap 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Previous plan impact evaluation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Annual L&amp;D plan and budget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&amp;…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needs report and roadmap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&amp;…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10/10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Prioritized resource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&amp;…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AND OWNERS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processes of the run (continued)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846320"/>
                <a:gridCol w="2651760"/>
                <a:gridCol w="1947672"/>
                <a:gridCol w="82296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 — document produced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Phase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Owner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Tasks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Multi-site deployment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&amp;…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Regulatory submission file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&amp;…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Kawtar Rami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Vendor management file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&amp;…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Imane Naciri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6/6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HCPR-E2E-02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Healthcare-specific process (feeds the TER and the audit)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&amp;…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4/4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Curriculum design 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 &amp; delivery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delivery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 &amp; delivery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9/9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Learner engagement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 &amp; delivery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 catalogue and lifecycle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 &amp; delivery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Rim Mansouri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Extended enterprise training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 &amp; delivery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Hajar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evaluation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Evaluation, compliance &amp; impa…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ROI and business impact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Evaluation, compliance &amp; impa…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E2E-09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Compliance and certification register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Evaluation, compliance &amp; impa…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Kawtar Rami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HCPR-E2E-01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Healthcare-specific process (feeds the TER and the audit)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Evaluation, compliance &amp; impa…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Leila Chraibi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4/4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Internal mobility and career paths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Talent, knowledge &amp; continuou…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Soukaina Ouazzani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Onboarding programme record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Talent, knowledge &amp; continuou…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Lahlou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E2E-12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Knowledge capture and transfer record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Talent, knowledge &amp; continuou…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Omar Alaoui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7/7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E2E-31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Post-engagement roadmap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Talent, knowledge &amp; continuou…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Hamza Benjelloun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8/8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 packages and the Gantt chart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Work package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&amp; evidence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2026-04-10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Diagnosis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2026-05-08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Report &amp; plan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S-01 AI triage and clinical decision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2026-07-19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S-02 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S-03 AI triage and clinical decision 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S-04 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029200" y="1783080"/>
            <a:ext cx="6528816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2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37376" cy="402336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07492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WBS and Gantt of the project in CortexSkills.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people consulted across every function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people were consulted: 1 from general management, 26 managers and 13 staff members.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hospital and the project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consulted by function and population (TER 1.7).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828800"/>
          <a:ext cx="4233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Channel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People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Face-to-face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Combination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Email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7406640" y="4023360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Consent recorded for 40 of 40 people before any answer was stored.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Diagnosis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 answered, where the hospital stands, which skills are missing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QUESTIONNAIRE CAMPAIGN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 of 40 people answered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people were invited to answer; 37 answered.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914400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General Manager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Team member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 Resources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6583680" y="17830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Response rate by function.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84632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005840"/>
                <a:gridCol w="777240"/>
                <a:gridCol w="1005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Channel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Invited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Completeness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Face-to-face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95 %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Application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91 %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Email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77 %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7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1.6, 1.12 and 1.13.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PREVIOUS PLAN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teams said about the last training plan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did you notice about the n-1 training plan?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Trainings were chosen late in the year and with little link to our objectives.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Good participation, but little follow-up after the sessions.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2628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were the strengths of the n-1 plan?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Sessions held on site, close to the teams.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Practical trainers who knew our sector.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75320" y="1965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improvements did the n-1 plan bring?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8275320" y="2560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Supervisors use the new procedures.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Fewer errors on ISO 7101 records.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724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were the challenges of the n-1 plan?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Measuring the effect of the trainings.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Releasing people from the job during peaks.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2628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did you appreciate and like about the n-1 plan?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52628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The workshops on real cases.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The exchange between sites.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7532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a new training plan, what would you like to see done differently?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827532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Shorter half-day formats with a workshop each time.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 plan built from the needs of each function.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chapter 2 — 59 trainings attended are listed in section 2.1.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AND MATURITY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axes scored, maturity one level below target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Diagnostic score by axis against target level 4 (TER 1.9).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651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4963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Axis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Reading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Strength to build 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Organization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Partly in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Partly in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People and skills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Partly in place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Priority for development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840480"/>
          <a:ext cx="49651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50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Current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CMM maturity (CMM)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Leadership maturity (Leadership)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667512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Maturity models (TER 1.10).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BY FUNCTION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each function stands at each decision level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by decision level: MS strategic management, MO operational management, OP operational.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188720"/>
                <a:gridCol w="1188720"/>
                <a:gridCol w="54223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Main gaps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76%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68%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 · AI medical imaging assistance · AI bed and staff cap…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90% 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65%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 · AI bed and staff capacity planning · AI triage and clinical de…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62%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89%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 · AI triage and clinical decision support · AI medical imag…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Human Resources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73%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70%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 · AI medical imaging assistance · AI bed and staff cap…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92% 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62%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52%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 · AI bed and staff capacity planning · AI triage and clinical de…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65%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55%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84% Amber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 · AI triage and clinical decision support · AI medical imag…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59%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64% 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 · AI medical imaging assistance · AI bed and staff cap…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Maturity heatmap on the fixed red → green status scale (TER 3.2).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ASSESSMENT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cells scored: function × decision level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 in % of the expected performance, from the assessment records (E2E-26)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score by function and decision level (%).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828800"/>
          <a:ext cx="39136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19019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Cell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%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Gap noted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Sales &amp; Marketing — OP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Information Systems — MO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 &amp; HSE — MO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 — MO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 — MS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Finance — MS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7726680" y="58521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six weakest cells, with the gap noted.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FUNCTIONAL SWOT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 and weaknesses, function by function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SWOTs validated with the function heads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58968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2" name="Image 1" descr="Stethosco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13238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057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Operations — Validated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77240" y="269748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B6D7A8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1440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31363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Experienced team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stable processes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319272" y="269748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456432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456432" y="31363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triage and clinical decision support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7240" y="425196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14400" y="4343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bed and staff capacity planning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319272" y="425196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456432" y="4343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Threats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3456432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Stricter ISO 7101 audits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190488" y="1828800"/>
            <a:ext cx="5458968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19088" y="201168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28" name="Image 2" descr="Building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2132381"/>
            <a:ext cx="261518" cy="26151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104888" y="2057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&amp; HSE — Validated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6419088" y="269748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B6D7A8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556248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556248" y="31363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Experienced team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stable processes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961120" y="269748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09828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9098280" y="313639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Low use of AI triage and clinical decision support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419088" y="425196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D9EAD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56248" y="4343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6556248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bed and staff capacity planning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961120" y="4251960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FBE0B5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9098280" y="4343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A5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Threats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9098280" y="4690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Stricter ISO 7101 audits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54864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FunctionalSwot records (E2E-25), feeding the improvement axes.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COMPETENCES NAMED IN THE INTERVIEWS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competences people asked for, by number of mentions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Consolidated from 32 responses.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Mentions across all answers (TER 3.3).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7818120" y="1874520"/>
            <a:ext cx="3822192" cy="3931920"/>
          </a:xfrm>
          <a:prstGeom prst="roundRect">
            <a:avLst>
              <a:gd name="adj" fmla="val 2392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04672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Reading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2468880"/>
            <a:ext cx="3429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two AI clinical themes lead (108 and 103 mentions), followed by team communication and problem solving: the plan pairs each AI training with practical workshops on the hospital’s own cases.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 SKILLS AND LEADERSHIP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Self-assessment of the respondents, weakest first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18872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Average (1–5)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Self-control and excellence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Continuous quality improvement — conflict resolution and solutions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Coaching others towards excellence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 by values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Enterprise management: macro view of the company’s businesses and fun…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and effectiveness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Self-motivation and energy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Communication with oneself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7223760" y="1783080"/>
          <a:ext cx="441655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7223760" y="5577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Leadership levels reached (TER 3.7).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GAPS AND TRAINING NEEDS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measured gaps to a validated needs register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868680"/>
                <a:gridCol w="7772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Competency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People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Avg gap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gaps by competency (TER 3.40).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828800"/>
          <a:ext cx="5742432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2743200"/>
                <a:gridCol w="1051560"/>
                <a:gridCol w="685800"/>
                <a:gridCol w="941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Theme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Source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Impact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Responsible AI and data protection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Skills gap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and generative AI at work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Diagnostic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Skills gap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Demand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SWOT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58978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needs register (TER 3.41): every need traced to its source.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502920" y="3429000"/>
            <a:ext cx="3895344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4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7472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SKILLS CAMPAIGN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Self-assessed and validated levels side by side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assessments of the campaign “Skills campaign 2026”, closed on 2026-05-20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Number of assessments at each level.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7269480" y="1828800"/>
            <a:ext cx="43708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470648" y="204825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4" name="Image 1" descr="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76" y="215798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46720" y="1975104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2.0 → 2.0</a:t>
            </a:r>
            <a:endParaRPr lang="en-US" sz="2500" dirty="0"/>
          </a:p>
        </p:txBody>
      </p:sp>
      <p:sp>
        <p:nvSpPr>
          <p:cNvPr id="16" name="Text 10"/>
          <p:cNvSpPr txBox="1"/>
          <p:nvPr/>
        </p:nvSpPr>
        <p:spPr>
          <a:xfrm>
            <a:off x="7470648" y="259689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level, self-assessed → validated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269480" y="3200400"/>
            <a:ext cx="437083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7470648" y="34198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9" name="Image 2" descr="Use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3529584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46720" y="3346704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· 0 · 0</a:t>
            </a:r>
            <a:endParaRPr lang="en-US" sz="2500" dirty="0"/>
          </a:p>
        </p:txBody>
      </p:sp>
      <p:sp>
        <p:nvSpPr>
          <p:cNvPr id="21" name="Text 14"/>
          <p:cNvSpPr txBox="1"/>
          <p:nvPr/>
        </p:nvSpPr>
        <p:spPr>
          <a:xfrm>
            <a:off x="7470648" y="396849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confirmed · lowered · raised by the manager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269480" y="4617720"/>
            <a:ext cx="4370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Validation by the manager is what turns a self-assessment into a measured gap: only validated levels feed the skill gaps and the needs register.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REQUESTS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requests received, all traced to a theme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and collective requests from managers and employees (E2E-27)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Requests by theme and priority.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828800"/>
          <a:ext cx="39136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704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Requests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Planned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Validated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Rejected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3566160"/>
          <a:ext cx="39136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704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Type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Requests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Individual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Collective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THE CORE FUNCTION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Care &amp; Nursing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Needs, assessment and competences of the function that carries the strategic objective SO-1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Decision level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 (%)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59 %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56 %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64 %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4572000"/>
                <a:gridCol w="32278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Respondent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Population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Strengths / Areas for improvement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Competences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Reda Naciri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Good knowledge of the market — Little…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Reda Naciri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 — Good knowledge of the market — Reporting ke…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planning; Time management and priorities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Hajji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Team member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Experienced, committed team — Low use of 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Zineb Hajji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Team member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Stable processes — Low use of 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requirements; Dashboards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Ayoub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Soins cliniques et infirmiers — Stable processes — Little versatility…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Ayoub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Clinical Care &amp; Nursing — Good knowledge of the market — Reporting ke…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requirements; Dashboards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3.36 to 3.39.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OF AI TODAY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teams use AI and what holds them back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Activ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use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Daily, for triage and reports. (33)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798064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980944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Octagon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210312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980944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Barriers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2980944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training and unclear rules. (33)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047488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230368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2103120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30368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Risks to manage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230368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protection and validation of results. (33)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296912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479792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Targ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10312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479792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Priorities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7479792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bed and staff capacity planning; data quality (12)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medical imaging assistance; data quality (11)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9546336" y="182880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9729216" y="1993392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1" name="Image 5" descr="Present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4" y="2103120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729216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Preferred format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9729216" y="2971800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workshops on the job, then coaching. (33)</a:t>
            </a:r>
            <a:endParaRPr lang="en-US" sz="10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0"/>
                <a:gridCol w="978408"/>
                <a:gridCol w="969264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 planning practice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 there a strategic plan with macro business plans at company level?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Are this strategic plan and the macro business plans implemented?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Are they monitored?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Are they subject to continuous improvement?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</a:tbl>
          </a:graphicData>
        </a:graphic>
      </p:graphicFrame>
      <p:sp>
        <p:nvSpPr>
          <p:cNvPr id="35" name="Text 25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frequent answers of 37 respondents (TER 3.45, 3.46).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OBJECTIVES AND EXPECTED RESULTS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respondents want the training to change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914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Objective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SMART formulation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Mentions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Improve customer satisfaction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score ≥ 85% by end of year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Reduce non-quality costs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-20% rework in 12 months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Develop human capital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80% of critical roles certified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589520" y="1828800"/>
            <a:ext cx="4050792" cy="4023360"/>
          </a:xfrm>
          <a:prstGeom prst="roundRect">
            <a:avLst>
              <a:gd name="adj" fmla="val 2273"/>
            </a:avLst>
          </a:prstGeom>
          <a:solidFill>
            <a:srgbClr val="E7F9F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results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818120" y="242316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Teams able to use AI triage and clinical decision support safely.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Better audit results and staff retention.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Fewer errors and faster service.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Teams able to use AI medical imaging assistance safely.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3.42 (74 objectives stated) and 3.9.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Engineering Report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134 sections, 198 pages, generated from the run data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 OF THE REPORT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Engineering Report and Training Plan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1 · author Leila Chraibi · approved by Soukaina Ouazzani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1206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Chapter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Sections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Description of the company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The previous training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Competence needs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Perspectives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The prioritized training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Risks, controls and indicators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 Annexes — interview forms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Plus identification, data sources and approval.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5897880" y="1783080"/>
            <a:ext cx="5760720" cy="363474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3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669280" cy="3543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94360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report in the document editor.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ORIENTATIONS AND HR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Needs linked to the strategy and to the HR orientations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Priority axes named by the General Management: Leadership and performance · AI triage and clinical decision support · ISO 7101 compliance · Dashboards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531352"/>
                <a:gridCol w="1645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Objective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Horizon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SO-1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Adopt AI triage and clinical decision support across Clinical Care &amp; Nursing by end 2027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2027-12-31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SO-2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Zero major findings in ISO 7101 audits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2026-12-31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329184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7724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HR orientations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3840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Update job descriptions, individual objectives and the yearly assessment; build career paths.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217920" y="3291840"/>
            <a:ext cx="5422392" cy="2651760"/>
          </a:xfrm>
          <a:prstGeom prst="roundRect">
            <a:avLst>
              <a:gd name="adj" fmla="val 3448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4652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 management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46520" y="38404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Focus and prioritization · 2) Stay positive · 3) Persevere and follow up with short daily repetitions · Patience · Lead by example · Progressiveness.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3.1, 3.5 and 3.6.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PERSPECTIVES AND ROADMAP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initiatives deployed in three waves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perspectives take into account the strategic orientations, the SWOT and improvement axes, the HR orientations and the recommendations made in the face-to-face meetin…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 1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triage and clinical decision support — impact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literacy for all staff — impact 5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9768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 2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medical imaging assistance — impact 4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46720" y="18745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21040" y="2011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Wave 3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2514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AI bed and staff capacity planning — impact 3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680960"/>
                <a:gridCol w="1463040"/>
                <a:gridCol w="14904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Improvement axis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Implemented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Wave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70%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chapter 4 and section 4.1.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IMPROVEMENT AXES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axis ranked, with its implementation progress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Improvement axes drawn from the SWOTs and followed in the roadmap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Implementation of each improvement axis, by priority rank.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828800"/>
          <a:ext cx="405079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850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Roadmap initiative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Wave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7589520" y="3977640"/>
            <a:ext cx="4050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implementation 68 %: wave 1 axes are deployed, the others are carried by waves 2 and 3.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RISKS AND CONTROLS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risk reduced by named controls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1463040"/>
                <a:gridCol w="868680"/>
                <a:gridCol w="868680"/>
                <a:gridCol w="27706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 or opportunity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Category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Inherent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Residual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Controls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RISK-014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Low learner and user adoption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Adoption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CTRL-081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RISK-017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knowledge lost with expert departure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CTRL-070; CTRL-082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Unauthorized access to tenant data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Security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CTRL-001; CTRL-002; CTRL-048; CTRL-011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plan misaligned with strategy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CTRL-049; CTRL-057; CTRL-076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Inaccurate skills data leading to wrong needs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 quality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CTRL-064; CTRL-045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RISK-030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Position descriptions diverge from reality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Organizational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CTRL-066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Unverified AI content in the Training Engineering Report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CTRL-041; CTRL-056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Expired mandatory certification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Compliance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CTRL-053; CTRL-054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RISK-031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Site deployment deviates from group plan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Operational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CTRL-071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9 of 35 risks by residual score (TER chapter 6).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INDICATORS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Indicators followed every month during the run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Engineering Report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572000"/>
                <a:gridCol w="1463040"/>
                <a:gridCol w="2651760"/>
                <a:gridCol w="1307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Indicator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Latest value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Critical gap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8.2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cycle time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30 days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24.6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 approval lead time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20 days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16.4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 publication lead time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15 days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12.3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 fill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85%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91.8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KPI-009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Plan realization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90%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97.2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Learner completion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80%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86.4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Average Level 1 satisfaction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4.2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4.5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 progression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70%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75.6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record correction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1%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2026-10: 0.82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of the 61 indicators of TER section 6.1.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Plan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plan 2026 holds 2 programs and 6 trainings, 12 days per group in total and 44 group-days to deliver, for a budget of 1,260,000.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PRIORITIZED PLAN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themes ranked by impact and urgency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2026 — status Locked — budget 1,260,000.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035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91840"/>
                <a:gridCol w="731520"/>
                <a:gridCol w="73152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#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Theme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Groups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Budget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360,000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and generative AI at work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Responsible AI and data protection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60,000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6766560" y="178308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67665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by theme.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PROGRAMS AND TRAININGS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programs, six trainings, clear prerequisites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383280"/>
                <a:gridCol w="31363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Program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 axis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PRG-1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skills for Clinical Care &amp; Nursing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Execution of the core function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TR-AI-01, TR-AI-02, TR-AI-03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PRG-2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foundations for all staff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Leadership, performance and responsible use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TR-AI-04, TR-AI-05, TR-AI-06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1188720"/>
                <a:gridCol w="1005840"/>
                <a:gridCol w="4233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Level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Duration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Prerequisites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Intermediate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Intermediate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planning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Advanced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2.5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TR-AI-01 or equivalent experience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1.5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None — open to all staff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and generative AI at work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None — open to all staff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TR-AI-06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Responsible AI and data protection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Intermediate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day(s)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Basic digital literacy; the Foundation training is recommended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Training Plan “Programs” and TER section 5.1.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SHEET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TR-AI-01 — AI triage and clinical decision support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Level Intermediate · 3 day(s) · program PRG-1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423160"/>
            <a:ext cx="6217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Explain the key concepts of AI triage and clinical decision support and how they apply to Clinical Care &amp; Nursing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Apply the methods and tools of AI triage and clinical decision support to a real case from Regional Hospital Centre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 the deployment of AI triage and clinical decision support with its indicators and controls (ISO 7101)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589520" y="1828800"/>
            <a:ext cx="4050792" cy="4114800"/>
          </a:xfrm>
          <a:prstGeom prst="roundRect">
            <a:avLst>
              <a:gd name="adj" fmla="val 2257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24231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digital literacy; the Foundation training is recommended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8181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406908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M1 AI triage and clinical decision support · E-learning · 2 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M3 AI triage and clinical decision support · Virtual classroom · 3.5 h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DETAILED AGENDA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triage and clinical decision support — half-day by half-day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activities over 3 day(s): lectures, quizzes and workshops on the hospital’s own cases.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 — morning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Foundations of AI triage and clinical decision support: key c…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Why AI triage and clinical decision support matters for Clini…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key concepts of AI triage and clinical decision support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map today’s practices in Clinical Care &amp; Nursing a… (75 min)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9768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262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 — afternoon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Methods and tools of AI triage and clinical decision support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Worked example from the Healthcare Providers sector (40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choosing the right method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apply the method to a real case from Regional Hosp… (80 min)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2 — morning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2331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Governance, risks and ISO 7101 requirements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Data, quality and evidence to keep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compliance and risk scenarios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build the control checklist of your process (80 min)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7724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2 — afternoon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7724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Deploying AI triage and clinical decision support: roles, cha…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Indicators that measure the results (45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adoption and indicator cases (20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design the indicator dashboard of your team (80 min)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2628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— morning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52628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Advanced practices and lessons learned in Clinical Care &amp; Nur… (75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— advanced cases (25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solve a critical incident scenario (100 min)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753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— afternoon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275320" y="443484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 · Transfer to the workplace: the 30-60-90-day plan (60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 · Final assessment (Kirkpatrick level 2) (30 min)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Workshop — individual action plan and peer review (90 min)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 FOR EACH PERSONA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each audience should take the training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TR-AI-01 — behaviour, pain points and hopes of each persona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2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4335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sponsor — General Manager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Decides on facts presented in short steering meetings; delegates execution to the management team; follows a few indicators.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spend with no visible link to the strategic objectives; results of the previous plan hard to prove; ISO 7101 audits that expose competence gaps.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prioritized plan that serves the strategy, a measurable return, and a management team able to lead the change.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29768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954" y="214335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1208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Manager — director, head of department, process owner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Balances daily operations and improvement projects; prefers practical, short formats; relies on key people in the team.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absent from the job during long trainings; skills gaps on critical activities of Clinical Care &amp; Nursing; processes not documented or without an owner.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Trainings that solve the function’s real problems, applied on the job the following week, with indicators the manager can follow.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04672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Stetho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994" y="214335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61120" y="2011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member — Clinical Care &amp; Nursing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8275320" y="274320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Learns by doing and from peers; uses a phone more than a computer; wants to know what changes in daily work.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tools introduced without explanation; theoretical trainings far from the tasks; fear of making mistakes with AI triage and clinical decision support.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skills recognized by a certificate, less rework, and a clear path to the next position.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SHEET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TR-AI-02 — AI medical imaging assistance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Level Intermediate · 2 day(s) · program PRG-1 · 4 half-days, 15 activities, 14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Explain the key concepts of AI medical imaging assistance and how they apply to Clinical Care &amp; Nursing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Apply the methods and tools of AI medical imaging assistance to a real case from Regional Hospital Centre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 the deployment of AI medical imaging assistance with its indicators and controls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 and activity mix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digital literacy; the Foundation training is recommended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7 · Quiz: 4 · Workshop: 4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Half-day agenda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Half-day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Activities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Foundations of AI medical imaging assistance: key concepts and vocabulary · Why AI medical imaging assistance matters f…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afternoon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Methods and tools of AI medical imaging assistance · Worked example from the Healthcare Providers sector · Quiz — choos…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2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Governance, risks and ISO 7101 requirements · Data, quality and evidence to keep · Quiz — compliance and risk scenarios…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2 — afternoon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 to the workplace: the 30-60-90-day plan · Final assessment (Kirkpatrick level 2) · Workshop — individual actio…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Personas: Executive sponsor — General Manager · Manager — director, head of department, process owner · Team member — Clinical Care &amp; Nursing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SHEET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TR-AI-03 — AI bed and staff capacity planning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Level Advanced · 2.5 day(s) · program PRG-1 · 5 half-days, 19 activities, 17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Explain the key concepts of AI bed and staff capacity planning and how they apply to Clinical Care &amp; Nursing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Apply the methods and tools of AI bed and staff capacity planning to a real case from Regional Hospital Centre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 the deployment of AI bed and staff capacity planning with its indicators and controls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 and activity mix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TR-AI-01 or equivalent experience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9 · Quiz: 5 · Workshop: 5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Half-day agenda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Half-day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Activities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Foundations of AI bed and staff capacity planning: key concepts and vocabulary · Why AI bed and staff capacity planning…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afternoon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Methods and tools of AI bed and staff capacity planning · Worked example from the Healthcare Providers sector · Quiz — 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2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Governance, risks and ISO 7101 requirements · Data, quality and evidence to keep · Quiz — compliance and risk scenarios…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2 — afternoon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Deploying AI bed and staff capacity planning: roles, change and adoption · Indicators that measure the results · Quiz —…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3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 to the workplace: the 30-60-90-day plan · Final assessment (Kirkpatrick level 2) · Workshop — individual actio…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Personas: Executive sponsor — General Manager · Manager — director, head of department, process owner · Team member — Clinical Care &amp; Nursing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SHEET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TR-AI-04 — AI literacy for all staff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Level Foundation · 1.5 day(s) · program PRG-2 · 3 half-days, 11 activities, 10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Explain the key concepts of AI literacy for all staff and how they apply to Clinical Care &amp; Nursing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Apply the methods and tools of AI literacy for all staff to a real case from Regional Hospital Centre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 the deployment of AI literacy for all staff with its indicators and controls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 and activity mix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None — open to all staff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5 · Quiz: 3 · Workshop: 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Half-day agenda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Half-day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Activities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Foundations of AI literacy for all staff: key concepts and vocabulary · Why AI literacy for all staff matters for Clini…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afternoon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Methods and tools of AI literacy for all staff · Worked example from the Healthcare Providers sector · Quiz — choosing 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2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 to the workplace: the 30-60-90-day plan · Final assessment (Kirkpatrick level 2) · Workshop — individual actio…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Personas: Executive sponsor — General Manager · Manager — director, head of department, process owner · Team member — Clinical Care &amp; Nursing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SHEET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TR-AI-05 — Prompting and generative AI at work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Level Foundation · 1 day(s) · program PRG-2 · 2 half-days, 7 activities, 7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Explain the key concepts of Prompting and generative AI at work and how they apply to Clinical Care &amp; Nursing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Apply the methods and tools of Prompting and generative AI at work to a real case from Regional Hospital Centre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 the deployment of Prompting and generative AI at work with its indicators and controls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 and activity mix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None — open to all staff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3 · Quiz: 2 · Workshop: 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Half-day agenda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Half-day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Activities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Foundations of Prompting and generative AI at work: key concepts and vocabulary · Why Prompting and generative AI at wo…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afternoon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 to the workplace: the 30-60-90-day plan · Final assessment (Kirkpatrick level 2) · Workshop — individual actio…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Personas: Executive sponsor — General Manager · Manager — director, head of department, process owner · Team member — Clinical Care &amp; Nursing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SHEET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TR-AI-06 — Responsible AI and data protection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Level Intermediate · 2 day(s) · program PRG-2 · 4 half-days, 15 activities, 14 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938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331720"/>
            <a:ext cx="49834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Explain the key concepts of Responsible AI and data protection and how they apply to Clinical Care &amp; Nursing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Apply the methods and tools of Responsible AI and data protection to a real case from Regional Hospital Centre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Plan the deployment of Responsible AI and data protection with its indicators and controls (ISO 7101)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Prerequisites and activity mix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484632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digital literacy; the Foundation training is recommended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Lecture: 7 · Quiz: 4 · Workshop: 4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1828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Half-day agenda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240280"/>
          <a:ext cx="5376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  <a:gridCol w="621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Half-day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Activities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Foundations of Responsible AI and data protection: key concepts and vocabulary · Why Responsible AI and data protection…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1 — afternoon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Methods and tools of Responsible AI and data protection · Worked example from the Healthcare Providers sector · Quiz — 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2 — morning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Governance, risks and ISO 7101 requirements · Data, quality and evidence to keep · Quiz — compliance and risk scenarios…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 2 — afternoon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Transfer to the workplace: the 30-60-90-day plan · Final assessment (Kirkpatrick level 2) · Workshop — individual actio…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263640" y="562356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Personas: Executive sponsor — General Manager · Manager — director, head of department, process owner · Team member — Clinical Care &amp; Nursing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Paths, modules and content assets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31520"/>
                <a:gridCol w="3108960"/>
                <a:gridCol w="1645920"/>
                <a:gridCol w="822960"/>
                <a:gridCol w="1856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Learning path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Days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Modality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Hours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Design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M1 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E-learning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Approved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M3 AI triage and clinical decision support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Virtual classroom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Approved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M2 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Classroom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Approved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M4 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Classroom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Approved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371600"/>
                <a:gridCol w="2011680"/>
                <a:gridCol w="2011680"/>
                <a:gridCol w="1856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Format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Size (MB)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Review date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Language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M1 material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SCORM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Published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M2 material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Video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180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2027-04-05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Published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M3 material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PDF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2026-12-06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Published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M4 material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Capsule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Published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TER sections 5.3 and 5.4.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Allocated, committed, spent and refunds expected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Allocated 1,260,000, committed 1,260,000 (100 %), spent 1,192,662 (95 % of planned); expected refunds 352,800.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8288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715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Allocated (Muted) versus actual (Azure) by training, (TER 5.7).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828800"/>
          <a:ext cx="44622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9875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Line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Refund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triage and clinical decisi…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347,127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100,800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medical imaging assistance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266,091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84,000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bed and staff capacity pla…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243,800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67,200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AI literacy for all staff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156,192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50,400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Prompting and generative AI a…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118,913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33,600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Responsible AI and data prote…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60,539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16,800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1,192,662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352,800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343400"/>
          <a:ext cx="44622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713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Provider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Accredited until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/5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Atlas Formation Conseil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2027-04-25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Maghreb Learning Partners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2027-08-03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3.8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Delivery, evaluation and audit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Sessions, Kirkpatrick levels, ROI, internal audit and lessons learned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SESSIONS AND ATTENDANCE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sessions delivered with their enrolments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60120"/>
                <a:gridCol w="822960"/>
                <a:gridCol w="150876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Capacity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Enrolled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S-01 AI triage and clinical decision supp…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2026-07-19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Rachid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S-02 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2026-07-26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Rachid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S-03 AI triage and clinical decision supp…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Rachid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S-04 AI medical imaging assistance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2026-08-09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Rachid Benjelloun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818120" y="1828800"/>
            <a:ext cx="38221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01928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2" name="Image 1" descr="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6" y="215798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595360" y="197510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2500" dirty="0"/>
          </a:p>
        </p:txBody>
      </p:sp>
      <p:sp>
        <p:nvSpPr>
          <p:cNvPr id="14" name="Text 8"/>
          <p:cNvSpPr txBox="1"/>
          <p:nvPr/>
        </p:nvSpPr>
        <p:spPr>
          <a:xfrm>
            <a:off x="8019288" y="259689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learners present at their session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818120" y="3246120"/>
            <a:ext cx="382219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019288" y="346557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Badg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357530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595360" y="3392424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2500" dirty="0"/>
          </a:p>
        </p:txBody>
      </p:sp>
      <p:sp>
        <p:nvSpPr>
          <p:cNvPr id="19" name="Text 12"/>
          <p:cNvSpPr txBox="1"/>
          <p:nvPr/>
        </p:nvSpPr>
        <p:spPr>
          <a:xfrm>
            <a:off x="8019288" y="4014216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enrolments completed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502920" y="4160520"/>
            <a:ext cx="2798064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21" name="Image 3" descr="Screenshot of the appli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06240"/>
            <a:ext cx="2706624" cy="16916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48640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task of the delivery process with its typed steps.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measured at three Kirkpatrick levels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53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1" name="Image 1" descr="Sm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86 %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74980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Reaction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29768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98848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BookOpen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15798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7492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93 %</a:t>
            </a:r>
            <a:endParaRPr lang="en-US" sz="2500" dirty="0"/>
          </a:p>
        </p:txBody>
      </p:sp>
      <p:sp>
        <p:nvSpPr>
          <p:cNvPr id="18" name="Text 12"/>
          <p:cNvSpPr txBox="1"/>
          <p:nvPr/>
        </p:nvSpPr>
        <p:spPr>
          <a:xfrm>
            <a:off x="449884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Learning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8046720" y="18288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47888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Footpri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2157984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823960" y="1975104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84 %</a:t>
            </a:r>
            <a:endParaRPr lang="en-US" sz="2500" dirty="0"/>
          </a:p>
        </p:txBody>
      </p:sp>
      <p:sp>
        <p:nvSpPr>
          <p:cNvPr id="23" name="Text 16"/>
          <p:cNvSpPr txBox="1"/>
          <p:nvPr/>
        </p:nvSpPr>
        <p:spPr>
          <a:xfrm>
            <a:off x="8247888" y="25968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— Behaviour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103120"/>
                <a:gridCol w="2743200"/>
                <a:gridCol w="16733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Level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What is measured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Instrument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Results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— Reaction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and perceived usefulness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 of each session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Satisfaction questionnaire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86 %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— Learning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Knowledge and skills acquired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End of the training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Pre- and post-test, case study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93 %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— Behaviour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Use of the skills at the workstation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Three months after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Manager observation grid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 × 84 %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 — Results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Effect on the indicators of the function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Six to twelve months after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Indicators of the function (KPI)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 (TER 5.10): 4 valid, 1 expiring, 1 expired — the expired one triggers an alert and a renewal session.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 RESULTS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evaluation recorded with its score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evaluations linked to the enrolments of the sessions (E2E-07)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54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score by Kirkpatrick level.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28800"/>
          <a:ext cx="49651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11247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Evaluation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Level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Score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level 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93 %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level 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79 %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level 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93 %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level 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92 %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level 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76 %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Kirkpatrick level 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92 %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Certifications followed, renewals planned before expiry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Regulatory and accreditation requirements per employee (E2E-09)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2" name="Image 1" descr="Badg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1975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25968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 certifications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279392" y="18288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480560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Calendar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1579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56632" y="1975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4480560" y="259689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expiring within 90 days: renewal session planned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10144" y="1828800"/>
            <a:ext cx="36301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1131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BellR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15798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787384" y="197510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8211312" y="2596896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expired: alert raised to the manager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2194560"/>
                <a:gridCol w="23134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Certification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Requirement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 until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awareness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2026-08-18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awareness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2026-11-16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Expired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awareness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2027-02-14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awareness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2027-05-15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Expiring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awareness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2027-08-13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awareness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2027-11-11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Valid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AND BUSINESS IMPACT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Phillips ROI and the indicators of the ROI study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 and business impact report — Regional Hospital Centre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56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2048256"/>
            <a:ext cx="457200" cy="45720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2" name="Image 1" descr="Trending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1579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108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749808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ROI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355848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557016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215798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33088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4.5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3557016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Level 1 satisfaction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63056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64224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3" descr="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15798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40296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75.6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6364224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 progression rate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264" y="18288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171432" y="2048256"/>
            <a:ext cx="457200" cy="45720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7" name="Image 4" descr="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215798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747504" y="197510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4.1</a:t>
            </a:r>
            <a:endParaRPr lang="en-US" sz="2500" dirty="0"/>
          </a:p>
        </p:txBody>
      </p:sp>
      <p:sp>
        <p:nvSpPr>
          <p:cNvPr id="29" name="Text 21"/>
          <p:cNvSpPr txBox="1"/>
          <p:nvPr/>
        </p:nvSpPr>
        <p:spPr>
          <a:xfrm>
            <a:off x="9171432" y="259689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execution variance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3931920"/>
                <a:gridCol w="1005840"/>
                <a:gridCol w="1645920"/>
                <a:gridCol w="10332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Indicator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Formula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Target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Latest value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KPI-037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ROI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(Net programme benefits / programme costs) x 100 (Phillips)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100%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108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Average Level 1 satisfaction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Mean reaction score across closed sessions (1-5)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4.2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4.5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KPI-013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 progression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Learners gaining at least one level within 6 months / learners traine…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70%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75.6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KPI-022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Budget execution variance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|Actual - allocated| / allocated x 100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≤ 5%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4.1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KPI-023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OFPPT refund recovery rate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Refunds received / refunds forecast x 100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≥ 90%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97.2 (2026-10)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31" name="Text 22"/>
          <p:cNvSpPr txBox="1"/>
          <p:nvPr/>
        </p:nvSpPr>
        <p:spPr>
          <a:xfrm>
            <a:off x="548640" y="6080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ROI and business impact report (DT-E2E-08), indicators section.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AUDIT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report — Regional Hospital Centre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Conforming with one minor nonconformity to correct within 60 days.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57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Findings by grade.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828800"/>
          <a:ext cx="62453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1097280"/>
                <a:gridCol w="3044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Grade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Requirement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Minor nonconformity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Two trainers have no evidence of competence on file.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Observation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9.1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Level 3 evaluations are planned but not yet scheduled.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F-3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Opportunity for improvement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7.1.6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Capture lessons learned at the end of each session.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F-4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Strength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ISO 7101 7.2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Needs analysis fully traced from strategic objectives.</a:t>
                      </a:r>
                      <a:endParaRPr lang="en-US" sz="10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Strengths: Clear needs analysis; strong management involvement; complete attendance records.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Follow-up: Verification of the corrective action at the next steering committee.</a:t>
            </a:r>
            <a:endParaRPr lang="en-US" sz="12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 PLAN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Corrective actions owned, dated and evaluated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Actions raised by the audit and the indicators, each with an owner and an evaluator (governance)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58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76656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Action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Due date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Status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Update 11 outdated position descriptions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2026-07-09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Open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Contract a second training vendor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2026-06-09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Done</a:t>
                      </a:r>
                      <a:endParaRPr lang="en-US" sz="11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589520" y="1828800"/>
            <a:ext cx="4050792" cy="4023360"/>
          </a:xfrm>
          <a:prstGeom prst="roundRect">
            <a:avLst>
              <a:gd name="adj" fmla="val 2273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8181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actions are governed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818120" y="246888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4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292" y="2561052"/>
            <a:ext cx="199705" cy="199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66760" y="2441448"/>
            <a:ext cx="3108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owner carries the action, a different person evaluates its effectiveness.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818120" y="352044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292" y="3612612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366760" y="3493008"/>
            <a:ext cx="3108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Overdue actions raise an alert to the owner and the project manager.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818120" y="45720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292" y="4664172"/>
            <a:ext cx="199705" cy="199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366760" y="4544568"/>
            <a:ext cx="3108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Closure needs the evaluation: the audit finding is closed only then.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REX — AI triage and clinical decision support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Delivery, evaluation and audit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E7F9F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8C87C"/>
          </a:solidFill>
          <a:ln w="12700">
            <a:solidFill>
              <a:srgbClr val="28C87C"/>
            </a:solidFill>
            <a:prstDash val="solid"/>
          </a:ln>
        </p:spPr>
      </p:sp>
      <p:pic>
        <p:nvPicPr>
          <p:cNvPr id="11" name="Image 1" descr="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8907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72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went well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777240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stakeholder register and multi-channel distribution lifted the response rate.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355848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4C7C3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584448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2" descr="Triangle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122" y="218907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584448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did not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584448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SWOT inputs arrived late from one function.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163056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FF3B0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391656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1" name="Image 3" descr="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218907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391656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391656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backup nominated for the function head.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970264" y="182880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9198864" y="2057400"/>
            <a:ext cx="548640" cy="54864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6" name="Image 4" descr="Lightbul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538" y="218907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98864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will do next time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9198864" y="333756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 a backup for every function head at kickoff.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595360" y="-1371600"/>
            <a:ext cx="5669280" cy="5669280"/>
          </a:xfrm>
          <a:prstGeom prst="ellipse">
            <a:avLst/>
          </a:prstGeom>
          <a:solidFill>
            <a:srgbClr val="1876C6">
              <a:alpha val="20000"/>
            </a:srgbClr>
          </a:solidFill>
          <a:ln w="12700">
            <a:solidFill>
              <a:srgbClr val="1876C6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75520" y="3749040"/>
            <a:ext cx="3108960" cy="3108960"/>
          </a:xfrm>
          <a:prstGeom prst="ellipse">
            <a:avLst/>
          </a:prstGeom>
          <a:solidFill>
            <a:srgbClr val="17A2B8">
              <a:alpha val="22000"/>
            </a:srgbClr>
          </a:solidFill>
          <a:ln w="12700">
            <a:solidFill>
              <a:srgbClr val="17A2B8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28C87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produced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documents published in English, each traced to its data</a:t>
            </a:r>
            <a:endParaRPr lang="en-US" sz="1800" dirty="0"/>
          </a:p>
        </p:txBody>
      </p:sp>
      <p:pic>
        <p:nvPicPr>
          <p:cNvPr id="8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080760"/>
            <a:ext cx="2011680" cy="37160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end-to-end process leaves its document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published, versioned and approved by a second person — 1,060 pages.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61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Annual L&amp;D plan and budget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Skills gap diagnosis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needs report and roadmap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Curriculum design 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delivery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Learner engagement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evaluation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ROI and business impact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DT-E2E-09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Compliance and certification register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Internal mobility and career paths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Onboarding programme record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Knowledge capture and transfer record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Content catalogue and lifecycle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Extended enterprise training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Data, AI and integration governance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Vendor management file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Change and adoption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Quality, risk and improvement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DT-E2E-19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Consulting engagement closure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Multi-axis diagnostic and maturity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Documents produced (continued)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62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Previous plan impact evaluation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Multi-site deployment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Regulatory submission file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Competitive intelligence note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Job architecture and competency 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DT-E2E-26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Forward planning of jobs and skills (GPEC)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DT-E2E-27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demand consolidation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Performance assessment and RAG dashboard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Functional SWOT and improvement axes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DT-E2E-30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Prioritized resource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28800"/>
          <a:ext cx="54406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640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Code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Document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Pages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Post-engagement roadmap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DT-E2E-32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 of work and stakeholder register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31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DT-E2E-33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Questionnaire campaign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Engineering Report and Training 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198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DT-PLAN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plan with detailed agendas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34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DT-AUDIT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Audit report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DT-MASTER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Master list of documented information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19</a:t>
                      </a:r>
                      <a:endParaRPr lang="en-US" sz="9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INSIDE THE APPLICATION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teams entered and governed the data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CortexSkills 1.11 — Standard Application SRS v1.8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63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2" name="Image 1" descr="List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178101"/>
            <a:ext cx="261518" cy="26151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Typed step forms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77724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step asks for what it produces: records, matrices, decisions; rows are saved one by one, with Undo.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97680" y="182880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26280" y="205740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7" name="Image 2" descr="Maximize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217810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6636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Full-screen entry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452628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table opens over the whole screen with zoom (50–200 %), add, save and return to the same row.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8046720" y="182880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75320" y="2057400"/>
            <a:ext cx="502920" cy="502920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22" name="Image 3" descr="ClipboardPas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021" y="217810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915400" y="2103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Paste from Excel or Word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827532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Lists of staff or trainings are pasted in one step, checked cell by cell, saved and undone as one operation.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393192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7" name="Image 4" descr="Wal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281221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1732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Amounts with their currency</a:t>
            </a:r>
            <a:endParaRPr lang="en-US" sz="1350" dirty="0"/>
          </a:p>
        </p:txBody>
      </p:sp>
      <p:sp>
        <p:nvSpPr>
          <p:cNvPr id="29" name="Text 21"/>
          <p:cNvSpPr txBox="1"/>
          <p:nvPr/>
        </p:nvSpPr>
        <p:spPr>
          <a:xfrm>
            <a:off x="777240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Budgets carry their currency; totals never mix currencies without a stated exchange rate and date.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297680" y="393192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2" name="Image 5" descr="User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6981" y="4281221"/>
            <a:ext cx="261518" cy="26151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516636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Two-person publication</a:t>
            </a:r>
            <a:endParaRPr lang="en-US" sz="1350" dirty="0"/>
          </a:p>
        </p:txBody>
      </p:sp>
      <p:sp>
        <p:nvSpPr>
          <p:cNvPr id="34" name="Text 25"/>
          <p:cNvSpPr txBox="1"/>
          <p:nvPr/>
        </p:nvSpPr>
        <p:spPr>
          <a:xfrm>
            <a:off x="4526280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document is published only once a second person approves it; every version is kept.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8046720" y="393192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8275320" y="4160520"/>
            <a:ext cx="502920" cy="502920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37" name="Image 6" descr="His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021" y="4281221"/>
            <a:ext cx="261518" cy="26151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91540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39" name="Text 29"/>
          <p:cNvSpPr txBox="1"/>
          <p:nvPr/>
        </p:nvSpPr>
        <p:spPr>
          <a:xfrm>
            <a:off x="8275320" y="4800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change, paste and approval is recorded with its author, date and justification.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number of the report comes from a record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16736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table of this document is drawn from the application’s records; data as of 07/10/2026, 15:28:07.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7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64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18872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Source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Records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Process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Last change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Questionnaire responses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Stakeholder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ScopeCriterion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MP-52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SkillAssessment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SkillGap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8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TrainingNeed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RoadmapInitiative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WbsNode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MP-49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Session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MP-05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TrainingPlan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MP-49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Employee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MP-16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StrategicObjective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MP-01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2026-10-07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269480" y="1828800"/>
            <a:ext cx="4370832" cy="4023360"/>
          </a:xfrm>
          <a:prstGeom prst="roundRect">
            <a:avLst>
              <a:gd name="adj" fmla="val 2273"/>
            </a:avLst>
          </a:prstGeom>
          <a:solidFill>
            <a:srgbClr val="E8F1FB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49808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of the documents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7498080" y="246888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4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252" y="2561052"/>
            <a:ext cx="199705" cy="199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46720" y="244144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Author Leila Chraibi, approver Soukaina Ouazzani: two different people.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498080" y="352044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7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252" y="3612612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46720" y="349300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version is kept; a change of the data marks the document as stale.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498080" y="45720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0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252" y="4664172"/>
            <a:ext cx="199705" cy="199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046720" y="4544568"/>
            <a:ext cx="34290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data sources listed with their record counts and process.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INSIDE THE APPLICATION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Training Plan as the users see 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65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0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with detailed agendas — Regional Hospital Centre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12648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3" name="Image 2" descr="Screenshot of the 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plan screen: programs, trainings and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INSIDE THE APPLICATION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project workspace and the dashboard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Documents produced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66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0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3429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workspace: phases, processes and progress.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6126480" y="1783080"/>
            <a:ext cx="557784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>
            <a:solidFill>
              <a:srgbClr val="E1E8F0"/>
            </a:solidFill>
            <a:prstDash val="solid"/>
          </a:ln>
        </p:spPr>
      </p:sp>
      <p:pic>
        <p:nvPicPr>
          <p:cNvPr id="13" name="Image 2" descr="Screenshot of the 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5486400" cy="34290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17220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of the hospital.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876C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23A5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hospital has at the end of the cycle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1E8F0"/>
            </a:solidFill>
            <a:prstDash val="solid"/>
          </a:ln>
        </p:spPr>
      </p:sp>
      <p:pic>
        <p:nvPicPr>
          <p:cNvPr id="6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1463040" cy="2712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77440" y="6437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  ·  Demonstration data — fictional organization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0728655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67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1876C6"/>
          </a:solidFill>
          <a:ln w="12700">
            <a:solidFill>
              <a:srgbClr val="1876C6"/>
            </a:solidFill>
            <a:prstDash val="solid"/>
          </a:ln>
        </p:spPr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201241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189280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Training Engineering Report of 198 pages, built from 37 answers, 40 stakeholders and the diagnosis of every function.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3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2789652"/>
            <a:ext cx="199705" cy="199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7280" y="267004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locked Training Plan: 6 trainings, half-day agendas, a value proposition per persona and a budget of 1,260,000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6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566892"/>
            <a:ext cx="199705" cy="1997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344728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 at three Kirkpatrick levels, an ROI study, followed certifications and an internal audit with one minor nonconformity to correct.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19" name="Image 4" descr="CircleD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4344132"/>
            <a:ext cx="199705" cy="1997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97280" y="422452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published documents ready for an accreditation audit (ISO 7101, JCI), each traced to the data and the step that produced it.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123A5F"/>
          </a:solidFill>
          <a:ln w="12700">
            <a:solidFill>
              <a:srgbClr val="123A5F"/>
            </a:solidFill>
            <a:prstDash val="solid"/>
          </a:ln>
        </p:spPr>
      </p:sp>
      <p:pic>
        <p:nvPicPr>
          <p:cNvPr id="22" name="Image 5" descr="Targ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5121372"/>
            <a:ext cx="199705" cy="1997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97280" y="5001768"/>
            <a:ext cx="1054577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Next: waves 2 and 3 of the roadmap and the level-4 (results) evaluation six to twelve months after the trainings.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23A5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AI Val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928" y="1371600"/>
            <a:ext cx="3291840" cy="234452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406908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1"/>
          <p:cNvSpPr txBox="1"/>
          <p:nvPr/>
        </p:nvSpPr>
        <p:spPr>
          <a:xfrm>
            <a:off x="0" y="4892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8C8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· GOVERNED · SUSTAINABLE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AI Value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full case — Training engineering project</dc:title>
  <dc:subject>PptxGenJS Presentation</dc:subject>
  <dc:creator>AI Value</dc:creator>
  <cp:lastModifiedBy>AI Value</cp:lastModifiedBy>
  <cp:revision>1</cp:revision>
  <dcterms:created xsi:type="dcterms:W3CDTF">2026-10-12T22:25:55Z</dcterms:created>
  <dcterms:modified xsi:type="dcterms:W3CDTF">2026-10-12T22:25:55Z</dcterms:modified>
</cp:coreProperties>
</file>
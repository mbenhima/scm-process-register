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8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Direction générale</c:v>
                </c:pt>
              </c:strCache>
            </c:strRef>
          </c:tx>
          <c:spPr>
            <a:solidFill>
              <a:srgbClr val="12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Management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Membre de l’équipe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réponse (%)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Ressources humaines</c:v>
                  </c:pt>
                  <c:pt idx="3">
                    <c:v>Ventes et marketing</c:v>
                  </c:pt>
                  <c:pt idx="4">
                    <c:v>Systèmes d'information</c:v>
                  </c:pt>
                  <c:pt idx="5">
                    <c:v>Soins cliniques et infirmiers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</c:v>
                </c:pt>
                <c:pt idx="1">
                  <c:v>83</c:v>
                </c:pt>
                <c:pt idx="2">
                  <c:v>83</c:v>
                </c:pt>
                <c:pt idx="3">
                  <c:v>83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(sur 5)</c:v>
                </c:pt>
              </c:strCache>
            </c:strRef>
          </c:tx>
          <c:spPr>
            <a:solidFill>
              <a:srgbClr val="1876C6"/>
            </a:solidFill>
            <a:ln w="25400" cap="flat">
              <a:solidFill>
                <a:srgbClr val="1876C6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1876C6"/>
              </a:solidFill>
              <a:ln w="9525" cap="flat">
                <a:solidFill>
                  <a:srgbClr val="1876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 et compétences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Cible</c:v>
                </c:pt>
              </c:strCache>
            </c:strRef>
          </c:tx>
          <c:spPr>
            <a:solidFill>
              <a:srgbClr val="5A6B7B"/>
            </a:solidFill>
            <a:ln w="25400" cap="flat">
              <a:solidFill>
                <a:srgbClr val="5A6B7B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6B7B"/>
              </a:solidFill>
              <a:ln w="9525" cap="flat">
                <a:solidFill>
                  <a:srgbClr val="5A6B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 et compétences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effect…</c:v>
                  </c:pt>
                  <c:pt idx="3">
                    <c:v>Communication avec l’équipe</c:v>
                  </c:pt>
                  <c:pt idx="4">
                    <c:v>Résolution de problèmes</c:v>
                  </c:pt>
                  <c:pt idx="5">
                    <c:v>Gestion du temps et priorités</c:v>
                  </c:pt>
                  <c:pt idx="6">
                    <c:v>Exigences ISO 7101</c:v>
                  </c:pt>
                  <c:pt idx="7">
                    <c:v>Tableaux de bord</c:v>
                  </c:pt>
                  <c:pt idx="8">
                    <c:v>qualité des données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94</c:v>
                </c:pt>
                <c:pt idx="1">
                  <c:v>94</c:v>
                </c:pt>
                <c:pt idx="2">
                  <c:v>91</c:v>
                </c:pt>
                <c:pt idx="3">
                  <c:v>89</c:v>
                </c:pt>
                <c:pt idx="4">
                  <c:v>89</c:v>
                </c:pt>
                <c:pt idx="5">
                  <c:v>70</c:v>
                </c:pt>
                <c:pt idx="6">
                  <c:v>52</c:v>
                </c:pt>
                <c:pt idx="7">
                  <c:v>52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des répondants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Productivité personnelle</c:v>
                  </c:pt>
                  <c:pt idx="1">
                    <c:v>Leadership personnel</c:v>
                  </c:pt>
                  <c:pt idx="2">
                    <c:v>Leadership appliqué aux équipes</c:v>
                  </c:pt>
                  <c:pt idx="3">
                    <c:v>Leadership d’une sous-fonction de…</c:v>
                  </c:pt>
                  <c:pt idx="4">
                    <c:v>Leadership d’une fonction ou de t…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28.4</c:v>
                </c:pt>
                <c:pt idx="1">
                  <c:v>18.3</c:v>
                </c:pt>
                <c:pt idx="2">
                  <c:v>12.4</c:v>
                </c:pt>
                <c:pt idx="3">
                  <c:v>7.8</c:v>
                </c:pt>
                <c:pt idx="4">
                  <c:v>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déci…</c:v>
                  </c:pt>
                  <c:pt idx="1">
                    <c:v>Assistance IA en imagerie m…</c:v>
                  </c:pt>
                  <c:pt idx="2">
                    <c:v>Planification IA des lits e…</c:v>
                  </c:pt>
                  <c:pt idx="3">
                    <c:v>Littératie en IA pour tous</c:v>
                  </c:pt>
                  <c:pt idx="4">
                    <c:v>Prompting et IA générative …</c:v>
                  </c:pt>
                  <c:pt idx="5">
                    <c:v>IA responsable et protectio…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Alloué</c:v>
                </c:pt>
              </c:strCache>
            </c:strRef>
          </c:tx>
          <c:spPr>
            <a:solidFill>
              <a:srgbClr val="5A6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Réel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354598</c:v>
                </c:pt>
                <c:pt idx="1">
                  <c:v>295234</c:v>
                </c:pt>
                <c:pt idx="2">
                  <c:v>244886</c:v>
                </c:pt>
                <c:pt idx="3">
                  <c:v>159533</c:v>
                </c:pt>
                <c:pt idx="4">
                  <c:v>123413</c:v>
                </c:pt>
                <c:pt idx="5">
                  <c:v>60833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Constats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Non-conformité majeure</c:v>
                  </c:pt>
                  <c:pt idx="1">
                    <c:v>Non-conformité mineure</c:v>
                  </c:pt>
                  <c:pt idx="2">
                    <c:v>Observation</c:v>
                  </c:pt>
                  <c:pt idx="3">
                    <c:v>Piste d’amélioration</c:v>
                  </c:pt>
                  <c:pt idx="4">
                    <c:v>Point fort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2011680"/>
            <a:ext cx="6858000" cy="6858000"/>
          </a:xfrm>
          <a:prstGeom prst="ellipse">
            <a:avLst/>
          </a:prstGeom>
          <a:solidFill>
            <a:srgbClr val="1876C6">
              <a:alpha val="18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3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828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CAS COMPLET · SANTÉ · 2026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Ingénierie de formation aux compétences IA dans un groupe de cliniques privées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069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: le projet, le Rapport d’ingénierie de formation, le Plan de formation et chaque document produit avec CortexSkills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537960" y="169164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CortexSkil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Déroulé de la présentation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Hospi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groupe de cliniques et le projet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Contexte, charte, périmètre, méthode, calendrier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Steth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Questionnaires, maturité, écarts, besoins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Structure, constats, feuille de route, risques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8" name="Image 4" descr="GraduationC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</a:t>
            </a:r>
            <a:endParaRPr lang="en-US" sz="1600" dirty="0"/>
          </a:p>
        </p:txBody>
      </p:sp>
      <p:sp>
        <p:nvSpPr>
          <p:cNvPr id="31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Programmes, déroulés, conception, budget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4" name="Image 5" descr="ChartColum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36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Déploiement, évaluation et audit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Kirkpatrick, ROI, audit</a:t>
            </a:r>
            <a:endParaRPr lang="en-US" sz="1250" dirty="0"/>
          </a:p>
        </p:txBody>
      </p:sp>
      <p:sp>
        <p:nvSpPr>
          <p:cNvPr id="38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9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0" name="Image 6" descr="FileSt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42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</a:t>
            </a:r>
            <a:endParaRPr lang="en-US" sz="1600" dirty="0"/>
          </a:p>
        </p:txBody>
      </p:sp>
      <p:sp>
        <p:nvSpPr>
          <p:cNvPr id="43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tracés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SYNTHÈSE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cycle complet de compétences IA, documenté de bout en bout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· 2 600 collaborateurs · Déroulé complet compétences IA 2026 — Groupe Santéora Cliniques Privées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Synthèse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 déroulé réalisé — 35 processus de bout en bout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/ 40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personnes ont répondu aux questionnaires (88 %)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formations dans 2 programmes, priorisées par impact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1 260 000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de formation ; 1 238 497 consommés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3291840"/>
            <a:ext cx="11094415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68680" y="34564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montre le cas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2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024092"/>
            <a:ext cx="199705" cy="19970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417320" y="390448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: « Systèmes d’information » est l’axe le plus faible (2 / 5) ; le plus grand écart est « Planification IA des lits et des effectifs » (écart moyen 3.0).</a:t>
            </a:r>
            <a:endParaRPr lang="en-US" sz="1350" dirty="0"/>
          </a:p>
        </p:txBody>
      </p:sp>
      <p:sp>
        <p:nvSpPr>
          <p:cNvPr id="34" name="Shape 26"/>
          <p:cNvSpPr/>
          <p:nvPr/>
        </p:nvSpPr>
        <p:spPr>
          <a:xfrm>
            <a:off x="868680" y="4462272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554444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417320" y="443484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besoins de formation ont été validés et regroupés en 6 thèmes, déployés en 4 initiatives sur trois vagues.</a:t>
            </a:r>
            <a:endParaRPr lang="en-US" sz="1350" dirty="0"/>
          </a:p>
        </p:txBody>
      </p:sp>
      <p:sp>
        <p:nvSpPr>
          <p:cNvPr id="37" name="Shape 28"/>
          <p:cNvSpPr/>
          <p:nvPr/>
        </p:nvSpPr>
        <p:spPr>
          <a:xfrm>
            <a:off x="868680" y="4992624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8" name="Image 7" descr="Shield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084796"/>
            <a:ext cx="199705" cy="199705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417320" y="496519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Résultats Kirkpatrick 77 % · 74 % · 75 % ; ROI de la formation 108 % (cible ≥ 100 %).</a:t>
            </a:r>
            <a:endParaRPr lang="en-US" sz="1350" dirty="0"/>
          </a:p>
        </p:txBody>
      </p:sp>
      <p:sp>
        <p:nvSpPr>
          <p:cNvPr id="40" name="Shape 30"/>
          <p:cNvSpPr/>
          <p:nvPr/>
        </p:nvSpPr>
        <p:spPr>
          <a:xfrm>
            <a:off x="868680" y="5522976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1" name="Image 8" descr="CircleD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852" y="5615148"/>
            <a:ext cx="199705" cy="199705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1417320" y="549554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1 129 pages ; le Rapport d’ingénierie de formation compte à lui seul 206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groupe de cliniques et le projet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Contexte, charte, périmètre, méthode et calendrier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Groupe Santéora Cliniques Privées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opère dans le secteur Établissements de santé, à Casablanca, avec 2600 salariés.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Sujet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Devenir la référence du secteur Établissements de santé dans la région, avec des équipes formées aux meilleurs standards.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Offrir un service sûr et conforme grâce à des équipes compétentes et des processus maîtrisés.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Valeurs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Engagement · Excellence · Partage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Contexte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Concurrence forte, audits ISO 7101 plus stricts et arrivée de Triage IA et aide à la décision clinique.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Produits — existants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Services de base de 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Produits — nouveaux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Services numériques appuyés sur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Segments du marché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Grands comptes · Secteur public · Particuliers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25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Organigramme et effectif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Effectif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PROFIL DU GROUPE DE CLINIQUES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Dates clés et SWOT du groupe de cliniques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2008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Création de l’entreprise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84448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584448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Ouverture du deuxième site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91656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2019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391656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 ISO 7101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98864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9198864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Lancement du programme de transformation numérique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B6D7A8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49808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Forces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Équipe expérimentée et engagée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Bonne connaissance du marché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Processus stables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355848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557016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Axes d’amélioration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557016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Triage IA et aide à la décision clinique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Reporting tenu sur des tableurs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Assistance IA en imagerie médicale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Peu de polyvalence entre les postes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Planification IA des lits et des effectifs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6163056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D9EAD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364224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Opportunités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364224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Demande de services numériques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Contrats de formation remboursés par l’OFPPT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8970264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BE0B5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71432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Menaces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71432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Audits ISO 7101 plus stricts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Départ d’experts clés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1.3 et 1.4.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CHARTE DU PROJET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Déroulé complet compétences IA 2026 — Groupe Santéora Cliniques Privées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Cycle d'ingénierie de formation centré sur les compétences IA pour le secteur Établissements de santé : périmètre, preuves, diagnostic, rapport, déploiement, évaluation et amélioration continue.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13969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4942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score de complexité (sur 100) : déroulé complet avec jalons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4942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parties prenantes enregistrées et consultées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Cross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24942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critères de périmètre approuvés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Lay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24942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niveaux de décision couverts (stratégique, intermédiaire, opérationnel)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Objectifs stratégiques</a:t>
            </a:r>
            <a:endParaRPr lang="en-US" sz="1700" dirty="0"/>
          </a:p>
        </p:txBody>
      </p:sp>
      <p:sp>
        <p:nvSpPr>
          <p:cNvPr id="31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2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SO-1 — Adopter Triage IA et aide à la décision clinique dans Soins cliniques et infirmiers d'ici fin 2027 (échéance 2027-12-31)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SO-2 — Zéro écart majeur aux audits ISO 7101 (échéance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PÉRIMÈTRE DE LA MISSION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Fonctions et niveaux de décision couverts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Orientation: AI · Niveaux de décision: MS, MO, OP · Approbation: Approuvé (2026-04-30, Mehdi Lahlou)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 — stratégique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 — intermédiaire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 — opérationnel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818120" y="1874520"/>
            <a:ext cx="3822192" cy="3200400"/>
          </a:xfrm>
          <a:prstGeom prst="roundRect">
            <a:avLst>
              <a:gd name="adj" fmla="val 28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Comment le périmètre est fixé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046720" y="24688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case fonction × niveau de décision est un critère pondéré du périmètre. 16 critères ont été approuvés par le sponsor avant l’envoi de tout questionnaire ; chaque tableau du rapport est ensuite filtré par ce périmètre.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 1.8.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MÉTHODE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phases, chacune close par un jalon et ses livrables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mission d’ingénierie de formation suit les phases ci-dessous, chacune clôturée par un jalon et ses livrables.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Phase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 de bout en bout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Périmètre et collecte de preuves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Diagnostic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Rapport d'ingénierie de formation et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Conception et déploiement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Évaluation, conformité et impact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Talents, savoirs et amélioration continue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Rapport d’ingénierie de formation, section 1.5 « La mission en cours ».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CALENDRIER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 de travaux et diagramme de Gantt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Début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Périmètre et preuves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2026-04-10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et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Triage IA et aide à la décision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Assistance IA en imagerie médica…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Triage IA et aide à la décision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Assistance IA en imagerie médica…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029200" y="1783080"/>
            <a:ext cx="6528816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1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28800"/>
            <a:ext cx="6437376" cy="402336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50749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WBS et Gantt du projet dans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PARTIES PRENANTES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personnes consultées dans toutes les fonctions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personnes ont été consultées : 1 de la direction générale, 26 managers et 13 collaborateurs.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Personnes consultées par fonction et population (RIF 1.7).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828800"/>
          <a:ext cx="4233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Canal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Combination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E-mail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7406640" y="402336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Consentement enregistré pour 40 personnes sur 40 avant tout enregistrement de réponse.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Diagnostic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 a répondu, où en est l’hôpital, quelles compétences manquent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CAMPAGNE DE QUESTIONNAIRES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personnes sur 40 ont répondu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personnes ont été invitées à répondre ; 35 ont répondu.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Direction générale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Taux de réponse par fonction.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Invités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Complétude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Application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E-mail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1.6, 1.12 et 1.13.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PLAN PRÉCÉDENT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les équipes disent du dernier plan de formation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Qu’avez-vous remarqué à propos du plan de formation de l’année n-1 ?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Bonne participation, mais peu de suivi après les sessions.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formations ont été choisies tard dans l’année, avec peu de lien avec nos objectifs.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Quels étaient les points forts du plan de formation de l’année n-1 ?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sessions sur site, proches des équipes.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formateurs pratiques qui connaissaient notre secteur.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Quelles étaient les améliorations apportées par le plan de formation de l’année…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encadrants utilisent les nouvelles procédures.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Moins d’erreurs sur les enregistrements ISO 7101.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Quels étaient les défis concernant le plan de formation de l’année n-1 ?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Mesurer l’effet des formations.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Libérer les personnes de leur poste pendant les pics d’activité.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2628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Qu’avez-vous apprécié et aimé à propos du plan de formation de l’année n-1 ?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ateliers sur des cas réels.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échanges entre sites.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7532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on faisait un nouveau plan de formation, qu’est-ce que vous aimeriez voir de…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formats courts en demi-journée avec un atelier à chaque fois.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Un plan construit à partir des besoins de chaque fonction.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chapitre 2 — 62 formations suivies sont listées en section 2.1.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ET MATURITÉ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Cinq axes évalués, maturité un niveau sous la cible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Score de diagnostic par axe face à la cible de niveau 4 (RIF 1.9).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Lecture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Stratégie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Point fort à consolider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Organisation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 et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d’information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Priorité de développement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Modèle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Actuel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Maturité CMM (CMM)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Maturité du leadership (Leadership)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Modèles de maturité (RIF 1.10).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PAR FONCTION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Où se situe chaque fonction à chaque niveau de décision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par niveau : MS management stratégique, MO management opérationnel, OP opérationnel.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Écarts principaux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83%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52%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· Planification IA des lits et des effectifs · Triage IA et…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81%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58%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77%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· Triage IA et aide à la décision clinique · Assist…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79%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54%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63%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82%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· Planification IA des lits et des effectifs · Triage IA et…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64%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71%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· Triage IA et aide à la décision clinique · Assist…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Carte de chaleur sur l’échelle de statut fixe rouge → vert (RIF 3.2).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COMPÉTENCES CITÉES LORS DES ENTRETIENS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compétences demandées, par nombre de mentions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Consolidé à partir de 30 réponses.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Mentions dans l’ensemble des réponses (RIF 3.3).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818120" y="1874520"/>
            <a:ext cx="3822192" cy="3931920"/>
          </a:xfrm>
          <a:prstGeom prst="roundRect">
            <a:avLst>
              <a:gd name="adj" fmla="val 239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Lecture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2468880"/>
            <a:ext cx="3429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deux thèmes IA cliniques arrivent en tête (94 et 94 mentions), suivis de la communication d’équipe et de la résolution de problèmes : le plan associe chaque formation IA à des ateliers pratiques sur les cas propres aux cliniques.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COMPÉTENCES COMPORTEMENTALES ET LEADERSHIP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Auto-évaluation des répondants, du plus faible au plus fort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Moyenne (1–5)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Récompenses et motivation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Formations et efficacité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Pensée positive et résultats positifs (focus sur les solutions, divis…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par objectif et vision stratégique appliqué à soi-même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avec soi-même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avec l’équipe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avec flexibilité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par objectif et vision stratégique appliqué aux autres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223760" y="1783080"/>
          <a:ext cx="44165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722376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Niveaux de leadership atteints (RIF 3.7).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ÉCARTS DE COMPÉTENCES ET BESOINS DE FORMATION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écarts mesurés à un registre de besoins validé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moyen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Critiques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Écarts par compétence (RIF 3.40).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Thème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Impact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de 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de 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Registre des besoins (RIF 3.41) : chaque besoin tracé jusqu’à sa source.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02920" y="3429000"/>
            <a:ext cx="3895344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ZOOM SUR LA FONCTION CŒUR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Soins cliniques et infirmiers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Besoins, évaluation et compétences de la fonction qui porte l’objectif stratégique SO-1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 de décision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Note (%)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4572000"/>
                <a:gridCol w="3227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Population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Forces / Points d’amélioration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Équipe expérimentée et engagée — Faib…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Équipe expérimentée et engagée — Peu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; Gestion du temps et prio…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Membre de l’équipe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 expérimentée et engagée — Reporting tenu sur des tableurs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Membre de l’équipe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 expérimentée et engagée — Peu de polyvalence entre les postes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; Gestion du temps et priorités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Bonne connaissance du marché — Report…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Processus stables — Peu de polyvalenc…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; Gestion du temps et prio…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3.36 à 3.39.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USAGE ACTUEL DE L’IA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Comment les équipes utilisent l’IA et ce qui les freine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actuel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jour, pour le tri et les rapports. (31)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279806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980944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Octagon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21031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80944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Freins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2980944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Manque de formation et règles peu claires. (31)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504748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230368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21031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30368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Risques à maîtriser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5230368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Protection des données et validation des résultats. (31)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729691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7479792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5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10312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479792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Priorités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7479792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Assistance IA en imagerie médicale ; qualité des données (11)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Triage IA et aide à la décision clinique ; qualité des données (10)</a:t>
            </a:r>
            <a:endParaRPr lang="en-US" sz="1050" dirty="0"/>
          </a:p>
        </p:txBody>
      </p:sp>
      <p:sp>
        <p:nvSpPr>
          <p:cNvPr id="28" name="Shape 21"/>
          <p:cNvSpPr/>
          <p:nvPr/>
        </p:nvSpPr>
        <p:spPr>
          <a:xfrm>
            <a:off x="954633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9" name="Shape 22"/>
          <p:cNvSpPr/>
          <p:nvPr/>
        </p:nvSpPr>
        <p:spPr>
          <a:xfrm>
            <a:off x="9729216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0" name="Image 5" descr="Present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4" y="210312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729216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 préféré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9729216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ateliers courts sur le poste, puis du coaching. (31)</a:t>
            </a:r>
            <a:endParaRPr lang="en-US" sz="10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0"/>
                <a:gridCol w="978408"/>
                <a:gridCol w="969264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Pratique de planification stratégique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Oui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Existe-t-il un plan stratégique et des macro business plans au niveau de l’entreprise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 plan stratégique et les macro business plans sont-ils mis en place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Sont-ils surveillés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Sont-ils sujets à l’amélioration continue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 2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Réponses les plus fréquentes des 35 répondants (RIF 3.45, 3.46).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OBJECTIFS ET RÉSULTATS ATTENDUS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les répondants attendent de la formation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9184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Formulation SMART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Mentions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Améliorer la satisfaction des clients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de satisfaction ≥ 85 % d’ici la fin de l’année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Réduire les coûts de non-qualité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-20 % de reprises en 12 mois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Développer le capital humain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80 % des rôles critiques certifiés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589520" y="1828800"/>
            <a:ext cx="4050792" cy="4023360"/>
          </a:xfrm>
          <a:prstGeom prst="roundRect">
            <a:avLst>
              <a:gd name="adj" fmla="val 2273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Résultats attendus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818120" y="2423160"/>
            <a:ext cx="3611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Moins d’erreurs et un service plus rapide.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Assistance IA en imagerie médicale en sécurité.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 meilleurs résultats d’audit et une meilleure fidélisation du personnel.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Planification IA des lits et des effectifs en sécurité.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Triage IA et aide à la décision clinique en sécurité.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3.42 (64 objectifs exprimés) et 3.9.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132 sections, 206 pages, générées à partir des données du déroulé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 DU RAPPORT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 et plan de formation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1 · auteur Hicham Naciri · approuvé par Mehdi Lahlou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Chapitre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Description de l’entreprise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Le plan de formation précédent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Les besoins en compétences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Perspectives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Le plan de formation priorisé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Risques, contrôles et indicateurs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Annexes — formulaires d’entretien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Plus l’identification, les sources de données et l’approbation.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97880" y="1783080"/>
            <a:ext cx="5760720" cy="36347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rapport dans l’éditeur de documents.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ORIENTATIONS STRATÉGIQUES ET RH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Besoins liés à la stratégie et aux orientations RH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Axes prioritaires cités par la direction générale: Leadership et performance · Triage IA et aide à la décision clinique · Conformité ISO 7101 · Tableaux de bord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531352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Objectif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Échéance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Adopter Triage IA et aide à la décision clinique dans Soins cliniques et infirmiers d'ici fin 2027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SO-2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Zéro écart majeur aux audits ISO 7101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48640" y="329184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Orientations RH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Mettre à jour les fiches de poste, les objectifs individuels et l’évaluation annuelle ; construire les chemins de carrière.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17920" y="3291840"/>
            <a:ext cx="5422392" cy="26517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Gestion du changement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1) Concentration et priorisation · 2) Être optimiste et positif · 3) Être persévérant et assurer le suivi par de courtes répétitions quotidiennes · Patience · Donner l’exemple · Progressivité.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3.1, 3.5 et 3.6.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PERSPECTIVES ET FEUILLE DE ROUTE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initiatives déployées en trois vagues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perspectives tiennent compte des orientations stratégiques, du SWOT et des axes d’amélioration, des orientations GRH et des recommandations exprimées lors des rencon…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1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Triage IA et aide à la décision clinique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Littératie en IA pour tous — impact 5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2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Assistance IA en imagerie médicale — impact 4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3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Planification IA des lits et des effectifs — impact 3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 d’amélioration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Réalisé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Vague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chapitre 4 et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RISQUES ET CONTRÔLES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risque réduit par des contrôles nommés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Risque ou opportunité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Catégorie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Inhérent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Résiduel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Contrôles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Faible adoption par les apprenants et utilisateurs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CTRL-081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Savoirs critiques perdus au départ d'un expert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CTRL-070; CTRL-082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Accès non autorisé aux données du locataire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Sécurité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formation non aligné sur la stratégie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Stratégique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CTRL-049; CTRL-057; CTRL-076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Données de compétences inexactes conduisant à de mauvais besoins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des données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CTRL-064; CTRL-045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 fiches de poste s'écartent de la réalité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Organisationnel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Contenu IA non vérifié dans le rapport d'ingénierie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CTRL-041; CTRL-056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Certification obligatoire expirée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Conformité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CTRL-053; CTRL-054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 déploiement d'un site s'écarte du plan groupe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premiers risques sur 35 par score résiduel (RIF chapitre 6).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INDICATEURS DU PROJET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Indicateurs suivis chaque mois pendant le déroulé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0"/>
                <a:gridCol w="1463040"/>
                <a:gridCol w="265176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valeur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d'écarts critiques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de production du rapport d'ingénierie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30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24.6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d'approbation de la conception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20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de publication des contenus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15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12.3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remplissage des sessions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91.8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réalisation du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d'achèvement des apprenants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moyenne de niveau 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4,2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4.5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progression des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75.6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correction des dossiers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0.82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des 61 indicateurs de la section 6.1 du RIF.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plan 2026 comprend 2 programmes et 6 formations, soit 12 jours par groupe au total et 44 journées-groupes à réaliser, pour un budget de …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PRIORISÉ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thèmes classés par impact et urgence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2026 — statut Verrouillé — budget 1 260 000.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Thème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Jours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Groupes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par thème.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PROGRAMMES ET FORMATIONS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Deux programmes, six formations, des prérequis clairs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Programme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 stratégique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Compétences IA pour Soins cliniques et infirmiers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Exécution de la fonction cœur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TR-AI-01, TR-AI-02, TR-AI-03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Leadership, performance et usage responsable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TR-AI-04, TR-AI-05, TR-AI-06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Durée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Prérequis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 ou expérience équivalente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Aucun — ouvert à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Aucun — ouvert à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Plan de formation « Programmes » et RIF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FICHE DE FORMATION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TR-AI-01 — Triage IA et aide à la décision clinique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 Intermédiaire · 3 jour(s) · programme PRG-1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Objectifs pédagogiques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423160"/>
            <a:ext cx="6217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Expliquer les concepts clés de Triage IA et aide à la décision clinique et leur application à Soins cliniques et infirmiers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Appliquer les méthodes et outils de Triage IA et aide à la décision clinique à un cas réel de Groupe Santéora Cliniques Privées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Planifier le déploiement de Triage IA et aide à la décision clinique avec ses indicateurs et contrôles (ISO 7101)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589520" y="1828800"/>
            <a:ext cx="4050792" cy="4114800"/>
          </a:xfrm>
          <a:prstGeom prst="roundRect">
            <a:avLst>
              <a:gd name="adj" fmla="val 22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4231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Culture numérique de base ; la formation Fondamentaux est recommandée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Modalités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818120" y="406908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Triage IA et aide à la décision clinique · E-learning · 2 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Triage IA et aide à la décision clinique · Classe virtuelle · 3.5 h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 DÉTAILLÉ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Triage IA et aide à la décision clinique — demi-journée par demi-journée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 activités sur 3 jour(s) : exposés, quiz et ateliers sur les cas propres aux cliniques.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1 — matin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Fondamentaux de Triage IA et aide à la décision clinique : co…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Pourquoi Triage IA et aide à la décision clinique compte pour…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concepts clés de Triage IA et aide à la décision clini…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cartographier les pratiques actuelles de Soins clin… (75 min)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1 — après-midi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Méthodes et outils de Triage IA et aide à la décision clinique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Exemple commenté du secteur Établissements de santé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choisir la bonne méthode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appliquer la méthode à un cas réel de Groupe Santéo… (80 min)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2 — matin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Gouvernance, risques et exigences ISO 7101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Données, qualité et preuves à conserver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scénarios de conformité et de risque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construire la check-list de contrôle de votre proce… (80 min)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2 — après-midi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Déployer Triage IA et aide à la décision clinique : rôles, ch…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Indicateurs pour mesurer les résultats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cas d’adoption et d’indicateurs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concevoir le tableau de bord d’indicateurs de votre… (80 min)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3 — matin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Pratiques avancées et retours d’expérience en Soins cliniques…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cas avancés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résoudre un scénario d’incident critique (100 min)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3 — après-midi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Transfert en situation de travail : le plan 30-60-90 jours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· Évaluation finale (niveau 2 de Kirkpatrick)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plan d’action individuel et revue entre pairs (90 min)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VALEUR POUR CHAQUE PERSONA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Pourquoi chaque public doit suivre la formation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Formation TR-AI-01 — comportements, irritants et attentes de chaque persona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Sponsor exécutif — Directeur général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Décide sur des faits présentés en comités courts ; délègue l’exécution à l’équipe de management ; suit quelques indicateurs.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Dépenses de formation sans lien visible avec les objectifs stratégiques ; résultats du plan précédent difficiles à prouver ; audits ISO 7101 qui révèlent des écarts de compétences.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plan priorisé au service de la stratégie, un retour mesurable, et une équipe de management capable de conduire le changement.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 — directeur, responsable, pilote de processus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Arbitre entre opérations quotidiennes et projets d’amélioration ; préfère des formats pratiques et courts ; s’appuie sur des personnes clés de l’équipe.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Équipe absente du poste pendant des formations longues ; écarts de compétences sur les activités critiques de Soins cliniques et infirmiers ; processus non documentés ou sans pilote.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formations qui règlent les vrais problèmes de la fonction, appliquées dès la semaine suivante, avec des indicateurs que le manager peut suivre.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Membre de l’équipe — Soins cliniques et infirmiers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Apprend en faisant et auprès des pairs ; utilise plus le téléphone que l’ordinateur ; veut savoir ce qui change au quotidien.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Nouveaux outils introduits sans explication ; formations théoriques éloignées des tâches ; peur de se tromper avec Triage IA et aide à la décision clinique.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compétences pratiques reconnues par une attestation, moins de reprises, et un parcours clair vers le poste suivant.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INGÉNIERIE PÉDAGOGIQUE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Parcours, modules et ressources pédagogiques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3108960"/>
                <a:gridCol w="1645920"/>
                <a:gridCol w="82296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Parcours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Modalité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Heures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Conception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Classe virtuelle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371600"/>
                <a:gridCol w="2011680"/>
                <a:gridCol w="201168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Taille (Mo)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 de revue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Langue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Video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PDF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Capsule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5.3 et 5.4.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Alloué, engagé, consommé et remboursements attendus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Alloué 1 260 000, engagé 1 260 000 (100 %), réalisé 1 238 497 (98 % du prévu) ; remboursements attendus 352 800.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5715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Alloué (gris) et réel (azur) par formation (RIF 5.7).</a:t>
            </a:r>
            <a:endParaRPr lang="en-US" sz="10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Ligne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Rembours.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354 598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295 234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84 000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244 886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67 200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159 533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50 400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123 413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33 600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60 833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Total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1 238 497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352 800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Prestataire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Agrément jusqu’au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/5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Atlas Formation Conseil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2027-04-25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Maghreb Learning Partners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Déploiement, évaluation et audit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niveaux de Kirkpatrick, ROI, audit interne et retours d’expérience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 ET PRÉSENCE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sessions réalisées avec leurs inscriptions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82296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Capacité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Inscrits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7818120" y="182880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01928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215798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595360" y="197510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3" name="Text 8"/>
          <p:cNvSpPr txBox="1"/>
          <p:nvPr/>
        </p:nvSpPr>
        <p:spPr>
          <a:xfrm>
            <a:off x="8019288" y="259689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apprenants présents à leur session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7818120" y="324612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019288" y="346557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357530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595360" y="339242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8" name="Text 12"/>
          <p:cNvSpPr txBox="1"/>
          <p:nvPr/>
        </p:nvSpPr>
        <p:spPr>
          <a:xfrm>
            <a:off x="8019288" y="401421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inscriptions achevées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02920" y="3840480"/>
            <a:ext cx="33832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20" name="Image 3" descr="Capture d’écran de l’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86200"/>
            <a:ext cx="3291840" cy="20574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Une tâche du processus de déploiement avec ses étapes typées.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ÉVALUATION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Résultats mesurés sur trois niveaux de Kirkpatrick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Sm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2588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77 %</a:t>
            </a:r>
            <a:endParaRPr lang="en-US" sz="2500" dirty="0"/>
          </a:p>
        </p:txBody>
      </p:sp>
      <p:sp>
        <p:nvSpPr>
          <p:cNvPr id="12" name="Text 8"/>
          <p:cNvSpPr txBox="1"/>
          <p:nvPr/>
        </p:nvSpPr>
        <p:spPr>
          <a:xfrm>
            <a:off x="74980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— Réaction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9884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BookOpen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157984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07492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74 %</a:t>
            </a:r>
            <a:endParaRPr lang="en-US" sz="2500" dirty="0"/>
          </a:p>
        </p:txBody>
      </p:sp>
      <p:sp>
        <p:nvSpPr>
          <p:cNvPr id="17" name="Text 12"/>
          <p:cNvSpPr txBox="1"/>
          <p:nvPr/>
        </p:nvSpPr>
        <p:spPr>
          <a:xfrm>
            <a:off x="449884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— Apprentissage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24788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Foot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2157984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82396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75 %</a:t>
            </a:r>
            <a:endParaRPr lang="en-US" sz="2500" dirty="0"/>
          </a:p>
        </p:txBody>
      </p:sp>
      <p:sp>
        <p:nvSpPr>
          <p:cNvPr id="22" name="Text 16"/>
          <p:cNvSpPr txBox="1"/>
          <p:nvPr/>
        </p:nvSpPr>
        <p:spPr>
          <a:xfrm>
            <a:off x="824788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— Comportement</a:t>
            </a:r>
            <a:endParaRPr lang="en-US" sz="11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 qui est mesuré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Instrument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Résultats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— Réaction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et utilité perçue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 de chaque 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de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77 %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— Apprentissage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Connaissances et compétences acquises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 de la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Test avant/après, étude de cas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74 %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— Comportement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Mise en œuvre au poste de travail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Trois mois après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Grille d’observation du manager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 — Résultats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Effet sur les indicateurs de la 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Six à douze mois après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Indicateurs de la fonction (KPI)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4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Certifications (RIF 5.10) : 4 valides, 1 à échéance proche, 1 expirée — l’expirée déclenche une alerte et une session de renouvellement.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ET IMPACT MÉTIER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ROI de Phillips et indicateurs de l’étude ROI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de ROI et d’impact métier — Groupe Santéora Cliniques Privées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Trending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</a:t>
            </a:r>
            <a:endParaRPr lang="en-US" sz="2500" dirty="0"/>
          </a:p>
        </p:txBody>
      </p:sp>
      <p:sp>
        <p:nvSpPr>
          <p:cNvPr id="13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de la formation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4.5</a:t>
            </a:r>
            <a:endParaRPr lang="en-US" sz="2500" dirty="0"/>
          </a:p>
        </p:txBody>
      </p:sp>
      <p:sp>
        <p:nvSpPr>
          <p:cNvPr id="18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Satisfaction moyenne de niveau 1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75.6</a:t>
            </a:r>
            <a:endParaRPr lang="en-US" sz="2500" dirty="0"/>
          </a:p>
        </p:txBody>
      </p:sp>
      <p:sp>
        <p:nvSpPr>
          <p:cNvPr id="23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Taux de progression des compétences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4.1</a:t>
            </a:r>
            <a:endParaRPr lang="en-US" sz="2500" dirty="0"/>
          </a:p>
        </p:txBody>
      </p:sp>
      <p:sp>
        <p:nvSpPr>
          <p:cNvPr id="28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 d'exécution budgétaire</a:t>
            </a:r>
            <a:endParaRPr lang="en-US" sz="1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3931920"/>
                <a:gridCol w="1005840"/>
                <a:gridCol w="1645920"/>
                <a:gridCol w="10332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valeur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KPI-037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ROI de la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(Bénéfices nets du programme / coûts du programme) x 100 (Phillips)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108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moyenne de niveau 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moyen de réaction sur les sessions clôturées (1-5)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4,2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4.5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progression des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Apprenants gagnant au moins un niveau en 6 mois / apprenants formés x…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75.6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d'exécution budgétaire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|Réel - alloué| / alloué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4.1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recouvrement des remboursements OFPPT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Remboursements reçus / remboursements prévus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97.2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30" name="Text 22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rapport ROI et impact métier (DT-E2E-08), section indicateurs.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 INTERNE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d’audit — Groupe Santéora Cliniques Privées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Conforme avec une non-conformité mineure à corriger sous 60 jours.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Constats par niveau.</a:t>
            </a:r>
            <a:endParaRPr lang="en-US" sz="1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828800"/>
          <a:ext cx="62453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1097280"/>
                <a:gridCol w="3044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Exigence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Constat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Non-conformité mineure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Deux formateurs n’ont pas de preuve de compétence au dossier.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Observation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9.1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 évaluations de niveau 3 sont prévues mais pas encore planifiées.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Piste d’amélioration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7.1.6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Capitaliser les retours d’expérience à la fin de chaque session.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Point fort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Analyse des besoins entièrement tracée depuis les objectifs stratégiques.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Points forts: Analyse des besoins claire ; forte implication du management ; feuilles de présence complètes.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Suivi: Vérification de l’action corrective au prochain comité de pilotage.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RETOUR D’EXPÉRIENCE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REX — Triage IA et aide à la décision clinique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0" name="Image 1" descr="Thumbs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a bien fonctionné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registre des parties prenantes et la diffusion multicanale ont fait progresser le taux de réponse.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3355848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584448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2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6122" y="218907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584448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n’a pas fonctionné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3584448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éléments SWOT d'une fonction sont arrivés en retard.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163056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FF3B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391656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18907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Cause racine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6391656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Aucun suppléant désigné pour le responsable de fonction.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8970264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9198864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5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538" y="21890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9198864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ferons la prochaine fois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9198864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Désigner un suppléant pour chaque responsable de fonction dès le lancement.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 en français, chacun relié à ses données</a:t>
            </a:r>
            <a:endParaRPr lang="en-US" sz="1800" dirty="0"/>
          </a:p>
        </p:txBody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processus de bout en bout laisse son document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Tous publiés, versionnés et approuvés par une seconde personne — 1 129 pages.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annuel de formation et budget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 des écarts de compétences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des besoins de formation et feuille de route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conception pédagogique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réalisation des formations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d’engagement des apprenants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d’évaluation des formations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ROI et d’impact métier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Registre de conformité et des certifications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Mobilité interne et parcours de carrière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du programme d’intégration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Capitalisation et transfert des connaissances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Catalogue et cycle de vie des contenus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formation de l’entreprise étendue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Gouvernance des données, de l’IA et des intégrations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gestion des prestataires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conduite du changement et d’adoption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qualité, risques et amélioration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clôture de mission de conseil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diagnostic multi-axes et de maturité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 (suite)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Évaluation de l’impact du plan précédent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déploiement multi-sites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soumission réglementaire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Note de veille concurrentielle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Architecture des emplois et cartographie des compétences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Gestion prévisionnelle des emplois et compétences (GPEC)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Consolidation des demandes de 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Évaluation des performances et tableau RAG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 fonctionnel et axes d’amélioration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ressources priorisé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Feuille de route post-mission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Cahier des charges et registre des parties prenantes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campagne de questionnaires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d’ingénierie de formation et plan de 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formation avec programmes détaillés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DT-MASTER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Liste maîtresse des informations documentées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TRAÇABILITÉ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chiffre du rapport provient d’un enregistrement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tableau de ce document provient des enregistrements de l’application ; données au 07/10/2026 15:27:56.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Enreg.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modif.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Réponses aux questionnaires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Stakeholder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ScopeCriterion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SkillAssessment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TrainingNeed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RoadmapInitiative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WbsNode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TrainingPlan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Employee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StrategicObjective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269480" y="1828800"/>
            <a:ext cx="4370832" cy="4023360"/>
          </a:xfrm>
          <a:prstGeom prst="roundRect">
            <a:avLst>
              <a:gd name="adj" fmla="val 2273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4980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Gouvernance des documents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7498080" y="246888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3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252" y="2561052"/>
            <a:ext cx="199705" cy="1997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046720" y="244144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Auteur Hicham Naciri, approbateur Mehdi Lahlou : deux personnes différentes.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7498080" y="352044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0252" y="3612612"/>
            <a:ext cx="199705" cy="19970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046720" y="349300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version est conservée ; un changement des données marque le document comme obsolète.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9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252" y="4664172"/>
            <a:ext cx="199705" cy="19970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046720" y="454456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sources de données listées avec leur nombre d’enregistrements et leur processus.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DANS L’APPLICATION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plan de formation tel que les utilisateurs le voient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avec programmes détaillés — Groupe Santéora Cliniques Privées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2" descr="Capture d’écran de l’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Écran du plan de formation : programmes, formations et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DANS L’APPLICATION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L’espace projet et le tableau de bord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9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Espace projet : phases, processus et avancement.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2" descr="Capture d’écran de l’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Tableau de bord du groupe de cliniques.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 groupe obtient en fin de cycle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5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  ·  Données de démonstration — organisation fictive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9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Rapport d’ingénierie de formation de 206 pages, construit à partir de 35 réponses, 40 parties prenantes et du diagnostic de chaque fonction.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2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Plan de formation verrouillé : 6 formations, des déroulés par demi-journée, une proposition de valeur par persona et un budget de 1 260 000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5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Une évaluation sur trois niveaux de Kirkpatrick, une étude ROI, des certifications suivies et un audit interne avec une non-conformité mineure à corriger.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8" name="Image 4" descr="CircleD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prêts pour un audit d’accréditation (ISO 7101, JCI), chacun relié aux données et à l’étape qui l’a produit.</a:t>
            </a:r>
            <a:endParaRPr lang="en-US" sz="1500" dirty="0"/>
          </a:p>
        </p:txBody>
      </p:sp>
      <p:sp>
        <p:nvSpPr>
          <p:cNvPr id="20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Ensuite : vagues 2 et 3 de la feuille de route et évaluation de niveau 4 (résultats) six à douze mois après les formations.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9928" y="1371600"/>
            <a:ext cx="3291840" cy="234452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Merci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 complet santé — Projet d’ingénierie de formation</dc:title>
  <dc:subject>PptxGenJS Presentation</dc:subject>
  <dc:creator>AI Value</dc:creator>
  <cp:lastModifiedBy>AI Value</cp:lastModifiedBy>
  <cp:revision>1</cp:revision>
  <dcterms:created xsi:type="dcterms:W3CDTF">2026-10-12T16:55:37Z</dcterms:created>
  <dcterms:modified xsi:type="dcterms:W3CDTF">2026-10-12T16:55:37Z</dcterms:modified>
</cp:coreProperties>
</file>
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2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3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4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5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charts/chart6.xml" ContentType="application/vnd.openxmlformats-officedocument.drawingml.chart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charts/chart7.xml" ContentType="application/vnd.openxmlformats-officedocument.drawingml.chart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8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notesMasterIdLst>
    <p:notesMasterId r:id="rId5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notesMaster" Target="notesMasters/notesMaster1.xml"/><Relationship Id="rId53" Type="http://schemas.openxmlformats.org/officeDocument/2006/relationships/presProps" Target="presProps.xml"/><Relationship Id="rId54" Type="http://schemas.openxmlformats.org/officeDocument/2006/relationships/viewProps" Target="viewProps.xml"/><Relationship Id="rId55" Type="http://schemas.openxmlformats.org/officeDocument/2006/relationships/theme" Target="theme/theme1.xml"/><Relationship Id="rId5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Direction générale</c:v>
                </c:pt>
              </c:strCache>
            </c:strRef>
          </c:tx>
          <c:spPr>
            <a:solidFill>
              <a:srgbClr val="123A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Finance</c:v>
                  </c:pt>
                  <c:pt idx="3">
                    <c:v>Ressources humaines</c:v>
                  </c:pt>
                  <c:pt idx="4">
                    <c:v>Ventes et marketing</c:v>
                  </c:pt>
                  <c:pt idx="5">
                    <c:v>Systèmes d'information</c:v>
                  </c:pt>
                  <c:pt idx="6">
                    <c:v>Soins cliniques et infirmiers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Management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Finance</c:v>
                  </c:pt>
                  <c:pt idx="3">
                    <c:v>Ressources humaines</c:v>
                  </c:pt>
                  <c:pt idx="4">
                    <c:v>Ventes et marketing</c:v>
                  </c:pt>
                  <c:pt idx="5">
                    <c:v>Systèmes d'information</c:v>
                  </c:pt>
                  <c:pt idx="6">
                    <c:v>Soins cliniques et infirmiers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  <c:pt idx="5">
                  <c:v>3</c:v>
                </c:pt>
                <c:pt idx="6">
                  <c:v>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Membre de l’équipe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Finance</c:v>
                  </c:pt>
                  <c:pt idx="3">
                    <c:v>Ressources humaines</c:v>
                  </c:pt>
                  <c:pt idx="4">
                    <c:v>Ventes et marketing</c:v>
                  </c:pt>
                  <c:pt idx="5">
                    <c:v>Systèmes d'information</c:v>
                  </c:pt>
                  <c:pt idx="6">
                    <c:v>Soins cliniques et infirmiers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2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  <c:pt idx="4">
                  <c:v>2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Taux de réponse (%)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Opérations</c:v>
                  </c:pt>
                  <c:pt idx="1">
                    <c:v>Qualité et HSE</c:v>
                  </c:pt>
                  <c:pt idx="2">
                    <c:v>Ressources humaines</c:v>
                  </c:pt>
                  <c:pt idx="3">
                    <c:v>Ventes et marketing</c:v>
                  </c:pt>
                  <c:pt idx="4">
                    <c:v>Systèmes d'information</c:v>
                  </c:pt>
                  <c:pt idx="5">
                    <c:v>Soins cliniques et infirmiers</c:v>
                  </c:pt>
                  <c:pt idx="6">
                    <c:v>Finance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83</c:v>
                </c:pt>
                <c:pt idx="1">
                  <c:v>83</c:v>
                </c:pt>
                <c:pt idx="2">
                  <c:v>83</c:v>
                </c:pt>
                <c:pt idx="3">
                  <c:v>83</c:v>
                </c:pt>
                <c:pt idx="4">
                  <c:v>100</c:v>
                </c:pt>
                <c:pt idx="5">
                  <c:v>100</c:v>
                </c:pt>
                <c:pt idx="6">
                  <c:v>83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Score (sur 5)</c:v>
                </c:pt>
              </c:strCache>
            </c:strRef>
          </c:tx>
          <c:spPr>
            <a:solidFill>
              <a:srgbClr val="1876C6"/>
            </a:solidFill>
            <a:ln w="25400" cap="flat">
              <a:solidFill>
                <a:srgbClr val="1876C6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1876C6"/>
              </a:solidFill>
              <a:ln w="9525" cap="flat">
                <a:solidFill>
                  <a:srgbClr val="1876C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 et compétences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Cible</c:v>
                </c:pt>
              </c:strCache>
            </c:strRef>
          </c:tx>
          <c:spPr>
            <a:solidFill>
              <a:srgbClr val="5A6B7B"/>
            </a:solidFill>
            <a:ln w="25400" cap="flat">
              <a:solidFill>
                <a:srgbClr val="5A6B7B"/>
              </a:solidFill>
              <a:prstDash val="solid,dash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5A6B7B"/>
              </a:solidFill>
              <a:ln w="9525" cap="flat">
                <a:solidFill>
                  <a:srgbClr val="5A6B7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Stratégie</c:v>
                  </c:pt>
                  <c:pt idx="1">
                    <c:v>Organisation</c:v>
                  </c:pt>
                  <c:pt idx="2">
                    <c:v>Processus</c:v>
                  </c:pt>
                  <c:pt idx="3">
                    <c:v>Personnes et compétences</c:v>
                  </c:pt>
                  <c:pt idx="4">
                    <c:v>Systèmes d’information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4</c:v>
                </c:pt>
                <c:pt idx="1">
                  <c:v>4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Mentions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Triage IA et aide à la décision clinique</c:v>
                  </c:pt>
                  <c:pt idx="1">
                    <c:v>Assistance IA en imagerie médicale</c:v>
                  </c:pt>
                  <c:pt idx="2">
                    <c:v>Planification IA des lits et des effect…</c:v>
                  </c:pt>
                  <c:pt idx="3">
                    <c:v>Communication avec l’équipe</c:v>
                  </c:pt>
                  <c:pt idx="4">
                    <c:v>Résolution de problèmes</c:v>
                  </c:pt>
                  <c:pt idx="5">
                    <c:v>Gestion du temps et priorités</c:v>
                  </c:pt>
                  <c:pt idx="6">
                    <c:v>Exigences ISO 7101</c:v>
                  </c:pt>
                  <c:pt idx="7">
                    <c:v>Tableaux de bord</c:v>
                  </c:pt>
                  <c:pt idx="8">
                    <c:v>qualité des données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94</c:v>
                </c:pt>
                <c:pt idx="1">
                  <c:v>94</c:v>
                </c:pt>
                <c:pt idx="2">
                  <c:v>91</c:v>
                </c:pt>
                <c:pt idx="3">
                  <c:v>89</c:v>
                </c:pt>
                <c:pt idx="4">
                  <c:v>89</c:v>
                </c:pt>
                <c:pt idx="5">
                  <c:v>70</c:v>
                </c:pt>
                <c:pt idx="6">
                  <c:v>52</c:v>
                </c:pt>
                <c:pt idx="7">
                  <c:v>52</c:v>
                </c:pt>
                <c:pt idx="8">
                  <c:v>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Part des répondants</c:v>
                </c:pt>
              </c:strCache>
            </c:strRef>
          </c:tx>
          <c:spPr>
            <a:solidFill>
              <a:srgbClr val="17A2B8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Productivité personnelle</c:v>
                  </c:pt>
                  <c:pt idx="1">
                    <c:v>Leadership personnel</c:v>
                  </c:pt>
                  <c:pt idx="2">
                    <c:v>Leadership appliqué aux équipes</c:v>
                  </c:pt>
                  <c:pt idx="3">
                    <c:v>Leadership d’une sous-fonction de…</c:v>
                  </c:pt>
                  <c:pt idx="4">
                    <c:v>Leadership d’une fonction ou de t…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28.4</c:v>
                </c:pt>
                <c:pt idx="1">
                  <c:v>18.3</c:v>
                </c:pt>
                <c:pt idx="2">
                  <c:v>12.4</c:v>
                </c:pt>
                <c:pt idx="3">
                  <c:v>7.8</c:v>
                </c:pt>
                <c:pt idx="4">
                  <c:v>3.6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Budget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déci…</c:v>
                  </c:pt>
                  <c:pt idx="1">
                    <c:v>Assistance IA en imagerie m…</c:v>
                  </c:pt>
                  <c:pt idx="2">
                    <c:v>Planification IA des lits e…</c:v>
                  </c:pt>
                  <c:pt idx="3">
                    <c:v>Littératie en IA pour tous</c:v>
                  </c:pt>
                  <c:pt idx="4">
                    <c:v>Prompting et IA générative …</c:v>
                  </c:pt>
                  <c:pt idx="5">
                    <c:v>IA responsable et protectio…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Alloué</c:v>
                </c:pt>
              </c:strCache>
            </c:strRef>
          </c:tx>
          <c:spPr>
            <a:solidFill>
              <a:srgbClr val="5A6B7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dé…</c:v>
                  </c:pt>
                  <c:pt idx="1">
                    <c:v>Assistance IA en imagerie…</c:v>
                  </c:pt>
                  <c:pt idx="2">
                    <c:v>Planification IA des lits…</c:v>
                  </c:pt>
                  <c:pt idx="3">
                    <c:v>Littératie en IA pour tous</c:v>
                  </c:pt>
                  <c:pt idx="4">
                    <c:v>Prompting et IA générativ…</c:v>
                  </c:pt>
                  <c:pt idx="5">
                    <c:v>IA responsable et protect…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Réel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Triage IA et aide à la dé…</c:v>
                  </c:pt>
                  <c:pt idx="1">
                    <c:v>Assistance IA en imagerie…</c:v>
                  </c:pt>
                  <c:pt idx="2">
                    <c:v>Planification IA des lits…</c:v>
                  </c:pt>
                  <c:pt idx="3">
                    <c:v>Littératie en IA pour tous</c:v>
                  </c:pt>
                  <c:pt idx="4">
                    <c:v>Prompting et IA générativ…</c:v>
                  </c:pt>
                  <c:pt idx="5">
                    <c:v>IA responsable et protect…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354598</c:v>
                </c:pt>
                <c:pt idx="1">
                  <c:v>295234</c:v>
                </c:pt>
                <c:pt idx="2">
                  <c:v>244886</c:v>
                </c:pt>
                <c:pt idx="3">
                  <c:v>159533</c:v>
                </c:pt>
                <c:pt idx="4">
                  <c:v>123413</c:v>
                </c:pt>
                <c:pt idx="5">
                  <c:v>60833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A6B7B"/>
              </a:solidFill>
              <a:latin typeface="Open Sans"/>
              <a:cs typeface="Open Sa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Constats</c:v>
                </c:pt>
              </c:strCache>
            </c:strRef>
          </c:tx>
          <c:spPr>
            <a:solidFill>
              <a:srgbClr val="1876C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00" u="none">
                    <a:solidFill>
                      <a:srgbClr val="123A5F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Non-conformité majeure</c:v>
                  </c:pt>
                  <c:pt idx="1">
                    <c:v>Non-conformité mineure</c:v>
                  </c:pt>
                  <c:pt idx="2">
                    <c:v>Observation</c:v>
                  </c:pt>
                  <c:pt idx="3">
                    <c:v>Piste d’amélioration</c:v>
                  </c:pt>
                  <c:pt idx="4">
                    <c:v>Point fort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00" u="none">
                  <a:solidFill>
                    <a:srgbClr val="123A5F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E1E8F0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"/>
        </c:scaling>
        <c:delete val="0"/>
        <c:axPos val="b"/>
        <c:majorGridlines>
          <c:spPr>
            <a:ln w="9525" cap="flat">
              <a:solidFill>
                <a:srgbClr val="E1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7B"/>
                </a:solidFill>
                <a:latin typeface="Open Sa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4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5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1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13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1" Type="http://schemas.openxmlformats.org/officeDocument/2006/relationships/image" Target="../media/image-1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4.xml"/><Relationship Id="rId1" Type="http://schemas.openxmlformats.org/officeDocument/2006/relationships/image" Target="../media/image-1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1" Type="http://schemas.openxmlformats.org/officeDocument/2006/relationships/image" Target="../media/image-3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7.xml"/><Relationship Id="rId1" Type="http://schemas.openxmlformats.org/officeDocument/2006/relationships/image" Target="../media/image-3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38-2.png"/><Relationship Id="rId3" Type="http://schemas.openxmlformats.org/officeDocument/2006/relationships/image" Target="../media/image-38-3.png"/><Relationship Id="rId4" Type="http://schemas.openxmlformats.org/officeDocument/2006/relationships/image" Target="../media/image-3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image" Target="../media/image-39-2.png"/><Relationship Id="rId3" Type="http://schemas.openxmlformats.org/officeDocument/2006/relationships/image" Target="../media/image-39-3.png"/><Relationship Id="rId4" Type="http://schemas.openxmlformats.org/officeDocument/2006/relationships/image" Target="../media/image-3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image" Target="../media/image-40-2.png"/><Relationship Id="rId3" Type="http://schemas.openxmlformats.org/officeDocument/2006/relationships/image" Target="../media/image-40-3.png"/><Relationship Id="rId4" Type="http://schemas.openxmlformats.org/officeDocument/2006/relationships/image" Target="../media/image-40-4.png"/><Relationship Id="rId5" Type="http://schemas.openxmlformats.org/officeDocument/2006/relationships/image" Target="../media/image-4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1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image" Target="../media/image-42-3.png"/><Relationship Id="rId4" Type="http://schemas.openxmlformats.org/officeDocument/2006/relationships/image" Target="../media/image-42-4.png"/><Relationship Id="rId5" Type="http://schemas.openxmlformats.org/officeDocument/2006/relationships/image" Target="../media/image-4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image" Target="../media/image-46-2.png"/><Relationship Id="rId3" Type="http://schemas.openxmlformats.org/officeDocument/2006/relationships/image" Target="../media/image-46-3.png"/><Relationship Id="rId4" Type="http://schemas.openxmlformats.org/officeDocument/2006/relationships/image" Target="../media/image-4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image" Target="../media/image-4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image" Target="../media/image-49-3.png"/><Relationship Id="rId4" Type="http://schemas.openxmlformats.org/officeDocument/2006/relationships/image" Target="../media/image-49-4.png"/><Relationship Id="rId5" Type="http://schemas.openxmlformats.org/officeDocument/2006/relationships/image" Target="../media/image-49-5.png"/><Relationship Id="rId6" Type="http://schemas.openxmlformats.org/officeDocument/2006/relationships/image" Target="../media/image-4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138160" y="-2011680"/>
            <a:ext cx="6858000" cy="6858000"/>
          </a:xfrm>
          <a:prstGeom prst="ellipse">
            <a:avLst/>
          </a:prstGeom>
          <a:solidFill>
            <a:srgbClr val="1876C6">
              <a:alpha val="18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pic>
        <p:nvPicPr>
          <p:cNvPr id="4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743200" cy="50673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18288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CAS COMPLET · SANTÉ · 2026</a:t>
            </a:r>
            <a:endParaRPr lang="en-US" sz="14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2240280"/>
            <a:ext cx="5760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Ingénierie de formation aux compétences IA dans un groupe de cliniques privées</a:t>
            </a:r>
            <a:endParaRPr lang="en-US" sz="36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4069080"/>
            <a:ext cx="5486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Santéora Cliniques Privées : le projet, le Rapport d’ingénierie de formation, le Plan de formation et chaque document produit avec CortexSkills</a:t>
            </a:r>
            <a:endParaRPr lang="en-US" sz="17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60807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6537960" y="1691640"/>
            <a:ext cx="5212080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1" descr="CortexSkill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737360"/>
            <a:ext cx="5120640" cy="32004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SOMMAIRE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Déroulé de la présentation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Sommaire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Hospit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groupe de cliniques et le projet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Contexte, charte, périmètre, méthode, calendrier</a:t>
            </a:r>
            <a:endParaRPr lang="en-US" sz="1250" dirty="0"/>
          </a:p>
        </p:txBody>
      </p:sp>
      <p:sp>
        <p:nvSpPr>
          <p:cNvPr id="15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Steth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200" dirty="0"/>
          </a:p>
        </p:txBody>
      </p:sp>
      <p:sp>
        <p:nvSpPr>
          <p:cNvPr id="19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20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Questionnaires, maturité, écarts, besoins</a:t>
            </a:r>
            <a:endParaRPr lang="en-US" sz="1250" dirty="0"/>
          </a:p>
        </p:txBody>
      </p:sp>
      <p:sp>
        <p:nvSpPr>
          <p:cNvPr id="21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3" name="Image 3" descr="FileTex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4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200" dirty="0"/>
          </a:p>
        </p:txBody>
      </p:sp>
      <p:sp>
        <p:nvSpPr>
          <p:cNvPr id="25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</a:t>
            </a:r>
            <a:endParaRPr lang="en-US" sz="1600" dirty="0"/>
          </a:p>
        </p:txBody>
      </p:sp>
      <p:sp>
        <p:nvSpPr>
          <p:cNvPr id="26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Structure, constats, feuille de route, risques</a:t>
            </a:r>
            <a:endParaRPr lang="en-US" sz="1250" dirty="0"/>
          </a:p>
        </p:txBody>
      </p:sp>
      <p:sp>
        <p:nvSpPr>
          <p:cNvPr id="27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9" name="Image 4" descr="GraduationCap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30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200" dirty="0"/>
          </a:p>
        </p:txBody>
      </p:sp>
      <p:sp>
        <p:nvSpPr>
          <p:cNvPr id="31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de formation</a:t>
            </a:r>
            <a:endParaRPr lang="en-US" sz="1600" dirty="0"/>
          </a:p>
        </p:txBody>
      </p:sp>
      <p:sp>
        <p:nvSpPr>
          <p:cNvPr id="32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Programmes, déroulés, conception, budget</a:t>
            </a:r>
            <a:endParaRPr lang="en-US" sz="1250" dirty="0"/>
          </a:p>
        </p:txBody>
      </p:sp>
      <p:sp>
        <p:nvSpPr>
          <p:cNvPr id="33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4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5" name="Image 5" descr="ChartColum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2200" dirty="0"/>
          </a:p>
        </p:txBody>
      </p:sp>
      <p:sp>
        <p:nvSpPr>
          <p:cNvPr id="37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Déploiement, évaluation et audit</a:t>
            </a:r>
            <a:endParaRPr lang="en-US" sz="1600" dirty="0"/>
          </a:p>
        </p:txBody>
      </p:sp>
      <p:sp>
        <p:nvSpPr>
          <p:cNvPr id="38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Kirkpatrick, ROI, audit</a:t>
            </a:r>
            <a:endParaRPr lang="en-US" sz="1250" dirty="0"/>
          </a:p>
        </p:txBody>
      </p:sp>
      <p:sp>
        <p:nvSpPr>
          <p:cNvPr id="39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40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1" name="Image 6" descr="FileSta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2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2200" dirty="0"/>
          </a:p>
        </p:txBody>
      </p:sp>
      <p:sp>
        <p:nvSpPr>
          <p:cNvPr id="43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produits</a:t>
            </a:r>
            <a:endParaRPr lang="en-US" sz="1600" dirty="0"/>
          </a:p>
        </p:txBody>
      </p:sp>
      <p:sp>
        <p:nvSpPr>
          <p:cNvPr id="44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publiés, tracés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SYNTHÈSE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Un cycle complet de compétences IA, documenté de bout en bout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Santéora Cliniques Privées · 2 600 collaborateurs · Déroulé complet compétences IA 2026 — Groupe Santéora Cliniques Privées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Synthèse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2" name="Image 1" descr="Circ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100 %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du déroulé réalisé — 35 processus de bout en bout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/ 40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personnes ont répondu aux questionnaires (88 %)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6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formations dans 2 programmes, priorisées par impact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7" name="Image 4" descr="Wall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1 260 000</a:t>
            </a:r>
            <a:endParaRPr lang="en-US" sz="2500" dirty="0"/>
          </a:p>
        </p:txBody>
      </p:sp>
      <p:sp>
        <p:nvSpPr>
          <p:cNvPr id="29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de formation ; 1 238 497 consommés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48640" y="3291840"/>
            <a:ext cx="11094415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68680" y="3456432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montre le cas</a:t>
            </a:r>
            <a:endParaRPr lang="en-US" sz="1700" dirty="0"/>
          </a:p>
        </p:txBody>
      </p:sp>
      <p:sp>
        <p:nvSpPr>
          <p:cNvPr id="32" name="Shape 24"/>
          <p:cNvSpPr/>
          <p:nvPr/>
        </p:nvSpPr>
        <p:spPr>
          <a:xfrm>
            <a:off x="868680" y="393192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3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024092"/>
            <a:ext cx="199705" cy="1997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417320" y="3904488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: « Systèmes d’information » est l’axe le plus faible (2 / 5) ; le plus grand écart est « Planification IA des lits et des effectifs » (écart moyen 3.0).</a:t>
            </a:r>
            <a:endParaRPr lang="en-US" sz="1350" dirty="0"/>
          </a:p>
        </p:txBody>
      </p:sp>
      <p:sp>
        <p:nvSpPr>
          <p:cNvPr id="35" name="Shape 26"/>
          <p:cNvSpPr/>
          <p:nvPr/>
        </p:nvSpPr>
        <p:spPr>
          <a:xfrm>
            <a:off x="868680" y="4462272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6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554444"/>
            <a:ext cx="199705" cy="1997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417320" y="4434840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besoins de formation ont été validés et regroupés en 6 thèmes, déployés en 4 initiatives sur trois vagues.</a:t>
            </a:r>
            <a:endParaRPr lang="en-US" sz="1350" dirty="0"/>
          </a:p>
        </p:txBody>
      </p:sp>
      <p:sp>
        <p:nvSpPr>
          <p:cNvPr id="38" name="Shape 28"/>
          <p:cNvSpPr/>
          <p:nvPr/>
        </p:nvSpPr>
        <p:spPr>
          <a:xfrm>
            <a:off x="868680" y="4992624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9" name="Image 7" descr="ShieldChec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0852" y="5084796"/>
            <a:ext cx="199705" cy="199705"/>
          </a:xfrm>
          <a:prstGeom prst="rect">
            <a:avLst/>
          </a:prstGeom>
        </p:spPr>
      </p:pic>
      <p:sp>
        <p:nvSpPr>
          <p:cNvPr id="40" name="Text 29"/>
          <p:cNvSpPr txBox="1"/>
          <p:nvPr/>
        </p:nvSpPr>
        <p:spPr>
          <a:xfrm>
            <a:off x="1417320" y="4965192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Résultats Kirkpatrick 77 % · 74 % · 75 % ; ROI de la formation 108 % (cible ≥ 100 %).</a:t>
            </a:r>
            <a:endParaRPr lang="en-US" sz="1350" dirty="0"/>
          </a:p>
        </p:txBody>
      </p:sp>
      <p:sp>
        <p:nvSpPr>
          <p:cNvPr id="41" name="Shape 30"/>
          <p:cNvSpPr/>
          <p:nvPr/>
        </p:nvSpPr>
        <p:spPr>
          <a:xfrm>
            <a:off x="868680" y="5522976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42" name="Image 8" descr="CircleDo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60852" y="5615148"/>
            <a:ext cx="199705" cy="199705"/>
          </a:xfrm>
          <a:prstGeom prst="rect">
            <a:avLst/>
          </a:prstGeom>
        </p:spPr>
      </p:pic>
      <p:sp>
        <p:nvSpPr>
          <p:cNvPr id="43" name="Text 31"/>
          <p:cNvSpPr txBox="1"/>
          <p:nvPr/>
        </p:nvSpPr>
        <p:spPr>
          <a:xfrm>
            <a:off x="1417320" y="5495544"/>
            <a:ext cx="9905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publiés, 1 129 pages ; le Rapport d’ingénierie de formation compte à lui seul 206 pages.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groupe de cliniques et le projet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Contexte, charte, périmètre, méthode et calendrier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CONTEXTE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Groupe Santéora Cliniques Privées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Groupe Santéora Cliniques Privées opère dans le secteur Établissements de santé, à Casablanca, avec 2600 salariés.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9377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Sujet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Devenir la référence du secteur Établissements de santé dans la région, avec des équipes formées aux meilleurs standards.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Offrir un service sûr et conforme grâce à des équipes compétentes et des processus maîtrisés.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Valeurs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Engagement · Excellence · Partage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Contexte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Concurrence forte, audits ISO 7101 plus stricts et arrivée de Triage IA et aide à la décision clinique.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Produits — existants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Services de base de 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Produits — nouveaux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Services numériques appuyés sur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Segments du marché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Grands comptes · Secteur public · Particuliers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589520" y="1828800"/>
            <a:ext cx="4050792" cy="4206240"/>
          </a:xfrm>
          <a:prstGeom prst="roundRect">
            <a:avLst>
              <a:gd name="adj" fmla="val 225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Organigramme et effectif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818120" y="2423160"/>
          <a:ext cx="3611880" cy="914400"/>
        </p:xfrm>
        <a:graphic>
          <a:graphicData uri="http://schemas.openxmlformats.org/drawingml/2006/table">
            <a:tbl>
              <a:tblPr/>
              <a:tblGrid>
                <a:gridCol w="26060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Effectif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PROFIL DU GROUPE DE CLINIQUES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Dates clés et SWOT du groupe de cliniques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2008</a:t>
            </a:r>
            <a:endParaRPr lang="en-US" sz="22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Création de l’entreprise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3355848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3584448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2014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584448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Ouverture du deuxième site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6163056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6391656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2019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391656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Certification ISO 7101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8970264" y="1828800"/>
            <a:ext cx="2651760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9198864" y="193852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2025</a:t>
            </a:r>
            <a:endParaRPr lang="en-US" sz="2200" dirty="0"/>
          </a:p>
        </p:txBody>
      </p:sp>
      <p:sp>
        <p:nvSpPr>
          <p:cNvPr id="20" name="Text 16"/>
          <p:cNvSpPr txBox="1"/>
          <p:nvPr/>
        </p:nvSpPr>
        <p:spPr>
          <a:xfrm>
            <a:off x="9198864" y="24231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Lancement du programme de transformation numérique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548640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B6D7A8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749808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Forces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749808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Équipe expérimentée et engagée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Bonne connaissance du marché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Processus stables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3355848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557016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Axes d’amélioration</a:t>
            </a:r>
            <a:endParaRPr lang="en-US" sz="1400" dirty="0"/>
          </a:p>
        </p:txBody>
      </p:sp>
      <p:sp>
        <p:nvSpPr>
          <p:cNvPr id="26" name="Text 22"/>
          <p:cNvSpPr txBox="1"/>
          <p:nvPr/>
        </p:nvSpPr>
        <p:spPr>
          <a:xfrm>
            <a:off x="3557016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Faible usage de Triage IA et aide à la décision clinique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Reporting tenu sur des tableurs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Faible usage de Assistance IA en imagerie médicale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Peu de polyvalence entre les postes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Faible usage de Planification IA des lits et des effectifs</a:t>
            </a:r>
            <a:endParaRPr lang="en-US" sz="1150" dirty="0"/>
          </a:p>
        </p:txBody>
      </p:sp>
      <p:sp>
        <p:nvSpPr>
          <p:cNvPr id="27" name="Shape 23"/>
          <p:cNvSpPr/>
          <p:nvPr/>
        </p:nvSpPr>
        <p:spPr>
          <a:xfrm>
            <a:off x="6163056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D9EAD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6364224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Opportunités</a:t>
            </a:r>
            <a:endParaRPr lang="en-US" sz="1400" dirty="0"/>
          </a:p>
        </p:txBody>
      </p:sp>
      <p:sp>
        <p:nvSpPr>
          <p:cNvPr id="29" name="Text 25"/>
          <p:cNvSpPr txBox="1"/>
          <p:nvPr/>
        </p:nvSpPr>
        <p:spPr>
          <a:xfrm>
            <a:off x="6364224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Demande de services numériques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Contrats de formation remboursés par l’OFPPT</a:t>
            </a:r>
            <a:endParaRPr lang="en-US" sz="1150" dirty="0"/>
          </a:p>
        </p:txBody>
      </p:sp>
      <p:sp>
        <p:nvSpPr>
          <p:cNvPr id="30" name="Shape 26"/>
          <p:cNvSpPr/>
          <p:nvPr/>
        </p:nvSpPr>
        <p:spPr>
          <a:xfrm>
            <a:off x="8970264" y="3246120"/>
            <a:ext cx="2651760" cy="2834640"/>
          </a:xfrm>
          <a:prstGeom prst="roundRect">
            <a:avLst>
              <a:gd name="adj" fmla="val 3448"/>
            </a:avLst>
          </a:prstGeom>
          <a:solidFill>
            <a:srgbClr val="FBE0B5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9171432" y="33649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Menaces</a:t>
            </a:r>
            <a:endParaRPr lang="en-US" sz="1400" dirty="0"/>
          </a:p>
        </p:txBody>
      </p:sp>
      <p:sp>
        <p:nvSpPr>
          <p:cNvPr id="32" name="Text 28"/>
          <p:cNvSpPr txBox="1"/>
          <p:nvPr/>
        </p:nvSpPr>
        <p:spPr>
          <a:xfrm>
            <a:off x="9171432" y="3767328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Audits ISO 7101 plus stricts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Départ d’experts clés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48640" y="6126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1.3 et 1.4.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CHARTE DU PROJET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Déroulé complet compétences IA 2026 — Groupe Santéora Cliniques Privées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Cycle d'ingénierie de formation centré sur les compétences IA pour le secteur Établissements de santé : périmètre, preuves, diagnostic, rapport, déploiement, évaluation et amélioration continue.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13969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2" name="Image 1" descr="Gau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24942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72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score de complexité (sur 100) : déroulé complet avec jalons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57016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24942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33088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parties prenantes enregistrées et consultées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64224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Crosshai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24942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40296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17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6364224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critères de périmètre approuvés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171432" y="213969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7" name="Image 4" descr="Layer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24942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206654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MS · MO · OP</a:t>
            </a:r>
            <a:endParaRPr lang="en-US" sz="2500" dirty="0"/>
          </a:p>
        </p:txBody>
      </p:sp>
      <p:sp>
        <p:nvSpPr>
          <p:cNvPr id="29" name="Text 21"/>
          <p:cNvSpPr txBox="1"/>
          <p:nvPr/>
        </p:nvSpPr>
        <p:spPr>
          <a:xfrm>
            <a:off x="9171432" y="268833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niveaux de décision couverts (stratégique, intermédiaire, opérationnel)</a:t>
            </a:r>
            <a:endParaRPr lang="en-US" sz="1100" dirty="0"/>
          </a:p>
        </p:txBody>
      </p:sp>
      <p:sp>
        <p:nvSpPr>
          <p:cNvPr id="30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1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Objectifs stratégiques</a:t>
            </a:r>
            <a:endParaRPr lang="en-US" sz="1700" dirty="0"/>
          </a:p>
        </p:txBody>
      </p:sp>
      <p:sp>
        <p:nvSpPr>
          <p:cNvPr id="32" name="Shape 24"/>
          <p:cNvSpPr/>
          <p:nvPr/>
        </p:nvSpPr>
        <p:spPr>
          <a:xfrm>
            <a:off x="868680" y="411480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33" name="Image 5" descr="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0852" y="4206972"/>
            <a:ext cx="199705" cy="199705"/>
          </a:xfrm>
          <a:prstGeom prst="rect">
            <a:avLst/>
          </a:prstGeom>
        </p:spPr>
      </p:pic>
      <p:sp>
        <p:nvSpPr>
          <p:cNvPr id="34" name="Text 25"/>
          <p:cNvSpPr txBox="1"/>
          <p:nvPr/>
        </p:nvSpPr>
        <p:spPr>
          <a:xfrm>
            <a:off x="1417320" y="40873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SO-1 — Adopter Triage IA et aide à la décision clinique dans Soins cliniques et infirmiers d'ici fin 2027 (échéance 2027-12-31)</a:t>
            </a:r>
            <a:endParaRPr lang="en-US" sz="1400" dirty="0"/>
          </a:p>
        </p:txBody>
      </p:sp>
      <p:sp>
        <p:nvSpPr>
          <p:cNvPr id="35" name="Shape 26"/>
          <p:cNvSpPr/>
          <p:nvPr/>
        </p:nvSpPr>
        <p:spPr>
          <a:xfrm>
            <a:off x="868680" y="48006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6" name="Image 6" descr="ArrowRight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0852" y="4892772"/>
            <a:ext cx="199705" cy="199705"/>
          </a:xfrm>
          <a:prstGeom prst="rect">
            <a:avLst/>
          </a:prstGeom>
        </p:spPr>
      </p:pic>
      <p:sp>
        <p:nvSpPr>
          <p:cNvPr id="37" name="Text 27"/>
          <p:cNvSpPr txBox="1"/>
          <p:nvPr/>
        </p:nvSpPr>
        <p:spPr>
          <a:xfrm>
            <a:off x="1417320" y="4773168"/>
            <a:ext cx="9905695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SO-2 — Zéro écart majeur aux audits ISO 7101 (échéance 2026-12-31)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PÉRIMÈTRE DE LA MISSION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Fonctions et niveaux de décision couverts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Orientation: AI · Niveaux de décision: MS, MO, OP · Approbation: Approuvé (2026-04-30, Mehdi Lahlou)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8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94944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 — stratégique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 — intermédiaire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 — opérationnel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●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818120" y="1874520"/>
            <a:ext cx="3822192" cy="3200400"/>
          </a:xfrm>
          <a:prstGeom prst="roundRect">
            <a:avLst>
              <a:gd name="adj" fmla="val 28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Comment le périmètre est fixé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8046720" y="2468880"/>
            <a:ext cx="342900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case fonction × niveau de décision est un critère pondéré du périmètre. 16 critères ont été approuvés par le sponsor avant l’envoi de tout questionnaire ; chaque tableau du rapport est ensuite filtré par ce périmètre.</a:t>
            </a:r>
            <a:endParaRPr lang="en-US" sz="1250" dirty="0"/>
          </a:p>
        </p:txBody>
      </p:sp>
      <p:sp>
        <p:nvSpPr>
          <p:cNvPr id="14" name="Text 9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 1.8.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MÉTHODE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phases, chacune close par un jalon et ses livrables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La mission d’ingénierie de formation suit les phases ci-dessous, chacune clôturée par un jalon et ses livrables.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6492240"/>
                <a:gridCol w="130759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Phase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Processus de bout en bout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Avancement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Périmètre et collecte de preuves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E2E-32 · E2E-33 · E2E-19 · E2E-24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Diagnostic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E2E-20 · E2E-25 · E2E-26 · E2E-27 · E2E-28 · E2E-29 · E2E-02 · E2E-21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Rapport d'ingénierie de formation et plan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E2E-01 · E2E-03 · E2E-30 · E2E-22 · E2E-23 · E2E-16 · HCPR-E2E-02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Conception et déploiement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E2E-04 · E2E-05 · E2E-06 · E2E-13 · E2E-14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Évaluation, conformité et impact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E2E-07 · E2E-08 · E2E-09 · HCPR-E2E-01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Talents, savoirs et amélioration continue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E2E-10 · E2E-11 · E2E-12 · E2E-31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Rapport d’ingénierie de formation, section 1.5 « La mission en cours ».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CALENDRIER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Lots de travaux et diagramme de Gantt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4206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Lot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Début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Avancement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Périmètre et preuves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2026-04-10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2026-05-08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et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2026-06-05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42062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0972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Triage IA et aide à la décision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Assistance IA en imagerie médica…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Triage IA et aide à la décision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Assistance IA en imagerie médica…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Shape 5"/>
          <p:cNvSpPr/>
          <p:nvPr/>
        </p:nvSpPr>
        <p:spPr>
          <a:xfrm>
            <a:off x="5029200" y="1783080"/>
            <a:ext cx="6528816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2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828800"/>
            <a:ext cx="6437376" cy="4023360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5074920" y="59436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WBS et Gantt du projet dans CortexSkills.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PARTIES PRENANTES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40 personnes consultées dans toutes les fonctions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personnes ont été consultées : 1 de la direction générale, 26 managers et 13 collaborateurs.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groupe de cliniques et le projet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783080"/>
          <a:ext cx="65836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Personnes consultées par fonction et population (RIF 1.7).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406640" y="1828800"/>
          <a:ext cx="42336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Canal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Personnes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Combination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E-mail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7406640" y="4023360"/>
            <a:ext cx="4233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Consentement enregistré pour 40 personnes sur 40 avant tout enregistrement de réponse.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Diagnostic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 a répondu, où en est l’hôpital, quelles compétences manquent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CAMPAGNE DE QUESTIONNAIRES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35 personnes sur 40 ont répondu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 personnes ont été invitées à répondre ; 35 ont répondu.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76072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822960"/>
                <a:gridCol w="91440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Direction générale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Équipe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Répondants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6583680" y="1783080"/>
          <a:ext cx="50292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6583680" y="4526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Taux de réponse par fonction.</a:t>
            </a:r>
            <a:endParaRPr lang="en-US" sz="10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0" y="4846320"/>
          <a:ext cx="50292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1005840"/>
                <a:gridCol w="777240"/>
                <a:gridCol w="10058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Canal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Invités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Répondants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Complétude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Application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E-mail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89 %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7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1.6, 1.12 et 1.13.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PLAN PRÉCÉDENT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les équipes disent du dernier plan de formation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14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Qu’avez-vous remarqué à propos du plan de formation de l’année n-1 ?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77724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Bonne participation, mais peu de suivi après les sessions.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formations ont été choisies tard dans l’année, avec peu de lien avec nos objectifs.</a:t>
            </a:r>
            <a:endParaRPr lang="en-US" sz="1150" dirty="0"/>
          </a:p>
        </p:txBody>
      </p:sp>
      <p:sp>
        <p:nvSpPr>
          <p:cNvPr id="12" name="Shape 8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452628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Quels étaient les points forts du plan de formation de l’année n-1 ?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2628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sessions sur site, proches des équipes.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formateurs pratiques qui connaissaient notre secteur.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275320" y="19659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Quelles étaient les améliorations apportées par le plan de formation de l’année…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8275320" y="256032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encadrants utilisent les nouvelles procédures.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Moins d’erreurs sur les enregistrements ISO 7101.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77724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Quels étaient les défis concernant le plan de formation de l’année n-1 ?</a:t>
            </a:r>
            <a:endParaRPr lang="en-US" sz="1200" dirty="0"/>
          </a:p>
        </p:txBody>
      </p:sp>
      <p:sp>
        <p:nvSpPr>
          <p:cNvPr id="20" name="Text 16"/>
          <p:cNvSpPr txBox="1"/>
          <p:nvPr/>
        </p:nvSpPr>
        <p:spPr>
          <a:xfrm>
            <a:off x="77724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Mesurer l’effet des formations.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Libérer les personnes de leur poste pendant les pics d’activité.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452628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Qu’avez-vous apprécié et aimé à propos du plan de formation de l’année n-1 ?</a:t>
            </a:r>
            <a:endParaRPr lang="en-US" sz="1200" dirty="0"/>
          </a:p>
        </p:txBody>
      </p:sp>
      <p:sp>
        <p:nvSpPr>
          <p:cNvPr id="23" name="Text 19"/>
          <p:cNvSpPr txBox="1"/>
          <p:nvPr/>
        </p:nvSpPr>
        <p:spPr>
          <a:xfrm>
            <a:off x="452628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ateliers sur des cas réels.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Les échanges entre sites.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75320" y="406908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 on faisait un nouveau plan de formation, qu’est-ce que vous aimeriez voir de…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8275320" y="4663440"/>
            <a:ext cx="3108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formats courts en demi-journée avec un atelier à chaque fois.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Un plan construit à partir des besoins de chaque fonction.</a:t>
            </a:r>
            <a:endParaRPr lang="en-US" sz="1150" dirty="0"/>
          </a:p>
        </p:txBody>
      </p:sp>
      <p:sp>
        <p:nvSpPr>
          <p:cNvPr id="27" name="Text 23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chapitre 2 — 62 formations suivies sont listées en section 2.1.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ET MATURITÉ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Cinq axes évalués, maturité un niveau sous la cible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15</a:t>
            </a:r>
            <a:endParaRPr lang="en-US" sz="10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548640" y="1783080"/>
          <a:ext cx="585216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57607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Score de diagnostic par axe face à la cible de niveau 4 (RIF 1.9).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828800"/>
          <a:ext cx="496519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249631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Lecture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Stratégie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Point fort à consolider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Organisation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Partiellement en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Partiellement en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Personnes et compétences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Partiellement en place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d’information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Priorité de développement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3840480"/>
          <a:ext cx="496519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8680"/>
                <a:gridCol w="868680"/>
                <a:gridCol w="850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Modèle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Actuel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Cible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Maturité CMM (CMM)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Maturité du leadership (Leadership)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3" name="Text 6"/>
          <p:cNvSpPr txBox="1"/>
          <p:nvPr/>
        </p:nvSpPr>
        <p:spPr>
          <a:xfrm>
            <a:off x="6675120" y="4709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Modèles de maturité (RIF 1.10).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PAR FONCTION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Où se situe chaque fonction à chaque niveau de décision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Performance par niveau : MS management stratégique, MO management opérationnel, OP opérationnel.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188720"/>
                <a:gridCol w="1188720"/>
                <a:gridCol w="1188720"/>
                <a:gridCol w="54223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Écarts principaux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83%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 · Assistance IA en imagerie médicale · Planification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et HSE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76%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52%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86%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 · Planification IA des lits et des effectifs · Triage IA et…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Finance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81%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58%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77%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· Triage IA et aide à la décision clinique · Assist…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Ressources humaines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79%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54%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63%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 · Assistance IA en imagerie médicale · Planification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Ventes et marketing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82%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59%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 · Planification IA des lits et des effectifs · Triage IA et…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Systèmes d'information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64%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71%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· Triage IA et aide à la décision clinique · Assist…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73% 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53% 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 · Assistance IA en imagerie médicale · Planification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52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Carte de chaleur sur l’échelle de statut fixe rouge → vert (RIF 3.2).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COMPÉTENCES CITÉES LORS DES ENTRETIENS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Les compétences demandées, par nombre de mentions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Consolidé à partir de 30 réponses.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17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783080"/>
          <a:ext cx="69494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5216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Mentions dans l’ensemble des réponses (RIF 3.3).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7818120" y="1874520"/>
            <a:ext cx="3822192" cy="3931920"/>
          </a:xfrm>
          <a:prstGeom prst="roundRect">
            <a:avLst>
              <a:gd name="adj" fmla="val 239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046720" y="2011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Lecture</a:t>
            </a:r>
            <a:endParaRPr lang="en-US" sz="1500" dirty="0"/>
          </a:p>
        </p:txBody>
      </p:sp>
      <p:sp>
        <p:nvSpPr>
          <p:cNvPr id="14" name="Text 9"/>
          <p:cNvSpPr txBox="1"/>
          <p:nvPr/>
        </p:nvSpPr>
        <p:spPr>
          <a:xfrm>
            <a:off x="8046720" y="2468880"/>
            <a:ext cx="3429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 deux thèmes IA cliniques arrivent en tête (94 et 94 mentions), suivis de la communication d’équipe et de la résolution de problèmes : le plan associe chaque formation IA à des ateliers pratiques sur les cas propres aux cliniques.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COMPÉTENCES COMPORTEMENTALES ET LEADERSHIP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Auto-évaluation des répondants, du plus faible au plus fort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Moyenne (1–5)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Récompenses et motivation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Formations et efficacité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Pensée positive et résultats positifs (focus sur les solutions, divis…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par objectif et vision stratégique appliqué à soi-même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avec soi-même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Communication avec l’équipe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avec flexibilité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 par objectif et vision stratégique appliqué aux autres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Chart 0" descr=""/>
          <p:cNvGraphicFramePr/>
          <p:nvPr/>
        </p:nvGraphicFramePr>
        <p:xfrm>
          <a:off x="7223760" y="1783080"/>
          <a:ext cx="4416552" cy="37490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7223760" y="5577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Niveaux de leadership atteints (RIF 3.7).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ÉCARTS DE COMPÉTENCES ET BESOINS DE FORMATION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Des écarts mesurés à un registre de besoins validé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19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822960"/>
                <a:gridCol w="868680"/>
                <a:gridCol w="77724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Personnes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moyen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Critiques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Écarts par compétence (RIF 3.40).</a:t>
            </a:r>
            <a:endParaRPr lang="en-US" sz="10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828800"/>
          <a:ext cx="5742432" cy="914400"/>
        </p:xfrm>
        <a:graphic>
          <a:graphicData uri="http://schemas.openxmlformats.org/drawingml/2006/table">
            <a:tbl>
              <a:tblPr/>
              <a:tblGrid>
                <a:gridCol w="320040"/>
                <a:gridCol w="2743200"/>
                <a:gridCol w="1051560"/>
                <a:gridCol w="685800"/>
                <a:gridCol w="941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Thème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Impact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des données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de compétences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 travail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de compétences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GPEC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Demande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Validé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5897880" y="49834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Registre des besoins (RIF 3.41) : chaque besoin tracé jusqu’à sa source.</a:t>
            </a:r>
            <a:endParaRPr lang="en-US" sz="1000" dirty="0"/>
          </a:p>
        </p:txBody>
      </p:sp>
      <p:sp>
        <p:nvSpPr>
          <p:cNvPr id="13" name="Shape 7"/>
          <p:cNvSpPr/>
          <p:nvPr/>
        </p:nvSpPr>
        <p:spPr>
          <a:xfrm>
            <a:off x="502920" y="3429000"/>
            <a:ext cx="3895344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4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474720"/>
            <a:ext cx="3803904" cy="237744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ZOOM SUR LA FONCTION CŒUR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Soins cliniques et infirmiers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Besoins, évaluation et compétences de la fonction qui porte l’objectif stratégique SO-1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773604"/>
                <a:gridCol w="2773604"/>
                <a:gridCol w="2773604"/>
                <a:gridCol w="2773604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 de décision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Note (%)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88 %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Orange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53 %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Rouge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291840"/>
          <a:ext cx="11094415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4572000"/>
                <a:gridCol w="32278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Répondant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Population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Forces / Points d’amélioration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Équipe expérimentée et engagée — Faib…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Anas Berrada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Équipe expérimentée et engagée — Peu 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; Gestion du temps et prio…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Membre de l’équipe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Équipe expérimentée et engagée — Reporting tenu sur des tableurs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Imane Bennani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Membre de l’équipe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Équipe expérimentée et engagée — Peu de polyvalence entre les postes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 ; Gestion du temps et priorités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Bonne connaissance du marché — Report…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Hajar Mansouri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Management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Soins cliniques et infirmiers — Processus stables — Peu de polyvalenc…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 ; Gestion du temps et prio…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3.36 à 3.39.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USAGE ACTUEL DE L’IA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Comment les équipes utilisent l’IA et ce qui les freine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21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31520" y="1993392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Activi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" y="2103120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31520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actuel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731520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jour, pour le tri et les rapports. (31)</a:t>
            </a:r>
            <a:endParaRPr lang="en-US" sz="1050" dirty="0"/>
          </a:p>
        </p:txBody>
      </p:sp>
      <p:sp>
        <p:nvSpPr>
          <p:cNvPr id="14" name="Shape 9"/>
          <p:cNvSpPr/>
          <p:nvPr/>
        </p:nvSpPr>
        <p:spPr>
          <a:xfrm>
            <a:off x="2798064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2980944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Octagon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0672" y="2103120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980944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Freins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2980944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Manque de formation et règles peu claires. (31)</a:t>
            </a:r>
            <a:endParaRPr lang="en-US" sz="1050" dirty="0"/>
          </a:p>
        </p:txBody>
      </p:sp>
      <p:sp>
        <p:nvSpPr>
          <p:cNvPr id="19" name="Shape 13"/>
          <p:cNvSpPr/>
          <p:nvPr/>
        </p:nvSpPr>
        <p:spPr>
          <a:xfrm>
            <a:off x="5047488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5230368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40096" y="2103120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5230368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Risques à maîtriser</a:t>
            </a:r>
            <a:endParaRPr lang="en-US" sz="1300" dirty="0"/>
          </a:p>
        </p:txBody>
      </p:sp>
      <p:sp>
        <p:nvSpPr>
          <p:cNvPr id="23" name="Text 16"/>
          <p:cNvSpPr txBox="1"/>
          <p:nvPr/>
        </p:nvSpPr>
        <p:spPr>
          <a:xfrm>
            <a:off x="5230368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Protection des données et validation des résultats. (31)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7296912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7479792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Targe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89520" y="2103120"/>
            <a:ext cx="237744" cy="237744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7479792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Priorités</a:t>
            </a:r>
            <a:endParaRPr lang="en-US" sz="1300" dirty="0"/>
          </a:p>
        </p:txBody>
      </p:sp>
      <p:sp>
        <p:nvSpPr>
          <p:cNvPr id="28" name="Text 20"/>
          <p:cNvSpPr txBox="1"/>
          <p:nvPr/>
        </p:nvSpPr>
        <p:spPr>
          <a:xfrm>
            <a:off x="7479792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Assistance IA en imagerie médicale ; qualité des données (11)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Triage IA et aide à la décision clinique ; qualité des données (10)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9546336" y="1828800"/>
            <a:ext cx="2103120" cy="27432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30" name="Shape 22"/>
          <p:cNvSpPr/>
          <p:nvPr/>
        </p:nvSpPr>
        <p:spPr>
          <a:xfrm>
            <a:off x="9729216" y="1993392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31" name="Image 5" descr="Presentatio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38944" y="2103120"/>
            <a:ext cx="237744" cy="237744"/>
          </a:xfrm>
          <a:prstGeom prst="rect">
            <a:avLst/>
          </a:prstGeom>
        </p:spPr>
      </p:pic>
      <p:sp>
        <p:nvSpPr>
          <p:cNvPr id="32" name="Text 23"/>
          <p:cNvSpPr txBox="1"/>
          <p:nvPr/>
        </p:nvSpPr>
        <p:spPr>
          <a:xfrm>
            <a:off x="9729216" y="2560320"/>
            <a:ext cx="1783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Format préféré</a:t>
            </a:r>
            <a:endParaRPr lang="en-US" sz="1300" dirty="0"/>
          </a:p>
        </p:txBody>
      </p:sp>
      <p:sp>
        <p:nvSpPr>
          <p:cNvPr id="33" name="Text 24"/>
          <p:cNvSpPr txBox="1"/>
          <p:nvPr/>
        </p:nvSpPr>
        <p:spPr>
          <a:xfrm>
            <a:off x="9729216" y="2971800"/>
            <a:ext cx="17830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 ateliers courts sur le poste, puis du coaching. (31)</a:t>
            </a:r>
            <a:endParaRPr lang="en-US" sz="10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66344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0"/>
                <a:gridCol w="978408"/>
                <a:gridCol w="969264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Pratique de planification stratégique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Oui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Existe-t-il un plan stratégique et des macro business plans au niveau de l’entreprise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Ce plan stratégique et les macro business plans sont-ils mis en place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Sont-ils surveillés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Sont-ils sujets à l’amélioration continue ?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 25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Réponses les plus fréquentes des 35 répondants (RIF 3.45, 3.46).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OBJECTIFS ET RÉSULTATS ATTENDUS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les répondants attendent de la formation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Diagnostic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766560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3291840"/>
                <a:gridCol w="91440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Objectif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Formulation SMART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Mentions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Améliorer la satisfaction des clients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 de satisfaction ≥ 85 % d’ici la fin de l’année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Réduire les coûts de non-qualité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-20 % de reprises en 12 mois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Développer le capital humain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80 % des rôles critiques certifiés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589520" y="1828800"/>
            <a:ext cx="4050792" cy="4023360"/>
          </a:xfrm>
          <a:prstGeom prst="roundRect">
            <a:avLst>
              <a:gd name="adj" fmla="val 2273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Résultats attendus</a:t>
            </a:r>
            <a:endParaRPr lang="en-US" sz="1500" dirty="0"/>
          </a:p>
        </p:txBody>
      </p:sp>
      <p:sp>
        <p:nvSpPr>
          <p:cNvPr id="12" name="Text 7"/>
          <p:cNvSpPr txBox="1"/>
          <p:nvPr/>
        </p:nvSpPr>
        <p:spPr>
          <a:xfrm>
            <a:off x="7818120" y="2423160"/>
            <a:ext cx="361188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Moins d’erreurs et un service plus rapide.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équipes capables d’utiliser Assistance IA en imagerie médicale en sécurité.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 meilleurs résultats d’audit et une meilleure fidélisation du personnel.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équipes capables d’utiliser Planification IA des lits et des effectifs en sécurité.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Des équipes capables d’utiliser Triage IA et aide à la décision clinique en sécurité.</a:t>
            </a:r>
            <a:endParaRPr lang="en-US" sz="1250" dirty="0"/>
          </a:p>
        </p:txBody>
      </p:sp>
      <p:sp>
        <p:nvSpPr>
          <p:cNvPr id="13" name="Text 8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3.42 (64 objectifs exprimés) et 3.9.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132 sections, 206 pages, générées à partir des données du déroulé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STRUCTURE DU RAPPORT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d’ingénierie de formation et plan de formation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Version 1 · auteur Hicham Naciri · approuvé par Mehdi Lahlou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1206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Chapitre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Sections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 Description de l’entreprise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 Le plan de formation précédent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 Les besoins en compétences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 Perspectives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5. Le plan de formation priorisé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6. Risques, contrôles et indicateurs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7. Annexes — formulaires d’entretien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8978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Plus l’identification, les sources de données et l’approbation.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5897880" y="1783080"/>
            <a:ext cx="5760720" cy="3634740"/>
          </a:xfrm>
          <a:prstGeom prst="roundRect">
            <a:avLst>
              <a:gd name="adj" fmla="val 1509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28800"/>
            <a:ext cx="5669280" cy="35433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5943600" y="5943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rapport dans l’éditeur de documents.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ORIENTATIONS STRATÉGIQUES ET RH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Besoins liés à la stratégie et aux orientations RH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Axes prioritaires cités par la direction générale: Leadership et performance · Triage IA et aide à la décision clinique · Conformité ISO 7101 · Tableaux de bord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8531352"/>
                <a:gridCol w="164592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Objectif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Échéance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Adopter Triage IA et aide à la décision clinique dans Soins cliniques et infirmiers d'ici fin 2027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SO-2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Zéro écart majeur aux audits ISO 7101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2026-12-31</a:t>
                      </a:r>
                      <a:endParaRPr lang="en-US" sz="11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548640" y="3291840"/>
            <a:ext cx="5486400" cy="265176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7724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Orientations RH</a:t>
            </a:r>
            <a:endParaRPr lang="en-US" sz="1500" dirty="0"/>
          </a:p>
        </p:txBody>
      </p:sp>
      <p:sp>
        <p:nvSpPr>
          <p:cNvPr id="13" name="Text 8"/>
          <p:cNvSpPr txBox="1"/>
          <p:nvPr/>
        </p:nvSpPr>
        <p:spPr>
          <a:xfrm>
            <a:off x="77724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Mettre à jour les fiches de poste, les objectifs individuels et l’évaluation annuelle ; construire les chemins de carrière.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6217920" y="3291840"/>
            <a:ext cx="5422392" cy="26517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6446520" y="3429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Gestion du changement</a:t>
            </a:r>
            <a:endParaRPr lang="en-US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6446520" y="384048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1) Concentration et priorisation · 2) Être optimiste et positif · 3) Être persévérant et assurer le suivi par de courtes répétitions quotidiennes · Patience · Donner l’exemple · Progressivité.</a:t>
            </a:r>
            <a:endParaRPr lang="en-US" sz="1250" dirty="0"/>
          </a:p>
        </p:txBody>
      </p:sp>
      <p:sp>
        <p:nvSpPr>
          <p:cNvPr id="17" name="Text 12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3.1, 3.5 et 3.6.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PERSPECTIVES ET FEUILLE DE ROUTE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initiatives déployées en trois vagues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 perspectives tiennent compte des orientations stratégiques, du SWOT et des axes d’amélioration, des orientations GRH et des recommandations exprimées lors des rencon…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26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1</a:t>
            </a:r>
            <a:endParaRPr lang="en-US" sz="19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Triage IA et aide à la décision clinique — impact 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Littératie en IA pour tous — impact 5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429768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720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2</a:t>
            </a:r>
            <a:endParaRPr lang="en-US" sz="1900" dirty="0"/>
          </a:p>
        </p:txBody>
      </p:sp>
      <p:sp>
        <p:nvSpPr>
          <p:cNvPr id="15" name="Text 11"/>
          <p:cNvSpPr txBox="1"/>
          <p:nvPr/>
        </p:nvSpPr>
        <p:spPr>
          <a:xfrm>
            <a:off x="457200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Assistance IA en imagerie médicale — impact 4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8046720" y="1874520"/>
            <a:ext cx="35204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Vague 3</a:t>
            </a:r>
            <a:endParaRPr lang="en-US" sz="1900" dirty="0"/>
          </a:p>
        </p:txBody>
      </p:sp>
      <p:sp>
        <p:nvSpPr>
          <p:cNvPr id="18" name="Text 14"/>
          <p:cNvSpPr txBox="1"/>
          <p:nvPr/>
        </p:nvSpPr>
        <p:spPr>
          <a:xfrm>
            <a:off x="8321040" y="25146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Planification IA des lits et des effectifs — impact 3</a:t>
            </a:r>
            <a:endParaRPr lang="en-US" sz="13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3484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7680960"/>
                <a:gridCol w="1463040"/>
                <a:gridCol w="14904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Axe d’amélioration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Réalisé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Vague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70%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75%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20" name="Text 1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chapitre 4 et section 4.1.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RISQUES ET CONTRÔLES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risque réduit par des contrôles nommés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27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4206240"/>
                <a:gridCol w="1463040"/>
                <a:gridCol w="868680"/>
                <a:gridCol w="868680"/>
                <a:gridCol w="27706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Risque ou opportunité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Catégorie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Inhérent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Résiduel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Contrôles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Faible adoption par les apprenants et utilisateurs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Adoption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CTRL-081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RISK-017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Savoirs critiques perdus au départ d'un expert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CTRL-070; CTRL-082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Accès non autorisé aux données du locataire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Sécurité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CTRL-001; CTRL-002; CTRL-048; CTRL-011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formation non aligné sur la stratégie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Stratégique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CTRL-049; CTRL-057; CTRL-076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Données de compétences inexactes conduisant à de mauvais besoins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Qualité des données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CTRL-064; CTRL-045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 fiches de poste s'écartent de la réalité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Organisationnel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CTRL-066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Contenu IA non vérifié dans le rapport d'ingénierie de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CTRL-041; CTRL-056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Certification obligatoire expirée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Conformité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CTRL-053; CTRL-054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RISK-031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 déploiement d'un site s'écarte du plan groupe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Opérationnel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CTRL-071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489204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9 premiers risques sur 35 par score résiduel (RIF chapitre 6).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INDICATEURS DU PROJET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Indicateurs suivis chaque mois pendant le déroulé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d’ingénierie de formation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0"/>
                <a:gridCol w="1463040"/>
                <a:gridCol w="2651760"/>
                <a:gridCol w="13075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Cible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Dernière valeur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d'écarts critiques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Délai de production du rapport d'ingénierie de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30 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24.6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Délai d'approbation de la conception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20 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Délai de publication des contenus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15 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12.3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remplissage des sessions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91.8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réalisation du plan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97.2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d'achèvement des apprenants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80 %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86.4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moyenne de niveau 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4,2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4.5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progression des compétences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75.6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correction des dossiers de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1 %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2026-10: 0.82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0" name="Text 5"/>
          <p:cNvSpPr txBox="1"/>
          <p:nvPr/>
        </p:nvSpPr>
        <p:spPr>
          <a:xfrm>
            <a:off x="548640" y="60807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10 des 61 indicateurs de la section 6.1 du RIF.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Plan de formation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plan 2026 comprend 2 programmes et 6 formations, soit 12 jours par groupe au total et 44 journées-groupes à réaliser, pour un budget de …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PRIORISÉ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Six thèmes classés par impact et urgence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2026 — statut Verrouillé — budget 1 260 000.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30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035040" cy="914400"/>
        </p:xfrm>
        <a:graphic>
          <a:graphicData uri="http://schemas.openxmlformats.org/drawingml/2006/table">
            <a:tbl>
              <a:tblPr/>
              <a:tblGrid>
                <a:gridCol w="365760"/>
                <a:gridCol w="3291840"/>
                <a:gridCol w="731520"/>
                <a:gridCol w="731520"/>
                <a:gridCol w="914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#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Thème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Jours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Groupes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Budget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 travail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des données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60 000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Chart 0" descr=""/>
          <p:cNvGraphicFramePr/>
          <p:nvPr/>
        </p:nvGraphicFramePr>
        <p:xfrm>
          <a:off x="6766560" y="1783080"/>
          <a:ext cx="48463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6"/>
          <p:cNvSpPr txBox="1"/>
          <p:nvPr/>
        </p:nvSpPr>
        <p:spPr>
          <a:xfrm>
            <a:off x="6766560" y="51206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 par thème.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PROGRAMMES ET FORMATIONS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Deux programmes, six formations, des prérequis clairs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3657600"/>
                <a:gridCol w="3383280"/>
                <a:gridCol w="313639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Programme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Axe stratégique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Formations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PRG-1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Compétences IA pour Soins cliniques et infirmiers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Exécution de la fonction cœur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TR-AI-01, TR-AI-02, TR-AI-03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PRG-2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Fondamentaux IA pour tous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Leadership, performance et usage responsable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TR-AI-04, TR-AI-05, TR-AI-06</a:t>
                      </a:r>
                      <a:endParaRPr lang="en-US" sz="11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926080"/>
          <a:ext cx="1109441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657600"/>
                <a:gridCol w="1188720"/>
                <a:gridCol w="1005840"/>
                <a:gridCol w="423367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Durée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Prérequis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Intermédiaire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Intermédiaire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des effectifs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Avancé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2.5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TR-AI-01 ou expérience équivalente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Fondamentaux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1.5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Aucun — ouvert à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 travail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Fondamentaux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Aucun — ouvert à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TR-AI-06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des données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Intermédiaire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jour(s)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Culture numérique de base ; la formation Fondamentaux est recommandée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548640" y="57607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Plan de formation « Programmes » et RIF section 5.1.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FICHE DE FORMATION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TR-AI-01 — Triage IA et aide à la décision clinique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Niveau Intermédiaire · 3 jour(s) · programme PRG-1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32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676656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22960" y="1965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Objectifs pédagogiques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22960" y="2423160"/>
            <a:ext cx="62179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Expliquer les concepts clés de Triage IA et aide à la décision clinique et leur application à Soins cliniques et infirmiers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Appliquer les méthodes et outils de Triage IA et aide à la décision clinique à un cas réel de Groupe Santéora Cliniques Privées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• Planifier le déploiement de Triage IA et aide à la décision clinique avec ses indicateurs et contrôles (ISO 7101)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7589520" y="1828800"/>
            <a:ext cx="4050792" cy="4114800"/>
          </a:xfrm>
          <a:prstGeom prst="roundRect">
            <a:avLst>
              <a:gd name="adj" fmla="val 2257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7818120" y="19659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Prérequis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7818120" y="2423160"/>
            <a:ext cx="36118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Culture numérique de base ; la formation Fondamentaux est recommandée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7818120" y="3657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Modalités</a:t>
            </a:r>
            <a:endParaRPr lang="en-US" sz="1500" dirty="0"/>
          </a:p>
        </p:txBody>
      </p:sp>
      <p:sp>
        <p:nvSpPr>
          <p:cNvPr id="17" name="Text 13"/>
          <p:cNvSpPr txBox="1"/>
          <p:nvPr/>
        </p:nvSpPr>
        <p:spPr>
          <a:xfrm>
            <a:off x="7818120" y="406908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M1 Triage IA et aide à la décision clinique · E-learning · 2 h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M3 Triage IA et aide à la décision clinique · Classe virtuelle · 3.5 h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PROGRAMME DÉTAILLÉ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9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Triage IA et aide à la décision clinique — demi-journée par demi-journée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22 activités sur 3 jour(s) : exposés, quiz et ateliers sur les cas propres aux cliniques.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33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1 — matin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77724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Fondamentaux de Triage IA et aide à la décision clinique : co…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Pourquoi Triage IA et aide à la décision clinique compte pour…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concepts clés de Triage IA et aide à la décision clini…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cartographier les pratiques actuelles de Soins clin… (75 min)</a:t>
            </a:r>
            <a:endParaRPr lang="en-US" sz="1050" dirty="0"/>
          </a:p>
        </p:txBody>
      </p:sp>
      <p:sp>
        <p:nvSpPr>
          <p:cNvPr id="13" name="Shape 9"/>
          <p:cNvSpPr/>
          <p:nvPr/>
        </p:nvSpPr>
        <p:spPr>
          <a:xfrm>
            <a:off x="429768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45262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1 — après-midi</a:t>
            </a:r>
            <a:endParaRPr lang="en-US" sz="13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Méthodes et outils de Triage IA et aide à la décision clinique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Exemple commenté du secteur Établissements de santé (40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choisir la bonne méthode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appliquer la méthode à un cas réel de Groupe Santéo… (80 min)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46720" y="182880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827532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2 — matin</a:t>
            </a:r>
            <a:endParaRPr lang="en-US" sz="1300" dirty="0"/>
          </a:p>
        </p:txBody>
      </p:sp>
      <p:sp>
        <p:nvSpPr>
          <p:cNvPr id="18" name="Text 14"/>
          <p:cNvSpPr txBox="1"/>
          <p:nvPr/>
        </p:nvSpPr>
        <p:spPr>
          <a:xfrm>
            <a:off x="8275320" y="233172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Gouvernance, risques et exigences ISO 7101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Données, qualité et preuves à conserver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scénarios de conformité et de risque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construire la check-list de contrôle de votre proce… (80 min)</a:t>
            </a:r>
            <a:endParaRPr lang="en-US" sz="1050" dirty="0"/>
          </a:p>
        </p:txBody>
      </p:sp>
      <p:sp>
        <p:nvSpPr>
          <p:cNvPr id="19" name="Shape 15"/>
          <p:cNvSpPr/>
          <p:nvPr/>
        </p:nvSpPr>
        <p:spPr>
          <a:xfrm>
            <a:off x="54864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77724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2 — après-midi</a:t>
            </a:r>
            <a:endParaRPr lang="en-US" sz="1300" dirty="0"/>
          </a:p>
        </p:txBody>
      </p:sp>
      <p:sp>
        <p:nvSpPr>
          <p:cNvPr id="21" name="Text 17"/>
          <p:cNvSpPr txBox="1"/>
          <p:nvPr/>
        </p:nvSpPr>
        <p:spPr>
          <a:xfrm>
            <a:off x="77724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Déployer Triage IA et aide à la décision clinique : rôles, ch…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Indicateurs pour mesurer les résultats (45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cas d’adoption et d’indicateurs (20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concevoir le tableau de bord d’indicateurs de votre… (80 min)</a:t>
            </a:r>
            <a:endParaRPr lang="en-US" sz="1050" dirty="0"/>
          </a:p>
        </p:txBody>
      </p:sp>
      <p:sp>
        <p:nvSpPr>
          <p:cNvPr id="22" name="Shape 18"/>
          <p:cNvSpPr/>
          <p:nvPr/>
        </p:nvSpPr>
        <p:spPr>
          <a:xfrm>
            <a:off x="429768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52628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3 — matin</a:t>
            </a:r>
            <a:endParaRPr lang="en-US" sz="1300" dirty="0"/>
          </a:p>
        </p:txBody>
      </p:sp>
      <p:sp>
        <p:nvSpPr>
          <p:cNvPr id="24" name="Text 20"/>
          <p:cNvSpPr txBox="1"/>
          <p:nvPr/>
        </p:nvSpPr>
        <p:spPr>
          <a:xfrm>
            <a:off x="452628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Pratiques avancées et retours d’expérience en Soins cliniques… (75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— cas avancés (25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résoudre un scénario d’incident critique (100 min)</a:t>
            </a:r>
            <a:endParaRPr lang="en-US" sz="1050" dirty="0"/>
          </a:p>
        </p:txBody>
      </p:sp>
      <p:sp>
        <p:nvSpPr>
          <p:cNvPr id="25" name="Shape 21"/>
          <p:cNvSpPr/>
          <p:nvPr/>
        </p:nvSpPr>
        <p:spPr>
          <a:xfrm>
            <a:off x="8046720" y="3931920"/>
            <a:ext cx="352044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8275320" y="40690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Jour 3 — après-midi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8275320" y="4434840"/>
            <a:ext cx="310896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Lecture · Transfert en situation de travail : le plan 30-60-90 jours (60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Quiz · Évaluation finale (niveau 2 de Kirkpatrick) (30 min)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Workshop · Atelier — plan d’action individuel et revue entre pairs (90 min)</a:t>
            </a:r>
            <a:endParaRPr lang="en-US" sz="105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VALEUR POUR CHAQUE PERSONA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Pourquoi chaque public doit suivre la formation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Formation TR-AI-01 — comportements, irritants et attentes de chaque persona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34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77240" y="2011680"/>
            <a:ext cx="548640" cy="54864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2" name="Image 1" descr="Briefcas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43354"/>
            <a:ext cx="285293" cy="285293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46304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Sponsor exécutif — Directeur général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77724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Décide sur des faits présentés en comités courts ; délègue l’exécution à l’équipe de management ; suit quelques indicateurs.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Dépenses de formation sans lien visible avec les objectifs stratégiques ; résultats du plan précédent difficiles à prouver ; audits ISO 7101 qui révèlent des écarts de compétences.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plan priorisé au service de la stratégie, un retour mesurable, et une équipe de management capable de conduire le changement.</a:t>
            </a:r>
            <a:endParaRPr lang="en-US" sz="1050" dirty="0"/>
          </a:p>
        </p:txBody>
      </p:sp>
      <p:sp>
        <p:nvSpPr>
          <p:cNvPr id="15" name="Shape 10"/>
          <p:cNvSpPr/>
          <p:nvPr/>
        </p:nvSpPr>
        <p:spPr>
          <a:xfrm>
            <a:off x="429768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452628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User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954" y="2143354"/>
            <a:ext cx="285293" cy="285293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521208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Manager — directeur, responsable, pilote de processus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452628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Arbitre entre opérations quotidiennes et projets d’amélioration ; préfère des formats pratiques et courts ; s’appuie sur des personnes clés de l’équipe.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Équipe absente du poste pendant des formations longues ; écarts de compétences sur les activités critiques de Soins cliniques et infirmiers ; processus non documentés ou sans pilote.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 formations qui règlent les vrais problèmes de la fonction, appliquées dès la semaine suivante, avec des indicateurs que le manager peut suivre.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8046720" y="1828800"/>
            <a:ext cx="3520440" cy="411480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8275320" y="201168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6994" y="2143354"/>
            <a:ext cx="285293" cy="285293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8961120" y="20116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Membre de l’équipe — Soins cliniques et infirmiers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8275320" y="274320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Apprend en faisant et auprès des pairs ; utilise plus le téléphone que l’ordinateur ; veut savoir ce qui change au quotidien.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Nouveaux outils introduits sans explication ; formations théoriques éloignées des tâches ; peur de se tromper avec Triage IA et aide à la décision clinique.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Des compétences pratiques reconnues par une attestation, moins de reprises, et un parcours clair vers le poste suivant.</a:t>
            </a:r>
            <a:endParaRPr lang="en-US" sz="10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INGÉNIERIE PÉDAGOGIQUE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Parcours, modules et ressources pédagogiques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731520"/>
                <a:gridCol w="3108960"/>
                <a:gridCol w="1645920"/>
                <a:gridCol w="82296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Parcours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Jours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Modalité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Heures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Conception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M1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E-learning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M3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Classe virtuelle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M2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M4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Présentiel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Approuvé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463040"/>
                <a:gridCol w="1371600"/>
                <a:gridCol w="2011680"/>
                <a:gridCol w="2011680"/>
                <a:gridCol w="1856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Ressource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Taille (Mo)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 de revue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Langue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SCORM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Video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180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2027-04-05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PDF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2026-12-06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Support M4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Capsule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Publié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Text 5"/>
          <p:cNvSpPr txBox="1"/>
          <p:nvPr/>
        </p:nvSpPr>
        <p:spPr>
          <a:xfrm>
            <a:off x="548640" y="6080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RIF sections 5.3 et 5.4.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BUDGET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Alloué, engagé, consommé et remboursements attendus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Alloué 1 260 000, engagé 1 260 000 (100 %), réalisé 1 238 497 (98 % du prévu) ; remboursements attendus 352 800.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36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828800"/>
          <a:ext cx="64008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5715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Alloué (gris) et réel (azur) par formation (RIF 5.7).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1828800"/>
          <a:ext cx="44622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005840"/>
                <a:gridCol w="9875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Ligne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Réel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Rembours.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Triage IA et aide à la décisi…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354 598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100 800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Assistance IA en imagerie méd…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295 234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84 000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Planification IA des lits et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244 886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67 200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Littératie en IA pour tous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159 533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50 400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Prompting et IA générative au…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123 413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33 600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IA responsable et protection 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60 833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16 800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Total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1 238 497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352 800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178040" y="4343400"/>
          <a:ext cx="446227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45920"/>
                <a:gridCol w="71323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Prestataire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Agrément jusqu’au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/5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Atlas Formation Conseil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2027-04-25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Maghreb Learning Partners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2027-08-03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3.8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05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Déploiement, évaluation et audit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Sessions, niveaux de Kirkpatrick, ROI, audit interne et retours d’expérience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SESSIONS ET PRÉSENCE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Quatre sessions réalisées avec leurs inscriptions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94944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097280"/>
                <a:gridCol w="822960"/>
                <a:gridCol w="1188720"/>
                <a:gridCol w="6400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Date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Capacité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Formateur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Inscrits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S-01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2026-07-19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S-02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2026-07-26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S-03 Triage IA et aide à la décision clinique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S-04 Assistance IA en imagerie médicale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2026-08-09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Zineb Kettani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0" name="Shape 5"/>
          <p:cNvSpPr/>
          <p:nvPr/>
        </p:nvSpPr>
        <p:spPr>
          <a:xfrm>
            <a:off x="7818120" y="182880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6"/>
          <p:cNvSpPr/>
          <p:nvPr/>
        </p:nvSpPr>
        <p:spPr>
          <a:xfrm>
            <a:off x="801928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2" name="Image 1" descr="User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9016" y="2157984"/>
            <a:ext cx="237744" cy="237744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8595360" y="197510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4" name="Text 8"/>
          <p:cNvSpPr txBox="1"/>
          <p:nvPr/>
        </p:nvSpPr>
        <p:spPr>
          <a:xfrm>
            <a:off x="8019288" y="259689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apprenants présents à leur session</a:t>
            </a:r>
            <a:endParaRPr lang="en-US" sz="1100" dirty="0"/>
          </a:p>
        </p:txBody>
      </p:sp>
      <p:sp>
        <p:nvSpPr>
          <p:cNvPr id="15" name="Shape 9"/>
          <p:cNvSpPr/>
          <p:nvPr/>
        </p:nvSpPr>
        <p:spPr>
          <a:xfrm>
            <a:off x="7818120" y="3246120"/>
            <a:ext cx="3822192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0"/>
          <p:cNvSpPr/>
          <p:nvPr/>
        </p:nvSpPr>
        <p:spPr>
          <a:xfrm>
            <a:off x="8019288" y="346557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Badge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9016" y="3575304"/>
            <a:ext cx="237744" cy="23774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595360" y="3392424"/>
            <a:ext cx="29077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 / 12</a:t>
            </a:r>
            <a:endParaRPr lang="en-US" sz="2500" dirty="0"/>
          </a:p>
        </p:txBody>
      </p:sp>
      <p:sp>
        <p:nvSpPr>
          <p:cNvPr id="19" name="Text 12"/>
          <p:cNvSpPr txBox="1"/>
          <p:nvPr/>
        </p:nvSpPr>
        <p:spPr>
          <a:xfrm>
            <a:off x="8019288" y="4014216"/>
            <a:ext cx="345643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inscriptions achevées</a:t>
            </a:r>
            <a:endParaRPr lang="en-US" sz="1100" dirty="0"/>
          </a:p>
        </p:txBody>
      </p:sp>
      <p:sp>
        <p:nvSpPr>
          <p:cNvPr id="20" name="Shape 13"/>
          <p:cNvSpPr/>
          <p:nvPr/>
        </p:nvSpPr>
        <p:spPr>
          <a:xfrm>
            <a:off x="502920" y="3840480"/>
            <a:ext cx="338328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21" name="Image 3" descr="Capture d’écran de l’applicatio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86200"/>
            <a:ext cx="3291840" cy="20574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548640" y="59893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Une tâche du processus de déploiement avec ses étapes typées.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ÉVALUATION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Résultats mesurés sur trois niveaux de Kirkpatrick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39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1" name="Image 1" descr="Smil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32588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77 %</a:t>
            </a:r>
            <a:endParaRPr lang="en-US" sz="2500" dirty="0"/>
          </a:p>
        </p:txBody>
      </p:sp>
      <p:sp>
        <p:nvSpPr>
          <p:cNvPr id="13" name="Text 8"/>
          <p:cNvSpPr txBox="1"/>
          <p:nvPr/>
        </p:nvSpPr>
        <p:spPr>
          <a:xfrm>
            <a:off x="74980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 — Réaction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429768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449884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BookOpen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8576" y="2157984"/>
            <a:ext cx="237744" cy="237744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507492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74 %</a:t>
            </a:r>
            <a:endParaRPr lang="en-US" sz="2500" dirty="0"/>
          </a:p>
        </p:txBody>
      </p:sp>
      <p:sp>
        <p:nvSpPr>
          <p:cNvPr id="18" name="Text 12"/>
          <p:cNvSpPr txBox="1"/>
          <p:nvPr/>
        </p:nvSpPr>
        <p:spPr>
          <a:xfrm>
            <a:off x="449884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 — Apprentissage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8046720" y="1828800"/>
            <a:ext cx="352044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8247888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Footpri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57616" y="2157984"/>
            <a:ext cx="237744" cy="237744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8823960" y="19751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75 %</a:t>
            </a:r>
            <a:endParaRPr lang="en-US" sz="2500" dirty="0"/>
          </a:p>
        </p:txBody>
      </p:sp>
      <p:sp>
        <p:nvSpPr>
          <p:cNvPr id="23" name="Text 16"/>
          <p:cNvSpPr txBox="1"/>
          <p:nvPr/>
        </p:nvSpPr>
        <p:spPr>
          <a:xfrm>
            <a:off x="8247888" y="2596896"/>
            <a:ext cx="3154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 — Comportement</a:t>
            </a:r>
            <a:endParaRPr lang="en-US" sz="11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108960"/>
                <a:gridCol w="2103120"/>
                <a:gridCol w="2743200"/>
                <a:gridCol w="167335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Ce qui est mesuré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Quand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Instrument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Résultats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 — Réaction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et utilité perçue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 de chaque session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Questionnaire de satisfaction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77 %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— Apprentissage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Connaissances et compétences acquises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Fin de la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Test avant/après, étude de cas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74 %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 — Comportement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Mise en œuvre au poste de travail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Trois mois après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Grille d’observation du manager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 × 75 %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 — Résultats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Effet sur les indicateurs de la fonction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Six à douze mois après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Indicateurs de la fonction (KPI)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25" name="Text 17"/>
          <p:cNvSpPr txBox="1"/>
          <p:nvPr/>
        </p:nvSpPr>
        <p:spPr>
          <a:xfrm>
            <a:off x="548640" y="5212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Certifications (RIF 5.10) : 4 valides, 1 à échéance proche, 1 expirée — l’expirée déclenche une alerte et une session de renouvellement.</a:t>
            </a:r>
            <a:endParaRPr lang="en-US" sz="13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ET IMPACT MÉTIER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ROI de Phillips et indicateurs de l’étude ROI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Rapport de ROI et d’impact métier — Groupe Santéora Cliniques Privées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40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548640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49808" y="2048256"/>
            <a:ext cx="457200" cy="45720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2" name="Image 1" descr="Trending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" y="2157984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1325880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108</a:t>
            </a:r>
            <a:endParaRPr lang="en-US" sz="2500" dirty="0"/>
          </a:p>
        </p:txBody>
      </p:sp>
      <p:sp>
        <p:nvSpPr>
          <p:cNvPr id="14" name="Text 9"/>
          <p:cNvSpPr txBox="1"/>
          <p:nvPr/>
        </p:nvSpPr>
        <p:spPr>
          <a:xfrm>
            <a:off x="749808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ROI de la formation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3355848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3557016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6744" y="2157984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4133088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4.5</a:t>
            </a:r>
            <a:endParaRPr lang="en-US" sz="2500" dirty="0"/>
          </a:p>
        </p:txBody>
      </p:sp>
      <p:sp>
        <p:nvSpPr>
          <p:cNvPr id="19" name="Text 13"/>
          <p:cNvSpPr txBox="1"/>
          <p:nvPr/>
        </p:nvSpPr>
        <p:spPr>
          <a:xfrm>
            <a:off x="3557016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Satisfaction moyenne de niveau 1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63056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6364224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3" descr="ChartLi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3952" y="2157984"/>
            <a:ext cx="237744" cy="237744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6940296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75.6</a:t>
            </a:r>
            <a:endParaRPr lang="en-US" sz="2500" dirty="0"/>
          </a:p>
        </p:txBody>
      </p:sp>
      <p:sp>
        <p:nvSpPr>
          <p:cNvPr id="24" name="Text 17"/>
          <p:cNvSpPr txBox="1"/>
          <p:nvPr/>
        </p:nvSpPr>
        <p:spPr>
          <a:xfrm>
            <a:off x="6364224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Taux de progression des compétences</a:t>
            </a:r>
            <a:endParaRPr lang="en-US" sz="1100" dirty="0"/>
          </a:p>
        </p:txBody>
      </p:sp>
      <p:sp>
        <p:nvSpPr>
          <p:cNvPr id="25" name="Shape 18"/>
          <p:cNvSpPr/>
          <p:nvPr/>
        </p:nvSpPr>
        <p:spPr>
          <a:xfrm>
            <a:off x="8970264" y="1828800"/>
            <a:ext cx="26517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9171432" y="2048256"/>
            <a:ext cx="457200" cy="45720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7" name="Image 4" descr="Scale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81160" y="2157984"/>
            <a:ext cx="237744" cy="237744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9747504" y="1975104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4.1</a:t>
            </a:r>
            <a:endParaRPr lang="en-US" sz="2500" dirty="0"/>
          </a:p>
        </p:txBody>
      </p:sp>
      <p:sp>
        <p:nvSpPr>
          <p:cNvPr id="29" name="Text 21"/>
          <p:cNvSpPr txBox="1"/>
          <p:nvPr/>
        </p:nvSpPr>
        <p:spPr>
          <a:xfrm>
            <a:off x="9171432" y="2596896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Écart d'exécution budgétaire</a:t>
            </a:r>
            <a:endParaRPr lang="en-US" sz="11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337560"/>
          <a:ext cx="1109441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3931920"/>
                <a:gridCol w="1005840"/>
                <a:gridCol w="1645920"/>
                <a:gridCol w="10332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Indicateur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Formule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Cible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Dernière valeur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Statut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KPI-037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ROI de la formation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(Bénéfices nets du programme / coûts du programme) x 100 (Phillips)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100 %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108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Satisfaction moyenne de niveau 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Score moyen de réaction sur les sessions clôturées (1-5)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4,2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4.5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KPI-013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progression des compétences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Apprenants gagnant au moins un niveau en 6 mois / apprenants formés x…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70 %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75.6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Écart d'exécution budgétaire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|Réel - alloué| / alloué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≤ 5 %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4.1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KPI-023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Taux de recouvrement des remboursements OFPPT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Remboursements reçus / remboursements prévus x 100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≥ 90 %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97.2 (2026-10)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Vert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31" name="Text 22"/>
          <p:cNvSpPr txBox="1"/>
          <p:nvPr/>
        </p:nvSpPr>
        <p:spPr>
          <a:xfrm>
            <a:off x="548640" y="60807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Source : rapport ROI et impact métier (DT-E2E-08), section indicateurs.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AUDIT INTERNE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Rapport d’audit — Groupe Santéora Cliniques Privées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Conforme avec une non-conformité mineure à corriger sous 60 jours.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548640" y="1783080"/>
          <a:ext cx="45720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6"/>
          <p:cNvSpPr txBox="1"/>
          <p:nvPr/>
        </p:nvSpPr>
        <p:spPr>
          <a:xfrm>
            <a:off x="548640" y="4754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Constats par niveau.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828800"/>
          <a:ext cx="624535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554480"/>
                <a:gridCol w="1097280"/>
                <a:gridCol w="30449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ID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Niveau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Exigence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Constat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Non-conformité mineure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Deux formateurs n’ont pas de preuve de compétence au dossier.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Observation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9.1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Les évaluations de niveau 3 sont prévues mais pas encore planifiées.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F-3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Piste d’amélioration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7.1.6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Capitaliser les retours d’expérience à la fin de chaque session.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F-4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Point fort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ISO 7101 7.2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Analyse des besoins entièrement tracée depuis les objectifs stratégiques.</a:t>
                      </a:r>
                      <a:endParaRPr lang="en-US" sz="10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3" name="Text 7"/>
          <p:cNvSpPr txBox="1"/>
          <p:nvPr/>
        </p:nvSpPr>
        <p:spPr>
          <a:xfrm>
            <a:off x="548640" y="51206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Points forts: Analyse des besoins claire ; forte implication du management ; feuilles de présence complètes.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Suivi: Vérification de l’action corrective au prochain comité de pilotage.</a:t>
            </a:r>
            <a:endParaRPr lang="en-US" sz="12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RETOUR D’EXPÉRIENCE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REX — Triage IA et aide à la décision clinique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Déploiement, évaluation et audit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7F9F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0" name="Shape 6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rgbClr val="28C87C"/>
          </a:solidFill>
          <a:ln w="12700">
            <a:solidFill>
              <a:srgbClr val="28C87C"/>
            </a:solidFill>
            <a:prstDash val="solid"/>
          </a:ln>
        </p:spPr>
      </p:sp>
      <p:pic>
        <p:nvPicPr>
          <p:cNvPr id="11" name="Image 1" descr="ThumbsUp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4" y="2189074"/>
            <a:ext cx="285293" cy="285293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777240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qui a bien fonctionné</a:t>
            </a:r>
            <a:endParaRPr lang="en-US" sz="1400" dirty="0"/>
          </a:p>
        </p:txBody>
      </p:sp>
      <p:sp>
        <p:nvSpPr>
          <p:cNvPr id="13" name="Text 8"/>
          <p:cNvSpPr txBox="1"/>
          <p:nvPr/>
        </p:nvSpPr>
        <p:spPr>
          <a:xfrm>
            <a:off x="777240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 registre des parties prenantes et la diffusion multicanale ont fait progresser le taux de réponse.</a:t>
            </a:r>
            <a:endParaRPr lang="en-US" sz="1250" dirty="0"/>
          </a:p>
        </p:txBody>
      </p:sp>
      <p:sp>
        <p:nvSpPr>
          <p:cNvPr id="14" name="Shape 9"/>
          <p:cNvSpPr/>
          <p:nvPr/>
        </p:nvSpPr>
        <p:spPr>
          <a:xfrm>
            <a:off x="3355848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4C7C3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5" name="Shape 10"/>
          <p:cNvSpPr/>
          <p:nvPr/>
        </p:nvSpPr>
        <p:spPr>
          <a:xfrm>
            <a:off x="3584448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2" descr="TriangleAler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6122" y="2189074"/>
            <a:ext cx="285293" cy="285293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3584448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qui n’a pas fonctionné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3584448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Les éléments SWOT d'une fonction sont arrivés en retard.</a:t>
            </a:r>
            <a:endParaRPr lang="en-US" sz="1250" dirty="0"/>
          </a:p>
        </p:txBody>
      </p:sp>
      <p:sp>
        <p:nvSpPr>
          <p:cNvPr id="19" name="Shape 13"/>
          <p:cNvSpPr/>
          <p:nvPr/>
        </p:nvSpPr>
        <p:spPr>
          <a:xfrm>
            <a:off x="6163056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FFF3B0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6391656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1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3330" y="2189074"/>
            <a:ext cx="285293" cy="285293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6391656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Cause racine</a:t>
            </a:r>
            <a:endParaRPr lang="en-US" sz="1400" dirty="0"/>
          </a:p>
        </p:txBody>
      </p:sp>
      <p:sp>
        <p:nvSpPr>
          <p:cNvPr id="23" name="Text 16"/>
          <p:cNvSpPr txBox="1"/>
          <p:nvPr/>
        </p:nvSpPr>
        <p:spPr>
          <a:xfrm>
            <a:off x="6391656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Aucun suppléant désigné pour le responsable de fonction.</a:t>
            </a:r>
            <a:endParaRPr lang="en-US" sz="1250" dirty="0"/>
          </a:p>
        </p:txBody>
      </p:sp>
      <p:sp>
        <p:nvSpPr>
          <p:cNvPr id="24" name="Shape 17"/>
          <p:cNvSpPr/>
          <p:nvPr/>
        </p:nvSpPr>
        <p:spPr>
          <a:xfrm>
            <a:off x="8970264" y="1828800"/>
            <a:ext cx="2651760" cy="4023360"/>
          </a:xfrm>
          <a:prstGeom prst="roundRect">
            <a:avLst>
              <a:gd name="adj" fmla="val 3448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25" name="Shape 18"/>
          <p:cNvSpPr/>
          <p:nvPr/>
        </p:nvSpPr>
        <p:spPr>
          <a:xfrm>
            <a:off x="9198864" y="2057400"/>
            <a:ext cx="548640" cy="548640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6" name="Image 4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0538" y="2189074"/>
            <a:ext cx="285293" cy="285293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9198864" y="27432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nous ferons la prochaine fois</a:t>
            </a:r>
            <a:endParaRPr lang="en-US" sz="1400" dirty="0"/>
          </a:p>
        </p:txBody>
      </p:sp>
      <p:sp>
        <p:nvSpPr>
          <p:cNvPr id="28" name="Text 20"/>
          <p:cNvSpPr txBox="1"/>
          <p:nvPr/>
        </p:nvSpPr>
        <p:spPr>
          <a:xfrm>
            <a:off x="9198864" y="3337560"/>
            <a:ext cx="2240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Désigner un suppléant pour chaque responsable de fonction dès le lancement.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8595360" y="-1371600"/>
            <a:ext cx="5669280" cy="5669280"/>
          </a:xfrm>
          <a:prstGeom prst="ellipse">
            <a:avLst/>
          </a:prstGeom>
          <a:solidFill>
            <a:srgbClr val="1876C6">
              <a:alpha val="20000"/>
            </a:srgbClr>
          </a:solidFill>
          <a:ln w="12700">
            <a:solidFill>
              <a:srgbClr val="1876C6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875520" y="3749040"/>
            <a:ext cx="3108960" cy="3108960"/>
          </a:xfrm>
          <a:prstGeom prst="ellipse">
            <a:avLst/>
          </a:prstGeom>
          <a:solidFill>
            <a:srgbClr val="17A2B8">
              <a:alpha val="22000"/>
            </a:srgbClr>
          </a:solidFill>
          <a:ln w="12700">
            <a:solidFill>
              <a:srgbClr val="17A2B8">
                <a:alpha val="0"/>
              </a:srgbClr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82880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28C87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06</a:t>
            </a:r>
            <a:endParaRPr lang="en-US" sz="7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175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produits</a:t>
            </a:r>
            <a:endParaRPr lang="en-US" sz="3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38862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 en français, chacun relié à ses données</a:t>
            </a:r>
            <a:endParaRPr lang="en-US" sz="1800" dirty="0"/>
          </a:p>
        </p:txBody>
      </p:sp>
      <p:pic>
        <p:nvPicPr>
          <p:cNvPr id="8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080760"/>
            <a:ext cx="2011680" cy="371602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processus de bout en bout laisse son document</a:t>
            </a:r>
            <a:endParaRPr lang="en-US" sz="23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Tous publiés, versionnés et approuvés par une seconde personne — 1 129 pages.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44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annuel de formation et budget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Diagnostic des écarts de compétences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des besoins de formation et feuille de route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de conception pédagogique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réalisation des formations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d’engagement des apprenants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d’évaluation des formations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ROI et d’impact métier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DT-E2E-09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Registre de conformité et des certifications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Mobilité interne et parcours de carrière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du programme d’intégration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Capitalisation et transfert des connaissances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Catalogue et cycle de vie des contenus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formation de l’entreprise étendue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Gouvernance des données, de l’IA et des intégrations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de gestion des prestataires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conduite du changement et d’adoption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qualité, risques et amélioration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DT-E2E-19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clôture de mission de conseil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diagnostic multi-axes et de maturité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Documents produits (suite)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45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Évaluation de l’impact du plan précédent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déploiement multi-sites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Dossier de soumission réglementaire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Note de veille concurrentielle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Architecture des emplois et cartographie des compétences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Gestion prévisionnelle des emplois et compétences (GPEC)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DT-E2E-27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Consolidation des demandes de formation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DT-E2E-28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Évaluation des performances et tableau RAG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DT-E2E-29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SWOT fonctionnel et axes d’amélioration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24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ressources priorisé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99632" y="1828800"/>
          <a:ext cx="544068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3657600"/>
                <a:gridCol w="64008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Code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Document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Pages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DT-E2E-31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Feuille de route post-mission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DT-E2E-32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Cahier des charges et registre des parties prenantes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DT-E2E-33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de campagne de questionnaires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d’ingénierie de formation et plan de formation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DT-PLAN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Plan de formation avec programmes détaillés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DT-AUDIT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Rapport d’audit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6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DT-MASTER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Liste maîtresse des informations documentées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25</a:t>
                      </a:r>
                      <a:endParaRPr lang="en-US" sz="95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TRAÇABILITÉ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Chaque chiffre du rapport provient d’un enregistrement</a:t>
            </a:r>
            <a:endParaRPr lang="en-US" sz="21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316736"/>
            <a:ext cx="110944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tableau de ce document provient des enregistrements de l’application ; données au 07/10/2026 15:27:56.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7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6400800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1005840"/>
                <a:gridCol w="1188720"/>
                <a:gridCol w="1554480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Source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Enreg.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Processus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Dernière modif.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3A5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Réponses aux questionnaires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—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Stakeholder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ScopeCriterion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MP-52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SkillAssessment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SkillGap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8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TrainingNeed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10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RoadmapInitiative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WbsNode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3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Session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4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MP-05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TrainingPlan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MP-49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Employee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MP-16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StrategicObjective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MP-01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2C3E50"/>
                          </a:solidFill>
                          <a:latin typeface="Open Sans" pitchFamily="34" charset="0"/>
                          <a:ea typeface="Open Sans" pitchFamily="34" charset="-122"/>
                          <a:cs typeface="Open Sans" pitchFamily="34" charset="-120"/>
                        </a:rPr>
                        <a:t>2026-10-07</a:t>
                      </a:r>
                      <a:endParaRPr lang="en-US" sz="1000" dirty="0">
                        <a:latin typeface="Open Sans" charset="0"/>
                        <a:ea typeface="Open Sans" charset="0"/>
                        <a:cs typeface="Open Sans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1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8FB"/>
                    </a:solidFill>
                  </a:tcPr>
                </a:tc>
              </a:tr>
            </a:tbl>
          </a:graphicData>
        </a:graphic>
      </p:graphicFrame>
      <p:sp>
        <p:nvSpPr>
          <p:cNvPr id="11" name="Shape 6"/>
          <p:cNvSpPr/>
          <p:nvPr/>
        </p:nvSpPr>
        <p:spPr>
          <a:xfrm>
            <a:off x="7269480" y="1828800"/>
            <a:ext cx="4370832" cy="4023360"/>
          </a:xfrm>
          <a:prstGeom prst="roundRect">
            <a:avLst>
              <a:gd name="adj" fmla="val 2273"/>
            </a:avLst>
          </a:prstGeom>
          <a:solidFill>
            <a:srgbClr val="E8F1FB"/>
          </a:solidFill>
          <a:ln w="9525">
            <a:solidFill>
              <a:srgbClr val="E1E8F0"/>
            </a:solidFill>
            <a:prstDash val="solid"/>
          </a:ln>
        </p:spPr>
      </p:sp>
      <p:sp>
        <p:nvSpPr>
          <p:cNvPr id="12" name="Text 7"/>
          <p:cNvSpPr txBox="1"/>
          <p:nvPr/>
        </p:nvSpPr>
        <p:spPr>
          <a:xfrm>
            <a:off x="7498080" y="19659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Gouvernance des documents</a:t>
            </a:r>
            <a:endParaRPr lang="en-US" sz="1500" dirty="0"/>
          </a:p>
        </p:txBody>
      </p:sp>
      <p:sp>
        <p:nvSpPr>
          <p:cNvPr id="13" name="Shape 8"/>
          <p:cNvSpPr/>
          <p:nvPr/>
        </p:nvSpPr>
        <p:spPr>
          <a:xfrm>
            <a:off x="7498080" y="246888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4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90252" y="2561052"/>
            <a:ext cx="199705" cy="199705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8046720" y="244144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Auteur Hicham Naciri, approbateur Mehdi Lahlou : deux personnes différentes.</a:t>
            </a:r>
            <a:endParaRPr lang="en-US" sz="1200" dirty="0"/>
          </a:p>
        </p:txBody>
      </p:sp>
      <p:sp>
        <p:nvSpPr>
          <p:cNvPr id="16" name="Shape 10"/>
          <p:cNvSpPr/>
          <p:nvPr/>
        </p:nvSpPr>
        <p:spPr>
          <a:xfrm>
            <a:off x="7498080" y="352044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7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0252" y="3612612"/>
            <a:ext cx="199705" cy="19970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8046720" y="349300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Chaque version est conservée ; un changement des données marque le document comme obsolète.</a:t>
            </a:r>
            <a:endParaRPr lang="en-US" sz="1200" dirty="0"/>
          </a:p>
        </p:txBody>
      </p:sp>
      <p:sp>
        <p:nvSpPr>
          <p:cNvPr id="19" name="Shape 12"/>
          <p:cNvSpPr/>
          <p:nvPr/>
        </p:nvSpPr>
        <p:spPr>
          <a:xfrm>
            <a:off x="7498080" y="45720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0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90252" y="4664172"/>
            <a:ext cx="199705" cy="199705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8046720" y="4544568"/>
            <a:ext cx="3429000" cy="978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sources de données listées avec leur nombre d’enregistrements et leur processus.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DANS L’APPLICATION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1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 plan de formation tel que les utilisateurs le voient</a:t>
            </a:r>
            <a:endParaRPr lang="en-US" sz="21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47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0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Plan de formation avec programmes détaillés — Groupe Santéora Cliniques Privées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2" descr="Capture d’écran de l’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Écran du plan de formation : programmes, formations et sessions.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DANS L’APPLICATION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L’espace projet et le tableau de bord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Documents produits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48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0292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0" name="Image 1" descr="Capture d’écran de l’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42900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54864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Espace projet : phases, processus et avancement.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6126480" y="1783080"/>
            <a:ext cx="5577840" cy="3520440"/>
          </a:xfrm>
          <a:prstGeom prst="roundRect">
            <a:avLst>
              <a:gd name="adj" fmla="val 1558"/>
            </a:avLst>
          </a:prstGeom>
          <a:solidFill>
            <a:srgbClr val="FFFFFF"/>
          </a:solidFill>
          <a:ln w="9525">
            <a:solidFill>
              <a:srgbClr val="E1E8F0"/>
            </a:solidFill>
            <a:prstDash val="solid"/>
          </a:ln>
        </p:spPr>
      </p:sp>
      <p:pic>
        <p:nvPicPr>
          <p:cNvPr id="13" name="Image 2" descr="Capture d’écran de l’application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828800"/>
            <a:ext cx="5486400" cy="342900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172200" y="58521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Tableau de bord du groupe de cliniques.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548640" y="3474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1876C6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</a:t>
            </a:r>
            <a:endParaRPr lang="en-US" sz="14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658368"/>
            <a:ext cx="11094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23A5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Ce que le groupe obtient en fin de cycle</a:t>
            </a:r>
            <a:endParaRPr lang="en-US" sz="2600" dirty="0"/>
          </a:p>
        </p:txBody>
      </p:sp>
      <p:sp>
        <p:nvSpPr>
          <p:cNvPr id="5" name="Shape 2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9525">
            <a:solidFill>
              <a:srgbClr val="E1E8F0"/>
            </a:solidFill>
            <a:prstDash val="solid"/>
          </a:ln>
        </p:spPr>
      </p:sp>
      <p:pic>
        <p:nvPicPr>
          <p:cNvPr id="6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400800"/>
            <a:ext cx="1463040" cy="271272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2377440" y="6437376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Conclusion  ·  Données de démonstration — organisation fictive</a:t>
            </a:r>
            <a:endParaRPr lang="en-US" sz="1000" dirty="0"/>
          </a:p>
        </p:txBody>
      </p:sp>
      <p:sp>
        <p:nvSpPr>
          <p:cNvPr id="8" name="Text 4"/>
          <p:cNvSpPr txBox="1"/>
          <p:nvPr/>
        </p:nvSpPr>
        <p:spPr>
          <a:xfrm>
            <a:off x="10728655" y="643737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7B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49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548640" y="1920240"/>
            <a:ext cx="384048" cy="384048"/>
          </a:xfrm>
          <a:prstGeom prst="ellipse">
            <a:avLst/>
          </a:prstGeom>
          <a:solidFill>
            <a:srgbClr val="1876C6"/>
          </a:solidFill>
          <a:ln w="12700">
            <a:solidFill>
              <a:srgbClr val="1876C6"/>
            </a:solidFill>
            <a:prstDash val="solid"/>
          </a:ln>
        </p:spPr>
      </p:sp>
      <p:pic>
        <p:nvPicPr>
          <p:cNvPr id="10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812" y="2012412"/>
            <a:ext cx="199705" cy="199705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097280" y="189280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Rapport d’ingénierie de formation de 206 pages, construit à partir de 35 réponses, 40 parties prenantes et du diagnostic de chaque fonction.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69748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3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812" y="2789652"/>
            <a:ext cx="199705" cy="199705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097280" y="267004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 Plan de formation verrouillé : 6 formations, des déroulés par demi-journée, une proposition de valeur par persona et un budget de 1 260 000</a:t>
            </a:r>
            <a:endParaRPr lang="en-US" sz="1500" dirty="0"/>
          </a:p>
        </p:txBody>
      </p:sp>
      <p:sp>
        <p:nvSpPr>
          <p:cNvPr id="15" name="Shape 9"/>
          <p:cNvSpPr/>
          <p:nvPr/>
        </p:nvSpPr>
        <p:spPr>
          <a:xfrm>
            <a:off x="548640" y="347472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6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812" y="3566892"/>
            <a:ext cx="199705" cy="199705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1097280" y="344728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Une évaluation sur trois niveaux de Kirkpatrick, une étude ROI, des certifications suivies et un audit interne avec une non-conformité mineure à corriger.</a:t>
            </a:r>
            <a:endParaRPr lang="en-US" sz="1500" dirty="0"/>
          </a:p>
        </p:txBody>
      </p:sp>
      <p:sp>
        <p:nvSpPr>
          <p:cNvPr id="18" name="Shape 11"/>
          <p:cNvSpPr/>
          <p:nvPr/>
        </p:nvSpPr>
        <p:spPr>
          <a:xfrm>
            <a:off x="548640" y="425196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19" name="Image 4" descr="CircleD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12" y="4344132"/>
            <a:ext cx="199705" cy="199705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1097280" y="422452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37 documents publiés, prêts pour un audit d’accréditation (ISO 7101, JCI), chacun relié aux données et à l’étape qui l’a produit.</a:t>
            </a:r>
            <a:endParaRPr lang="en-US" sz="1500" dirty="0"/>
          </a:p>
        </p:txBody>
      </p:sp>
      <p:sp>
        <p:nvSpPr>
          <p:cNvPr id="21" name="Shape 13"/>
          <p:cNvSpPr/>
          <p:nvPr/>
        </p:nvSpPr>
        <p:spPr>
          <a:xfrm>
            <a:off x="548640" y="5029200"/>
            <a:ext cx="384048" cy="384048"/>
          </a:xfrm>
          <a:prstGeom prst="ellipse">
            <a:avLst/>
          </a:prstGeom>
          <a:solidFill>
            <a:srgbClr val="123A5F"/>
          </a:solidFill>
          <a:ln w="12700">
            <a:solidFill>
              <a:srgbClr val="123A5F"/>
            </a:solidFill>
            <a:prstDash val="solid"/>
          </a:ln>
        </p:spPr>
      </p:sp>
      <p:pic>
        <p:nvPicPr>
          <p:cNvPr id="22" name="Image 5" descr="Targe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812" y="5121372"/>
            <a:ext cx="199705" cy="199705"/>
          </a:xfrm>
          <a:prstGeom prst="rect">
            <a:avLst/>
          </a:prstGeom>
        </p:spPr>
      </p:pic>
      <p:sp>
        <p:nvSpPr>
          <p:cNvPr id="23" name="Text 14"/>
          <p:cNvSpPr txBox="1"/>
          <p:nvPr/>
        </p:nvSpPr>
        <p:spPr>
          <a:xfrm>
            <a:off x="1097280" y="5001768"/>
            <a:ext cx="10545775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2C3E50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Ensuite : vagues 2 et 3 de la feuille de route et évaluation de niveau 4 (résultats) six à douze mois après les formations.</a:t>
            </a:r>
            <a:endParaRPr lang="en-US" sz="15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123A5F"/>
        </a:solidFill>
      </p:bgPr>
    </p:bg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AI Valu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49928" y="1371600"/>
            <a:ext cx="3291840" cy="234452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0" y="4069080"/>
            <a:ext cx="121916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Merci</a:t>
            </a:r>
            <a:endParaRPr lang="en-US" sz="3600" dirty="0"/>
          </a:p>
        </p:txBody>
      </p:sp>
      <p:sp>
        <p:nvSpPr>
          <p:cNvPr id="5" name="Text 1"/>
          <p:cNvSpPr txBox="1"/>
          <p:nvPr/>
        </p:nvSpPr>
        <p:spPr>
          <a:xfrm>
            <a:off x="0" y="48920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spc="300" kern="0" dirty="0">
                <a:solidFill>
                  <a:srgbClr val="28C87C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MEASURABLE · GOVERNED · SUSTAINABLE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50</Slides>
  <Notes>50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50</vt:i4>
      </vt:variant>
    </vt:vector>
  </HeadingPairs>
  <TitlesOfParts>
    <vt:vector size="5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</vt:vector>
  </TitlesOfParts>
  <Company>AI Value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Cas complet santé — Projet d’ingénierie de formation</dc:title>
  <dc:subject>PptxGenJS Presentation</dc:subject>
  <dc:creator>AI Value</dc:creator>
  <cp:lastModifiedBy>AI Value</cp:lastModifiedBy>
  <cp:revision>1</cp:revision>
  <dcterms:created xsi:type="dcterms:W3CDTF">2026-10-12T22:10:04Z</dcterms:created>
  <dcterms:modified xsi:type="dcterms:W3CDTF">2026-10-12T22:10:04Z</dcterms:modified>
</cp:coreProperties>
</file>
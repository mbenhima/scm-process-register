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9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0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2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1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4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15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6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7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8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19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0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21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22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23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24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25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2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2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28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9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30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charts/chart31.xml" ContentType="application/vnd.openxmlformats-officedocument.drawingml.chart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Grande entreprise</c:v>
                  </c:pt>
                  <c:pt idx="1">
                    <c:v>PME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Grande entreprise</c:v>
                  </c:pt>
                  <c:pt idx="1">
                    <c:v>PME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FNB</c:v>
                  </c:pt>
                  <c:pt idx="1">
                    <c:v>PUED</c:v>
                  </c:pt>
                  <c:pt idx="2">
                    <c:v>HLS</c:v>
                  </c:pt>
                  <c:pt idx="3">
                    <c:v>SHIP</c:v>
                  </c:pt>
                  <c:pt idx="4">
                    <c:v>INFR</c:v>
                  </c:pt>
                  <c:pt idx="5">
                    <c:v>AUTO</c:v>
                  </c:pt>
                  <c:pt idx="6">
                    <c:v>RETL</c:v>
                  </c:pt>
                  <c:pt idx="7">
                    <c:v>PHAR</c:v>
                  </c:pt>
                  <c:pt idx="8">
                    <c:v>ENUT</c:v>
                  </c:pt>
                  <c:pt idx="9">
                    <c:v>SEMI</c:v>
                  </c:pt>
                  <c:pt idx="10">
                    <c:v>HCPR</c:v>
                  </c:pt>
                  <c:pt idx="11">
                    <c:v>CPEX</c:v>
                  </c:pt>
                  <c:pt idx="12">
                    <c:v>AEC</c:v>
                  </c:pt>
                  <c:pt idx="13">
                    <c:v>FTAP</c:v>
                  </c:pt>
                  <c:pt idx="14">
                    <c:v>FABA</c:v>
                  </c:pt>
                  <c:pt idx="15">
                    <c:v>MFGG</c:v>
                  </c:pt>
                  <c:pt idx="16">
                    <c:v>ELEC</c:v>
                  </c:pt>
                  <c:pt idx="17">
                    <c:v>TELC</c:v>
                  </c:pt>
                  <c:pt idx="18">
                    <c:v>DIST</c:v>
                  </c:pt>
                  <c:pt idx="19">
                    <c:v>AERO</c:v>
                  </c:pt>
                  <c:pt idx="20">
                    <c:v>SSE</c:v>
                  </c:pt>
                  <c:pt idx="21">
                    <c:v>MACH</c:v>
                  </c:pt>
                  <c:pt idx="22">
                    <c:v>PETR</c:v>
                  </c:pt>
                  <c:pt idx="23">
                    <c:v>LOGI</c:v>
                  </c:pt>
                  <c:pt idx="24">
                    <c:v>PRED</c:v>
                  </c:pt>
                  <c:pt idx="25">
                    <c:v>PHPR</c:v>
                  </c:pt>
                  <c:pt idx="26">
                    <c:v>PROC</c:v>
                  </c:pt>
                  <c:pt idx="27">
                    <c:v>PKGD</c:v>
                  </c:pt>
                  <c:pt idx="28">
                    <c:v>CPG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69</c:v>
                </c:pt>
                <c:pt idx="1">
                  <c:v>69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67</c:v>
                </c:pt>
                <c:pt idx="6">
                  <c:v>67</c:v>
                </c:pt>
                <c:pt idx="7">
                  <c:v>67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53</c:v>
                </c:pt>
                <c:pt idx="12">
                  <c:v>52</c:v>
                </c:pt>
                <c:pt idx="13">
                  <c:v>52</c:v>
                </c:pt>
                <c:pt idx="14">
                  <c:v>52</c:v>
                </c:pt>
                <c:pt idx="15">
                  <c:v>52</c:v>
                </c:pt>
                <c:pt idx="16">
                  <c:v>51</c:v>
                </c:pt>
                <c:pt idx="17">
                  <c:v>51</c:v>
                </c:pt>
                <c:pt idx="18">
                  <c:v>50</c:v>
                </c:pt>
                <c:pt idx="19">
                  <c:v>49</c:v>
                </c:pt>
                <c:pt idx="20">
                  <c:v>49</c:v>
                </c:pt>
                <c:pt idx="21">
                  <c:v>29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27</c:v>
                </c:pt>
                <c:pt idx="26">
                  <c:v>27</c:v>
                </c:pt>
                <c:pt idx="27">
                  <c:v>27</c:v>
                </c:pt>
                <c:pt idx="28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image" Target="../media/image-2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image" Target="../media/image-3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image" Target="../media/image-3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34-1.png"/><Relationship Id="rId3" Type="http://schemas.openxmlformats.org/officeDocument/2006/relationships/image" Target="../media/image-34-2.png"/><Relationship Id="rId4" Type="http://schemas.openxmlformats.org/officeDocument/2006/relationships/image" Target="../media/image-3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36-1.png"/><Relationship Id="rId3" Type="http://schemas.openxmlformats.org/officeDocument/2006/relationships/image" Target="../media/image-36-2.png"/><Relationship Id="rId4" Type="http://schemas.openxmlformats.org/officeDocument/2006/relationships/image" Target="../media/image-3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38-1.png"/><Relationship Id="rId3" Type="http://schemas.openxmlformats.org/officeDocument/2006/relationships/image" Target="../media/image-38-2.png"/><Relationship Id="rId4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40-1.png"/><Relationship Id="rId3" Type="http://schemas.openxmlformats.org/officeDocument/2006/relationships/image" Target="../media/image-40-2.png"/><Relationship Id="rId4" Type="http://schemas.openxmlformats.org/officeDocument/2006/relationships/image" Target="../media/image-4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42-1.png"/><Relationship Id="rId3" Type="http://schemas.openxmlformats.org/officeDocument/2006/relationships/image" Target="../media/image-42-2.png"/><Relationship Id="rId4" Type="http://schemas.openxmlformats.org/officeDocument/2006/relationships/image" Target="../media/image-4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44-1.png"/><Relationship Id="rId3" Type="http://schemas.openxmlformats.org/officeDocument/2006/relationships/image" Target="../media/image-44-2.png"/><Relationship Id="rId4" Type="http://schemas.openxmlformats.org/officeDocument/2006/relationships/image" Target="../media/image-4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image-46-1.pn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1" Type="http://schemas.openxmlformats.org/officeDocument/2006/relationships/image" Target="../media/image-48-1.png"/><Relationship Id="rId3" Type="http://schemas.openxmlformats.org/officeDocument/2006/relationships/image" Target="../media/image-48-2.png"/><Relationship Id="rId4" Type="http://schemas.openxmlformats.org/officeDocument/2006/relationships/image" Target="../media/image-4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6.xml"/><Relationship Id="rId1" Type="http://schemas.openxmlformats.org/officeDocument/2006/relationships/image" Target="../media/image-50-1.png"/><Relationship Id="rId3" Type="http://schemas.openxmlformats.org/officeDocument/2006/relationships/image" Target="../media/image-50-2.png"/><Relationship Id="rId4" Type="http://schemas.openxmlformats.org/officeDocument/2006/relationships/image" Target="../media/image-5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4-1.png"/><Relationship Id="rId3" Type="http://schemas.openxmlformats.org/officeDocument/2006/relationships/image" Target="../media/image-54-2.png"/><Relationship Id="rId4" Type="http://schemas.openxmlformats.org/officeDocument/2006/relationships/image" Target="../media/image-5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6-1.png"/><Relationship Id="rId3" Type="http://schemas.openxmlformats.org/officeDocument/2006/relationships/image" Target="../media/image-56-2.png"/><Relationship Id="rId4" Type="http://schemas.openxmlformats.org/officeDocument/2006/relationships/image" Target="../media/image-5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0.xml"/><Relationship Id="rId1" Type="http://schemas.openxmlformats.org/officeDocument/2006/relationships/image" Target="../media/image-58-1.png"/><Relationship Id="rId3" Type="http://schemas.openxmlformats.org/officeDocument/2006/relationships/image" Target="../media/image-58-2.png"/><Relationship Id="rId4" Type="http://schemas.openxmlformats.org/officeDocument/2006/relationships/image" Target="../media/image-5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1.xml"/><Relationship Id="rId1" Type="http://schemas.openxmlformats.org/officeDocument/2006/relationships/image" Target="../media/image-60-1.png"/><Relationship Id="rId3" Type="http://schemas.openxmlformats.org/officeDocument/2006/relationships/image" Target="../media/image-60-2.png"/><Relationship Id="rId4" Type="http://schemas.openxmlformats.org/officeDocument/2006/relationships/image" Target="../media/image-6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2.xml"/><Relationship Id="rId1" Type="http://schemas.openxmlformats.org/officeDocument/2006/relationships/image" Target="../media/image-62-1.png"/><Relationship Id="rId3" Type="http://schemas.openxmlformats.org/officeDocument/2006/relationships/image" Target="../media/image-62-2.png"/><Relationship Id="rId4" Type="http://schemas.openxmlformats.org/officeDocument/2006/relationships/image" Target="../media/image-6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3.xml"/><Relationship Id="rId1" Type="http://schemas.openxmlformats.org/officeDocument/2006/relationships/image" Target="../media/image-64-1.png"/><Relationship Id="rId3" Type="http://schemas.openxmlformats.org/officeDocument/2006/relationships/image" Target="../media/image-64-2.png"/><Relationship Id="rId4" Type="http://schemas.openxmlformats.org/officeDocument/2006/relationships/image" Target="../media/image-6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4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image" Target="../media/image-6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5.xml"/><Relationship Id="rId1" Type="http://schemas.openxmlformats.org/officeDocument/2006/relationships/image" Target="../media/image-68-1.png"/><Relationship Id="rId3" Type="http://schemas.openxmlformats.org/officeDocument/2006/relationships/image" Target="../media/image-68-2.png"/><Relationship Id="rId4" Type="http://schemas.openxmlformats.org/officeDocument/2006/relationships/image" Target="../media/image-6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6.xml"/><Relationship Id="rId1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image" Target="../media/image-7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7.xml"/><Relationship Id="rId1" Type="http://schemas.openxmlformats.org/officeDocument/2006/relationships/image" Target="../media/image-72-1.png"/><Relationship Id="rId3" Type="http://schemas.openxmlformats.org/officeDocument/2006/relationships/image" Target="../media/image-72-2.png"/><Relationship Id="rId4" Type="http://schemas.openxmlformats.org/officeDocument/2006/relationships/image" Target="../media/image-7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8.xml"/><Relationship Id="rId1" Type="http://schemas.openxmlformats.org/officeDocument/2006/relationships/image" Target="../media/image-74-1.png"/><Relationship Id="rId3" Type="http://schemas.openxmlformats.org/officeDocument/2006/relationships/image" Target="../media/image-74-2.png"/><Relationship Id="rId4" Type="http://schemas.openxmlformats.org/officeDocument/2006/relationships/image" Target="../media/image-7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9.xml"/><Relationship Id="rId1" Type="http://schemas.openxmlformats.org/officeDocument/2006/relationships/image" Target="../media/image-76-1.png"/><Relationship Id="rId3" Type="http://schemas.openxmlformats.org/officeDocument/2006/relationships/image" Target="../media/image-76-2.png"/><Relationship Id="rId4" Type="http://schemas.openxmlformats.org/officeDocument/2006/relationships/image" Target="../media/image-7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0.xml"/><Relationship Id="rId1" Type="http://schemas.openxmlformats.org/officeDocument/2006/relationships/image" Target="../media/image-78-1.png"/><Relationship Id="rId3" Type="http://schemas.openxmlformats.org/officeDocument/2006/relationships/image" Target="../media/image-78-2.png"/><Relationship Id="rId4" Type="http://schemas.openxmlformats.org/officeDocument/2006/relationships/image" Target="../media/image-7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L’ingénierie de formation de bout en bout — l’application en action, secteur par secteur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couvre cette présentation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59872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3317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de vie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phases, 33 processus de bout en bout, cinq jalons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MousePointerCl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5987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38928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dynamique pas à pas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structure des locataires aux rapports, sur une grande entreprise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59872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946136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6437376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PME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parcours allégés pour les petites structures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44584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LayoutGri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59872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53344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9244584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Secteur par secteur</a:t>
            </a:r>
            <a:endParaRPr lang="en-US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secteurs, chacun avec sa grande entreprise et sa PME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cycle, sept phases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regroupe des processus de bout en bout ; un jalon clôt chaque phase principale.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collecte de preuves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d'ingénierie de formation et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processus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et déploiement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processus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Évaluation, conformité et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processus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Talents, savoirs et amélioration continue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21208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couvrent toutes les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E2E-15 · E2E-17 · E2E-18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SEGMENTS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organisation mène deux cycles complets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digitales et compétences IA, pour les grandes entreprises et les PME, dans 29 secteurs.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segments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3719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 — Digital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0" y="22402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6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37195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 — IA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Digital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42900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657600" y="425196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8" name="Image 3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274" y="43836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34340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IA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583680" y="192024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6583680" y="5532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moyen de tâches terminées par segment et par déroulé, sur les 29 secteurs (%)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dynamique pas à pas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Atlas Motors Kénitra, automobile, grande entreprise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· LOCATAIRES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 du groupe et de l’organisation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groupe (oui ou non), puis l’organisation.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organisation est un locataire fermé : ses données ne sont jamais visibles d’une autre.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membres d’un groupe lisent les organisations sœurs sans pouvoir les modifier.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· NOUVEAU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le déroulé depuis le catalogue, à la main ou avec l’IA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sept critères pondérés : le score recommande le mode complet ou un parcours PME.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l’IA : saisir une courte description ; accepter, modifier ou rejeter chaque élément proposé.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jalons, listes de contrôle et rôles viennent du modèle choisi.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 phases, processus et jalons sur un seul écran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par phase et par processus, tâches en retard, score de complexité.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(données, changement, qualité) couvrent toutes les phases.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de contrôle d’un jalon doit être complète avant la phase suivante.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· CHAÎNE DES PROCESSUS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processus s’alimentent entre eux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processus de bout en bout a un déclencheur, un état final, des entrées et des sorties.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montre quel processus utilise quelle sortie.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diagrammes BPMN se consultent, se modifient, s’importent et s’exportent.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· TÂCHE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Quoi saisir » pour chaque tâche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indique la réponse attendue pour cette organisation et ce secteur.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L’aide IA propose un brouillon, étiqueté avec sa confiance et ses sources.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responsable et l’évaluateur sont toujours deux personnes différentes.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· GOUVERNANCE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Approbateur par activité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RACSI sont affectés par activité, avec un seul Approbateur.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Risques, contrôles et règles métier sont rattachés aux processus.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modification d’un champ gouverné est justifiée et tracée.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7 · PLANIFICATION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déroulé sur une frise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processus et tâches sur un même Gantt, avec dépendances.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barres de synthèse sont calculées à partir des tâches.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ou enregistrer en PDF.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8 · RÉSULTATS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Rapports et questions en langage courant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standard exportés en PDF, Excel et Word.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L’assistant IA répond à partir des données de l’organisation, dans les limites des permissions.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alertes signalent les étapes en retard et les indicateurs hors cible.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9 · CONCEPTION DES PROCESSUS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conception propre à votre organisation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Renommer, ajouter, retirer ou déplacer les éléments de la référence ; chaque changement est une version.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règles de nommage sont vérifiées avant l’enregistrement, en trois langues.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version est publiée par une seconde personne ; les projets s’exécutent dessus.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10 · ÉTAPES TYPÉES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étape demande ce qu’elle produit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d’enregistrements, matrices, objectifs et plans ; formulaires pour décisions et revues.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lignes s’enregistrent au fil de la saisie ; annulation, collage depuis un tableur, éditeur de ligne.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étapes terminées alimentent les registres du projet.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11 · DOCUMENTS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documents rédigés à partir des données du déroulé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modèles : un par livrable de processus, le rapport, le plan, l’audit et la liste maîtresse.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remplacements survivent à la régénération ; versions comparées et restaurées.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Publiés par une seconde personne ; Word, PDF et Excel.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12 · ORGANISATION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Rôles, titulaires et RACSI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fonctions regroupent les rôles ; chaque rôle a ses titulaires, adjoints et affectations.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L’organigramme et les rôles vacants, à toute date.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par étape, par rôle, avec un seul responsable final.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PME : des parcours allégés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Clinique Al Amal, établissement de santé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parcours PME, dimensionnés par la complexité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de complexité recommande le parcours ; un autre choix exige une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PME : des parcours allégés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· Essentiel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854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60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jalons, listes courtes, environ 6 semaines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 · Standard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clés avec trois jalons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636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 · Étendu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6542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Proche du mode complet, documentation allégée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65776" y="1819656"/>
            <a:ext cx="6601968" cy="4167378"/>
          </a:xfrm>
          <a:prstGeom prst="roundRect">
            <a:avLst>
              <a:gd name="adj" fmla="val 175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1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874520"/>
            <a:ext cx="649224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mêmes consignes, sur tous les écrans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de santé : le panneau de tâche en français, l’espace projet en arabe sur mobile.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PME : des parcours allégés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7863840" cy="4914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819656"/>
            <a:ext cx="2258568" cy="4760038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74520"/>
            <a:ext cx="2148840" cy="46503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Secteur par secteur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secteurs · 58 organisations · 116 déroulés complets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Assemblage et production · IATF 16949, ISO 9001,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 Auto Parts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visuelle par IA des soudures et de la peinture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prédictive des lignes de presses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et suivi numérique de l'atelier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 et gestion numérique des modifications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 fournisseurs et EDI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Aéronautique et défense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Aérostructures et MRO · AS9100, EN 9110,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Aero Composites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non destructif assisté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prédictive de la maintenance MRO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AS9100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de travail numériques et carnets électroniques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des outillages d'assemblage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configuration dans le PLM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Aéronautique et défense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industrielles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Usinage et assemblage · ISO 9001, ISO 12100, CE Machinery Directive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Fès Mécanique de Précision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prédictive pilotée par l'IA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la qualité par apprentissage automatique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CNC et FAO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Connectivité IIoT des machines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après-vente numérique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industrielles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Opérations cliniques et laboratoire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diagnostics assistés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la détection des signaux de pharmacovigilance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Cahiers de laboratoire électroniques et LIMS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électronique de la qualité (eQMS)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des données de santé (HL7 FHIR)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Électronique et haute technologie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Assemblage CMS et test · IPC-A-610, ISO 9001,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Circuitec Oujda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 de l'inspection optique automatisée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rendement par apprentissage automatique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IPC-A-610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par MES et codes-barres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Bancs de test numériques et capture de données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matières pilotée par l'ERP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Électronique et haute technologie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ingénierie et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Travaux de chantier et réalisation de projets · ISO 19650, ISO 45001,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Ingénierie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Souss BTP Solutions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conflits et vérification de maquette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de la sécurité par IA avec caméras de chantier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BIM et flux ISO 19650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de chantier numérique et reporting terrain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par drone et scans 3D de chantier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ingénierie et construction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Ingénierie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Agroalimentaire et boissons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Production et sécurité alimentaire · HACCP, ISO 22000, FSSC 22000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Laitière Al Baraka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par IA de la durée de conservation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par ordinateur pour la détection de corps étrangers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HACCP numériques et traçabilité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recettes et des lots dans l'ERP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connectée de la chaîne du froid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Agroalimentaire et boissons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sociale et solidaire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Services aux membres et coopératives · ISO 26000, ISO 9001, Cooperative law 112-12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Argan Tiznit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d'impact par IA des programmes sociaux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 IA pour la sensibilisation en langue locale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des adhérents et comptabilité coopérative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en ligne des produits coopératifs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mobile et outils de microfinance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sociale et solidaire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Fabrication BPF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procédés par IA pour le rendement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IA des déviations et des CAPA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de lot électroniques (EBR)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systèmes informatisés (CSV)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et pratiques ALCOA+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Commerce de détail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Opérations en magasin · ISO 9001, PCI DSS, ISO 10002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Marrakech Concept Store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IA de la demande et réapprovisionnement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des offres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 omnicanale et click-and-collect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 numérique et planogrammes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et programmes de fidélité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Commerce de détail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Chaussure et habillement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Coupe, couture et finition · ISO 9001, OEKO-TEX, SA8000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Chaussure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Cuir Fès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des défauts sur les tissus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des lignes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Patronage numérique et prototypage 3D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des données atelier par opération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numérique aux codes des donneurs d'ordre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Chaussure et habillement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Chaussure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Biens de consommation emballés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Conditionnement et opérations de marque · ISO 9001, ISO 22716,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Savonnerie Beldi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IA de l'efficacité des promotions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IA des insights consommateurs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numérique des maquettes et de l'étiquetage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trade marketing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numériques du TRS des lignes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Biens de consommation emballés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Énergie et services publics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Exploitation des réseaux et maintenance terrain · ISO 50001, ISO 55001,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Énergie &amp; Services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Solaris Maintenance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IA de la charge des réseaux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d'anomalies sur les actifs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et salles de contrôle numériques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mobile des ordres de travail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 SIG des actifs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Énergie et services publics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Énergie &amp; Services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Télécommunications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Exploitation réseau et relation client · ISO/IEC 27001, ISO 9001, TM Forum eTOM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Télécom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NetConnect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des pannes réseau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 l'attrition des clients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réseau et SDN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clients numériques et selfcare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cloud natives (DevOps)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Télécommunications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Télécom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Pétrochimie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Conduite des procédés et sécurité · ISO 45001, Seveso III, API RP 754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Pétrochimie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 Services Safi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des procédés (APC)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 la corrosion et de l'intégrité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 de travail numérique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Simulateurs de formation des opérateurs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 la sécurité des procédés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Pétrochimie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Pétrochimie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navale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Construction de coques et armement · ISO 9001, IACS UR, ISO 3834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Outfitting Agadir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IA de la qualité des soudures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l'imbrication des tôles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3D et modèles de production navale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numériques de qualification soudage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blocs et ordonnancement numérique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navale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Produits de consommation étendus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Développement produit et sourcing · ISO 9001, ISO 10377,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Maison &amp; Déco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Poterie Safi Design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Criblage IA des risques de sécurité produit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des avis et du sentiment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 l'information produit (PIM)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de collaboration fournisseurs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sur les places de marché en ligne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Produits de consommation étendus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Maison &amp; Déco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Industries de procédés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Conduite des procédés continus · ISO 9001, ISO 14001,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Minéraux Atlas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Lab Khouribga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logiciels IA pour la qualité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l'efficacité énergétique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Conduite DCS et main courante numérique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de laboratoire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de suivi énergétique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Industries de procédés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Minéraux Atlas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Gestion des actifs et exploitation · ISO 55001, ISO 19650,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 Inspect Maroc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IA de l'état des structures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IA du trafic et de la demande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numériques des actifs et GMAO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d'infrastructure intelligents (IoT)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numérique sur tablette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et assemblage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Fabrication métallique et assemblage · ISO 9001, ISO 3834, EN 1090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Structures Métalliques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Métal Berrechid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des plans de découpe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programmation des robots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travail et gammes numériques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CAO/FAO pour la tôlerie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numériques des contrôles qualité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et assemblage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Structures Métalliques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Produits conditionnés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Lignes de remplissage et de conditionnement · ISO 22000, ISO 9001, BRCGS Packaging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Conditionnement &amp; Embouteillage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Emballages Kénitra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des pertes de TRS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IA pour le contrôle des scellés et étiquettes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22000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Check-lists numériques de changement de format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numérique du poids et du remplissage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d'entrepôt (WMS)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Produits conditionnés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Conditionnement &amp; Embouteillage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Semi-conducteurs et électronique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Salle blanche et opérations back-end · ISO 9001, IATF 16949, ISO 14644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MicroTest Engineering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IA des défauts sur cartes de plaquettes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Métrologie virtuelle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numérique aux protocoles de salle blanche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des équipements (SECS/GEM)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de maîtrise statistique (MSP)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Semi-conducteurs et électronique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Réseau de vente et de distribution · ISO 9001, ISO 28000, ISO 39001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 Oriental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IA de la meilleure offre pour les commerciaux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IA du risque crédit des clients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de la force de vente sur mobile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Portails de commande B2B en ligne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tournées et télématique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Entreposage et transport · ISO 9001, ISO 28000, TAPA FSR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Logistique Tanger Med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Atlas Express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l'emplacement en entrepôt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des heures d'arrivée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et lecture radiofréquence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du transport (TMS)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 numérique et systèmes portuaires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Logistique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Logistique Tanger Med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Qualité et distribution pharmaceutiques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rédaction des dossiers réglementaires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 la demande en médicaments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Sérialisation et traçabilité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numérique des températures BPD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l'information réglementaire (RIM)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 manufacturière (générique)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Production et maintenance · ISO 9001, ISO 45001,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 Meknès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au service de l'amélioration continue (Kaizen)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qualité visuel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numérique (e-Kanban, 5S numérique)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de l'ERP et du MRP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numérique (GMAO)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 manufacturière (générique)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privé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Pédagogie et affaires académiques · ISO 21001, ISO 9001, ISO/IEC 27001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Universités Privées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Al Manar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Tutorat IA et apprentissage adaptatif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académique face à l'IA générative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d'apprentissage pour les enseignants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numérique et e-portfolios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étudiants</a:t>
            </a:r>
            <a:endParaRPr lang="en-US" sz="10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privé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Universités Privées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public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Établissements et personnel enseignant · ISO 21001, ISO 9001, Public accessibility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Lycée Pilote Ibn Sina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de cours assistée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l'éducation inclusive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numériques pour la classe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de gestion scolaire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Citoyenneté numérique et sécurité en ligne</a:t>
            </a:r>
            <a:endParaRPr lang="en-US" sz="10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public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Soins cliniques et infirmiers · ISO 7101, JCI Standards,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 (DPI)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Télémédecine et téléconsultation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et facturation patients numériques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MONTRENT LES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Avancement des déroulés IA, par secteur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entreprises, part des tâches terminées dans le déroulé compétences IA.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montrent les données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dans le déroulé IA de chaque grande entreprise (%)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Lancer votre propre déroulé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: deux dossiers, trois commandes chacun (guide d’installation).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avec un compte de démonstration et suivre le guide utilisateur.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Buildin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l’organisation de démonstration par la vôtre : groupe, organisation, puis projet.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0416" y="1956816"/>
            <a:ext cx="376732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0" name="Image 3" descr="Capture d’écran de l’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0116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</dc:title>
  <dc:subject>PptxGenJS Presentation</dc:subject>
  <dc:creator>POWERACT Consulting</dc:creator>
  <cp:lastModifiedBy>POWERACT Consulting</cp:lastModifiedBy>
  <cp:revision>1</cp:revision>
  <dcterms:created xsi:type="dcterms:W3CDTF">2026-10-07T00:00:10Z</dcterms:created>
  <dcterms:modified xsi:type="dcterms:W3CDTF">2026-10-07T00:00:10Z</dcterms:modified>
</cp:coreProperties>
</file>
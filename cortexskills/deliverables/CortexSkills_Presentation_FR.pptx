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3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4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5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6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7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8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9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10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11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12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13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14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charts/chart15.xml" ContentType="application/vnd.openxmlformats-officedocument.drawingml.chart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charts/chart16.xml" ContentType="application/vnd.openxmlformats-officedocument.drawingml.chart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charts/chart17.xml" ContentType="application/vnd.openxmlformats-officedocument.drawingml.chart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charts/chart18.xml" ContentType="application/vnd.openxmlformats-officedocument.drawingml.chart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charts/chart19.xml" ContentType="application/vnd.openxmlformats-officedocument.drawingml.chart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charts/chart20.xml" ContentType="application/vnd.openxmlformats-officedocument.drawingml.chart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charts/chart21.xml" ContentType="application/vnd.openxmlformats-officedocument.drawingml.chart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charts/chart22.xml" ContentType="application/vnd.openxmlformats-officedocument.drawingml.chart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charts/chart23.xml" ContentType="application/vnd.openxmlformats-officedocument.drawingml.chart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charts/chart24.xml" ContentType="application/vnd.openxmlformats-officedocument.drawingml.chart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charts/chart25.xml" ContentType="application/vnd.openxmlformats-officedocument.drawingml.chart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charts/chart26.xml" ContentType="application/vnd.openxmlformats-officedocument.drawingml.chart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charts/chart27.xml" ContentType="application/vnd.openxmlformats-officedocument.drawingml.chart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charts/chart28.xml" ContentType="application/vnd.openxmlformats-officedocument.drawingml.chart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charts/chart29.xml" ContentType="application/vnd.openxmlformats-officedocument.drawingml.chart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charts/chart30.xml" ContentType="application/vnd.openxmlformats-officedocument.drawingml.chart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charts/chart31.xml" ContentType="application/vnd.openxmlformats-officedocument.drawingml.chart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notesMasterIdLst>
    <p:notesMasterId r:id="rId8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Grande entreprise</c:v>
                  </c:pt>
                  <c:pt idx="1">
                    <c:v>PME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</c:v>
                </c:pt>
                <c:pt idx="1">
                  <c:v>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Grande entreprise</c:v>
                  </c:pt>
                  <c:pt idx="1">
                    <c:v>PME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</c:v>
                </c:pt>
                <c:pt idx="1">
                  <c:v>31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49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27</c:v>
                </c:pt>
                <c:pt idx="1">
                  <c:v>49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</c:v>
                </c:pt>
                <c:pt idx="1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29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</c:v>
                </c:pt>
                <c:pt idx="1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</c:v>
                </c:pt>
                <c:pt idx="1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</c:v>
                </c:pt>
                <c:pt idx="1">
                  <c:v>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28</c:v>
                </c:pt>
                <c:pt idx="1">
                  <c:v>51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</c:v>
                </c:pt>
                <c:pt idx="1">
                  <c:v>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27</c:v>
                </c:pt>
                <c:pt idx="1">
                  <c:v>52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</c:v>
                </c:pt>
                <c:pt idx="1">
                  <c:v>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</c:v>
                </c:pt>
                <c:pt idx="1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</c:v>
                </c:pt>
                <c:pt idx="1">
                  <c:v>49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</c:v>
                </c:pt>
                <c:pt idx="1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27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52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</c:v>
                </c:pt>
                <c:pt idx="1">
                  <c:v>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</c:v>
                </c:pt>
                <c:pt idx="1">
                  <c:v>52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</c:v>
                </c:pt>
                <c:pt idx="1">
                  <c:v>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26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</c:v>
                </c:pt>
                <c:pt idx="1">
                  <c:v>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53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</c:v>
                </c:pt>
                <c:pt idx="1">
                  <c:v>51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</c:v>
                </c:pt>
                <c:pt idx="1">
                  <c:v>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</c:v>
                </c:pt>
                <c:pt idx="1">
                  <c:v>28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50</c:v>
                </c:pt>
                <c:pt idx="1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</c:v>
                </c:pt>
                <c:pt idx="1">
                  <c:v>53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</c:v>
                </c:pt>
                <c:pt idx="1">
                  <c:v>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</c:v>
                </c:pt>
                <c:pt idx="1">
                  <c:v>27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52</c:v>
                </c:pt>
                <c:pt idx="1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</c:v>
                </c:pt>
                <c:pt idx="1">
                  <c:v>52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</c:v>
                </c:pt>
                <c:pt idx="1">
                  <c:v>27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50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27</c:v>
                </c:pt>
                <c:pt idx="1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28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</c:v>
                </c:pt>
                <c:pt idx="1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</c:v>
                </c:pt>
                <c:pt idx="1">
                  <c:v>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27</c:v>
                </c:pt>
                <c:pt idx="1">
                  <c:v>52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</c:v>
                </c:pt>
                <c:pt idx="1">
                  <c:v>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</c:v>
                </c:pt>
                <c:pt idx="1">
                  <c:v>28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</c:v>
                </c:pt>
                <c:pt idx="1">
                  <c:v>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52</c:v>
                </c:pt>
                <c:pt idx="1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PME</c:v>
                  </c:pt>
                  <c:pt idx="1">
                    <c:v>Grande entreprise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50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IA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Sheet1!$A$2:$A$30</c:f>
              <c:multiLvlStrCache>
                <c:ptCount val="29"/>
                <c:lvl>
                  <c:pt idx="0">
                    <c:v>FNB</c:v>
                  </c:pt>
                  <c:pt idx="1">
                    <c:v>PUED</c:v>
                  </c:pt>
                  <c:pt idx="2">
                    <c:v>HLS</c:v>
                  </c:pt>
                  <c:pt idx="3">
                    <c:v>SHIP</c:v>
                  </c:pt>
                  <c:pt idx="4">
                    <c:v>INFR</c:v>
                  </c:pt>
                  <c:pt idx="5">
                    <c:v>AUTO</c:v>
                  </c:pt>
                  <c:pt idx="6">
                    <c:v>RETL</c:v>
                  </c:pt>
                  <c:pt idx="7">
                    <c:v>PHAR</c:v>
                  </c:pt>
                  <c:pt idx="8">
                    <c:v>ENUT</c:v>
                  </c:pt>
                  <c:pt idx="9">
                    <c:v>SEMI</c:v>
                  </c:pt>
                  <c:pt idx="10">
                    <c:v>HCPR</c:v>
                  </c:pt>
                  <c:pt idx="11">
                    <c:v>CPEX</c:v>
                  </c:pt>
                  <c:pt idx="12">
                    <c:v>AEC</c:v>
                  </c:pt>
                  <c:pt idx="13">
                    <c:v>FTAP</c:v>
                  </c:pt>
                  <c:pt idx="14">
                    <c:v>FABA</c:v>
                  </c:pt>
                  <c:pt idx="15">
                    <c:v>MFGG</c:v>
                  </c:pt>
                  <c:pt idx="16">
                    <c:v>ELEC</c:v>
                  </c:pt>
                  <c:pt idx="17">
                    <c:v>TELC</c:v>
                  </c:pt>
                  <c:pt idx="18">
                    <c:v>DIST</c:v>
                  </c:pt>
                  <c:pt idx="19">
                    <c:v>AERO</c:v>
                  </c:pt>
                  <c:pt idx="20">
                    <c:v>SSE</c:v>
                  </c:pt>
                  <c:pt idx="21">
                    <c:v>MACH</c:v>
                  </c:pt>
                  <c:pt idx="22">
                    <c:v>PETR</c:v>
                  </c:pt>
                  <c:pt idx="23">
                    <c:v>LOGI</c:v>
                  </c:pt>
                  <c:pt idx="24">
                    <c:v>PRED</c:v>
                  </c:pt>
                  <c:pt idx="25">
                    <c:v>PHPR</c:v>
                  </c:pt>
                  <c:pt idx="26">
                    <c:v>PROC</c:v>
                  </c:pt>
                  <c:pt idx="27">
                    <c:v>PKGD</c:v>
                  </c:pt>
                  <c:pt idx="28">
                    <c:v>CPG</c:v>
                  </c:pt>
                </c:lvl>
              </c:multiLvlStrCache>
            </c:multiLvl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69</c:v>
                </c:pt>
                <c:pt idx="1">
                  <c:v>69</c:v>
                </c:pt>
                <c:pt idx="2">
                  <c:v>68</c:v>
                </c:pt>
                <c:pt idx="3">
                  <c:v>68</c:v>
                </c:pt>
                <c:pt idx="4">
                  <c:v>68</c:v>
                </c:pt>
                <c:pt idx="5">
                  <c:v>67</c:v>
                </c:pt>
                <c:pt idx="6">
                  <c:v>67</c:v>
                </c:pt>
                <c:pt idx="7">
                  <c:v>67</c:v>
                </c:pt>
                <c:pt idx="8">
                  <c:v>66</c:v>
                </c:pt>
                <c:pt idx="9">
                  <c:v>66</c:v>
                </c:pt>
                <c:pt idx="10">
                  <c:v>65</c:v>
                </c:pt>
                <c:pt idx="11">
                  <c:v>53</c:v>
                </c:pt>
                <c:pt idx="12">
                  <c:v>52</c:v>
                </c:pt>
                <c:pt idx="13">
                  <c:v>52</c:v>
                </c:pt>
                <c:pt idx="14">
                  <c:v>52</c:v>
                </c:pt>
                <c:pt idx="15">
                  <c:v>52</c:v>
                </c:pt>
                <c:pt idx="16">
                  <c:v>51</c:v>
                </c:pt>
                <c:pt idx="17">
                  <c:v>51</c:v>
                </c:pt>
                <c:pt idx="18">
                  <c:v>50</c:v>
                </c:pt>
                <c:pt idx="19">
                  <c:v>49</c:v>
                </c:pt>
                <c:pt idx="20">
                  <c:v>49</c:v>
                </c:pt>
                <c:pt idx="21">
                  <c:v>29</c:v>
                </c:pt>
                <c:pt idx="22">
                  <c:v>28</c:v>
                </c:pt>
                <c:pt idx="23">
                  <c:v>28</c:v>
                </c:pt>
                <c:pt idx="24">
                  <c:v>28</c:v>
                </c:pt>
                <c:pt idx="25">
                  <c:v>27</c:v>
                </c:pt>
                <c:pt idx="26">
                  <c:v>27</c:v>
                </c:pt>
                <c:pt idx="27">
                  <c:v>27</c:v>
                </c:pt>
                <c:pt idx="28">
                  <c:v>26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22-1.png"/><Relationship Id="rId3" Type="http://schemas.openxmlformats.org/officeDocument/2006/relationships/image" Target="../media/image-22-2.png"/><Relationship Id="rId4" Type="http://schemas.openxmlformats.org/officeDocument/2006/relationships/image" Target="../media/image-2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24-1.png"/><Relationship Id="rId3" Type="http://schemas.openxmlformats.org/officeDocument/2006/relationships/image" Target="../media/image-24-2.png"/><Relationship Id="rId4" Type="http://schemas.openxmlformats.org/officeDocument/2006/relationships/image" Target="../media/image-2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26-1.png"/><Relationship Id="rId3" Type="http://schemas.openxmlformats.org/officeDocument/2006/relationships/image" Target="../media/image-26-2.png"/><Relationship Id="rId4" Type="http://schemas.openxmlformats.org/officeDocument/2006/relationships/image" Target="../media/image-2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28-1.png"/><Relationship Id="rId3" Type="http://schemas.openxmlformats.org/officeDocument/2006/relationships/image" Target="../media/image-28-2.png"/><Relationship Id="rId4" Type="http://schemas.openxmlformats.org/officeDocument/2006/relationships/image" Target="../media/image-2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30-1.png"/><Relationship Id="rId3" Type="http://schemas.openxmlformats.org/officeDocument/2006/relationships/image" Target="../media/image-30-2.png"/><Relationship Id="rId4" Type="http://schemas.openxmlformats.org/officeDocument/2006/relationships/image" Target="../media/image-3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32-1.png"/><Relationship Id="rId3" Type="http://schemas.openxmlformats.org/officeDocument/2006/relationships/image" Target="../media/image-32-2.png"/><Relationship Id="rId4" Type="http://schemas.openxmlformats.org/officeDocument/2006/relationships/image" Target="../media/image-3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34-1.png"/><Relationship Id="rId3" Type="http://schemas.openxmlformats.org/officeDocument/2006/relationships/image" Target="../media/image-34-2.png"/><Relationship Id="rId4" Type="http://schemas.openxmlformats.org/officeDocument/2006/relationships/image" Target="../media/image-3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1" Type="http://schemas.openxmlformats.org/officeDocument/2006/relationships/image" Target="../media/image-36-1.png"/><Relationship Id="rId3" Type="http://schemas.openxmlformats.org/officeDocument/2006/relationships/image" Target="../media/image-36-2.png"/><Relationship Id="rId4" Type="http://schemas.openxmlformats.org/officeDocument/2006/relationships/image" Target="../media/image-3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0.xml"/><Relationship Id="rId1" Type="http://schemas.openxmlformats.org/officeDocument/2006/relationships/image" Target="../media/image-38-1.png"/><Relationship Id="rId3" Type="http://schemas.openxmlformats.org/officeDocument/2006/relationships/image" Target="../media/image-38-2.png"/><Relationship Id="rId4" Type="http://schemas.openxmlformats.org/officeDocument/2006/relationships/image" Target="../media/image-3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1.xml"/><Relationship Id="rId1" Type="http://schemas.openxmlformats.org/officeDocument/2006/relationships/image" Target="../media/image-40-1.png"/><Relationship Id="rId3" Type="http://schemas.openxmlformats.org/officeDocument/2006/relationships/image" Target="../media/image-40-2.png"/><Relationship Id="rId4" Type="http://schemas.openxmlformats.org/officeDocument/2006/relationships/image" Target="../media/image-4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2.xml"/><Relationship Id="rId1" Type="http://schemas.openxmlformats.org/officeDocument/2006/relationships/image" Target="../media/image-42-1.png"/><Relationship Id="rId3" Type="http://schemas.openxmlformats.org/officeDocument/2006/relationships/image" Target="../media/image-42-2.png"/><Relationship Id="rId4" Type="http://schemas.openxmlformats.org/officeDocument/2006/relationships/image" Target="../media/image-4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3.xml"/><Relationship Id="rId1" Type="http://schemas.openxmlformats.org/officeDocument/2006/relationships/image" Target="../media/image-44-1.png"/><Relationship Id="rId3" Type="http://schemas.openxmlformats.org/officeDocument/2006/relationships/image" Target="../media/image-44-2.png"/><Relationship Id="rId4" Type="http://schemas.openxmlformats.org/officeDocument/2006/relationships/image" Target="../media/image-4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4.xml"/><Relationship Id="rId1" Type="http://schemas.openxmlformats.org/officeDocument/2006/relationships/image" Target="../media/image-46-1.png"/><Relationship Id="rId3" Type="http://schemas.openxmlformats.org/officeDocument/2006/relationships/image" Target="../media/image-46-2.png"/><Relationship Id="rId4" Type="http://schemas.openxmlformats.org/officeDocument/2006/relationships/image" Target="../media/image-4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5.xml"/><Relationship Id="rId1" Type="http://schemas.openxmlformats.org/officeDocument/2006/relationships/image" Target="../media/image-48-1.png"/><Relationship Id="rId3" Type="http://schemas.openxmlformats.org/officeDocument/2006/relationships/image" Target="../media/image-48-2.png"/><Relationship Id="rId4" Type="http://schemas.openxmlformats.org/officeDocument/2006/relationships/image" Target="../media/image-4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6.xml"/><Relationship Id="rId1" Type="http://schemas.openxmlformats.org/officeDocument/2006/relationships/image" Target="../media/image-50-1.png"/><Relationship Id="rId3" Type="http://schemas.openxmlformats.org/officeDocument/2006/relationships/image" Target="../media/image-50-2.png"/><Relationship Id="rId4" Type="http://schemas.openxmlformats.org/officeDocument/2006/relationships/image" Target="../media/image-5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7.xml"/><Relationship Id="rId1" Type="http://schemas.openxmlformats.org/officeDocument/2006/relationships/image" Target="../media/image-52-1.png"/><Relationship Id="rId3" Type="http://schemas.openxmlformats.org/officeDocument/2006/relationships/image" Target="../media/image-52-2.png"/><Relationship Id="rId4" Type="http://schemas.openxmlformats.org/officeDocument/2006/relationships/image" Target="../media/image-5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8.xml"/><Relationship Id="rId1" Type="http://schemas.openxmlformats.org/officeDocument/2006/relationships/image" Target="../media/image-54-1.png"/><Relationship Id="rId3" Type="http://schemas.openxmlformats.org/officeDocument/2006/relationships/image" Target="../media/image-54-2.png"/><Relationship Id="rId4" Type="http://schemas.openxmlformats.org/officeDocument/2006/relationships/image" Target="../media/image-5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9.xml"/><Relationship Id="rId1" Type="http://schemas.openxmlformats.org/officeDocument/2006/relationships/image" Target="../media/image-56-1.png"/><Relationship Id="rId3" Type="http://schemas.openxmlformats.org/officeDocument/2006/relationships/image" Target="../media/image-56-2.png"/><Relationship Id="rId4" Type="http://schemas.openxmlformats.org/officeDocument/2006/relationships/image" Target="../media/image-5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0.xml"/><Relationship Id="rId1" Type="http://schemas.openxmlformats.org/officeDocument/2006/relationships/image" Target="../media/image-58-1.png"/><Relationship Id="rId3" Type="http://schemas.openxmlformats.org/officeDocument/2006/relationships/image" Target="../media/image-58-2.png"/><Relationship Id="rId4" Type="http://schemas.openxmlformats.org/officeDocument/2006/relationships/image" Target="../media/image-5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1.xml"/><Relationship Id="rId1" Type="http://schemas.openxmlformats.org/officeDocument/2006/relationships/image" Target="../media/image-60-1.png"/><Relationship Id="rId3" Type="http://schemas.openxmlformats.org/officeDocument/2006/relationships/image" Target="../media/image-60-2.png"/><Relationship Id="rId4" Type="http://schemas.openxmlformats.org/officeDocument/2006/relationships/image" Target="../media/image-6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2.xml"/><Relationship Id="rId1" Type="http://schemas.openxmlformats.org/officeDocument/2006/relationships/image" Target="../media/image-62-1.png"/><Relationship Id="rId3" Type="http://schemas.openxmlformats.org/officeDocument/2006/relationships/image" Target="../media/image-62-2.png"/><Relationship Id="rId4" Type="http://schemas.openxmlformats.org/officeDocument/2006/relationships/image" Target="../media/image-6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3.xml"/><Relationship Id="rId1" Type="http://schemas.openxmlformats.org/officeDocument/2006/relationships/image" Target="../media/image-64-1.png"/><Relationship Id="rId3" Type="http://schemas.openxmlformats.org/officeDocument/2006/relationships/image" Target="../media/image-64-2.png"/><Relationship Id="rId4" Type="http://schemas.openxmlformats.org/officeDocument/2006/relationships/image" Target="../media/image-6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4.xml"/><Relationship Id="rId1" Type="http://schemas.openxmlformats.org/officeDocument/2006/relationships/image" Target="../media/image-66-1.png"/><Relationship Id="rId3" Type="http://schemas.openxmlformats.org/officeDocument/2006/relationships/image" Target="../media/image-66-2.png"/><Relationship Id="rId4" Type="http://schemas.openxmlformats.org/officeDocument/2006/relationships/image" Target="../media/image-6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5.xml"/><Relationship Id="rId1" Type="http://schemas.openxmlformats.org/officeDocument/2006/relationships/image" Target="../media/image-68-1.png"/><Relationship Id="rId3" Type="http://schemas.openxmlformats.org/officeDocument/2006/relationships/image" Target="../media/image-68-2.png"/><Relationship Id="rId4" Type="http://schemas.openxmlformats.org/officeDocument/2006/relationships/image" Target="../media/image-6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6.xml"/><Relationship Id="rId1" Type="http://schemas.openxmlformats.org/officeDocument/2006/relationships/image" Target="../media/image-70-1.png"/><Relationship Id="rId3" Type="http://schemas.openxmlformats.org/officeDocument/2006/relationships/image" Target="../media/image-70-2.png"/><Relationship Id="rId4" Type="http://schemas.openxmlformats.org/officeDocument/2006/relationships/image" Target="../media/image-7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7.xml"/><Relationship Id="rId1" Type="http://schemas.openxmlformats.org/officeDocument/2006/relationships/image" Target="../media/image-72-1.png"/><Relationship Id="rId3" Type="http://schemas.openxmlformats.org/officeDocument/2006/relationships/image" Target="../media/image-72-2.png"/><Relationship Id="rId4" Type="http://schemas.openxmlformats.org/officeDocument/2006/relationships/image" Target="../media/image-7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8.xml"/><Relationship Id="rId1" Type="http://schemas.openxmlformats.org/officeDocument/2006/relationships/image" Target="../media/image-74-1.png"/><Relationship Id="rId3" Type="http://schemas.openxmlformats.org/officeDocument/2006/relationships/image" Target="../media/image-74-2.png"/><Relationship Id="rId4" Type="http://schemas.openxmlformats.org/officeDocument/2006/relationships/image" Target="../media/image-7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9.xml"/><Relationship Id="rId1" Type="http://schemas.openxmlformats.org/officeDocument/2006/relationships/image" Target="../media/image-76-1.png"/><Relationship Id="rId3" Type="http://schemas.openxmlformats.org/officeDocument/2006/relationships/image" Target="../media/image-76-2.png"/><Relationship Id="rId4" Type="http://schemas.openxmlformats.org/officeDocument/2006/relationships/image" Target="../media/image-7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0.xml"/><Relationship Id="rId1" Type="http://schemas.openxmlformats.org/officeDocument/2006/relationships/image" Target="../media/image-78-1.png"/><Relationship Id="rId3" Type="http://schemas.openxmlformats.org/officeDocument/2006/relationships/image" Target="../media/image-78-2.png"/><Relationship Id="rId4" Type="http://schemas.openxmlformats.org/officeDocument/2006/relationships/image" Target="../media/image-7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image" Target="../media/image-81-3.png"/><Relationship Id="rId4" Type="http://schemas.openxmlformats.org/officeDocument/2006/relationships/image" Target="../media/image-8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6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-1280160" y="4206240"/>
            <a:ext cx="4023360" cy="4023360"/>
          </a:xfrm>
          <a:prstGeom prst="ellipse">
            <a:avLst/>
          </a:prstGeom>
          <a:solidFill>
            <a:srgbClr val="FDEEDA"/>
          </a:solidFill>
          <a:ln w="12700">
            <a:solidFill>
              <a:srgbClr val="FDEED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· 2026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945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CortexSkills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918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L’ingénierie de formation de bout en bout — l’application en action, secteur par secteur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POWERACT Consulting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88736" y="1179576"/>
            <a:ext cx="5870448" cy="3710178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23444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couvre cette présentation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423160"/>
            <a:ext cx="731520" cy="73152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0" name="Image 0" descr="RefreshC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59872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331720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383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cycle de vie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160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phases, 33 processus de bout en bout, cinq jalons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355848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30168" y="2423160"/>
            <a:ext cx="731520" cy="73152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MousePointerCli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59872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38928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3630168" y="3383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dynamique pas à pas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3630168" y="4160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structure des locataires aux rapports, sur une grande entreprise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163056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37376" y="2423160"/>
            <a:ext cx="731520" cy="73152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2" name="Image 2" descr="Build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41" y="2598725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946136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18"/>
          <p:cNvSpPr txBox="1"/>
          <p:nvPr/>
        </p:nvSpPr>
        <p:spPr>
          <a:xfrm>
            <a:off x="6437376" y="3383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PME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6437376" y="4160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parcours allégés pour les petites structures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8970264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244584" y="2423160"/>
            <a:ext cx="731520" cy="73152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8" name="Image 3" descr="LayoutGri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149" y="2598725"/>
            <a:ext cx="380390" cy="38039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753344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30" name="Text 23"/>
          <p:cNvSpPr txBox="1"/>
          <p:nvPr/>
        </p:nvSpPr>
        <p:spPr>
          <a:xfrm>
            <a:off x="9244584" y="3383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Secteur par secteur</a:t>
            </a:r>
            <a:endParaRPr lang="en-US" sz="1900" dirty="0"/>
          </a:p>
        </p:txBody>
      </p:sp>
      <p:sp>
        <p:nvSpPr>
          <p:cNvPr id="31" name="Text 24"/>
          <p:cNvSpPr txBox="1"/>
          <p:nvPr/>
        </p:nvSpPr>
        <p:spPr>
          <a:xfrm>
            <a:off x="9244584" y="4160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secteurs, chacun avec sa grande entreprise et sa PME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DE VIE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cycle, sept phases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phase regroupe des processus de bout en bout ; un jalon clôt chaque phase principale.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de vie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1658569" cy="246888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31520" y="2423160"/>
            <a:ext cx="12928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017520"/>
            <a:ext cx="12928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et collecte de preuves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93192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processus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251960"/>
            <a:ext cx="64008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435809" y="2240280"/>
            <a:ext cx="1658569" cy="246888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2618689" y="2423160"/>
            <a:ext cx="12928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2618689" y="3017520"/>
            <a:ext cx="12928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618689" y="393192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processus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618689" y="4251960"/>
            <a:ext cx="64008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22978" y="2240280"/>
            <a:ext cx="1658569" cy="246888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505858" y="2423160"/>
            <a:ext cx="12928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4505858" y="3017520"/>
            <a:ext cx="12928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d'ingénierie de formation et plan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505858" y="393192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processus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505858" y="4251960"/>
            <a:ext cx="64008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10148" y="2240280"/>
            <a:ext cx="1658569" cy="2468880"/>
          </a:xfrm>
          <a:prstGeom prst="roundRect">
            <a:avLst>
              <a:gd name="adj" fmla="val 6616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393028" y="2423160"/>
            <a:ext cx="12928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6393028" y="3017520"/>
            <a:ext cx="12928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déploiement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393028" y="393192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processus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393028" y="4251960"/>
            <a:ext cx="64008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097317" y="2240280"/>
            <a:ext cx="1658569" cy="246888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8280197" y="2423160"/>
            <a:ext cx="12928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1" name="Text 28"/>
          <p:cNvSpPr txBox="1"/>
          <p:nvPr/>
        </p:nvSpPr>
        <p:spPr>
          <a:xfrm>
            <a:off x="8280197" y="3017520"/>
            <a:ext cx="12928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Évaluation, conformité et impact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280197" y="393192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processus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280197" y="4251960"/>
            <a:ext cx="64008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984486" y="2240280"/>
            <a:ext cx="1658569" cy="246888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10167366" y="2423160"/>
            <a:ext cx="12928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6" name="Text 33"/>
          <p:cNvSpPr txBox="1"/>
          <p:nvPr/>
        </p:nvSpPr>
        <p:spPr>
          <a:xfrm>
            <a:off x="10167366" y="3017520"/>
            <a:ext cx="12928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Talents, savoirs et amélioration continue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0167366" y="393192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processus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0167366" y="4251960"/>
            <a:ext cx="64008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507492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F2F2F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77240" y="5230368"/>
            <a:ext cx="603504" cy="60350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41" name="Image 0" descr="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081" y="5375209"/>
            <a:ext cx="313822" cy="313822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1600200" y="521208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catalyseurs couvrent toutes les phases — </a:t>
            </a:r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E2E-15 · E2E-17 · E2E-18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SEGMENTS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organisation mène deux cycles complets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digitales et compétences IA, pour les grandes entreprises et les PME, dans 29 secteurs.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segments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1" name="Image 0" descr="Building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3719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21284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entreprises — Digital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880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401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 moyen · 29 organisations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429000" y="20116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0" y="2240280"/>
            <a:ext cx="548640" cy="54864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7" name="Image 1" descr="Spark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274" y="237195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343400" y="221284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entreprises — IA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3657600" y="2880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3657600" y="3401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 moyen · 29 organisations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402336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3" name="Image 2" descr="Sto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438363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63040" y="42245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Digital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892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30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5413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 moyen · 29 organisations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429000" y="402336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657600" y="4251960"/>
            <a:ext cx="548640" cy="54864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29" name="Image 3" descr="B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9274" y="4383634"/>
            <a:ext cx="285293" cy="285293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343400" y="42245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IA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3657600" y="4892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3000" dirty="0"/>
          </a:p>
        </p:txBody>
      </p:sp>
      <p:sp>
        <p:nvSpPr>
          <p:cNvPr id="32" name="Text 25"/>
          <p:cNvSpPr txBox="1"/>
          <p:nvPr/>
        </p:nvSpPr>
        <p:spPr>
          <a:xfrm>
            <a:off x="3657600" y="5413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 moyen · 29 organisations</a:t>
            </a:r>
            <a:endParaRPr lang="en-US" sz="11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83680" y="1920240"/>
          <a:ext cx="5029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4" name="Text 26"/>
          <p:cNvSpPr txBox="1"/>
          <p:nvPr/>
        </p:nvSpPr>
        <p:spPr>
          <a:xfrm>
            <a:off x="6583680" y="5532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moyen de tâches terminées par segment et par déroulé, sur les 29 secteurs (%)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dynamique pas à pas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Atlas Motors Kénitra, automobile, grande entreprise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· LOCATAIRES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Partir du groupe et de l’organisation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dynamique pas à pas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 groupe (oui ou non), puis l’organisation.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organisation est un locataire fermé : ses données ne sont jamais visibles d’une autre.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membres d’un groupe lisent les organisations sœurs sans pouvoir les modifier.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· NOUVEAU PROJET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Créer le déroulé depuis le catalogue, à la main ou avec l’IA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dynamique pas à pas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Noter sept critères pondérés : le score recommande le mode complet ou un parcours PME.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l’IA : saisir une courte description ; accepter, modifier ou rejeter chaque élément proposé.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Phases, jalons, listes de contrôle et rôles viennent du modèle choisi.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· ESPACE PROJET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 phases, processus et jalons sur un seul écran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dynamique pas à pas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 par phase et par processus, tâches en retard, score de complexité.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catalyseurs (données, changement, qualité) couvrent toutes les phases.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de contrôle d’un jalon doit être complète avant la phase suivante.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· CHAÎNE DES PROCESSUS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processus s’alimentent entre eux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dynamique pas à pas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processus de bout en bout a un déclencheur, un état final, des entrées et des sorties.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chaîne montre quel processus utilise quelle sortie.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diagrammes BPMN se consultent, se modifient, s’importent et s’exportent.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 · TÂCHE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Quoi saisir » pour chaque tâche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dynamique pas à pas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panneau de tâche indique la réponse attendue pour cette organisation et ce secteur.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L’aide IA propose un brouillon, étiqueté avec sa confiance et ses sources.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responsable et l’évaluateur sont toujours deux personnes différentes.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 · GOUVERNANCE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seul Approbateur par activité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dynamique pas à pas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rôles RACSI sont affectés par activité, avec un seul Approbateur.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Risques, contrôles et règles métier sont rattachés aux processus.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modification d’un champ gouverné est justifiée et tracée.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 · PLANIFICATION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déroulé sur une frise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dynamique pas à pas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Phases, processus et tâches sur un même Gantt, avec dépendances.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barres de synthèse sont calculées à partir des tâches.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Imprimer ou enregistrer en PDF.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8 · RÉSULTATS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Rapports et questions en langage courant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dynamique pas à pas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standard exportés en PDF, Excel et Word.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L’assistant IA répond à partir des données de l’organisation, dans les limites des permissions.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alertes signalent les étapes en retard et les indicateurs hors cible.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9 · CONCEPTION DES PROCESSUS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conception propre à votre organisation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dynamique pas à pas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Renommer, ajouter, retirer ou déplacer les éléments de la référence ; chaque changement est une version.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règles de nommage sont vérifiées avant l’enregistrement, en trois langues.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version est publiée par une seconde personne ; les projets s’exécutent dessus.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10 · ÉTAPES TYPÉES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étape demande ce qu’elle produit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dynamique pas à pas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d’enregistrements, matrices, objectifs et plans ; formulaires pour décisions et revues.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lignes s’enregistrent au fil de la saisie ; annulation, collage depuis un tableur, éditeur de ligne.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étapes terminées alimentent les registres du projet.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11 · DOCUMENTS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documents rédigés à partir des données du déroulé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dynamique pas à pas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modèles : un par livrable de processus, le rapport, le plan, l’audit et la liste maîtresse.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remplacements survivent à la régénération ; versions comparées et restaurées.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Publiés par une seconde personne ; Word, PDF et Excel.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12 · ORGANISATION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Rôles, titulaires et RACSI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dynamique pas à pas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fonctions regroupent les rôles ; chaque rôle a ses titulaires, adjoints et affectations.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L’organigramme et les rôles vacants, à toute date.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 par étape, par rôle, avec un seul responsable final.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PME : des parcours allégés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Clinique Al Amal, établissement de santé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parcours PME, dimensionnés par la complexité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score de complexité recommande le parcours ; un autre choix exige une justification.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PME : des parcours allégés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2167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 · Essentiel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200400" y="21854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0–29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560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jalons, listes courtes, environ 6 semaines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29184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77240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 · Standard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200400" y="34198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30–49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clés avec trois jalons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452628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77240" y="4636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 · Étendu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3200400" y="46542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50–69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029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Proche du mode complet, documentation allégée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65776" y="1819656"/>
            <a:ext cx="6601968" cy="4167378"/>
          </a:xfrm>
          <a:prstGeom prst="roundRect">
            <a:avLst>
              <a:gd name="adj" fmla="val 1755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22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874520"/>
            <a:ext cx="6492240" cy="40576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mêmes consignes, sur tous les écrans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de santé : le panneau de tâche en français, l’espace projet en arabe sur mobile.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PME : des parcours allégés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7863840" cy="49149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089136" y="1819656"/>
            <a:ext cx="2258568" cy="4760038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2" name="Image 1" descr="Capture d’écran de l’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874520"/>
            <a:ext cx="2148840" cy="46503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Secteur par secteur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secteurs · 58 organisations · 116 déroulés complets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AUTO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Automobile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 manufacturière · Fonction cœur : Assemblage et production · IATF 16949, ISO 9001, ISO 45001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Motors Kénitra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Tanger Auto Parts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visuelle par IA des soudures et de la peinture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prédictive des lignes de presses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IATF 16949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et suivi numérique de l'atelier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PLM et gestion numérique des modifications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fournisseurs et EDI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AUTO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Automobile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Motors Kénitra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AERO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Aéronautique et défense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 manufacturière · Fonction cœur : Aérostructures et MRO · AS9100, EN 9110, ISO 9001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 Atlas Nouaceur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Aero Composites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non destructif assisté par IA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prédictive de la maintenance MRO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AS9100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de travail numériques et carnets électroniques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Jumeau numérique des outillages d'assemblage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configuration dans le PLM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AERO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Aéronautique et défense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 Atlas Nouaceur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MACH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Machines industrielles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 manufacturière · Fonction cœur : Usinage et assemblage · ISO 9001, ISO 12100, CE Machinery Directive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Machines Industries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Fès Mécanique de Précision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prédictive pilotée par l'IA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de la qualité par apprentissage automatique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Programmation CNC et FAO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Connectivité IIoT des machines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après-vente numérique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MACH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Machines industrielles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Machines Industries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HLS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Santé et sciences de la vie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· Fonction cœur : Opérations cliniques et laboratoire · ISO 13485, EU MDR, ISO 15189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Life Sciences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BioLab Diagnostics Rabat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diagnostics assistés par IA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pour la détection des signaux de pharmacovigilance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13485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Cahiers de laboratoire électroniques et LIMS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électronique de la qualité (eQMS)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Interopérabilité des données de santé (HL7 FHIR)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HLS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Santé et sciences de la vie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Life Sciences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ELEC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Électronique et haute technologie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 manufacturière · Fonction cœur : Assemblage CMS et test · IPC-A-610, ISO 9001, ISO 14001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Electronics Group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Circuitec Oujda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 de l'inspection optique automatisée par IA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du rendement par apprentissage automatique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IPC-A-610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par MES et codes-barres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Bancs de test numériques et capture de données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des matières pilotée par l'ERP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ELEC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Électronique et haute technologie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Electronics Group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AEC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Architecture, ingénierie et construction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Infrastructures et énergie · Fonction cœur : Travaux de chantier et réalisation de projets · ISO 19650, ISO 45001, ISO 9001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Construction &amp; Ingénierie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Souss BTP Solutions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conflits et vérification de maquette par IA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de la sécurité par IA avec caméras de chantier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19650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BIM et flux ISO 19650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 chantier numérique et reporting terrain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Relevés par drone et scans 3D de chantier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AEC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Architecture, ingénierie et construction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Construction &amp; Ingénierie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FNB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Agroalimentaire et boissons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et distribution · Fonction cœur : Production et sécurité alimentaire · HACCP, ISO 22000, FSSC 22000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Agro Industries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Coopérative Laitière Al Baraka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par IA de la durée de conservation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 pour la détection de corps étrangers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HACCP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Enregistrements HACCP numériques et traçabilité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recettes et des lots dans l'ERP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connectée de la chaîne du froid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FNB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Agroalimentaire et boissons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Agro Industries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SSE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Économie sociale et solidaire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et social · Fonction cœur : Services aux membres et coopératives · ISO 26000, ISO 9001, Cooperative law 112-12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Fédération Nationale des Coopératives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Coopérative Argan Tiznit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d'impact par IA des programmes sociaux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 IA pour la sensibilisation en langue locale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26000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numérique des adhérents et comptabilité coopérative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en ligne des produits coopératifs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mobile et outils de microfinance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SSE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Économie sociale et solidaire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Fédération Nationale des Coopératives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PHPR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Pharmaceutique et procédés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de procédés · Fonction cœur : Fabrication BPF · EU GMP, ICH Q10, FDA 21 CFR Part 11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Maghreb Process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Galénix Laboratoires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procédés par IA pour le rendement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IA des déviations et des CAPA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GMP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de lot électroniques (EBR)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systèmes informatisés (CSV)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 des données et pratiques ALCOA+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PHPR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Pharmaceutique et procédés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Maghreb Process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RETL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Commerce de détail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et distribution · Fonction cœur : Opérations en magasin · ISO 9001, PCI DSS, ISO 10002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Retail Stores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Marrakech Concept Store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 IA de la demande et réapprovisionnement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 des offres par IA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Caisse omnicanale et click-and-collect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 numérique et planogrammes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et programmes de fidélité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RETL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Commerce de détail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Retail Stores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FTAP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Chaussure et habillement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et distribution · Fonction cœur : Coupe, couture et finition · ISO 9001, OEKO-TEX, SA8000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Textile &amp; Chaussure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Cuir Fès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IA des défauts sur les tissus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Équilibrage des lignes par IA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Patronage numérique et prototypage 3D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des données atelier par opération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numérique aux codes des donneurs d'ordre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FTAP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Chaussure et habillement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Textile &amp; Chaussure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CPG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Biens de consommation emballés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et distribution · Fonction cœur : Conditionnement et opérations de marque · ISO 9001, ISO 22716, ISO 14001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Consumer Brands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Savonnerie Beldi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IA de l'efficacité des promotions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IA des insights consommateurs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numérique des maquettes et de l'étiquetage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Analytique trade marketing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 numériques du TRS des lignes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CPG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Biens de consommation emballés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Consumer Brands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ENUT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Énergie et services publics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Infrastructures et énergie · Fonction cœur : Exploitation des réseaux et maintenance terrain · ISO 50001, ISO 55001, ISO 45001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Énergie &amp; Services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Solaris Maintenance Services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 IA de la charge des réseaux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IA d'anomalies sur les actifs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50001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et salles de contrôle numériques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mobile des ordres de travail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 SIG des actifs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ENUT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Énergie et services publics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Énergie &amp; Services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TELC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Télécommunications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Fonction cœur : Exploitation réseau et relation client · ISO/IEC 27001, ISO 9001, TM Forum eTOM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Télécom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NetConnect Services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IA des pannes réseau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IA de l'attrition des clients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réseau et SDN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clients numériques et selfcare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cloud natives (DevOps)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TELC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Télécommunications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Télécom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PETR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Procédés / Pétrochimie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de procédés · Fonction cœur : Conduite des procédés et sécurité · ISO 45001, Seveso III, API RP 754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Atlantique Pétrochimie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 Services Safi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IA des procédés (APC)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IA de la corrosion et de l'intégrité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45001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 de travail numérique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Simulateurs de formation des opérateurs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numérique de la sécurité des procédés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PETR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Procédés / Pétrochimie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Atlantique Pétrochimie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SHIP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navale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 manufacturière · Fonction cœur : Construction de coques et armement · ISO 9001, IACS UR, ISO 3834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Chantiers Navals du Détroit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Outfitting Agadir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IA de la qualité des soudures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IA de l'imbrication des tôles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3D et modèles de production navale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Registres numériques de qualification soudage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des blocs et ordonnancement numérique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SHIP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navale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Chantiers Navals du Détroit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CPEX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Produits de consommation étendus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et distribution · Fonction cœur : Développement produit et sourcing · ISO 9001, ISO 10377, ISO 14001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Maison &amp; Déco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Poterie Safi Design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Criblage IA des risques de sécurité produit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IA des avis et du sentiment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numérique de l'information produit (PIM)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 de collaboration fournisseurs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sur les places de marché en ligne</a:t>
            </a:r>
            <a:endParaRPr lang="en-US" sz="10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CPEX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Produits de consommation étendus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Maison &amp; Déco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PROC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Industries de procédés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de procédés · Fonction cœur : Conduite des procédés continus · ISO 9001, ISO 14001, ISO 45001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Phosphates &amp; Minéraux Atlas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Minerals Lab Khouribga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logiciels IA pour la qualité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IA de l'efficacité énergétique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Conduite DCS et main courante numérique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d'information de laboratoire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 de suivi énergétique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PROC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Industries de procédés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Phosphates &amp; Minéraux Atlas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INFR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Infrastructures et énergie · Fonction cœur : Gestion des actifs et exploitation · ISO 55001, ISO 19650, ISO 45001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Autoroutes &amp; Ouvrages du Nord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 Inspect Maroc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IA de l'état des structures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IA du trafic et de la demande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55001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Registres numériques des actifs et GMAO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d'infrastructure intelligents (IoT)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numérique sur tablette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INFR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Infrastructures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Autoroutes &amp; Ouvrages du Nord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FABA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Fabrication et assemblage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 manufacturière · Fonction cœur : Fabrication métallique et assemblage · ISO 9001, ISO 3834, EN 1090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Structures Métalliques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Métal Berrechid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IA des plans de découpe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IA à la programmation des robots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de travail et gammes numériques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CAO/FAO pour la tôlerie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Enregistrements numériques des contrôles qualité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FABA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Fabrication et assemblage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Structures Métalliques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PKGD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Procédés / Produits conditionnés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de procédés · Fonction cœur : Lignes de remplissage et de conditionnement · ISO 22000, ISO 9001, BRCGS Packaging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Conditionnement &amp; Embouteillage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Emballages Kénitra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IA des pertes de TRS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IA pour le contrôle des scellés et étiquettes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22000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Check-lists numériques de changement de format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numérique du poids et du remplissage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gestion d'entrepôt (WMS)</a:t>
            </a:r>
            <a:endParaRPr lang="en-US" sz="10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PKGD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Procédés / Produits conditionnés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Conditionnement &amp; Embouteillage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SEMI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Semi-conducteurs et électronique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 manufacturière · Fonction cœur : Salle blanche et opérations back-end · ISO 9001, IATF 16949, ISO 14644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Semiconductor Packaging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MicroTest Engineering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IA des défauts sur cartes de plaquettes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Métrologie virtuelle par IA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numérique aux protocoles de salle blanche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des équipements (SECS/GEM)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 de maîtrise statistique (MSP)</a:t>
            </a:r>
            <a:endParaRPr lang="en-US" sz="10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SEMI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Semi-conducteurs et électronique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Semiconductor Packaging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DIST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Fonction cœur : Réseau de vente et de distribution · ISO 9001, ISO 28000, ISO 39001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Distribution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 Oriental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IA de la meilleure offre pour les commerciaux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IA du risque crédit des clients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force de vente sur mobile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Portails de commande B2B en ligne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des tournées et télématique</a:t>
            </a:r>
            <a:endParaRPr lang="en-US" sz="10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DIST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Distribution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LOGI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Logistique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Fonction cœur : Entreposage et transport · ISO 9001, ISO 28000, TAPA FSR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Logistique Tanger Med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 Atlas Express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IA de l'emplacement en entrepôt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IA des heures d'arrivée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et lecture radiofréquence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gestion du transport (TMS)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Douane numérique et systèmes portuaires</a:t>
            </a:r>
            <a:endParaRPr lang="en-US" sz="10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LOGI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Logistique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Logistique Tanger Med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PHAR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Pharmacie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· Fonction cœur : Qualité et distribution pharmaceutiques · EU GMP, GDP, ICH Q9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Pharma Distribution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PharmaLog Services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IA à la rédaction des dossiers réglementaires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IA de la demande en médicaments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GMP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Sérialisation et traçabilité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numérique des températures BPD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l'information réglementaire (RIM)</a:t>
            </a:r>
            <a:endParaRPr lang="en-US" sz="10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PHAR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Pharmacie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Pharma Distribution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MFGG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Industrie manufacturière (générique)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 manufacturière · Fonction cœur : Production et maintenance · ISO 9001, ISO 45001, ISO 14001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Manufacturing Group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 Meknès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au service de l'amélioration continue (Kaizen)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qualité visuel par IA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numérique (e-Kanban, 5S numérique)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 de l'ERP et du MRP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numérique (GMAO)</a:t>
            </a:r>
            <a:endParaRPr lang="en-US" sz="10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MFGG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Industrie manufacturière (générique)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Manufacturing Group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PRED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Enseignement privé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et social · Fonction cœur : Pédagogie et affaires académiques · ISO 21001, ISO 9001, ISO/IEC 27001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Universités Privées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Al Manar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Tutorat IA et apprentissage adaptatif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Intégrité académique face à l'IA générative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21001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 d'apprentissage pour les enseignants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numérique et e-portfolios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d'information étudiants</a:t>
            </a:r>
            <a:endParaRPr lang="en-US" sz="10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PRED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Enseignement privé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Universités Privées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PUED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Enseignement public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et social · Fonction cœur : Établissements et personnel enseignant · ISO 21001, ISO 9001, Public accessibility standards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Académie Régionale Rabat-Salé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Lycée Pilote Ibn Sina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 cours assistée par IA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pour l'éducation inclusive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21001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numériques pour la classe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d'information de gestion scolaire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Citoyenneté numérique et sécurité en ligne</a:t>
            </a:r>
            <a:endParaRPr lang="en-US" sz="10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PUED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Enseignement public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Académie Régionale Rabat-Salé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HCPR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Établissements de santé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· Fonction cœur : Soins cliniques et infirmiers · ISO 7101, JCI Standards, ISO 15189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entreprise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Hospitalier Maghreb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 Al Amal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terminées par déroulé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IA prioritaires (grande entreprise)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IA et aide à la décision clinique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IA en imagerie médicale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7101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digitaux prioritaires (PME)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patient informatisé (DPI)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Télémédecine et téléconsultation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 et facturation patients numériques</a:t>
            </a:r>
            <a:endParaRPr lang="en-US" sz="10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· HCPR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Établissements de santé — un processus en cours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Hospitalier Maghreb · déroulé IA : la tâche ouverte, ses étapes typées et ce qu’il faut saisir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par secteur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Capture d’écran de l’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MONTRENT LES DONNÉES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Avancement des déroulés IA, par secteur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entreprises, part des tâches terminées dans le déroulé compétences IA.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montrent les données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11094415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des tâches terminées dans le déroulé IA de chaque grande entreprise (%)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Lancer votre propre déroulé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6949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194560"/>
            <a:ext cx="594360" cy="59436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0" name="Image 0" descr="Downlo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33720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21031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: deux dossiers, trois commandes chacun (guide d’installation).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3200400"/>
            <a:ext cx="6949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383280"/>
            <a:ext cx="594360" cy="59436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1" descr="Log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3525926"/>
            <a:ext cx="309067" cy="30906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00200" y="32918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avec un compte de démonstration et suivre le guide utilisateur.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4389120"/>
            <a:ext cx="6949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8" name="Image 2" descr="Building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714646"/>
            <a:ext cx="309067" cy="30906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48056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l’organisation de démonstration par la vôtre : groupe, organisation, puis projet.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7900416" y="1956816"/>
            <a:ext cx="376732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21" name="Image 3" descr="Capture d’écran de l’applic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20116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CortexSkills</dc:title>
  <dc:subject>PptxGenJS Presentation</dc:subject>
  <dc:creator>POWERACT Consulting</dc:creator>
  <cp:lastModifiedBy>POWERACT Consulting</cp:lastModifiedBy>
  <cp:revision>1</cp:revision>
  <dcterms:created xsi:type="dcterms:W3CDTF">2026-10-07T00:00:10Z</dcterms:created>
  <dcterms:modified xsi:type="dcterms:W3CDTF">2026-10-07T00:00:10Z</dcterms:modified>
</cp:coreProperties>
</file>
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2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4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5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7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8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9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0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charts/chart11.xml" ContentType="application/vnd.openxmlformats-officedocument.drawingml.chart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charts/chart12.xml" ContentType="application/vnd.openxmlformats-officedocument.drawingml.chart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charts/chart13.xml" ContentType="application/vnd.openxmlformats-officedocument.drawingml.chart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4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15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charts/chart16.xml" ContentType="application/vnd.openxmlformats-officedocument.drawingml.chart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7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18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charts/chart19.xml" ContentType="application/vnd.openxmlformats-officedocument.drawingml.chart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20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charts/chart21.xml" ContentType="application/vnd.openxmlformats-officedocument.drawingml.chart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charts/chart22.xml" ContentType="application/vnd.openxmlformats-officedocument.drawingml.chart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charts/chart23.xml" ContentType="application/vnd.openxmlformats-officedocument.drawingml.chart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charts/chart24.xml" ContentType="application/vnd.openxmlformats-officedocument.drawingml.chart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charts/chart25.xml" ContentType="application/vnd.openxmlformats-officedocument.drawingml.chart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charts/chart26.xml" ContentType="application/vnd.openxmlformats-officedocument.drawingml.chart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charts/chart27.xml" ContentType="application/vnd.openxmlformats-officedocument.drawingml.chart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charts/chart28.xml" ContentType="application/vnd.openxmlformats-officedocument.drawingml.chart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charts/chart29.xml" ContentType="application/vnd.openxmlformats-officedocument.drawingml.chart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charts/chart30.xml" ContentType="application/vnd.openxmlformats-officedocument.drawingml.chart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charts/chart31.xml" ContentType="application/vnd.openxmlformats-officedocument.drawingml.chart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</p:sldIdLst>
  <p:notesMasterIdLst>
    <p:notesMasterId r:id="rId8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notesMaster" Target="notesMasters/notesMaster1.xml"/><Relationship Id="rId84" Type="http://schemas.openxmlformats.org/officeDocument/2006/relationships/presProps" Target="presProps.xml"/><Relationship Id="rId85" Type="http://schemas.openxmlformats.org/officeDocument/2006/relationships/viewProps" Target="viewProps.xml"/><Relationship Id="rId86" Type="http://schemas.openxmlformats.org/officeDocument/2006/relationships/theme" Target="theme/theme1.xml"/><Relationship Id="rId8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Large company</c:v>
                  </c:pt>
                  <c:pt idx="1">
                    <c:v>SME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Large company</c:v>
                  </c:pt>
                  <c:pt idx="1">
                    <c:v>SME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31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49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28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49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29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53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</c:v>
                </c:pt>
                <c:pt idx="1">
                  <c:v>51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9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50</c:v>
                </c:pt>
                <c:pt idx="1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70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25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11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52</c:v>
                </c:pt>
                <c:pt idx="1">
                  <c:v>64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51</c:v>
                </c:pt>
                <c:pt idx="1">
                  <c:v>69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27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28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68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52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66</c:v>
                </c:pt>
                <c:pt idx="1">
                  <c:v>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 company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50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Sheet1!$A$2:$A$30</c:f>
              <c:multiLvlStrCache>
                <c:ptCount val="29"/>
                <c:lvl>
                  <c:pt idx="0">
                    <c:v>FNB</c:v>
                  </c:pt>
                  <c:pt idx="1">
                    <c:v>PUED</c:v>
                  </c:pt>
                  <c:pt idx="2">
                    <c:v>HLS</c:v>
                  </c:pt>
                  <c:pt idx="3">
                    <c:v>SHIP</c:v>
                  </c:pt>
                  <c:pt idx="4">
                    <c:v>INFR</c:v>
                  </c:pt>
                  <c:pt idx="5">
                    <c:v>AUTO</c:v>
                  </c:pt>
                  <c:pt idx="6">
                    <c:v>RETL</c:v>
                  </c:pt>
                  <c:pt idx="7">
                    <c:v>PHAR</c:v>
                  </c:pt>
                  <c:pt idx="8">
                    <c:v>ENUT</c:v>
                  </c:pt>
                  <c:pt idx="9">
                    <c:v>SEMI</c:v>
                  </c:pt>
                  <c:pt idx="10">
                    <c:v>HCPR</c:v>
                  </c:pt>
                  <c:pt idx="11">
                    <c:v>CPEX</c:v>
                  </c:pt>
                  <c:pt idx="12">
                    <c:v>AEC</c:v>
                  </c:pt>
                  <c:pt idx="13">
                    <c:v>FTAP</c:v>
                  </c:pt>
                  <c:pt idx="14">
                    <c:v>FABA</c:v>
                  </c:pt>
                  <c:pt idx="15">
                    <c:v>MFGG</c:v>
                  </c:pt>
                  <c:pt idx="16">
                    <c:v>ELEC</c:v>
                  </c:pt>
                  <c:pt idx="17">
                    <c:v>TELC</c:v>
                  </c:pt>
                  <c:pt idx="18">
                    <c:v>DIST</c:v>
                  </c:pt>
                  <c:pt idx="19">
                    <c:v>AERO</c:v>
                  </c:pt>
                  <c:pt idx="20">
                    <c:v>SSE</c:v>
                  </c:pt>
                  <c:pt idx="21">
                    <c:v>MACH</c:v>
                  </c:pt>
                  <c:pt idx="22">
                    <c:v>PETR</c:v>
                  </c:pt>
                  <c:pt idx="23">
                    <c:v>LOGI</c:v>
                  </c:pt>
                  <c:pt idx="24">
                    <c:v>PRED</c:v>
                  </c:pt>
                  <c:pt idx="25">
                    <c:v>PHPR</c:v>
                  </c:pt>
                  <c:pt idx="26">
                    <c:v>PROC</c:v>
                  </c:pt>
                  <c:pt idx="27">
                    <c:v>PKGD</c:v>
                  </c:pt>
                  <c:pt idx="28">
                    <c:v>CPG</c:v>
                  </c:pt>
                </c:lvl>
              </c:multiLvlStrCache>
            </c:multiLvlStrRef>
          </c:cat>
          <c:val>
            <c:numRef>
              <c:f>Sheet1!$B$2:$B$30</c:f>
              <c:numCache>
                <c:formatCode>General</c:formatCode>
                <c:ptCount val="29"/>
                <c:pt idx="0">
                  <c:v>69</c:v>
                </c:pt>
                <c:pt idx="1">
                  <c:v>69</c:v>
                </c:pt>
                <c:pt idx="2">
                  <c:v>68</c:v>
                </c:pt>
                <c:pt idx="3">
                  <c:v>68</c:v>
                </c:pt>
                <c:pt idx="4">
                  <c:v>68</c:v>
                </c:pt>
                <c:pt idx="5">
                  <c:v>67</c:v>
                </c:pt>
                <c:pt idx="6">
                  <c:v>67</c:v>
                </c:pt>
                <c:pt idx="7">
                  <c:v>67</c:v>
                </c:pt>
                <c:pt idx="8">
                  <c:v>66</c:v>
                </c:pt>
                <c:pt idx="9">
                  <c:v>66</c:v>
                </c:pt>
                <c:pt idx="10">
                  <c:v>65</c:v>
                </c:pt>
                <c:pt idx="11">
                  <c:v>53</c:v>
                </c:pt>
                <c:pt idx="12">
                  <c:v>52</c:v>
                </c:pt>
                <c:pt idx="13">
                  <c:v>52</c:v>
                </c:pt>
                <c:pt idx="14">
                  <c:v>52</c:v>
                </c:pt>
                <c:pt idx="15">
                  <c:v>52</c:v>
                </c:pt>
                <c:pt idx="16">
                  <c:v>51</c:v>
                </c:pt>
                <c:pt idx="17">
                  <c:v>51</c:v>
                </c:pt>
                <c:pt idx="18">
                  <c:v>50</c:v>
                </c:pt>
                <c:pt idx="19">
                  <c:v>49</c:v>
                </c:pt>
                <c:pt idx="20">
                  <c:v>49</c:v>
                </c:pt>
                <c:pt idx="21">
                  <c:v>29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27</c:v>
                </c:pt>
                <c:pt idx="26">
                  <c:v>27</c:v>
                </c:pt>
                <c:pt idx="27">
                  <c:v>27</c:v>
                </c:pt>
                <c:pt idx="28">
                  <c:v>26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.xm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22-1.png"/><Relationship Id="rId3" Type="http://schemas.openxmlformats.org/officeDocument/2006/relationships/image" Target="../media/image-22-2.png"/><Relationship Id="rId4" Type="http://schemas.openxmlformats.org/officeDocument/2006/relationships/image" Target="../media/image-2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image" Target="../media/image-24-2.png"/><Relationship Id="rId4" Type="http://schemas.openxmlformats.org/officeDocument/2006/relationships/image" Target="../media/image-2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26-1.png"/><Relationship Id="rId3" Type="http://schemas.openxmlformats.org/officeDocument/2006/relationships/image" Target="../media/image-26-2.png"/><Relationship Id="rId4" Type="http://schemas.openxmlformats.org/officeDocument/2006/relationships/image" Target="../media/image-2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28-1.png"/><Relationship Id="rId3" Type="http://schemas.openxmlformats.org/officeDocument/2006/relationships/image" Target="../media/image-28-2.png"/><Relationship Id="rId4" Type="http://schemas.openxmlformats.org/officeDocument/2006/relationships/image" Target="../media/image-2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image" Target="../media/image-30-2.png"/><Relationship Id="rId4" Type="http://schemas.openxmlformats.org/officeDocument/2006/relationships/image" Target="../media/image-3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2-1.png"/><Relationship Id="rId3" Type="http://schemas.openxmlformats.org/officeDocument/2006/relationships/image" Target="../media/image-32-2.png"/><Relationship Id="rId4" Type="http://schemas.openxmlformats.org/officeDocument/2006/relationships/image" Target="../media/image-3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34-1.png"/><Relationship Id="rId3" Type="http://schemas.openxmlformats.org/officeDocument/2006/relationships/image" Target="../media/image-34-2.png"/><Relationship Id="rId4" Type="http://schemas.openxmlformats.org/officeDocument/2006/relationships/image" Target="../media/image-3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9.xml"/><Relationship Id="rId1" Type="http://schemas.openxmlformats.org/officeDocument/2006/relationships/image" Target="../media/image-36-1.png"/><Relationship Id="rId3" Type="http://schemas.openxmlformats.org/officeDocument/2006/relationships/image" Target="../media/image-36-2.png"/><Relationship Id="rId4" Type="http://schemas.openxmlformats.org/officeDocument/2006/relationships/image" Target="../media/image-3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38-1.png"/><Relationship Id="rId3" Type="http://schemas.openxmlformats.org/officeDocument/2006/relationships/image" Target="../media/image-38-2.png"/><Relationship Id="rId4" Type="http://schemas.openxmlformats.org/officeDocument/2006/relationships/image" Target="../media/image-3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1.xml"/><Relationship Id="rId1" Type="http://schemas.openxmlformats.org/officeDocument/2006/relationships/image" Target="../media/image-40-1.png"/><Relationship Id="rId3" Type="http://schemas.openxmlformats.org/officeDocument/2006/relationships/image" Target="../media/image-40-2.png"/><Relationship Id="rId4" Type="http://schemas.openxmlformats.org/officeDocument/2006/relationships/image" Target="../media/image-4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2.xml"/><Relationship Id="rId1" Type="http://schemas.openxmlformats.org/officeDocument/2006/relationships/image" Target="../media/image-42-1.png"/><Relationship Id="rId3" Type="http://schemas.openxmlformats.org/officeDocument/2006/relationships/image" Target="../media/image-42-2.png"/><Relationship Id="rId4" Type="http://schemas.openxmlformats.org/officeDocument/2006/relationships/image" Target="../media/image-4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3.xml"/><Relationship Id="rId1" Type="http://schemas.openxmlformats.org/officeDocument/2006/relationships/image" Target="../media/image-44-1.png"/><Relationship Id="rId3" Type="http://schemas.openxmlformats.org/officeDocument/2006/relationships/image" Target="../media/image-44-2.png"/><Relationship Id="rId4" Type="http://schemas.openxmlformats.org/officeDocument/2006/relationships/image" Target="../media/image-4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4.xml"/><Relationship Id="rId1" Type="http://schemas.openxmlformats.org/officeDocument/2006/relationships/image" Target="../media/image-46-1.png"/><Relationship Id="rId3" Type="http://schemas.openxmlformats.org/officeDocument/2006/relationships/image" Target="../media/image-46-2.png"/><Relationship Id="rId4" Type="http://schemas.openxmlformats.org/officeDocument/2006/relationships/image" Target="../media/image-4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5.xml"/><Relationship Id="rId1" Type="http://schemas.openxmlformats.org/officeDocument/2006/relationships/image" Target="../media/image-48-1.png"/><Relationship Id="rId3" Type="http://schemas.openxmlformats.org/officeDocument/2006/relationships/image" Target="../media/image-48-2.png"/><Relationship Id="rId4" Type="http://schemas.openxmlformats.org/officeDocument/2006/relationships/image" Target="../media/image-4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6.xml"/><Relationship Id="rId1" Type="http://schemas.openxmlformats.org/officeDocument/2006/relationships/image" Target="../media/image-50-1.png"/><Relationship Id="rId3" Type="http://schemas.openxmlformats.org/officeDocument/2006/relationships/image" Target="../media/image-50-2.png"/><Relationship Id="rId4" Type="http://schemas.openxmlformats.org/officeDocument/2006/relationships/image" Target="../media/image-5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4-1.png"/><Relationship Id="rId3" Type="http://schemas.openxmlformats.org/officeDocument/2006/relationships/image" Target="../media/image-54-2.png"/><Relationship Id="rId4" Type="http://schemas.openxmlformats.org/officeDocument/2006/relationships/image" Target="../media/image-5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6-1.png"/><Relationship Id="rId3" Type="http://schemas.openxmlformats.org/officeDocument/2006/relationships/image" Target="../media/image-56-2.png"/><Relationship Id="rId4" Type="http://schemas.openxmlformats.org/officeDocument/2006/relationships/image" Target="../media/image-5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0.xml"/><Relationship Id="rId1" Type="http://schemas.openxmlformats.org/officeDocument/2006/relationships/image" Target="../media/image-58-1.png"/><Relationship Id="rId3" Type="http://schemas.openxmlformats.org/officeDocument/2006/relationships/image" Target="../media/image-58-2.png"/><Relationship Id="rId4" Type="http://schemas.openxmlformats.org/officeDocument/2006/relationships/image" Target="../media/image-5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1.xml"/><Relationship Id="rId1" Type="http://schemas.openxmlformats.org/officeDocument/2006/relationships/image" Target="../media/image-60-1.png"/><Relationship Id="rId3" Type="http://schemas.openxmlformats.org/officeDocument/2006/relationships/image" Target="../media/image-60-2.png"/><Relationship Id="rId4" Type="http://schemas.openxmlformats.org/officeDocument/2006/relationships/image" Target="../media/image-6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2.xml"/><Relationship Id="rId1" Type="http://schemas.openxmlformats.org/officeDocument/2006/relationships/image" Target="../media/image-62-1.png"/><Relationship Id="rId3" Type="http://schemas.openxmlformats.org/officeDocument/2006/relationships/image" Target="../media/image-62-2.png"/><Relationship Id="rId4" Type="http://schemas.openxmlformats.org/officeDocument/2006/relationships/image" Target="../media/image-6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3.xml"/><Relationship Id="rId1" Type="http://schemas.openxmlformats.org/officeDocument/2006/relationships/image" Target="../media/image-64-1.png"/><Relationship Id="rId3" Type="http://schemas.openxmlformats.org/officeDocument/2006/relationships/image" Target="../media/image-64-2.png"/><Relationship Id="rId4" Type="http://schemas.openxmlformats.org/officeDocument/2006/relationships/image" Target="../media/image-6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4.xml"/><Relationship Id="rId1" Type="http://schemas.openxmlformats.org/officeDocument/2006/relationships/image" Target="../media/image-66-1.png"/><Relationship Id="rId3" Type="http://schemas.openxmlformats.org/officeDocument/2006/relationships/image" Target="../media/image-66-2.png"/><Relationship Id="rId4" Type="http://schemas.openxmlformats.org/officeDocument/2006/relationships/image" Target="../media/image-6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5.xml"/><Relationship Id="rId1" Type="http://schemas.openxmlformats.org/officeDocument/2006/relationships/image" Target="../media/image-68-1.png"/><Relationship Id="rId3" Type="http://schemas.openxmlformats.org/officeDocument/2006/relationships/image" Target="../media/image-68-2.png"/><Relationship Id="rId4" Type="http://schemas.openxmlformats.org/officeDocument/2006/relationships/image" Target="../media/image-6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6.xml"/><Relationship Id="rId1" Type="http://schemas.openxmlformats.org/officeDocument/2006/relationships/image" Target="../media/image-70-1.png"/><Relationship Id="rId3" Type="http://schemas.openxmlformats.org/officeDocument/2006/relationships/image" Target="../media/image-70-2.png"/><Relationship Id="rId4" Type="http://schemas.openxmlformats.org/officeDocument/2006/relationships/image" Target="../media/image-7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7.xml"/><Relationship Id="rId1" Type="http://schemas.openxmlformats.org/officeDocument/2006/relationships/image" Target="../media/image-72-1.png"/><Relationship Id="rId3" Type="http://schemas.openxmlformats.org/officeDocument/2006/relationships/image" Target="../media/image-72-2.png"/><Relationship Id="rId4" Type="http://schemas.openxmlformats.org/officeDocument/2006/relationships/image" Target="../media/image-7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8.xml"/><Relationship Id="rId1" Type="http://schemas.openxmlformats.org/officeDocument/2006/relationships/image" Target="../media/image-74-1.png"/><Relationship Id="rId3" Type="http://schemas.openxmlformats.org/officeDocument/2006/relationships/image" Target="../media/image-74-2.png"/><Relationship Id="rId4" Type="http://schemas.openxmlformats.org/officeDocument/2006/relationships/image" Target="../media/image-74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9.xml"/><Relationship Id="rId1" Type="http://schemas.openxmlformats.org/officeDocument/2006/relationships/image" Target="../media/image-76-1.png"/><Relationship Id="rId3" Type="http://schemas.openxmlformats.org/officeDocument/2006/relationships/image" Target="../media/image-76-2.png"/><Relationship Id="rId4" Type="http://schemas.openxmlformats.org/officeDocument/2006/relationships/image" Target="../media/image-7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0.xml"/><Relationship Id="rId1" Type="http://schemas.openxmlformats.org/officeDocument/2006/relationships/image" Target="../media/image-78-1.png"/><Relationship Id="rId3" Type="http://schemas.openxmlformats.org/officeDocument/2006/relationships/image" Target="../media/image-78-2.png"/><Relationship Id="rId4" Type="http://schemas.openxmlformats.org/officeDocument/2006/relationships/image" Target="../media/image-78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image" Target="../media/image-81-3.png"/><Relationship Id="rId4" Type="http://schemas.openxmlformats.org/officeDocument/2006/relationships/image" Target="../media/image-8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9456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engineering, end to end — the application in action, sector by sector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42316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RefreshC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59872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2331720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lifecycle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phases, 33 end-to-end processes, five gates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630168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MousePointerCli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598725"/>
            <a:ext cx="380390" cy="38039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138928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3630168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dynamics, step by step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tenancy to the reports, on a large company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37376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Build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598725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946136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6437376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SMEs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Lighter tracks for smaller organizations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9244584" y="242316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LayoutGri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598725"/>
            <a:ext cx="380390" cy="380390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53344" y="24688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9244584" y="338328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by sector</a:t>
            </a:r>
            <a:endParaRPr lang="en-US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41605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sectors, each with its large company and its SME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lifecycle, seven phases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groups end-to-end processes; a gate closes each main phase.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&amp;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delivery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compliance &amp;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240280"/>
            <a:ext cx="1658569" cy="246888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423160"/>
            <a:ext cx="129280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3017520"/>
            <a:ext cx="129280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Talent, knowledge &amp; continuous improvement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93192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51960"/>
            <a:ext cx="64008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5074920"/>
            <a:ext cx="11094415" cy="914400"/>
          </a:xfrm>
          <a:prstGeom prst="roundRect">
            <a:avLst>
              <a:gd name="adj" fmla="val 12000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230368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75209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212080"/>
            <a:ext cx="98142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run across all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E2E-15 · E2E-17 · E2E-18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SEGMENTS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organization runs two full cycles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 and AI skills, for large companies and SMEs, in 29 sectors.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segments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24028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Building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8914" y="2371954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 — Digital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68%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429000" y="201168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57600" y="224028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6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9274" y="2371954"/>
            <a:ext cx="285293" cy="285293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43400" y="22128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 — AI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3657600" y="2880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3657600" y="34015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54864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777240" y="4251960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4" y="4383634"/>
            <a:ext cx="285293" cy="285293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46304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— Digital</a:t>
            </a:r>
            <a:endParaRPr lang="en-US" sz="1300" dirty="0"/>
          </a:p>
        </p:txBody>
      </p:sp>
      <p:sp>
        <p:nvSpPr>
          <p:cNvPr id="24" name="Text 19"/>
          <p:cNvSpPr txBox="1"/>
          <p:nvPr/>
        </p:nvSpPr>
        <p:spPr>
          <a:xfrm>
            <a:off x="77724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51%</a:t>
            </a:r>
            <a:endParaRPr lang="en-US" sz="30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3429000" y="4023360"/>
            <a:ext cx="26974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3657600" y="425196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8" name="Image 3" descr="B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9274" y="4383634"/>
            <a:ext cx="285293" cy="285293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343400" y="42245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 — AI</a:t>
            </a:r>
            <a:endParaRPr lang="en-US" sz="1300" dirty="0"/>
          </a:p>
        </p:txBody>
      </p:sp>
      <p:sp>
        <p:nvSpPr>
          <p:cNvPr id="30" name="Text 24"/>
          <p:cNvSpPr txBox="1"/>
          <p:nvPr/>
        </p:nvSpPr>
        <p:spPr>
          <a:xfrm>
            <a:off x="3657600" y="489204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1" name="Text 25"/>
          <p:cNvSpPr txBox="1"/>
          <p:nvPr/>
        </p:nvSpPr>
        <p:spPr>
          <a:xfrm>
            <a:off x="3657600" y="541324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progress · 29 organizations</a:t>
            </a:r>
            <a:endParaRPr lang="en-US" sz="1100" dirty="0"/>
          </a:p>
        </p:txBody>
      </p:sp>
      <p:graphicFrame>
        <p:nvGraphicFramePr>
          <p:cNvPr id="32" name="Chart 0" descr=""/>
          <p:cNvGraphicFramePr/>
          <p:nvPr/>
        </p:nvGraphicFramePr>
        <p:xfrm>
          <a:off x="6583680" y="1920240"/>
          <a:ext cx="502920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33" name="Text 26"/>
          <p:cNvSpPr txBox="1"/>
          <p:nvPr/>
        </p:nvSpPr>
        <p:spPr>
          <a:xfrm>
            <a:off x="6583680" y="55321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task completion by segment and run, across the 29 sectors (%)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dynamics, step by step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Atlas Motors Kénitra, automotive, large company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· TENANCY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from the Group and the Organization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Group (Yes or No), then the Organization.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organization is a closed tenant: its data is never visible to another.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members can read sister organizations; they cannot change them.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· NEW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the run from the catalog, by hand or with AI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seven weighted criteria: the score recommends Full mode or an SME track.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AI: type a short description; accept, change or reject each proposed item.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gates, checklists and roles come from the chosen template.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phases, processes and gates on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per phase and per process, overdue tasks, complexity score.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(data, change, quality) run across all phases.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checklist must be complete before the next phase starts.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· PROCESS CHAIN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Processes feed each other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end-to-end process has a trigger, an end state and its inputs and outputs.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shows which process consumes which output.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BPMN diagrams can be viewed, edited, imported and exported.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· TASK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“What to type” for every task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shows the expected answer for this organization and sector.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 proposes a draft, labelled with its confidence and sources.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and evaluator are always two different people.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· GOVERNANCE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Accountable per activity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roles are allocated per activity, with exactly one Accountable.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Risks, controls and business rules are tagged to the processes.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governed field is justified and recorded.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7 · 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run on a timeline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processes and tasks on one Gantt, with dependencies.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bars are computed from the tasks below them.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or save as PDF.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8 · RESULTS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and questions in plain language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reports exported to PDF, Excel and Word.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Assistant answers from the organization’s own data, within the user’s permissions.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flag overdue steps and off-target KPIs.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9 · PROCESS DESIGN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organization’s own process design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Rename, add, retire or move elements of the reference design; every change is a version.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rules are checked before saving, in three languages.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release is published by a second person; projects run on it.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10 · TYPED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step asks for what it produces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of records, matrices, objectives and plans; forms for decisions and reviews.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save as you go; Undo, paste from a spreadsheet, Row Editor.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steps feed the registers of the project.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11 · DOCUMENTS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Documents written from the run’s data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templates: one per process deliverable, the report, the plan, the audit and the master list.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Overrides stay through regeneration; versions are compared and restored.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by a second person; Word, PDF and Excel.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12 · ORGANIZATION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Roles, holders and RACSI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dynamics, step by step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93776" y="154533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8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223760" cy="45148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138160" y="1737360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7888" y="184708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778240" y="169164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group roles; each role has its holders, deputies and allocation.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8138160" y="306324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17296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778240" y="301752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organization chart and vacant roles, on any date.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138160" y="4389120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449884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778240" y="4343400"/>
            <a:ext cx="28648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 per step, by role, with exactly one Accountable.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SMEs: lighter tracks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Clinique Al Amal, healthcare provider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SME tracks, sized by complexity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complexity score recommends the track; a different choice needs a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SMEs: lighter tracks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167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T1 · Essential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200400" y="218541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0–29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5603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gates, short checklists, about 6 weeks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9184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777240" y="34015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 · Standard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200400" y="34198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30–49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7947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processes with three gates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526280"/>
            <a:ext cx="4206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77240" y="46360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 · Extended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465429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50–69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029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to Full mode, lighter documentation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65776" y="1819656"/>
            <a:ext cx="6601968" cy="4167378"/>
          </a:xfrm>
          <a:prstGeom prst="roundRect">
            <a:avLst>
              <a:gd name="adj" fmla="val 175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1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20640" y="1874520"/>
            <a:ext cx="6492240" cy="405765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guidance, on any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SME: the task panel in French, the workspace in Arabic on a phone.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SMEs: lighter tracks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7863840" cy="49149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819656"/>
            <a:ext cx="2258568" cy="4760038"/>
          </a:xfrm>
          <a:prstGeom prst="roundRect">
            <a:avLst>
              <a:gd name="adj" fmla="val 323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874520"/>
            <a:ext cx="2148840" cy="465031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Sector by sector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sectors · 58 organizations · 116 full runs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Automotive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Assembly &amp; Production · IATF 16949, ISO 9001,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Tanger Auto Parts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visual inspection of welds and paint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maintenance of press lines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IATF 16949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 and digital shop-floor tracking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PLM and digital engineering change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portal and EDI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AUTO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Automotive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Motors Kénitra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 &amp; Defense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Aerostructures &amp; MRO · AS9100, EN 9110,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Aero Composites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non-destructive testing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MRO scheduling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AS9100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work instructions and e-logbooks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of assembly jigs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management in PLM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AERO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Aerospace &amp; Defense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 Atlas Nouaceur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Machinery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Machining &amp; Assembly · ISO 9001, ISO 12100, CE Machinery Directive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Fès Mécanique de Précision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predictive maintenance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Machine-learning quality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CNC programming and CAM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IIoT machine connectivity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after-sales service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MACH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Industrial Machinery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Machines Industries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Clinical &amp; Laboratory Operations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diagnostics validation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pharmacovigilance signal detection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lab notebooks and LIMS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quality management (eQMS)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 interoperability (HL7 FHIR)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Electronics &amp; High-Tech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SMT &amp; Test · IPC-A-610, ISO 9001,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Circuitec Oujda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optical inspection (AOI) tuning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Yield prediction with machine learning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IPC-A-610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Traceability with MES and barcodes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test benches and data capture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ERP-driven material planning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ELEC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Electronics &amp; High-Tech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Electronics Group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AEC &amp; Construction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Site Works &amp; Project Delivery · ISO 19650, ISO 45001, ISO 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Engineering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Souss BTP Solutions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clash detection and model checking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safety monitoring with site cameras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19650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BIM modelling and ISO 19650 workflows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site diary and field reporting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Drone surveying and 3D site scans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AEC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AEC &amp; Construction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Construction &amp; Engineering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&amp; Beverage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Production &amp; Food Safety · HACCP, ISO 22000, FSSC 22000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Laitière Al Baraka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shelf-life and spoilage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vision for foreign-body detection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HACCP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HACCP records and traceability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Recipe and batch management in ERP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cold-chain monitoring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FNB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Food &amp; Beverage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Agro Industries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&amp; Solidarity Economy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Member Services &amp; Cooperatives · ISO 26000, ISO 9001, Cooperative law 112-12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Coopérative Argan Tiznit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impact measurement for social programmes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translation for local-language outreach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26000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membership and cooperative accounting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for cooperative products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payment and micro-finance tools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Social &amp; Solidarity Economy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Fédération Nationale des Coopératives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GMP Manufacturing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analytics for yield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deviation and CAPA triage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batch records (EBR)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system validation (CSV)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and ALCOA+ practices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Store Operations · ISO 9001, PCI DSS, ISO 10002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Marrakech Concept Store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forecasting and replenishment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personalization of offers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Omnichannel POS and click-and-collect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merchandising and planograms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and loyalty programmes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RETL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Retail Stores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Footwear &amp; Apparel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Cutting, Sewing &amp; Finishing · ISO 9001, OEKO-TEX, SA8000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Footwear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Cuir Fès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defect detection on fabrics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line balancing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pattern making and 3D prototyping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Shop-floor data collection per operation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compliance with buyer codes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FTAP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Footwear &amp; Apparel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Textile &amp; Footwear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Packaged Goods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Packaging &amp; Brand Operations · ISO 9001, ISO 22716,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Savonnerie Beldi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promotion effectiveness modelling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consumer-insight mining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artwork and labelling workflow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Trade-marketing analytics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OEE digital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Packaged Goods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Consumer Brands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Network Operations &amp; Field Maintenance · ISO 50001, ISO 55001,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Energy &amp; Utilities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Solaris Maintenance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load forecasting for grids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anomaly detection on assets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50001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SCADA and digital control rooms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work-order management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 asset mapping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ENUT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Energy &amp; Utilities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Energy &amp; Utilities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Telecommunications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Network &amp; Customer Operations · ISO/IEC 27001, ISO 9001, TM Forum eTOM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Telecom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NetConnect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network fault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churn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automation and SDN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customer journeys and self-care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Cloud-native operations (DevOps)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TELC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Telecommunications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Oasis Telecom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Petrochemical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Process Operations &amp; Safety · ISO 45001, Seveso III, API RP 754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Petrochemicals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 Services Safi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optimisation (APC)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corrosion and integrity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45001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permit-to-work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training simulators (OTS)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process safety management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PETR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Petrochemical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Atlantique Petrochemicals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Shipbuilding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Hull Fabrication &amp; Outfitting · ISO 9001, IACS UR, ISO 3834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Outfitting Agadir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weld-quality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nesting optimisation of steel plates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ship design and production models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welding qualification records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planning and digital scheduling</a:t>
            </a:r>
            <a:endParaRPr lang="en-US" sz="10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SHIP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Shipbuilding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Chantiers Navals du Détroit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Products Extended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&amp; retail · Core function: Product Development &amp; Sourcing · ISO 9001, ISO 10377,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Home &amp; Living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Poterie Safi Design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product-safety risk screening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 and sentiment analytics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product information management (PIM)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collaboration platforms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marketplace operations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CPEX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Consumer Products Extended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Home &amp; Living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Industries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Continuous Process Operations · ISO 9001, ISO 14001,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Minerals Atlas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Minerals Lab Khouribga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soft sensors for quality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energy-efficiency optimisation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DCS operation and digital logbooks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information systems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monitoring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PROC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Industries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Phosphates &amp; Minerals Atlas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&amp; energy · Core function: Asset Management &amp; Operations · ISO 55001, ISO 19650, ISO 45001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 Inspect Maroc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structural health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traffic and demand modelling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asset registers and CMMS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infrastructure sensors (IoT)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inspection with tablets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INFR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Infrastructure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Autoroutes &amp; Ouvrages du Nord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&amp; Assembly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Metal Fabrication &amp; Assembly · ISO 9001, ISO 3834, EN 1090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Steel Structures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Atelier Métal Berrechid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cutting-plan optimisation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robot programming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job cards and routing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CAD/CAM for sheet metal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quality inspection records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FABA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Fabrication &amp; Assembly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Steel Structures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Packaged Goods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industries · Core function: Filling &amp; Packaging Lines · ISO 22000, ISO 9001, BRCGS Packaging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Packaging &amp; Bottling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Emballages Kénitra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OEE loss analysis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vision for seal and label checks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22000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changeover digital checklists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weight and fill control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 management system (WMS)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PKGD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Process / Packaged Goods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Sahel Packaging &amp; Bottling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&amp; Electronics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Cleanroom &amp; Back-end Operations · ISO 9001, IATF 16949, ISO 14644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MicroTest Engineering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wafer-map defect classification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virtual metrology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Cleanroom protocol digital training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automation (SECS/GEM)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process control (SPC) dashboards</a:t>
            </a:r>
            <a:endParaRPr lang="en-US" sz="10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SEMI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Semiconductor &amp; Electronics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Semiconductor Packaging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Sales &amp; Distribution Network · ISO 9001, ISO 28000, ISO 39001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 Oriental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next-best-offer for sales reps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credit-risk scoring of customers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Sales-force automation on mobile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 e-ordering portals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planning and telematics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DIST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Distribution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· Core function: Warehousing &amp; Transport · ISO 9001, ISO 28000, TAPA FSR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Logistics Tanger Med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 Atlas Express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warehouse slotting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ETA prediction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WMS and RF scanning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 management system (TMS)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customs and port community systems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LOGI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Logistics Tanger Med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Pharmaceutical Quality &amp; Distribution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regulatory-dossier drafting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sensing for medicines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and track-and-trace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GDP temperature monitoring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information management (RIM)</a:t>
            </a:r>
            <a:endParaRPr lang="en-US" sz="10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(Generic)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 · Core function: Production &amp; Maintenance · ISO 9001, ISO 45001, ISO 14001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 Meknès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continuous improvement (Kaizen)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visual quality control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9001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digital (e-Kanban, digital 5S)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and MRP fundamentals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maintenance (CMMS)</a:t>
            </a:r>
            <a:endParaRPr lang="en-US" sz="10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MFGG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(Generic)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 Manufacturing Group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Education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Teaching &amp; Academic Affairs · ISO 21001, ISO 9001, ISO/IEC 27001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Private Universities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École Al Manar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tutoring and adaptive learning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integrity with generative AI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management systems for teachers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assessment and e-portfolios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information systems</a:t>
            </a:r>
            <a:endParaRPr lang="en-US" sz="10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PRED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Private Education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Private Universities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Education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&amp; social · Core function: Schools &amp; Teaching Staff · ISO 21001, ISO 9001, Public accessibility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Lycée Pilote Ibn Sina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lesson planning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inclusive and special-needs education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21001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classroom tools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management information systems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citizenship and online safety</a:t>
            </a:r>
            <a:endParaRPr lang="en-US" sz="10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Education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Académie Régionale Rabat-Salé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· Core function: Clinical Care &amp; Nursing · ISO 7101, JCI Standards,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600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3995928"/>
            <a:ext cx="4053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34340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41801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3616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 (large company)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636008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>
            <a:off x="7589520" y="5276088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350703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294376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 (SME)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568696"/>
            <a:ext cx="364205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health records (EHR)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Telemedicine and remote consultation</a:t>
            </a:r>
            <a:endParaRPr lang="en-US" sz="1050" dirty="0"/>
          </a:p>
          <a:p>
            <a:pPr marL="152400" indent="-152400">
              <a:buSzPct val="100000"/>
              <a:buChar char="•"/>
            </a:pPr>
            <a:r>
              <a:rPr lang="en-US" sz="10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patient scheduling and billing</a:t>
            </a:r>
            <a:endParaRPr lang="en-US" sz="105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HCPR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 — a process in progress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· AI run: the open task, its typed steps and what to type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by sector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09064" y="1728216"/>
            <a:ext cx="7973568" cy="5024628"/>
          </a:xfrm>
          <a:prstGeom prst="roundRect">
            <a:avLst>
              <a:gd name="adj" fmla="val 145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3928" y="1783080"/>
            <a:ext cx="7863840" cy="49149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Progress of the AI runs, by sector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companies, share of tasks completed in the AI skills run.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shows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in the AI run of each large company (%)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your own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743200" y="6455664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Downlo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Install: two folders, three commands each (Installation Guide).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LogI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a demonstration account and follow the User Guide.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Building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demonstration organization with yours: Group, Organization, then Project.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7900416" y="1956816"/>
            <a:ext cx="3767328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20" name="Image 3" descr="Screenshot of the 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2011680"/>
            <a:ext cx="3657600" cy="228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81</Slides>
  <Notes>81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81</vt:i4>
      </vt:variant>
    </vt:vector>
  </HeadingPairs>
  <TitlesOfParts>
    <vt:vector size="8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</dc:title>
  <dc:subject>PptxGenJS Presentation</dc:subject>
  <dc:creator>POWERACT Consulting</dc:creator>
  <cp:lastModifiedBy>POWERACT Consulting</cp:lastModifiedBy>
  <cp:revision>1</cp:revision>
  <dcterms:created xsi:type="dcterms:W3CDTF">2026-10-07T00:00:09Z</dcterms:created>
  <dcterms:modified xsi:type="dcterms:W3CDTF">2026-10-07T00:00:09Z</dcterms:modified>
</cp:coreProperties>
</file>
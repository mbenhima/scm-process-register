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3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7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8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9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0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1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2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13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4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15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charts/chart16.xml" ContentType="application/vnd.openxmlformats-officedocument.drawingml.chart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17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18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19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20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21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22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23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24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25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26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27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charts/chart28.xml" ContentType="application/vnd.openxmlformats-officedocument.drawingml.chart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charts/chart29.xml" ContentType="application/vnd.openxmlformats-officedocument.drawingml.chart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charts/chart30.xml" ContentType="application/vnd.openxmlformats-officedocument.drawingml.chart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charts/chart31.xml" ContentType="application/vnd.openxmlformats-officedocument.drawingml.chart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Large company</c:v>
                  </c:pt>
                  <c:pt idx="1">
                    <c:v>SME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Large company</c:v>
                  </c:pt>
                  <c:pt idx="1">
                    <c:v>SME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31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49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53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Sheet1!$A$2:$A$30</c:f>
              <c:multiLvlStrCache>
                <c:ptCount val="29"/>
                <c:lvl>
                  <c:pt idx="0">
                    <c:v>FNB</c:v>
                  </c:pt>
                  <c:pt idx="1">
                    <c:v>PUED</c:v>
                  </c:pt>
                  <c:pt idx="2">
                    <c:v>HLS</c:v>
                  </c:pt>
                  <c:pt idx="3">
                    <c:v>SHIP</c:v>
                  </c:pt>
                  <c:pt idx="4">
                    <c:v>INFR</c:v>
                  </c:pt>
                  <c:pt idx="5">
                    <c:v>AUTO</c:v>
                  </c:pt>
                  <c:pt idx="6">
                    <c:v>RETL</c:v>
                  </c:pt>
                  <c:pt idx="7">
                    <c:v>PHAR</c:v>
                  </c:pt>
                  <c:pt idx="8">
                    <c:v>ENUT</c:v>
                  </c:pt>
                  <c:pt idx="9">
                    <c:v>SEMI</c:v>
                  </c:pt>
                  <c:pt idx="10">
                    <c:v>HCPR</c:v>
                  </c:pt>
                  <c:pt idx="11">
                    <c:v>CPEX</c:v>
                  </c:pt>
                  <c:pt idx="12">
                    <c:v>AEC</c:v>
                  </c:pt>
                  <c:pt idx="13">
                    <c:v>FTAP</c:v>
                  </c:pt>
                  <c:pt idx="14">
                    <c:v>FABA</c:v>
                  </c:pt>
                  <c:pt idx="15">
                    <c:v>MFGG</c:v>
                  </c:pt>
                  <c:pt idx="16">
                    <c:v>ELEC</c:v>
                  </c:pt>
                  <c:pt idx="17">
                    <c:v>TELC</c:v>
                  </c:pt>
                  <c:pt idx="18">
                    <c:v>DIST</c:v>
                  </c:pt>
                  <c:pt idx="19">
                    <c:v>AERO</c:v>
                  </c:pt>
                  <c:pt idx="20">
                    <c:v>SSE</c:v>
                  </c:pt>
                  <c:pt idx="21">
                    <c:v>MACH</c:v>
                  </c:pt>
                  <c:pt idx="22">
                    <c:v>PETR</c:v>
                  </c:pt>
                  <c:pt idx="23">
                    <c:v>LOGI</c:v>
                  </c:pt>
                  <c:pt idx="24">
                    <c:v>PRED</c:v>
                  </c:pt>
                  <c:pt idx="25">
                    <c:v>PHPR</c:v>
                  </c:pt>
                  <c:pt idx="26">
                    <c:v>PROC</c:v>
                  </c:pt>
                  <c:pt idx="27">
                    <c:v>PKGD</c:v>
                  </c:pt>
                  <c:pt idx="28">
                    <c:v>CPG</c:v>
                  </c:pt>
                </c:lvl>
              </c:multiLvlStrCache>
            </c:multiLvl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69</c:v>
                </c:pt>
                <c:pt idx="1">
                  <c:v>69</c:v>
                </c:pt>
                <c:pt idx="2">
                  <c:v>68</c:v>
                </c:pt>
                <c:pt idx="3">
                  <c:v>68</c:v>
                </c:pt>
                <c:pt idx="4">
                  <c:v>68</c:v>
                </c:pt>
                <c:pt idx="5">
                  <c:v>67</c:v>
                </c:pt>
                <c:pt idx="6">
                  <c:v>67</c:v>
                </c:pt>
                <c:pt idx="7">
                  <c:v>67</c:v>
                </c:pt>
                <c:pt idx="8">
                  <c:v>66</c:v>
                </c:pt>
                <c:pt idx="9">
                  <c:v>66</c:v>
                </c:pt>
                <c:pt idx="10">
                  <c:v>65</c:v>
                </c:pt>
                <c:pt idx="11">
                  <c:v>53</c:v>
                </c:pt>
                <c:pt idx="12">
                  <c:v>52</c:v>
                </c:pt>
                <c:pt idx="13">
                  <c:v>52</c:v>
                </c:pt>
                <c:pt idx="14">
                  <c:v>52</c:v>
                </c:pt>
                <c:pt idx="15">
                  <c:v>52</c:v>
                </c:pt>
                <c:pt idx="16">
                  <c:v>51</c:v>
                </c:pt>
                <c:pt idx="17">
                  <c:v>51</c:v>
                </c:pt>
                <c:pt idx="18">
                  <c:v>50</c:v>
                </c:pt>
                <c:pt idx="19">
                  <c:v>49</c:v>
                </c:pt>
                <c:pt idx="20">
                  <c:v>49</c:v>
                </c:pt>
                <c:pt idx="21">
                  <c:v>29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27</c:v>
                </c:pt>
                <c:pt idx="26">
                  <c:v>27</c:v>
                </c:pt>
                <c:pt idx="27">
                  <c:v>27</c:v>
                </c:pt>
                <c:pt idx="28">
                  <c:v>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2-1.png"/><Relationship Id="rId3" Type="http://schemas.openxmlformats.org/officeDocument/2006/relationships/image" Target="../media/image-22-2.png"/><Relationship Id="rId4" Type="http://schemas.openxmlformats.org/officeDocument/2006/relationships/image" Target="../media/image-2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4-1.png"/><Relationship Id="rId3" Type="http://schemas.openxmlformats.org/officeDocument/2006/relationships/image" Target="../media/image-24-2.png"/><Relationship Id="rId4" Type="http://schemas.openxmlformats.org/officeDocument/2006/relationships/image" Target="../media/image-2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4" Type="http://schemas.openxmlformats.org/officeDocument/2006/relationships/image" Target="../media/image-2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28-1.png"/><Relationship Id="rId3" Type="http://schemas.openxmlformats.org/officeDocument/2006/relationships/image" Target="../media/image-28-2.png"/><Relationship Id="rId4" Type="http://schemas.openxmlformats.org/officeDocument/2006/relationships/image" Target="../media/image-2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30-1.png"/><Relationship Id="rId3" Type="http://schemas.openxmlformats.org/officeDocument/2006/relationships/image" Target="../media/image-30-2.png"/><Relationship Id="rId4" Type="http://schemas.openxmlformats.org/officeDocument/2006/relationships/image" Target="../media/image-3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32-1.png"/><Relationship Id="rId3" Type="http://schemas.openxmlformats.org/officeDocument/2006/relationships/image" Target="../media/image-32-2.png"/><Relationship Id="rId4" Type="http://schemas.openxmlformats.org/officeDocument/2006/relationships/image" Target="../media/image-3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34-1.png"/><Relationship Id="rId3" Type="http://schemas.openxmlformats.org/officeDocument/2006/relationships/image" Target="../media/image-34-2.png"/><Relationship Id="rId4" Type="http://schemas.openxmlformats.org/officeDocument/2006/relationships/image" Target="../media/image-3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image-36-1.png"/><Relationship Id="rId3" Type="http://schemas.openxmlformats.org/officeDocument/2006/relationships/image" Target="../media/image-36-2.png"/><Relationship Id="rId4" Type="http://schemas.openxmlformats.org/officeDocument/2006/relationships/image" Target="../media/image-3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38-1.png"/><Relationship Id="rId3" Type="http://schemas.openxmlformats.org/officeDocument/2006/relationships/image" Target="../media/image-38-2.png"/><Relationship Id="rId4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image-40-1.png"/><Relationship Id="rId3" Type="http://schemas.openxmlformats.org/officeDocument/2006/relationships/image" Target="../media/image-40-2.png"/><Relationship Id="rId4" Type="http://schemas.openxmlformats.org/officeDocument/2006/relationships/image" Target="../media/image-4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42-1.png"/><Relationship Id="rId3" Type="http://schemas.openxmlformats.org/officeDocument/2006/relationships/image" Target="../media/image-42-2.png"/><Relationship Id="rId4" Type="http://schemas.openxmlformats.org/officeDocument/2006/relationships/image" Target="../media/image-4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3.xml"/><Relationship Id="rId1" Type="http://schemas.openxmlformats.org/officeDocument/2006/relationships/image" Target="../media/image-44-1.png"/><Relationship Id="rId3" Type="http://schemas.openxmlformats.org/officeDocument/2006/relationships/image" Target="../media/image-44-2.png"/><Relationship Id="rId4" Type="http://schemas.openxmlformats.org/officeDocument/2006/relationships/image" Target="../media/image-4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4.xml"/><Relationship Id="rId1" Type="http://schemas.openxmlformats.org/officeDocument/2006/relationships/image" Target="../media/image-46-1.png"/><Relationship Id="rId3" Type="http://schemas.openxmlformats.org/officeDocument/2006/relationships/image" Target="../media/image-46-2.png"/><Relationship Id="rId4" Type="http://schemas.openxmlformats.org/officeDocument/2006/relationships/image" Target="../media/image-4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1" Type="http://schemas.openxmlformats.org/officeDocument/2006/relationships/image" Target="../media/image-48-1.png"/><Relationship Id="rId3" Type="http://schemas.openxmlformats.org/officeDocument/2006/relationships/image" Target="../media/image-48-2.png"/><Relationship Id="rId4" Type="http://schemas.openxmlformats.org/officeDocument/2006/relationships/image" Target="../media/image-4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6.xml"/><Relationship Id="rId1" Type="http://schemas.openxmlformats.org/officeDocument/2006/relationships/image" Target="../media/image-50-1.png"/><Relationship Id="rId3" Type="http://schemas.openxmlformats.org/officeDocument/2006/relationships/image" Target="../media/image-50-2.png"/><Relationship Id="rId4" Type="http://schemas.openxmlformats.org/officeDocument/2006/relationships/image" Target="../media/image-5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7.xml"/><Relationship Id="rId1" Type="http://schemas.openxmlformats.org/officeDocument/2006/relationships/image" Target="../media/image-52-1.png"/><Relationship Id="rId3" Type="http://schemas.openxmlformats.org/officeDocument/2006/relationships/image" Target="../media/image-52-2.png"/><Relationship Id="rId4" Type="http://schemas.openxmlformats.org/officeDocument/2006/relationships/image" Target="../media/image-5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8.xml"/><Relationship Id="rId1" Type="http://schemas.openxmlformats.org/officeDocument/2006/relationships/image" Target="../media/image-54-1.png"/><Relationship Id="rId3" Type="http://schemas.openxmlformats.org/officeDocument/2006/relationships/image" Target="../media/image-54-2.png"/><Relationship Id="rId4" Type="http://schemas.openxmlformats.org/officeDocument/2006/relationships/image" Target="../media/image-5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9.xml"/><Relationship Id="rId1" Type="http://schemas.openxmlformats.org/officeDocument/2006/relationships/image" Target="../media/image-56-1.png"/><Relationship Id="rId3" Type="http://schemas.openxmlformats.org/officeDocument/2006/relationships/image" Target="../media/image-56-2.png"/><Relationship Id="rId4" Type="http://schemas.openxmlformats.org/officeDocument/2006/relationships/image" Target="../media/image-5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0.xml"/><Relationship Id="rId1" Type="http://schemas.openxmlformats.org/officeDocument/2006/relationships/image" Target="../media/image-58-1.png"/><Relationship Id="rId3" Type="http://schemas.openxmlformats.org/officeDocument/2006/relationships/image" Target="../media/image-58-2.png"/><Relationship Id="rId4" Type="http://schemas.openxmlformats.org/officeDocument/2006/relationships/image" Target="../media/image-5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1.xml"/><Relationship Id="rId1" Type="http://schemas.openxmlformats.org/officeDocument/2006/relationships/image" Target="../media/image-60-1.png"/><Relationship Id="rId3" Type="http://schemas.openxmlformats.org/officeDocument/2006/relationships/image" Target="../media/image-60-2.png"/><Relationship Id="rId4" Type="http://schemas.openxmlformats.org/officeDocument/2006/relationships/image" Target="../media/image-6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2.xml"/><Relationship Id="rId1" Type="http://schemas.openxmlformats.org/officeDocument/2006/relationships/image" Target="../media/image-62-1.png"/><Relationship Id="rId3" Type="http://schemas.openxmlformats.org/officeDocument/2006/relationships/image" Target="../media/image-62-2.png"/><Relationship Id="rId4" Type="http://schemas.openxmlformats.org/officeDocument/2006/relationships/image" Target="../media/image-6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3.xml"/><Relationship Id="rId1" Type="http://schemas.openxmlformats.org/officeDocument/2006/relationships/image" Target="../media/image-64-1.png"/><Relationship Id="rId3" Type="http://schemas.openxmlformats.org/officeDocument/2006/relationships/image" Target="../media/image-64-2.png"/><Relationship Id="rId4" Type="http://schemas.openxmlformats.org/officeDocument/2006/relationships/image" Target="../media/image-6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4.xml"/><Relationship Id="rId1" Type="http://schemas.openxmlformats.org/officeDocument/2006/relationships/image" Target="../media/image-66-1.png"/><Relationship Id="rId3" Type="http://schemas.openxmlformats.org/officeDocument/2006/relationships/image" Target="../media/image-66-2.png"/><Relationship Id="rId4" Type="http://schemas.openxmlformats.org/officeDocument/2006/relationships/image" Target="../media/image-6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5.xml"/><Relationship Id="rId1" Type="http://schemas.openxmlformats.org/officeDocument/2006/relationships/image" Target="../media/image-68-1.png"/><Relationship Id="rId3" Type="http://schemas.openxmlformats.org/officeDocument/2006/relationships/image" Target="../media/image-68-2.png"/><Relationship Id="rId4" Type="http://schemas.openxmlformats.org/officeDocument/2006/relationships/image" Target="../media/image-6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6.xml"/><Relationship Id="rId1" Type="http://schemas.openxmlformats.org/officeDocument/2006/relationships/image" Target="../media/image-70-1.png"/><Relationship Id="rId3" Type="http://schemas.openxmlformats.org/officeDocument/2006/relationships/image" Target="../media/image-70-2.png"/><Relationship Id="rId4" Type="http://schemas.openxmlformats.org/officeDocument/2006/relationships/image" Target="../media/image-7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7.xml"/><Relationship Id="rId1" Type="http://schemas.openxmlformats.org/officeDocument/2006/relationships/image" Target="../media/image-72-1.png"/><Relationship Id="rId3" Type="http://schemas.openxmlformats.org/officeDocument/2006/relationships/image" Target="../media/image-72-2.png"/><Relationship Id="rId4" Type="http://schemas.openxmlformats.org/officeDocument/2006/relationships/image" Target="../media/image-7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8.xml"/><Relationship Id="rId1" Type="http://schemas.openxmlformats.org/officeDocument/2006/relationships/image" Target="../media/image-74-1.png"/><Relationship Id="rId3" Type="http://schemas.openxmlformats.org/officeDocument/2006/relationships/image" Target="../media/image-74-2.png"/><Relationship Id="rId4" Type="http://schemas.openxmlformats.org/officeDocument/2006/relationships/image" Target="../media/image-7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9.xml"/><Relationship Id="rId1" Type="http://schemas.openxmlformats.org/officeDocument/2006/relationships/image" Target="../media/image-76-1.png"/><Relationship Id="rId3" Type="http://schemas.openxmlformats.org/officeDocument/2006/relationships/image" Target="../media/image-76-2.png"/><Relationship Id="rId4" Type="http://schemas.openxmlformats.org/officeDocument/2006/relationships/image" Target="../media/image-7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0.xml"/><Relationship Id="rId1" Type="http://schemas.openxmlformats.org/officeDocument/2006/relationships/image" Target="../media/image-78-1.png"/><Relationship Id="rId3" Type="http://schemas.openxmlformats.org/officeDocument/2006/relationships/image" Target="../media/image-78-2.png"/><Relationship Id="rId4" Type="http://schemas.openxmlformats.org/officeDocument/2006/relationships/image" Target="../media/image-7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CortexSkills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engineering, end to end — the application in action, sector by sector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88736" y="1179576"/>
            <a:ext cx="5870448" cy="3710178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3444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423160"/>
            <a:ext cx="731520" cy="73152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Refresh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59872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331720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lifecycle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phases, 33 end-to-end processes, five gates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30168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MousePointerCl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5987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38928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3630168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dynamics, step by step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tenancy to the reports, on a large company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37376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259872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946136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6437376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SMEs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tracks for smaller organizations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244584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LayoutGri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2598725"/>
            <a:ext cx="380390" cy="38039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53344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3"/>
          <p:cNvSpPr txBox="1"/>
          <p:nvPr/>
        </p:nvSpPr>
        <p:spPr>
          <a:xfrm>
            <a:off x="9244584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Sector by sector</a:t>
            </a:r>
            <a:endParaRPr lang="en-US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244584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sectors, each with its large company and its SME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lifecycle, seven phases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groups end-to-end processes; a gate closes each main phase.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evidence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35809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18689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618689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18689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processes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8689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297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585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Report &amp; plan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processes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0585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302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delivery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9302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97317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0197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compliance &amp; impact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processes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984486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167366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10167366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Talent, knowledge &amp; continuous improvement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67366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7366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07492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7240" y="5230368"/>
            <a:ext cx="603504" cy="60350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81" y="5375209"/>
            <a:ext cx="313822" cy="313822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600200" y="521208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 run across all phases — </a:t>
            </a:r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E2E-15 · E2E-17 · E2E-18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SEGMENTS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organization runs two full cycles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skills and AI skills, for large companies and SMEs, in 29 sectors.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segments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Building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37195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companies — Digital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2900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57600" y="224028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6" name="Image 1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274" y="2371954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4340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companies — AI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365760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77240" y="425196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4383634"/>
            <a:ext cx="285293" cy="28529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— Digital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77724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42900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3657600" y="425196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28" name="Image 3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9274" y="43836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34340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— AI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300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6583680" y="1920240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3" name="Text 26"/>
          <p:cNvSpPr txBox="1"/>
          <p:nvPr/>
        </p:nvSpPr>
        <p:spPr>
          <a:xfrm>
            <a:off x="6583680" y="5532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task completion by segment and run, across the 29 sectors (%)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dynamics, step by step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Atlas Motors Kénitra, automotive, large company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TENANCY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from the Group and the Organization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Group (Yes or No), then the Organization.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organization is a closed tenant: its data is never visible to another.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members can read sister organizations; they cannot change them.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NEW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run from the catalog, by hand or with AI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seven weighted criteria: the score recommends Full mode or an SME track.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AI: type a short description; accept, change or reject each proposed item.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gates, checklists and roles come from the chosen template.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phases, processes and gates on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per phase and per process, overdue tasks, complexity score.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 (data, change, quality) run across all phases.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checklist must be complete before the next phase starts.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PROCESS CHAIN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Processes feed each other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end-to-end process has a trigger, an end state and its inputs and outputs.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shows which process consumes which output.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diagrams can be viewed, edited, imported and exported.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TASK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to type” for every task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panel shows the expected answer for this organization and sector.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 proposes a draft, labelled with its confidence and sources.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and evaluator are always two different people.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· GOVERNANCE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Accountable per activity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 roles are allocated per activity, with exactly one Accountable.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Risks, controls and business rules are tagged to the processes.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governed field is justified and recorded.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· PLANNING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run on a timeline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processes and tasks on one Gantt, with dependencies.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bars are computed from the tasks below them.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or save as PDF.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·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and questions in plain language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reports exported to PDF, Excel and Word.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Assistant answers from the organization’s own data, within the user’s permissions.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flag overdue steps and off-target KPIs.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· PROCESS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organization’s own process design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Rename, add, retire or move elements of the reference design; every change is a version.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rules are checked before saving, in three languages.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release is published by a second person; projects run on it.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· TYPED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step asks for what it produces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of records, matrices, objectives and plans; forms for decisions and reviews.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save as you go; Undo, paste from a spreadsheet, Row Editor.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steps feed the registers of the project.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· DOCUMENTS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written from the run’s data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templates: one per process deliverable, the report, the plan, the audit and the master list.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stay through regeneration; versions are compared and restored.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by a second person; Word, PDF and Excel.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· ORGANIZATION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Roles, holders and RACSI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group roles; each role has its holders, deputies and allocation.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organization chart and vacant roles, on any date.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 per step, by role, with exactly one Accountable.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SMEs: lighter tracks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Clinique Al Amal, healthcare provider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SME tracks, sized by complexity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complexity score recommends the track; a different choice needs a justification.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SMEs: lighter tracks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671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 · Essential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854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0–29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603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gates, short checklists, about 6 weeks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 · Standard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4198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30–49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processes with three gates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46360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 · Extended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65429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50–69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29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Full mode, lighter documentation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65776" y="1819656"/>
            <a:ext cx="6601968" cy="4167378"/>
          </a:xfrm>
          <a:prstGeom prst="roundRect">
            <a:avLst>
              <a:gd name="adj" fmla="val 175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1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874520"/>
            <a:ext cx="6492240" cy="40576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guidance, on any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SME: the task panel in French, the workspace in Arabic on a phone.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SMEs: lighter tracks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7863840" cy="49149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89136" y="1819656"/>
            <a:ext cx="2258568" cy="4760038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74520"/>
            <a:ext cx="2148840" cy="465031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Sector by sector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sectors · 58 organizations · 116 full runs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Automotive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Assembly &amp; Production · IATF 16949, ISO 9001,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Motors Kénitra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Tanger Auto Parts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visual inspection of welds and paint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of press lines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IATF 16949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and digital shop-floor tracking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PLM and digital engineering change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portal and EDI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Automotive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Motors Kénitra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 &amp; Defense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Aerostructures &amp; MRO · AS9100, EN 9110,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 Atlas Nouaceur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Aero Composites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non-destructive testing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MRO scheduling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AS9100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work instructions and e-logbooks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of assembly jigs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management in PLM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 &amp; Defense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 Atlas Nouaceur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MACH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Machinery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Machining &amp; Assembly · ISO 9001, ISO 12100, CE Machinery Directive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Machines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Fès Mécanique de Précision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predictive maintenance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Machine-learning quality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 programming and CAM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IIoT machine connectivity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after-sales service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MACH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Machinery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Machines Industries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· Core function: Clinical &amp; Laboratory Operations · ISO 13485, EU MDR,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BioLab Diagnostics Rabat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diagnostics validation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pharmacovigilance signal detection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lab notebooks and LIMS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quality management (eQMS)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data interoperability (HL7 FHIR)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ELEC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Electronics &amp; High-Tech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SMT &amp; Test · IPC-A-610, ISO 9001,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Electronics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Circuitec Oujda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optical inspection (AOI) tuning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prediction with machine learning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IPC-A-610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with MES and barcodes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test benches and data capture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ERP-driven material planning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ELEC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Electronics &amp; High-Tech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Electronics Group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AEC &amp; Construction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energy · Core function: Site Works &amp; Project Delivery · ISO 19650, ISO 45001,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Construction &amp; Engineering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Souss BTP Solutions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clash detection and model checking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safety monitoring with site cameras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19650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modelling and ISO 19650 workflows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site diary and field reporting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surveying and 3D site scans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AEC &amp; Construction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Construction &amp; Engineering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FNB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Food &amp; Beverage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Production &amp; Food Safety · HACCP, ISO 22000, FSSC 22000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Agro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Laitière Al Baraka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shelf-life and spoilage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for foreign-body detection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HACCP records and traceability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and batch management in ERP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cold-chain monitoring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FNB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Food &amp; Beverage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Agro Industries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&amp; Solidarity Economy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&amp; social · Core function: Member Services &amp; Cooperatives · ISO 26000, ISO 9001, Cooperative law 112-12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Fédération Nationale des Coopératives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Argan Tiznit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impact measurement for social programmes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translation for local-language outreach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26000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membership and cooperative accounting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for cooperative products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payment and micro-finance tools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&amp; Solidarity Economy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Fédération Nationale des Coopératives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Pharmaceutical &amp; Process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GMP Manufacturing · EU GMP, ICH Q10, FDA 21 CFR Part 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Galénix Laboratoires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 analytics for yield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deviation and CAPA triage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batch records (EBR)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system validation (CSV)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and ALCOA+ practices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Pharmaceutical &amp; Process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RETL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Store Operations · ISO 9001, PCI DSS, ISO 10002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Retail Stores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Marrakech Concept Store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forecasting and replenishment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personalization of offers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 POS and click-and-collect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merchandising and planograms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and loyalty programmes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RETL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Retail Stores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FTAP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Footwear &amp; Apparel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Cutting, Sewing &amp; Finishing · ISO 9001, OEKO-TEX, SA8000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Textile &amp; Footwear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Cuir Fès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defect detection on fabrics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line balancing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pattern making and 3D prototyping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Shop-floor data collection per operation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compliance with buyer codes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FTAP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Footwear &amp; Apparel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Textile &amp; Footwear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CPG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Packaged Goods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Packaging &amp; Brand Operations · ISO 9001, ISO 22716,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Consumer Brands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Savonnerie Beldi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promotion effectiveness modelling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consumer-insight mining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artwork and labelling workflow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Trade-marketing analytics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OEE digital dashboards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CPG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Packaged Goods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Consumer Brands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ENUT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Utilities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energy · Core function: Network Operations &amp; Field Maintenance · ISO 50001, ISO 55001,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Energy &amp; Utilities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Solaris Maintenance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load forecasting for grids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anomaly detection on assets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50001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and digital control rooms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work-order management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asset mapping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ENUT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Utilities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Energy &amp; Utilities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TELC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Telecommunications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Core function: Network &amp; Customer Operations · ISO/IEC 27001, ISO 9001, TM Forum eTOM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Telecom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NetConnect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network fault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churn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automation and SDN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customer journeys and self-care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operations (DevOps)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TELC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Telecommunications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Telecom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PETR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/ Petrochemical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Process Operations &amp; Safety · ISO 45001, Seveso III, API RP 754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Atlantique Petrochemicals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 Services Safi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 optimisation (APC)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corrosion and integrity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permit-to-work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training simulators (OTS)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process safety management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PETR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/ Petrochemical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Atlantique Petrochemicals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SHIP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Shipbuilding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Hull Fabrication &amp; Outfitting · ISO 9001, IACS UR, ISO 3834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Chantiers Navals du Détroit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Outfitting Agadir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weld-quality monitoring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nesting optimisation of steel plates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ship design and production models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welding qualification records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planning and digital scheduling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SHIP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Shipbuilding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Chantiers Navals du Détroit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CPEX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Products Extended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Product Development &amp; Sourcing · ISO 9001, ISO 10377,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Home &amp; Living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Poterie Safi Design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product-safety risk screening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review and sentiment analytics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product information management (PIM)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collaboration platforms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marketplace operations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CPEX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Products Extended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Home &amp; Living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PROC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Industries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Continuous Process Operations · ISO 9001, ISO 14001,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Phosphates &amp; Minerals Atlas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Minerals Lab Khouribga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soft sensors for quality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energy-efficiency optimisation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DCS operation and digital logbooks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information systems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monitoring dashboards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PROC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Industries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Phosphates &amp; Minerals Atlas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INFR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energy · Core function: Asset Management &amp; Operations · ISO 55001, ISO 19650,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Autoroutes &amp; Ouvrages du Nord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 Inspect Maroc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structural health monitoring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traffic and demand modelling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asset registers and CMMS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infrastructure sensors (IoT)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inspection with tablets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INFR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Autoroutes &amp; Ouvrages du Nord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FABA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Fabrication &amp; Assembly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Metal Fabrication &amp; Assembly · ISO 9001, ISO 3834, EN 1090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Steel Structures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Métal Berrechid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cutting-plan optimisation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robot programming assistance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job cards and routing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CAD/CAM for sheet metal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quality inspection records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FABA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Fabrication &amp; Assembly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Steel Structures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PKGD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/ Packaged Goods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Filling &amp; Packaging Lines · ISO 22000, ISO 9001, BRCGS Packaging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Packaging &amp; Bottling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Emballages Kénitra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OEE loss analysis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vision for seal and label checks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22000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changeover digital checklists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weight and fill control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management system (WMS)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PKGD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/ Packaged Goods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Packaging &amp; Bottling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SEMI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Semiconductor &amp; Electronics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Cleanroom &amp; Back-end Operations · ISO 9001, IATF 16949, ISO 14644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Semiconductor Packaging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MicroTest Engineering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wafer-map defect classification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virtual metrology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Cleanroom protocol digital training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automation (SECS/GEM)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process control (SPC) dashboards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SEMI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Semiconductor &amp; Electronics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Semiconductor Packaging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DIST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Core function: Sales &amp; Distribution Network · ISO 9001, ISO 28000, ISO 39001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 Oriental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next-best-offer for sales reps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credit-risk scoring of customers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Sales-force automation on mobile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e-ordering portals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planning and telematics</a:t>
            </a:r>
            <a:endParaRPr lang="en-US" sz="10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DIST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Distribution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Core function: Warehousing &amp; Transport · ISO 9001, ISO 28000, TAPA FSR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Logistics Tanger Med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Atlas Express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warehouse slotting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ETA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WMS and RF scanning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management system (TMS)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customs and port community systems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Logistics Tanger Med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· Core function: Pharmaceutical Quality &amp; Distribution · EU GMP, GDP, ICH Q9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PharmaLog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regulatory-dossier drafting assistance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sensing for medicines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Serialization and track-and-trace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GDP temperature monitoring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information management (RIM)</a:t>
            </a:r>
            <a:endParaRPr lang="en-US" sz="10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MFGG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(Generic)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Production &amp; Maintenance · ISO 9001, ISO 45001,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Manufacturing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 Meknès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continuous improvement (Kaizen)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visual quality control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digital (e-Kanban, digital 5S)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and MRP fundamentals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maintenance (CMMS)</a:t>
            </a:r>
            <a:endParaRPr lang="en-US" sz="10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MFGG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(Generic)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Manufacturing Group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Education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&amp; social · Core function: Teaching &amp; Academic Affairs · ISO 21001, ISO 9001, ISO/IEC 27001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Private Universities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Al Manar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tutoring and adaptive learning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integrity with generative AI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management systems for teachers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assessment and e-portfolios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information systems</a:t>
            </a:r>
            <a:endParaRPr lang="en-US" sz="10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Education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Private Universities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Education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&amp; social · Core function: Schools &amp; Teaching Staff · ISO 21001, ISO 9001, Public accessibility standards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Régionale Rabat-Salé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Lycée Pilote Ibn Sina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lesson planning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inclusive and special-needs education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classroom tools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management information systems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citizenship and online safety</a:t>
            </a:r>
            <a:endParaRPr lang="en-US" sz="10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Education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Régionale Rabat-Salé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HCPR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Providers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· Core function: Clinical Care &amp; Nursing · ISO 7101, JCI Standards,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Hospitals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and clinical decision support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 imaging assistance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health records (EHR)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Telemedicine and remote consultation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patient scheduling and billing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HCPR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Providers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Hospitals Group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of the AI runs, by sector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companies, share of tasks completed in the AI skills run.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1109441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tasks completed in the AI run of each large company (%)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your own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9456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Down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33720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103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two folders, three commands each (Installation Guide).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38328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1" descr="Lo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2592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29184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a demonstration account and follow the User Guide.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2" descr="Building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146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480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demonstration organization with yours: Group, Organization, then Project.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7900416" y="1956816"/>
            <a:ext cx="3767328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0" name="Image 3" descr="Screenshot of the applic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0116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</dc:title>
  <dc:subject>PptxGenJS Presentation</dc:subject>
  <dc:creator>POWERACT Consulting</dc:creator>
  <cp:lastModifiedBy>POWERACT Consulting</cp:lastModifiedBy>
  <cp:revision>1</cp:revision>
  <dcterms:created xsi:type="dcterms:W3CDTF">2026-10-06T22:38:51Z</dcterms:created>
  <dcterms:modified xsi:type="dcterms:W3CDTF">2026-10-06T22:38:51Z</dcterms:modified>
</cp:coreProperties>
</file>
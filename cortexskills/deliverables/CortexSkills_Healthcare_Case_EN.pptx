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4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 (%)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Operations</c:v>
                  </c:pt>
                  <c:pt idx="1">
                    <c:v>Quality &amp; HSE</c:v>
                  </c:pt>
                  <c:pt idx="2">
                    <c:v>Human Resources</c:v>
                  </c:pt>
                  <c:pt idx="3">
                    <c:v>Sales &amp; Marketing</c:v>
                  </c:pt>
                  <c:pt idx="4">
                    <c:v>Information Systems</c:v>
                  </c:pt>
                  <c:pt idx="5">
                    <c:v>Clinical Care &amp; Nursing</c:v>
                  </c:pt>
                  <c:pt idx="6">
                    <c:v>Finance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83</c:v>
                </c:pt>
                <c:pt idx="2">
                  <c:v>83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83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(out of 5)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Strategy</c:v>
                  </c:pt>
                  <c:pt idx="1">
                    <c:v>Organization</c:v>
                  </c:pt>
                  <c:pt idx="2">
                    <c:v>Processes</c:v>
                  </c:pt>
                  <c:pt idx="3">
                    <c:v>People and skills</c:v>
                  </c:pt>
                  <c:pt idx="4">
                    <c:v>Information systems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</c:v>
                </c:pt>
                <c:pt idx="1">
                  <c:v>2.8</c:v>
                </c:pt>
                <c:pt idx="2">
                  <c:v>2.6</c:v>
                </c:pt>
                <c:pt idx="3">
                  <c:v>3.1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 triage and clinical deci…</c:v>
                  </c:pt>
                  <c:pt idx="1">
                    <c:v>AI medical imaging assistan…</c:v>
                  </c:pt>
                  <c:pt idx="2">
                    <c:v>AI bed and staff capacity p…</c:v>
                  </c:pt>
                  <c:pt idx="3">
                    <c:v>AI literacy for all staff</c:v>
                  </c:pt>
                  <c:pt idx="4">
                    <c:v>Prompting and generative AI…</c:v>
                  </c:pt>
                  <c:pt idx="5">
                    <c:v>Responsible AI and data pro…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360000</c:v>
                </c:pt>
                <c:pt idx="1">
                  <c:v>300000</c:v>
                </c:pt>
                <c:pt idx="2">
                  <c:v>240000</c:v>
                </c:pt>
                <c:pt idx="3">
                  <c:v>180000</c:v>
                </c:pt>
                <c:pt idx="4">
                  <c:v>120000</c:v>
                </c:pt>
                <c:pt idx="5">
                  <c:v>60000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Allocated</c:v>
                </c:pt>
              </c:strCache>
            </c:strRef>
          </c:tx>
          <c:spPr>
            <a:solidFill>
              <a:srgbClr val="5859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 triage and clinical de…</c:v>
                  </c:pt>
                  <c:pt idx="1">
                    <c:v>AI medical imaging assist…</c:v>
                  </c:pt>
                  <c:pt idx="2">
                    <c:v>AI bed and staff capacity…</c:v>
                  </c:pt>
                  <c:pt idx="3">
                    <c:v>AI literacy for all staff</c:v>
                  </c:pt>
                  <c:pt idx="4">
                    <c:v>Prompting and generative …</c:v>
                  </c:pt>
                  <c:pt idx="5">
                    <c:v>Responsible AI and data p…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360000</c:v>
                </c:pt>
                <c:pt idx="1">
                  <c:v>300000</c:v>
                </c:pt>
                <c:pt idx="2">
                  <c:v>240000</c:v>
                </c:pt>
                <c:pt idx="3">
                  <c:v>180000</c:v>
                </c:pt>
                <c:pt idx="4">
                  <c:v>120000</c:v>
                </c:pt>
                <c:pt idx="5">
                  <c:v>60000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 triage and clinical de…</c:v>
                  </c:pt>
                  <c:pt idx="1">
                    <c:v>AI medical imaging assist…</c:v>
                  </c:pt>
                  <c:pt idx="2">
                    <c:v>AI bed and staff capacity…</c:v>
                  </c:pt>
                  <c:pt idx="3">
                    <c:v>AI literacy for all staff</c:v>
                  </c:pt>
                  <c:pt idx="4">
                    <c:v>Prompting and generative …</c:v>
                  </c:pt>
                  <c:pt idx="5">
                    <c:v>Responsible AI and data p…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347127</c:v>
                </c:pt>
                <c:pt idx="1">
                  <c:v>266091</c:v>
                </c:pt>
                <c:pt idx="2">
                  <c:v>243800</c:v>
                </c:pt>
                <c:pt idx="3">
                  <c:v>156192</c:v>
                </c:pt>
                <c:pt idx="4">
                  <c:v>118913</c:v>
                </c:pt>
                <c:pt idx="5">
                  <c:v>60539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6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solidFill>
            <a:srgbClr val="FDEEDA"/>
          </a:solidFill>
          <a:ln w="12700">
            <a:solidFill>
              <a:srgbClr val="FDEED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 · HEALTHCARE · 2026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skills training engineering at a regional hospital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947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Hospital Centre: from scope to evaluation — the project, the Training Engineering Report, the Training Plan and every document produced with CortexSkills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POWERACT Consulting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0176" y="1179576"/>
            <a:ext cx="5779008" cy="3653028"/>
          </a:xfrm>
          <a:prstGeom prst="roundRect">
            <a:avLst>
              <a:gd name="adj" fmla="val 200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23444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case is presented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0" name="Image 0" descr="Hospi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0040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hospital and the project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charter, scope, method, schedule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297680" y="18288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210312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Stethosco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22567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4944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Questionnaires, maturity, skill gaps, needs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046720" y="18288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2" name="Image 2" descr="FileTe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2256739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69848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Engineering Report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2104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roadmap, risks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4864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8" name="Image 3" descr="GraduationC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" y="4405579"/>
            <a:ext cx="332842" cy="33284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20040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3"/>
          <p:cNvSpPr txBox="1"/>
          <p:nvPr/>
        </p:nvSpPr>
        <p:spPr>
          <a:xfrm>
            <a:off x="82296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Plan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82296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Programs, trainings, agendas, budget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429768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572000" y="425196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34" name="Image 4" descr="ChartColum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619" y="4405579"/>
            <a:ext cx="332842" cy="33284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94944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and evaluation</a:t>
            </a:r>
            <a:endParaRPr lang="en-US" sz="1700" dirty="0"/>
          </a:p>
        </p:txBody>
      </p:sp>
      <p:sp>
        <p:nvSpPr>
          <p:cNvPr id="37" name="Text 29"/>
          <p:cNvSpPr txBox="1"/>
          <p:nvPr/>
        </p:nvSpPr>
        <p:spPr>
          <a:xfrm>
            <a:off x="457200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Kirkpatrick, certifications, lessons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804672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8321040" y="425196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40" name="Image 5" descr="FileSta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4659" y="4405579"/>
            <a:ext cx="332842" cy="33284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069848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42" name="Text 33"/>
          <p:cNvSpPr txBox="1"/>
          <p:nvPr/>
        </p:nvSpPr>
        <p:spPr>
          <a:xfrm>
            <a:off x="832104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produced</a:t>
            </a:r>
            <a:endParaRPr lang="en-US" sz="1700" dirty="0"/>
          </a:p>
        </p:txBody>
      </p:sp>
      <p:sp>
        <p:nvSpPr>
          <p:cNvPr id="43" name="Text 34"/>
          <p:cNvSpPr txBox="1"/>
          <p:nvPr/>
        </p:nvSpPr>
        <p:spPr>
          <a:xfrm>
            <a:off x="832104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published documents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AI skills cycle, documented end to end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Hospital Centre · 3,400 employees · AI Skills Full Run 2026 — Regional Hospital Centre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02996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Circle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3969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19568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25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5786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run completed — 35 end-to-end processes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355848" y="18288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57016" y="202996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Clipboard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13969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33088" y="19568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/ 40</a:t>
            </a:r>
            <a:endParaRPr lang="en-US" sz="25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25786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answered the questionnaires (93 %)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63056" y="18288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64224" y="202996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1" name="Image 2" descr="GraduationC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13969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19568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5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5786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 in 2 programs, prioritized by impact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970264" y="18288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71432" y="202996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6" name="Image 3" descr="Wall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13969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47504" y="19568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1,260,000</a:t>
            </a:r>
            <a:endParaRPr lang="en-US" sz="2500" dirty="0"/>
          </a:p>
        </p:txBody>
      </p:sp>
      <p:sp>
        <p:nvSpPr>
          <p:cNvPr id="28" name="Text 21"/>
          <p:cNvSpPr txBox="1"/>
          <p:nvPr/>
        </p:nvSpPr>
        <p:spPr>
          <a:xfrm>
            <a:off x="9171432" y="25786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budget; 1,192,662 spent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548640" y="3291840"/>
            <a:ext cx="11094415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86868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case shows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868680" y="3977640"/>
            <a:ext cx="384048" cy="384048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32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852" y="4069812"/>
            <a:ext cx="199705" cy="1997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417320" y="395020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“Information systems” is the weakest axis (2 / 5); the largest skill gap is “AI bed and staff capacity planning” (average gap 3.0).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868680" y="4507992"/>
            <a:ext cx="384048" cy="384048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35" name="Image 5" descr="ArrowRigh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52" y="4600164"/>
            <a:ext cx="199705" cy="19970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17320" y="448056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training needs were validated and grouped into 6 themes, delivered in 4 roadmap initiatives over three waves.</a:t>
            </a:r>
            <a:endParaRPr lang="en-US" sz="1350" dirty="0"/>
          </a:p>
        </p:txBody>
      </p:sp>
      <p:sp>
        <p:nvSpPr>
          <p:cNvPr id="37" name="Shape 28"/>
          <p:cNvSpPr/>
          <p:nvPr/>
        </p:nvSpPr>
        <p:spPr>
          <a:xfrm>
            <a:off x="868680" y="5038344"/>
            <a:ext cx="384048" cy="384048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38" name="Image 6" descr="Shield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52" y="5130516"/>
            <a:ext cx="199705" cy="199705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417320" y="5010912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Kirkpatrick results: 86 % · 93 % · 84 % for reaction, learning and behaviour.</a:t>
            </a:r>
            <a:endParaRPr lang="en-US" sz="1350" dirty="0"/>
          </a:p>
        </p:txBody>
      </p:sp>
      <p:sp>
        <p:nvSpPr>
          <p:cNvPr id="40" name="Shape 30"/>
          <p:cNvSpPr/>
          <p:nvPr/>
        </p:nvSpPr>
        <p:spPr>
          <a:xfrm>
            <a:off x="868680" y="5568696"/>
            <a:ext cx="384048" cy="384048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41" name="Image 7" descr="CircleDo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852" y="5660868"/>
            <a:ext cx="199705" cy="199705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1417320" y="5541264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documents published, 1,060 pages in total; the Training Engineering Report alone has 198 pages.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hospital and the project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charter, scope, method and schedule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Hospital Centre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Hospital Centre operates in the Healthcare Providers sector, in Région, with 3400 employees.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hospital and the project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937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Become the reference of Healthcare Providers in the region, with teams trained to the best standards.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safe, compliant service through skilled people and controlled processes.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 · Excellence · Sharing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competition, stricter ISO 7101 audits and the arrival of AI triage and clinical decision support.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— existing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services of Clinical Care &amp; Nursing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— new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services supported by AI triage and clinical decision 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segments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accounts · Public sector · Individual customers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589520" y="1828800"/>
            <a:ext cx="4050792" cy="4206240"/>
          </a:xfrm>
          <a:prstGeom prst="roundRect">
            <a:avLst>
              <a:gd name="adj" fmla="val 270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78181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and headcount</a:t>
            </a:r>
            <a:endParaRPr lang="en-US" sz="160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423160"/>
          <a:ext cx="361188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&amp; HSE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Resources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&amp; Marketing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Care &amp; Nursing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Skills Full Run 2026 — Regional Hospital Centre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engineering cycle focused on AI skills for Healthcare Providers: scope, evidence, diagnosis, report, delivery, evaluation and continuous improvement.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hospital and the project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12140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Gau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23113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048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25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670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score (out of 100): full run with gates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355848" y="1920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57016" y="212140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23113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33088" y="2048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5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2670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registered and consulted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63056" y="1920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64224" y="212140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1" name="Image 2" descr="Crossha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23113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2048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5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670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criteria approved in the Scope of Work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970264" y="1920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71432" y="212140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6" name="Image 3" descr="Lay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23113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47504" y="2048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 · MO · OP</a:t>
            </a:r>
            <a:endParaRPr lang="en-US" sz="2500" dirty="0"/>
          </a:p>
        </p:txBody>
      </p:sp>
      <p:sp>
        <p:nvSpPr>
          <p:cNvPr id="28" name="Text 21"/>
          <p:cNvSpPr txBox="1"/>
          <p:nvPr/>
        </p:nvSpPr>
        <p:spPr>
          <a:xfrm>
            <a:off x="9171432" y="2670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levels covered (strategic, middle, operational)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548640" y="3429000"/>
            <a:ext cx="11094415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86868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objectives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868680" y="4114800"/>
            <a:ext cx="384048" cy="384048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32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852" y="4206972"/>
            <a:ext cx="199705" cy="1997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417320" y="4087368"/>
            <a:ext cx="99056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SO-1 — Adopt AI triage and clinical decision support across Clinical Care &amp; Nursing by end 2027 (horizon 2027-12-31)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868680" y="4800600"/>
            <a:ext cx="384048" cy="384048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35" name="Image 5" descr="ArrowRigh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52" y="4892772"/>
            <a:ext cx="199705" cy="19970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17320" y="4773168"/>
            <a:ext cx="99056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SO-2 — Zero major findings in ISO 7101 audits (horizon 2026-12-31)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phases, each closed by a gate with its deliverables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engineering mission follows the phases below, each closed by a gate with its deliverables.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hospital and the project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492240"/>
                <a:gridCol w="1307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processes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Scope &amp;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E2E-32 · E2E-33 · E2E-19 · E2E-24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Diagnosis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E2E-20 · E2E-25 · E2E-26 · E2E-27 · E2E-28 · E2E-29 · E2E-02 · E2E-21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Training Engineering Report &amp;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E2E-01 · E2E-03 · E2E-30 · E2E-22 · E2E-23 · E2E-16 · HCPR-E2E-02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Design &amp; 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E2E-04 · E2E-05 · E2E-06 · E2E-13 · E2E-14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Evaluation, compliance &amp;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E2E-07 · E2E-08 · E2E-09 · HCPR-E2E-01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Talent, knowledge &amp; continuous improvement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E2E-10 · E2E-11 · E2E-12 · E2E-31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Training Engineering Report, section 1.5 “The current mission”.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packages and the Gantt chart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hospital and the project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4206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1440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package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&amp; 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&amp;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4206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S-01 AI triage and clinical decision 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S-02 AI medical imaging assistance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S-03 AI triage and clinical decision 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S-04 AI medical imaging assistance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020056" y="1773936"/>
            <a:ext cx="669340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1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828800"/>
            <a:ext cx="6583680" cy="41148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074920" y="6035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and Gantt of the project in CortexSkills.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answered, where the hospital stands, which skills are missing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CAMPAIGN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of 40 people answered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people were invited to answer; 37 answered.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914400"/>
                <a:gridCol w="82296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&amp; HSE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Resources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&amp; Marketing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Care &amp; Nursing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6583680" y="178308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658368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by function.</a:t>
            </a:r>
            <a:endParaRPr lang="en-US" sz="100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484632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1005840"/>
                <a:gridCol w="77724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Face-to-face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TER sections 1.6, 1.12 and 1.13.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AND MATURITY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axes scored, maturity one level below target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828800"/>
          <a:ext cx="58521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score by axis (TER 1.9).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28800"/>
          <a:ext cx="49651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24963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to build 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 in place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 in place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and skills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 in place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for development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3840480"/>
          <a:ext cx="49651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"/>
                <a:gridCol w="868680"/>
                <a:gridCol w="8503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CMM maturity (CMM)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 maturity (Leadership)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667512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models (TER 1.10).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GAPS AND TRAINING NEEDS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measured gaps to a validated needs register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868680"/>
                <a:gridCol w="777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medical imaging assistance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bed and staff capacity 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triage and clinical decision 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gaps by competency (TER 3.40).</a:t>
            </a:r>
            <a:endParaRPr lang="en-US" sz="1000" dirty="0"/>
          </a:p>
        </p:txBody>
      </p:sp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828800"/>
          <a:ext cx="5742432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743200"/>
                <a:gridCol w="1051560"/>
                <a:gridCol w="685800"/>
                <a:gridCol w="9418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bed and staff capacity 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Responsible AI and data protection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bed and staff capacity 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medical imaging assistance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 and generative AI at 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medical imaging assistance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triage and clinical decision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literacy for all staff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triage and clinical decision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literacy for all staff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89788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needs register (TER 3.41): every need traced to its source.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93776" y="3419856"/>
            <a:ext cx="3913632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3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74720"/>
            <a:ext cx="3803904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Engineering Report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sections, 198 pages, generated from the run data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THE REPORT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Engineering Report and Training Plan — Regional Hospital Centre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· author Leila Chraibi · approved by Soukaina Ouazzani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Engineering Report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Description of the company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The previous training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Competence needs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Perspectives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The prioritized training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Risks, controls and indicators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Annexes — interview forms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897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identification, data sources and approval.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888736" y="1773936"/>
            <a:ext cx="5779008" cy="3653028"/>
          </a:xfrm>
          <a:prstGeom prst="roundRect">
            <a:avLst>
              <a:gd name="adj" fmla="val 200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2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828800"/>
            <a:ext cx="5669280" cy="35433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94360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in the document editor.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AND ROADMAP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initiatives deployed in three waves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perspectives take into account the strategic orientations, the SWOT and improvement axes, the HR orientations and the recommendations made in the face-to-face meetin…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Engineering Report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514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triage and clinical decision support — impact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literacy for all staff — impact 5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18745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57200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514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medical imaging assistance — impact 4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46720" y="18745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32104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514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bed and staff capacity planning — impact 3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680960"/>
                <a:gridCol w="1463040"/>
                <a:gridCol w="149047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 axis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triage and clinical decision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medical imaging assistance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bed and staff capacity planning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literacy for all staff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TER chapter 4 and section 4.1.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CONTROLS AND INDICATORS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risk reduced by named controls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Engineering Report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206240"/>
                <a:gridCol w="1463040"/>
                <a:gridCol w="868680"/>
                <a:gridCol w="868680"/>
                <a:gridCol w="27706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or opportunity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learner and user adoption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CTRL-081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knowledge lost with expert departure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CTRL-070; CTRL-082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Unauthorized access to tenant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CTRL-001; CTRL-002; CTRL-048; CTRL-011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plan misaligned with strategy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CTRL-049; CTRL-057; CTRL-076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Inaccurate skills data leading to wrong needs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CTRL-064; CTRL-045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descriptions diverge from reality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CTRL-066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Unverified AI content in the Training Engineering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CTRL-041; CTRL-056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Expired mandatory certification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CTRL-053; CTRL-054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deployment deviates from group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CTRL-071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4892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9 of 35 risks by residual score (TER chapter 6); 61 project indicators follow in section 6.1.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Plan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2026 holds 2 programs and 6 trainings, 12 days per group in total and 44 group-days to deliver, for a budget of 1,260,000.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PLAN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themes ranked by impact and urgency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2026 — status Locked — budget 1,260,000.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0350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291840"/>
                <a:gridCol w="731520"/>
                <a:gridCol w="73152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triage and clinical decision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medical imaging assistance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bed and staff capacity planning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literacy for all staff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 and generative AI at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Responsible AI and data 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6766560" y="1783080"/>
          <a:ext cx="4846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676656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by theme.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AND TRAININGS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programs, six trainings, clear prerequisites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3383280"/>
                <a:gridCol w="31363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axis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skills for Clinical Care &amp; Nursing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of the core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TR-AI-01, TR-AI-02, TR-AI-03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foundations for all staff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Leadership, performance and responsible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TR-AI-04, TR-AI-05, TR-AI-06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9441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657600"/>
                <a:gridCol w="1188720"/>
                <a:gridCol w="1005840"/>
                <a:gridCol w="42336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Prerequisites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TR-AI-01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triage and clinical decision 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day(s)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digital literacy; the Foundation training is recommended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TR-AI-02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medical imaging assistance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day(s)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digital literacy; the Foundation training is recommended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TR-AI-03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bed and staff capacity 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day(s)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TR-AI-01 or equivalent experience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TR-AI-04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literacy for all staff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day(s)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open to all staff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TR-AI-05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 and generative AI at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open to all staff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TR-AI-06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Responsible AI and data protection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day(s)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digital literacy; the Foundation training is recommended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Training Plan “Programs” and TER section 5.1.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AGENDA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triage and clinical decision support — half-day by half-day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activities over 3 day(s): lectures, quizzes and workshops on the hospital’s own cases.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— morning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331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Foundations of AI triage and clinical decision support: key c… (75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Why AI triage and clinical decision support matters for Clini… (45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key concepts of AI triage and clinical decision support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map today’s practices in Clinical Care &amp; Nursing a… (75 min)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52628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— afternoon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331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Methods and tools of AI triage and clinical decision support (75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Worked example from the Healthcare Providers sector (40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choosing the right method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apply the method to a real case from Regional Hosp… (80 min)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27532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— morning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331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Governance, risks and ISO 7101 requirements (60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Data, quality and evidence to keep (45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compliance and risk scenarios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build the control checklist of your process (80 min)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7724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— afternoon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Deploying AI triage and clinical decision support: roles, cha… (60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Indicators that measure the results (45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adoption and indicator cases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design the indicator dashboard of your team (80 min)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52628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— morning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52628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Advanced practices and lessons learned in Clinical Care &amp; Nur… (75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advanced cases (25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solve a critical incident scenario (100 min)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0" y="39319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827532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— afternoon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27532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Transfer to the workplace: the 30-60-90-day plan (60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Final assessment (Kirkpatrick level 2) (30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individual action plan and peer review (90 min)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EACH PERSONA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each audience should take the training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TR-AI-01 — behaviour, pain points and hopes of each persona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6304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sponsor — General Manager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on facts presented in short steering meetings; delegates execution to the management team; follows a few indicators.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 with no visible link to the strategic objectives; results of the previous plan hard to prove; ISO 7101 audits that expose competence gaps.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prioritized plan that serves the strategy, a measurable return, and a management team able to lead the change.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97680" y="18288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26280" y="2011680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1208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— director, head of department, process owner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daily operations and improvement projects; prefers practical, short formats; relies on key people in the team.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absent from the job during long trainings; skills gaps on critical activities of Clinical Care &amp; Nursing; processes not documented or without an owner.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 that solve the function’s real problems, applied on the job the following week, with indicators the manager can follow.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18288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5320" y="2011680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96112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 — Clinical Care &amp; Nursing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by doing and from peers; uses a phone more than a computer; wants to know what changes in daily work.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tools introduced without explanation; theoretical trainings far from the tasks; fear of making mistakes with AI triage and clinical decision support.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skills recognized by a certificate, less rework, and a clear path to the next position.</a:t>
            </a:r>
            <a:endParaRPr lang="en-US" sz="1050" dirty="0"/>
          </a:p>
        </p:txBody>
      </p:sp>
      <p:pic>
        <p:nvPicPr>
          <p:cNvPr id="21" name="Image 0" descr="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7954" y="2143354"/>
            <a:ext cx="285293" cy="285293"/>
          </a:xfrm>
          <a:prstGeom prst="rect">
            <a:avLst/>
          </a:prstGeom>
        </p:spPr>
      </p:pic>
      <p:pic>
        <p:nvPicPr>
          <p:cNvPr id="22" name="Image 1" descr="Stethosco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994" y="2143354"/>
            <a:ext cx="285293" cy="285293"/>
          </a:xfrm>
          <a:prstGeom prst="rect">
            <a:avLst/>
          </a:prstGeom>
        </p:spPr>
      </p:pic>
      <p:pic>
        <p:nvPicPr>
          <p:cNvPr id="23" name="Image 2" descr="Briefc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2143354"/>
            <a:ext cx="285293" cy="28529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Allocated, committed, spent and refunds expected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1,260,000, committed 1,260,000 (100 %), spent 1,192,662 (95 % of planned); expected refunds 352,800.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82880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715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versus actual by training (TER 5.7).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828800"/>
          <a:ext cx="44622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9875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triage and clinical decisi…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347,127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medical imaging assistance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266,091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bed and staff capacity pla…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literacy for all staff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156,192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 and generative AI a…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118,913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Responsible AI and data prote…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1,192,662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4343400"/>
          <a:ext cx="44622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713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Accredited until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 Formation Conseil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2027-04-25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Maghreb Learning Partners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2027-08-03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and evaluation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Kirkpatrick levels, certifications and lessons learned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measured at three Kirkpatrick levels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and evaluation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02996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0" name="Image 0" descr="Sm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3969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568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86 %</a:t>
            </a:r>
            <a:endParaRPr lang="en-US" sz="250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257860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Reaction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297680" y="182880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98848" y="202996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5" name="Image 1" descr="BookOpen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213969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74920" y="19568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93 %</a:t>
            </a:r>
            <a:endParaRPr lang="en-US" sz="2500" dirty="0"/>
          </a:p>
        </p:txBody>
      </p:sp>
      <p:sp>
        <p:nvSpPr>
          <p:cNvPr id="17" name="Text 12"/>
          <p:cNvSpPr txBox="1"/>
          <p:nvPr/>
        </p:nvSpPr>
        <p:spPr>
          <a:xfrm>
            <a:off x="4498848" y="257860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Learning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046720" y="182880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47888" y="202996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Footpri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213969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23960" y="19568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84 %</a:t>
            </a:r>
            <a:endParaRPr lang="en-US" sz="2500" dirty="0"/>
          </a:p>
        </p:txBody>
      </p:sp>
      <p:sp>
        <p:nvSpPr>
          <p:cNvPr id="22" name="Text 16"/>
          <p:cNvSpPr txBox="1"/>
          <p:nvPr/>
        </p:nvSpPr>
        <p:spPr>
          <a:xfrm>
            <a:off x="8247888" y="257860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Behaviour</a:t>
            </a:r>
            <a:endParaRPr lang="en-US" sz="11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2103120"/>
                <a:gridCol w="2743200"/>
                <a:gridCol w="16733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measured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Reaction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 and perceived usefulness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each 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 questionnaire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86 %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and skills acquired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the training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 and post-test, case study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93 %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Behaviour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of the skills at the workstation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months after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observation grid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84 %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Results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the indicators of the function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to twelve months after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Indicators of the function (KPI)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24" name="Text 17"/>
          <p:cNvSpPr txBox="1"/>
          <p:nvPr/>
        </p:nvSpPr>
        <p:spPr>
          <a:xfrm>
            <a:off x="548640" y="5212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(TER 5.10): 4 valid, 1 expiring, 1 expired — the expired one triggers an alert and a renewal session.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REX — AI triage and clinical decision support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and evaluation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D9EAD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0" name="Image 0" descr="Thumbs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1890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well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8346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stakeholder register and multi-channel distribution lifted the response rate.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297680" y="18288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4C7C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0" y="2057400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5" name="Image 1" descr="Triangle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218907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5780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not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0" y="28346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inputs arrived late from one function.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046720" y="18288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BE0B5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21040" y="2057400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Light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218907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0684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do next time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321040" y="28346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backup for every function head at kickoff.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produced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documents published in English, each traced to its data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PRODUCED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end-to-end process leaves its document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published, versioned and approved by a second person — 1,060 pages.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produced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L&amp;D plan and budget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gap diagnosis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needs report and roadmap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design document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delivery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engagement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evaluation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and business impact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and certification register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mobility and career paths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programme record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capture and transfer record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catalogue and lifecycle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enterprise training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Data, AI and integration governance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management 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and adoption 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Quality, risk and improvement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Consulting engagement closure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PRODUCED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produced (continued)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produced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Multi-axis diagnostic and maturity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plan impact evaluation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Multi-site deployment 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submission 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 intelligence note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architecture and competency map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planning of jobs and skills (GPEC)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demand consolidation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assessment and RAG dashboard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SWOT and improvement axes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Prioritized resource 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Post-engagement roadmap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of work and stakeholder register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Questionnaire campaign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Engineering Report and Training 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plan with detailed agendas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DT-AUDIT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DT-MASTER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list of documented information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APPLICATION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Training Plan as the users see it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produced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773936"/>
            <a:ext cx="5596128" cy="3538728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486400" cy="3429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plan with detailed agendas — Regional Hospital Centre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117336" y="1773936"/>
            <a:ext cx="5596128" cy="3538728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2" name="Image 1" descr="Screenshot of the 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8800"/>
            <a:ext cx="5486400" cy="34290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plan screen: programs, trainings and sessions.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hospital has at the end of the cycle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9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2012412"/>
            <a:ext cx="199705" cy="199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189280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 Engineering Report of 198 pages, built from 37 answers, 40 stakeholders and the diagnosis of every function.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2697480"/>
            <a:ext cx="384048" cy="384048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2" name="Image 1" descr="ArrowR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12" y="2789652"/>
            <a:ext cx="199705" cy="199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67004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locked Training Plan: 6 trainings, half-day agendas, a value proposition per persona and a budget of 1,260,000.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5" name="Image 2" descr="Shiel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3566892"/>
            <a:ext cx="199705" cy="199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344728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at three Kirkpatrick levels, with certifications followed and alerts on expiry.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8" name="Image 3" descr="CircleD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4344132"/>
            <a:ext cx="199705" cy="199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97280" y="422452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published documents ready for an accreditation audit (ISO 7101, JCI), each traced to the data and the step that produced it.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1" name="Image 4" descr="Targ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5121372"/>
            <a:ext cx="199705" cy="19970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97280" y="500176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waves 2 and 3 of the roadmap and the level-4 (results) evaluation six to twelve months after the trainings.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full case — Training engineering project</dc:title>
  <dc:subject>PptxGenJS Presentation</dc:subject>
  <dc:creator>POWERACT Consulting</dc:creator>
  <cp:lastModifiedBy>POWERACT Consulting</cp:lastModifiedBy>
  <cp:revision>1</cp:revision>
  <dcterms:created xsi:type="dcterms:W3CDTF">2026-10-08T06:40:49Z</dcterms:created>
  <dcterms:modified xsi:type="dcterms:W3CDTF">2026-10-08T06:40:49Z</dcterms:modified>
</cp:coreProperties>
</file>
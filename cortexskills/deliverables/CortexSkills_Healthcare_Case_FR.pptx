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réponse (%)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Ressources humaines</c:v>
                  </c:pt>
                  <c:pt idx="3">
                    <c:v>Ventes et marketing</c:v>
                  </c:pt>
                  <c:pt idx="4">
                    <c:v>Systèmes d'information</c:v>
                  </c:pt>
                  <c:pt idx="5">
                    <c:v>Soins cliniques et infirmiers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83</c:v>
                </c:pt>
                <c:pt idx="2">
                  <c:v>83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(sur 5)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 et compétences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déci…</c:v>
                  </c:pt>
                  <c:pt idx="1">
                    <c:v>Assistance IA en imagerie m…</c:v>
                  </c:pt>
                  <c:pt idx="2">
                    <c:v>Planification IA des lits e…</c:v>
                  </c:pt>
                  <c:pt idx="3">
                    <c:v>Littératie en IA pour tous</c:v>
                  </c:pt>
                  <c:pt idx="4">
                    <c:v>Prompting et IA générative …</c:v>
                  </c:pt>
                  <c:pt idx="5">
                    <c:v>IA responsable et protectio…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Alloué</c:v>
                </c:pt>
              </c:strCache>
            </c:strRef>
          </c:tx>
          <c:spPr>
            <a:solidFill>
              <a:srgbClr val="5859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Réel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347127</c:v>
                </c:pt>
                <c:pt idx="1">
                  <c:v>266091</c:v>
                </c:pt>
                <c:pt idx="2">
                  <c:v>243800</c:v>
                </c:pt>
                <c:pt idx="3">
                  <c:v>156192</c:v>
                </c:pt>
                <c:pt idx="4">
                  <c:v>118913</c:v>
                </c:pt>
                <c:pt idx="5">
                  <c:v>60539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COMPLET · SANTÉ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 de formation aux compétences IA dans un centre hospitalier régional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Hospitalier Régional : du périmètre à l’évaluation — le projet, le Rapport d’ingénierie de formation, le Plan de formation et chaque document produit avec CortexSkills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80176" y="1179576"/>
            <a:ext cx="5779008" cy="3653028"/>
          </a:xfrm>
          <a:prstGeom prst="roundRect">
            <a:avLst>
              <a:gd name="adj" fmla="val 20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de la présentation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osp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L’hôpital et le projet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charte, périmètre, méthode, calendrier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tetho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Questionnaires, maturité, écarts, besoins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File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 d’ingénierie de formation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feuille de route, risques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formation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Programmes, formations, déroulés, budget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Déploiement et évaluation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Kirkpatrick, certifications, retours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FileSta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produits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publiés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cycle complet de compétences IA, documenté de bout en bout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Hospitalier Régional · 3 400 collaborateurs · Déroulé complet compétences IA 2026 — Centre Hospitalier Régional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déroulé réalisé — 35 processus de bout en bout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396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40</a:t>
            </a:r>
            <a:endParaRPr lang="en-US" sz="25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personnes ont répondu aux questionnaires (93 %)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3969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formations dans 2 programmes, priorisées par impact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3969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19568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1 260 000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57860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 formation ; 1 192 662 consommés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29184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474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montre le cas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397764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52" y="4069812"/>
            <a:ext cx="199705" cy="19970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17320" y="395020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: « Systèmes d’information » est l’axe le plus faible (2 / 5) ; le plus grand écart est « Planification IA des lits et des effectifs » (écart moyen 3.0).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07992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600164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17320" y="448056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besoins de formation ont été validés et regroupés en 6 thèmes, déployés en 4 initiatives sur trois vagues.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38344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5130516"/>
            <a:ext cx="199705" cy="199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17320" y="501091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Kirkpatrick : 86 % · 93 % · 84 % pour la réaction, l’apprentissage et le comportement.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68696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660868"/>
            <a:ext cx="199705" cy="199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17320" y="554126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publiés, 1 105 pages au total ; le Rapport d’ingénierie de formation compte à lui seul 210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L’hôpital et le projet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charte, périmètre, méthode et calendrier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Hospitalier Régional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Hospitalier Régional opère dans le secteur Établissements de santé, à Région, avec 3400 salariés.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L’hôpital et le projet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Sujet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Devenir la référence du secteur Établissements de santé dans la région, avec des équipes formées aux meilleurs standards.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Offrir un service sûr et conforme grâce à des équipes compétentes et des processus maîtrisés.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· Excellence · Partage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Concurrence forte, audits ISO 7101 plus stricts et arrivée de Triage IA et aide à la décision clinique.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Produits — existants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de base de Soins cliniques et infirmiers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Produits — nouveaux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numériques appuyés sur Triage IA et aide à la décision clinique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Segments du marché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Grands comptes · Secteur public · Particuliers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70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Organigramme et effectif</a:t>
            </a:r>
            <a:endParaRPr lang="en-US" sz="16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et HSE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Ressources humaines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et marketing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d'information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Soins cliniques et infirmiers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 DU PROJET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complet compétences IA 2026 — Centre Hospitalier Régional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d'ingénierie de formation centré sur les compétences IA pour le secteur Établissements de santé : périmètre, preuves, diagnostic, rapport, déploiement, évaluation et amélioration continue.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L’hôpital et le projet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complexité (sur 100) : déroulé complet avec jalons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5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prenantes enregistrées et consultées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ross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périmètre approuvés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Lay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 de décision couverts (stratégique, intermédiaire, opérationnel)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stratégiques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 — Adopter Triage IA et aide à la décision clinique dans Soins cliniques et infirmiers d'ici fin 2027 (échéance 2027-12-31)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 — Zéro écart majeur aux audits ISO 7101 (échéance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phases, chacune close par un jalon et ses livrables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mission d’ingénierie de formation suit les phases ci-dessous, chacune clôturée par un jalon et ses livrables.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L’hôpital et le projet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Processus de bout en bout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Périmètre et collecte de preuves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Diagnostic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Rapport d'ingénierie de formation et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Conception et déploiement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Évaluation, conformité et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Talents, savoirs et amélioration continue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Rapport d’ingénierie de formation, section 1.5 « La mission en cours ».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Lots de travaux et diagramme de Gantt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L’hôpital et le projet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 et preuves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2026-04-10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et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Triage IA et aide à la décision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Assistance IA en imagerie médica…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Triage IA et aide à la décision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Assistance IA en imagerie médica…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0056" y="1773936"/>
            <a:ext cx="669340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0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6583680" cy="4114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7492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et Gantt du projet dans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répondu, où en est l’hôpital, quelles compétences manquent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DE QUESTIONNAIRES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personnes sur 40 ont répondu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personnes ont été invitées à répondre ; 37 ont répondu.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générale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Équipe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Répondants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et HSE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Ressources humaines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et marketing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d'information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Soins cliniques et infirmiers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réponse par fonction.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Invités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Répondants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Complétude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Présentiel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RIF sections 1.6, 1.12 et 1.13.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ET MATURITÉ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axes évalués, maturité un niveau sous la cible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82880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diagnostic par axe (RIF 1.9).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fort à consolider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Partiellement en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Partiellement en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Personnes et compétences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Partiellement en place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Systèmes d’information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 de développement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Maturité CMM (CMM)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Maturité du leadership (Leadership)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de maturité (RIF 1.10).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DE COMPÉTENCES ET BESOINS DE FORMATION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écarts mesurés à un registre de besoins validé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Compétence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 moyen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 par compétence (RIF 3.40).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 de compétences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 de compétences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des besoins (RIF 3.41) : chaque besoin tracé jusqu’à sa source.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" y="3419856"/>
            <a:ext cx="3913632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2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 d’ingénierie de formation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sections, 210 pages, générées à partir des données du déroulé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DU RAPPORT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Rapport d’ingénierie de formation et plan de formation — Centre Hospitalier Régional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auteur Leila Chraibi · approuvé par Soukaina Ouazzani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Chapitre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Description de l’entreprise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Le plan de formation précédent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Les besoins en compétences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Perspectives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Le plan de formation priorisé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Risques, contrôles et indicateurs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Annexes — formulaires d’entretien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l’identification, les sources de données et l’approbation.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888736" y="1773936"/>
            <a:ext cx="5779008" cy="3653028"/>
          </a:xfrm>
          <a:prstGeom prst="roundRect">
            <a:avLst>
              <a:gd name="adj" fmla="val 200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rapport dans l’éditeur de documents.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ET FEUILLE DE ROUTE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initiatives déployées en trois vagues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perspectives tiennent compte des orientations stratégiques, du SWOT et des axes d’amélioration, des orientations GRH et des recommandations exprimées lors des rencon…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Vague 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Triage IA et aide à la décision clinique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Littératie en IA pour tous — impact 5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Vague 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Assistance IA en imagerie médicale — impact 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Vague 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Planification IA des lits et des effectifs — impact 3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 d’amélioration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RIF chapitre 4 et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RISQUES, CONTRÔLES ET INDICATEURS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risque réduit par des contrôles nommés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 ou opportunité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Inhérent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Résiduel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apprenants et utilisateurs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Savoirs critiques perdus au départ d'un expert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CTRL-070; CTRL-082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non autorisé aux données du locataire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formation non aligné sur la stratégie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CTRL-049; CTRL-057; CTRL-076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 de compétences inexactes conduisant à de mauvais besoins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des données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CTRL-064; CTRL-045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fiches de poste s'écartent de la réalité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IA non vérifié dans le rapport d'ingénierie de 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CTRL-041; CTRL-056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Certification obligatoire expirée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CTRL-053; CTRL-054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déploiement d'un site s'écarte du plan groupe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Opérationnel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CTRL-071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premiers risques sur 35 par score résiduel (RIF chapitre 6) ; 61 indicateurs du projet suivent en section 6.1.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formation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plan 2026 comprend 2 programmes et 6 formations, soit 12 jours par groupe au total et 44 journées-groupes à réaliser, pour un budget de 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PRIORISÉ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thèmes classés par impact et urgence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2026 — statut Verrouillé — budget 1 260 000.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Thème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60 000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par thème.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ET FORMATIONS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programmes, six formations, des prérequis clairs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 stratégique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PRG-1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Compétences IA pour Soins cliniques et infirmiers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Exécution de la fonction cœur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TR-AI-01, TR-AI-02, TR-AI-03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Fondamentaux IA pour tous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Leadership, performance et usage responsable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TR-AI-04, TR-AI-05, TR-AI-06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Prérequis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Intermédiaire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Intermédiaire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TR-AI-01 ou expérience équivalente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Fondamentaux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— ouvert à tous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 travail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Fondamentaux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— ouvert à tous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TR-AI-06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des données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Intermédiaire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jour(s)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Plan de formation « Programmes » et RIF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DÉTAILLÉ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IA et aide à la décision clinique — demi-journée par demi-journée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activités sur 3 jour(s) : exposés, quiz et ateliers sur les cas propres à l’hôpital.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1 — matin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Fondamentaux de Triage IA et aide à la décision clinique : co…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Pourquoi Triage IA et aide à la décision clinique compte pour…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concepts clés de Triage IA et aide à la décision clini…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cartographier les pratiques actuelles de Soins clin… (75 min)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1 — après-midi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Méthodes et outils de Triage IA et aide à la décision clinique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Exemple commenté du secteur Établissements de santé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choisir la bonne méthode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appliquer la méthode à un cas réel de Centre Hospit… (80 min)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2 — matin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Gouvernance, risques et exigences ISO 7101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Données, qualité et preuves à conserver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scénarios de conformité et de risque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construire la check-list de contrôle de votre proce… (80 min)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2 — après-midi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Déployer Triage IA et aide à la décision clinique : rôles, ch…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Indicateurs pour mesurer les résultats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cas d’adoption et d’indicateurs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concevoir le tableau de bord d’indicateurs de votre… (80 min)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3 — matin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Pratiques avancées et retours d’expérience en Soins cliniques…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cas avancés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résoudre un scénario d’incident critique (100 min)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 3 — après-midi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· Transfert en situation de travail : le plan 30-60-90 jours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· Évaluation finale (niveau 2 de Kirkpatrick)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Atelier — plan d’action individuel et revue entre pairs (90 min)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POUR CHAQUE PERSONA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chaque public doit suivre la formation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TR-AI-01 — comportements, irritants et attentes de chaque persona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exécutif — Directeur général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 sur des faits présentés en comités courts ; délègue l’exécution à l’équipe de management ; suit quelques indicateurs.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Dépenses de formation sans lien visible avec les objectifs stratégiques ; résultats du plan précédent difficiles à prouver ; audits ISO 7101 qui révèlent des écarts de compétences.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plan priorisé au service de la stratégie, un retour mesurable, et une équipe de management capable de conduire le changement.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 — directeur, responsable, pilote de processus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Arbitre entre opérations quotidiennes et projets d’amélioration ; préfère des formats pratiques et courts ; s’appuie sur des personnes clés de l’équipe.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absente du poste pendant des formations longues ; écarts de compétences sur les activités critiques de Soins cliniques et infirmiers ; processus non documentés ou sans pilote.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formations qui règlent les vrais problèmes de la fonction, appliquées dès la semaine suivante, avec des indicateurs que le manager peut suivre.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Membre de l’équipe — Soins cliniques et infirmiers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 en faisant et auprès des pairs ; utilise plus le téléphone que l’ordinateur ; veut savoir ce qui change au quotidien.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Nouveaux outils introduits sans explication ; formations théoriques éloignées des tâches ; peur de se tromper avec Triage IA et aide à la décision clinique.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compétences pratiques reconnues par une attestation, moins de reprises, et un parcours clair vers le poste suivant.</a:t>
            </a:r>
            <a:endParaRPr lang="en-US" sz="1050" dirty="0"/>
          </a:p>
        </p:txBody>
      </p:sp>
      <p:pic>
        <p:nvPicPr>
          <p:cNvPr id="2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pic>
        <p:nvPicPr>
          <p:cNvPr id="21" name="Image 1" descr="Stethosc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pic>
        <p:nvPicPr>
          <p:cNvPr id="2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Alloué, engagé, consommé et remboursements attendus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Alloué 1 260 000, engagé 1 260 000 (100 %), réalisé 1 192 662 (95 % du prévu) ; remboursements attendus 352 800.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Alloué et réel par formation (RIF 5.7).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IA et aide à la décisi…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347 127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100 800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Assistance IA en imagerie méd…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266 091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84 000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Planification IA des lits et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243 800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67 200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Littératie en IA pour tous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156 192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50 400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et IA générative au…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118 913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33 600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responsable et protection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60 539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16 800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1 192 662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352 800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Agrément jusqu’au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 Formation Conseil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2027-04-25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Maghreb Learning Partners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2027-08-03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Déploiement et évaluation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 de Kirkpatrick, certifications et retours d’expérience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mesurés sur trois niveaux de Kirkpatrick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et évaluation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86 %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Réaction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9884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BookOpen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21396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7492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2500" dirty="0"/>
          </a:p>
        </p:txBody>
      </p:sp>
      <p:sp>
        <p:nvSpPr>
          <p:cNvPr id="16" name="Text 12"/>
          <p:cNvSpPr txBox="1"/>
          <p:nvPr/>
        </p:nvSpPr>
        <p:spPr>
          <a:xfrm>
            <a:off x="449884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Apprentissage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Footpri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213969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956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84 %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8247888" y="257860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Comportement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est mesuré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Réaction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 et utilité perçue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chaque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Questionnaire de satisfaction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Apprentissage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Connaissances et compétences acquises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la formation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avant/après, étude de cas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Comportement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Mise en œuvre au poste de travail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Trois mois après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Grille d’observation du 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84 %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Résultats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 sur les indicateurs de la fonction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à douze mois après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Indicateurs de la fonction (KPI)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(RIF 5.10) : 4 valides, 1 à échéance proche, 1 expirée — l’expirée déclenche une alerte et une session de renouvellement.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D’EXPÉRIENCE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REX — Triage IA et aide à la décision clinique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et évaluation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D9EAD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Thumbs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18907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a bien fonctionné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registre des parties prenantes et la diffusion multicanale ont fait progresser le taux de réponse.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4C7C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05740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218907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5780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n’a pas fonctionné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éléments SWOT d'une fonction sont arrivés en retard.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46720" y="18288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BE0B5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205740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21890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0684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ferons la prochaine fois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83464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Désigner un suppléant pour chaque responsable de fonction dès le lancement.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produits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publiés en français, chacun relié à ses données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Chaque processus de bout en bout laisse son document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publiés, versionnés et approuvés par une seconde personne — 1 105 pages.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annuel de formation et budget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des écarts de compétences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des besoins de formation et feuille de route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de conception pédagogique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réalisation des formations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d’engagement des apprenants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d’évaluation des formations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ROI et d’impact métier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Registre de conformité et des certifications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Mobilité interne et parcours de carrière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du programme d’intégration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Capitalisation et transfert des connaissances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et cycle de vie des contenus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formation de l’entreprise étendue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Gouvernance des données, de l’IA et des intégrations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de gestion des prestataires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conduite du changement et d’adoption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qualité, risques et amélioration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clôture de mission de conseil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PRODUITS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produits (suite)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diagnostic multi-axes et de maturité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Évaluation de l’impact du plan précédent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déploiement multi-sites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de soumission réglementaire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de veille concurrentielle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des emplois et cartographie des compétences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prévisionnelle des emplois et compétences (GPEC)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Consolidation des demandes de formation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Évaluation des performances et tableau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SWOT fonctionnel et axes d’amélioration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ressources priorisé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Feuille de route post-mission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Cahier des charges et registre des parties prenantes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DT-E2E-33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de campagne de questionnaires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d’ingénierie de formation et plan de formation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DT-PLAN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formation avec programmes détaillés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 d’audit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DT-MASTER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maîtresse des informations documentées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L’APPLICATION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plan de formation tel que les utilisateurs le voient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77393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Capture d’écran de l’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formation avec programmes détaillés — Centre Hospitalier Régional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17336" y="177393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du plan de formation : programmes, formations et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l’hôpital obtient en fin de cycle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·  Données de démonstration — organisation fictive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8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Rapport d’ingénierie de formation de 210 pages, construit à partir de 37 réponses, 40 parties prenantes et du diagnostic de chaque fonction.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Plan de formation verrouillé : 6 formations, des déroulés par demi-journée, une proposition de valeur par persona et un budget de 1 260 000.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évaluation sur trois niveaux de Kirkpatrick, avec le suivi des certifications et des alertes à échéance.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CircleD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documents publiés, prêts pour un audit d’accréditation (ISO 7101, JCI), chacun relié aux données et à l’étape qui l’a produit.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 : vagues 2 et 3 de la feuille de route et évaluation de niveau 4 (résultats) six à douze mois après les formations.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 complet santé — Projet d’ingénierie de formation</dc:title>
  <dc:subject>PptxGenJS Presentation</dc:subject>
  <dc:creator>POWERACT Consulting</dc:creator>
  <cp:lastModifiedBy>POWERACT Consulting</cp:lastModifiedBy>
  <cp:revision>1</cp:revision>
  <dcterms:created xsi:type="dcterms:W3CDTF">2026-10-08T06:40:49Z</dcterms:created>
  <dcterms:modified xsi:type="dcterms:W3CDTF">2026-10-08T06:40:49Z</dcterms:modified>
</cp:coreProperties>
</file>
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5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6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7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charts/chart8.xml" ContentType="application/vnd.openxmlformats-officedocument.drawingml.chart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General Manager</c:v>
                </c:pt>
              </c:strCache>
            </c:strRef>
          </c:tx>
          <c:spPr>
            <a:solidFill>
              <a:srgbClr val="12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Operations</c:v>
                  </c:pt>
                  <c:pt idx="1">
                    <c:v>Quality &amp; HSE</c:v>
                  </c:pt>
                  <c:pt idx="2">
                    <c:v>Finance</c:v>
                  </c:pt>
                  <c:pt idx="3">
                    <c:v>Human Resources</c:v>
                  </c:pt>
                  <c:pt idx="4">
                    <c:v>Sales &amp; Marketing</c:v>
                  </c:pt>
                  <c:pt idx="5">
                    <c:v>Information Systems</c:v>
                  </c:pt>
                  <c:pt idx="6">
                    <c:v>Clinical Care &amp; Nursing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Management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Operations</c:v>
                  </c:pt>
                  <c:pt idx="1">
                    <c:v>Quality &amp; HSE</c:v>
                  </c:pt>
                  <c:pt idx="2">
                    <c:v>Finance</c:v>
                  </c:pt>
                  <c:pt idx="3">
                    <c:v>Human Resources</c:v>
                  </c:pt>
                  <c:pt idx="4">
                    <c:v>Sales &amp; Marketing</c:v>
                  </c:pt>
                  <c:pt idx="5">
                    <c:v>Information Systems</c:v>
                  </c:pt>
                  <c:pt idx="6">
                    <c:v>Clinical Care &amp; Nursing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3</c:v>
                </c:pt>
                <c:pt idx="6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Team member</c:v>
                </c:pt>
              </c:strCache>
            </c:strRef>
          </c:tx>
          <c:spPr>
            <a:solidFill>
              <a:srgbClr val="17A2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Operations</c:v>
                  </c:pt>
                  <c:pt idx="1">
                    <c:v>Quality &amp; HSE</c:v>
                  </c:pt>
                  <c:pt idx="2">
                    <c:v>Finance</c:v>
                  </c:pt>
                  <c:pt idx="3">
                    <c:v>Human Resources</c:v>
                  </c:pt>
                  <c:pt idx="4">
                    <c:v>Sales &amp; Marketing</c:v>
                  </c:pt>
                  <c:pt idx="5">
                    <c:v>Information Systems</c:v>
                  </c:pt>
                  <c:pt idx="6">
                    <c:v>Clinical Care &amp; Nursing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B7B"/>
              </a:solidFill>
              <a:latin typeface="Open Sans"/>
              <a:cs typeface="Open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rate (%)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Operations</c:v>
                  </c:pt>
                  <c:pt idx="1">
                    <c:v>Quality &amp; HSE</c:v>
                  </c:pt>
                  <c:pt idx="2">
                    <c:v>Human Resources</c:v>
                  </c:pt>
                  <c:pt idx="3">
                    <c:v>Sales &amp; Marketing</c:v>
                  </c:pt>
                  <c:pt idx="4">
                    <c:v>Information Systems</c:v>
                  </c:pt>
                  <c:pt idx="5">
                    <c:v>Clinical Care &amp; Nursing</c:v>
                  </c:pt>
                  <c:pt idx="6">
                    <c:v>Finance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83</c:v>
                </c:pt>
                <c:pt idx="1">
                  <c:v>83</c:v>
                </c:pt>
                <c:pt idx="2">
                  <c:v>83</c:v>
                </c:pt>
                <c:pt idx="3">
                  <c:v>83</c:v>
                </c:pt>
                <c:pt idx="4">
                  <c:v>100</c:v>
                </c:pt>
                <c:pt idx="5">
                  <c:v>100</c:v>
                </c:pt>
                <c:pt idx="6">
                  <c:v>83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(out of 5)</c:v>
                </c:pt>
              </c:strCache>
            </c:strRef>
          </c:tx>
          <c:spPr>
            <a:solidFill>
              <a:srgbClr val="1876C6"/>
            </a:solidFill>
            <a:ln w="25400" cap="flat">
              <a:solidFill>
                <a:srgbClr val="1876C6"/>
              </a:solidFill>
              <a:prstDash val="solid,dash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1876C6"/>
              </a:solidFill>
              <a:ln w="9525" cap="flat">
                <a:solidFill>
                  <a:srgbClr val="1876C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Strategy</c:v>
                  </c:pt>
                  <c:pt idx="1">
                    <c:v>Organization</c:v>
                  </c:pt>
                  <c:pt idx="2">
                    <c:v>Processes</c:v>
                  </c:pt>
                  <c:pt idx="3">
                    <c:v>People and skills</c:v>
                  </c:pt>
                  <c:pt idx="4">
                    <c:v>Information systems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</c:v>
                </c:pt>
                <c:pt idx="1">
                  <c:v>2.8</c:v>
                </c:pt>
                <c:pt idx="2">
                  <c:v>2.6</c:v>
                </c:pt>
                <c:pt idx="3">
                  <c:v>3.1</c:v>
                </c:pt>
                <c:pt idx="4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5A6B7B"/>
            </a:solidFill>
            <a:ln w="25400" cap="flat">
              <a:solidFill>
                <a:srgbClr val="5A6B7B"/>
              </a:solidFill>
              <a:prstDash val="solid,dash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5A6B7B"/>
              </a:solidFill>
              <a:ln w="9525" cap="flat">
                <a:solidFill>
                  <a:srgbClr val="5A6B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Strategy</c:v>
                  </c:pt>
                  <c:pt idx="1">
                    <c:v>Organization</c:v>
                  </c:pt>
                  <c:pt idx="2">
                    <c:v>Processes</c:v>
                  </c:pt>
                  <c:pt idx="3">
                    <c:v>People and skills</c:v>
                  </c:pt>
                  <c:pt idx="4">
                    <c:v>Information systems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B7B"/>
              </a:solidFill>
              <a:latin typeface="Open Sans"/>
              <a:cs typeface="Open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AI triage and clinical decision support</c:v>
                  </c:pt>
                  <c:pt idx="1">
                    <c:v>AI medical imaging assistance</c:v>
                  </c:pt>
                  <c:pt idx="2">
                    <c:v>AI bed and staff capacity planning</c:v>
                  </c:pt>
                  <c:pt idx="3">
                    <c:v>Communication with the team</c:v>
                  </c:pt>
                  <c:pt idx="4">
                    <c:v>Problem solving</c:v>
                  </c:pt>
                  <c:pt idx="5">
                    <c:v>Time management and priorities</c:v>
                  </c:pt>
                  <c:pt idx="6">
                    <c:v>ISO 7101 requirements</c:v>
                  </c:pt>
                  <c:pt idx="7">
                    <c:v>Dashboards</c:v>
                  </c:pt>
                  <c:pt idx="8">
                    <c:v>data quality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94</c:v>
                </c:pt>
                <c:pt idx="1">
                  <c:v>94</c:v>
                </c:pt>
                <c:pt idx="2">
                  <c:v>91</c:v>
                </c:pt>
                <c:pt idx="3">
                  <c:v>89</c:v>
                </c:pt>
                <c:pt idx="4">
                  <c:v>89</c:v>
                </c:pt>
                <c:pt idx="5">
                  <c:v>70</c:v>
                </c:pt>
                <c:pt idx="6">
                  <c:v>52</c:v>
                </c:pt>
                <c:pt idx="7">
                  <c:v>52</c:v>
                </c:pt>
                <c:pt idx="8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respondents</c:v>
                </c:pt>
              </c:strCache>
            </c:strRef>
          </c:tx>
          <c:spPr>
            <a:solidFill>
              <a:srgbClr val="17A2B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Personal productivity</c:v>
                  </c:pt>
                  <c:pt idx="1">
                    <c:v>Personal leadership</c:v>
                  </c:pt>
                  <c:pt idx="2">
                    <c:v>Leadership applied to teams</c:v>
                  </c:pt>
                  <c:pt idx="3">
                    <c:v>Leadership of a sub-function of t…</c:v>
                  </c:pt>
                  <c:pt idx="4">
                    <c:v>Leadership of a function or of th…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28.4</c:v>
                </c:pt>
                <c:pt idx="1">
                  <c:v>18.3</c:v>
                </c:pt>
                <c:pt idx="2">
                  <c:v>12.4</c:v>
                </c:pt>
                <c:pt idx="3">
                  <c:v>7.8</c:v>
                </c:pt>
                <c:pt idx="4">
                  <c:v>3.6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AI triage and clinical deci…</c:v>
                  </c:pt>
                  <c:pt idx="1">
                    <c:v>AI medical imaging assistan…</c:v>
                  </c:pt>
                  <c:pt idx="2">
                    <c:v>AI bed and staff capacity p…</c:v>
                  </c:pt>
                  <c:pt idx="3">
                    <c:v>AI literacy for all staff</c:v>
                  </c:pt>
                  <c:pt idx="4">
                    <c:v>Prompting and generative AI…</c:v>
                  </c:pt>
                  <c:pt idx="5">
                    <c:v>Responsible AI and data pro…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360000</c:v>
                </c:pt>
                <c:pt idx="1">
                  <c:v>300000</c:v>
                </c:pt>
                <c:pt idx="2">
                  <c:v>240000</c:v>
                </c:pt>
                <c:pt idx="3">
                  <c:v>180000</c:v>
                </c:pt>
                <c:pt idx="4">
                  <c:v>120000</c:v>
                </c:pt>
                <c:pt idx="5">
                  <c:v>60000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Allocated</c:v>
                </c:pt>
              </c:strCache>
            </c:strRef>
          </c:tx>
          <c:spPr>
            <a:solidFill>
              <a:srgbClr val="5A6B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AI triage and clinical de…</c:v>
                  </c:pt>
                  <c:pt idx="1">
                    <c:v>AI medical imaging assist…</c:v>
                  </c:pt>
                  <c:pt idx="2">
                    <c:v>AI bed and staff capacity…</c:v>
                  </c:pt>
                  <c:pt idx="3">
                    <c:v>AI literacy for all staff</c:v>
                  </c:pt>
                  <c:pt idx="4">
                    <c:v>Prompting and generative …</c:v>
                  </c:pt>
                  <c:pt idx="5">
                    <c:v>Responsible AI and data p…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360000</c:v>
                </c:pt>
                <c:pt idx="1">
                  <c:v>300000</c:v>
                </c:pt>
                <c:pt idx="2">
                  <c:v>240000</c:v>
                </c:pt>
                <c:pt idx="3">
                  <c:v>180000</c:v>
                </c:pt>
                <c:pt idx="4">
                  <c:v>120000</c:v>
                </c:pt>
                <c:pt idx="5">
                  <c:v>60000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AI triage and clinical de…</c:v>
                  </c:pt>
                  <c:pt idx="1">
                    <c:v>AI medical imaging assist…</c:v>
                  </c:pt>
                  <c:pt idx="2">
                    <c:v>AI bed and staff capacity…</c:v>
                  </c:pt>
                  <c:pt idx="3">
                    <c:v>AI literacy for all staff</c:v>
                  </c:pt>
                  <c:pt idx="4">
                    <c:v>Prompting and generative …</c:v>
                  </c:pt>
                  <c:pt idx="5">
                    <c:v>Responsible AI and data p…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354598</c:v>
                </c:pt>
                <c:pt idx="1">
                  <c:v>295234</c:v>
                </c:pt>
                <c:pt idx="2">
                  <c:v>244886</c:v>
                </c:pt>
                <c:pt idx="3">
                  <c:v>159533</c:v>
                </c:pt>
                <c:pt idx="4">
                  <c:v>123413</c:v>
                </c:pt>
                <c:pt idx="5">
                  <c:v>60833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B7B"/>
              </a:solidFill>
              <a:latin typeface="Open Sans"/>
              <a:cs typeface="Open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Findings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Major nonconformity</c:v>
                  </c:pt>
                  <c:pt idx="1">
                    <c:v>Minor nonconformity</c:v>
                  </c:pt>
                  <c:pt idx="2">
                    <c:v>Observation</c:v>
                  </c:pt>
                  <c:pt idx="3">
                    <c:v>Opportunity for improvement</c:v>
                  </c:pt>
                  <c:pt idx="4">
                    <c:v>Strength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image" Target="../media/image-49-5.png"/><Relationship Id="rId6" Type="http://schemas.openxmlformats.org/officeDocument/2006/relationships/image" Target="../media/image-4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2011680"/>
            <a:ext cx="6858000" cy="6858000"/>
          </a:xfrm>
          <a:prstGeom prst="ellipse">
            <a:avLst/>
          </a:prstGeom>
          <a:solidFill>
            <a:srgbClr val="1876C6">
              <a:alpha val="18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pic>
        <p:nvPicPr>
          <p:cNvPr id="3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743200" cy="50673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28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8C8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CASE · HEALTHCARE · 2026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skills training engineering at a private clinic group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0690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Santéora Private Clinics Group: the project, the Training Engineering Report, the Training Plan and every document produced with CortexSkills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80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8C8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MEASURABLE · GOVERNED · SUSTAINABLE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537960" y="1691640"/>
            <a:ext cx="521208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CortexSkil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37360"/>
            <a:ext cx="51206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 case is presented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Agenda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0" name="Image 1" descr="Hospit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79" y="225673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0040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clinic group and the project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Context, charter, scope, method, schedule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29768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0" y="2103120"/>
            <a:ext cx="640080" cy="64008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6" name="Image 2" descr="Stethoscop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619" y="22567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4944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Diagnosis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0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Questionnaires, maturity, gaps, needs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04672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2" name="Image 3" descr="FileTex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4659" y="2256739"/>
            <a:ext cx="332842" cy="33284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69848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832104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Engineering Report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321040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Structure, findings, roadmap, risks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48640" y="3977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8" name="Image 4" descr="GraduationCa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" y="4405579"/>
            <a:ext cx="332842" cy="33284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320040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3"/>
          <p:cNvSpPr txBox="1"/>
          <p:nvPr/>
        </p:nvSpPr>
        <p:spPr>
          <a:xfrm>
            <a:off x="82296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Plan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822960" y="5367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Programs, agendas, design, budget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4297680" y="3977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72000" y="4251960"/>
            <a:ext cx="640080" cy="64008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34" name="Image 5" descr="ChartColum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5619" y="4405579"/>
            <a:ext cx="332842" cy="33284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694944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200" dirty="0"/>
          </a:p>
        </p:txBody>
      </p:sp>
      <p:sp>
        <p:nvSpPr>
          <p:cNvPr id="36" name="Text 28"/>
          <p:cNvSpPr txBox="1"/>
          <p:nvPr/>
        </p:nvSpPr>
        <p:spPr>
          <a:xfrm>
            <a:off x="457200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Delivery, evaluation and audit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4572000" y="5367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Sessions, Kirkpatrick, ROI, audit</a:t>
            </a:r>
            <a:endParaRPr lang="en-US" sz="1250" dirty="0"/>
          </a:p>
        </p:txBody>
      </p:sp>
      <p:sp>
        <p:nvSpPr>
          <p:cNvPr id="38" name="Shape 30"/>
          <p:cNvSpPr/>
          <p:nvPr/>
        </p:nvSpPr>
        <p:spPr>
          <a:xfrm>
            <a:off x="8046720" y="3977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8321040" y="4251960"/>
            <a:ext cx="640080" cy="64008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40" name="Image 6" descr="FileSta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4659" y="4405579"/>
            <a:ext cx="332842" cy="332842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069848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200" dirty="0"/>
          </a:p>
        </p:txBody>
      </p:sp>
      <p:sp>
        <p:nvSpPr>
          <p:cNvPr id="42" name="Text 33"/>
          <p:cNvSpPr txBox="1"/>
          <p:nvPr/>
        </p:nvSpPr>
        <p:spPr>
          <a:xfrm>
            <a:off x="832104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Documents produced</a:t>
            </a:r>
            <a:endParaRPr lang="en-US" sz="1600" dirty="0"/>
          </a:p>
        </p:txBody>
      </p:sp>
      <p:sp>
        <p:nvSpPr>
          <p:cNvPr id="43" name="Text 34"/>
          <p:cNvSpPr txBox="1"/>
          <p:nvPr/>
        </p:nvSpPr>
        <p:spPr>
          <a:xfrm>
            <a:off x="8321040" y="5367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published documents, traced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complete AI skills cycle, documented end to end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Santéora Private Clinics Group · 2,600 employees · AI Skills Full Run 2026 — Santéora Private Clinics Group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Executive summary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2048256"/>
            <a:ext cx="457200" cy="457200"/>
          </a:xfrm>
          <a:prstGeom prst="ellipse">
            <a:avLst/>
          </a:prstGeom>
          <a:solidFill>
            <a:srgbClr val="28C87C"/>
          </a:solidFill>
          <a:ln w="12700">
            <a:solidFill>
              <a:srgbClr val="28C87C"/>
            </a:solidFill>
            <a:prstDash val="solid"/>
          </a:ln>
        </p:spPr>
      </p:sp>
      <p:pic>
        <p:nvPicPr>
          <p:cNvPr id="11" name="Image 1" descr="Circle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5798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100 %</a:t>
            </a:r>
            <a:endParaRPr lang="en-US" sz="25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 the run completed — 35 end-to-end processes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355848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557016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6" name="Image 2" descr="ClipboardLi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215798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133088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 / 40</a:t>
            </a:r>
            <a:endParaRPr lang="en-US" sz="2500" dirty="0"/>
          </a:p>
        </p:txBody>
      </p:sp>
      <p:sp>
        <p:nvSpPr>
          <p:cNvPr id="18" name="Text 13"/>
          <p:cNvSpPr txBox="1"/>
          <p:nvPr/>
        </p:nvSpPr>
        <p:spPr>
          <a:xfrm>
            <a:off x="3557016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people answered the questionnaires (88 %)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63056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64224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1" name="Image 3" descr="GraduationCa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157984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40296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500" dirty="0"/>
          </a:p>
        </p:txBody>
      </p:sp>
      <p:sp>
        <p:nvSpPr>
          <p:cNvPr id="23" name="Text 17"/>
          <p:cNvSpPr txBox="1"/>
          <p:nvPr/>
        </p:nvSpPr>
        <p:spPr>
          <a:xfrm>
            <a:off x="6364224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trainings in 2 programs, prioritized by impact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970264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171432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6" name="Image 4" descr="Wall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2157984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47504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1,260,000</a:t>
            </a:r>
            <a:endParaRPr lang="en-US" sz="2500" dirty="0"/>
          </a:p>
        </p:txBody>
      </p:sp>
      <p:sp>
        <p:nvSpPr>
          <p:cNvPr id="28" name="Text 21"/>
          <p:cNvSpPr txBox="1"/>
          <p:nvPr/>
        </p:nvSpPr>
        <p:spPr>
          <a:xfrm>
            <a:off x="9171432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budget; 1,238,497 spent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48640" y="3291840"/>
            <a:ext cx="11094415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68680" y="34564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case shows</a:t>
            </a:r>
            <a:endParaRPr lang="en-US" sz="1700" dirty="0"/>
          </a:p>
        </p:txBody>
      </p:sp>
      <p:sp>
        <p:nvSpPr>
          <p:cNvPr id="31" name="Shape 24"/>
          <p:cNvSpPr/>
          <p:nvPr/>
        </p:nvSpPr>
        <p:spPr>
          <a:xfrm>
            <a:off x="868680" y="3931920"/>
            <a:ext cx="384048" cy="384048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32" name="Image 5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852" y="4024092"/>
            <a:ext cx="199705" cy="19970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417320" y="3904488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Diagnosis: “Information systems” is the weakest axis (2 / 5); the largest skill gap is “AI bed and staff capacity planning” (average gap 3.0).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868680" y="4462272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35" name="Image 6" descr="ArrowRigh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52" y="4554444"/>
            <a:ext cx="199705" cy="19970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417320" y="4434840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training needs were validated and grouped into 6 themes, deployed in 4 roadmap initiatives over three waves.</a:t>
            </a:r>
            <a:endParaRPr lang="en-US" sz="1350" dirty="0"/>
          </a:p>
        </p:txBody>
      </p:sp>
      <p:sp>
        <p:nvSpPr>
          <p:cNvPr id="37" name="Shape 28"/>
          <p:cNvSpPr/>
          <p:nvPr/>
        </p:nvSpPr>
        <p:spPr>
          <a:xfrm>
            <a:off x="868680" y="4992624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38" name="Image 7" descr="Shield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852" y="5084796"/>
            <a:ext cx="199705" cy="199705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417320" y="4965192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Kirkpatrick results 77 % · 74 % · 75 %; training ROI 108 % (target ≥ 100%).</a:t>
            </a:r>
            <a:endParaRPr lang="en-US" sz="1350" dirty="0"/>
          </a:p>
        </p:txBody>
      </p:sp>
      <p:sp>
        <p:nvSpPr>
          <p:cNvPr id="40" name="Shape 30"/>
          <p:cNvSpPr/>
          <p:nvPr/>
        </p:nvSpPr>
        <p:spPr>
          <a:xfrm>
            <a:off x="868680" y="5522976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41" name="Image 8" descr="CircleDo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852" y="5615148"/>
            <a:ext cx="199705" cy="199705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1417320" y="5495544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documents published, 1,077 pages; the Training Engineering Report alone has 193 pages.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749040"/>
            <a:ext cx="3108960" cy="3108960"/>
          </a:xfrm>
          <a:prstGeom prst="ellipse">
            <a:avLst/>
          </a:prstGeom>
          <a:solidFill>
            <a:srgbClr val="17A2B8">
              <a:alpha val="22000"/>
            </a:srgbClr>
          </a:solidFill>
          <a:ln w="12700">
            <a:solidFill>
              <a:srgbClr val="17A2B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clinic group and the project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Context, charter, scope, method and schedule</a:t>
            </a:r>
            <a:endParaRPr lang="en-US" sz="1800" dirty="0"/>
          </a:p>
        </p:txBody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Santéora Private Clinics Group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Santéora Private Clinics Group operates in the Healthcare Providers sector, in Casablanca, with 2600 employees.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clinic group and the project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766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937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Topic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Vision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Become the reference of Healthcare Providers in the region, with teams trained to the best standards.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Mission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Deliver safe, compliant service through skilled people and controlled processes.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Values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Commitment · Excellence · Sharing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Context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Strong competition, stricter ISO 7101 audits and the arrival of AI triage and clinical decision support.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Products — existing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Core services of Clinical Care &amp; Nursing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Products — new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Digital services supported by AI triage and clinical decision support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Market segments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Large accounts · Public sector · Individual customers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589520" y="1828800"/>
            <a:ext cx="4050792" cy="4206240"/>
          </a:xfrm>
          <a:prstGeom prst="roundRect">
            <a:avLst>
              <a:gd name="adj" fmla="val 225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8181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Organization and headcount</a:t>
            </a:r>
            <a:endParaRPr lang="en-US" sz="15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2423160"/>
          <a:ext cx="361188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005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Function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People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Operations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Quality &amp; HSE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Human Resources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Sales &amp; Marketing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Information Systems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Clinical Care &amp; Nursing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GROUP PROFILE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dates and SWOT of the clinic group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clinic group and the project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938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2008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Company founded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55848" y="18288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84448" y="1938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2014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3584448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Second site opened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63056" y="18288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91656" y="1938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2019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391656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ISO 7101 certification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970264" y="18288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98864" y="1938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9198864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 transformation program launched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324612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B6D7A8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9808" y="3364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49808" y="3767328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Experienced, committed team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Good knowledge of the market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Stable processes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355848" y="324612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4C7C3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57016" y="3364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Areas for improvement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3557016" y="3767328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Low use of AI triage and clinical decision support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Reporting kept in spreadsheets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Low use of AI medical imaging assistance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Little versatility between roles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Low use of AI bed and staff capacity planning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163056" y="324612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D9EAD3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64224" y="3364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Opportunities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364224" y="3767328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Demand for digital services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Training contracts refunded by OFPPT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970264" y="324612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BE0B5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71432" y="3364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Threats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171432" y="3767328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Stricter ISO 7101 audits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Departure of key experts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TER sections 1.3 and 1.4.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CHARTER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Skills Full Run 2026 — Santéora Private Clinics Group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engineering cycle focused on AI skills for Healthcare Providers: scope, evidence, diagnosis, report, delivery, evaluation and continuous improvement.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clinic group and the project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2139696"/>
            <a:ext cx="457200" cy="45720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1" name="Image 1" descr="Gau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24942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20665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72</a:t>
            </a:r>
            <a:endParaRPr lang="en-US" sz="25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26883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complexity score (out of 100): full run with gates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355848" y="19202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557016" y="213969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6" name="Image 2" descr="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224942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133088" y="20665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</a:t>
            </a:r>
            <a:endParaRPr lang="en-US" sz="2500" dirty="0"/>
          </a:p>
        </p:txBody>
      </p:sp>
      <p:sp>
        <p:nvSpPr>
          <p:cNvPr id="18" name="Text 13"/>
          <p:cNvSpPr txBox="1"/>
          <p:nvPr/>
        </p:nvSpPr>
        <p:spPr>
          <a:xfrm>
            <a:off x="3557016" y="26883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stakeholders registered and consulted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63056" y="19202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64224" y="213969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1" name="Image 3" descr="Crosshai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249424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40296" y="20665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en-US" sz="2500" dirty="0"/>
          </a:p>
        </p:txBody>
      </p:sp>
      <p:sp>
        <p:nvSpPr>
          <p:cNvPr id="23" name="Text 17"/>
          <p:cNvSpPr txBox="1"/>
          <p:nvPr/>
        </p:nvSpPr>
        <p:spPr>
          <a:xfrm>
            <a:off x="6364224" y="26883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scope criteria approved in the Scope of Work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970264" y="19202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171432" y="213969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6" name="Image 4" descr="Lay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2249424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47504" y="20665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MS · MO · OP</a:t>
            </a:r>
            <a:endParaRPr lang="en-US" sz="2500" dirty="0"/>
          </a:p>
        </p:txBody>
      </p:sp>
      <p:sp>
        <p:nvSpPr>
          <p:cNvPr id="28" name="Text 21"/>
          <p:cNvSpPr txBox="1"/>
          <p:nvPr/>
        </p:nvSpPr>
        <p:spPr>
          <a:xfrm>
            <a:off x="9171432" y="26883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decision levels covered (strategic, middle, operational)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48640" y="3429000"/>
            <a:ext cx="11094415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86868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objectives</a:t>
            </a:r>
            <a:endParaRPr lang="en-US" sz="1700" dirty="0"/>
          </a:p>
        </p:txBody>
      </p:sp>
      <p:sp>
        <p:nvSpPr>
          <p:cNvPr id="31" name="Shape 24"/>
          <p:cNvSpPr/>
          <p:nvPr/>
        </p:nvSpPr>
        <p:spPr>
          <a:xfrm>
            <a:off x="868680" y="4114800"/>
            <a:ext cx="384048" cy="384048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32" name="Image 5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852" y="4206972"/>
            <a:ext cx="199705" cy="19970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417320" y="4087368"/>
            <a:ext cx="99056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SO-1 — Adopt AI triage and clinical decision support across Clinical Care &amp; Nursing by end 2027 (horizon 2027-12-31)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868680" y="480060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35" name="Image 6" descr="ArrowRigh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52" y="4892772"/>
            <a:ext cx="199705" cy="19970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417320" y="4773168"/>
            <a:ext cx="99056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SO-2 — Zero major findings in ISO 7101 audits (horizon 2026-12-31)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SCOPE OF THE MISSION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Functions and decision levels in scope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Focus: AI · Decision levels: MS, MO, OP · Approval: Approved (2026-04-30, Mehdi Lahlou)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clinic group and the project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9494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Function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MS — strategic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 — middle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 — operational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Operations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Quality &amp; HSE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Finance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Human Resources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Sales &amp; Marketing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Information Systems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Clinical Care &amp; Nursing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818120" y="1874520"/>
            <a:ext cx="3822192" cy="3200400"/>
          </a:xfrm>
          <a:prstGeom prst="roundRect">
            <a:avLst>
              <a:gd name="adj" fmla="val 2857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04672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 scope is set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046720" y="2468880"/>
            <a:ext cx="3429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function × decision-level cell is a weighted criterion of the Scope of Work. 16 criteria were approved by the sponsor before any questionnaire was sent; every later table of the report is filtered by this scope.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TER section 1.8.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METHOD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Six phases, each closed by a gate with its deliverables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training engineering mission follows the phases below, each closed by a gate with its deliverables.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clinic group and the project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6492240"/>
                <a:gridCol w="1307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Phase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End-to-end processes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Progress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1. Scope &amp; evidence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E2E-32 · E2E-33 · E2E-19 · E2E-24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 Diagnosis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E2E-20 · E2E-25 · E2E-26 · E2E-27 · E2E-28 · E2E-29 · E2E-02 · E2E-21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 Training Engineering Report &amp; plan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E2E-01 · E2E-03 · E2E-30 · E2E-22 · E2E-23 · E2E-16 · HCPR-E2E-02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4. Design &amp; delivery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E2E-04 · E2E-05 · E2E-06 · E2E-13 · E2E-14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5. Evaluation, compliance &amp; impact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E2E-07 · E2E-08 · E2E-09 · HCPR-E2E-01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6. Talent, knowledge &amp; continuous improvement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E2E-10 · E2E-11 · E2E-12 · E2E-31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Training Engineering Report, section 1.5 “The current mission”.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SCHEDULE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 packages and the Gantt chart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clinic group and the project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4206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914400"/>
                <a:gridCol w="640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Work package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Progress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Scope &amp; evidence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2026-04-10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2026-05-07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Diagnosis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2026-05-08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2026-06-04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Report &amp; plan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2026-06-05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2026-07-02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4206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97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Sessions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Date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S-01 AI triage and clinical decision 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2026-07-19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S-02 AI medical imaging assistance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2026-07-26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S-03 AI triage and clinical decision 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2026-08-02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S-04 AI medical imaging assistance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2026-08-09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029200" y="1783080"/>
            <a:ext cx="6528816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11" name="Image 1" descr="Screenshot of the 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28800"/>
            <a:ext cx="6437376" cy="402336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07492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WBS and Gantt of the project in CortexSkills.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STAKEHOLDERS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 people consulted across every function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 people were consulted: 1 from general management, 26 managers and 13 staff members.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clinic group and the project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6583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852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People consulted by function and population (TER 1.7).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828800"/>
          <a:ext cx="4233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3075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Channel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People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Face-to-face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Combination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Email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7406640" y="4023360"/>
            <a:ext cx="4233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Consent recorded for 40 of 40 people before any answer was stored.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749040"/>
            <a:ext cx="3108960" cy="3108960"/>
          </a:xfrm>
          <a:prstGeom prst="ellipse">
            <a:avLst/>
          </a:prstGeom>
          <a:solidFill>
            <a:srgbClr val="17A2B8">
              <a:alpha val="22000"/>
            </a:srgbClr>
          </a:solidFill>
          <a:ln w="12700">
            <a:solidFill>
              <a:srgbClr val="17A2B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Diagnosis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Who answered, where the clinic group stands, which skills are missing</a:t>
            </a:r>
            <a:endParaRPr lang="en-US" sz="1800" dirty="0"/>
          </a:p>
        </p:txBody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QUESTIONNAIRE CAMPAIGN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 of 40 people answered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 people were invited to answer; 35 answered.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760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914400"/>
                <a:gridCol w="82296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Function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General Manager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Team member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Responded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Operations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Quality &amp; HSE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Human Resources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Sales &amp; Marketing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Information Systems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Clinical Care &amp; Nursing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0" descr=""/>
          <p:cNvGraphicFramePr/>
          <p:nvPr/>
        </p:nvGraphicFramePr>
        <p:xfrm>
          <a:off x="6583680" y="178308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6583680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Response rate by function.</a:t>
            </a:r>
            <a:endParaRPr lang="en-US" sz="10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484632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1005840"/>
                <a:gridCol w="777240"/>
                <a:gridCol w="1005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Channel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Invited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Responded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Completeness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Application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95 %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Face-to-face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89 %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Email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89 %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TER sections 1.6, 1.12 and 1.13.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PREVIOUS PLAN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teams said about the last training plan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did you notice about the n-1 training plan?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60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Good participation, but little follow-up after the sessions.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Trainings were chosen late in the year and with little link to our objectives.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9768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were the strengths of the n-1 plan?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560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Sessions held on site, close to the teams.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Practical trainers who knew our sector.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4672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75320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improvements did the n-1 plan bring?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2560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Supervisors use the new procedures.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Fewer errors on ISO 7101 records.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4069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were the challenges of the n-1 plan?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Measuring the effect of the trainings.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Releasing people from the job during peaks.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29768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26280" y="4069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did you appreciate and like about the n-1 plan?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526280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The workshops on real cases.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The exchange between sites.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04672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75320" y="4069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a new training plan, what would you like to see done differently?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275320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Shorter half-day formats with a workshop each time.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 plan built from the needs of each function.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080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TER chapter 2 — 62 trainings attended are listed in section 2.1.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AND MATURITY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axes scored, maturity one level below target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83080"/>
          <a:ext cx="5852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score by axis against target level 4 (TER 1.9).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828800"/>
          <a:ext cx="49651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31520"/>
                <a:gridCol w="249631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Axis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Reading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Strategy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Strength to build 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Organization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Partly in place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Processes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Partly in place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People and skills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Partly in place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Information systems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Priority for development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3840480"/>
          <a:ext cx="49651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"/>
                <a:gridCol w="868680"/>
                <a:gridCol w="8503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Model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Current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Target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Gap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CMM maturity (CMM)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Leadership maturity (Leadership)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2" name="Text 6"/>
          <p:cNvSpPr txBox="1"/>
          <p:nvPr/>
        </p:nvSpPr>
        <p:spPr>
          <a:xfrm>
            <a:off x="667512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Maturity models (TER 1.10).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BY FUNCTION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each function stands at each decision level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by decision level: MS strategic management, MO operational management, OP operational.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188720"/>
                <a:gridCol w="1188720"/>
                <a:gridCol w="1188720"/>
                <a:gridCol w="54223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Function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Main gaps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Operations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88% Amber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83% Amber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76% Amber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decision support · AI medical imaging assistance · AI bed and staff cap…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Quality &amp; HSE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76% Amber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52% 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86% Amber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 · AI bed and staff capacity planning · AI triage and clinical de…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81% Amber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58% 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77% Amber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 · AI triage and clinical decision support · AI medical imag…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Human Resources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79% Amber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54% 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63% 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decision support · AI medical imaging assistance · AI bed and staff cap…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Sales &amp; Marketing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88% Amber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82% Amber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59% 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 · AI bed and staff capacity planning · AI triage and clinical de…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Information Systems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78% Amber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64% 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71% Amber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 · AI triage and clinical decision support · AI medical imag…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Clinical Care &amp; Nursing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88% Amber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73% Amber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53% 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decision support · AI medical imaging assistance · AI bed and staff cap…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Maturity heatmap on the fixed red → green status scale (TER 3.2).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COMPETENCES NAMED IN THE INTERVIEWS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competences people asked for, by number of mentions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Consolidated from 30 responses.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852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Mentions across all answers (TER 3.3).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818120" y="1874520"/>
            <a:ext cx="3822192" cy="3931920"/>
          </a:xfrm>
          <a:prstGeom prst="roundRect">
            <a:avLst>
              <a:gd name="adj" fmla="val 2392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4672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Reading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046720" y="2468880"/>
            <a:ext cx="3429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two AI clinical themes lead (94 and 94 mentions), followed by team communication and problem solving: the plan pairs each AI training with practical workshops on the clinics’ own cases.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 SKILLS AND LEADERSHIP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Self-assessment of the respondents, weakest first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400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188720"/>
                <a:gridCol w="640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Competence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Average (1–5)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Rewards and motivation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and effectiveness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Positive thinking and positive results (focus on solutions, break a b…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 by objectives and strategic vision applied to oneself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Communication with oneself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29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Communication with the team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29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Managing with flexibility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 by objectives and strategic vision applied to others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29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7223760" y="1783080"/>
          <a:ext cx="4416552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7223760" y="5577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Leadership levels reached (TER 3.7).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 GAPS AND TRAINING NEEDS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measured gaps to a validated needs register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1206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22960"/>
                <a:gridCol w="868680"/>
                <a:gridCol w="7772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Competency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People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Avg gap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Critical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decision support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1.0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 gaps by competency (TER 3.40).</a:t>
            </a:r>
            <a:endParaRPr lang="en-US" sz="10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828800"/>
          <a:ext cx="5742432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743200"/>
                <a:gridCol w="1051560"/>
                <a:gridCol w="685800"/>
                <a:gridCol w="9418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#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Theme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Source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Impact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Diagnostic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Validated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Responsible AI and data protection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Skills gap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Validated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GPEC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Validated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Demand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Validated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Prompting and generative AI at work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SWOT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Validated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Diagnostic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Validated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decision support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Skills gap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Validated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literacy for all staff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GPEC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Validated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decision support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Demand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Validated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literacy for all staff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SWOT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Validated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89788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needs register (TER 3.41): every need traced to its source.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502920" y="3429000"/>
            <a:ext cx="3895344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13" name="Image 1" descr="Screenshot of the 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0"/>
            <a:ext cx="3803904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THE CORE FUNCTION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Clinical Care &amp; Nursing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Needs, assessment and competences of the function that carries the strategic objective SO-1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604"/>
                <a:gridCol w="2773604"/>
                <a:gridCol w="2773604"/>
                <a:gridCol w="2773604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Decision level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Score (%)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Gap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88 %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Amber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decision support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73 %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Amber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53 %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4572000"/>
                <a:gridCol w="32278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Respondent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Population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Strengths / Areas for improvement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Competences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Anas Berrada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Soins cliniques et infirmiers — Experienced, committed team — Low use…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Anas Berrada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Clinical Care &amp; Nursing — Experienced, committed team — Little versat…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planning; Time management and priorities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Imane Bennani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Team member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Experienced, committed team — Reporting kept in spreadsheets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Imane Bennani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Team member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Experienced, committed team — Little versatility between roles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assistance; Time management and priorities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Hajar Mansouri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Soins cliniques et infirmiers — Good knowledge of the market — Report…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Hajar Mansouri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Clinical Care &amp; Nursing — Stable processes — Little versatility betwe…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planning; Time management and priorities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TER sections 3.36 to 3.39.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OF AI TODAY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 teams use AI and what holds them back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993392"/>
            <a:ext cx="457200" cy="45720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0" name="Image 1" descr="Activ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10312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use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9718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Daily, for triage and reports. (31)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798064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980944" y="1993392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5" name="Image 2" descr="OctagonAle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2" y="210312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980944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Barriers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2980944" y="29718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Lack of training and unclear rules. (31)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047488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230368" y="1993392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0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6" y="210312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230368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Risks to manage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230368" y="29718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protection and validation of results. (31)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296912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479792" y="1993392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5" name="Image 4" descr="Targ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210312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479792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Priorities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7479792" y="29718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medical imaging assistance; data quality (11)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triage and clinical decision support; data quality (10)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9546336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9729216" y="1993392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30" name="Image 5" descr="Presentati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8944" y="2103120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729216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Preferred format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9729216" y="29718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Short workshops on the job, then coaching. (31)</a:t>
            </a:r>
            <a:endParaRPr lang="en-US" sz="10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6344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0"/>
                <a:gridCol w="978408"/>
                <a:gridCol w="969264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Strategic planning practice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Yes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 there a strategic plan with macro business plans at company level?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Are this strategic plan and the macro business plans implemented?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Are they monitored?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Are they subject to continuous improvement?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 25"/>
          <p:cNvSpPr txBox="1"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 frequent answers of 35 respondents (TER 3.45, 3.46).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OBJECTIVES AND EXPECTED RESULTS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respondents want the training to change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766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291840"/>
                <a:gridCol w="9144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Objective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SMART formulation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Mentions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Improve customer satisfaction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Satisfaction score ≥ 85% by end of year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28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Reduce non-quality costs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-20% rework in 12 months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28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Develop human capital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80% of critical roles certified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589520" y="1828800"/>
            <a:ext cx="4050792" cy="4023360"/>
          </a:xfrm>
          <a:prstGeom prst="roundRect">
            <a:avLst>
              <a:gd name="adj" fmla="val 2273"/>
            </a:avLst>
          </a:prstGeom>
          <a:solidFill>
            <a:srgbClr val="E7F9F0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181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 results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818120" y="2423160"/>
            <a:ext cx="3611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Fewer errors and faster service.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Teams able to use AI medical imaging assistance safely.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Better audit results and staff retention.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Teams able to use AI bed and staff capacity planning safely.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Teams able to use AI triage and clinical decision support safely.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TER 3.42 (64 objectives stated) and 3.9.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749040"/>
            <a:ext cx="3108960" cy="3108960"/>
          </a:xfrm>
          <a:prstGeom prst="ellipse">
            <a:avLst/>
          </a:prstGeom>
          <a:solidFill>
            <a:srgbClr val="17A2B8">
              <a:alpha val="22000"/>
            </a:srgbClr>
          </a:solidFill>
          <a:ln w="12700">
            <a:solidFill>
              <a:srgbClr val="17A2B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Engineering Report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132 sections, 193 pages, generated from the run data</a:t>
            </a:r>
            <a:endParaRPr lang="en-US" sz="1800" dirty="0"/>
          </a:p>
        </p:txBody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 OF THE REPORT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Engineering Report and Training Plan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 1 · author Hicham Naciri · approved by Mehdi Lahlou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Engineering Report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1206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Chapter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Sections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1. Description of the company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 The previous training plan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 Competence needs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4. Perspectives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5. The prioritized training plan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6. Risks, controls and indicators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7. Annexes — interview forms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897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Plus identification, data sources and approval.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897880" y="1783080"/>
            <a:ext cx="5760720" cy="363474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12" name="Image 1" descr="Screenshot of the 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669280" cy="35433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94360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report in the document editor.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ORIENTATIONS AND HR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Needs linked to the strategy and to the HR orientations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Priority axes named by the General Management: Leadership and performance · AI triage and clinical decision support · ISO 7101 compliance · Dashboards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Engineering Report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531352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Objective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Horizon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SO-1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Adopt AI triage and clinical decision support across Clinical Care &amp; Nursing by end 2027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2027-12-31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SO-2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Zero major findings in ISO 7101 audits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2026-12-31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3291840"/>
            <a:ext cx="54864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HR orientations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84048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Update job descriptions, individual objectives and the yearly assessment; build career paths.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17920" y="3291840"/>
            <a:ext cx="5422392" cy="2651760"/>
          </a:xfrm>
          <a:prstGeom prst="roundRect">
            <a:avLst>
              <a:gd name="adj" fmla="val 3448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4652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Change management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446520" y="384048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1) Focus and prioritization · 2) Stay positive · 3) Persevere and follow up with short daily repetitions · Patience · Lead by example · Progressiveness.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TER sections 3.1, 3.5 and 3.6.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PERSPECTIVES AND ROADMAP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initiatives deployed in three waves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perspectives take into account the strategic orientations, the SWOT and improvement axes, the HR orientations and the recommendations made in the face-to-face meetin…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Engineering Report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Wave 1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5146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AI triage and clinical decision support — impact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AI literacy for all staff — impact 5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97680" y="18745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Wave 2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25146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AI medical imaging assistance — impact 4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46720" y="18745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2104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Wave 3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5146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AI bed and staff capacity planning — impact 3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680960"/>
                <a:gridCol w="1463040"/>
                <a:gridCol w="149047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#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Improvement axis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Implemented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Wave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decision support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65%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literacy for all staff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75%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TER chapter 4 and section 4.1.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RISKS AND CONTROLS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risk reduced by named controls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Engineering Report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206240"/>
                <a:gridCol w="1463040"/>
                <a:gridCol w="868680"/>
                <a:gridCol w="868680"/>
                <a:gridCol w="27706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 or opportunity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Category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Inherent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Residual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Controls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RISK-014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Low learner and user adoption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Adoption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CTRL-081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RISK-017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Critical knowledge lost with expert departure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Operational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CTRL-070; CTRL-082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RISK-001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Unauthorized access to tenant data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Security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CTRL-001; CTRL-002; CTRL-048; CTRL-011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RISK-005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plan misaligned with strategy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Strategic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CTRL-049; CTRL-057; CTRL-076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RISK-006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Inaccurate skills data leading to wrong needs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Data quality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CTRL-064; CTRL-045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RISK-030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Position descriptions diverge from reality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Organizational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CTRL-066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RISK-007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Unverified AI content in the Training Engineering Report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CTRL-041; CTRL-056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RISK-009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Expired mandatory certification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Compliance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CTRL-053; CTRL-054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RISK-031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Site deployment deviates from group plan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Operational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CTRL-071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4892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9 of 35 risks by residual score (TER chapter 6).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INDICATORS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Indicators followed every month during the run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Engineering Report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28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572000"/>
                <a:gridCol w="1463040"/>
                <a:gridCol w="2651760"/>
                <a:gridCol w="13075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Indicator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Target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Latest value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KPI-003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Critical gap rate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≤ 10%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8.2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KPI-004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Engineering Report cycle time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≤ 30 days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24.6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KPI-005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Design approval lead time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≤ 20 days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16.4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KPI-007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Content publication lead time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≤ 15 days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12.3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KPI-008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Session fill rate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85%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91.8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KPI-009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 realization rate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90%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97.2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KPI-010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Learner completion rate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80%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86.4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Average Level 1 satisfaction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4.2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4.5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KPI-013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Skill progression rate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70%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75.6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KPI-015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record correction rate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≤ 1%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0.82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of the 61 indicators of TER section 6.1.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2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749040"/>
            <a:ext cx="3108960" cy="3108960"/>
          </a:xfrm>
          <a:prstGeom prst="ellipse">
            <a:avLst/>
          </a:prstGeom>
          <a:solidFill>
            <a:srgbClr val="17A2B8">
              <a:alpha val="22000"/>
            </a:srgbClr>
          </a:solidFill>
          <a:ln w="12700">
            <a:solidFill>
              <a:srgbClr val="17A2B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Plan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plan 2026 holds 2 programs and 6 trainings, 12 days per group in total and 44 group-days to deliver, for a budget of 1,260,000.</a:t>
            </a:r>
            <a:endParaRPr lang="en-US" sz="1800" dirty="0"/>
          </a:p>
        </p:txBody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PRIORITIZED PLAN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Six themes ranked by impact and urgency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2026 — status Locked — budget 1,260,000.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Plan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0350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291840"/>
                <a:gridCol w="731520"/>
                <a:gridCol w="73152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#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Theme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Days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Groups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Budget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decision support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360,000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300,000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2.5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240,000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literacy for all staff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1.5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180,000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Prompting and generative AI at work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120,000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Responsible AI and data protection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60,000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0" descr=""/>
          <p:cNvGraphicFramePr/>
          <p:nvPr/>
        </p:nvGraphicFramePr>
        <p:xfrm>
          <a:off x="6766560" y="1783080"/>
          <a:ext cx="4846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676656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by theme.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PROGRAMS AND TRAININGS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programs, six trainings, clear prerequisites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Plan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31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657600"/>
                <a:gridCol w="3383280"/>
                <a:gridCol w="31363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Code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Program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Strategic axis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PRG-1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skills for Clinical Care &amp; Nursing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Execution of the core function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TR-AI-01, TR-AI-02, TR-AI-03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PRG-2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foundations for all staff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Leadership, performance and responsible use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TR-AI-04, TR-AI-05, TR-AI-06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1109441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657600"/>
                <a:gridCol w="1188720"/>
                <a:gridCol w="1005840"/>
                <a:gridCol w="42336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Level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Duration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Prerequisites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decision support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Intermediate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 day(s)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Basic digital literacy; the Foundation training is recommended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Intermediate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 day(s)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Basic digital literacy; the Foundation training is recommended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Advanced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2.5 day(s)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TR-AI-01 or equivalent experience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literacy for all staff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Foundation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1.5 day(s)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None — open to all staff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Prompting and generative AI at work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Foundation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 day(s)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None — open to all staff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Responsible AI and data protection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Intermediate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 day(s)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Basic digital literacy; the Foundation training is recommended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48640" y="5760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Training Plan “Programs” and TER section 5.1.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SHEET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TR-AI-01 — AI triage and clinical decision support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Level Intermediate · 3 day(s) · program PRG-1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Plan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67665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965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 objectives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23160"/>
            <a:ext cx="6217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Explain the key concepts of AI triage and clinical decision support and how they apply to Clinical Care &amp; Nursing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Apply the methods and tools of AI triage and clinical decision support to a real case from Santéora Private Clinics Group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Plan the deployment of AI triage and clinical decision support with its indicators and controls (ISO 7101)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589520" y="1828800"/>
            <a:ext cx="4050792" cy="4114800"/>
          </a:xfrm>
          <a:prstGeom prst="roundRect">
            <a:avLst>
              <a:gd name="adj" fmla="val 2257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181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Prerequisites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818120" y="242316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Basic digital literacy; the Foundation training is recommended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81812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Delivery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818120" y="406908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M1 AI triage and clinical decision support · E-learning · 2 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M3 AI triage and clinical decision support · Virtual classroom · 3.5 h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DETAILED AGENDA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triage and clinical decision support — half-day by half-day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 activities over 3 day(s): lectures, quizzes and workshops on the clinics’ own cases.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Plan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1 — morning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331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Foundations of AI triage and clinical decision support: key c… (75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Why AI triage and clinical decision support matters for Clini… (45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— key concepts of AI triage and clinical decision support (20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Workshop — map today’s practices in Clinical Care &amp; Nursing a… (75 min)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9768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2628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1 — afternoon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331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Methods and tools of AI triage and clinical decision support (75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Worked example from the Healthcare Providers sector (40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— choosing the right method (20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Workshop — apply the method to a real case from Santéora Priv… (80 min)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04672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2 — morning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2331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Governance, risks and ISO 7101 requirements (60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Data, quality and evidence to keep (45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— compliance and risk scenarios (20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Workshop — build the control checklist of your process (80 min)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2 — afternoon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43484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Deploying AI triage and clinical decision support: roles, cha… (60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Indicators that measure the results (45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— adoption and indicator cases (20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Workshop — design the indicator dashboard of your team (80 min)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29768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2628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— morning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26280" y="443484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Advanced practices and lessons learned in Clinical Care &amp; Nur… (75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— advanced cases (25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Workshop — solve a critical incident scenario (100 min)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04672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7532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— afternoon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275320" y="443484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Transfer to the workplace: the 30-60-90-day plan (60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· Final assessment (Kirkpatrick level 2) (30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Workshop — individual action plan and peer review (90 min)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VALUE FOR EACH PERSONA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each audience should take the training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TR-AI-01 — behaviour, pain points and hopes of each persona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Plan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1" name="Image 1" descr="Briefc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4" y="21433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sponsor — General Manager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27432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Decides on facts presented in short steering meetings; delegates execution to the management team; follows a few indicators.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spend with no visible link to the strategic objectives; results of the previous plan hard to prove; ISO 7101 audits that expose competence gaps.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prioritized plan that serves the strategy, a measurable return, and a management team able to lead the change.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297680" y="182880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26280" y="2011680"/>
            <a:ext cx="548640" cy="54864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6" name="Image 2" descr="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954" y="21433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1208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Manager — director, head of department, process owner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526280" y="27432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Balances daily operations and improvement projects; prefers practical, short formats; relies on key people in the team.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absent from the job during long trainings; skills gaps on critical activities of Clinical Care &amp; Nursing; processes not documented or without an owner.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Trainings that solve the function’s real problems, applied on the job the following week, with indicators the manager can follow.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046720" y="182880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75320" y="2011680"/>
            <a:ext cx="548640" cy="54864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1" name="Image 3" descr="Stethoscop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6994" y="214335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96112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member — Clinical Care &amp; Nursing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8275320" y="27432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Learns by doing and from peers; uses a phone more than a computer; wants to know what changes in daily work.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New tools introduced without explanation; theoretical trainings far from the tasks; fear of making mistakes with AI triage and clinical decision support.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Practical skills recognized by a certificate, less rework, and a clear path to the next position.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LEARNING DESIGN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Paths, modules and content assets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Plan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35</a:t>
            </a:r>
            <a:endParaRPr lang="en-US" sz="1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31520"/>
                <a:gridCol w="3108960"/>
                <a:gridCol w="1645920"/>
                <a:gridCol w="822960"/>
                <a:gridCol w="18562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Learning path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Days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Module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Modality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Hours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Design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decision support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M1 AI triage and clinical decision support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E-learning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Approved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M3 AI triage and clinical decision support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Virtual classroom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Approved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M2 AI medical imaging assistance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Classroom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Approved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M4 AI medical imaging assistance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Classroom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Approved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371600"/>
                <a:gridCol w="2011680"/>
                <a:gridCol w="2011680"/>
                <a:gridCol w="18562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Format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Size (MB)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Review date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Language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M1 material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SCORM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2027-08-03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Published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M2 material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Video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2027-04-05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Published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M3 material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PDF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2026-12-06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Published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M4 material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Capsule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2026-08-08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Published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TER sections 5.3 and 5.4.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Allocated, committed, spent and refunds expected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Allocated 1,260,000, committed 1,260,000 (100 %), spent 1,238,497 (98 % of planned); expected refunds 352,800.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Plan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36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828800"/>
          <a:ext cx="6400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715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Allocated (Muted) versus actual (Azure) by training, (TER 5.7).</a:t>
            </a:r>
            <a:endParaRPr lang="en-US" sz="1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828800"/>
          <a:ext cx="44622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05840"/>
                <a:gridCol w="98755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Line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Actual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Refund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354,598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100,800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295,234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84,000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244,886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67,200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literacy for all staff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159,533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50,400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Prompting and generative AI a…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123,413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33,600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Responsible AI and data prote…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60,833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16,800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Total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1,238,497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352,800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4343400"/>
          <a:ext cx="44622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45920"/>
                <a:gridCol w="7132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Provider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Accredited until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/5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Atlas Formation Conseil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2027-04-25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Maghreb Learning Partners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2027-08-03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2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749040"/>
            <a:ext cx="3108960" cy="3108960"/>
          </a:xfrm>
          <a:prstGeom prst="ellipse">
            <a:avLst/>
          </a:prstGeom>
          <a:solidFill>
            <a:srgbClr val="17A2B8">
              <a:alpha val="22000"/>
            </a:srgbClr>
          </a:solidFill>
          <a:ln w="12700">
            <a:solidFill>
              <a:srgbClr val="17A2B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Delivery, evaluation and audit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Sessions, Kirkpatrick levels, ROI, internal audit and lessons learned</a:t>
            </a:r>
            <a:endParaRPr lang="en-US" sz="1800" dirty="0"/>
          </a:p>
        </p:txBody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SESSIONS AND ATTENDANCE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sessions delivered with their enrolments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Delivery, evaluation and audit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</a:t>
            </a:r>
            <a:endParaRPr lang="en-US" sz="1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9494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822960"/>
                <a:gridCol w="1188720"/>
                <a:gridCol w="640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Session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Capacity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Enrolled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S-01 AI triage and clinical decision support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2026-07-19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Zineb Kettani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S-02 AI medical imaging assistance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2026-07-26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Zineb Kettani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S-03 AI triage and clinical decision support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2026-08-02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Zineb Kettani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S-04 AI medical imaging assistance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2026-08-09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Zineb Kettani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818120" y="1828800"/>
            <a:ext cx="382219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019288" y="2048256"/>
            <a:ext cx="457200" cy="457200"/>
          </a:xfrm>
          <a:prstGeom prst="ellipse">
            <a:avLst/>
          </a:prstGeom>
          <a:solidFill>
            <a:srgbClr val="28C87C"/>
          </a:solidFill>
          <a:ln w="12700">
            <a:solidFill>
              <a:srgbClr val="28C87C"/>
            </a:solidFill>
            <a:prstDash val="solid"/>
          </a:ln>
        </p:spPr>
      </p:sp>
      <p:pic>
        <p:nvPicPr>
          <p:cNvPr id="11" name="Image 1" descr="User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016" y="2157984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595360" y="1975104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12</a:t>
            </a:r>
            <a:endParaRPr lang="en-US" sz="2500" dirty="0"/>
          </a:p>
        </p:txBody>
      </p:sp>
      <p:sp>
        <p:nvSpPr>
          <p:cNvPr id="13" name="Text 8"/>
          <p:cNvSpPr txBox="1"/>
          <p:nvPr/>
        </p:nvSpPr>
        <p:spPr>
          <a:xfrm>
            <a:off x="8019288" y="2596896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learners present at their session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7818120" y="3246120"/>
            <a:ext cx="382219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019288" y="346557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6" name="Image 2" descr="Badge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016" y="357530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595360" y="3392424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12</a:t>
            </a:r>
            <a:endParaRPr lang="en-US" sz="2500" dirty="0"/>
          </a:p>
        </p:txBody>
      </p:sp>
      <p:sp>
        <p:nvSpPr>
          <p:cNvPr id="18" name="Text 12"/>
          <p:cNvSpPr txBox="1"/>
          <p:nvPr/>
        </p:nvSpPr>
        <p:spPr>
          <a:xfrm>
            <a:off x="8019288" y="4014216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enrolments completed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02920" y="3840480"/>
            <a:ext cx="33832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20" name="Image 3" descr="Screenshot of the applic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86200"/>
            <a:ext cx="3291840" cy="20574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864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task of the delivery process with its typed steps.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measured at three Kirkpatrick levels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Delivery, evaluation and audit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2048256"/>
            <a:ext cx="457200" cy="45720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0" name="Image 1" descr="Smi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5798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751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77 %</a:t>
            </a:r>
            <a:endParaRPr lang="en-US" sz="250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259689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— Reaction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297680" y="182880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498848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5" name="Image 2" descr="BookOpen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2157984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074920" y="19751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74 %</a:t>
            </a:r>
            <a:endParaRPr lang="en-US" sz="2500" dirty="0"/>
          </a:p>
        </p:txBody>
      </p:sp>
      <p:sp>
        <p:nvSpPr>
          <p:cNvPr id="17" name="Text 12"/>
          <p:cNvSpPr txBox="1"/>
          <p:nvPr/>
        </p:nvSpPr>
        <p:spPr>
          <a:xfrm>
            <a:off x="4498848" y="259689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— Learning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046720" y="182880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47888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0" name="Image 3" descr="Footprin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2157984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823960" y="19751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75 %</a:t>
            </a:r>
            <a:endParaRPr lang="en-US" sz="2500" dirty="0"/>
          </a:p>
        </p:txBody>
      </p:sp>
      <p:sp>
        <p:nvSpPr>
          <p:cNvPr id="22" name="Text 16"/>
          <p:cNvSpPr txBox="1"/>
          <p:nvPr/>
        </p:nvSpPr>
        <p:spPr>
          <a:xfrm>
            <a:off x="8247888" y="259689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— Behaviour</a:t>
            </a:r>
            <a:endParaRPr lang="en-US" sz="11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2103120"/>
                <a:gridCol w="2743200"/>
                <a:gridCol w="167335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Level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What is measured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When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Instrument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Results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 — Reaction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Satisfaction and perceived usefulness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End of each session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Satisfaction questionnaire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 × 77 %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 — Learning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Knowledge and skills acquired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End of the training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Pre- and post-test, case study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 × 74 %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 — Behaviour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Use of the skills at the workstation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Three months after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Manager observation grid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 × 75 %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 — Results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Effect on the indicators of the function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Six to twelve months after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Indicators of the function (KPI)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24" name="Text 17"/>
          <p:cNvSpPr txBox="1"/>
          <p:nvPr/>
        </p:nvSpPr>
        <p:spPr>
          <a:xfrm>
            <a:off x="548640" y="5212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Certifications (TER 5.10): 4 valid, 1 expiring, 1 expired — the expired one triggers an alert and a renewal session.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ROI AND BUSINESS IMPACT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Phillips ROI and the indicators of the ROI study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ROI and business impact report — Santéora Private Clinics Group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Delivery, evaluation and audit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2048256"/>
            <a:ext cx="457200" cy="457200"/>
          </a:xfrm>
          <a:prstGeom prst="ellipse">
            <a:avLst/>
          </a:prstGeom>
          <a:solidFill>
            <a:srgbClr val="28C87C"/>
          </a:solidFill>
          <a:ln w="12700">
            <a:solidFill>
              <a:srgbClr val="28C87C"/>
            </a:solidFill>
            <a:prstDash val="solid"/>
          </a:ln>
        </p:spPr>
      </p:sp>
      <p:pic>
        <p:nvPicPr>
          <p:cNvPr id="11" name="Image 1" descr="Trending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5798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108</a:t>
            </a:r>
            <a:endParaRPr lang="en-US" sz="25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ROI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355848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557016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6" name="Image 2" descr="Sm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215798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133088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4.5</a:t>
            </a:r>
            <a:endParaRPr lang="en-US" sz="2500" dirty="0"/>
          </a:p>
        </p:txBody>
      </p:sp>
      <p:sp>
        <p:nvSpPr>
          <p:cNvPr id="18" name="Text 13"/>
          <p:cNvSpPr txBox="1"/>
          <p:nvPr/>
        </p:nvSpPr>
        <p:spPr>
          <a:xfrm>
            <a:off x="3557016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Level 1 satisfaction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63056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64224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1" name="Image 3" descr="Chart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157984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40296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75.6</a:t>
            </a:r>
            <a:endParaRPr lang="en-US" sz="2500" dirty="0"/>
          </a:p>
        </p:txBody>
      </p:sp>
      <p:sp>
        <p:nvSpPr>
          <p:cNvPr id="23" name="Text 17"/>
          <p:cNvSpPr txBox="1"/>
          <p:nvPr/>
        </p:nvSpPr>
        <p:spPr>
          <a:xfrm>
            <a:off x="6364224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 progression rate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970264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171432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6" name="Image 4" descr="Sca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2157984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47504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4.1</a:t>
            </a:r>
            <a:endParaRPr lang="en-US" sz="2500" dirty="0"/>
          </a:p>
        </p:txBody>
      </p:sp>
      <p:sp>
        <p:nvSpPr>
          <p:cNvPr id="28" name="Text 21"/>
          <p:cNvSpPr txBox="1"/>
          <p:nvPr/>
        </p:nvSpPr>
        <p:spPr>
          <a:xfrm>
            <a:off x="9171432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execution variance</a:t>
            </a:r>
            <a:endParaRPr lang="en-US" sz="11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3931920"/>
                <a:gridCol w="1005840"/>
                <a:gridCol w="1645920"/>
                <a:gridCol w="103327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Indicator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Formula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Target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Latest value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KPI-037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ROI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(Net programme benefits / programme costs) x 100 (Phillips)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100%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108 (2026-10)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Average Level 1 satisfaction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Mean reaction score across closed sessions (1-5)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4.2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4.5 (2026-10)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KPI-013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Skill progression rate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Learners gaining at least one level within 6 months / learners traine…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70%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75.6 (2026-10)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KPI-022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Budget execution variance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|Actual - allocated| / allocated x 100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≤ 5%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4.1 (2026-10)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KPI-023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OFPPT refund recovery rate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Refunds received / refunds forecast x 100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90%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97.2 (2026-10)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30" name="Text 22"/>
          <p:cNvSpPr txBox="1"/>
          <p:nvPr/>
        </p:nvSpPr>
        <p:spPr>
          <a:xfrm>
            <a:off x="548640" y="6080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ROI and business impact report (DT-E2E-08), indicators section.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INTERNAL AUDIT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 report — Santéora Private Clinics Group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Conforming with one minor nonconformity to correct within 60 days.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Delivery, evaluation and audit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41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45720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Findings by grade.</a:t>
            </a:r>
            <a:endParaRPr lang="en-US" sz="1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828800"/>
          <a:ext cx="624535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554480"/>
                <a:gridCol w="1097280"/>
                <a:gridCol w="30449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Grade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Requirement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Statement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F-1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Minor nonconformity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 7.2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Two trainers have no evidence of competence on file.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F-2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Observation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 9.1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Level 3 evaluations are planned but not yet scheduled.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F-3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Opportunity for improvement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 7.1.6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Capture lessons learned at the end of each session.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F-4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Strength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 7.2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Needs analysis fully traced from strategic objectives.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548640" y="51206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Strengths: Clear needs analysis; strong management involvement; complete attendance records.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Follow-up: Verification of the corrective action at the next steering committee.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LESSONS LEARNED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REX — AI triage and clinical decision support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Delivery, evaluation and audit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E7F9F0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28C87C"/>
          </a:solidFill>
          <a:ln w="12700">
            <a:solidFill>
              <a:srgbClr val="28C87C"/>
            </a:solidFill>
            <a:prstDash val="solid"/>
          </a:ln>
        </p:spPr>
      </p:sp>
      <p:pic>
        <p:nvPicPr>
          <p:cNvPr id="10" name="Image 1" descr="Thumbs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4" y="21890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7724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went well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33756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stakeholder register and multi-channel distribution lifted the response rate.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355848" y="182880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4C7C3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584448" y="2057400"/>
            <a:ext cx="548640" cy="54864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5" name="Image 2" descr="TriangleAle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122" y="218907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584448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did not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3584448" y="333756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SWOT inputs arrived late from one function.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163056" y="182880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FF3B0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91656" y="2057400"/>
            <a:ext cx="548640" cy="54864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0" name="Image 3" descr="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30" y="218907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91656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Root cause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391656" y="333756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backup nominated for the function head.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8970264" y="182880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198864" y="2057400"/>
            <a:ext cx="548640" cy="54864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5" name="Image 4" descr="Lightbul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0538" y="218907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198864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will do next time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9198864" y="333756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Name a backup for every function head at kickoff.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2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749040"/>
            <a:ext cx="3108960" cy="3108960"/>
          </a:xfrm>
          <a:prstGeom prst="ellipse">
            <a:avLst/>
          </a:prstGeom>
          <a:solidFill>
            <a:srgbClr val="17A2B8">
              <a:alpha val="22000"/>
            </a:srgbClr>
          </a:solidFill>
          <a:ln w="12700">
            <a:solidFill>
              <a:srgbClr val="17A2B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Documents produced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documents published in English, each traced to its data</a:t>
            </a:r>
            <a:endParaRPr lang="en-US" sz="1800" dirty="0"/>
          </a:p>
        </p:txBody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PRODUCED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end-to-end process leaves its document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published, versioned and approved by a second person — 1,077 pages.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produced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44</a:t>
            </a:r>
            <a:endParaRPr lang="en-US" sz="1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65760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Code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Document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Pages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Annual L&amp;D plan and budget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Skills gap diagnosis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needs report and roadmap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Curriculum design document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delivery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Learner engagement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evaluation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ROI and business impact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Compliance and certification register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Internal mobility and career paths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65760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Code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Document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Pages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Onboarding programme record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Knowledge capture and transfer record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Content catalogue and lifecycle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Extended enterprise training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Data, AI and integration governance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Vendor management file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Change and adoption plan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Quality, risk and improvement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Consulting engagement closure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Multi-axis diagnostic and maturity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PRODUCED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Documents produced (continued)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produced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45</a:t>
            </a:r>
            <a:endParaRPr lang="en-US" sz="1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65760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Code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Document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Pages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Previous plan impact evaluation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Multi-site deployment plan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Regulatory submission file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Competitive intelligence note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Job architecture and competency map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Forward planning of jobs and skills (GPEC)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demand consolidation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Performance assessment and RAG dashboard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Functional SWOT and improvement axes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DT-E2E-30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Prioritized resource plan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65760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Code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Document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Pages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DT-E2E-31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Post-engagement roadmap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DT-E2E-32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Scope of work and stakeholder register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DT-E2E-33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Questionnaire campaign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DT-TER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Engineering Report and Training Plan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193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DT-PLAN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plan with detailed agendas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DT-AUDIT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Audit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DT-MASTER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Master list of documented information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TRACEABILITY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number of the report comes from a record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table of this document is drawn from the application’s records; data as of 07/10/2026, 15:27:56.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produced  ·  Demonstration data — fictional organization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46</a:t>
            </a:r>
            <a:endParaRPr lang="en-US" sz="1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4008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05840"/>
                <a:gridCol w="118872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Source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Records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Process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Last change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Questionnaire responses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MP-54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Stakeholder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MP-53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ScopeCriterion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MP-52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SkillAssessment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MP-16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SkillGap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MP-16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TrainingNeed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MP-03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RoadmapInitiative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MP-04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WbsNode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MP-49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Session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MP-05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TrainingPlan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MP-49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Employee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MP-16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StrategicObjective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MP-01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269480" y="1828800"/>
            <a:ext cx="4370832" cy="4023360"/>
          </a:xfrm>
          <a:prstGeom prst="roundRect">
            <a:avLst>
              <a:gd name="adj" fmla="val 2273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98080" y="1965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 of the documents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498080" y="2468880"/>
            <a:ext cx="384048" cy="384048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3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252" y="2561052"/>
            <a:ext cx="199705" cy="199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046720" y="2441448"/>
            <a:ext cx="34290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Author Hicham Naciri, approver Mehdi Lahlou: two different people.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498080" y="352044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6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252" y="3612612"/>
            <a:ext cx="199705" cy="1997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46720" y="3493008"/>
            <a:ext cx="34290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version is kept; a change of the data marks the document as stale.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498080" y="457200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9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252" y="4664172"/>
            <a:ext cx="199705" cy="199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046720" y="4544568"/>
            <a:ext cx="34290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data sources listed with their record counts and process.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INSIDE THE APPLICATION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Training Plan as the users see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produced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783080"/>
            <a:ext cx="55778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Screenshot of the 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486400" cy="34290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plan with detailed agendas — Santéora Private Clinics Group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126480" y="1783080"/>
            <a:ext cx="55778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12" name="Image 2" descr="Screenshot of the applic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5486400" cy="34290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7220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plan screen: programs, trainings and sessions.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INSIDE THE APPLICATION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project workspace and the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produced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783080"/>
            <a:ext cx="55778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Screenshot of the 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486400" cy="34290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workspace: phases, processes and progress.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126480" y="1783080"/>
            <a:ext cx="55778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12" name="Image 2" descr="Screenshot of the applic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5486400" cy="34290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7220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 of the clinic group.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clinic group has at the end of the cycle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5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Conclusion  ·  Demonstration data — fictional organization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384048" cy="384048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9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12" y="2012412"/>
            <a:ext cx="199705" cy="1997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189280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Training Engineering Report of 193 pages, built from 35 answers, 40 stakeholders and the diagnosis of every function.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269748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2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2" y="2789652"/>
            <a:ext cx="199705" cy="199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267004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locked Training Plan: 6 trainings, half-day agendas, a value proposition per persona and a budget of 1,260,000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48640" y="347472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5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3566892"/>
            <a:ext cx="199705" cy="1997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97280" y="344728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Evaluation at three Kirkpatrick levels, an ROI study, followed certifications and an internal audit with one minor nonconformity to correct.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548640" y="425196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8" name="Image 4" descr="CircleDo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2" y="4344132"/>
            <a:ext cx="199705" cy="199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97280" y="422452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published documents ready for an accreditation audit (ISO 7101, JCI), each traced to the data and the step that produced it.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548640" y="502920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1" name="Image 5" descr="Targ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2" y="5121372"/>
            <a:ext cx="199705" cy="19970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97280" y="500176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Next: waves 2 and 3 of the roadmap and the level-4 (results) evaluation six to twelve months after the trainings.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2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9928" y="1371600"/>
            <a:ext cx="3291840" cy="234452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406908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0" y="4892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28C8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MEASURABLE · GOVERNED · SUSTAINABLE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AI Value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full case — Training engineering project</dc:title>
  <dc:subject>PptxGenJS Presentation</dc:subject>
  <dc:creator>AI Value</dc:creator>
  <cp:lastModifiedBy>AI Value</cp:lastModifiedBy>
  <cp:revision>1</cp:revision>
  <dcterms:created xsi:type="dcterms:W3CDTF">2026-10-12T19:13:58Z</dcterms:created>
  <dcterms:modified xsi:type="dcterms:W3CDTF">2026-10-12T19:13:58Z</dcterms:modified>
</cp:coreProperties>
</file>
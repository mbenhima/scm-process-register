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2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3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4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5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charts/chart6.xml" ContentType="application/vnd.openxmlformats-officedocument.drawingml.chart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charts/chart7.xml" ContentType="application/vnd.openxmlformats-officedocument.drawingml.chart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charts/chart8.xml" ContentType="application/vnd.openxmlformats-officedocument.drawingml.chart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notesMasterIdLst>
    <p:notesMasterId r:id="rId5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notesMaster" Target="notesMasters/notesMaster1.xml"/><Relationship Id="rId53" Type="http://schemas.openxmlformats.org/officeDocument/2006/relationships/presProps" Target="presProps.xml"/><Relationship Id="rId54" Type="http://schemas.openxmlformats.org/officeDocument/2006/relationships/viewProps" Target="viewProps.xml"/><Relationship Id="rId55" Type="http://schemas.openxmlformats.org/officeDocument/2006/relationships/theme" Target="theme/theme1.xml"/><Relationship Id="rId5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General Manager</c:v>
                </c:pt>
              </c:strCache>
            </c:strRef>
          </c:tx>
          <c:spPr>
            <a:solidFill>
              <a:srgbClr val="123A5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23A5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Operations</c:v>
                  </c:pt>
                  <c:pt idx="1">
                    <c:v>Quality &amp; HSE</c:v>
                  </c:pt>
                  <c:pt idx="2">
                    <c:v>Finance</c:v>
                  </c:pt>
                  <c:pt idx="3">
                    <c:v>Human Resources</c:v>
                  </c:pt>
                  <c:pt idx="4">
                    <c:v>Sales &amp; Marketing</c:v>
                  </c:pt>
                  <c:pt idx="5">
                    <c:v>Information Systems</c:v>
                  </c:pt>
                  <c:pt idx="6">
                    <c:v>Clinical Care &amp; Nursing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Management</c:v>
                </c:pt>
              </c:strCache>
            </c:strRef>
          </c:tx>
          <c:spPr>
            <a:solidFill>
              <a:srgbClr val="1876C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23A5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Operations</c:v>
                  </c:pt>
                  <c:pt idx="1">
                    <c:v>Quality &amp; HSE</c:v>
                  </c:pt>
                  <c:pt idx="2">
                    <c:v>Finance</c:v>
                  </c:pt>
                  <c:pt idx="3">
                    <c:v>Human Resources</c:v>
                  </c:pt>
                  <c:pt idx="4">
                    <c:v>Sales &amp; Marketing</c:v>
                  </c:pt>
                  <c:pt idx="5">
                    <c:v>Information Systems</c:v>
                  </c:pt>
                  <c:pt idx="6">
                    <c:v>Clinical Care &amp; Nursing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</c:v>
                </c:pt>
                <c:pt idx="1">
                  <c:v>4</c:v>
                </c:pt>
                <c:pt idx="2">
                  <c:v>4</c:v>
                </c:pt>
                <c:pt idx="3">
                  <c:v>4</c:v>
                </c:pt>
                <c:pt idx="4">
                  <c:v>4</c:v>
                </c:pt>
                <c:pt idx="5">
                  <c:v>3</c:v>
                </c:pt>
                <c:pt idx="6">
                  <c:v>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Team member</c:v>
                </c:pt>
              </c:strCache>
            </c:strRef>
          </c:tx>
          <c:spPr>
            <a:solidFill>
              <a:srgbClr val="17A2B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23A5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Operations</c:v>
                  </c:pt>
                  <c:pt idx="1">
                    <c:v>Quality &amp; HSE</c:v>
                  </c:pt>
                  <c:pt idx="2">
                    <c:v>Finance</c:v>
                  </c:pt>
                  <c:pt idx="3">
                    <c:v>Human Resources</c:v>
                  </c:pt>
                  <c:pt idx="4">
                    <c:v>Sales &amp; Marketing</c:v>
                  </c:pt>
                  <c:pt idx="5">
                    <c:v>Information Systems</c:v>
                  </c:pt>
                  <c:pt idx="6">
                    <c:v>Clinical Care &amp; Nursing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</c:v>
                </c:pt>
                <c:pt idx="1">
                  <c:v>2</c:v>
                </c:pt>
                <c:pt idx="2">
                  <c:v>2</c:v>
                </c:pt>
                <c:pt idx="3">
                  <c:v>2</c:v>
                </c:pt>
                <c:pt idx="4">
                  <c:v>2</c:v>
                </c:pt>
                <c:pt idx="5">
                  <c:v>2</c:v>
                </c:pt>
                <c:pt idx="6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000" u="none">
                  <a:solidFill>
                    <a:srgbClr val="123A5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E1E8F0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7B"/>
                </a:solidFill>
                <a:latin typeface="Open Sa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9525" cap="flat">
              <a:solidFill>
                <a:srgbClr val="E1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7B"/>
                </a:solidFill>
                <a:latin typeface="Open Sa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A6B7B"/>
              </a:solidFill>
              <a:latin typeface="Open Sans"/>
              <a:cs typeface="Open San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Response rate (%)</c:v>
                </c:pt>
              </c:strCache>
            </c:strRef>
          </c:tx>
          <c:spPr>
            <a:solidFill>
              <a:srgbClr val="1876C6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23A5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Operations</c:v>
                  </c:pt>
                  <c:pt idx="1">
                    <c:v>Quality &amp; HSE</c:v>
                  </c:pt>
                  <c:pt idx="2">
                    <c:v>Human Resources</c:v>
                  </c:pt>
                  <c:pt idx="3">
                    <c:v>Sales &amp; Marketing</c:v>
                  </c:pt>
                  <c:pt idx="4">
                    <c:v>Information Systems</c:v>
                  </c:pt>
                  <c:pt idx="5">
                    <c:v>Clinical Care &amp; Nursing</c:v>
                  </c:pt>
                  <c:pt idx="6">
                    <c:v>Finance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83</c:v>
                </c:pt>
                <c:pt idx="1">
                  <c:v>83</c:v>
                </c:pt>
                <c:pt idx="2">
                  <c:v>83</c:v>
                </c:pt>
                <c:pt idx="3">
                  <c:v>83</c:v>
                </c:pt>
                <c:pt idx="4">
                  <c:v>100</c:v>
                </c:pt>
                <c:pt idx="5">
                  <c:v>100</c:v>
                </c:pt>
                <c:pt idx="6">
                  <c:v>83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000" u="none">
                  <a:solidFill>
                    <a:srgbClr val="123A5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E1E8F0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7B"/>
                </a:solidFill>
                <a:latin typeface="Open Sa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9525" cap="flat">
              <a:solidFill>
                <a:srgbClr val="E1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7B"/>
                </a:solidFill>
                <a:latin typeface="Open Sa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radarChart>
        <c:radarStyle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 (out of 5)</c:v>
                </c:pt>
              </c:strCache>
            </c:strRef>
          </c:tx>
          <c:spPr>
            <a:solidFill>
              <a:srgbClr val="1876C6"/>
            </a:solidFill>
            <a:ln w="25400" cap="flat">
              <a:solidFill>
                <a:srgbClr val="1876C6"/>
              </a:solidFill>
              <a:prstDash val="solid,dash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1876C6"/>
              </a:solidFill>
              <a:ln w="9525" cap="flat">
                <a:solidFill>
                  <a:srgbClr val="1876C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Strategy</c:v>
                  </c:pt>
                  <c:pt idx="1">
                    <c:v>Organization</c:v>
                  </c:pt>
                  <c:pt idx="2">
                    <c:v>Processes</c:v>
                  </c:pt>
                  <c:pt idx="3">
                    <c:v>People and skills</c:v>
                  </c:pt>
                  <c:pt idx="4">
                    <c:v>Information systems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3.4</c:v>
                </c:pt>
                <c:pt idx="1">
                  <c:v>2.8</c:v>
                </c:pt>
                <c:pt idx="2">
                  <c:v>2.6</c:v>
                </c:pt>
                <c:pt idx="3">
                  <c:v>3.1</c:v>
                </c:pt>
                <c:pt idx="4">
                  <c:v>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</c:v>
                </c:pt>
              </c:strCache>
            </c:strRef>
          </c:tx>
          <c:spPr>
            <a:solidFill>
              <a:srgbClr val="5A6B7B"/>
            </a:solidFill>
            <a:ln w="25400" cap="flat">
              <a:solidFill>
                <a:srgbClr val="5A6B7B"/>
              </a:solidFill>
              <a:prstDash val="solid,dash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5A6B7B"/>
              </a:solidFill>
              <a:ln w="9525" cap="flat">
                <a:solidFill>
                  <a:srgbClr val="5A6B7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Strategy</c:v>
                  </c:pt>
                  <c:pt idx="1">
                    <c:v>Organization</c:v>
                  </c:pt>
                  <c:pt idx="2">
                    <c:v>Processes</c:v>
                  </c:pt>
                  <c:pt idx="3">
                    <c:v>People and skills</c:v>
                  </c:pt>
                  <c:pt idx="4">
                    <c:v>Information systems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</c:v>
                </c:pt>
                <c:pt idx="1">
                  <c:v>4</c:v>
                </c:pt>
                <c:pt idx="2">
                  <c:v>4</c:v>
                </c:pt>
                <c:pt idx="3">
                  <c:v>4</c:v>
                </c:pt>
                <c:pt idx="4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000" u="none">
                  <a:solidFill>
                    <a:srgbClr val="123A5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2094734554"/>
        <c:axId val="2094734552"/>
      </c:rad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1E8F0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7B"/>
                </a:solidFill>
                <a:latin typeface="Open Sa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"/>
          <c:min val="0"/>
        </c:scaling>
        <c:delete val="0"/>
        <c:axPos val="l"/>
        <c:majorGridlines>
          <c:spPr>
            <a:ln w="9525" cap="flat">
              <a:solidFill>
                <a:srgbClr val="E1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7B"/>
                </a:solidFill>
                <a:latin typeface="Open Sa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A6B7B"/>
              </a:solidFill>
              <a:latin typeface="Open Sans"/>
              <a:cs typeface="Open San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Mentions</c:v>
                </c:pt>
              </c:strCache>
            </c:strRef>
          </c:tx>
          <c:spPr>
            <a:solidFill>
              <a:srgbClr val="1876C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23A5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AI triage and clinical decision support</c:v>
                  </c:pt>
                  <c:pt idx="1">
                    <c:v>AI medical imaging assistance</c:v>
                  </c:pt>
                  <c:pt idx="2">
                    <c:v>AI bed and staff capacity planning</c:v>
                  </c:pt>
                  <c:pt idx="3">
                    <c:v>Communication with the team</c:v>
                  </c:pt>
                  <c:pt idx="4">
                    <c:v>Problem solving</c:v>
                  </c:pt>
                  <c:pt idx="5">
                    <c:v>Time management and priorities</c:v>
                  </c:pt>
                  <c:pt idx="6">
                    <c:v>ISO 7101 requirements</c:v>
                  </c:pt>
                  <c:pt idx="7">
                    <c:v>Dashboards</c:v>
                  </c:pt>
                  <c:pt idx="8">
                    <c:v>data quality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94</c:v>
                </c:pt>
                <c:pt idx="1">
                  <c:v>94</c:v>
                </c:pt>
                <c:pt idx="2">
                  <c:v>91</c:v>
                </c:pt>
                <c:pt idx="3">
                  <c:v>89</c:v>
                </c:pt>
                <c:pt idx="4">
                  <c:v>89</c:v>
                </c:pt>
                <c:pt idx="5">
                  <c:v>70</c:v>
                </c:pt>
                <c:pt idx="6">
                  <c:v>52</c:v>
                </c:pt>
                <c:pt idx="7">
                  <c:v>52</c:v>
                </c:pt>
                <c:pt idx="8">
                  <c:v>27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000" u="none">
                  <a:solidFill>
                    <a:srgbClr val="123A5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E1E8F0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7B"/>
                </a:solidFill>
                <a:latin typeface="Open Sa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9525" cap="flat">
              <a:solidFill>
                <a:srgbClr val="E1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7B"/>
                </a:solidFill>
                <a:latin typeface="Open Sa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respondents</c:v>
                </c:pt>
              </c:strCache>
            </c:strRef>
          </c:tx>
          <c:spPr>
            <a:solidFill>
              <a:srgbClr val="17A2B8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23A5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Personal productivity</c:v>
                  </c:pt>
                  <c:pt idx="1">
                    <c:v>Personal leadership</c:v>
                  </c:pt>
                  <c:pt idx="2">
                    <c:v>Leadership applied to teams</c:v>
                  </c:pt>
                  <c:pt idx="3">
                    <c:v>Leadership of a sub-function of t…</c:v>
                  </c:pt>
                  <c:pt idx="4">
                    <c:v>Leadership of a function or of th…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28.4</c:v>
                </c:pt>
                <c:pt idx="1">
                  <c:v>18.3</c:v>
                </c:pt>
                <c:pt idx="2">
                  <c:v>12.4</c:v>
                </c:pt>
                <c:pt idx="3">
                  <c:v>7.8</c:v>
                </c:pt>
                <c:pt idx="4">
                  <c:v>3.6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1" i="0" strike="noStrike" sz="1000" u="none">
                  <a:solidFill>
                    <a:srgbClr val="123A5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E1E8F0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A6B7B"/>
                </a:solidFill>
                <a:latin typeface="Open Sa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9525" cap="flat">
              <a:solidFill>
                <a:srgbClr val="E1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7B"/>
                </a:solidFill>
                <a:latin typeface="Open Sa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Budget</c:v>
                </c:pt>
              </c:strCache>
            </c:strRef>
          </c:tx>
          <c:spPr>
            <a:solidFill>
              <a:srgbClr val="1876C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23A5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AI triage and clinical deci…</c:v>
                  </c:pt>
                  <c:pt idx="1">
                    <c:v>AI medical imaging assistan…</c:v>
                  </c:pt>
                  <c:pt idx="2">
                    <c:v>AI bed and staff capacity p…</c:v>
                  </c:pt>
                  <c:pt idx="3">
                    <c:v>AI literacy for all staff</c:v>
                  </c:pt>
                  <c:pt idx="4">
                    <c:v>Prompting and generative AI…</c:v>
                  </c:pt>
                  <c:pt idx="5">
                    <c:v>Responsible AI and data pro…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360000</c:v>
                </c:pt>
                <c:pt idx="1">
                  <c:v>300000</c:v>
                </c:pt>
                <c:pt idx="2">
                  <c:v>240000</c:v>
                </c:pt>
                <c:pt idx="3">
                  <c:v>180000</c:v>
                </c:pt>
                <c:pt idx="4">
                  <c:v>120000</c:v>
                </c:pt>
                <c:pt idx="5">
                  <c:v>60000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000" u="none">
                  <a:solidFill>
                    <a:srgbClr val="123A5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E1E8F0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7B"/>
                </a:solidFill>
                <a:latin typeface="Open Sa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9525" cap="flat">
              <a:solidFill>
                <a:srgbClr val="E1E8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7B"/>
                </a:solidFill>
                <a:latin typeface="Open Sa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Allocated</c:v>
                </c:pt>
              </c:strCache>
            </c:strRef>
          </c:tx>
          <c:spPr>
            <a:solidFill>
              <a:srgbClr val="5A6B7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23A5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AI triage and clinical de…</c:v>
                  </c:pt>
                  <c:pt idx="1">
                    <c:v>AI medical imaging assist…</c:v>
                  </c:pt>
                  <c:pt idx="2">
                    <c:v>AI bed and staff capacity…</c:v>
                  </c:pt>
                  <c:pt idx="3">
                    <c:v>AI literacy for all staff</c:v>
                  </c:pt>
                  <c:pt idx="4">
                    <c:v>Prompting and generative …</c:v>
                  </c:pt>
                  <c:pt idx="5">
                    <c:v>Responsible AI and data p…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360000</c:v>
                </c:pt>
                <c:pt idx="1">
                  <c:v>300000</c:v>
                </c:pt>
                <c:pt idx="2">
                  <c:v>240000</c:v>
                </c:pt>
                <c:pt idx="3">
                  <c:v>180000</c:v>
                </c:pt>
                <c:pt idx="4">
                  <c:v>120000</c:v>
                </c:pt>
                <c:pt idx="5">
                  <c:v>60000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Actual</c:v>
                </c:pt>
              </c:strCache>
            </c:strRef>
          </c:tx>
          <c:spPr>
            <a:solidFill>
              <a:srgbClr val="1876C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23A5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AI triage and clinical de…</c:v>
                  </c:pt>
                  <c:pt idx="1">
                    <c:v>AI medical imaging assist…</c:v>
                  </c:pt>
                  <c:pt idx="2">
                    <c:v>AI bed and staff capacity…</c:v>
                  </c:pt>
                  <c:pt idx="3">
                    <c:v>AI literacy for all staff</c:v>
                  </c:pt>
                  <c:pt idx="4">
                    <c:v>Prompting and generative …</c:v>
                  </c:pt>
                  <c:pt idx="5">
                    <c:v>Responsible AI and data p…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354598</c:v>
                </c:pt>
                <c:pt idx="1">
                  <c:v>295234</c:v>
                </c:pt>
                <c:pt idx="2">
                  <c:v>244886</c:v>
                </c:pt>
                <c:pt idx="3">
                  <c:v>159533</c:v>
                </c:pt>
                <c:pt idx="4">
                  <c:v>123413</c:v>
                </c:pt>
                <c:pt idx="5">
                  <c:v>60833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000" u="none">
                  <a:solidFill>
                    <a:srgbClr val="123A5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1E8F0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A6B7B"/>
                </a:solidFill>
                <a:latin typeface="Open Sa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1E8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7B"/>
                </a:solidFill>
                <a:latin typeface="Open Sa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A6B7B"/>
              </a:solidFill>
              <a:latin typeface="Open Sans"/>
              <a:cs typeface="Open San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Findings</c:v>
                </c:pt>
              </c:strCache>
            </c:strRef>
          </c:tx>
          <c:spPr>
            <a:solidFill>
              <a:srgbClr val="1876C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23A5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Major nonconformity</c:v>
                  </c:pt>
                  <c:pt idx="1">
                    <c:v>Minor nonconformity</c:v>
                  </c:pt>
                  <c:pt idx="2">
                    <c:v>Observation</c:v>
                  </c:pt>
                  <c:pt idx="3">
                    <c:v>Opportunity for improvement</c:v>
                  </c:pt>
                  <c:pt idx="4">
                    <c:v>Strength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000" u="none">
                  <a:solidFill>
                    <a:srgbClr val="123A5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E1E8F0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7B"/>
                </a:solidFill>
                <a:latin typeface="Open Sa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"/>
        </c:scaling>
        <c:delete val="0"/>
        <c:axPos val="b"/>
        <c:majorGridlines>
          <c:spPr>
            <a:ln w="9525" cap="flat">
              <a:solidFill>
                <a:srgbClr val="E1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7B"/>
                </a:solidFill>
                <a:latin typeface="Open Sa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1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1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.xml"/><Relationship Id="rId1" Type="http://schemas.openxmlformats.org/officeDocument/2006/relationships/image" Target="../media/image-1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image-1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5.xml"/><Relationship Id="rId1" Type="http://schemas.openxmlformats.org/officeDocument/2006/relationships/image" Target="../media/image-1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1" Type="http://schemas.openxmlformats.org/officeDocument/2006/relationships/image" Target="../media/image-3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image" Target="../media/image-34-3.png"/><Relationship Id="rId4" Type="http://schemas.openxmlformats.org/officeDocument/2006/relationships/image" Target="../media/image-3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7.xml"/><Relationship Id="rId1" Type="http://schemas.openxmlformats.org/officeDocument/2006/relationships/image" Target="../media/image-3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image" Target="../media/image-38-3.png"/><Relationship Id="rId4" Type="http://schemas.openxmlformats.org/officeDocument/2006/relationships/image" Target="../media/image-3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image" Target="../media/image-39-3.png"/><Relationship Id="rId4" Type="http://schemas.openxmlformats.org/officeDocument/2006/relationships/image" Target="../media/image-3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image" Target="../media/image-40-3.png"/><Relationship Id="rId4" Type="http://schemas.openxmlformats.org/officeDocument/2006/relationships/image" Target="../media/image-40-4.png"/><Relationship Id="rId5" Type="http://schemas.openxmlformats.org/officeDocument/2006/relationships/image" Target="../media/image-4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8.xml"/><Relationship Id="rId1" Type="http://schemas.openxmlformats.org/officeDocument/2006/relationships/image" Target="../media/image-4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image" Target="../media/image-42-3.png"/><Relationship Id="rId4" Type="http://schemas.openxmlformats.org/officeDocument/2006/relationships/image" Target="../media/image-42-4.png"/><Relationship Id="rId5" Type="http://schemas.openxmlformats.org/officeDocument/2006/relationships/image" Target="../media/image-4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image" Target="../media/image-46-3.png"/><Relationship Id="rId4" Type="http://schemas.openxmlformats.org/officeDocument/2006/relationships/image" Target="../media/image-4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image" Target="../media/image-4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image" Target="../media/image-4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49-2.png"/><Relationship Id="rId3" Type="http://schemas.openxmlformats.org/officeDocument/2006/relationships/image" Target="../media/image-49-3.png"/><Relationship Id="rId4" Type="http://schemas.openxmlformats.org/officeDocument/2006/relationships/image" Target="../media/image-49-4.png"/><Relationship Id="rId5" Type="http://schemas.openxmlformats.org/officeDocument/2006/relationships/image" Target="../media/image-49-5.png"/><Relationship Id="rId6" Type="http://schemas.openxmlformats.org/officeDocument/2006/relationships/image" Target="../media/image-4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A5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8138160" y="-2011680"/>
            <a:ext cx="6858000" cy="6858000"/>
          </a:xfrm>
          <a:prstGeom prst="ellipse">
            <a:avLst/>
          </a:prstGeom>
          <a:solidFill>
            <a:srgbClr val="1876C6">
              <a:alpha val="18000"/>
            </a:srgbClr>
          </a:solidFill>
          <a:ln w="12700">
            <a:solidFill>
              <a:srgbClr val="1876C6">
                <a:alpha val="0"/>
              </a:srgbClr>
            </a:solidFill>
            <a:prstDash val="solid"/>
          </a:ln>
        </p:spPr>
      </p:sp>
      <p:pic>
        <p:nvPicPr>
          <p:cNvPr id="4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2743200" cy="50673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1828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28C87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FULL CASE · HEALTHCARE · 2026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2240280"/>
            <a:ext cx="5760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 skills training engineering at a private clinic group</a:t>
            </a:r>
            <a:endParaRPr lang="en-US" sz="36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4069080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Santéora Private Clinics Group: the project, the Training Engineering Report, the Training Plan and every document produced with CortexSkills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608076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8C87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MEASURABLE · GOVERNED · SUSTAINABLE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6537960" y="1691640"/>
            <a:ext cx="5212080" cy="329184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0" name="Image 1" descr="CortexSkill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737360"/>
            <a:ext cx="512064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AGENDA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How the case is presented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Agenda  ·  Demonstration data — fictional organization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548640" y="1828800"/>
            <a:ext cx="352044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822960" y="2103120"/>
            <a:ext cx="640080" cy="640080"/>
          </a:xfrm>
          <a:prstGeom prst="ellipse">
            <a:avLst/>
          </a:prstGeom>
          <a:solidFill>
            <a:srgbClr val="1876C6"/>
          </a:solidFill>
          <a:ln w="12700">
            <a:solidFill>
              <a:srgbClr val="1876C6"/>
            </a:solidFill>
            <a:prstDash val="solid"/>
          </a:ln>
        </p:spPr>
      </p:sp>
      <p:pic>
        <p:nvPicPr>
          <p:cNvPr id="11" name="Image 1" descr="Hospit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579" y="2256739"/>
            <a:ext cx="332842" cy="33284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200400" y="21488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2200" dirty="0"/>
          </a:p>
        </p:txBody>
      </p:sp>
      <p:sp>
        <p:nvSpPr>
          <p:cNvPr id="13" name="Text 8"/>
          <p:cNvSpPr txBox="1"/>
          <p:nvPr/>
        </p:nvSpPr>
        <p:spPr>
          <a:xfrm>
            <a:off x="822960" y="28346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clinic group and the project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822960" y="32186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Context, charter, scope, method, schedule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4297680" y="1828800"/>
            <a:ext cx="352044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4572000" y="2103120"/>
            <a:ext cx="640080" cy="640080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17" name="Image 2" descr="Stethoscop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5619" y="2256739"/>
            <a:ext cx="332842" cy="33284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949440" y="21488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2200" dirty="0"/>
          </a:p>
        </p:txBody>
      </p:sp>
      <p:sp>
        <p:nvSpPr>
          <p:cNvPr id="19" name="Text 13"/>
          <p:cNvSpPr txBox="1"/>
          <p:nvPr/>
        </p:nvSpPr>
        <p:spPr>
          <a:xfrm>
            <a:off x="4572000" y="28346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Diagnosis</a:t>
            </a:r>
            <a:endParaRPr lang="en-US" sz="1600" dirty="0"/>
          </a:p>
        </p:txBody>
      </p:sp>
      <p:sp>
        <p:nvSpPr>
          <p:cNvPr id="20" name="Text 14"/>
          <p:cNvSpPr txBox="1"/>
          <p:nvPr/>
        </p:nvSpPr>
        <p:spPr>
          <a:xfrm>
            <a:off x="4572000" y="32186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Questionnaires, maturity, gaps, needs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8046720" y="1828800"/>
            <a:ext cx="352044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8321040" y="2103120"/>
            <a:ext cx="640080" cy="640080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23" name="Image 3" descr="FileTex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4659" y="2256739"/>
            <a:ext cx="332842" cy="332842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0698480" y="21488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2200" dirty="0"/>
          </a:p>
        </p:txBody>
      </p:sp>
      <p:sp>
        <p:nvSpPr>
          <p:cNvPr id="25" name="Text 18"/>
          <p:cNvSpPr txBox="1"/>
          <p:nvPr/>
        </p:nvSpPr>
        <p:spPr>
          <a:xfrm>
            <a:off x="8321040" y="28346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Training Engineering Report</a:t>
            </a:r>
            <a:endParaRPr lang="en-US" sz="1600" dirty="0"/>
          </a:p>
        </p:txBody>
      </p:sp>
      <p:sp>
        <p:nvSpPr>
          <p:cNvPr id="26" name="Text 19"/>
          <p:cNvSpPr txBox="1"/>
          <p:nvPr/>
        </p:nvSpPr>
        <p:spPr>
          <a:xfrm>
            <a:off x="8321040" y="32186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Structure, findings, roadmap, risks</a:t>
            </a:r>
            <a:endParaRPr lang="en-US" sz="1250" dirty="0"/>
          </a:p>
        </p:txBody>
      </p:sp>
      <p:sp>
        <p:nvSpPr>
          <p:cNvPr id="27" name="Shape 20"/>
          <p:cNvSpPr/>
          <p:nvPr/>
        </p:nvSpPr>
        <p:spPr>
          <a:xfrm>
            <a:off x="548640" y="3977640"/>
            <a:ext cx="352044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28" name="Shape 21"/>
          <p:cNvSpPr/>
          <p:nvPr/>
        </p:nvSpPr>
        <p:spPr>
          <a:xfrm>
            <a:off x="822960" y="4251960"/>
            <a:ext cx="640080" cy="640080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29" name="Image 4" descr="GraduationCap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6579" y="4405579"/>
            <a:ext cx="332842" cy="332842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3200400" y="42976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2200" dirty="0"/>
          </a:p>
        </p:txBody>
      </p:sp>
      <p:sp>
        <p:nvSpPr>
          <p:cNvPr id="31" name="Text 23"/>
          <p:cNvSpPr txBox="1"/>
          <p:nvPr/>
        </p:nvSpPr>
        <p:spPr>
          <a:xfrm>
            <a:off x="822960" y="49834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Training Plan</a:t>
            </a:r>
            <a:endParaRPr lang="en-US" sz="1600" dirty="0"/>
          </a:p>
        </p:txBody>
      </p:sp>
      <p:sp>
        <p:nvSpPr>
          <p:cNvPr id="32" name="Text 24"/>
          <p:cNvSpPr txBox="1"/>
          <p:nvPr/>
        </p:nvSpPr>
        <p:spPr>
          <a:xfrm>
            <a:off x="822960" y="536752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Programs, agendas, design, budget</a:t>
            </a:r>
            <a:endParaRPr lang="en-US" sz="1250" dirty="0"/>
          </a:p>
        </p:txBody>
      </p:sp>
      <p:sp>
        <p:nvSpPr>
          <p:cNvPr id="33" name="Shape 25"/>
          <p:cNvSpPr/>
          <p:nvPr/>
        </p:nvSpPr>
        <p:spPr>
          <a:xfrm>
            <a:off x="4297680" y="3977640"/>
            <a:ext cx="352044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34" name="Shape 26"/>
          <p:cNvSpPr/>
          <p:nvPr/>
        </p:nvSpPr>
        <p:spPr>
          <a:xfrm>
            <a:off x="4572000" y="4251960"/>
            <a:ext cx="640080" cy="640080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35" name="Image 5" descr="ChartColum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25619" y="4405579"/>
            <a:ext cx="332842" cy="332842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6949440" y="42976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05</a:t>
            </a:r>
            <a:endParaRPr lang="en-US" sz="2200" dirty="0"/>
          </a:p>
        </p:txBody>
      </p:sp>
      <p:sp>
        <p:nvSpPr>
          <p:cNvPr id="37" name="Text 28"/>
          <p:cNvSpPr txBox="1"/>
          <p:nvPr/>
        </p:nvSpPr>
        <p:spPr>
          <a:xfrm>
            <a:off x="4572000" y="49834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Delivery, evaluation and audit</a:t>
            </a:r>
            <a:endParaRPr lang="en-US" sz="1600" dirty="0"/>
          </a:p>
        </p:txBody>
      </p:sp>
      <p:sp>
        <p:nvSpPr>
          <p:cNvPr id="38" name="Text 29"/>
          <p:cNvSpPr txBox="1"/>
          <p:nvPr/>
        </p:nvSpPr>
        <p:spPr>
          <a:xfrm>
            <a:off x="4572000" y="536752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Sessions, Kirkpatrick, ROI, audit</a:t>
            </a:r>
            <a:endParaRPr lang="en-US" sz="1250" dirty="0"/>
          </a:p>
        </p:txBody>
      </p:sp>
      <p:sp>
        <p:nvSpPr>
          <p:cNvPr id="39" name="Shape 30"/>
          <p:cNvSpPr/>
          <p:nvPr/>
        </p:nvSpPr>
        <p:spPr>
          <a:xfrm>
            <a:off x="8046720" y="3977640"/>
            <a:ext cx="352044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40" name="Shape 31"/>
          <p:cNvSpPr/>
          <p:nvPr/>
        </p:nvSpPr>
        <p:spPr>
          <a:xfrm>
            <a:off x="8321040" y="4251960"/>
            <a:ext cx="640080" cy="640080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41" name="Image 6" descr="FileStack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74659" y="4405579"/>
            <a:ext cx="332842" cy="332842"/>
          </a:xfrm>
          <a:prstGeom prst="rect">
            <a:avLst/>
          </a:prstGeom>
        </p:spPr>
      </p:pic>
      <p:sp>
        <p:nvSpPr>
          <p:cNvPr id="42" name="Text 32"/>
          <p:cNvSpPr txBox="1"/>
          <p:nvPr/>
        </p:nvSpPr>
        <p:spPr>
          <a:xfrm>
            <a:off x="10698480" y="42976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06</a:t>
            </a:r>
            <a:endParaRPr lang="en-US" sz="2200" dirty="0"/>
          </a:p>
        </p:txBody>
      </p:sp>
      <p:sp>
        <p:nvSpPr>
          <p:cNvPr id="43" name="Text 33"/>
          <p:cNvSpPr txBox="1"/>
          <p:nvPr/>
        </p:nvSpPr>
        <p:spPr>
          <a:xfrm>
            <a:off x="8321040" y="49834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Documents produced</a:t>
            </a:r>
            <a:endParaRPr lang="en-US" sz="1600" dirty="0"/>
          </a:p>
        </p:txBody>
      </p:sp>
      <p:sp>
        <p:nvSpPr>
          <p:cNvPr id="44" name="Text 34"/>
          <p:cNvSpPr txBox="1"/>
          <p:nvPr/>
        </p:nvSpPr>
        <p:spPr>
          <a:xfrm>
            <a:off x="8321040" y="536752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37 published documents, traced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EXECUTIVE SUMMARY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complete AI skills cycle, documented end to end</a:t>
            </a:r>
            <a:endParaRPr lang="en-US" sz="23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16736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Santéora Private Clinics Group · 2,600 employees · AI Skills Full Run 2026 — Santéora Private Clinics Group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7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Executive summary  ·  Demonstration data — fictional organization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548640" y="1828800"/>
            <a:ext cx="265176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49808" y="2048256"/>
            <a:ext cx="457200" cy="457200"/>
          </a:xfrm>
          <a:prstGeom prst="ellipse">
            <a:avLst/>
          </a:prstGeom>
          <a:solidFill>
            <a:srgbClr val="28C87C"/>
          </a:solidFill>
          <a:ln w="12700">
            <a:solidFill>
              <a:srgbClr val="28C87C"/>
            </a:solidFill>
            <a:prstDash val="solid"/>
          </a:ln>
        </p:spPr>
      </p:sp>
      <p:pic>
        <p:nvPicPr>
          <p:cNvPr id="12" name="Image 1" descr="Circle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" y="2157984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1975104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100 %</a:t>
            </a:r>
            <a:endParaRPr lang="en-US" sz="2500" dirty="0"/>
          </a:p>
        </p:txBody>
      </p:sp>
      <p:sp>
        <p:nvSpPr>
          <p:cNvPr id="14" name="Text 9"/>
          <p:cNvSpPr txBox="1"/>
          <p:nvPr/>
        </p:nvSpPr>
        <p:spPr>
          <a:xfrm>
            <a:off x="749808" y="2596896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of the run completed — 35 end-to-end processes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3355848" y="1828800"/>
            <a:ext cx="265176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3557016" y="2048256"/>
            <a:ext cx="457200" cy="457200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17" name="Image 2" descr="ClipboardLis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6744" y="2157984"/>
            <a:ext cx="237744" cy="23774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4133088" y="1975104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35 / 40</a:t>
            </a:r>
            <a:endParaRPr lang="en-US" sz="2500" dirty="0"/>
          </a:p>
        </p:txBody>
      </p:sp>
      <p:sp>
        <p:nvSpPr>
          <p:cNvPr id="19" name="Text 13"/>
          <p:cNvSpPr txBox="1"/>
          <p:nvPr/>
        </p:nvSpPr>
        <p:spPr>
          <a:xfrm>
            <a:off x="3557016" y="2596896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people answered the questionnaires (88 %)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6163056" y="1828800"/>
            <a:ext cx="265176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6364224" y="2048256"/>
            <a:ext cx="457200" cy="457200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22" name="Image 3" descr="GraduationCa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3952" y="2157984"/>
            <a:ext cx="237744" cy="237744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940296" y="1975104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</a:t>
            </a:r>
            <a:endParaRPr lang="en-US" sz="2500" dirty="0"/>
          </a:p>
        </p:txBody>
      </p:sp>
      <p:sp>
        <p:nvSpPr>
          <p:cNvPr id="24" name="Text 17"/>
          <p:cNvSpPr txBox="1"/>
          <p:nvPr/>
        </p:nvSpPr>
        <p:spPr>
          <a:xfrm>
            <a:off x="6364224" y="2596896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trainings in 2 programs, prioritized by impact</a:t>
            </a:r>
            <a:endParaRPr lang="en-US" sz="1100" dirty="0"/>
          </a:p>
        </p:txBody>
      </p:sp>
      <p:sp>
        <p:nvSpPr>
          <p:cNvPr id="25" name="Shape 18"/>
          <p:cNvSpPr/>
          <p:nvPr/>
        </p:nvSpPr>
        <p:spPr>
          <a:xfrm>
            <a:off x="8970264" y="1828800"/>
            <a:ext cx="265176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9171432" y="2048256"/>
            <a:ext cx="457200" cy="457200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27" name="Image 4" descr="Walle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81160" y="2157984"/>
            <a:ext cx="237744" cy="237744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9747504" y="1975104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1,260,000</a:t>
            </a:r>
            <a:endParaRPr lang="en-US" sz="2500" dirty="0"/>
          </a:p>
        </p:txBody>
      </p:sp>
      <p:sp>
        <p:nvSpPr>
          <p:cNvPr id="29" name="Text 21"/>
          <p:cNvSpPr txBox="1"/>
          <p:nvPr/>
        </p:nvSpPr>
        <p:spPr>
          <a:xfrm>
            <a:off x="9171432" y="2596896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training budget; 1,238,497 spent</a:t>
            </a:r>
            <a:endParaRPr lang="en-US" sz="1100" dirty="0"/>
          </a:p>
        </p:txBody>
      </p:sp>
      <p:sp>
        <p:nvSpPr>
          <p:cNvPr id="30" name="Shape 22"/>
          <p:cNvSpPr/>
          <p:nvPr/>
        </p:nvSpPr>
        <p:spPr>
          <a:xfrm>
            <a:off x="548640" y="3291840"/>
            <a:ext cx="11094415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31" name="Text 23"/>
          <p:cNvSpPr txBox="1"/>
          <p:nvPr/>
        </p:nvSpPr>
        <p:spPr>
          <a:xfrm>
            <a:off x="868680" y="345643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the case shows</a:t>
            </a:r>
            <a:endParaRPr lang="en-US" sz="1700" dirty="0"/>
          </a:p>
        </p:txBody>
      </p:sp>
      <p:sp>
        <p:nvSpPr>
          <p:cNvPr id="32" name="Shape 24"/>
          <p:cNvSpPr/>
          <p:nvPr/>
        </p:nvSpPr>
        <p:spPr>
          <a:xfrm>
            <a:off x="868680" y="3931920"/>
            <a:ext cx="384048" cy="384048"/>
          </a:xfrm>
          <a:prstGeom prst="ellipse">
            <a:avLst/>
          </a:prstGeom>
          <a:solidFill>
            <a:srgbClr val="1876C6"/>
          </a:solidFill>
          <a:ln w="12700">
            <a:solidFill>
              <a:srgbClr val="1876C6"/>
            </a:solidFill>
            <a:prstDash val="solid"/>
          </a:ln>
        </p:spPr>
      </p:sp>
      <p:pic>
        <p:nvPicPr>
          <p:cNvPr id="33" name="Image 5" descr="Chec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0852" y="4024092"/>
            <a:ext cx="199705" cy="199705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1417320" y="3904488"/>
            <a:ext cx="9905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Diagnosis: “Information systems” is the weakest axis (2 / 5); the largest skill gap is “AI bed and staff capacity planning” (average gap 3.0).</a:t>
            </a:r>
            <a:endParaRPr lang="en-US" sz="1350" dirty="0"/>
          </a:p>
        </p:txBody>
      </p:sp>
      <p:sp>
        <p:nvSpPr>
          <p:cNvPr id="35" name="Shape 26"/>
          <p:cNvSpPr/>
          <p:nvPr/>
        </p:nvSpPr>
        <p:spPr>
          <a:xfrm>
            <a:off x="868680" y="4462272"/>
            <a:ext cx="384048" cy="384048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36" name="Image 6" descr="ArrowRigh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852" y="4554444"/>
            <a:ext cx="199705" cy="199705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1417320" y="4434840"/>
            <a:ext cx="9905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10 training needs were validated and grouped into 6 themes, deployed in 4 roadmap initiatives over three waves.</a:t>
            </a:r>
            <a:endParaRPr lang="en-US" sz="1350" dirty="0"/>
          </a:p>
        </p:txBody>
      </p:sp>
      <p:sp>
        <p:nvSpPr>
          <p:cNvPr id="38" name="Shape 28"/>
          <p:cNvSpPr/>
          <p:nvPr/>
        </p:nvSpPr>
        <p:spPr>
          <a:xfrm>
            <a:off x="868680" y="4992624"/>
            <a:ext cx="384048" cy="384048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39" name="Image 7" descr="ShieldCheck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0852" y="5084796"/>
            <a:ext cx="199705" cy="199705"/>
          </a:xfrm>
          <a:prstGeom prst="rect">
            <a:avLst/>
          </a:prstGeom>
        </p:spPr>
      </p:pic>
      <p:sp>
        <p:nvSpPr>
          <p:cNvPr id="40" name="Text 29"/>
          <p:cNvSpPr txBox="1"/>
          <p:nvPr/>
        </p:nvSpPr>
        <p:spPr>
          <a:xfrm>
            <a:off x="1417320" y="4965192"/>
            <a:ext cx="9905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Kirkpatrick results 77 % · 74 % · 75 %; training ROI 108 % (target ≥ 100%).</a:t>
            </a:r>
            <a:endParaRPr lang="en-US" sz="1350" dirty="0"/>
          </a:p>
        </p:txBody>
      </p:sp>
      <p:sp>
        <p:nvSpPr>
          <p:cNvPr id="41" name="Shape 30"/>
          <p:cNvSpPr/>
          <p:nvPr/>
        </p:nvSpPr>
        <p:spPr>
          <a:xfrm>
            <a:off x="868680" y="5522976"/>
            <a:ext cx="384048" cy="384048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42" name="Image 8" descr="CircleDot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0852" y="5615148"/>
            <a:ext cx="199705" cy="199705"/>
          </a:xfrm>
          <a:prstGeom prst="rect">
            <a:avLst/>
          </a:prstGeom>
        </p:spPr>
      </p:pic>
      <p:sp>
        <p:nvSpPr>
          <p:cNvPr id="43" name="Text 31"/>
          <p:cNvSpPr txBox="1"/>
          <p:nvPr/>
        </p:nvSpPr>
        <p:spPr>
          <a:xfrm>
            <a:off x="1417320" y="5495544"/>
            <a:ext cx="9905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37 documents published, 1,077 pages; the Training Engineering Report alone has 193 pages.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23A5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8595360" y="-1371600"/>
            <a:ext cx="5669280" cy="5669280"/>
          </a:xfrm>
          <a:prstGeom prst="ellipse">
            <a:avLst/>
          </a:prstGeom>
          <a:solidFill>
            <a:srgbClr val="1876C6">
              <a:alpha val="20000"/>
            </a:srgbClr>
          </a:solidFill>
          <a:ln w="12700">
            <a:solidFill>
              <a:srgbClr val="1876C6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875520" y="3749040"/>
            <a:ext cx="3108960" cy="3108960"/>
          </a:xfrm>
          <a:prstGeom prst="ellipse">
            <a:avLst/>
          </a:prstGeom>
          <a:solidFill>
            <a:srgbClr val="17A2B8">
              <a:alpha val="22000"/>
            </a:srgbClr>
          </a:solidFill>
          <a:ln w="12700">
            <a:solidFill>
              <a:srgbClr val="17A2B8">
                <a:alpha val="0"/>
              </a:srgb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28C87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7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0175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clinic group and the project</a:t>
            </a:r>
            <a:endParaRPr lang="en-US" sz="38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8862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Context, charter, scope, method and schedule</a:t>
            </a:r>
            <a:endParaRPr lang="en-US" sz="1800" dirty="0"/>
          </a:p>
        </p:txBody>
      </p:sp>
      <p:pic>
        <p:nvPicPr>
          <p:cNvPr id="8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080760"/>
            <a:ext cx="2011680" cy="37160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CONTEXT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Santéora Private Clinics Group</a:t>
            </a:r>
            <a:endParaRPr lang="en-US" sz="2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16736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Santéora Private Clinics Group operates in the Healthcare Providers sector, in Casablanca, with 2600 employees.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7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clinic group and the project  ·  Demonstration data — fictional organization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5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67665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49377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Topic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Content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Vision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Become the reference of Healthcare Providers in the region, with teams trained to the best standards.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Mission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Deliver safe, compliant service through skilled people and controlled processes.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Values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Commitment · Excellence · Sharing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Context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Strong competition, stricter ISO 7101 audits and the arrival of AI triage and clinical decision support.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Products — existing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Core services of Clinical Care &amp; Nursing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Products — new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Digital services supported by AI triage and clinical decision support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Market segments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Large accounts · Public sector · Individual customers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6"/>
          <p:cNvSpPr/>
          <p:nvPr/>
        </p:nvSpPr>
        <p:spPr>
          <a:xfrm>
            <a:off x="7589520" y="1828800"/>
            <a:ext cx="4050792" cy="4206240"/>
          </a:xfrm>
          <a:prstGeom prst="roundRect">
            <a:avLst>
              <a:gd name="adj" fmla="val 2257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7818120" y="19659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Organization and headcount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818120" y="2423160"/>
          <a:ext cx="3611880" cy="914400"/>
        </p:xfrm>
        <a:graphic>
          <a:graphicData uri="http://schemas.openxmlformats.org/drawingml/2006/table">
            <a:tbl>
              <a:tblPr/>
              <a:tblGrid>
                <a:gridCol w="2606040"/>
                <a:gridCol w="100584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Function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People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Operations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Quality &amp; HSE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Finance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Human Resources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Sales &amp; Marketing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Information Systems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Clinical Care &amp; Nursing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GROUP PROFILE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dates and SWOT of the clinic group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clinic group and the project  ·  Demonstration data — fictional organization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6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548640" y="1828800"/>
            <a:ext cx="265176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852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2008</a:t>
            </a:r>
            <a:endParaRPr lang="en-US" sz="2200" dirty="0"/>
          </a:p>
        </p:txBody>
      </p:sp>
      <p:sp>
        <p:nvSpPr>
          <p:cNvPr id="11" name="Text 7"/>
          <p:cNvSpPr txBox="1"/>
          <p:nvPr/>
        </p:nvSpPr>
        <p:spPr>
          <a:xfrm>
            <a:off x="777240" y="24231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Company founded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3355848" y="1828800"/>
            <a:ext cx="265176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3584448" y="193852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2014</a:t>
            </a:r>
            <a:endParaRPr 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3584448" y="24231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Second site opened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6163056" y="1828800"/>
            <a:ext cx="265176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391656" y="193852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2019</a:t>
            </a:r>
            <a:endParaRPr lang="en-US" sz="2200" dirty="0"/>
          </a:p>
        </p:txBody>
      </p:sp>
      <p:sp>
        <p:nvSpPr>
          <p:cNvPr id="17" name="Text 13"/>
          <p:cNvSpPr txBox="1"/>
          <p:nvPr/>
        </p:nvSpPr>
        <p:spPr>
          <a:xfrm>
            <a:off x="6391656" y="24231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ISO 7101 certification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8970264" y="1828800"/>
            <a:ext cx="265176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9198864" y="193852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2025</a:t>
            </a:r>
            <a:endParaRPr lang="en-US" sz="2200" dirty="0"/>
          </a:p>
        </p:txBody>
      </p:sp>
      <p:sp>
        <p:nvSpPr>
          <p:cNvPr id="20" name="Text 16"/>
          <p:cNvSpPr txBox="1"/>
          <p:nvPr/>
        </p:nvSpPr>
        <p:spPr>
          <a:xfrm>
            <a:off x="9198864" y="24231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Digital transformation program launched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548640" y="3246120"/>
            <a:ext cx="2651760" cy="2834640"/>
          </a:xfrm>
          <a:prstGeom prst="roundRect">
            <a:avLst>
              <a:gd name="adj" fmla="val 3448"/>
            </a:avLst>
          </a:prstGeom>
          <a:solidFill>
            <a:srgbClr val="B6D7A8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49808" y="336499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749808" y="3767328"/>
            <a:ext cx="228600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Experienced, committed team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Good knowledge of the market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Stable processes</a:t>
            </a:r>
            <a:endParaRPr lang="en-US" sz="1150" dirty="0"/>
          </a:p>
        </p:txBody>
      </p:sp>
      <p:sp>
        <p:nvSpPr>
          <p:cNvPr id="24" name="Shape 20"/>
          <p:cNvSpPr/>
          <p:nvPr/>
        </p:nvSpPr>
        <p:spPr>
          <a:xfrm>
            <a:off x="3355848" y="3246120"/>
            <a:ext cx="2651760" cy="2834640"/>
          </a:xfrm>
          <a:prstGeom prst="roundRect">
            <a:avLst>
              <a:gd name="adj" fmla="val 3448"/>
            </a:avLst>
          </a:prstGeom>
          <a:solidFill>
            <a:srgbClr val="F4C7C3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3557016" y="336499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Areas for improvement</a:t>
            </a:r>
            <a:endParaRPr lang="en-US" sz="1400" dirty="0"/>
          </a:p>
        </p:txBody>
      </p:sp>
      <p:sp>
        <p:nvSpPr>
          <p:cNvPr id="26" name="Text 22"/>
          <p:cNvSpPr txBox="1"/>
          <p:nvPr/>
        </p:nvSpPr>
        <p:spPr>
          <a:xfrm>
            <a:off x="3557016" y="3767328"/>
            <a:ext cx="228600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Low use of AI triage and clinical decision support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Reporting kept in spreadsheets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Low use of AI medical imaging assistance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Little versatility between roles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Low use of AI bed and staff capacity planning</a:t>
            </a:r>
            <a:endParaRPr lang="en-US" sz="1150" dirty="0"/>
          </a:p>
        </p:txBody>
      </p:sp>
      <p:sp>
        <p:nvSpPr>
          <p:cNvPr id="27" name="Shape 23"/>
          <p:cNvSpPr/>
          <p:nvPr/>
        </p:nvSpPr>
        <p:spPr>
          <a:xfrm>
            <a:off x="6163056" y="3246120"/>
            <a:ext cx="2651760" cy="2834640"/>
          </a:xfrm>
          <a:prstGeom prst="roundRect">
            <a:avLst>
              <a:gd name="adj" fmla="val 3448"/>
            </a:avLst>
          </a:prstGeom>
          <a:solidFill>
            <a:srgbClr val="D9EAD3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6364224" y="336499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Opportunities</a:t>
            </a:r>
            <a:endParaRPr lang="en-US" sz="1400" dirty="0"/>
          </a:p>
        </p:txBody>
      </p:sp>
      <p:sp>
        <p:nvSpPr>
          <p:cNvPr id="29" name="Text 25"/>
          <p:cNvSpPr txBox="1"/>
          <p:nvPr/>
        </p:nvSpPr>
        <p:spPr>
          <a:xfrm>
            <a:off x="6364224" y="3767328"/>
            <a:ext cx="228600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Demand for digital services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Training contracts refunded by OFPPT</a:t>
            </a:r>
            <a:endParaRPr lang="en-US" sz="1150" dirty="0"/>
          </a:p>
        </p:txBody>
      </p:sp>
      <p:sp>
        <p:nvSpPr>
          <p:cNvPr id="30" name="Shape 26"/>
          <p:cNvSpPr/>
          <p:nvPr/>
        </p:nvSpPr>
        <p:spPr>
          <a:xfrm>
            <a:off x="8970264" y="3246120"/>
            <a:ext cx="2651760" cy="2834640"/>
          </a:xfrm>
          <a:prstGeom prst="roundRect">
            <a:avLst>
              <a:gd name="adj" fmla="val 3448"/>
            </a:avLst>
          </a:prstGeom>
          <a:solidFill>
            <a:srgbClr val="FBE0B5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9171432" y="336499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Threats</a:t>
            </a:r>
            <a:endParaRPr lang="en-US" sz="1400" dirty="0"/>
          </a:p>
        </p:txBody>
      </p:sp>
      <p:sp>
        <p:nvSpPr>
          <p:cNvPr id="32" name="Text 28"/>
          <p:cNvSpPr txBox="1"/>
          <p:nvPr/>
        </p:nvSpPr>
        <p:spPr>
          <a:xfrm>
            <a:off x="9171432" y="3767328"/>
            <a:ext cx="228600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Stricter ISO 7101 audits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Departure of key experts</a:t>
            </a:r>
            <a:endParaRPr lang="en-US" sz="1150" dirty="0"/>
          </a:p>
        </p:txBody>
      </p:sp>
      <p:sp>
        <p:nvSpPr>
          <p:cNvPr id="33" name="Text 29"/>
          <p:cNvSpPr txBox="1"/>
          <p:nvPr/>
        </p:nvSpPr>
        <p:spPr>
          <a:xfrm>
            <a:off x="548640" y="6126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Source: TER sections 1.3 and 1.4.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PROJECT CHARTER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 Skills Full Run 2026 — Santéora Private Clinics Group</a:t>
            </a:r>
            <a:endParaRPr lang="en-US" sz="21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16736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Training engineering cycle focused on AI skills for Healthcare Providers: scope, evidence, diagnosis, report, delivery, evaluation and continuous improvement.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7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clinic group and the project  ·  Demonstration data — fictional organization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7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548640" y="1920240"/>
            <a:ext cx="265176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49808" y="2139696"/>
            <a:ext cx="457200" cy="457200"/>
          </a:xfrm>
          <a:prstGeom prst="ellipse">
            <a:avLst/>
          </a:prstGeom>
          <a:solidFill>
            <a:srgbClr val="1876C6"/>
          </a:solidFill>
          <a:ln w="12700">
            <a:solidFill>
              <a:srgbClr val="1876C6"/>
            </a:solidFill>
            <a:prstDash val="solid"/>
          </a:ln>
        </p:spPr>
      </p:sp>
      <p:pic>
        <p:nvPicPr>
          <p:cNvPr id="12" name="Image 1" descr="Gau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" y="2249424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2066544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72</a:t>
            </a:r>
            <a:endParaRPr lang="en-US" sz="2500" dirty="0"/>
          </a:p>
        </p:txBody>
      </p:sp>
      <p:sp>
        <p:nvSpPr>
          <p:cNvPr id="14" name="Text 9"/>
          <p:cNvSpPr txBox="1"/>
          <p:nvPr/>
        </p:nvSpPr>
        <p:spPr>
          <a:xfrm>
            <a:off x="749808" y="2688336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complexity score (out of 100): full run with gates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3355848" y="1920240"/>
            <a:ext cx="265176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3557016" y="2139696"/>
            <a:ext cx="457200" cy="457200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17" name="Image 2" descr="User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6744" y="2249424"/>
            <a:ext cx="237744" cy="23774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4133088" y="2066544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40</a:t>
            </a:r>
            <a:endParaRPr lang="en-US" sz="2500" dirty="0"/>
          </a:p>
        </p:txBody>
      </p:sp>
      <p:sp>
        <p:nvSpPr>
          <p:cNvPr id="19" name="Text 13"/>
          <p:cNvSpPr txBox="1"/>
          <p:nvPr/>
        </p:nvSpPr>
        <p:spPr>
          <a:xfrm>
            <a:off x="3557016" y="2688336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stakeholders registered and consulted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6163056" y="1920240"/>
            <a:ext cx="265176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6364224" y="2139696"/>
            <a:ext cx="457200" cy="457200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22" name="Image 3" descr="Crosshai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3952" y="2249424"/>
            <a:ext cx="237744" cy="237744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940296" y="2066544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17</a:t>
            </a:r>
            <a:endParaRPr lang="en-US" sz="2500" dirty="0"/>
          </a:p>
        </p:txBody>
      </p:sp>
      <p:sp>
        <p:nvSpPr>
          <p:cNvPr id="24" name="Text 17"/>
          <p:cNvSpPr txBox="1"/>
          <p:nvPr/>
        </p:nvSpPr>
        <p:spPr>
          <a:xfrm>
            <a:off x="6364224" y="2688336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scope criteria approved in the Scope of Work</a:t>
            </a:r>
            <a:endParaRPr lang="en-US" sz="1100" dirty="0"/>
          </a:p>
        </p:txBody>
      </p:sp>
      <p:sp>
        <p:nvSpPr>
          <p:cNvPr id="25" name="Shape 18"/>
          <p:cNvSpPr/>
          <p:nvPr/>
        </p:nvSpPr>
        <p:spPr>
          <a:xfrm>
            <a:off x="8970264" y="1920240"/>
            <a:ext cx="265176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9171432" y="2139696"/>
            <a:ext cx="457200" cy="457200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27" name="Image 4" descr="Layer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81160" y="2249424"/>
            <a:ext cx="237744" cy="237744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9747504" y="2066544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MS · MO · OP</a:t>
            </a:r>
            <a:endParaRPr lang="en-US" sz="2500" dirty="0"/>
          </a:p>
        </p:txBody>
      </p:sp>
      <p:sp>
        <p:nvSpPr>
          <p:cNvPr id="29" name="Text 21"/>
          <p:cNvSpPr txBox="1"/>
          <p:nvPr/>
        </p:nvSpPr>
        <p:spPr>
          <a:xfrm>
            <a:off x="9171432" y="2688336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decision levels covered (strategic, middle, operational)</a:t>
            </a:r>
            <a:endParaRPr lang="en-US" sz="1100" dirty="0"/>
          </a:p>
        </p:txBody>
      </p:sp>
      <p:sp>
        <p:nvSpPr>
          <p:cNvPr id="30" name="Shape 22"/>
          <p:cNvSpPr/>
          <p:nvPr/>
        </p:nvSpPr>
        <p:spPr>
          <a:xfrm>
            <a:off x="548640" y="3429000"/>
            <a:ext cx="11094415" cy="26517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31" name="Text 23"/>
          <p:cNvSpPr txBox="1"/>
          <p:nvPr/>
        </p:nvSpPr>
        <p:spPr>
          <a:xfrm>
            <a:off x="868680" y="36118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Strategic objectives</a:t>
            </a:r>
            <a:endParaRPr lang="en-US" sz="1700" dirty="0"/>
          </a:p>
        </p:txBody>
      </p:sp>
      <p:sp>
        <p:nvSpPr>
          <p:cNvPr id="32" name="Shape 24"/>
          <p:cNvSpPr/>
          <p:nvPr/>
        </p:nvSpPr>
        <p:spPr>
          <a:xfrm>
            <a:off x="868680" y="4114800"/>
            <a:ext cx="384048" cy="384048"/>
          </a:xfrm>
          <a:prstGeom prst="ellipse">
            <a:avLst/>
          </a:prstGeom>
          <a:solidFill>
            <a:srgbClr val="1876C6"/>
          </a:solidFill>
          <a:ln w="12700">
            <a:solidFill>
              <a:srgbClr val="1876C6"/>
            </a:solidFill>
            <a:prstDash val="solid"/>
          </a:ln>
        </p:spPr>
      </p:sp>
      <p:pic>
        <p:nvPicPr>
          <p:cNvPr id="33" name="Image 5" descr="Chec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0852" y="4206972"/>
            <a:ext cx="199705" cy="199705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1417320" y="4087368"/>
            <a:ext cx="9905695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SO-1 — Adopt AI triage and clinical decision support across Clinical Care &amp; Nursing by end 2027 (horizon 2027-12-31)</a:t>
            </a:r>
            <a:endParaRPr lang="en-US" sz="1400" dirty="0"/>
          </a:p>
        </p:txBody>
      </p:sp>
      <p:sp>
        <p:nvSpPr>
          <p:cNvPr id="35" name="Shape 26"/>
          <p:cNvSpPr/>
          <p:nvPr/>
        </p:nvSpPr>
        <p:spPr>
          <a:xfrm>
            <a:off x="868680" y="4800600"/>
            <a:ext cx="384048" cy="384048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36" name="Image 6" descr="ArrowRigh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852" y="4892772"/>
            <a:ext cx="199705" cy="199705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1417320" y="4773168"/>
            <a:ext cx="9905695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SO-2 — Zero major findings in ISO 7101 audits (horizon 2026-12-31)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SCOPE OF THE MISSION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Functions and decision levels in scope</a:t>
            </a:r>
            <a:endParaRPr lang="en-US" sz="2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16736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Focus: AI · Decision levels: MS, MO, OP · Approval: Approved (2026-04-30, Mehdi Lahlou)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7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clinic group and the project  ·  Demonstration data — fictional organization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8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694944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463040"/>
                <a:gridCol w="1463040"/>
                <a:gridCol w="14630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Function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MS — strategic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MO — middle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OP — operational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Operations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●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●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●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Quality &amp; HSE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●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●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—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Finance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●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—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●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Human Resources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—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●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●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Sales &amp; Marketing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●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●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●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Information Systems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●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●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—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Clinical Care &amp; Nursing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●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—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●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</a:tbl>
          </a:graphicData>
        </a:graphic>
      </p:graphicFrame>
      <p:sp>
        <p:nvSpPr>
          <p:cNvPr id="11" name="Shape 6"/>
          <p:cNvSpPr/>
          <p:nvPr/>
        </p:nvSpPr>
        <p:spPr>
          <a:xfrm>
            <a:off x="7818120" y="1874520"/>
            <a:ext cx="3822192" cy="3200400"/>
          </a:xfrm>
          <a:prstGeom prst="roundRect">
            <a:avLst>
              <a:gd name="adj" fmla="val 2857"/>
            </a:avLst>
          </a:prstGeom>
          <a:solidFill>
            <a:srgbClr val="E8F1FB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8046720" y="20116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How the scope is set</a:t>
            </a:r>
            <a:endParaRPr lang="en-US" sz="1500" dirty="0"/>
          </a:p>
        </p:txBody>
      </p:sp>
      <p:sp>
        <p:nvSpPr>
          <p:cNvPr id="13" name="Text 8"/>
          <p:cNvSpPr txBox="1"/>
          <p:nvPr/>
        </p:nvSpPr>
        <p:spPr>
          <a:xfrm>
            <a:off x="8046720" y="2468880"/>
            <a:ext cx="3429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Each function × decision-level cell is a weighted criterion of the Scope of Work. 16 criteria were approved by the sponsor before any questionnaire was sent; every later table of the report is filtered by this scope.</a:t>
            </a:r>
            <a:endParaRPr lang="en-US" sz="1250" dirty="0"/>
          </a:p>
        </p:txBody>
      </p:sp>
      <p:sp>
        <p:nvSpPr>
          <p:cNvPr id="14" name="Text 9"/>
          <p:cNvSpPr txBox="1"/>
          <p:nvPr/>
        </p:nvSpPr>
        <p:spPr>
          <a:xfrm>
            <a:off x="548640" y="6080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Source: TER section 1.8.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METHOD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Six phases, each closed by a gate with its deliverables</a:t>
            </a:r>
            <a:endParaRPr lang="en-US" sz="21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16736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training engineering mission follows the phases below, each closed by a gate with its deliverables.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7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clinic group and the project  ·  Demonstration data — fictional organization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9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9441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6492240"/>
                <a:gridCol w="130759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Phase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End-to-end processes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Progress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1. Scope &amp; evidence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E2E-32 · E2E-33 · E2E-19 · E2E-24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100%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6D7A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2. Diagnosis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E2E-20 · E2E-25 · E2E-26 · E2E-27 · E2E-28 · E2E-29 · E2E-02 · E2E-21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100%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6D7A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3. Training Engineering Report &amp; plan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E2E-01 · E2E-03 · E2E-30 · E2E-22 · E2E-23 · E2E-16 · HCPR-E2E-02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100%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6D7A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4. Design &amp; delivery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E2E-04 · E2E-05 · E2E-06 · E2E-13 · E2E-14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100%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6D7A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5. Evaluation, compliance &amp; impact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E2E-07 · E2E-08 · E2E-09 · HCPR-E2E-01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100%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6D7A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6. Talent, knowledge &amp; continuous improvement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E2E-10 · E2E-11 · E2E-12 · E2E-31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100%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6D7A8"/>
                    </a:solidFill>
                  </a:tcPr>
                </a:tc>
              </a:tr>
            </a:tbl>
          </a:graphicData>
        </a:graphic>
      </p:graphicFrame>
      <p:sp>
        <p:nvSpPr>
          <p:cNvPr id="11" name="Text 6"/>
          <p:cNvSpPr txBox="1"/>
          <p:nvPr/>
        </p:nvSpPr>
        <p:spPr>
          <a:xfrm>
            <a:off x="548640" y="5989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Source: Training Engineering Report, section 1.5 “The current mission”.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SCHEDULE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Work packages and the Gantt chart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clinic group and the project  ·  Demonstration data — fictional organization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10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42062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914400"/>
                <a:gridCol w="914400"/>
                <a:gridCol w="64008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Work package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Start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End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Progress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Scope &amp; evidence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2026-04-10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2026-05-07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100 %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Diagnosis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2026-05-08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2026-06-04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100 %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Report &amp; plan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2026-06-05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2026-07-02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100 %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291840"/>
          <a:ext cx="4206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09728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Sessions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Date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S-01 AI triage and clinical decision …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2026-07-19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S-02 AI medical imaging assistance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2026-07-26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S-03 AI triage and clinical decision …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2026-08-02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S-04 AI medical imaging assistance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2026-08-09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</a:tbl>
          </a:graphicData>
        </a:graphic>
      </p:graphicFrame>
      <p:sp>
        <p:nvSpPr>
          <p:cNvPr id="11" name="Shape 5"/>
          <p:cNvSpPr/>
          <p:nvPr/>
        </p:nvSpPr>
        <p:spPr>
          <a:xfrm>
            <a:off x="5029200" y="1783080"/>
            <a:ext cx="6528816" cy="411480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12" name="Image 1" descr="Screenshot of the applica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1828800"/>
            <a:ext cx="6437376" cy="4023360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5074920" y="59436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WBS and Gantt of the project in CortexSkills.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STAKEHOLDERS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40 people consulted across every function</a:t>
            </a:r>
            <a:endParaRPr lang="en-US" sz="2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16736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40 people were consulted: 1 from general management, 26 managers and 13 staff members.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7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clinic group and the project  ·  Demonstration data — fictional organization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11</a:t>
            </a:r>
            <a:endParaRPr lang="en-US" sz="10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548640" y="1783080"/>
          <a:ext cx="658368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 6"/>
          <p:cNvSpPr txBox="1"/>
          <p:nvPr/>
        </p:nvSpPr>
        <p:spPr>
          <a:xfrm>
            <a:off x="548640" y="58521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People consulted by function and population (TER 1.7).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06640" y="1828800"/>
          <a:ext cx="423367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307592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Channel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People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Face-to-face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Combination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26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Email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13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 7"/>
          <p:cNvSpPr txBox="1"/>
          <p:nvPr/>
        </p:nvSpPr>
        <p:spPr>
          <a:xfrm>
            <a:off x="7406640" y="4023360"/>
            <a:ext cx="4233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Consent recorded for 40 of 40 people before any answer was stored.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23A5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8595360" y="-1371600"/>
            <a:ext cx="5669280" cy="5669280"/>
          </a:xfrm>
          <a:prstGeom prst="ellipse">
            <a:avLst/>
          </a:prstGeom>
          <a:solidFill>
            <a:srgbClr val="1876C6">
              <a:alpha val="20000"/>
            </a:srgbClr>
          </a:solidFill>
          <a:ln w="12700">
            <a:solidFill>
              <a:srgbClr val="1876C6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875520" y="3749040"/>
            <a:ext cx="3108960" cy="3108960"/>
          </a:xfrm>
          <a:prstGeom prst="ellipse">
            <a:avLst/>
          </a:prstGeom>
          <a:solidFill>
            <a:srgbClr val="17A2B8">
              <a:alpha val="22000"/>
            </a:srgbClr>
          </a:solidFill>
          <a:ln w="12700">
            <a:solidFill>
              <a:srgbClr val="17A2B8">
                <a:alpha val="0"/>
              </a:srgb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28C87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7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0175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Diagnosis</a:t>
            </a:r>
            <a:endParaRPr lang="en-US" sz="38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8862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Who answered, where the clinic group stands, which skills are missing</a:t>
            </a:r>
            <a:endParaRPr lang="en-US" sz="1800" dirty="0"/>
          </a:p>
        </p:txBody>
      </p:sp>
      <p:pic>
        <p:nvPicPr>
          <p:cNvPr id="8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080760"/>
            <a:ext cx="2011680" cy="37160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QUESTIONNAIRE CAMPAIGN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35 of 40 people answered</a:t>
            </a:r>
            <a:endParaRPr lang="en-US" sz="2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16736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40 people were invited to answer; 35 answered.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7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Diagnosis  ·  Demonstration data — fictional organization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13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576072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005840"/>
                <a:gridCol w="914400"/>
                <a:gridCol w="822960"/>
                <a:gridCol w="9144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Function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General Manager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Management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Team member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Responded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Operations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5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Quality &amp; HSE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0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4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5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Human Resources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0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4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5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Sales &amp; Marketing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0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4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5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Information Systems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0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5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Clinical Care &amp; Nursing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0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4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5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Finance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0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4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5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Chart 0" descr=""/>
          <p:cNvGraphicFramePr/>
          <p:nvPr/>
        </p:nvGraphicFramePr>
        <p:xfrm>
          <a:off x="6583680" y="1783080"/>
          <a:ext cx="502920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 6"/>
          <p:cNvSpPr txBox="1"/>
          <p:nvPr/>
        </p:nvSpPr>
        <p:spPr>
          <a:xfrm>
            <a:off x="6583680" y="45262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Response rate by function.</a:t>
            </a:r>
            <a:endParaRPr lang="en-US" sz="10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0" y="4846320"/>
          <a:ext cx="50292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1005840"/>
                <a:gridCol w="777240"/>
                <a:gridCol w="100584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Channel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Invited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Responded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Rate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Completeness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Application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18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18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100 %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95 %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Face-to-face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100 %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89 %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Email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4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4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100 %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89 %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 7"/>
          <p:cNvSpPr txBox="1"/>
          <p:nvPr/>
        </p:nvSpPr>
        <p:spPr>
          <a:xfrm>
            <a:off x="548640" y="6080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Source: TER sections 1.6, 1.12 and 1.13.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PREVIOUS PLAN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the teams said about the last training plan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Diagnosis  ·  Demonstration data — fictional organization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14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548640" y="182880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659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did you notice about the n-1 training plan?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777240" y="256032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Good participation, but little follow-up after the sessions.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Trainings were chosen late in the year and with little link to our objectives.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4297680" y="182880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4526280" y="19659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were the strengths of the n-1 plan?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4526280" y="256032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Sessions held on site, close to the teams.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Practical trainers who knew our sector.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8046720" y="182880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8275320" y="19659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improvements did the n-1 plan bring?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8275320" y="256032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Supervisors use the new procedures.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Fewer errors on ISO 7101 records.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548640" y="393192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77240" y="406908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were the challenges of the n-1 plan?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777240" y="4663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Measuring the effect of the trainings.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Releasing people from the job during peaks.</a:t>
            </a:r>
            <a:endParaRPr lang="en-US" sz="1150" dirty="0"/>
          </a:p>
        </p:txBody>
      </p:sp>
      <p:sp>
        <p:nvSpPr>
          <p:cNvPr id="21" name="Shape 17"/>
          <p:cNvSpPr/>
          <p:nvPr/>
        </p:nvSpPr>
        <p:spPr>
          <a:xfrm>
            <a:off x="4297680" y="393192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4526280" y="406908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did you appreciate and like about the n-1 plan?</a:t>
            </a:r>
            <a:endParaRPr lang="en-US" sz="1200" dirty="0"/>
          </a:p>
        </p:txBody>
      </p:sp>
      <p:sp>
        <p:nvSpPr>
          <p:cNvPr id="23" name="Text 19"/>
          <p:cNvSpPr txBox="1"/>
          <p:nvPr/>
        </p:nvSpPr>
        <p:spPr>
          <a:xfrm>
            <a:off x="4526280" y="4663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The workshops on real cases.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The exchange between sites.</a:t>
            </a:r>
            <a:endParaRPr lang="en-US" sz="1150" dirty="0"/>
          </a:p>
        </p:txBody>
      </p:sp>
      <p:sp>
        <p:nvSpPr>
          <p:cNvPr id="24" name="Shape 20"/>
          <p:cNvSpPr/>
          <p:nvPr/>
        </p:nvSpPr>
        <p:spPr>
          <a:xfrm>
            <a:off x="8046720" y="393192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E8F1FB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8275320" y="406908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 a new training plan, what would you like to see done differently?</a:t>
            </a:r>
            <a:endParaRPr lang="en-US" sz="1200" dirty="0"/>
          </a:p>
        </p:txBody>
      </p:sp>
      <p:sp>
        <p:nvSpPr>
          <p:cNvPr id="26" name="Text 22"/>
          <p:cNvSpPr txBox="1"/>
          <p:nvPr/>
        </p:nvSpPr>
        <p:spPr>
          <a:xfrm>
            <a:off x="8275320" y="4663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Shorter half-day formats with a workshop each time.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A plan built from the needs of each function.</a:t>
            </a:r>
            <a:endParaRPr lang="en-US" sz="1150" dirty="0"/>
          </a:p>
        </p:txBody>
      </p:sp>
      <p:sp>
        <p:nvSpPr>
          <p:cNvPr id="27" name="Text 23"/>
          <p:cNvSpPr txBox="1"/>
          <p:nvPr/>
        </p:nvSpPr>
        <p:spPr>
          <a:xfrm>
            <a:off x="548640" y="6080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Source: TER chapter 2 — 62 trainings attended are listed in section 2.1.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DIAGNOSIS AND MATURITY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Five axes scored, maturity one level below target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Diagnosis  ·  Demonstration data — fictional organization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15</a:t>
            </a:r>
            <a:endParaRPr lang="en-US" sz="10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548640" y="1783080"/>
          <a:ext cx="585216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 5"/>
          <p:cNvSpPr txBox="1"/>
          <p:nvPr/>
        </p:nvSpPr>
        <p:spPr>
          <a:xfrm>
            <a:off x="548640" y="57607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Diagnostic score by axis against target level 4 (TER 1.9).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75120" y="1828800"/>
          <a:ext cx="4965192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731520"/>
                <a:gridCol w="2496312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Axis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Score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Reading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Strategy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3.4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Strength to build on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Organization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2.8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Partly in place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Processes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2.6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Partly in place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People and skills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3.1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Partly in place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Information systems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Priority for development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75120" y="3840480"/>
          <a:ext cx="496519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68680"/>
                <a:gridCol w="868680"/>
                <a:gridCol w="850392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Model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Current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Target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Gap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CMM maturity (CMM)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4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Leadership maturity (Leadership)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4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</a:tbl>
          </a:graphicData>
        </a:graphic>
      </p:graphicFrame>
      <p:sp>
        <p:nvSpPr>
          <p:cNvPr id="13" name="Text 6"/>
          <p:cNvSpPr txBox="1"/>
          <p:nvPr/>
        </p:nvSpPr>
        <p:spPr>
          <a:xfrm>
            <a:off x="6675120" y="47091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Maturity models (TER 1.10).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PERFORMANCE BY FUNCTION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Where each function stands at each decision level</a:t>
            </a:r>
            <a:endParaRPr lang="en-US" sz="23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16736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Performance by decision level: MS strategic management, MO operational management, OP operational.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7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Diagnosis  ·  Demonstration data — fictional organization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16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1109441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188720"/>
                <a:gridCol w="1188720"/>
                <a:gridCol w="1188720"/>
                <a:gridCol w="542239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Function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MO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OP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Main gaps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Operations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88% Amber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83% Amber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76% Amber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AI triage and clinical decision support · AI medical imaging assistance · AI bed and staff cap…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Quality &amp; HSE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76% Amber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52% Red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86% Amber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AI medical imaging assistance · AI bed and staff capacity planning · AI triage and clinical de…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Finance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81% Amber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58% Red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77% Amber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AI bed and staff capacity planning · AI triage and clinical decision support · AI medical imag…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Human Resources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79% Amber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54% Red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63% Red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AI triage and clinical decision support · AI medical imaging assistance · AI bed and staff cap…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Sales &amp; Marketing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88% Amber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82% Amber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59% Red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AI medical imaging assistance · AI bed and staff capacity planning · AI triage and clinical de…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Information Systems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78% Amber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64% Red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71% Amber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AI bed and staff capacity planning · AI triage and clinical decision support · AI medical imag…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Clinical Care &amp; Nursing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88% Amber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73% Amber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53% Red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AI triage and clinical decision support · AI medical imaging assistance · AI bed and staff cap…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6"/>
          <p:cNvSpPr txBox="1"/>
          <p:nvPr/>
        </p:nvSpPr>
        <p:spPr>
          <a:xfrm>
            <a:off x="548640" y="58521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Maturity heatmap on the fixed red → green status scale (TER 3.2).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COMPETENCES NAMED IN THE INTERVIEWS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competences people asked for, by number of mentions</a:t>
            </a:r>
            <a:endParaRPr lang="en-US" sz="21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16736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Consolidated from 30 responses.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7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Diagnosis  ·  Demonstration data — fictional organization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17</a:t>
            </a:r>
            <a:endParaRPr lang="en-US" sz="10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548640" y="1783080"/>
          <a:ext cx="694944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 6"/>
          <p:cNvSpPr txBox="1"/>
          <p:nvPr/>
        </p:nvSpPr>
        <p:spPr>
          <a:xfrm>
            <a:off x="548640" y="58521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Mentions across all answers (TER 3.3).</a:t>
            </a:r>
            <a:endParaRPr lang="en-US" sz="1000" dirty="0"/>
          </a:p>
        </p:txBody>
      </p:sp>
      <p:sp>
        <p:nvSpPr>
          <p:cNvPr id="12" name="Shape 7"/>
          <p:cNvSpPr/>
          <p:nvPr/>
        </p:nvSpPr>
        <p:spPr>
          <a:xfrm>
            <a:off x="7818120" y="1874520"/>
            <a:ext cx="3822192" cy="3931920"/>
          </a:xfrm>
          <a:prstGeom prst="roundRect">
            <a:avLst>
              <a:gd name="adj" fmla="val 2392"/>
            </a:avLst>
          </a:prstGeom>
          <a:solidFill>
            <a:srgbClr val="E8F1FB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8046720" y="20116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Reading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8046720" y="2468880"/>
            <a:ext cx="34290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two AI clinical themes lead (94 and 94 mentions), followed by team communication and problem solving: the plan pairs each AI training with practical workshops on the clinics’ own cases.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SOFT SKILLS AND LEADERSHIP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Self-assessment of the respondents, weakest first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Diagnosis  ·  Demonstration data — fictional organization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18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640080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1188720"/>
                <a:gridCol w="64008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Competence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Average (1–5)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Rewards and motivation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3.2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30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Training and effectiveness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3.2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30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Positive thinking and positive results (focus on solutions, break a b…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3.3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B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30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Management by objectives and strategic vision applied to oneself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3.3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B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30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Communication with oneself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3.3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B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29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Communication with the team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3.3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B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29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Managing with flexibility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3.3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B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28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Management by objectives and strategic vision applied to others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3.4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B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29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Chart 0" descr=""/>
          <p:cNvGraphicFramePr/>
          <p:nvPr/>
        </p:nvGraphicFramePr>
        <p:xfrm>
          <a:off x="7223760" y="1783080"/>
          <a:ext cx="4416552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 5"/>
          <p:cNvSpPr txBox="1"/>
          <p:nvPr/>
        </p:nvSpPr>
        <p:spPr>
          <a:xfrm>
            <a:off x="7223760" y="557784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Leadership levels reached (TER 3.7).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SKILL GAPS AND TRAINING NEEDS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From measured gaps to a validated needs register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Diagnosis  ·  Demonstration data — fictional organization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19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51206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822960"/>
                <a:gridCol w="868680"/>
                <a:gridCol w="77724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Competency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People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Avg gap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Critical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AI medical imaging assistance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2.0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0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AI bed and staff capacity planning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3.0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AI triage and clinical decision support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1.0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0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5"/>
          <p:cNvSpPr txBox="1"/>
          <p:nvPr/>
        </p:nvSpPr>
        <p:spPr>
          <a:xfrm>
            <a:off x="548640" y="3063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Skill gaps by competency (TER 3.40).</a:t>
            </a:r>
            <a:endParaRPr lang="en-US" sz="100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828800"/>
          <a:ext cx="5742432" cy="914400"/>
        </p:xfrm>
        <a:graphic>
          <a:graphicData uri="http://schemas.openxmlformats.org/drawingml/2006/table">
            <a:tbl>
              <a:tblPr/>
              <a:tblGrid>
                <a:gridCol w="320040"/>
                <a:gridCol w="2743200"/>
                <a:gridCol w="1051560"/>
                <a:gridCol w="685800"/>
                <a:gridCol w="941832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#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Theme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Source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Impact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Status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AI bed and staff capacity planning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Diagnostic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5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Validated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Responsible AI and data protection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Skills gap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5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Validated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AI bed and staff capacity planning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GPEC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5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Validated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4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AI medical imaging assistance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Demand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4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Validated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5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Prompting and generative AI at work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SWOT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4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Validated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6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AI medical imaging assistance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Diagnostic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4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Validated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7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AI triage and clinical decision support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Skills gap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B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Validated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8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AI literacy for all staff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GPEC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B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Validated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9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AI triage and clinical decision support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Demand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B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Validated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10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AI literacy for all staff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SWOT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B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Validated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</a:tbl>
          </a:graphicData>
        </a:graphic>
      </p:graphicFrame>
      <p:sp>
        <p:nvSpPr>
          <p:cNvPr id="12" name="Text 6"/>
          <p:cNvSpPr txBox="1"/>
          <p:nvPr/>
        </p:nvSpPr>
        <p:spPr>
          <a:xfrm>
            <a:off x="5897880" y="4983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Training needs register (TER 3.41): every need traced to its source.</a:t>
            </a:r>
            <a:endParaRPr lang="en-US" sz="1000" dirty="0"/>
          </a:p>
        </p:txBody>
      </p:sp>
      <p:sp>
        <p:nvSpPr>
          <p:cNvPr id="13" name="Shape 7"/>
          <p:cNvSpPr/>
          <p:nvPr/>
        </p:nvSpPr>
        <p:spPr>
          <a:xfrm>
            <a:off x="502920" y="3429000"/>
            <a:ext cx="3895344" cy="246888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14" name="Image 1" descr="Screenshot of the applica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474720"/>
            <a:ext cx="3803904" cy="237744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FOCUS ON THE CORE FUNCTION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Clinical Care &amp; Nursing</a:t>
            </a:r>
            <a:endParaRPr lang="en-US" sz="2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16736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Needs, assessment and competences of the function that carries the strategic objective SO-1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7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Diagnosis  ·  Demonstration data — fictional organization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20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94415" cy="914400"/>
        </p:xfrm>
        <a:graphic>
          <a:graphicData uri="http://schemas.openxmlformats.org/drawingml/2006/table">
            <a:tbl>
              <a:tblPr/>
              <a:tblGrid>
                <a:gridCol w="2773604"/>
                <a:gridCol w="2773604"/>
                <a:gridCol w="2773604"/>
                <a:gridCol w="2773604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Decision level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Score (%)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Status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Gap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88 %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Amber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AI triage and clinical decision support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MO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73 %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Amber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AI medical imaging assistance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OP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53 %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Red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AI bed and staff capacity planning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291840"/>
          <a:ext cx="11094415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463040"/>
                <a:gridCol w="4572000"/>
                <a:gridCol w="3227832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Respondent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Population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Strengths / Areas for improvement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Competences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Anas Berrada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Management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Soins cliniques et infirmiers — Experienced, committed team — Low use…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AI bed and staff capacity planning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Anas Berrada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Management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Clinical Care &amp; Nursing — Experienced, committed team — Little versat…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AI bed and staff capacity planning; Time management and priorities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Imane Bennani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Team member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Experienced, committed team — Reporting kept in spreadsheets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AI medical imaging assistance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Imane Bennani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Team member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Experienced, committed team — Little versatility between roles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AI medical imaging assistance; Time management and priorities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Hajar Mansouri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Management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Soins cliniques et infirmiers — Good knowledge of the market — Report…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AI bed and staff capacity planning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Hajar Mansouri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Management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Clinical Care &amp; Nursing — Stable processes — Little versatility betwe…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AI bed and staff capacity planning; Time management and priorities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</a:tbl>
          </a:graphicData>
        </a:graphic>
      </p:graphicFrame>
      <p:sp>
        <p:nvSpPr>
          <p:cNvPr id="12" name="Text 6"/>
          <p:cNvSpPr txBox="1"/>
          <p:nvPr/>
        </p:nvSpPr>
        <p:spPr>
          <a:xfrm>
            <a:off x="548640" y="6080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Source: TER sections 3.36 to 3.39.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USE OF AI TODAY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How the teams use AI and what holds them back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Diagnosis  ·  Demonstration data — fictional organization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21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548640" y="1828800"/>
            <a:ext cx="2103120" cy="274320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31520" y="1993392"/>
            <a:ext cx="457200" cy="457200"/>
          </a:xfrm>
          <a:prstGeom prst="ellipse">
            <a:avLst/>
          </a:prstGeom>
          <a:solidFill>
            <a:srgbClr val="1876C6"/>
          </a:solidFill>
          <a:ln w="12700">
            <a:solidFill>
              <a:srgbClr val="1876C6"/>
            </a:solidFill>
            <a:prstDash val="solid"/>
          </a:ln>
        </p:spPr>
      </p:sp>
      <p:pic>
        <p:nvPicPr>
          <p:cNvPr id="11" name="Image 1" descr="Activit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2103120"/>
            <a:ext cx="237744" cy="23774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731520" y="256032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Current use</a:t>
            </a:r>
            <a:endParaRPr lang="en-US" sz="1300" dirty="0"/>
          </a:p>
        </p:txBody>
      </p:sp>
      <p:sp>
        <p:nvSpPr>
          <p:cNvPr id="13" name="Text 8"/>
          <p:cNvSpPr txBox="1"/>
          <p:nvPr/>
        </p:nvSpPr>
        <p:spPr>
          <a:xfrm>
            <a:off x="731520" y="2971800"/>
            <a:ext cx="1783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Daily, for triage and reports. (31)</a:t>
            </a:r>
            <a:endParaRPr lang="en-US" sz="1050" dirty="0"/>
          </a:p>
        </p:txBody>
      </p:sp>
      <p:sp>
        <p:nvSpPr>
          <p:cNvPr id="14" name="Shape 9"/>
          <p:cNvSpPr/>
          <p:nvPr/>
        </p:nvSpPr>
        <p:spPr>
          <a:xfrm>
            <a:off x="2798064" y="1828800"/>
            <a:ext cx="2103120" cy="274320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2980944" y="1993392"/>
            <a:ext cx="457200" cy="457200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16" name="Image 2" descr="OctagonAler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0672" y="2103120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2980944" y="256032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Barriers</a:t>
            </a:r>
            <a:endParaRPr lang="en-US" sz="1300" dirty="0"/>
          </a:p>
        </p:txBody>
      </p:sp>
      <p:sp>
        <p:nvSpPr>
          <p:cNvPr id="18" name="Text 12"/>
          <p:cNvSpPr txBox="1"/>
          <p:nvPr/>
        </p:nvSpPr>
        <p:spPr>
          <a:xfrm>
            <a:off x="2980944" y="2971800"/>
            <a:ext cx="1783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Lack of training and unclear rules. (31)</a:t>
            </a:r>
            <a:endParaRPr lang="en-US" sz="1050" dirty="0"/>
          </a:p>
        </p:txBody>
      </p:sp>
      <p:sp>
        <p:nvSpPr>
          <p:cNvPr id="19" name="Shape 13"/>
          <p:cNvSpPr/>
          <p:nvPr/>
        </p:nvSpPr>
        <p:spPr>
          <a:xfrm>
            <a:off x="5047488" y="1828800"/>
            <a:ext cx="2103120" cy="274320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5230368" y="1993392"/>
            <a:ext cx="457200" cy="457200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21" name="Image 3" descr="Shield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0096" y="2103120"/>
            <a:ext cx="237744" cy="237744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5230368" y="256032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Risks to manage</a:t>
            </a:r>
            <a:endParaRPr lang="en-US" sz="1300" dirty="0"/>
          </a:p>
        </p:txBody>
      </p:sp>
      <p:sp>
        <p:nvSpPr>
          <p:cNvPr id="23" name="Text 16"/>
          <p:cNvSpPr txBox="1"/>
          <p:nvPr/>
        </p:nvSpPr>
        <p:spPr>
          <a:xfrm>
            <a:off x="5230368" y="2971800"/>
            <a:ext cx="1783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Data protection and validation of results. (31)</a:t>
            </a:r>
            <a:endParaRPr lang="en-US" sz="1050" dirty="0"/>
          </a:p>
        </p:txBody>
      </p:sp>
      <p:sp>
        <p:nvSpPr>
          <p:cNvPr id="24" name="Shape 17"/>
          <p:cNvSpPr/>
          <p:nvPr/>
        </p:nvSpPr>
        <p:spPr>
          <a:xfrm>
            <a:off x="7296912" y="1828800"/>
            <a:ext cx="2103120" cy="274320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7479792" y="1993392"/>
            <a:ext cx="457200" cy="457200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26" name="Image 4" descr="Targe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89520" y="2103120"/>
            <a:ext cx="237744" cy="237744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7479792" y="256032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Priorities</a:t>
            </a:r>
            <a:endParaRPr lang="en-US" sz="1300" dirty="0"/>
          </a:p>
        </p:txBody>
      </p:sp>
      <p:sp>
        <p:nvSpPr>
          <p:cNvPr id="28" name="Text 20"/>
          <p:cNvSpPr txBox="1"/>
          <p:nvPr/>
        </p:nvSpPr>
        <p:spPr>
          <a:xfrm>
            <a:off x="7479792" y="2971800"/>
            <a:ext cx="1783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AI medical imaging assistance; data quality (11)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AI triage and clinical decision support; data quality (10)</a:t>
            </a:r>
            <a:endParaRPr lang="en-US" sz="1050" dirty="0"/>
          </a:p>
        </p:txBody>
      </p:sp>
      <p:sp>
        <p:nvSpPr>
          <p:cNvPr id="29" name="Shape 21"/>
          <p:cNvSpPr/>
          <p:nvPr/>
        </p:nvSpPr>
        <p:spPr>
          <a:xfrm>
            <a:off x="9546336" y="1828800"/>
            <a:ext cx="2103120" cy="274320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30" name="Shape 22"/>
          <p:cNvSpPr/>
          <p:nvPr/>
        </p:nvSpPr>
        <p:spPr>
          <a:xfrm>
            <a:off x="9729216" y="1993392"/>
            <a:ext cx="457200" cy="457200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31" name="Image 5" descr="Presentati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38944" y="2103120"/>
            <a:ext cx="237744" cy="237744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9729216" y="256032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Preferred format</a:t>
            </a:r>
            <a:endParaRPr lang="en-US" sz="1300" dirty="0"/>
          </a:p>
        </p:txBody>
      </p:sp>
      <p:sp>
        <p:nvSpPr>
          <p:cNvPr id="33" name="Text 24"/>
          <p:cNvSpPr txBox="1"/>
          <p:nvPr/>
        </p:nvSpPr>
        <p:spPr>
          <a:xfrm>
            <a:off x="9729216" y="2971800"/>
            <a:ext cx="1783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Short workshops on the job, then coaching. (31)</a:t>
            </a:r>
            <a:endParaRPr lang="en-US" sz="105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663440"/>
          <a:ext cx="11094415" cy="914400"/>
        </p:xfrm>
        <a:graphic>
          <a:graphicData uri="http://schemas.openxmlformats.org/drawingml/2006/table">
            <a:tbl>
              <a:tblPr/>
              <a:tblGrid>
                <a:gridCol w="9144000"/>
                <a:gridCol w="978408"/>
                <a:gridCol w="969264"/>
              </a:tblGrid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Strategic planning practice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Yes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No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Is there a strategic plan with macro business plans at company level?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0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Are this strategic plan and the macro business plans implemented?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0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Are they monitored?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0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Are they subject to continuous improvement?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0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Text 25"/>
          <p:cNvSpPr txBox="1"/>
          <p:nvPr/>
        </p:nvSpPr>
        <p:spPr>
          <a:xfrm>
            <a:off x="548640" y="5989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Most frequent answers of 35 respondents (TER 3.45, 3.46).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OBJECTIVES AND EXPECTED RESULTS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the respondents want the training to change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Diagnosis  ·  Demonstration data — fictional organization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22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676656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3291840"/>
                <a:gridCol w="91440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Objective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SMART formulation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Mentions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Improve customer satisfaction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Satisfaction score ≥ 85% by end of year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28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Reduce non-quality costs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-20% rework in 12 months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28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Develop human capital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80% of critical roles certified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8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5"/>
          <p:cNvSpPr/>
          <p:nvPr/>
        </p:nvSpPr>
        <p:spPr>
          <a:xfrm>
            <a:off x="7589520" y="1828800"/>
            <a:ext cx="4050792" cy="4023360"/>
          </a:xfrm>
          <a:prstGeom prst="roundRect">
            <a:avLst>
              <a:gd name="adj" fmla="val 2273"/>
            </a:avLst>
          </a:prstGeom>
          <a:solidFill>
            <a:srgbClr val="E7F9F0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7818120" y="19659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Expected results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7818120" y="2423160"/>
            <a:ext cx="36118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Fewer errors and faster service.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Teams able to use AI medical imaging assistance safely.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Better audit results and staff retention.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Teams able to use AI bed and staff capacity planning safely.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Teams able to use AI triage and clinical decision support safely.</a:t>
            </a:r>
            <a:endParaRPr lang="en-US" sz="1250" dirty="0"/>
          </a:p>
        </p:txBody>
      </p:sp>
      <p:sp>
        <p:nvSpPr>
          <p:cNvPr id="13" name="Text 8"/>
          <p:cNvSpPr txBox="1"/>
          <p:nvPr/>
        </p:nvSpPr>
        <p:spPr>
          <a:xfrm>
            <a:off x="548640" y="6080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Source: TER 3.42 (64 objectives stated) and 3.9.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23A5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8595360" y="-1371600"/>
            <a:ext cx="5669280" cy="5669280"/>
          </a:xfrm>
          <a:prstGeom prst="ellipse">
            <a:avLst/>
          </a:prstGeom>
          <a:solidFill>
            <a:srgbClr val="1876C6">
              <a:alpha val="20000"/>
            </a:srgbClr>
          </a:solidFill>
          <a:ln w="12700">
            <a:solidFill>
              <a:srgbClr val="1876C6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875520" y="3749040"/>
            <a:ext cx="3108960" cy="3108960"/>
          </a:xfrm>
          <a:prstGeom prst="ellipse">
            <a:avLst/>
          </a:prstGeom>
          <a:solidFill>
            <a:srgbClr val="17A2B8">
              <a:alpha val="22000"/>
            </a:srgbClr>
          </a:solidFill>
          <a:ln w="12700">
            <a:solidFill>
              <a:srgbClr val="17A2B8">
                <a:alpha val="0"/>
              </a:srgb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28C87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7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0175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Training Engineering Report</a:t>
            </a:r>
            <a:endParaRPr lang="en-US" sz="38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8862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132 sections, 193 pages, generated from the run data</a:t>
            </a:r>
            <a:endParaRPr lang="en-US" sz="1800" dirty="0"/>
          </a:p>
        </p:txBody>
      </p:sp>
      <p:pic>
        <p:nvPicPr>
          <p:cNvPr id="8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080760"/>
            <a:ext cx="2011680" cy="371602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STRUCTURE OF THE REPORT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Training Engineering Report and Training Plan</a:t>
            </a:r>
            <a:endParaRPr lang="en-US" sz="23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16736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Version 1 · author Hicham Naciri · approved by Mehdi Lahlou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7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Training Engineering Report  ·  Demonstration data — fictional organization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24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512064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9144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Chapter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Sections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1. Description of the company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14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2. The previous training plan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3. Competence needs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50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4. Perspectives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5. The prioritized training plan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23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6. Risks, controls and indicators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7. Annexes — interview forms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36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6"/>
          <p:cNvSpPr txBox="1"/>
          <p:nvPr/>
        </p:nvSpPr>
        <p:spPr>
          <a:xfrm>
            <a:off x="548640" y="58978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Plus identification, data sources and approval.</a:t>
            </a:r>
            <a:endParaRPr lang="en-US" sz="1000" dirty="0"/>
          </a:p>
        </p:txBody>
      </p:sp>
      <p:sp>
        <p:nvSpPr>
          <p:cNvPr id="12" name="Shape 7"/>
          <p:cNvSpPr/>
          <p:nvPr/>
        </p:nvSpPr>
        <p:spPr>
          <a:xfrm>
            <a:off x="5897880" y="1783080"/>
            <a:ext cx="5760720" cy="3634740"/>
          </a:xfrm>
          <a:prstGeom prst="roundRect">
            <a:avLst>
              <a:gd name="adj" fmla="val 1509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13" name="Image 1" descr="Screenshot of the applica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669280" cy="354330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5943600" y="5943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report in the document editor.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STRATEGIC ORIENTATIONS AND HR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Needs linked to the strategy and to the HR orientations</a:t>
            </a:r>
            <a:endParaRPr lang="en-US" sz="21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16736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Priority axes named by the General Management: Leadership and performance · AI triage and clinical decision support · ISO 7101 compliance · Dashboards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7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Training Engineering Report  ·  Demonstration data — fictional organization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25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11094415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8531352"/>
                <a:gridCol w="164592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ID</a:t>
                      </a:r>
                      <a:endParaRPr lang="en-US" sz="11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Objective</a:t>
                      </a:r>
                      <a:endParaRPr lang="en-US" sz="11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Horizon</a:t>
                      </a:r>
                      <a:endParaRPr lang="en-US" sz="11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SO-1</a:t>
                      </a:r>
                      <a:endParaRPr lang="en-US" sz="11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Adopt AI triage and clinical decision support across Clinical Care &amp; Nursing by end 2027</a:t>
                      </a:r>
                      <a:endParaRPr lang="en-US" sz="11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2027-12-31</a:t>
                      </a:r>
                      <a:endParaRPr lang="en-US" sz="11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SO-2</a:t>
                      </a:r>
                      <a:endParaRPr lang="en-US" sz="11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Zero major findings in ISO 7101 audits</a:t>
                      </a:r>
                      <a:endParaRPr lang="en-US" sz="11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2026-12-31</a:t>
                      </a:r>
                      <a:endParaRPr lang="en-US" sz="11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</a:tbl>
          </a:graphicData>
        </a:graphic>
      </p:graphicFrame>
      <p:sp>
        <p:nvSpPr>
          <p:cNvPr id="11" name="Shape 6"/>
          <p:cNvSpPr/>
          <p:nvPr/>
        </p:nvSpPr>
        <p:spPr>
          <a:xfrm>
            <a:off x="548640" y="3291840"/>
            <a:ext cx="5486400" cy="26517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777240" y="34290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HR orientations</a:t>
            </a:r>
            <a:endParaRPr lang="en-US" sz="1500" dirty="0"/>
          </a:p>
        </p:txBody>
      </p:sp>
      <p:sp>
        <p:nvSpPr>
          <p:cNvPr id="13" name="Text 8"/>
          <p:cNvSpPr txBox="1"/>
          <p:nvPr/>
        </p:nvSpPr>
        <p:spPr>
          <a:xfrm>
            <a:off x="777240" y="3840480"/>
            <a:ext cx="5029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Update job descriptions, individual objectives and the yearly assessment; build career paths.</a:t>
            </a:r>
            <a:endParaRPr lang="en-US" sz="1250" dirty="0"/>
          </a:p>
        </p:txBody>
      </p:sp>
      <p:sp>
        <p:nvSpPr>
          <p:cNvPr id="14" name="Shape 9"/>
          <p:cNvSpPr/>
          <p:nvPr/>
        </p:nvSpPr>
        <p:spPr>
          <a:xfrm>
            <a:off x="6217920" y="3291840"/>
            <a:ext cx="5422392" cy="2651760"/>
          </a:xfrm>
          <a:prstGeom prst="roundRect">
            <a:avLst>
              <a:gd name="adj" fmla="val 3448"/>
            </a:avLst>
          </a:prstGeom>
          <a:solidFill>
            <a:srgbClr val="E8F1FB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446520" y="34290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Change management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6446520" y="3840480"/>
            <a:ext cx="5029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1) Focus and prioritization · 2) Stay positive · 3) Persevere and follow up with short daily repetitions · Patience · Lead by example · Progressiveness.</a:t>
            </a:r>
            <a:endParaRPr lang="en-US" sz="125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6080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Source: TER sections 3.1, 3.5 and 3.6.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PERSPECTIVES AND ROADMAP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Four initiatives deployed in three waves</a:t>
            </a:r>
            <a:endParaRPr lang="en-US" sz="2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16736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perspectives take into account the strategic orientations, the SWOT and improvement axes, the HR orientations and the recommendations made in the face-to-face meetin…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7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Training Engineering Report  ·  Demonstration data — fictional organization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26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548640" y="1874520"/>
            <a:ext cx="3520440" cy="2331720"/>
          </a:xfrm>
          <a:prstGeom prst="roundRect">
            <a:avLst>
              <a:gd name="adj" fmla="val 3922"/>
            </a:avLst>
          </a:prstGeom>
          <a:solidFill>
            <a:srgbClr val="E8F1FB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22960" y="20116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Wave 1</a:t>
            </a:r>
            <a:endParaRPr lang="en-US" sz="1900" dirty="0"/>
          </a:p>
        </p:txBody>
      </p:sp>
      <p:sp>
        <p:nvSpPr>
          <p:cNvPr id="12" name="Text 8"/>
          <p:cNvSpPr txBox="1"/>
          <p:nvPr/>
        </p:nvSpPr>
        <p:spPr>
          <a:xfrm>
            <a:off x="822960" y="2514600"/>
            <a:ext cx="3017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AI triage and clinical decision support — impact 5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AI literacy for all staff — impact 5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4297680" y="1874520"/>
            <a:ext cx="352044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4572000" y="20116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Wave 2</a:t>
            </a:r>
            <a:endParaRPr lang="en-US" sz="1900" dirty="0"/>
          </a:p>
        </p:txBody>
      </p:sp>
      <p:sp>
        <p:nvSpPr>
          <p:cNvPr id="15" name="Text 11"/>
          <p:cNvSpPr txBox="1"/>
          <p:nvPr/>
        </p:nvSpPr>
        <p:spPr>
          <a:xfrm>
            <a:off x="4572000" y="2514600"/>
            <a:ext cx="3017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AI medical imaging assistance — impact 4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8046720" y="1874520"/>
            <a:ext cx="352044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8321040" y="20116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Wave 3</a:t>
            </a:r>
            <a:endParaRPr lang="en-US" sz="1900" dirty="0"/>
          </a:p>
        </p:txBody>
      </p:sp>
      <p:sp>
        <p:nvSpPr>
          <p:cNvPr id="18" name="Text 14"/>
          <p:cNvSpPr txBox="1"/>
          <p:nvPr/>
        </p:nvSpPr>
        <p:spPr>
          <a:xfrm>
            <a:off x="8321040" y="2514600"/>
            <a:ext cx="3017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AI bed and staff capacity planning — impact 3</a:t>
            </a:r>
            <a:endParaRPr lang="en-US" sz="13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434840"/>
          <a:ext cx="11094415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7680960"/>
                <a:gridCol w="1463040"/>
                <a:gridCol w="1490472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#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Improvement axis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Implemented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Wave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AI triage and clinical decision support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60%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AI medical imaging assistance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65%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AI bed and staff capacity planning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70%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4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AI literacy for all staff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75%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</a:tbl>
          </a:graphicData>
        </a:graphic>
      </p:graphicFrame>
      <p:sp>
        <p:nvSpPr>
          <p:cNvPr id="20" name="Text 15"/>
          <p:cNvSpPr txBox="1"/>
          <p:nvPr/>
        </p:nvSpPr>
        <p:spPr>
          <a:xfrm>
            <a:off x="548640" y="6080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Source: TER chapter 4 and section 4.1.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RISKS AND CONTROLS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Each risk reduced by named controls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Training Engineering Report  ·  Demonstration data — fictional organization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27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94415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4206240"/>
                <a:gridCol w="1463040"/>
                <a:gridCol w="868680"/>
                <a:gridCol w="868680"/>
                <a:gridCol w="2770632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ID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Risk or opportunity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Category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Inherent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Residual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Controls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RISK-014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Low learner and user adoption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Adoption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16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8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CTRL-081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RISK-017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Critical knowledge lost with expert departure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Operational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16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8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CTRL-070; CTRL-082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RISK-001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Unauthorized access to tenant data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Security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6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CTRL-001; CTRL-002; CTRL-048; CTRL-011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RISK-005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Training plan misaligned with strategy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Strategic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16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6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CTRL-049; CTRL-057; CTRL-076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RISK-006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Inaccurate skills data leading to wrong needs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Data quality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15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6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CTRL-064; CTRL-045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RISK-030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Position descriptions diverge from reality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Organizational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6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CTRL-066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RISK-007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Unverified AI content in the Training Engineering Report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AI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16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5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CTRL-041; CTRL-056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RISK-009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Expired mandatory certification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Compliance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5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CTRL-053; CTRL-054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RISK-031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Site deployment deviates from group plan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Operational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5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CTRL-071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5"/>
          <p:cNvSpPr txBox="1"/>
          <p:nvPr/>
        </p:nvSpPr>
        <p:spPr>
          <a:xfrm>
            <a:off x="548640" y="48920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Top 9 of 35 risks by residual score (TER chapter 6).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PROJECT INDICATORS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Indicators followed every month during the run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Training Engineering Report  ·  Demonstration data — fictional organization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28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94415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0"/>
                <a:gridCol w="1463040"/>
                <a:gridCol w="2651760"/>
                <a:gridCol w="1307592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ID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Indicator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Target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Latest value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Status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KPI-003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Critical gap rate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≤ 10%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2026-10: 8.2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Green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KPI-004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Training Engineering Report cycle time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≤ 30 days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2026-10: 24.6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Green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KPI-005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Design approval lead time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≤ 20 days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2026-10: 16.4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Green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KPI-007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Content publication lead time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≤ 15 days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2026-10: 12.3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Green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KPI-008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Session fill rate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≥ 85%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2026-10: 91.8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Green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KPI-009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Plan realization rate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≥ 90%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2026-10: 97.2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Green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KPI-010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Learner completion rate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≥ 80%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2026-10: 86.4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Green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KPI-012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Average Level 1 satisfaction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≥ 4.2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2026-10: 4.5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Green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KPI-013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Skill progression rate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≥ 70%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2026-10: 75.6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Green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KPI-015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Training record correction rate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≤ 1%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2026-10: 0.82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Green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</a:tbl>
          </a:graphicData>
        </a:graphic>
      </p:graphicFrame>
      <p:sp>
        <p:nvSpPr>
          <p:cNvPr id="10" name="Text 5"/>
          <p:cNvSpPr txBox="1"/>
          <p:nvPr/>
        </p:nvSpPr>
        <p:spPr>
          <a:xfrm>
            <a:off x="548640" y="6080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10 of the 61 indicators of TER section 6.1.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23A5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8595360" y="-1371600"/>
            <a:ext cx="5669280" cy="5669280"/>
          </a:xfrm>
          <a:prstGeom prst="ellipse">
            <a:avLst/>
          </a:prstGeom>
          <a:solidFill>
            <a:srgbClr val="1876C6">
              <a:alpha val="20000"/>
            </a:srgbClr>
          </a:solidFill>
          <a:ln w="12700">
            <a:solidFill>
              <a:srgbClr val="1876C6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875520" y="3749040"/>
            <a:ext cx="3108960" cy="3108960"/>
          </a:xfrm>
          <a:prstGeom prst="ellipse">
            <a:avLst/>
          </a:prstGeom>
          <a:solidFill>
            <a:srgbClr val="17A2B8">
              <a:alpha val="22000"/>
            </a:srgbClr>
          </a:solidFill>
          <a:ln w="12700">
            <a:solidFill>
              <a:srgbClr val="17A2B8">
                <a:alpha val="0"/>
              </a:srgb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28C87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7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0175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Training Plan</a:t>
            </a:r>
            <a:endParaRPr lang="en-US" sz="38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8862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plan 2026 holds 2 programs and 6 trainings, 12 days per group in total and 44 group-days to deliver, for a budget of 1,260,000.</a:t>
            </a:r>
            <a:endParaRPr lang="en-US" sz="1800" dirty="0"/>
          </a:p>
        </p:txBody>
      </p:sp>
      <p:pic>
        <p:nvPicPr>
          <p:cNvPr id="8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080760"/>
            <a:ext cx="2011680" cy="371602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PRIORITIZED PLAN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Six themes ranked by impact and urgency</a:t>
            </a:r>
            <a:endParaRPr lang="en-US" sz="2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16736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Plan 2026 — status Locked — budget 1,260,000.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7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Training Plan  ·  Demonstration data — fictional organization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30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603504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3291840"/>
                <a:gridCol w="731520"/>
                <a:gridCol w="731520"/>
                <a:gridCol w="9144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#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Theme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Days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Groups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Budget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AI triage and clinical decision support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6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360,000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AI medical imaging assistance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4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300,000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AI bed and staff capacity planning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2.5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240,000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4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AI literacy for all staff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1.5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180,000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5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Prompting and generative AI at work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120,000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6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Responsible AI and data protection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60,000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Chart 0" descr=""/>
          <p:cNvGraphicFramePr/>
          <p:nvPr/>
        </p:nvGraphicFramePr>
        <p:xfrm>
          <a:off x="6766560" y="1783080"/>
          <a:ext cx="484632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 6"/>
          <p:cNvSpPr txBox="1"/>
          <p:nvPr/>
        </p:nvSpPr>
        <p:spPr>
          <a:xfrm>
            <a:off x="6766560" y="51206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Budget by theme.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PROGRAMS AND TRAININGS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Two programs, six trainings, clear prerequisites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Training Plan  ·  Demonstration data — fictional organization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31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94415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3657600"/>
                <a:gridCol w="3383280"/>
                <a:gridCol w="3136392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Code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Program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Strategic axis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Trainings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PRG-1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AI skills for Clinical Care &amp; Nursing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Execution of the core function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TR-AI-01, TR-AI-02, TR-AI-03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PRG-2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AI foundations for all staff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Leadership, performance and responsible use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TR-AI-04, TR-AI-05, TR-AI-06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926080"/>
          <a:ext cx="11094415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657600"/>
                <a:gridCol w="1188720"/>
                <a:gridCol w="1005840"/>
                <a:gridCol w="423367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ID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Training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Level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Duration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Prerequisites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TR-AI-01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AI triage and clinical decision support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Intermediate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 day(s)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Basic digital literacy; the Foundation training is recommended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TR-AI-02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AI medical imaging assistance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Intermediate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 day(s)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Basic digital literacy; the Foundation training is recommended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TR-AI-03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AI bed and staff capacity planning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Advanced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2.5 day(s)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TR-AI-01 or equivalent experience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TR-AI-04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AI literacy for all staff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Foundation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1.5 day(s)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None — open to all staff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TR-AI-05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Prompting and generative AI at work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Foundation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 day(s)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None — open to all staff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TR-AI-06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Responsible AI and data protection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Intermediate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 day(s)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Basic digital literacy; the Foundation training is recommended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</a:tbl>
          </a:graphicData>
        </a:graphic>
      </p:graphicFrame>
      <p:sp>
        <p:nvSpPr>
          <p:cNvPr id="11" name="Text 5"/>
          <p:cNvSpPr txBox="1"/>
          <p:nvPr/>
        </p:nvSpPr>
        <p:spPr>
          <a:xfrm>
            <a:off x="548640" y="57607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Source: Training Plan “Programs” and TER section 5.1.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TRAINING SHEET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TR-AI-01 — AI triage and clinical decision support</a:t>
            </a:r>
            <a:endParaRPr lang="en-US" sz="23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16736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Level Intermediate · 3 day(s) · program PRG-1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7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Training Plan  ·  Demonstration data — fictional organization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32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548640" y="1828800"/>
            <a:ext cx="6766560" cy="411480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22960" y="19659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Learning objectives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822960" y="2423160"/>
            <a:ext cx="62179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Explain the key concepts of AI triage and clinical decision support and how they apply to Clinical Care &amp; Nursing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Apply the methods and tools of AI triage and clinical decision support to a real case from Santéora Private Clinics Group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Plan the deployment of AI triage and clinical decision support with its indicators and controls (ISO 7101)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7589520" y="1828800"/>
            <a:ext cx="4050792" cy="4114800"/>
          </a:xfrm>
          <a:prstGeom prst="roundRect">
            <a:avLst>
              <a:gd name="adj" fmla="val 2257"/>
            </a:avLst>
          </a:prstGeom>
          <a:solidFill>
            <a:srgbClr val="E8F1FB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818120" y="19659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Prerequisites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7818120" y="2423160"/>
            <a:ext cx="3611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Basic digital literacy; the Foundation training is recommended</a:t>
            </a:r>
            <a:endParaRPr lang="en-US" sz="1250" dirty="0"/>
          </a:p>
        </p:txBody>
      </p:sp>
      <p:sp>
        <p:nvSpPr>
          <p:cNvPr id="16" name="Text 12"/>
          <p:cNvSpPr txBox="1"/>
          <p:nvPr/>
        </p:nvSpPr>
        <p:spPr>
          <a:xfrm>
            <a:off x="7818120" y="3657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Delivery</a:t>
            </a:r>
            <a:endParaRPr lang="en-US" sz="1500" dirty="0"/>
          </a:p>
        </p:txBody>
      </p:sp>
      <p:sp>
        <p:nvSpPr>
          <p:cNvPr id="17" name="Text 13"/>
          <p:cNvSpPr txBox="1"/>
          <p:nvPr/>
        </p:nvSpPr>
        <p:spPr>
          <a:xfrm>
            <a:off x="7818120" y="4069080"/>
            <a:ext cx="36118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M1 AI triage and clinical decision support · E-learning · 2 h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M3 AI triage and clinical decision support · Virtual classroom · 3.5 h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DETAILED AGENDA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 triage and clinical decision support — half-day by half-day</a:t>
            </a:r>
            <a:endParaRPr lang="en-US" sz="21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16736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22 activities over 3 day(s): lectures, quizzes and workshops on the clinics’ own cases.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7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Training Plan  ·  Demonstration data — fictional organization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33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548640" y="182880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E8F1FB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659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Day 1 — morning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777240" y="2331720"/>
            <a:ext cx="31089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Lecture · Foundations of AI triage and clinical decision support: key c… (75 min)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Lecture · Why AI triage and clinical decision support matters for Clini… (45 min)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Quiz — key concepts of AI triage and clinical decision support (20 min)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Workshop — map today’s practices in Clinical Care &amp; Nursing a… (75 min)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4297680" y="182880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4526280" y="19659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Day 1 — afternoon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4526280" y="2331720"/>
            <a:ext cx="31089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Lecture · Methods and tools of AI triage and clinical decision support (75 min)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Lecture · Worked example from the Healthcare Providers sector (40 min)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Quiz — choosing the right method (20 min)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Workshop — apply the method to a real case from Santéora Priv… (80 min)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46720" y="182880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8275320" y="19659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Day 2 — morning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8275320" y="2331720"/>
            <a:ext cx="31089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Lecture · Governance, risks and ISO 7101 requirements (60 min)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Lecture · Data, quality and evidence to keep (45 min)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Quiz — compliance and risk scenarios (20 min)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Workshop — build the control checklist of your process (80 min)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548640" y="393192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77240" y="406908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Day 2 — afternoon</a:t>
            </a:r>
            <a:endParaRPr lang="en-US" sz="1300" dirty="0"/>
          </a:p>
        </p:txBody>
      </p:sp>
      <p:sp>
        <p:nvSpPr>
          <p:cNvPr id="21" name="Text 17"/>
          <p:cNvSpPr txBox="1"/>
          <p:nvPr/>
        </p:nvSpPr>
        <p:spPr>
          <a:xfrm>
            <a:off x="777240" y="4434840"/>
            <a:ext cx="31089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Lecture · Deploying AI triage and clinical decision support: roles, cha… (60 min)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Lecture · Indicators that measure the results (45 min)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Quiz — adoption and indicator cases (20 min)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Workshop — design the indicator dashboard of your team (80 min)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4297680" y="393192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4526280" y="406908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Day 3 — morning</a:t>
            </a:r>
            <a:endParaRPr lang="en-US" sz="1300" dirty="0"/>
          </a:p>
        </p:txBody>
      </p:sp>
      <p:sp>
        <p:nvSpPr>
          <p:cNvPr id="24" name="Text 20"/>
          <p:cNvSpPr txBox="1"/>
          <p:nvPr/>
        </p:nvSpPr>
        <p:spPr>
          <a:xfrm>
            <a:off x="4526280" y="4434840"/>
            <a:ext cx="31089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Lecture · Advanced practices and lessons learned in Clinical Care &amp; Nur… (75 min)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Quiz — advanced cases (25 min)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Workshop — solve a critical incident scenario (100 min)</a:t>
            </a:r>
            <a:endParaRPr lang="en-US" sz="1050" dirty="0"/>
          </a:p>
        </p:txBody>
      </p:sp>
      <p:sp>
        <p:nvSpPr>
          <p:cNvPr id="25" name="Shape 21"/>
          <p:cNvSpPr/>
          <p:nvPr/>
        </p:nvSpPr>
        <p:spPr>
          <a:xfrm>
            <a:off x="8046720" y="393192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8275320" y="406908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Day 3 — afternoon</a:t>
            </a:r>
            <a:endParaRPr lang="en-US" sz="1300" dirty="0"/>
          </a:p>
        </p:txBody>
      </p:sp>
      <p:sp>
        <p:nvSpPr>
          <p:cNvPr id="27" name="Text 23"/>
          <p:cNvSpPr txBox="1"/>
          <p:nvPr/>
        </p:nvSpPr>
        <p:spPr>
          <a:xfrm>
            <a:off x="8275320" y="4434840"/>
            <a:ext cx="31089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Lecture · Transfer to the workplace: the 30-60-90-day plan (60 min)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Quiz · Final assessment (Kirkpatrick level 2) (30 min)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Workshop — individual action plan and peer review (90 min)</a:t>
            </a:r>
            <a:endParaRPr lang="en-US" sz="10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VALUE FOR EACH PERSONA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each audience should take the training</a:t>
            </a:r>
            <a:endParaRPr lang="en-US" sz="2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16736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Training TR-AI-01 — behaviour, pain points and hopes of each persona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7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Training Plan  ·  Demonstration data — fictional organization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34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548640" y="1828800"/>
            <a:ext cx="3520440" cy="411480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77240" y="2011680"/>
            <a:ext cx="548640" cy="548640"/>
          </a:xfrm>
          <a:prstGeom prst="ellipse">
            <a:avLst/>
          </a:prstGeom>
          <a:solidFill>
            <a:srgbClr val="1876C6"/>
          </a:solidFill>
          <a:ln w="12700">
            <a:solidFill>
              <a:srgbClr val="1876C6"/>
            </a:solidFill>
            <a:prstDash val="solid"/>
          </a:ln>
        </p:spPr>
      </p:sp>
      <p:pic>
        <p:nvPicPr>
          <p:cNvPr id="12" name="Image 1" descr="Briefca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914" y="2143354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463040" y="20116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Executive sponsor — General Manager</a:t>
            </a:r>
            <a:endParaRPr 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777240" y="274320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Decides on facts presented in short steering meetings; delegates execution to the management team; follows a few indicators.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Training spend with no visible link to the strategic objectives; results of the previous plan hard to prove; ISO 7101 audits that expose competence gaps.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prioritized plan that serves the strategy, a measurable return, and a management team able to lead the change.</a:t>
            </a:r>
            <a:endParaRPr lang="en-US" sz="1050" dirty="0"/>
          </a:p>
        </p:txBody>
      </p:sp>
      <p:sp>
        <p:nvSpPr>
          <p:cNvPr id="15" name="Shape 10"/>
          <p:cNvSpPr/>
          <p:nvPr/>
        </p:nvSpPr>
        <p:spPr>
          <a:xfrm>
            <a:off x="4297680" y="1828800"/>
            <a:ext cx="3520440" cy="411480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4526280" y="2011680"/>
            <a:ext cx="548640" cy="548640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17" name="Image 2" descr="User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7954" y="2143354"/>
            <a:ext cx="285293" cy="285293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212080" y="20116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Manager — director, head of department, process owner</a:t>
            </a:r>
            <a:endParaRPr lang="en-US" sz="1300" dirty="0"/>
          </a:p>
        </p:txBody>
      </p:sp>
      <p:sp>
        <p:nvSpPr>
          <p:cNvPr id="19" name="Text 13"/>
          <p:cNvSpPr txBox="1"/>
          <p:nvPr/>
        </p:nvSpPr>
        <p:spPr>
          <a:xfrm>
            <a:off x="4526280" y="274320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Balances daily operations and improvement projects; prefers practical, short formats; relies on key people in the team.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Team absent from the job during long trainings; skills gaps on critical activities of Clinical Care &amp; Nursing; processes not documented or without an owner.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Trainings that solve the function’s real problems, applied on the job the following week, with indicators the manager can follow.</a:t>
            </a:r>
            <a:endParaRPr lang="en-US" sz="1050" dirty="0"/>
          </a:p>
        </p:txBody>
      </p:sp>
      <p:sp>
        <p:nvSpPr>
          <p:cNvPr id="20" name="Shape 14"/>
          <p:cNvSpPr/>
          <p:nvPr/>
        </p:nvSpPr>
        <p:spPr>
          <a:xfrm>
            <a:off x="8046720" y="1828800"/>
            <a:ext cx="3520440" cy="411480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8275320" y="2011680"/>
            <a:ext cx="548640" cy="548640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22" name="Image 3" descr="Stethoscop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06994" y="2143354"/>
            <a:ext cx="285293" cy="285293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8961120" y="20116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Team member — Clinical Care &amp; Nursing</a:t>
            </a:r>
            <a:endParaRPr lang="en-US" sz="1300" dirty="0"/>
          </a:p>
        </p:txBody>
      </p:sp>
      <p:sp>
        <p:nvSpPr>
          <p:cNvPr id="24" name="Text 17"/>
          <p:cNvSpPr txBox="1"/>
          <p:nvPr/>
        </p:nvSpPr>
        <p:spPr>
          <a:xfrm>
            <a:off x="8275320" y="274320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Learns by doing and from peers; uses a phone more than a computer; wants to know what changes in daily work.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New tools introduced without explanation; theoretical trainings far from the tasks; fear of making mistakes with AI triage and clinical decision support.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Practical skills recognized by a certificate, less rework, and a clear path to the next position.</a:t>
            </a:r>
            <a:endParaRPr lang="en-US" sz="10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LEARNING DESIGN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Paths, modules and content assets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Training Plan  ·  Demonstration data — fictional organization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35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94415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731520"/>
                <a:gridCol w="3108960"/>
                <a:gridCol w="1645920"/>
                <a:gridCol w="822960"/>
                <a:gridCol w="1856232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Learning path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Days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Module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Modality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Hours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Design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AI triage and clinical decision support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M1 AI triage and clinical decision support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E-learning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Approved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M3 AI triage and clinical decision support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Virtual classroom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3.5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Approved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AI medical imaging assistance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M2 AI medical imaging assistance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Classroom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7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Approved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M4 AI medical imaging assistance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Classroom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7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Approved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65760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463040"/>
                <a:gridCol w="1371600"/>
                <a:gridCol w="2011680"/>
                <a:gridCol w="2011680"/>
                <a:gridCol w="1856232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Content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Format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Size (MB)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Review date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Status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Language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M1 material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SCORM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42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2027-08-03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Published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EN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M2 material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Video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180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2027-04-05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Published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FR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M3 material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PDF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3.2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2026-12-06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Published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AR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M4 material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Capsule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2026-08-08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Published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FR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</a:tbl>
          </a:graphicData>
        </a:graphic>
      </p:graphicFrame>
      <p:sp>
        <p:nvSpPr>
          <p:cNvPr id="11" name="Text 5"/>
          <p:cNvSpPr txBox="1"/>
          <p:nvPr/>
        </p:nvSpPr>
        <p:spPr>
          <a:xfrm>
            <a:off x="548640" y="6080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Source: TER sections 5.3 and 5.4.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BUDGET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Allocated, committed, spent and refunds expected</a:t>
            </a:r>
            <a:endParaRPr lang="en-US" sz="23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16736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Allocated 1,260,000, committed 1,260,000 (100 %), spent 1,238,497 (98 % of planned); expected refunds 352,800.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7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Training Plan  ·  Demonstration data — fictional organization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36</a:t>
            </a:r>
            <a:endParaRPr lang="en-US" sz="10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548640" y="1828800"/>
          <a:ext cx="64008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 6"/>
          <p:cNvSpPr txBox="1"/>
          <p:nvPr/>
        </p:nvSpPr>
        <p:spPr>
          <a:xfrm>
            <a:off x="548640" y="57150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Allocated (Muted) versus actual (Azure) by training, (TER 5.7).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78040" y="1828800"/>
          <a:ext cx="4462272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005840"/>
                <a:gridCol w="987552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Line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Actual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Refund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AI triage and clinical decisi…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354,598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100,800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AI medical imaging assistance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295,234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84,000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AI bed and staff capacity pla…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244,886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67,200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AI literacy for all staff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159,533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50,400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Prompting and generative AI a…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123,413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33,600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Responsible AI and data prote…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60,833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16,800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Total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1,238,497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352,800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78040" y="4343400"/>
          <a:ext cx="446227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645920"/>
                <a:gridCol w="713232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Provider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Accredited until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/5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Atlas Formation Conseil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2027-04-25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4.2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Maghreb Learning Partners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2027-08-03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3.8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23A5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8595360" y="-1371600"/>
            <a:ext cx="5669280" cy="5669280"/>
          </a:xfrm>
          <a:prstGeom prst="ellipse">
            <a:avLst/>
          </a:prstGeom>
          <a:solidFill>
            <a:srgbClr val="1876C6">
              <a:alpha val="20000"/>
            </a:srgbClr>
          </a:solidFill>
          <a:ln w="12700">
            <a:solidFill>
              <a:srgbClr val="1876C6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875520" y="3749040"/>
            <a:ext cx="3108960" cy="3108960"/>
          </a:xfrm>
          <a:prstGeom prst="ellipse">
            <a:avLst/>
          </a:prstGeom>
          <a:solidFill>
            <a:srgbClr val="17A2B8">
              <a:alpha val="22000"/>
            </a:srgbClr>
          </a:solidFill>
          <a:ln w="12700">
            <a:solidFill>
              <a:srgbClr val="17A2B8">
                <a:alpha val="0"/>
              </a:srgb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28C87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05</a:t>
            </a:r>
            <a:endParaRPr lang="en-US" sz="7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0175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Delivery, evaluation and audit</a:t>
            </a:r>
            <a:endParaRPr lang="en-US" sz="38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8862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Sessions, Kirkpatrick levels, ROI, internal audit and lessons learned</a:t>
            </a:r>
            <a:endParaRPr lang="en-US" sz="1800" dirty="0"/>
          </a:p>
        </p:txBody>
      </p:sp>
      <p:pic>
        <p:nvPicPr>
          <p:cNvPr id="8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080760"/>
            <a:ext cx="2011680" cy="371602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SESSIONS AND ATTENDANCE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Four sessions delivered with their enrolments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Delivery, evaluation and audit  ·  Demonstration data — fictional organization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38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694944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097280"/>
                <a:gridCol w="822960"/>
                <a:gridCol w="1188720"/>
                <a:gridCol w="64008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Session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Date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Capacity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Trainer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Enrolled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S-01 AI triage and clinical decision support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2026-07-19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Zineb Kettani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S-02 AI medical imaging assistance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2026-07-26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Zineb Kettani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S-03 AI triage and clinical decision support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2026-08-02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Zineb Kettani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S-04 AI medical imaging assistance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2026-08-09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Zineb Kettani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</a:tbl>
          </a:graphicData>
        </a:graphic>
      </p:graphicFrame>
      <p:sp>
        <p:nvSpPr>
          <p:cNvPr id="10" name="Shape 5"/>
          <p:cNvSpPr/>
          <p:nvPr/>
        </p:nvSpPr>
        <p:spPr>
          <a:xfrm>
            <a:off x="7818120" y="1828800"/>
            <a:ext cx="3822192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8019288" y="2048256"/>
            <a:ext cx="457200" cy="457200"/>
          </a:xfrm>
          <a:prstGeom prst="ellipse">
            <a:avLst/>
          </a:prstGeom>
          <a:solidFill>
            <a:srgbClr val="28C87C"/>
          </a:solidFill>
          <a:ln w="12700">
            <a:solidFill>
              <a:srgbClr val="28C87C"/>
            </a:solidFill>
            <a:prstDash val="solid"/>
          </a:ln>
        </p:spPr>
      </p:sp>
      <p:pic>
        <p:nvPicPr>
          <p:cNvPr id="12" name="Image 1" descr="User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9016" y="2157984"/>
            <a:ext cx="237744" cy="237744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8595360" y="1975104"/>
            <a:ext cx="2907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 / 12</a:t>
            </a:r>
            <a:endParaRPr lang="en-US" sz="2500" dirty="0"/>
          </a:p>
        </p:txBody>
      </p:sp>
      <p:sp>
        <p:nvSpPr>
          <p:cNvPr id="14" name="Text 8"/>
          <p:cNvSpPr txBox="1"/>
          <p:nvPr/>
        </p:nvSpPr>
        <p:spPr>
          <a:xfrm>
            <a:off x="8019288" y="2596896"/>
            <a:ext cx="34564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learners present at their session</a:t>
            </a:r>
            <a:endParaRPr lang="en-US" sz="1100" dirty="0"/>
          </a:p>
        </p:txBody>
      </p:sp>
      <p:sp>
        <p:nvSpPr>
          <p:cNvPr id="15" name="Shape 9"/>
          <p:cNvSpPr/>
          <p:nvPr/>
        </p:nvSpPr>
        <p:spPr>
          <a:xfrm>
            <a:off x="7818120" y="3246120"/>
            <a:ext cx="3822192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8019288" y="3465576"/>
            <a:ext cx="457200" cy="457200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17" name="Image 2" descr="Badge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9016" y="3575304"/>
            <a:ext cx="237744" cy="237744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8595360" y="3392424"/>
            <a:ext cx="2907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 / 12</a:t>
            </a:r>
            <a:endParaRPr lang="en-US" sz="2500" dirty="0"/>
          </a:p>
        </p:txBody>
      </p:sp>
      <p:sp>
        <p:nvSpPr>
          <p:cNvPr id="19" name="Text 12"/>
          <p:cNvSpPr txBox="1"/>
          <p:nvPr/>
        </p:nvSpPr>
        <p:spPr>
          <a:xfrm>
            <a:off x="8019288" y="4014216"/>
            <a:ext cx="34564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enrolments completed</a:t>
            </a:r>
            <a:endParaRPr lang="en-US" sz="1100" dirty="0"/>
          </a:p>
        </p:txBody>
      </p:sp>
      <p:sp>
        <p:nvSpPr>
          <p:cNvPr id="20" name="Shape 13"/>
          <p:cNvSpPr/>
          <p:nvPr/>
        </p:nvSpPr>
        <p:spPr>
          <a:xfrm>
            <a:off x="502920" y="3840480"/>
            <a:ext cx="3383280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21" name="Image 3" descr="Screenshot of the applicati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886200"/>
            <a:ext cx="3291840" cy="2057400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548640" y="5989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task of the delivery process with its typed steps.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EVALUATION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Results measured at three Kirkpatrick levels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Delivery, evaluation and audit  ·  Demonstration data — fictional organization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39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548640" y="1828800"/>
            <a:ext cx="352044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9808" y="2048256"/>
            <a:ext cx="457200" cy="457200"/>
          </a:xfrm>
          <a:prstGeom prst="ellipse">
            <a:avLst/>
          </a:prstGeom>
          <a:solidFill>
            <a:srgbClr val="1876C6"/>
          </a:solidFill>
          <a:ln w="12700">
            <a:solidFill>
              <a:srgbClr val="1876C6"/>
            </a:solidFill>
            <a:prstDash val="solid"/>
          </a:ln>
        </p:spPr>
      </p:sp>
      <p:pic>
        <p:nvPicPr>
          <p:cNvPr id="11" name="Image 1" descr="Smi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" y="2157984"/>
            <a:ext cx="237744" cy="23774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325880" y="1975104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77 %</a:t>
            </a:r>
            <a:endParaRPr lang="en-US" sz="2500" dirty="0"/>
          </a:p>
        </p:txBody>
      </p:sp>
      <p:sp>
        <p:nvSpPr>
          <p:cNvPr id="13" name="Text 8"/>
          <p:cNvSpPr txBox="1"/>
          <p:nvPr/>
        </p:nvSpPr>
        <p:spPr>
          <a:xfrm>
            <a:off x="749808" y="2596896"/>
            <a:ext cx="3154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 — Reaction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4297680" y="1828800"/>
            <a:ext cx="352044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4498848" y="2048256"/>
            <a:ext cx="457200" cy="457200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16" name="Image 2" descr="BookOpen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8576" y="2157984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5074920" y="1975104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74 %</a:t>
            </a:r>
            <a:endParaRPr lang="en-US" sz="2500" dirty="0"/>
          </a:p>
        </p:txBody>
      </p:sp>
      <p:sp>
        <p:nvSpPr>
          <p:cNvPr id="18" name="Text 12"/>
          <p:cNvSpPr txBox="1"/>
          <p:nvPr/>
        </p:nvSpPr>
        <p:spPr>
          <a:xfrm>
            <a:off x="4498848" y="2596896"/>
            <a:ext cx="3154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 — Learning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8046720" y="1828800"/>
            <a:ext cx="352044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8247888" y="2048256"/>
            <a:ext cx="457200" cy="457200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21" name="Image 3" descr="Footprint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57616" y="2157984"/>
            <a:ext cx="237744" cy="237744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8823960" y="1975104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75 %</a:t>
            </a:r>
            <a:endParaRPr lang="en-US" sz="2500" dirty="0"/>
          </a:p>
        </p:txBody>
      </p:sp>
      <p:sp>
        <p:nvSpPr>
          <p:cNvPr id="23" name="Text 16"/>
          <p:cNvSpPr txBox="1"/>
          <p:nvPr/>
        </p:nvSpPr>
        <p:spPr>
          <a:xfrm>
            <a:off x="8247888" y="2596896"/>
            <a:ext cx="3154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 — Behaviour</a:t>
            </a:r>
            <a:endParaRPr lang="en-US" sz="11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37560"/>
          <a:ext cx="11094415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108960"/>
                <a:gridCol w="2103120"/>
                <a:gridCol w="2743200"/>
                <a:gridCol w="1673352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Level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What is measured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When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Instrument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Results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 — Reaction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Satisfaction and perceived usefulness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End of each session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Satisfaction questionnaire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 × 77 %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 — Learning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Knowledge and skills acquired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End of the training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Pre- and post-test, case study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 × 74 %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 — Behaviour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Use of the skills at the workstation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Three months after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Manager observation grid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 × 75 %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4 — Results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Effect on the indicators of the function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Six to twelve months after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Indicators of the function (KPI)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—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</a:tbl>
          </a:graphicData>
        </a:graphic>
      </p:graphicFrame>
      <p:sp>
        <p:nvSpPr>
          <p:cNvPr id="25" name="Text 17"/>
          <p:cNvSpPr txBox="1"/>
          <p:nvPr/>
        </p:nvSpPr>
        <p:spPr>
          <a:xfrm>
            <a:off x="548640" y="5212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Certifications (TER 5.10): 4 valid, 1 expiring, 1 expired — the expired one triggers an alert and a renewal session.</a:t>
            </a:r>
            <a:endParaRPr lang="en-US" sz="13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ROI AND BUSINESS IMPACT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Phillips ROI and the indicators of the ROI study</a:t>
            </a:r>
            <a:endParaRPr lang="en-US" sz="23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16736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ROI and business impact report — Santéora Private Clinics Group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7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Delivery, evaluation and audit  ·  Demonstration data — fictional organization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40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548640" y="1828800"/>
            <a:ext cx="265176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49808" y="2048256"/>
            <a:ext cx="457200" cy="457200"/>
          </a:xfrm>
          <a:prstGeom prst="ellipse">
            <a:avLst/>
          </a:prstGeom>
          <a:solidFill>
            <a:srgbClr val="28C87C"/>
          </a:solidFill>
          <a:ln w="12700">
            <a:solidFill>
              <a:srgbClr val="28C87C"/>
            </a:solidFill>
            <a:prstDash val="solid"/>
          </a:ln>
        </p:spPr>
      </p:sp>
      <p:pic>
        <p:nvPicPr>
          <p:cNvPr id="12" name="Image 1" descr="TrendingU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" y="2157984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1975104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108</a:t>
            </a:r>
            <a:endParaRPr lang="en-US" sz="2500" dirty="0"/>
          </a:p>
        </p:txBody>
      </p:sp>
      <p:sp>
        <p:nvSpPr>
          <p:cNvPr id="14" name="Text 9"/>
          <p:cNvSpPr txBox="1"/>
          <p:nvPr/>
        </p:nvSpPr>
        <p:spPr>
          <a:xfrm>
            <a:off x="749808" y="2596896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Training ROI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3355848" y="1828800"/>
            <a:ext cx="265176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3557016" y="2048256"/>
            <a:ext cx="457200" cy="457200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17" name="Image 2" descr="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6744" y="2157984"/>
            <a:ext cx="237744" cy="23774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4133088" y="1975104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4.5</a:t>
            </a:r>
            <a:endParaRPr lang="en-US" sz="2500" dirty="0"/>
          </a:p>
        </p:txBody>
      </p:sp>
      <p:sp>
        <p:nvSpPr>
          <p:cNvPr id="19" name="Text 13"/>
          <p:cNvSpPr txBox="1"/>
          <p:nvPr/>
        </p:nvSpPr>
        <p:spPr>
          <a:xfrm>
            <a:off x="3557016" y="2596896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Average Level 1 satisfaction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6163056" y="1828800"/>
            <a:ext cx="265176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6364224" y="2048256"/>
            <a:ext cx="457200" cy="457200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22" name="Image 3" descr="ChartLi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3952" y="2157984"/>
            <a:ext cx="237744" cy="237744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940296" y="1975104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75.6</a:t>
            </a:r>
            <a:endParaRPr lang="en-US" sz="2500" dirty="0"/>
          </a:p>
        </p:txBody>
      </p:sp>
      <p:sp>
        <p:nvSpPr>
          <p:cNvPr id="24" name="Text 17"/>
          <p:cNvSpPr txBox="1"/>
          <p:nvPr/>
        </p:nvSpPr>
        <p:spPr>
          <a:xfrm>
            <a:off x="6364224" y="2596896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Skill progression rate</a:t>
            </a:r>
            <a:endParaRPr lang="en-US" sz="1100" dirty="0"/>
          </a:p>
        </p:txBody>
      </p:sp>
      <p:sp>
        <p:nvSpPr>
          <p:cNvPr id="25" name="Shape 18"/>
          <p:cNvSpPr/>
          <p:nvPr/>
        </p:nvSpPr>
        <p:spPr>
          <a:xfrm>
            <a:off x="8970264" y="1828800"/>
            <a:ext cx="265176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9171432" y="2048256"/>
            <a:ext cx="457200" cy="457200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27" name="Image 4" descr="Scal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81160" y="2157984"/>
            <a:ext cx="237744" cy="237744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9747504" y="1975104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4.1</a:t>
            </a:r>
            <a:endParaRPr lang="en-US" sz="2500" dirty="0"/>
          </a:p>
        </p:txBody>
      </p:sp>
      <p:sp>
        <p:nvSpPr>
          <p:cNvPr id="29" name="Text 21"/>
          <p:cNvSpPr txBox="1"/>
          <p:nvPr/>
        </p:nvSpPr>
        <p:spPr>
          <a:xfrm>
            <a:off x="9171432" y="2596896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Budget execution variance</a:t>
            </a:r>
            <a:endParaRPr lang="en-US" sz="11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37560"/>
          <a:ext cx="11094415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560320"/>
                <a:gridCol w="3931920"/>
                <a:gridCol w="1005840"/>
                <a:gridCol w="1645920"/>
                <a:gridCol w="1033272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ID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Indicator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Formula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Target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Latest value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Status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KPI-037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Training ROI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(Net programme benefits / programme costs) x 100 (Phillips)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≥ 100%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108 (2026-10)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Green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KPI-012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Average Level 1 satisfaction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Mean reaction score across closed sessions (1-5)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≥ 4.2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4.5 (2026-10)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Green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KPI-013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Skill progression rate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Learners gaining at least one level within 6 months / learners traine…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≥ 70%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75.6 (2026-10)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Green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KPI-022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Budget execution variance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|Actual - allocated| / allocated x 100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≤ 5%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4.1 (2026-10)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Green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KPI-023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OFPPT refund recovery rate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Refunds received / refunds forecast x 100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≥ 90%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97.2 (2026-10)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Green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</a:tbl>
          </a:graphicData>
        </a:graphic>
      </p:graphicFrame>
      <p:sp>
        <p:nvSpPr>
          <p:cNvPr id="31" name="Text 22"/>
          <p:cNvSpPr txBox="1"/>
          <p:nvPr/>
        </p:nvSpPr>
        <p:spPr>
          <a:xfrm>
            <a:off x="548640" y="6080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Source: ROI and business impact report (DT-E2E-08), indicators section.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INTERNAL AUDIT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Audit report — Santéora Private Clinics Group</a:t>
            </a:r>
            <a:endParaRPr lang="en-US" sz="23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16736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Conforming with one minor nonconformity to correct within 60 days.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7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Delivery, evaluation and audit  ·  Demonstration data — fictional organization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41</a:t>
            </a:r>
            <a:endParaRPr lang="en-US" sz="10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548640" y="1783080"/>
          <a:ext cx="45720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 6"/>
          <p:cNvSpPr txBox="1"/>
          <p:nvPr/>
        </p:nvSpPr>
        <p:spPr>
          <a:xfrm>
            <a:off x="548640" y="4754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Findings by grade.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94960" y="1828800"/>
          <a:ext cx="6245352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554480"/>
                <a:gridCol w="1097280"/>
                <a:gridCol w="304495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ID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Grade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Requirement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Statement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F-1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Minor nonconformity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ISO 7101 7.2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Two trainers have no evidence of competence on file.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F-2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Observation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B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ISO 7101 9.1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Level 3 evaluations are planned but not yet scheduled.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F-3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Opportunity for improvement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B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ISO 7101 7.1.6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Capture lessons learned at the end of each session.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F-4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Strength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ISO 7101 7.2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Needs analysis fully traced from strategic objectives.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</a:tbl>
          </a:graphicData>
        </a:graphic>
      </p:graphicFrame>
      <p:sp>
        <p:nvSpPr>
          <p:cNvPr id="13" name="Text 7"/>
          <p:cNvSpPr txBox="1"/>
          <p:nvPr/>
        </p:nvSpPr>
        <p:spPr>
          <a:xfrm>
            <a:off x="548640" y="51206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Strengths: Clear needs analysis; strong management involvement; complete attendance records.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Follow-up: Verification of the corrective action at the next steering committee.</a:t>
            </a:r>
            <a:endParaRPr lang="en-US" sz="12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LESSONS LEARNED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REX — AI triage and clinical decision support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Delivery, evaluation and audit  ·  Demonstration data — fictional organization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548640" y="1828800"/>
            <a:ext cx="2651760" cy="4023360"/>
          </a:xfrm>
          <a:prstGeom prst="roundRect">
            <a:avLst>
              <a:gd name="adj" fmla="val 3448"/>
            </a:avLst>
          </a:prstGeom>
          <a:solidFill>
            <a:srgbClr val="E7F9F0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77240" y="2057400"/>
            <a:ext cx="548640" cy="548640"/>
          </a:xfrm>
          <a:prstGeom prst="ellipse">
            <a:avLst/>
          </a:prstGeom>
          <a:solidFill>
            <a:srgbClr val="28C87C"/>
          </a:solidFill>
          <a:ln w="12700">
            <a:solidFill>
              <a:srgbClr val="28C87C"/>
            </a:solidFill>
            <a:prstDash val="solid"/>
          </a:ln>
        </p:spPr>
      </p:sp>
      <p:pic>
        <p:nvPicPr>
          <p:cNvPr id="11" name="Image 1" descr="ThumbsU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914" y="2189074"/>
            <a:ext cx="285293" cy="285293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777240" y="27432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went well</a:t>
            </a:r>
            <a:endParaRPr lang="en-US" sz="1400" dirty="0"/>
          </a:p>
        </p:txBody>
      </p:sp>
      <p:sp>
        <p:nvSpPr>
          <p:cNvPr id="13" name="Text 8"/>
          <p:cNvSpPr txBox="1"/>
          <p:nvPr/>
        </p:nvSpPr>
        <p:spPr>
          <a:xfrm>
            <a:off x="777240" y="3337560"/>
            <a:ext cx="2240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stakeholder register and multi-channel distribution lifted the response rate.</a:t>
            </a:r>
            <a:endParaRPr lang="en-US" sz="1250" dirty="0"/>
          </a:p>
        </p:txBody>
      </p:sp>
      <p:sp>
        <p:nvSpPr>
          <p:cNvPr id="14" name="Shape 9"/>
          <p:cNvSpPr/>
          <p:nvPr/>
        </p:nvSpPr>
        <p:spPr>
          <a:xfrm>
            <a:off x="3355848" y="1828800"/>
            <a:ext cx="2651760" cy="4023360"/>
          </a:xfrm>
          <a:prstGeom prst="roundRect">
            <a:avLst>
              <a:gd name="adj" fmla="val 3448"/>
            </a:avLst>
          </a:prstGeom>
          <a:solidFill>
            <a:srgbClr val="F4C7C3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3584448" y="2057400"/>
            <a:ext cx="548640" cy="548640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16" name="Image 2" descr="TriangleAler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6122" y="2189074"/>
            <a:ext cx="285293" cy="285293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3584448" y="27432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did not</a:t>
            </a:r>
            <a:endParaRPr lang="en-US" sz="1400" dirty="0"/>
          </a:p>
        </p:txBody>
      </p:sp>
      <p:sp>
        <p:nvSpPr>
          <p:cNvPr id="18" name="Text 12"/>
          <p:cNvSpPr txBox="1"/>
          <p:nvPr/>
        </p:nvSpPr>
        <p:spPr>
          <a:xfrm>
            <a:off x="3584448" y="3337560"/>
            <a:ext cx="2240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SWOT inputs arrived late from one function.</a:t>
            </a:r>
            <a:endParaRPr lang="en-US" sz="1250" dirty="0"/>
          </a:p>
        </p:txBody>
      </p:sp>
      <p:sp>
        <p:nvSpPr>
          <p:cNvPr id="19" name="Shape 13"/>
          <p:cNvSpPr/>
          <p:nvPr/>
        </p:nvSpPr>
        <p:spPr>
          <a:xfrm>
            <a:off x="6163056" y="1828800"/>
            <a:ext cx="2651760" cy="4023360"/>
          </a:xfrm>
          <a:prstGeom prst="roundRect">
            <a:avLst>
              <a:gd name="adj" fmla="val 3448"/>
            </a:avLst>
          </a:prstGeom>
          <a:solidFill>
            <a:srgbClr val="FFF3B0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6391656" y="2057400"/>
            <a:ext cx="548640" cy="548640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21" name="Image 3" descr="Searc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3330" y="2189074"/>
            <a:ext cx="285293" cy="285293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6391656" y="27432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Root cause</a:t>
            </a:r>
            <a:endParaRPr lang="en-US" sz="1400" dirty="0"/>
          </a:p>
        </p:txBody>
      </p:sp>
      <p:sp>
        <p:nvSpPr>
          <p:cNvPr id="23" name="Text 16"/>
          <p:cNvSpPr txBox="1"/>
          <p:nvPr/>
        </p:nvSpPr>
        <p:spPr>
          <a:xfrm>
            <a:off x="6391656" y="3337560"/>
            <a:ext cx="2240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No backup nominated for the function head.</a:t>
            </a:r>
            <a:endParaRPr lang="en-US" sz="1250" dirty="0"/>
          </a:p>
        </p:txBody>
      </p:sp>
      <p:sp>
        <p:nvSpPr>
          <p:cNvPr id="24" name="Shape 17"/>
          <p:cNvSpPr/>
          <p:nvPr/>
        </p:nvSpPr>
        <p:spPr>
          <a:xfrm>
            <a:off x="8970264" y="1828800"/>
            <a:ext cx="2651760" cy="4023360"/>
          </a:xfrm>
          <a:prstGeom prst="roundRect">
            <a:avLst>
              <a:gd name="adj" fmla="val 3448"/>
            </a:avLst>
          </a:prstGeom>
          <a:solidFill>
            <a:srgbClr val="E8F1FB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9198864" y="2057400"/>
            <a:ext cx="548640" cy="548640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26" name="Image 4" descr="Lightbulb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30538" y="2189074"/>
            <a:ext cx="285293" cy="285293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9198864" y="27432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we will do next time</a:t>
            </a:r>
            <a:endParaRPr lang="en-US" sz="1400" dirty="0"/>
          </a:p>
        </p:txBody>
      </p:sp>
      <p:sp>
        <p:nvSpPr>
          <p:cNvPr id="28" name="Text 20"/>
          <p:cNvSpPr txBox="1"/>
          <p:nvPr/>
        </p:nvSpPr>
        <p:spPr>
          <a:xfrm>
            <a:off x="9198864" y="3337560"/>
            <a:ext cx="2240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Name a backup for every function head at kickoff.</a:t>
            </a:r>
            <a:endParaRPr lang="en-US" sz="12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23A5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8595360" y="-1371600"/>
            <a:ext cx="5669280" cy="5669280"/>
          </a:xfrm>
          <a:prstGeom prst="ellipse">
            <a:avLst/>
          </a:prstGeom>
          <a:solidFill>
            <a:srgbClr val="1876C6">
              <a:alpha val="20000"/>
            </a:srgbClr>
          </a:solidFill>
          <a:ln w="12700">
            <a:solidFill>
              <a:srgbClr val="1876C6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875520" y="3749040"/>
            <a:ext cx="3108960" cy="3108960"/>
          </a:xfrm>
          <a:prstGeom prst="ellipse">
            <a:avLst/>
          </a:prstGeom>
          <a:solidFill>
            <a:srgbClr val="17A2B8">
              <a:alpha val="22000"/>
            </a:srgbClr>
          </a:solidFill>
          <a:ln w="12700">
            <a:solidFill>
              <a:srgbClr val="17A2B8">
                <a:alpha val="0"/>
              </a:srgb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28C87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06</a:t>
            </a:r>
            <a:endParaRPr lang="en-US" sz="7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0175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Documents produced</a:t>
            </a:r>
            <a:endParaRPr lang="en-US" sz="38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8862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37 documents published in English, each traced to its data</a:t>
            </a:r>
            <a:endParaRPr lang="en-US" sz="1800" dirty="0"/>
          </a:p>
        </p:txBody>
      </p:sp>
      <p:pic>
        <p:nvPicPr>
          <p:cNvPr id="8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080760"/>
            <a:ext cx="2011680" cy="371602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DOCUMENTS PRODUCED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Every end-to-end process leaves its document</a:t>
            </a:r>
            <a:endParaRPr lang="en-US" sz="2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16736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All published, versioned and approved by a second person — 1,077 pages.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7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Documents produced  ·  Demonstration data — fictional organization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44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544068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3657600"/>
                <a:gridCol w="6400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Code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Document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Pages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DT-E2E-01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Annual L&amp;D plan and budget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29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DT-E2E-02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Skills gap diagnosis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23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DT-E2E-03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Training needs report and roadmap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29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DT-E2E-04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Curriculum design document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25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DT-E2E-05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Training delivery report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29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DT-E2E-06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Learner engagement report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30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DT-E2E-07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Training evaluation report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24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DT-E2E-08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ROI and business impact report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24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DT-E2E-09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Compliance and certification register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22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DT-E2E-10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Internal mobility and career paths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26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99632" y="1828800"/>
          <a:ext cx="544068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3657600"/>
                <a:gridCol w="6400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Code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Document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Pages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DT-E2E-11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Onboarding programme record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22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DT-E2E-12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Knowledge capture and transfer record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23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DT-E2E-13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Content catalogue and lifecycle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23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DT-E2E-14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Extended enterprise training report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23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DT-E2E-15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Data, AI and integration governance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24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DT-E2E-16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Vendor management file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22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DT-E2E-17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Change and adoption plan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23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DT-E2E-18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Quality, risk and improvement report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30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DT-E2E-19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Consulting engagement closure report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26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DT-E2E-20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Multi-axis diagnostic and maturity report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27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DOCUMENTS PRODUCED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Documents produced (continued)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Documents produced  ·  Demonstration data — fictional organization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45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544068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3657600"/>
                <a:gridCol w="6400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Code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Document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Pages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DT-E2E-21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Previous plan impact evaluation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25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DT-E2E-22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Multi-site deployment plan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24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DT-E2E-23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Regulatory submission file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22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DT-E2E-24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Competitive intelligence note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23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DT-E2E-25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Job architecture and competency map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23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DT-E2E-26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Forward planning of jobs and skills (GPEC)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25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DT-E2E-27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Training demand consolidation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22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DT-E2E-28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Performance assessment and RAG dashboard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22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DT-E2E-29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Functional SWOT and improvement axes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23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DT-E2E-30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Prioritized resource plan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24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99632" y="1828800"/>
          <a:ext cx="544068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3657600"/>
                <a:gridCol w="6400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Code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Document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Pages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DT-E2E-31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Post-engagement roadmap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24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DT-E2E-32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Scope of work and stakeholder register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31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DT-E2E-33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Questionnaire campaign report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30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DT-TER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Training Engineering Report and Training Plan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193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DT-PLAN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Training plan with detailed agendas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35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DT-AUDIT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Audit report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5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DT-MASTER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Master list of documented information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22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TRACEABILITY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Every number of the report comes from a record</a:t>
            </a:r>
            <a:endParaRPr lang="en-US" sz="23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16736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Every table of this document is drawn from the application’s records; data as of 07/10/2026, 15:27:56.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7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Documents produced  ·  Demonstration data — fictional organization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46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64008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005840"/>
                <a:gridCol w="1188720"/>
                <a:gridCol w="155448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Source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Records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Process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Last change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Questionnaire responses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30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MP-54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—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Stakeholder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40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MP-53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2026-10-07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ScopeCriterion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17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MP-52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2026-10-07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SkillAssessment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12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MP-16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2026-10-07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SkillGap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8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MP-16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2026-10-07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TrainingNeed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10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MP-03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2026-10-07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RoadmapInitiative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4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MP-04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2026-10-07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WbsNode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MP-49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2026-10-07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Session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4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MP-05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2026-10-07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TrainingPlan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MP-49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2026-10-07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Employee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16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MP-16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2026-10-07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StrategicObjective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MP-01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2026-10-07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</a:tbl>
          </a:graphicData>
        </a:graphic>
      </p:graphicFrame>
      <p:sp>
        <p:nvSpPr>
          <p:cNvPr id="11" name="Shape 6"/>
          <p:cNvSpPr/>
          <p:nvPr/>
        </p:nvSpPr>
        <p:spPr>
          <a:xfrm>
            <a:off x="7269480" y="1828800"/>
            <a:ext cx="4370832" cy="4023360"/>
          </a:xfrm>
          <a:prstGeom prst="roundRect">
            <a:avLst>
              <a:gd name="adj" fmla="val 2273"/>
            </a:avLst>
          </a:prstGeom>
          <a:solidFill>
            <a:srgbClr val="E8F1FB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7498080" y="19659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Governance of the documents</a:t>
            </a:r>
            <a:endParaRPr lang="en-US" sz="1500" dirty="0"/>
          </a:p>
        </p:txBody>
      </p:sp>
      <p:sp>
        <p:nvSpPr>
          <p:cNvPr id="13" name="Shape 8"/>
          <p:cNvSpPr/>
          <p:nvPr/>
        </p:nvSpPr>
        <p:spPr>
          <a:xfrm>
            <a:off x="7498080" y="2468880"/>
            <a:ext cx="384048" cy="384048"/>
          </a:xfrm>
          <a:prstGeom prst="ellipse">
            <a:avLst/>
          </a:prstGeom>
          <a:solidFill>
            <a:srgbClr val="1876C6"/>
          </a:solidFill>
          <a:ln w="12700">
            <a:solidFill>
              <a:srgbClr val="1876C6"/>
            </a:solidFill>
            <a:prstDash val="solid"/>
          </a:ln>
        </p:spPr>
      </p:sp>
      <p:pic>
        <p:nvPicPr>
          <p:cNvPr id="14" name="Image 1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0252" y="2561052"/>
            <a:ext cx="199705" cy="199705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046720" y="2441448"/>
            <a:ext cx="342900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Author Hicham Naciri, approver Mehdi Lahlou: two different people.</a:t>
            </a:r>
            <a:endParaRPr lang="en-US" sz="1200" dirty="0"/>
          </a:p>
        </p:txBody>
      </p:sp>
      <p:sp>
        <p:nvSpPr>
          <p:cNvPr id="16" name="Shape 10"/>
          <p:cNvSpPr/>
          <p:nvPr/>
        </p:nvSpPr>
        <p:spPr>
          <a:xfrm>
            <a:off x="7498080" y="3520440"/>
            <a:ext cx="384048" cy="384048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17" name="Image 2" descr="Arrow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0252" y="3612612"/>
            <a:ext cx="199705" cy="199705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8046720" y="3493008"/>
            <a:ext cx="342900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Each version is kept; a change of the data marks the document as stale.</a:t>
            </a:r>
            <a:endParaRPr lang="en-US" sz="1200" dirty="0"/>
          </a:p>
        </p:txBody>
      </p:sp>
      <p:sp>
        <p:nvSpPr>
          <p:cNvPr id="19" name="Shape 12"/>
          <p:cNvSpPr/>
          <p:nvPr/>
        </p:nvSpPr>
        <p:spPr>
          <a:xfrm>
            <a:off x="7498080" y="4572000"/>
            <a:ext cx="384048" cy="384048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20" name="Image 3" descr="Shield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90252" y="4664172"/>
            <a:ext cx="199705" cy="199705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8046720" y="4544568"/>
            <a:ext cx="342900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20 data sources listed with their record counts and process.</a:t>
            </a:r>
            <a:endParaRPr lang="en-US" sz="12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INSIDE THE APPLICATION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Training Plan as the users see it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Documents produced  ·  Demonstration data — fictional organization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47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502920" y="1783080"/>
            <a:ext cx="5577840" cy="3520440"/>
          </a:xfrm>
          <a:prstGeom prst="roundRect">
            <a:avLst>
              <a:gd name="adj" fmla="val 1558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10" name="Image 1" descr="Screenshot of the applica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5486400" cy="34290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48640" y="5852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Training plan with detailed agendas — Santéora Private Clinics Group</a:t>
            </a:r>
            <a:endParaRPr lang="en-US" sz="1000" dirty="0"/>
          </a:p>
        </p:txBody>
      </p:sp>
      <p:sp>
        <p:nvSpPr>
          <p:cNvPr id="12" name="Shape 7"/>
          <p:cNvSpPr/>
          <p:nvPr/>
        </p:nvSpPr>
        <p:spPr>
          <a:xfrm>
            <a:off x="6126480" y="1783080"/>
            <a:ext cx="5577840" cy="3520440"/>
          </a:xfrm>
          <a:prstGeom prst="roundRect">
            <a:avLst>
              <a:gd name="adj" fmla="val 1558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13" name="Image 2" descr="Screenshot of the applicati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828800"/>
            <a:ext cx="5486400" cy="342900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172200" y="5852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Training plan screen: programs, trainings and sessions.</a:t>
            </a:r>
            <a:endParaRPr lang="en-US" sz="1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INSIDE THE APPLICATION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project workspace and the dashboard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Documents produced  ·  Demonstration data — fictional organization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48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502920" y="1783080"/>
            <a:ext cx="5577840" cy="3520440"/>
          </a:xfrm>
          <a:prstGeom prst="roundRect">
            <a:avLst>
              <a:gd name="adj" fmla="val 1558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10" name="Image 1" descr="Screenshot of the applica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5486400" cy="34290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48640" y="5852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Project workspace: phases, processes and progress.</a:t>
            </a:r>
            <a:endParaRPr lang="en-US" sz="1000" dirty="0"/>
          </a:p>
        </p:txBody>
      </p:sp>
      <p:sp>
        <p:nvSpPr>
          <p:cNvPr id="12" name="Shape 7"/>
          <p:cNvSpPr/>
          <p:nvPr/>
        </p:nvSpPr>
        <p:spPr>
          <a:xfrm>
            <a:off x="6126480" y="1783080"/>
            <a:ext cx="5577840" cy="3520440"/>
          </a:xfrm>
          <a:prstGeom prst="roundRect">
            <a:avLst>
              <a:gd name="adj" fmla="val 1558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13" name="Image 2" descr="Screenshot of the applicati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828800"/>
            <a:ext cx="5486400" cy="342900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172200" y="5852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Dashboard of the clinic group.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CONCLUSION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the clinic group has at the end of the cycle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Conclusion  ·  Demonstration data — fictional organization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49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548640" y="1920240"/>
            <a:ext cx="384048" cy="384048"/>
          </a:xfrm>
          <a:prstGeom prst="ellipse">
            <a:avLst/>
          </a:prstGeom>
          <a:solidFill>
            <a:srgbClr val="1876C6"/>
          </a:solidFill>
          <a:ln w="12700">
            <a:solidFill>
              <a:srgbClr val="1876C6"/>
            </a:solidFill>
            <a:prstDash val="solid"/>
          </a:ln>
        </p:spPr>
      </p:sp>
      <p:pic>
        <p:nvPicPr>
          <p:cNvPr id="10" name="Image 1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812" y="2012412"/>
            <a:ext cx="199705" cy="199705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0" y="1892808"/>
            <a:ext cx="10545775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Training Engineering Report of 193 pages, built from 35 answers, 40 stakeholders and the diagnosis of every function.</a:t>
            </a:r>
            <a:endParaRPr lang="en-US" sz="1500" dirty="0"/>
          </a:p>
        </p:txBody>
      </p:sp>
      <p:sp>
        <p:nvSpPr>
          <p:cNvPr id="12" name="Shape 7"/>
          <p:cNvSpPr/>
          <p:nvPr/>
        </p:nvSpPr>
        <p:spPr>
          <a:xfrm>
            <a:off x="548640" y="2697480"/>
            <a:ext cx="384048" cy="384048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13" name="Image 2" descr="Arrow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812" y="2789652"/>
            <a:ext cx="199705" cy="199705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097280" y="2670048"/>
            <a:ext cx="10545775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locked Training Plan: 6 trainings, half-day agendas, a value proposition per persona and a budget of 1,260,000</a:t>
            </a:r>
            <a:endParaRPr lang="en-US" sz="1500" dirty="0"/>
          </a:p>
        </p:txBody>
      </p:sp>
      <p:sp>
        <p:nvSpPr>
          <p:cNvPr id="15" name="Shape 9"/>
          <p:cNvSpPr/>
          <p:nvPr/>
        </p:nvSpPr>
        <p:spPr>
          <a:xfrm>
            <a:off x="548640" y="3474720"/>
            <a:ext cx="384048" cy="384048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16" name="Image 3" descr="Shield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812" y="3566892"/>
            <a:ext cx="199705" cy="199705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097280" y="3447288"/>
            <a:ext cx="10545775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Evaluation at three Kirkpatrick levels, an ROI study, followed certifications and an internal audit with one minor nonconformity to correct.</a:t>
            </a:r>
            <a:endParaRPr lang="en-US" sz="1500" dirty="0"/>
          </a:p>
        </p:txBody>
      </p:sp>
      <p:sp>
        <p:nvSpPr>
          <p:cNvPr id="18" name="Shape 11"/>
          <p:cNvSpPr/>
          <p:nvPr/>
        </p:nvSpPr>
        <p:spPr>
          <a:xfrm>
            <a:off x="548640" y="4251960"/>
            <a:ext cx="384048" cy="384048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19" name="Image 4" descr="CircleDo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812" y="4344132"/>
            <a:ext cx="199705" cy="199705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1097280" y="4224528"/>
            <a:ext cx="10545775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37 published documents ready for an accreditation audit (ISO 7101, JCI), each traced to the data and the step that produced it.</a:t>
            </a:r>
            <a:endParaRPr lang="en-US" sz="1500" dirty="0"/>
          </a:p>
        </p:txBody>
      </p:sp>
      <p:sp>
        <p:nvSpPr>
          <p:cNvPr id="21" name="Shape 13"/>
          <p:cNvSpPr/>
          <p:nvPr/>
        </p:nvSpPr>
        <p:spPr>
          <a:xfrm>
            <a:off x="548640" y="5029200"/>
            <a:ext cx="384048" cy="384048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22" name="Image 5" descr="Targe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812" y="5121372"/>
            <a:ext cx="199705" cy="199705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1097280" y="5001768"/>
            <a:ext cx="10545775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Next: waves 2 and 3 of the roadmap and the level-4 (results) evaluation six to twelve months after the trainings.</a:t>
            </a:r>
            <a:endParaRPr lang="en-US" sz="15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23A5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49928" y="1371600"/>
            <a:ext cx="3291840" cy="2344522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0" y="4069080"/>
            <a:ext cx="121916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Thank you</a:t>
            </a:r>
            <a:endParaRPr lang="en-US" sz="3600" dirty="0"/>
          </a:p>
        </p:txBody>
      </p:sp>
      <p:sp>
        <p:nvSpPr>
          <p:cNvPr id="5" name="Text 1"/>
          <p:cNvSpPr txBox="1"/>
          <p:nvPr/>
        </p:nvSpPr>
        <p:spPr>
          <a:xfrm>
            <a:off x="0" y="489204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28C87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MEASURABLE · GOVERNED · SUSTAINABLE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50</Slides>
  <Notes>50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5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</vt:vector>
  </TitlesOfParts>
  <Company>AI Value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Healthcare full case — Training engineering project</dc:title>
  <dc:subject>PptxGenJS Presentation</dc:subject>
  <dc:creator>AI Value</dc:creator>
  <cp:lastModifiedBy>AI Value</cp:lastModifiedBy>
  <cp:revision>1</cp:revision>
  <dcterms:created xsi:type="dcterms:W3CDTF">2026-10-12T22:10:02Z</dcterms:created>
  <dcterms:modified xsi:type="dcterms:W3CDTF">2026-10-12T22:10:02Z</dcterms:modified>
</cp:coreProperties>
</file>
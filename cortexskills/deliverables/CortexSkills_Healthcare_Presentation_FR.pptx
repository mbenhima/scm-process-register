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9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0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4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5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16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charts/chart17.xml" ContentType="application/vnd.openxmlformats-officedocument.drawingml.chart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18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19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20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 d’usage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Faible</c:v>
                  </c:pt>
                  <c:pt idx="1">
                    <c:v>Moyen</c:v>
                  </c:pt>
                  <c:pt idx="2">
                    <c:v>Élevé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Déroulé IA (65 %)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Catalyseurs</c:v>
                  </c:pt>
                  <c:pt idx="1">
                    <c:v>Périmètre</c:v>
                  </c:pt>
                  <c:pt idx="2">
                    <c:v>Diagnostic</c:v>
                  </c:pt>
                  <c:pt idx="3">
                    <c:v>Rapport et plan</c:v>
                  </c:pt>
                  <c:pt idx="4">
                    <c:v>Déploiement</c:v>
                  </c:pt>
                  <c:pt idx="5">
                    <c:v>Évaluation</c:v>
                  </c:pt>
                  <c:pt idx="6">
                    <c:v>Amélioration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41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Déroulé numérique (78 %)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Catalyseurs</c:v>
                  </c:pt>
                  <c:pt idx="1">
                    <c:v>Périmètre</c:v>
                  </c:pt>
                  <c:pt idx="2">
                    <c:v>Diagnostic</c:v>
                  </c:pt>
                  <c:pt idx="3">
                    <c:v>Rapport et plan</c:v>
                  </c:pt>
                  <c:pt idx="4">
                    <c:v>Déploiement</c:v>
                  </c:pt>
                  <c:pt idx="5">
                    <c:v>Évaluation</c:v>
                  </c:pt>
                  <c:pt idx="6">
                    <c:v>Amélioration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50</c:v>
                </c:pt>
                <c:pt idx="6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Impact métier</c:v>
                  </c:pt>
                  <c:pt idx="1">
                    <c:v>Nouveauté</c:v>
                  </c:pt>
                  <c:pt idx="2">
                    <c:v>Exposition réglementaire</c:v>
                  </c:pt>
                  <c:pt idx="3">
                    <c:v>Investissement</c:v>
                  </c:pt>
                  <c:pt idx="4">
                    <c:v>Périmètre</c:v>
                  </c:pt>
                  <c:pt idx="5">
                    <c:v>Incertitude</c:v>
                  </c:pt>
                  <c:pt idx="6">
                    <c:v>Délai de mise en œuvre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Parties prenantes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Stratégique (MS)</c:v>
                  </c:pt>
                  <c:pt idx="1">
                    <c:v>Managérial (MO)</c:v>
                  </c:pt>
                  <c:pt idx="2">
                    <c:v>Opérationnel (OP)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Parties prenantes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Face-à-face</c:v>
                  </c:pt>
                  <c:pt idx="1">
                    <c:v>Combination</c:v>
                  </c:pt>
                  <c:pt idx="2">
                    <c:v>E-mail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26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Réponses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8931D"/>
              </a:solidFill>
              <a:effectLst/>
            </c:spPr>
          </c:dPt>
          <c:dPt>
            <c:idx val="1"/>
            <c:bubble3D val="0"/>
            <c:spPr>
              <a:solidFill>
                <a:srgbClr val="808184"/>
              </a:solidFill>
              <a:effectLst/>
            </c:spPr>
          </c:dPt>
          <c:dPt>
            <c:idx val="2"/>
            <c:bubble3D val="0"/>
            <c:spPr>
              <a:solidFill>
                <a:srgbClr val="E3E3E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Face-à-face</c:v>
                </c:pt>
                <c:pt idx="1">
                  <c:v>Application</c:v>
                </c:pt>
                <c:pt idx="2">
                  <c:v>E-mail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9</c:v>
                </c:pt>
                <c:pt idx="2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Réponses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Moins de 85 %</c:v>
                  </c:pt>
                  <c:pt idx="1">
                    <c:v>85–94%</c:v>
                  </c:pt>
                  <c:pt idx="2">
                    <c:v>95 % et plus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actuel</c:v>
                </c:pt>
              </c:strCache>
            </c:strRef>
          </c:tx>
          <c:spPr>
            <a:solidFill>
              <a:srgbClr val="F8931D"/>
            </a:solidFill>
            <a:ln w="25400" cap="flat">
              <a:solidFill>
                <a:srgbClr val="F8931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8931D"/>
              </a:solidFill>
              <a:ln w="9525" cap="flat">
                <a:solidFill>
                  <a:srgbClr val="F893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 Triage IA et aide à la décision clinique</c:v>
                  </c:pt>
                  <c:pt idx="1">
                    <c:v>2. Assistance IA en imagerie médicale</c:v>
                  </c:pt>
                  <c:pt idx="2">
                    <c:v>3. Planification IA des lits et des effectifs</c:v>
                  </c:pt>
                  <c:pt idx="3">
                    <c:v>4. Littératie en IA pour tous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moyen (niveaux)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effectifs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Nombre d’écarts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effectifs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E3E3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effectifs</c:v>
                  </c:pt>
                  <c:pt idx="3">
                    <c:v>Littératie en IA pour tous</c:v>
                  </c:pt>
                  <c:pt idx="4">
                    <c:v>Prompting et IA générative au travail</c:v>
                  </c:pt>
                  <c:pt idx="5">
                    <c:v>IA responsable et protection des données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Engagé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effectifs</c:v>
                  </c:pt>
                  <c:pt idx="3">
                    <c:v>Littératie en IA pour tous</c:v>
                  </c:pt>
                  <c:pt idx="4">
                    <c:v>Prompting et IA générative au travail</c:v>
                  </c:pt>
                  <c:pt idx="5">
                    <c:v>IA responsable et protection des données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270000</c:v>
                </c:pt>
                <c:pt idx="1">
                  <c:v>225000</c:v>
                </c:pt>
                <c:pt idx="2">
                  <c:v>180000</c:v>
                </c:pt>
                <c:pt idx="3">
                  <c:v>135000</c:v>
                </c:pt>
                <c:pt idx="4">
                  <c:v>90000</c:v>
                </c:pt>
                <c:pt idx="5">
                  <c:v>45000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effectifs</c:v>
                  </c:pt>
                  <c:pt idx="3">
                    <c:v>Littératie en IA pour tous</c:v>
                  </c:pt>
                  <c:pt idx="4">
                    <c:v>Prompting et IA générative au travail</c:v>
                  </c:pt>
                  <c:pt idx="5">
                    <c:v>IA responsable et protection des données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217250</c:v>
                </c:pt>
                <c:pt idx="1">
                  <c:v>171599</c:v>
                </c:pt>
                <c:pt idx="2">
                  <c:v>142133</c:v>
                </c:pt>
                <c:pt idx="3">
                  <c:v>112764</c:v>
                </c:pt>
                <c:pt idx="4">
                  <c:v>61149</c:v>
                </c:pt>
                <c:pt idx="5">
                  <c:v>32302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# 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Cohorte 1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Niveau 1</c:v>
                  </c:pt>
                  <c:pt idx="1">
                    <c:v>Niveau 2</c:v>
                  </c:pt>
                  <c:pt idx="2">
                    <c:v>Niveau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84</c:v>
                </c:pt>
                <c:pt idx="2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Cohorte 2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Niveau 1</c:v>
                  </c:pt>
                  <c:pt idx="1">
                    <c:v>Niveau 2</c:v>
                  </c:pt>
                  <c:pt idx="2">
                    <c:v>Niveau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92</c:v>
                </c:pt>
                <c:pt idx="2">
                  <c:v>77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Contrôles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Environnement de contrôle</c:v>
                  </c:pt>
                  <c:pt idx="1">
                    <c:v>Évaluation des risques</c:v>
                  </c:pt>
                  <c:pt idx="2">
                    <c:v>Activités de contrôle</c:v>
                  </c:pt>
                  <c:pt idx="3">
                    <c:v>Information et communication</c:v>
                  </c:pt>
                  <c:pt idx="4">
                    <c:v>Activités de pilotage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0</c:v>
                </c:pt>
                <c:pt idx="2">
                  <c:v>40</c:v>
                </c:pt>
                <c:pt idx="3">
                  <c:v>3</c:v>
                </c:pt>
                <c:pt idx="4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Jugés efficaces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Environnement de contrôle</c:v>
                  </c:pt>
                  <c:pt idx="1">
                    <c:v>Évaluation des risques</c:v>
                  </c:pt>
                  <c:pt idx="2">
                    <c:v>Activités de contrôle</c:v>
                  </c:pt>
                  <c:pt idx="3">
                    <c:v>Information et communication</c:v>
                  </c:pt>
                  <c:pt idx="4">
                    <c:v>Activités de pilotage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0</c:v>
                </c:pt>
                <c:pt idx="2">
                  <c:v>24</c:v>
                </c:pt>
                <c:pt idx="3">
                  <c:v>3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</c:v>
                </c:pt>
              </c:strCache>
            </c:strRef>
          </c:tx>
          <c:spPr>
            <a:solidFill>
              <a:srgbClr val="F8931D"/>
            </a:solidFill>
            <a:ln w="25400" cap="flat">
              <a:solidFill>
                <a:srgbClr val="F893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8931D"/>
              </a:solidFill>
              <a:ln w="9525" cap="flat">
                <a:solidFill>
                  <a:srgbClr val="F893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2026-05</c:v>
                  </c:pt>
                  <c:pt idx="1">
                    <c:v>2026-06</c:v>
                  </c:pt>
                  <c:pt idx="2">
                    <c:v>2026-07</c:v>
                  </c:pt>
                  <c:pt idx="3">
                    <c:v>2026-08</c:v>
                  </c:pt>
                  <c:pt idx="4">
                    <c:v>2026-09</c:v>
                  </c:pt>
                  <c:pt idx="5">
                    <c:v>2026-10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84.7</c:v>
                </c:pt>
                <c:pt idx="2">
                  <c:v>91.4</c:v>
                </c:pt>
                <c:pt idx="3">
                  <c:v>90.4</c:v>
                </c:pt>
                <c:pt idx="4">
                  <c:v>102</c:v>
                </c:pt>
                <c:pt idx="5">
                  <c:v>97.2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</c:v>
                </c:pt>
              </c:strCache>
            </c:strRef>
          </c:tx>
          <c:spPr>
            <a:solidFill>
              <a:srgbClr val="808184"/>
            </a:solidFill>
            <a:ln w="25400" cap="flat">
              <a:solidFill>
                <a:srgbClr val="8081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8184"/>
              </a:solidFill>
              <a:ln w="9525" cap="flat">
                <a:solidFill>
                  <a:srgbClr val="8081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2026-05</c:v>
                  </c:pt>
                  <c:pt idx="1">
                    <c:v>2026-06</c:v>
                  </c:pt>
                  <c:pt idx="2">
                    <c:v>2026-07</c:v>
                  </c:pt>
                  <c:pt idx="3">
                    <c:v>2026-08</c:v>
                  </c:pt>
                  <c:pt idx="4">
                    <c:v>2026-09</c:v>
                  </c:pt>
                  <c:pt idx="5">
                    <c:v>2026-10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Décision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8931D"/>
              </a:solidFill>
              <a:effectLst/>
            </c:spPr>
          </c:dPt>
          <c:dPt>
            <c:idx val="1"/>
            <c:bubble3D val="0"/>
            <c:spPr>
              <a:solidFill>
                <a:srgbClr val="808184"/>
              </a:solidFill>
              <a:effectLst/>
            </c:spPr>
          </c:dPt>
          <c:dPt>
            <c:idx val="2"/>
            <c:bubble3D val="0"/>
            <c:spPr>
              <a:solidFill>
                <a:srgbClr val="E3E3E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A3A3C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Acceptée</c:v>
                </c:pt>
                <c:pt idx="1">
                  <c:v>Modifiée</c:v>
                </c:pt>
                <c:pt idx="2">
                  <c:v>Rejetée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Clinique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Impact</c:v>
                  </c:pt>
                  <c:pt idx="1">
                    <c:v>Nouveauté</c:v>
                  </c:pt>
                  <c:pt idx="2">
                    <c:v>Réglementaire</c:v>
                  </c:pt>
                  <c:pt idx="3">
                    <c:v>Investissement</c:v>
                  </c:pt>
                  <c:pt idx="4">
                    <c:v>Périmètre</c:v>
                  </c:pt>
                  <c:pt idx="5">
                    <c:v>Incertitude</c:v>
                  </c:pt>
                  <c:pt idx="6">
                    <c:v>Délai de mise en œuvre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Groupe hospitalier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Impact</c:v>
                  </c:pt>
                  <c:pt idx="1">
                    <c:v>Nouveauté</c:v>
                  </c:pt>
                  <c:pt idx="2">
                    <c:v>Réglementaire</c:v>
                  </c:pt>
                  <c:pt idx="3">
                    <c:v>Investissement</c:v>
                  </c:pt>
                  <c:pt idx="4">
                    <c:v>Périmètre</c:v>
                  </c:pt>
                  <c:pt idx="5">
                    <c:v>Incertitude</c:v>
                  </c:pt>
                  <c:pt idx="6">
                    <c:v>Délai de mise en œuvre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1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Numérique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Numérique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Numérique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Numérique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Groupe Hospitalier Maghreb (HCPR)</c:v>
                  </c:pt>
                  <c:pt idx="1">
                    <c:v>Clinique Al Amal (HCPR)</c:v>
                  </c:pt>
                  <c:pt idx="2">
                    <c:v>Maghreb Life Sciences (HLS)</c:v>
                  </c:pt>
                  <c:pt idx="3">
                    <c:v>BioLab Diagnostics Rabat (HLS)</c:v>
                  </c:pt>
                  <c:pt idx="4">
                    <c:v>Maghreb Pharma Distribution (PHAR)</c:v>
                  </c:pt>
                  <c:pt idx="5">
                    <c:v>PharmaLog Services (PHAR)</c:v>
                  </c:pt>
                  <c:pt idx="6">
                    <c:v>Pharma Maghreb Process (PHPR)</c:v>
                  </c:pt>
                  <c:pt idx="7">
                    <c:v>Galénix Laboratoires (PHPR)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66</c:v>
                </c:pt>
                <c:pt idx="2">
                  <c:v>81</c:v>
                </c:pt>
                <c:pt idx="3">
                  <c:v>69</c:v>
                </c:pt>
                <c:pt idx="4">
                  <c:v>81</c:v>
                </c:pt>
                <c:pt idx="5">
                  <c:v>67</c:v>
                </c:pt>
                <c:pt idx="6">
                  <c:v>50</c:v>
                </c:pt>
                <c:pt idx="7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Groupe Hospitalier Maghreb (HCPR)</c:v>
                  </c:pt>
                  <c:pt idx="1">
                    <c:v>Clinique Al Amal (HCPR)</c:v>
                  </c:pt>
                  <c:pt idx="2">
                    <c:v>Maghreb Life Sciences (HLS)</c:v>
                  </c:pt>
                  <c:pt idx="3">
                    <c:v>BioLab Diagnostics Rabat (HLS)</c:v>
                  </c:pt>
                  <c:pt idx="4">
                    <c:v>Maghreb Pharma Distribution (PHAR)</c:v>
                  </c:pt>
                  <c:pt idx="5">
                    <c:v>PharmaLog Services (PHAR)</c:v>
                  </c:pt>
                  <c:pt idx="6">
                    <c:v>Pharma Maghreb Process (PHPR)</c:v>
                  </c:pt>
                  <c:pt idx="7">
                    <c:v>Galénix Laboratoires (PHPR)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</c:v>
                </c:pt>
                <c:pt idx="1">
                  <c:v>50</c:v>
                </c:pt>
                <c:pt idx="2">
                  <c:v>68</c:v>
                </c:pt>
                <c:pt idx="3">
                  <c:v>51</c:v>
                </c:pt>
                <c:pt idx="4">
                  <c:v>67</c:v>
                </c:pt>
                <c:pt idx="5">
                  <c:v>51</c:v>
                </c:pt>
                <c:pt idx="6">
                  <c:v>27</c:v>
                </c:pt>
                <c:pt idx="7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.xml"/><Relationship Id="rId6" Type="http://schemas.openxmlformats.org/officeDocument/2006/relationships/chart" Target="/ppt/charts/chart5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0.xm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31-1.png"/><Relationship Id="rId3" Type="http://schemas.openxmlformats.org/officeDocument/2006/relationships/image" Target="../media/image-31-2.png"/><Relationship Id="rId4" Type="http://schemas.openxmlformats.org/officeDocument/2006/relationships/image" Target="../media/image-3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1" Type="http://schemas.openxmlformats.org/officeDocument/2006/relationships/image" Target="../media/image-51-1.png"/><Relationship Id="rId3" Type="http://schemas.openxmlformats.org/officeDocument/2006/relationships/image" Target="../media/image-51-2.png"/><Relationship Id="rId4" Type="http://schemas.openxmlformats.org/officeDocument/2006/relationships/image" Target="../media/image-5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52-1.png"/><Relationship Id="rId3" Type="http://schemas.openxmlformats.org/officeDocument/2006/relationships/image" Target="../media/image-52-2.png"/><Relationship Id="rId4" Type="http://schemas.openxmlformats.org/officeDocument/2006/relationships/image" Target="../media/image-5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1" Type="http://schemas.openxmlformats.org/officeDocument/2006/relationships/image" Target="../media/image-53-1.png"/><Relationship Id="rId3" Type="http://schemas.openxmlformats.org/officeDocument/2006/relationships/image" Target="../media/image-53-2.png"/><Relationship Id="rId4" Type="http://schemas.openxmlformats.org/officeDocument/2006/relationships/image" Target="../media/image-5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CLIENT · SANTÉ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CortexSkills pour la santé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L’ingénierie de formation pour les hôpitaux et les cliniques — des exigences d’accréditation à des équipes certifiées et évaluées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88736" y="1179576"/>
            <a:ext cx="5870448" cy="3710178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3444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couvre cette présentation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Heart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L’enjeu de la santé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Accréditation, sécurité des patients et nouvelles compétences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RefreshC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vie, jalons, processus de santé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hôpital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déroulé complet compétences IA, phase par phase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une clinique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méthode sur un parcours PME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4" name="Image 4" descr="FlaskCon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L’écosystème de la santé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de la vie et pharmacie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0" name="Image 5" descr="Shiel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 et prochaines étapes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déploiement, offres, plan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groupe hospitalier, un déroulé IA, mesuré de bout en bout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Hospitalier Maghreb · 4 700 salariés · Casablanca · chiffres issus du déroulé de démonstration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park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265 tâches terminées dans le déroulé compétences 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31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sur 6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de phase validés avec une décision « Go »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311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questionnaires, complétude moyenne de 91 %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Wal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2311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48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1 260 000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70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 formation du plan 2026 verrouillé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montre le déroulé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3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30" y="4215750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63040" y="4078224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flagged 5 of 21 function × decision-level cells as Red; Clinical Care &amp; Nursing is Red at strategic and operational levels.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590288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5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4691238"/>
            <a:ext cx="218724" cy="21872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63040" y="4553712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thèmes IA ont été priorisés selon l’impact et l’urgence ; « Triage IA et aide à la décision clinique » arrive en tête (impact 5, urgence 4).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8" name="Image 6" descr="Shiel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30" y="5166726"/>
            <a:ext cx="218724" cy="2187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63040" y="5029200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évaluations Kirkpatrick vont de 74 % à 93 % ; une attestation de sensibilisation ISO 7101 a expiré et une autre arrive à échéance.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41264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7" descr="CircleD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630" y="5642214"/>
            <a:ext cx="218724" cy="21872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63040" y="5504688"/>
            <a:ext cx="9859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279 RACSI activities has exactly one Accountable; 385 audit entries trace the changes.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L’enjeu de la santé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Accréditation, sécurité des patients et virage du numérique et de l’IA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sécurité des patients repose sur des compétences prouvées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organismes d’accréditation exigent la preuve que chaque rôle est formé, évalué et à jour.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L’enjeu de la santé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7101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 la qualité en santé : compétences définies par rôle, enregistrements de formation conservés, efficacité évaluée.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9768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914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0352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JCI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visites d’accréditation vérifient la qualification et la formation du personnel, avec des preuves au niveau de chaque praticien.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19202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Micr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914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15189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28803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Laboratoires de biologie médicale : compétence du personnel de laboratoire, évaluée et enregistrée.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DU SECTEUR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poids de l’accréditation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cycle d’accréditation exige des preuves de compétence pour les rôles réglementés.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153912" y="443484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428232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DU SECTEUR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428232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lié à un défaut de formation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6428232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 à chaque jalon au moyen de la check-list de conformité santé.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DÉFIS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les équipes formation des hôpitaux doivent résoudre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L’enjeu de la santé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786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 clinique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chaque poste des soins cliniques et infirmiers à ses obligations et garder les attestations à jour.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355848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30168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1" descr="Fi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27868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168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preuves prêtes pour l’audit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3630168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Présences, résultats et observations des managers conservés par étape, retrouvables lors d’une visite.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63056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37376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27868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37376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Numérique et IA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437376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patient informatisé, télémédecine, triage et imagerie assistés par IA transforment la pratique quotidienne.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970264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44584" y="210312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5" name="Image 3" descr="Building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149" y="227868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44584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Multisite, multilingue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9244584" y="3840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sites et trois langues de travail — anglais, français et arabe.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DE LA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verticales santé, chacune avec ses normes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verticale apporte ses macro-processus, ses processus de bout en bout et sa check-list de conformité.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L’enjeu de la santé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Établissements de santé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JCI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15189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 cliniques et infirmiers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Groupe Hospitalier Maghreb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55848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630168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30168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et sciences de la vie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630168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30168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15189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630168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630168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cliniques et laboratoire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630168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Maghreb Life Sciences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63056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37376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37376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437376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37376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Q9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37376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distribution pharmaceutiques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Maghreb Pharma Distribution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970264" y="19202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244584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PHPR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244584" y="2423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Pharmaceutique et procédés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244584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244584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Q10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244584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244584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BPF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244584" y="5303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Pharma Maghreb Process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Thèmes de compétences prioritaires, numérique et IA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Prédéfinis pour la verticale Établissements de santé ; chaque organisation les ajuste lors du diagnostic.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L’enjeu de la santé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MonitorSmart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numériques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68680" y="308152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patient informatisé (DPI)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395020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Télémédecine et téléconsultation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68680" y="481888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463040" y="4800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et facturation patients numériques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53912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28232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24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2291486"/>
            <a:ext cx="309067" cy="30906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05472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IA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473952" y="308152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7395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7068312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IA et aide à la décision clinique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473952" y="395020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7395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068312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en imagerie médicale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473952" y="4818888"/>
            <a:ext cx="384048" cy="384048"/>
          </a:xfrm>
          <a:prstGeom prst="ellipse">
            <a:avLst/>
          </a:prstGeom>
          <a:solidFill>
            <a:srgbClr val="F2F2F3"/>
          </a:solidFill>
          <a:ln w="12700">
            <a:solidFill>
              <a:srgbClr val="E3E3E4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473952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68312" y="4800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IA des lits et des effectifs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de vie, sept phases, des jalons et des processus propres à la santé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cycle, sept phases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regroupe des processus de bout en bout ; un jalon clôt chaque phase principale.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et collecte de preuves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processus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35809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18689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618689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18689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processus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18689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22978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0585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505858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d'ingénierie de formation et plan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05858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processus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05858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0148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9302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393028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déploiement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93028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processus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93028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97317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80197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Évaluation, conformité et impact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80197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processus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80197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984486" y="2103120"/>
            <a:ext cx="1658569" cy="256032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167366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10167366" y="2880360"/>
            <a:ext cx="12928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Talents, savoirs et amélioration continue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167366" y="384048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processus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167366" y="4206240"/>
            <a:ext cx="54864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77240" y="5157216"/>
            <a:ext cx="603504" cy="60350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5302057"/>
            <a:ext cx="313822" cy="31382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600200" y="512064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catalyseurs couvrent toutes les phases — </a:t>
            </a:r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IA et intégration · changement et adoption · qualité, risques et amélioration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jalons, chacun avec sa check-list et ses approbateurs nommés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phase ne se clôt que lorsque les éléments obligatoires sont satisfaits et la décision enregistrée.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39496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Approbateurs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— Périmètre et preuves approuvés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Confirmer le périmètre approuvé et un jeu de réponses consolidé.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DRH, chef de projet consultant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— Diagnostic validé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les constats du diagnostic, les écarts, les demandes, le RAG et le SWOT.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formation, DRH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— Rapport et feuille de route approuvés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Approuver le rapport d'ingénierie de formation, le plan priorisé et le budget.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DRH, comité de pilotage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— Prêt pour le déploiement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Confirmer conception, contenus, formateurs et logistique avant déploiement.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 — Évaluation et impact validés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l'efficacité, le ROI et la conformité.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formation, responsable financier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 — Clôture et amélioration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Clôturer le cycle avec le REX et la feuille de route post-mission.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DRH, associé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macro-processus santé en complément du modèle de base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Ajoutés automatiquement lorsque le secteur de l’organisation est Établissements de santé.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914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réglementaire et formation sécurité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chaque rôle réglementé du secteur Établissements de santé formé et certifié selon ISO 7101.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: Responsable conformité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976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1" descr="Aw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2914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HCPR-MP-02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Référentiel des compétences critiques et certifications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compétences critiques Soins cliniques et infirmiers et leurs parcours de certification.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: Responsable formation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5" name="Image 2" descr="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91486"/>
            <a:ext cx="309067" cy="309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525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HCPR-MP-03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des compétences numériques et IA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8321040" y="3794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les compétences numériques et IA dont les opérations Établissements de santé auront besoin.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: Stratège formation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processus de bout en bout pour la santé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a un déclencheur, un état final, les macro-processus qu’il traverse et ses tâches utilisateur.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HCPR-E2E-01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et préparation à la certification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les rôles réglementés Établissements de santé certifiés selon ISO 7101.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749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exigence ISO 7101 ou expiration de certification.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 conformité sectorielle émis, rôles critiques certifiés.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846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48463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MP-01 · MP-02 · MP-14 · HCPR-MP-01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394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920240" y="5394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tâches utilisateur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53912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2823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HCPR-E2E-02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2377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compétences critiques au plan de transformation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525512" y="3200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écarts de compétences critiques et les cas d'usage numériques et IA en plan de transformation.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525512" y="37490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annuel du plan ou évolution technologique dans le secteur Établissements de santé.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28232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final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transformation approuvés.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428232" y="4846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525512" y="48463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MP-02 · MP-03 · MP-05 · HCPR-MP-02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428232" y="5394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525512" y="5394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tâches utilisateur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DE CONFORMITÉ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check-list de conformité pour les établissements de santé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Publiée une fois pour la verticale ; utilisée aux jalons et dans l’extrait de conformité.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8521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91440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 de la check-list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Exigences de formation ISO 7101 reliées aux postes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Rôles critiques Soins cliniques et infirmiers certifiés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sectoriel revu : Événement indésirable lié à une lacune de 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206240"/>
            <a:ext cx="5852160" cy="1783080"/>
          </a:xfrm>
          <a:prstGeom prst="roundRect">
            <a:avLst>
              <a:gd name="adj" fmla="val 615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2" name="Image 0" descr="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45555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appui à la préparation, pas une certification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L’application organise les preuves et vérifie la préparation au regard d’ISO 7101, des standards JCI et d’ISO 15189. La décision de certification reste du ressort de l’organisme d’accréditation.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711696" y="1865376"/>
            <a:ext cx="4956048" cy="3138678"/>
          </a:xfrm>
          <a:prstGeom prst="roundRect">
            <a:avLst>
              <a:gd name="adj" fmla="val 233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6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2024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RESPONSABILITÉS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rôles, un seul Approbateur par activité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: Responsable, Approbateur, Consulté, Soutien, Informé — affectés pour chaque activité du déroulé.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949440" cy="4343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63840" y="187452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rôles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240280"/>
            <a:ext cx="37792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 / président du comité de pilotage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formation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formation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Stratège formation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formation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Planificateur formation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Concepteur pédagogique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de formation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63840" y="4754880"/>
            <a:ext cx="37792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65008" y="495604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5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50657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41080" y="4882896"/>
            <a:ext cx="2864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065008" y="5504688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dans le déroulé de l’hôpital, chacune avec un seul Approbateur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SOUS CONTRÔLE HUMAIN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cas d’usage IA, chacun revu par une personne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rédige ; un rôle nommé accepte, modifie ou rejette. Chaque suggestion est journalisée avec sa décision.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7452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486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cas d’usage IA du catalogue par niveau de risque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74520"/>
          <a:ext cx="59737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35021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d’usage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humain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du rapport d'ingénierie de 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stratège formation modifie chaque section ; le responsable qualité relit avant approbation.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Rédaction des constats de diagnostic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chef de projet consultant valide les constats avec le sponsor client.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 de priorisation des thèmes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stratège formation confirme le classement ; le comité de pilotage valide le plan.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Prévision des écarts de compétences (6-18 mois)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responsable formation accepte ou rejette chaque prédiction avant toute action.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de traduction des contenus (FR/AR)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L'expert métier valide la terminologie avant publication.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un groupe hospitalier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Hospitalier Maghreb — 4 700 salariés, Casablanca. Données de démonstration, organisation fictive.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· PROFIL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Hospitalier Maghreb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du Groupe Maghreb Santé &amp; Vie · Établissements de santé · grande entreprise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4 700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dans la structure de l’organisation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Use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nommés, un par rôle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RefreshC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déroulés complets en 2026 : numérique et IA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Opérations, Qualité et HSE, Finance, Ressources humaines, Ventes et marketing, Systèmes d'information, Soins cliniques et infirmiers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BND-05 Suite complète (PK-01 à PK-08)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complémentaires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multi-sites / multi-entités; Bibliothèque de questionnaires et diffusion multicanale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de protection des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RGPD, loi 09-08 (CNDP, Maroc), ISO 9001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·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· 600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des modifications gouvernées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· ESPACE PROJET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déroulé compétences IA sur un seul écran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complet compétences IA 2026 — Groupe Hospitalier Maghreb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des 265 tâches terminées ; 7 en cours, 1 bloquée.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tâches en retard — chacune déclenche une alerte avec une chaîne d’escalade.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complexité 84 : mode complet, les sept phases et les six jalons.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· DEUX DÉROULÉS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déroulés : le numérique devance l’IA au déploiement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tâches terminées par phase, même organisation, même modèle.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/ tâches prévues dans chaque phase (%)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503920" y="1828800"/>
            <a:ext cx="313913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70508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Monitor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21396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81160" y="1956816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 / 265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705088" y="2578608"/>
            <a:ext cx="2773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dans le déroulé numérique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503920" y="3246120"/>
            <a:ext cx="313913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705088" y="34472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5570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3374136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/ 265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705088" y="3995928"/>
            <a:ext cx="27733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dans le déroulé IA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8503920" y="4663440"/>
            <a:ext cx="3139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périmètre, le diagnostic et le rapport sont terminés dans les deux déroulés ; l’écart se creuse au déploiement et à l’évaluation.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COMPLEXITÉ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de complexité 84 sur 100 : mode complet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critères pondérés, notés de 1 à 5 à la création du projet ; le score recommande le mode.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chaque critère de complexité (1 = faible, 5 = élevé)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955280" y="1828800"/>
            <a:ext cx="3687775" cy="1920240"/>
          </a:xfrm>
          <a:prstGeom prst="roundRect">
            <a:avLst>
              <a:gd name="adj" fmla="val 571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297180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complet : score de 70 ou plus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4023360"/>
            <a:ext cx="36877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dessous de 70, le score recommande le mode PME et l’un des trois parcours (T1, T2, T3). Choisir un autre parcours exige une justification écrite.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PÉRIMÈTRE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périmètre approuvé avant toute collecte de données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 22 juil. 2026 · focus AI · decision levels MS / MO / OP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Grid3x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périmètre : fonction × niveau de décision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dans le registre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40/40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avec consentement enregistré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Fi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approuvée du périmètre</a:t>
            </a:r>
            <a:endParaRPr lang="en-US" sz="11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33756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par niveau de décision</a:t>
            </a:r>
            <a:endParaRPr lang="en-US" sz="100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6217920" y="3337560"/>
          <a:ext cx="5394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2" name="Text 23"/>
          <p:cNvSpPr txBox="1"/>
          <p:nvPr/>
        </p:nvSpPr>
        <p:spPr>
          <a:xfrm>
            <a:off x="621792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prenantes par canal préféré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PREUVES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questionnaire responses, 91% complete on average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rédigées par l’IA à partir du périmètre, validées par une personne, envoyées par le canal de chaque partie prenante.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questionnaires par canal utilisé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669280" y="178308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669280" y="5852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selon la complétude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G1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 — Périmètre et preuves approuvés : « Go »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on 30 juil. 2026 · Tous les éléments obligatoires satisfaits ; preuves jointes.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6885432"/>
                <a:gridCol w="1371600"/>
                <a:gridCol w="146304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 de la check-list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Obligatoire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 du périmètre renseigné (Groupe Oui/Non, organisation, secteur)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Niveaux de décision et fonctions reportés dans la matrice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 des parties prenantes complet avec canaux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question générée par l'IA validée par une personne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Consentement confirmé pour chaque réponse stockée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5321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jalon ne peut pas être validé tant qu’un élément obligatoire reste ouvert ; les approbateurs sont le DRH et le chef de projet consultant.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DIAGNOSTIC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à cinq axes : les SI obtiennent le score le plus bas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validés avec le sponsor · scores sur une échelle de 0 à 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chaque axe du diagnostic (0–5)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49440" y="1874520"/>
            <a:ext cx="4693615" cy="1325880"/>
          </a:xfrm>
          <a:prstGeom prst="roundRect">
            <a:avLst>
              <a:gd name="adj" fmla="val 827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223760" y="201168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CMM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77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8081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9326880" y="251460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actuel → niveau cible (1–5)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49440" y="3383280"/>
            <a:ext cx="4693615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7223760" y="352044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du leadership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8081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326880" y="4023360"/>
            <a:ext cx="2133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actuel → niveau cible (1–5)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4983480"/>
            <a:ext cx="4693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le plus faible : systèmes d’information (2). Le plus élevé : stratégie (3,4).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PERFORMANCE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21 cells are Red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fonction et niveau de décision : MS stratégique, MO managérial, OP opérationnel.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et HSE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Ressources humaines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et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d'information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Soins cliniques et infirmiers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 cellule ; la couleur indique le statut RAG (rouge, orange, vert)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772400" y="1874520"/>
            <a:ext cx="3870655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46720" y="205740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Soins cliniques et infirmiers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260604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258775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· Amber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290779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: Triage IA et aide à la décision clinique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046720" y="356616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54787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· Amber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23960" y="386791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: Assistance IA en imagerie médicale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8046720" y="4526280"/>
            <a:ext cx="640080" cy="365760"/>
          </a:xfrm>
          <a:prstGeom prst="rect">
            <a:avLst/>
          </a:prstGeom>
          <a:solidFill>
            <a:srgbClr val="808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823960" y="4507992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· Amber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823960" y="4828032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: Planification IA des lits et des effectifs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SWOT ET AXES D’AMÉLIORATION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axes d’amélioration, classés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fonctionnel validé pour Opérations et Qualité et HSE.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expérimentée ; processus stables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18745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661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Faiblesses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usage de Triage IA et aide à la décision clinique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Opportunités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IA des lits et des effectifs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37560" y="3931920"/>
            <a:ext cx="2651760" cy="1874520"/>
          </a:xfrm>
          <a:prstGeom prst="roundRect">
            <a:avLst>
              <a:gd name="adj" fmla="val 5854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5661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Menaces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4572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ISO 7101 plus stricts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309360" y="178308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309360" y="5852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de chaque axe d’amélioration, par rang de priorité (%)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ÉCARTS DE COMPÉTENCES ET BESOINS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écarts individuels aux demandes de formation validées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écarts proviennent des évaluations de compétences ; besoins et demandes sont validés avant la priorisation.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de compétences enregistrées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57016" y="207568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185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de compétences, dont 2 critiques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85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formation, 10 validés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71432" y="207568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Inbo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18541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243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formation des managers et du personnel</a:t>
            </a:r>
            <a:endParaRPr lang="en-US" sz="11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291840"/>
          <a:ext cx="7315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par compétence : écart moyen en niveaux de maîtrise et nombre d’écarts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8229600" y="333756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formation par priorité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703320"/>
          <a:ext cx="3413455" cy="914400"/>
        </p:xfrm>
        <a:graphic>
          <a:graphicData uri="http://schemas.openxmlformats.org/drawingml/2006/table">
            <a:tbl>
              <a:tblPr/>
              <a:tblGrid>
                <a:gridCol w="2048073"/>
                <a:gridCol w="136538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PRIORISATION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thèmes IA, classés par impact et urgence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propose un score de priorité ; le stratège formation l’accepte ou le modifie avec une justification.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1005840"/>
                <a:gridCol w="1005840"/>
                <a:gridCol w="1463040"/>
                <a:gridCol w="1463040"/>
                <a:gridCol w="1490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Jours × groupes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×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×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 travail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des données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60 000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257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et urgence sur une échelle de 1 à 5 ; la couleur suit l’échelle de statut (rouge = 1, vert foncé = 5). Budget tel qu’enregistré dans le plan.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RAPPORT ET FEUILLE DE ROUTE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rapport d’ingénierie de formation, publié et versionné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Publié · version 2 · 4 sections rédigées par l’IA et relues par le responsable qualité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240280" cy="384048"/>
          </a:xfrm>
          <a:prstGeom prst="rect">
            <a:avLst/>
          </a:prstGeom>
          <a:solidFill>
            <a:srgbClr val="F893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34640" y="1874520"/>
            <a:ext cx="2240280" cy="384048"/>
          </a:xfrm>
          <a:prstGeom prst="rect">
            <a:avLst/>
          </a:prstGeom>
          <a:solidFill>
            <a:srgbClr val="585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34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20640" y="1874520"/>
            <a:ext cx="2240280" cy="384048"/>
          </a:xfrm>
          <a:prstGeom prst="rect">
            <a:avLst/>
          </a:prstGeom>
          <a:solidFill>
            <a:srgbClr val="5859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874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2468880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3232" y="2505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IA et aide à la décision clinique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880360" y="3127248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999232" y="3163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en imagerie médicale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66360" y="3785616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285232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IA des lits et des effectifs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4443984"/>
            <a:ext cx="2148840" cy="530352"/>
          </a:xfrm>
          <a:prstGeom prst="roundRect">
            <a:avLst>
              <a:gd name="adj" fmla="val 20690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13232" y="4480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Littératie en IA pour tous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de la feuille de route par vague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187452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stratégiques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72400" y="228600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0010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242316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d’ici le 31 déc. 2027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274320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Triage IA et aide à la décision clinique dans Soins cliniques et infirmiers d'ici fin 2027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772400" y="370332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0010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40480"/>
            <a:ext cx="2544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d’ici le 31 déc. 2026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001000" y="416052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écart majeur aux audits ISO 7101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521208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Veille concurrentielle Établissements de santé 2026, updated 1 oct. 2026.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PLAN ET BUDGET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2026 verrouillé : 1 260 000 budgétés, 35 % réalisés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prévus, engagés et réalisés par thème, tels qu’enregistrés (devise définie par organisation).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7863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prévues, engagées et réalisées par thème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778240" y="18288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79408" y="20299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File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6" y="21396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5480" y="19568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945 000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979408" y="25786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engagés (75 % du prévu)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78240" y="32004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79408" y="340156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Rece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35112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55480" y="33284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737 197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979408" y="39502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 (59% of planned)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778240" y="4572000"/>
            <a:ext cx="286481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979408" y="477316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Undo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488289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555480" y="4700016"/>
            <a:ext cx="1950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352 800</a:t>
            </a:r>
            <a:endParaRPr lang="en-US" sz="2600" dirty="0"/>
          </a:p>
        </p:txBody>
      </p:sp>
      <p:sp>
        <p:nvSpPr>
          <p:cNvPr id="25" name="Text 18"/>
          <p:cNvSpPr txBox="1"/>
          <p:nvPr/>
        </p:nvSpPr>
        <p:spPr>
          <a:xfrm>
            <a:off x="8979408" y="5321808"/>
            <a:ext cx="2499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prévu au titre des contrats de formation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FINANCEMENT ET RÉGLEMENTATION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Remboursements des contrats de formation, suivis jusqu’à l’échéance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des contrats spéciaux de formation OFPPT · regulator OFPPT · deadline 30 oct. 2026 · status Approved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498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51560"/>
                <a:gridCol w="1051560"/>
                <a:gridCol w="1143000"/>
                <a:gridCol w="960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prévu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/ prévu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IA et aide à la décision clinique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217 250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100 800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Assistance IA en imagerie médicale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171 599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Planification IA des lits et des effectifs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142 133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67 200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Littératie en IA pour tous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112 764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50 400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et IA générative au travail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61 149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33 600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responsable et protection des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32 302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16 800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12480" y="1920240"/>
            <a:ext cx="3230575" cy="3108960"/>
          </a:xfrm>
          <a:prstGeom prst="roundRect">
            <a:avLst>
              <a:gd name="adj" fmla="val 3529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0" y="214884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0" descr="Calendar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4" y="22805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18320" y="2194560"/>
            <a:ext cx="204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Alertes d’échéance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686800" y="2834640"/>
            <a:ext cx="2681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échéance de dépôt manquée signifie un remboursement perdu. Le déroulé enregistre le dossier, son échéance et son statut, et le registre des risques suit « Échéance de dépôt réglementaire manquée et remboursement perdu ».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CONCEPTION ET DÉPLOIEMENT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Parcours, modules et sessions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parcours · 4 modules · 4 sessions · 12 inscriptions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73152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de conception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Triage IA et aide à la décision clinique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Approuvé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Assistance IA en imagerie médicale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Approuvé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Triage IA et aide à la décision clinique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virtuelle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Brouillon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Assistance IA en imagerie médicale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Brouillon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7665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64592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S-01 Triage IA et aide à la décision clinique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oct.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S-02 Assistance IA en imagerie médicale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oct.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S-03 Triage IA et aide à la décision clinique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oct.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S-04 Assistance IA en imagerie médicale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oct.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772400" y="192024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973568" y="2121408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3" name="Image 0" descr="File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2231136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49640" y="204825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9"/>
          <p:cNvSpPr txBox="1"/>
          <p:nvPr/>
        </p:nvSpPr>
        <p:spPr>
          <a:xfrm>
            <a:off x="7973568" y="267004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de contenu reliées aux compétences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772400" y="3337560"/>
            <a:ext cx="3870655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973568" y="3538728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8" name="Image 1" descr="CalendarD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364845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49640" y="346557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7973568" y="4087368"/>
            <a:ext cx="3504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planifiées sur les sessions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7772400" y="4754880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est enregistrée par session ; une feuille de présence manquante déclenche une alerte à l’administrateur de 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· QUOI SAISIR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consignes rédigées pour cet hôpital et ce secteur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panneau de tâche indique la réponse attendue, les entrées et sorties, le responsable et l’évaluateur.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Quoi saisir » est propre à l’organisation, à son secteur et à l’orientation du déroulé.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L’aide IA propose un brouillon, étiqueté avec sa confiance et ses sources.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et l’évaluateur sont deux personnes différentes : la séparation des tâches est appliquée.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ÉVALUATION ET CERTIFICATION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Niveaux 1 à 3 de Kirkpatrick et validité des attestations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d’évaluation par inscription ; attestations suivies au regard de leur date d’expiration.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d’évaluation par niveau de Kirkpatrick : 1 réaction, 2 apprentissage, 3 comportement (%)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74520"/>
          <a:ext cx="48764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1704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 jusqu’au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août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nov.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févr.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mai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échéance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août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ISO 7101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nov.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766560" y="4937760"/>
            <a:ext cx="4876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valides · 1 à échéance · 1 expirée. L’expiration déclenche une alerte avant la date.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jalons validés, 3 ouverts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est le déroulé : éléments obligatoires réalisés à chaque jalon.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et preuves approuvés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validé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28189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611069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2611069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validé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611069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2611069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611069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validé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07738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490618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4490618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feuille de route approuvés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490618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490618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4572000"/>
            <a:ext cx="1330909" cy="365760"/>
          </a:xfrm>
          <a:prstGeom prst="rect">
            <a:avLst/>
          </a:prstGeom>
          <a:solidFill>
            <a:srgbClr val="D9EA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validé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87288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370168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370168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le déploiement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70168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4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370168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70168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66837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249717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8249717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et impact validés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249717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8249717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249717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946386" y="1920240"/>
            <a:ext cx="1696669" cy="3291840"/>
          </a:xfrm>
          <a:prstGeom prst="roundRect">
            <a:avLst>
              <a:gd name="adj" fmla="val 6467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10129266" y="210312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85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G6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10129266" y="2651760"/>
            <a:ext cx="13309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et amélioration continue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129266" y="3566160"/>
            <a:ext cx="13309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0129266" y="4023360"/>
            <a:ext cx="1330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réalisés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129266" y="4572000"/>
            <a:ext cx="1330909" cy="365760"/>
          </a:xfrm>
          <a:prstGeom prst="rect">
            <a:avLst/>
          </a:prstGeom>
          <a:solidFill>
            <a:srgbClr val="FBE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jalon a sa propre check-list ; la validation enregistre la décision, l’approbateur et la date.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RISQUES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risques notés par probabilité et impact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risque est relié à ses contrôles, à un indicateur clé de risque et à un responsable.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210312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210312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10312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74320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274320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86000" y="274320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274320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274320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38328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45920" y="338328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4592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286000" y="338328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8600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926080" y="338328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66160" y="3383280"/>
            <a:ext cx="603504" cy="603504"/>
          </a:xfrm>
          <a:prstGeom prst="rect">
            <a:avLst/>
          </a:prstGeom>
          <a:solidFill>
            <a:srgbClr val="F4C7C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5840" y="402336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645920" y="402336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64592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286000" y="402336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26080" y="402336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66160" y="4023360"/>
            <a:ext cx="603504" cy="603504"/>
          </a:xfrm>
          <a:prstGeom prst="rect">
            <a:avLst/>
          </a:prstGeom>
          <a:solidFill>
            <a:srgbClr val="FBE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584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64592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86000" y="4663440"/>
            <a:ext cx="603504" cy="603504"/>
          </a:xfrm>
          <a:prstGeom prst="rect">
            <a:avLst/>
          </a:prstGeom>
          <a:solidFill>
            <a:srgbClr val="D9EA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26080" y="466344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66160" y="4663440"/>
            <a:ext cx="603504" cy="603504"/>
          </a:xfrm>
          <a:prstGeom prst="rect">
            <a:avLst/>
          </a:prstGeom>
          <a:solidFill>
            <a:srgbClr val="FFF3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4663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64592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85800" y="40233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228600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292608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8580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3566160" y="5321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85800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058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36576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↓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risques par cellule probabilité × impact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679673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749040"/>
                <a:gridCol w="1234440"/>
                <a:gridCol w="8046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adoption par les apprenants et utilisateurs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Savoirs critiques perdus au départ d'un expert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non autorisé aux données du locataire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formation non aligné sur la stratégie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de compétences inexactes conduisant à de mauvais besoins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des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IA non vérifié dans le rapport d'ingénierie de 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obligatoire expirée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CONTRÔLES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contrôles reliés aux composantes COSO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jugés efficaces · 89 règles métier les appliquent dans le flux de travail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et contrôles efficaces par composante COSO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08976" y="1819656"/>
            <a:ext cx="3858768" cy="2452878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74520"/>
            <a:ext cx="374904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INDICATEURS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indicateurs standard, mesurés chaque mois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2 indicateurs personnalisés, par ex. « Part des encadrants Soins cliniques et infirmiers certifiés ».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5836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868680"/>
                <a:gridCol w="96012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Dernière valeur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KPI-001 · Couverture des objectifs stratégiques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KPI-002 · Taux de validation de l'inventaire des compétences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KPI-003 · Taux d'écarts critiques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KPI-010 · Taux d'achèvement des apprenants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KPI-020 · Taux de réussite de la synchronisation des intégrations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99,5 %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KPI-061 · Taux d'engagement des parties prenantes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315200" y="1783080"/>
          <a:ext cx="432785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315200" y="576072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objectifs stratégiques : valeur mensuelle au regard de la cible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· ALERTES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alertes ouvertes, chacune avec une chaîne d’escalade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proviennent des règles des processus ; les étapes en retard remontent par rôle et par délai.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914400"/>
                <a:gridCol w="640080"/>
                <a:gridCol w="533095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ALR-006 · Enregistrer la présence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Formateur → administrateur de formation (24 h) → responsable formation (72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ALR-007 · Déclencher une relance de réengagement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Apprenant → manager (après la deuxième relance)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ALR-008 · Revoir les résultats d'évaluation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MP-09.7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Analyste formation → concepteur pédagogique → responsable 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ALR-014 · Lancer la synchronisation SIRH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Architecte SI → administrateur de la plateforme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ALR-016 · Appliquer la limite de tentatives de connexion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de la plateforme → architecte 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ALR-018 · Suivre l'usage et l'adoption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conduite du changement → responsable 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ALR-020 · Exécuter l'action d'amélioration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MP-20.3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 l'action → responsable qualité (7 jours) → responsable 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ALR-039 · Revoir le journal des violations d'accès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MP-17.4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Architecte SI → administrateur de la plateforme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Alertes, approbations et avis de tâches sont envoyés dans l’application et par e-mail (11 envois dans le déroulé de démonstration).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DE L’IA · JOURNAL D’USAGE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suggestions IA journalisées : 30 acceptées, 9 modifiées, 9 rejetées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journal d’usage est en ajout seul ; chaque ligne conserve le cas d’usage, l’utilisateur, la confiance et la décision.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IA selon la décision de la revue humaine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57216" y="1819656"/>
            <a:ext cx="6510528" cy="41102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0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7452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le déroulé sur une seule frise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processus et tâches avec dépendances ; les barres de synthèse sont calculées à partir des tâches.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82496" y="1728216"/>
            <a:ext cx="713232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83080"/>
            <a:ext cx="702259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ET QUESTIONS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rapports standard et un assistant qui s’appuie sur les données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rapports s’exportent en PDF, Excel et Word. L’assistant répond dans les limites des permissions de l’utilisateur.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5596128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86400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54496" y="1728216"/>
            <a:ext cx="5413248" cy="3424428"/>
          </a:xfrm>
          <a:prstGeom prst="roundRect">
            <a:avLst>
              <a:gd name="adj" fmla="val 21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SAVOIRS ET AMÉLIORATION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enseignements alimentent le cycle suivant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d’expérience noté 4/5 · 4 articles de base de connaissances sur les normes du secteur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 groupe hospitalier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bien fonctionné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19659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registre des parties prenantes et la diffusion multicanale ont fait progresser le taux de réponse.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898648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299008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n’a pas fonctionné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9900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éléments SWOT d'une fonction sont arrivés en retard.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22776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40142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racine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40142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suppléant désigné pour le responsable de fonction.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946904"/>
            <a:ext cx="6035040" cy="896112"/>
          </a:xfrm>
          <a:prstGeom prst="roundRect">
            <a:avLst>
              <a:gd name="adj" fmla="val 12245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503834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5038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 un suppléant pour chaque responsable de fonction dès le lancement.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187452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949440" y="22860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178040" y="23591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 — exigences de formation et de compétence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949440" y="32004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178040" y="32735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JCI — notes pratiques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949440" y="41148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178040" y="41879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GPEC — gestion prévisionnelle des emplois et des compétences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949440" y="5029200"/>
            <a:ext cx="4693615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178040" y="5102352"/>
            <a:ext cx="4236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09-08 — données personnelles dans les questionnaires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cas : une clinique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 — 95 salariés, Marrakech. La même méthode sur un parcours allégé.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· PARCOURS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de complexité 66 : parcours PME T3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 · 95 salariés · 11 utilisateurs · protection des données selon la loi 09-08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une clinique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3108960"/>
                <a:gridCol w="1280160"/>
                <a:gridCol w="1645920"/>
                <a:gridCol w="1490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Éléments par jalon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SME-T1 · Parcours Essentiel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G3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30 jours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SME-T2 · Parcours Standard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G3 · G5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60 jours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SME-T3 · Parcours Avancé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· G2 · G3 · G4 · G5 · G6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90 jours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548640" y="4023360"/>
          <a:ext cx="1109441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de complexité (1–5), clinique comparée au groupe hospitalier : l’investissement et le périmètre font la différence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· ESPACE PROJET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même cycle, moins d’éléments à remplir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complet compétences IA 2026 — Clinique Al Amal · 50 % des 277 tâches terminées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une clinique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5148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1920240"/>
            <a:ext cx="420624" cy="420624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2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550" y="202119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23960" y="188366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numérique : 66 % des 277 tâches terminées ; déroulé IA : 50 %.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229600" y="320040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5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50" y="330135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23960" y="316382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jalons de cinq éléments chacun sur le parcours T3, au lieu des check-lists du mode complet.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8229600" y="4480560"/>
            <a:ext cx="420624" cy="42062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550" y="4581510"/>
            <a:ext cx="218724" cy="2187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23960" y="4443984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recommandé est conservé ; un autre choix exige une justification écrite.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· TOUT ÉCRAN, TOUTE LANGUE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mêmes consignes en anglais, français et arabe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panneau de tâche sur ordinateur, l’espace projet en arabe sur mobile (affichage de droite à gauche).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une clinique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728216"/>
            <a:ext cx="713232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022592" cy="4389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89136" y="1728216"/>
            <a:ext cx="2137876" cy="4498848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78308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ET PME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méthode, dimensionnée selon l’organisation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deux établissements de santé de l’instance de démonstration.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: une clinique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87368"/>
                <a:gridCol w="40782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 Hospitalier Maghreb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Clinique Al Amal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· ville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4 700 · Casablanca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· Marrakech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 complexité ·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· mode complet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· parcours PME 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Tâches par déroulé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Déroulé IA réalisé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Déroulé numérique réalisé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BND-05 · 600 licences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SME-CMP · 100 licences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des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RGPD, loi 09-08, ISO 9001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 09-08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L’écosystème de la santé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 de la vie, distribution pharmaceutique et fabrication pharmaceutique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et sciences de la vie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 : Opérations cliniques et laboratoire · ISO 13485, EU MDR,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de la santé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 (3100)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BioLab Diagnostics Rabat (60)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diagnostics assistés par IA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pour la détection des signaux de pharmacovigilance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responsable et éthique des données patients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numériques prioritaires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de laboratoire électroniques et LIMS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électronique de la qualité (eQMS)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des données de santé (HL7 FHIR)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 : Qualité et distribution pharmaceutiques · EU GMP, GDP, ICH Q9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de la santé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 (1400)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PharmaLog Services (44)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à la rédaction des dossiers réglementaires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IA de la demande en médicaments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 qualité assistée par IA (ICH Q9)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numériques prioritaires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Sérialisation et traçabilité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numérique des températures BPD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l'information réglementaire (RIM)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Pharmaceutique et procédés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cœur : Fabrication BPF · EU GMP, ICH Q10, FDA 21 CFR Part 11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de la santé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 (2200)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Galénix Laboratoires (90)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41605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52628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60089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5445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80060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procédés par IA pour le rendement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IA des déviations et des CAPA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modèles d'IA en environnement GxP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589520" y="5394960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469575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41324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numériques prioritaires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669280"/>
            <a:ext cx="36420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de lot électroniques (EBR)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systèmes informatisés (CSV)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données et pratiques ALCOA+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DE LA SANTÉ · COMPARAISON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organisations de santé, deux déroulés chacune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tâches terminées dans les déroulés numérique et IA de chaque organisation de démonstration.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L’écosystème de la santé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1109441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dans chaque déroulé (%). Les membres du groupe voient ces agrégats ; les données des organisations sœurs restent en lecture seule.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 et prochaines étapes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protection des données, déploiement et démarrage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ET PROTECTION DES DONNÉES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proches du patient, traitées dans des limites strictes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du personnel et les dossiers de formation restent dans l’espace de l’organisation.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2622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Isolement des organisations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organisation est un espace fermé ; les membres du groupe consultent les organisations sœurs sans pouvoir les modifier.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9768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53712" y="213055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KeyRou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22622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78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par rôle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vérifiées sur le serveur pour chacun des 29 rôles ; droits des offres appliqués.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4672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02752" y="213055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1" name="Image 2" descr="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22622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0684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 d’audit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302752" y="2788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d’un champ gouverné est justifiée et enregistrée dans un journal en ajout seul.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6" name="Image 3" descr="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36534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Référentiels de protection des données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ISO/IEC 27001, SOC 2, ISO/IEC 27701, ISO 9001, loi 09-08 (CNDP, Maroc).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5371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1" name="Image 4" descr="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365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2578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gouvernée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455371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d’usage IA nomme son contrôle humain ; le journal d’usage conserve chaque décision.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02752" y="4233672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36" name="Image 5" descr="File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4365346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00684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Consentement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8302752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enregistré pour chaque réponse stockée avant le jalon G1.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intégrations au catalogue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connexions dans le groupe hospitalier, chacune contrôlée ; le contrôle de l’authentification unique signale actuellement un échec.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47548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Systèmes d'entreprise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talents et de la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Contenus et écosystème d'apprentissage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 dans le flux de travail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et analytique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Socle de la plateforme et sécurité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Enquêtes et retours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74520"/>
          <a:ext cx="59737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764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Connectées dans le groupe hospitalier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Dernier contrôle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INT-HR-01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d’enquêtes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INT-SUR-01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(Microsoft Entra 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INT-SSO-01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Échec d’authentification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669280" y="397764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SIRH : </a:t>
            </a:r>
            <a:pPr indent="0" marL="0"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Workday, SAP SuccessFactors, Oracle HCM, ADP, BambooHR, Personio, DarwinBox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ou sur site, la même application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interface de licence, deux mises en œuvre, choisie au démarrage du serveur.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971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Hébergée et mise à jour de façon centralisée.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vérifiée en ligne par organisation.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Adaptée aux cliniques et groupes sans équipe informatique locale.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53912" y="18745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21031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51192" y="2176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site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2971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Installée dans le centre de données de l’hôpital.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licence signé, lié au serveur, avec date d’expiration et nombre de licences.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Adaptée aux politiques strictes de localisation des données.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" y="52578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licence of the hospital group: plan BND-05, up to 600 users, features analytics, export, api, valid until 10 nov. 2027.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POUR LA SANTÉ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Offres recommandées pour un hôpital ou une clinique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catalogue mensuels, en USD ; chaque offre inclut un nombre d’utilisateurs, avec un prix par utilisateur au-delà.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ingénierie de formation de base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· 100 utilisateurs inclus · 0,75 $ par utilisateur supplémentaire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Périmètre, preuves, diagnostic, rapport d’ingénierie de formation et feuille de route.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55848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584448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84448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conformité et certification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584448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$99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3584448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· 300 utilisateurs inclus · 0,55 $ par utilisateur supplémentaire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584448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attestations et preuves de préparation pour ISO 7101, JCI et ISO 15189.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63056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391656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391656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évaluation, analytique et ROI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91656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391656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· 500 utilisateurs inclus · 0,50 $ par utilisateur supplémentaire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391656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Kirkpatrick, indicateurs et retour sur investissement.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70264" y="187452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198864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PK-02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98864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réalisation et expérience d'apprentissage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198864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9198864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· 250 utilisateurs inclus · 0,60 $ par utilisateur supplémentaire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198864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Parcours, modules, sessions et engagement des apprenants.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COMPLÉMENTAIRES ET PACKS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modules adaptés aux groupes hospitaliers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catalogue mensuels, en USD.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223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qu’il apporte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AD-08 · Déploiement multi-sites / multi-entités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et déployer les plans de formation sur plusieurs sites, entités ou unités, en garantissant la pertinence locale et l'alignement stratégique.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AD-09 · Validation externe du plan de formation (réglementaire)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Gérer la validation externe et la conformité réglementaire des plans de formation, y compris la soumission aux organismes réglementaires (ex. OFPPT, GIAC-Agro).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AD-11 · Bibliothèque de questionnaires et diffusion multicanale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Fournir des modèles de questionnaires prêts à l'emploi adaptés à l'orientation (tous les besoins, digital, IA, personnalisée) et au secteur, avec diffusion multicanale (face-à-face, e-mail, hybride, personnalisé), affectation RACSI par section et collecte structurée des réponses.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AD-01 · Apprentissage immersif (RV/RA/simulation)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des environnements d'apprentissage expérientiels et sans risque grâce à la RV, la RA et la simulation.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AD-07 · Capture et transfert des savoirs d'experts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Préserver les savoirs institutionnels avant qu'ils ne partent 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874520"/>
          <a:ext cx="359633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2161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3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Démarrage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+ PK-02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$223.2 (−10%)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Croissance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+ PK-02 + PK-03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$320.45 (−15%)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Entreprise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à PK-05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$476 (−20%)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Stratégique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à PK-06 + PK-08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$677.25 (−25%)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complète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PK-01 à PK-08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3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$806.4 (−30%)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premier déroulé en quatre étapes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Dimensionné par le score de complexité : environ 30, 60 ou 90 jours sur un parcours PME ; un déroulé complet pour un groupe hospitalier.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et prochaines étapes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4853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3172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Paramétrer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Groupe, organisation, fonctions, utilisateurs et rôles ; connexion du SIRH.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355848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30168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1" descr="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87" y="24853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38928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3630168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et preuves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630168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 périmètre, diffuser les questionnaires, passer le jalon G1.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63056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37376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248533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46136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6437376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Diagnostiquer et planifier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37376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à cinq axes, écarts, thèmes priorisés, rapport, budget ; jalons G2 et G3.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970264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44584" y="2331720"/>
            <a:ext cx="640080" cy="64008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9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203" y="248533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753344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9244584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Déployer et évaluer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244584" y="3703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évaluation Kirkpatrick, attestations, retour d’expérience ; jalons G4 à G6.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5715000"/>
            <a:ext cx="11094415" cy="0"/>
          </a:xfrm>
          <a:prstGeom prst="line">
            <a:avLst/>
          </a:prstGeom>
          <a:noFill/>
          <a:ln w="12700">
            <a:solidFill>
              <a:srgbClr val="E3E3E4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accompagne chaque étape : paramétrage, coaching méthodologique et premières revues de jalons.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Commencer par un hôpital, un déroulé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6455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une séance de travail avec POWERACT : votre calendrier d’accréditation, vos sites et vos rôles prioritaires.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1" descr="MonitorP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5259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démonstration : se connecter à l’espace santé et suivre une tâche du périmètre à l’attestation.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2" descr="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71464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480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pilote : un site ou une clinique, orientation numérique ou IA, mesuré avec les mêmes indicateurs.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955280" y="201168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POWERACT Consulting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www.poweract.ma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de cette présentation proviennent de l’instance de démonstration. Les organisations et les personnes sont fictives.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 pour la santé</dc:title>
  <dc:subject>PptxGenJS Presentation</dc:subject>
  <dc:creator>POWERACT Consulting</dc:creator>
  <cp:lastModifiedBy>POWERACT Consulting</cp:lastModifiedBy>
  <cp:revision>1</cp:revision>
  <dcterms:created xsi:type="dcterms:W3CDTF">2026-10-07T00:00:11Z</dcterms:created>
  <dcterms:modified xsi:type="dcterms:W3CDTF">2026-10-07T00:00:11Z</dcterms:modified>
</cp:coreProperties>
</file>
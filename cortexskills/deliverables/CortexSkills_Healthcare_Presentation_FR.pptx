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3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9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0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1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12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13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14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15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16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charts/chart17.xml" ContentType="application/vnd.openxmlformats-officedocument.drawingml.chart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18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charts/chart19.xml" ContentType="application/vnd.openxmlformats-officedocument.drawingml.chart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20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 d’usage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Faible</c:v>
                  </c:pt>
                  <c:pt idx="1">
                    <c:v>Moyen</c:v>
                  </c:pt>
                  <c:pt idx="2">
                    <c:v>Élevé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</c:v>
                </c:pt>
                <c:pt idx="1">
                  <c:v>20</c:v>
                </c:pt>
                <c:pt idx="2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Déroulé IA (65 %)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Catalyseurs</c:v>
                  </c:pt>
                  <c:pt idx="1">
                    <c:v>Périmètre</c:v>
                  </c:pt>
                  <c:pt idx="2">
                    <c:v>Diagnostic</c:v>
                  </c:pt>
                  <c:pt idx="3">
                    <c:v>Rapport et plan</c:v>
                  </c:pt>
                  <c:pt idx="4">
                    <c:v>Déploiement</c:v>
                  </c:pt>
                  <c:pt idx="5">
                    <c:v>Évaluation</c:v>
                  </c:pt>
                  <c:pt idx="6">
                    <c:v>Amélioration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29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41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Déroulé numérique (78 %)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Catalyseurs</c:v>
                  </c:pt>
                  <c:pt idx="1">
                    <c:v>Périmètre</c:v>
                  </c:pt>
                  <c:pt idx="2">
                    <c:v>Diagnostic</c:v>
                  </c:pt>
                  <c:pt idx="3">
                    <c:v>Rapport et plan</c:v>
                  </c:pt>
                  <c:pt idx="4">
                    <c:v>Déploiement</c:v>
                  </c:pt>
                  <c:pt idx="5">
                    <c:v>Évaluation</c:v>
                  </c:pt>
                  <c:pt idx="6">
                    <c:v>Amélioration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33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50</c:v>
                </c:pt>
                <c:pt idx="6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Note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Impact métier</c:v>
                  </c:pt>
                  <c:pt idx="1">
                    <c:v>Nouveauté</c:v>
                  </c:pt>
                  <c:pt idx="2">
                    <c:v>Exposition réglementaire</c:v>
                  </c:pt>
                  <c:pt idx="3">
                    <c:v>Investissement</c:v>
                  </c:pt>
                  <c:pt idx="4">
                    <c:v>Périmètre</c:v>
                  </c:pt>
                  <c:pt idx="5">
                    <c:v>Incertitude</c:v>
                  </c:pt>
                  <c:pt idx="6">
                    <c:v>Délai de mise en œuvre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Parties prenantes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Stratégique (MS)</c:v>
                  </c:pt>
                  <c:pt idx="1">
                    <c:v>Managérial (MO)</c:v>
                  </c:pt>
                  <c:pt idx="2">
                    <c:v>Opérationnel (OP)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13</c:v>
                </c:pt>
                <c:pt idx="2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Parties prenantes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Face-à-face</c:v>
                  </c:pt>
                  <c:pt idx="1">
                    <c:v>Combination</c:v>
                  </c:pt>
                  <c:pt idx="2">
                    <c:v>E-mail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26</c:v>
                </c:pt>
                <c:pt idx="2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Réponses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8931D"/>
              </a:solidFill>
              <a:effectLst/>
            </c:spPr>
          </c:dPt>
          <c:dPt>
            <c:idx val="1"/>
            <c:bubble3D val="0"/>
            <c:spPr>
              <a:solidFill>
                <a:srgbClr val="808184"/>
              </a:solidFill>
              <a:effectLst/>
            </c:spPr>
          </c:dPt>
          <c:dPt>
            <c:idx val="2"/>
            <c:bubble3D val="0"/>
            <c:spPr>
              <a:solidFill>
                <a:srgbClr val="E3E3E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Face-à-face</c:v>
                </c:pt>
                <c:pt idx="1">
                  <c:v>Application</c:v>
                </c:pt>
                <c:pt idx="2">
                  <c:v>E-mail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17</c:v>
                </c:pt>
                <c:pt idx="1">
                  <c:v>9</c:v>
                </c:pt>
                <c:pt idx="2">
                  <c:v>2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Réponses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Moins de 85 %</c:v>
                  </c:pt>
                  <c:pt idx="1">
                    <c:v>85–94%</c:v>
                  </c:pt>
                  <c:pt idx="2">
                    <c:v>95 % et plus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4</c:v>
                </c:pt>
                <c:pt idx="2">
                  <c:v>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 actuel</c:v>
                </c:pt>
              </c:strCache>
            </c:strRef>
          </c:tx>
          <c:spPr>
            <a:solidFill>
              <a:srgbClr val="F8931D"/>
            </a:solidFill>
            <a:ln w="25400" cap="flat">
              <a:solidFill>
                <a:srgbClr val="F8931D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F8931D"/>
              </a:solidFill>
              <a:ln w="9525" cap="flat">
                <a:solidFill>
                  <a:srgbClr val="F893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Stratégie</c:v>
                  </c:pt>
                  <c:pt idx="1">
                    <c:v>Organisation</c:v>
                  </c:pt>
                  <c:pt idx="2">
                    <c:v>Processus</c:v>
                  </c:pt>
                  <c:pt idx="3">
                    <c:v>Personnes</c:v>
                  </c:pt>
                  <c:pt idx="4">
                    <c:v>Systèmes d’information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</c:v>
                </c:pt>
                <c:pt idx="1">
                  <c:v>2.8</c:v>
                </c:pt>
                <c:pt idx="2">
                  <c:v>2.6</c:v>
                </c:pt>
                <c:pt idx="3">
                  <c:v>3.1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Réalisé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1. Triage IA et aide à la décision clinique</c:v>
                  </c:pt>
                  <c:pt idx="1">
                    <c:v>2. Assistance IA en imagerie médicale</c:v>
                  </c:pt>
                  <c:pt idx="2">
                    <c:v>3. Planification IA des lits et des effectifs</c:v>
                  </c:pt>
                  <c:pt idx="3">
                    <c:v>4. Littératie en IA pour tous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Écart moyen (niveaux)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Triage IA et aide à la décision clinique</c:v>
                  </c:pt>
                  <c:pt idx="1">
                    <c:v>Assistance IA en imagerie médicale</c:v>
                  </c:pt>
                  <c:pt idx="2">
                    <c:v>Planification IA des lits et des effectifs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Nombre d’écarts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Triage IA et aide à la décision clinique</c:v>
                  </c:pt>
                  <c:pt idx="1">
                    <c:v>Assistance IA en imagerie médicale</c:v>
                  </c:pt>
                  <c:pt idx="2">
                    <c:v>Planification IA des lits et des effectifs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Prévu</c:v>
                </c:pt>
              </c:strCache>
            </c:strRef>
          </c:tx>
          <c:spPr>
            <a:solidFill>
              <a:srgbClr val="E3E3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Triage IA et aide à la décision clinique</c:v>
                  </c:pt>
                  <c:pt idx="1">
                    <c:v>Assistance IA en imagerie médicale</c:v>
                  </c:pt>
                  <c:pt idx="2">
                    <c:v>Planification IA des lits et des effectifs</c:v>
                  </c:pt>
                  <c:pt idx="3">
                    <c:v>Littératie en IA pour tous</c:v>
                  </c:pt>
                  <c:pt idx="4">
                    <c:v>Prompting et IA générative au travail</c:v>
                  </c:pt>
                  <c:pt idx="5">
                    <c:v>IA responsable et protection des données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360000</c:v>
                </c:pt>
                <c:pt idx="1">
                  <c:v>300000</c:v>
                </c:pt>
                <c:pt idx="2">
                  <c:v>240000</c:v>
                </c:pt>
                <c:pt idx="3">
                  <c:v>180000</c:v>
                </c:pt>
                <c:pt idx="4">
                  <c:v>120000</c:v>
                </c:pt>
                <c:pt idx="5">
                  <c:v>60000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Engagé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Triage IA et aide à la décision clinique</c:v>
                  </c:pt>
                  <c:pt idx="1">
                    <c:v>Assistance IA en imagerie médicale</c:v>
                  </c:pt>
                  <c:pt idx="2">
                    <c:v>Planification IA des lits et des effectifs</c:v>
                  </c:pt>
                  <c:pt idx="3">
                    <c:v>Littératie en IA pour tous</c:v>
                  </c:pt>
                  <c:pt idx="4">
                    <c:v>Prompting et IA générative au travail</c:v>
                  </c:pt>
                  <c:pt idx="5">
                    <c:v>IA responsable et protection des données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270000</c:v>
                </c:pt>
                <c:pt idx="1">
                  <c:v>225000</c:v>
                </c:pt>
                <c:pt idx="2">
                  <c:v>180000</c:v>
                </c:pt>
                <c:pt idx="3">
                  <c:v>135000</c:v>
                </c:pt>
                <c:pt idx="4">
                  <c:v>90000</c:v>
                </c:pt>
                <c:pt idx="5">
                  <c:v>45000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Réalisé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Triage IA et aide à la décision clinique</c:v>
                  </c:pt>
                  <c:pt idx="1">
                    <c:v>Assistance IA en imagerie médicale</c:v>
                  </c:pt>
                  <c:pt idx="2">
                    <c:v>Planification IA des lits et des effectifs</c:v>
                  </c:pt>
                  <c:pt idx="3">
                    <c:v>Littératie en IA pour tous</c:v>
                  </c:pt>
                  <c:pt idx="4">
                    <c:v>Prompting et IA générative au travail</c:v>
                  </c:pt>
                  <c:pt idx="5">
                    <c:v>IA responsable et protection des données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217250</c:v>
                </c:pt>
                <c:pt idx="1">
                  <c:v>171599</c:v>
                </c:pt>
                <c:pt idx="2">
                  <c:v>142133</c:v>
                </c:pt>
                <c:pt idx="3">
                  <c:v>112764</c:v>
                </c:pt>
                <c:pt idx="4">
                  <c:v>61149</c:v>
                </c:pt>
                <c:pt idx="5">
                  <c:v>32302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# 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Cohorte 1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Niveau 1</c:v>
                  </c:pt>
                  <c:pt idx="1">
                    <c:v>Niveau 2</c:v>
                  </c:pt>
                  <c:pt idx="2">
                    <c:v>Niveau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</c:v>
                </c:pt>
                <c:pt idx="1">
                  <c:v>84</c:v>
                </c:pt>
                <c:pt idx="2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Cohorte 2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Niveau 1</c:v>
                  </c:pt>
                  <c:pt idx="1">
                    <c:v>Niveau 2</c:v>
                  </c:pt>
                  <c:pt idx="2">
                    <c:v>Niveau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</c:v>
                </c:pt>
                <c:pt idx="1">
                  <c:v>92</c:v>
                </c:pt>
                <c:pt idx="2">
                  <c:v>77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Contrôles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Environnement de contrôle</c:v>
                  </c:pt>
                  <c:pt idx="1">
                    <c:v>Évaluation des risques</c:v>
                  </c:pt>
                  <c:pt idx="2">
                    <c:v>Activités de contrôle</c:v>
                  </c:pt>
                  <c:pt idx="3">
                    <c:v>Information et communication</c:v>
                  </c:pt>
                  <c:pt idx="4">
                    <c:v>Activités de pilotage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0</c:v>
                </c:pt>
                <c:pt idx="2">
                  <c:v>40</c:v>
                </c:pt>
                <c:pt idx="3">
                  <c:v>3</c:v>
                </c:pt>
                <c:pt idx="4">
                  <c:v>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Jugés efficaces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Environnement de contrôle</c:v>
                  </c:pt>
                  <c:pt idx="1">
                    <c:v>Évaluation des risques</c:v>
                  </c:pt>
                  <c:pt idx="2">
                    <c:v>Activités de contrôle</c:v>
                  </c:pt>
                  <c:pt idx="3">
                    <c:v>Information et communication</c:v>
                  </c:pt>
                  <c:pt idx="4">
                    <c:v>Activités de pilotage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</c:v>
                </c:pt>
                <c:pt idx="1">
                  <c:v>0</c:v>
                </c:pt>
                <c:pt idx="2">
                  <c:v>24</c:v>
                </c:pt>
                <c:pt idx="3">
                  <c:v>3</c:v>
                </c:pt>
                <c:pt idx="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Valeur</c:v>
                </c:pt>
              </c:strCache>
            </c:strRef>
          </c:tx>
          <c:spPr>
            <a:solidFill>
              <a:srgbClr val="F8931D"/>
            </a:solidFill>
            <a:ln w="25400" cap="flat">
              <a:solidFill>
                <a:srgbClr val="F8931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8931D"/>
              </a:solidFill>
              <a:ln w="9525" cap="flat">
                <a:solidFill>
                  <a:srgbClr val="F893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2026-05</c:v>
                  </c:pt>
                  <c:pt idx="1">
                    <c:v>2026-06</c:v>
                  </c:pt>
                  <c:pt idx="2">
                    <c:v>2026-07</c:v>
                  </c:pt>
                  <c:pt idx="3">
                    <c:v>2026-08</c:v>
                  </c:pt>
                  <c:pt idx="4">
                    <c:v>2026-09</c:v>
                  </c:pt>
                  <c:pt idx="5">
                    <c:v>2026-10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84.7</c:v>
                </c:pt>
                <c:pt idx="2">
                  <c:v>91.4</c:v>
                </c:pt>
                <c:pt idx="3">
                  <c:v>90.4</c:v>
                </c:pt>
                <c:pt idx="4">
                  <c:v>102</c:v>
                </c:pt>
                <c:pt idx="5">
                  <c:v>97.2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Cible</c:v>
                </c:pt>
              </c:strCache>
            </c:strRef>
          </c:tx>
          <c:spPr>
            <a:solidFill>
              <a:srgbClr val="808184"/>
            </a:solidFill>
            <a:ln w="25400" cap="flat">
              <a:solidFill>
                <a:srgbClr val="80818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08184"/>
              </a:solidFill>
              <a:ln w="9525" cap="flat">
                <a:solidFill>
                  <a:srgbClr val="80818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2026-05</c:v>
                  </c:pt>
                  <c:pt idx="1">
                    <c:v>2026-06</c:v>
                  </c:pt>
                  <c:pt idx="2">
                    <c:v>2026-07</c:v>
                  </c:pt>
                  <c:pt idx="3">
                    <c:v>2026-08</c:v>
                  </c:pt>
                  <c:pt idx="4">
                    <c:v>2026-09</c:v>
                  </c:pt>
                  <c:pt idx="5">
                    <c:v>2026-10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Décision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8931D"/>
              </a:solidFill>
              <a:effectLst/>
            </c:spPr>
          </c:dPt>
          <c:dPt>
            <c:idx val="1"/>
            <c:bubble3D val="0"/>
            <c:spPr>
              <a:solidFill>
                <a:srgbClr val="808184"/>
              </a:solidFill>
              <a:effectLst/>
            </c:spPr>
          </c:dPt>
          <c:dPt>
            <c:idx val="2"/>
            <c:bubble3D val="0"/>
            <c:spPr>
              <a:solidFill>
                <a:srgbClr val="E3E3E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Acceptée</c:v>
                </c:pt>
                <c:pt idx="1">
                  <c:v>Modifiée</c:v>
                </c:pt>
                <c:pt idx="2">
                  <c:v>Rejetée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30</c:v>
                </c:pt>
                <c:pt idx="1">
                  <c:v>9</c:v>
                </c:pt>
                <c:pt idx="2">
                  <c:v>9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Clinique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Impact</c:v>
                  </c:pt>
                  <c:pt idx="1">
                    <c:v>Nouveauté</c:v>
                  </c:pt>
                  <c:pt idx="2">
                    <c:v>Réglementaire</c:v>
                  </c:pt>
                  <c:pt idx="3">
                    <c:v>Investissement</c:v>
                  </c:pt>
                  <c:pt idx="4">
                    <c:v>Périmètre</c:v>
                  </c:pt>
                  <c:pt idx="5">
                    <c:v>Incertitude</c:v>
                  </c:pt>
                  <c:pt idx="6">
                    <c:v>Délai de mise en œuvre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Groupe hospitalier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Impact</c:v>
                  </c:pt>
                  <c:pt idx="1">
                    <c:v>Nouveauté</c:v>
                  </c:pt>
                  <c:pt idx="2">
                    <c:v>Réglementaire</c:v>
                  </c:pt>
                  <c:pt idx="3">
                    <c:v>Investissement</c:v>
                  </c:pt>
                  <c:pt idx="4">
                    <c:v>Périmètre</c:v>
                  </c:pt>
                  <c:pt idx="5">
                    <c:v>Incertitude</c:v>
                  </c:pt>
                  <c:pt idx="6">
                    <c:v>Délai de mise en œuvre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1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Numérique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Numérique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Numérique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Numérique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Groupe Hospitalier Maghreb (HCPR)</c:v>
                  </c:pt>
                  <c:pt idx="1">
                    <c:v>Clinique Al Amal (HCPR)</c:v>
                  </c:pt>
                  <c:pt idx="2">
                    <c:v>Maghreb Life Sciences (HLS)</c:v>
                  </c:pt>
                  <c:pt idx="3">
                    <c:v>BioLab Diagnostics Rabat (HLS)</c:v>
                  </c:pt>
                  <c:pt idx="4">
                    <c:v>Maghreb Pharma Distribution (PHAR)</c:v>
                  </c:pt>
                  <c:pt idx="5">
                    <c:v>PharmaLog Services (PHAR)</c:v>
                  </c:pt>
                  <c:pt idx="6">
                    <c:v>Pharma Maghreb Process (PHPR)</c:v>
                  </c:pt>
                  <c:pt idx="7">
                    <c:v>Galénix Laboratoires (PHPR)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78</c:v>
                </c:pt>
                <c:pt idx="1">
                  <c:v>66</c:v>
                </c:pt>
                <c:pt idx="2">
                  <c:v>81</c:v>
                </c:pt>
                <c:pt idx="3">
                  <c:v>69</c:v>
                </c:pt>
                <c:pt idx="4">
                  <c:v>81</c:v>
                </c:pt>
                <c:pt idx="5">
                  <c:v>67</c:v>
                </c:pt>
                <c:pt idx="6">
                  <c:v>50</c:v>
                </c:pt>
                <c:pt idx="7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Groupe Hospitalier Maghreb (HCPR)</c:v>
                  </c:pt>
                  <c:pt idx="1">
                    <c:v>Clinique Al Amal (HCPR)</c:v>
                  </c:pt>
                  <c:pt idx="2">
                    <c:v>Maghreb Life Sciences (HLS)</c:v>
                  </c:pt>
                  <c:pt idx="3">
                    <c:v>BioLab Diagnostics Rabat (HLS)</c:v>
                  </c:pt>
                  <c:pt idx="4">
                    <c:v>Maghreb Pharma Distribution (PHAR)</c:v>
                  </c:pt>
                  <c:pt idx="5">
                    <c:v>PharmaLog Services (PHAR)</c:v>
                  </c:pt>
                  <c:pt idx="6">
                    <c:v>Pharma Maghreb Process (PHPR)</c:v>
                  </c:pt>
                  <c:pt idx="7">
                    <c:v>Galénix Laboratoires (PHPR)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65</c:v>
                </c:pt>
                <c:pt idx="1">
                  <c:v>50</c:v>
                </c:pt>
                <c:pt idx="2">
                  <c:v>68</c:v>
                </c:pt>
                <c:pt idx="3">
                  <c:v>51</c:v>
                </c:pt>
                <c:pt idx="4">
                  <c:v>67</c:v>
                </c:pt>
                <c:pt idx="5">
                  <c:v>51</c:v>
                </c:pt>
                <c:pt idx="6">
                  <c:v>27</c:v>
                </c:pt>
                <c:pt idx="7">
                  <c:v>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20-1.png"/><Relationship Id="rId3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4.xml"/><Relationship Id="rId6" Type="http://schemas.openxmlformats.org/officeDocument/2006/relationships/chart" Target="/ppt/charts/chart5.xm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0.xm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31-1.png"/><Relationship Id="rId3" Type="http://schemas.openxmlformats.org/officeDocument/2006/relationships/image" Target="../media/image-31-2.png"/><Relationship Id="rId4" Type="http://schemas.openxmlformats.org/officeDocument/2006/relationships/image" Target="../media/image-3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image" Target="../media/image-3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image" Target="../media/image-4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7.xml"/><Relationship Id="rId1" Type="http://schemas.openxmlformats.org/officeDocument/2006/relationships/image" Target="../media/image-51-1.png"/><Relationship Id="rId3" Type="http://schemas.openxmlformats.org/officeDocument/2006/relationships/image" Target="../media/image-51-2.png"/><Relationship Id="rId4" Type="http://schemas.openxmlformats.org/officeDocument/2006/relationships/image" Target="../media/image-5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8.xml"/><Relationship Id="rId1" Type="http://schemas.openxmlformats.org/officeDocument/2006/relationships/image" Target="../media/image-52-1.png"/><Relationship Id="rId3" Type="http://schemas.openxmlformats.org/officeDocument/2006/relationships/image" Target="../media/image-52-2.png"/><Relationship Id="rId4" Type="http://schemas.openxmlformats.org/officeDocument/2006/relationships/image" Target="../media/image-5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9.xml"/><Relationship Id="rId1" Type="http://schemas.openxmlformats.org/officeDocument/2006/relationships/image" Target="../media/image-53-1.png"/><Relationship Id="rId3" Type="http://schemas.openxmlformats.org/officeDocument/2006/relationships/image" Target="../media/image-53-2.png"/><Relationship Id="rId4" Type="http://schemas.openxmlformats.org/officeDocument/2006/relationships/image" Target="../media/image-5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image" Target="../media/image-56-5.png"/><Relationship Id="rId6" Type="http://schemas.openxmlformats.org/officeDocument/2006/relationships/image" Target="../media/image-5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image" Target="../media/image-6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6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-1280160" y="4206240"/>
            <a:ext cx="4023360" cy="4023360"/>
          </a:xfrm>
          <a:prstGeom prst="ellipse">
            <a:avLst/>
          </a:prstGeom>
          <a:solidFill>
            <a:srgbClr val="FDEEDA"/>
          </a:solidFill>
          <a:ln w="12700">
            <a:solidFill>
              <a:srgbClr val="FDEE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CLIENT · SANTÉ · 2026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CortexSkills pour la santé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L’ingénierie de formation pour les hôpitaux et les cliniques — des exigences d’accréditation à des équipes certifiées et évaluées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888736" y="1179576"/>
            <a:ext cx="5870448" cy="3710178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23444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couvre cette présentation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HeartPul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25673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20040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L’enjeu de la santé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Accréditation, sécurité des patients et nouvelles compétences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9768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0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RefreshC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619" y="225673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94944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solution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de vie, jalons, processus de santé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04672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1" name="Image 2" descr="Hospi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659" y="2256739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069848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Étude de cas : hôpital</a:t>
            </a:r>
            <a:endParaRPr lang="en-US" sz="1700" dirty="0"/>
          </a:p>
        </p:txBody>
      </p:sp>
      <p:sp>
        <p:nvSpPr>
          <p:cNvPr id="24" name="Text 19"/>
          <p:cNvSpPr txBox="1"/>
          <p:nvPr/>
        </p:nvSpPr>
        <p:spPr>
          <a:xfrm>
            <a:off x="832104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déroulé complet compétences IA, phase par phase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54864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2296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7" name="Image 3" descr="Stethosc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405579"/>
            <a:ext cx="332842" cy="33284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20040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9" name="Text 23"/>
          <p:cNvSpPr txBox="1"/>
          <p:nvPr/>
        </p:nvSpPr>
        <p:spPr>
          <a:xfrm>
            <a:off x="82296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Étude de cas : une clinique</a:t>
            </a:r>
            <a:endParaRPr lang="en-US" sz="17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même méthode sur un parcours PME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429768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457200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3" name="Image 4" descr="FlaskConic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619" y="4405579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94944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L’écosystème de la santé</a:t>
            </a:r>
            <a:endParaRPr lang="en-US" sz="17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Sciences de la vie et pharmacie</a:t>
            </a:r>
            <a:endParaRPr lang="en-US" sz="1300" dirty="0"/>
          </a:p>
        </p:txBody>
      </p:sp>
      <p:sp>
        <p:nvSpPr>
          <p:cNvPr id="37" name="Shape 30"/>
          <p:cNvSpPr/>
          <p:nvPr/>
        </p:nvSpPr>
        <p:spPr>
          <a:xfrm>
            <a:off x="804672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832104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9" name="Image 5" descr="Shield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59" y="4405579"/>
            <a:ext cx="332842" cy="332842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069848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41" name="Text 33"/>
          <p:cNvSpPr txBox="1"/>
          <p:nvPr/>
        </p:nvSpPr>
        <p:spPr>
          <a:xfrm>
            <a:off x="832104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Confiance et prochaines étapes</a:t>
            </a:r>
            <a:endParaRPr lang="en-US" sz="1700" dirty="0"/>
          </a:p>
        </p:txBody>
      </p:sp>
      <p:sp>
        <p:nvSpPr>
          <p:cNvPr id="42" name="Text 34"/>
          <p:cNvSpPr txBox="1"/>
          <p:nvPr/>
        </p:nvSpPr>
        <p:spPr>
          <a:xfrm>
            <a:off x="832104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Sécurité, déploiement, offres, plan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groupe hospitalier, un déroulé IA, mesuré de bout en bout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Hospitalier Maghreb · 4 700 salariés · Casablanca · chiffres issus du déroulé de démonstration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12140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park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23113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265 tâches terminées dans le déroulé compétences IA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23113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sur 6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jalons de phase validés avec une décision « Go »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23113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aux questionnaires, complétude moyenne de 91 %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Wal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23113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1 260 000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de formation du plan 2026 verrouillé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548640" y="3429000"/>
            <a:ext cx="11094415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86868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montre le déroulé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868680" y="411480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31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630" y="4215750"/>
            <a:ext cx="218724" cy="218724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463040" y="4078224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flagged 5 of 21 function × decision-level cells as Red; Clinical Care &amp; Nursing is Red at strategic and operational levels.</a:t>
            </a:r>
            <a:endParaRPr lang="en-US" sz="1350" dirty="0"/>
          </a:p>
        </p:txBody>
      </p:sp>
      <p:sp>
        <p:nvSpPr>
          <p:cNvPr id="33" name="Shape 26"/>
          <p:cNvSpPr/>
          <p:nvPr/>
        </p:nvSpPr>
        <p:spPr>
          <a:xfrm>
            <a:off x="868680" y="4590288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4" name="Image 5" descr="Arrow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630" y="4691238"/>
            <a:ext cx="218724" cy="218724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463040" y="4553712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thèmes IA ont été priorisés selon l’impact et l’urgence ; « Triage IA et aide à la décision clinique » arrive en tête (impact 5, urgence 4).</a:t>
            </a:r>
            <a:endParaRPr lang="en-US" sz="1350" dirty="0"/>
          </a:p>
        </p:txBody>
      </p:sp>
      <p:sp>
        <p:nvSpPr>
          <p:cNvPr id="36" name="Shape 28"/>
          <p:cNvSpPr/>
          <p:nvPr/>
        </p:nvSpPr>
        <p:spPr>
          <a:xfrm>
            <a:off x="868680" y="5065776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7" name="Image 6" descr="Shield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630" y="5166726"/>
            <a:ext cx="218724" cy="218724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463040" y="5029200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évaluations Kirkpatrick vont de 74 % à 93 % ; une attestation de sensibilisation ISO 7101 a expiré et une autre arrive à échéance.</a:t>
            </a:r>
            <a:endParaRPr lang="en-US" sz="1350" dirty="0"/>
          </a:p>
        </p:txBody>
      </p:sp>
      <p:sp>
        <p:nvSpPr>
          <p:cNvPr id="39" name="Shape 30"/>
          <p:cNvSpPr/>
          <p:nvPr/>
        </p:nvSpPr>
        <p:spPr>
          <a:xfrm>
            <a:off x="868680" y="5541264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40" name="Image 7" descr="CircleDo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630" y="5642214"/>
            <a:ext cx="218724" cy="218724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1463040" y="5504688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 279 RACSI activities has exactly one Accountable; 385 audit entries trace the changes.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L’enjeu de la santé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Accréditation, sécurité des patients et virage du numérique et de l’IA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ÉTABLISSEMENTS DE SANTÉ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sécurité des patients repose sur des compétences prouvées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organismes d’accréditation exigent la preuve que chaque rôle est formé, évalué et à jour.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L’enjeu de la santé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4884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291486"/>
            <a:ext cx="309067" cy="30906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7101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8803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de la qualité en santé : compétences définies par rôle, enregistrements de formation conservés, efficacité évaluée.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297680" y="192024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Badg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646" y="2291486"/>
            <a:ext cx="309067" cy="309067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303520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Standards JCI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28803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visites d’accréditation vérifient la qualification et la formation du personnel, avec des preuves au niveau de chaque praticien.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8046720" y="192024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2104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Microsc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3686" y="2291486"/>
            <a:ext cx="309067" cy="30906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052560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15189</a:t>
            </a:r>
            <a:endParaRPr lang="en-US" sz="190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28803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Laboratoires de biologie médicale : compétence du personnel de laboratoire, évaluée et enregistrée.</a:t>
            </a:r>
            <a:endParaRPr lang="en-US" sz="1350" dirty="0"/>
          </a:p>
        </p:txBody>
      </p:sp>
      <p:sp>
        <p:nvSpPr>
          <p:cNvPr id="23" name="Shape 18"/>
          <p:cNvSpPr/>
          <p:nvPr/>
        </p:nvSpPr>
        <p:spPr>
          <a:xfrm>
            <a:off x="548640" y="4434840"/>
            <a:ext cx="5486400" cy="1600200"/>
          </a:xfrm>
          <a:prstGeom prst="roundRect">
            <a:avLst>
              <a:gd name="adj" fmla="val 6857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2296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DU SECTEUR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22960" y="4892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poids de l’accréditation</a:t>
            </a:r>
            <a:endParaRPr lang="en-US" sz="2000" dirty="0"/>
          </a:p>
        </p:txBody>
      </p:sp>
      <p:sp>
        <p:nvSpPr>
          <p:cNvPr id="26" name="Text 21"/>
          <p:cNvSpPr txBox="1"/>
          <p:nvPr/>
        </p:nvSpPr>
        <p:spPr>
          <a:xfrm>
            <a:off x="822960" y="5394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cycle d’accréditation exige des preuves de compétence pour les rôles réglementés.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6153912" y="4434840"/>
            <a:ext cx="5486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6428232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DU SECTEUR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6428232" y="4892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Incident lié à un défaut de formation</a:t>
            </a:r>
            <a:endParaRPr lang="en-US" sz="2000" dirty="0"/>
          </a:p>
        </p:txBody>
      </p:sp>
      <p:sp>
        <p:nvSpPr>
          <p:cNvPr id="30" name="Text 25"/>
          <p:cNvSpPr txBox="1"/>
          <p:nvPr/>
        </p:nvSpPr>
        <p:spPr>
          <a:xfrm>
            <a:off x="6428232" y="5394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 à chaque jalon au moyen de la check-list de conformité santé.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DÉFIS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les équipes formation des hôpitaux doivent résoudre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L’enjeu de la santé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103120"/>
            <a:ext cx="731520" cy="73152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Stethoscop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278685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22960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Compétence clinique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Relier chaque poste des soins cliniques et infirmiers à ses obligations et garder les attestations à jour.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355848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630168" y="210312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1" descr="Fil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278685"/>
            <a:ext cx="380390" cy="38039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30168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preuves prêtes pour l’audit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3630168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Présences, résultats et observations des managers conservés par étape, retrouvables lors d’une visite.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163056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37376" y="210312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Cp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1" y="2278685"/>
            <a:ext cx="380390" cy="38039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37376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Numérique et IA</a:t>
            </a:r>
            <a:endParaRPr lang="en-US" sz="1900" dirty="0"/>
          </a:p>
        </p:txBody>
      </p:sp>
      <p:sp>
        <p:nvSpPr>
          <p:cNvPr id="21" name="Text 16"/>
          <p:cNvSpPr txBox="1"/>
          <p:nvPr/>
        </p:nvSpPr>
        <p:spPr>
          <a:xfrm>
            <a:off x="6437376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patient informatisé, télémédecine, triage et imagerie assistés par IA transforment la pratique quotidienne.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8970264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244584" y="210312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4" name="Image 3" descr="Building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149" y="2278685"/>
            <a:ext cx="380390" cy="38039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44584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Multisite, multilingue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9244584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sites et trois langues de travail — anglais, français et arabe.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L’ÉCOSYSTÈME DE LA SANTÉ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verticales santé, chacune avec ses normes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verticale apporte ses macro-processus, ses processus de bout en bout et sa check-list de conformité.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L’enjeu de la santé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Établissements de santé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Normes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7101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JCI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15189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cœur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Soins cliniques et infirmiers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: Groupe Hospitalier Maghreb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55848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630168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30168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Santé et sciences de la vie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630168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Normes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630168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MDR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15189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630168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cœur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630168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cliniques et laboratoire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630168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: Maghreb Life Sciences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63056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437376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37376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Pharmacie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37376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Normes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37376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Q9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437376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cœur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37376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et distribution pharmaceutiques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37376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: Maghreb Pharma Distribution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970264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244584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PHPR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44584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Pharmaceutique et procédés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244584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Normes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44584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Q10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244584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cœur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244584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Fabrication BPF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244584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: Pharma Maghreb Process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ÉTABLISSEMENTS DE SANTÉ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Thèmes de compétences prioritaires, numérique et 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Prédéfinis pour la verticale Établissements de santé ; chaque organisation les ajuste lors du diagnostic.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L’enjeu de la santé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0" name="Image 0" descr="MonitorSmart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291486"/>
            <a:ext cx="309067" cy="30906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600200" y="22128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Compétences numériques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68680" y="308152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868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30632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patient informatisé (DPI)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68680" y="395020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3931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Télémédecine et téléconsultation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68680" y="481888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868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8006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Rendez-vous et facturation patients numériques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153912" y="192024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28232" y="214884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23" name="Image 1" descr="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878" y="2291486"/>
            <a:ext cx="309067" cy="309067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205472" y="22128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Compétences IA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6473952" y="308152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73952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7068312" y="30632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IA et aide à la décision clinique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6473952" y="395020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473952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7068312" y="3931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Assistance IA en imagerie médicale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473952" y="481888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73952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7068312" y="48006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IA des lits et des effectifs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solution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cycle de vie, sept phases, des jalons et des processus propres à la santé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CYCLE DE VIE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cycle, sept phases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phase regroupe des processus de bout en bout ; un jalon clôt chaque phase principale.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et collecte de preuves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processus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35809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618689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618689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618689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processus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618689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22978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05858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4505858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d'ingénierie de formation et plan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05858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processus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05858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0148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93028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et déploiement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processus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93028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97317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80197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8280197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Évaluation, conformité et impact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280197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processus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80197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984486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10167366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10167366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Talents, savoirs et amélioration continue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67366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processus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67366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498348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77240" y="5157216"/>
            <a:ext cx="603504" cy="60350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40" name="Image 0" descr="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081" y="5302057"/>
            <a:ext cx="313822" cy="313822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1600200" y="512064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catalyseurs couvrent toutes les phases — </a:t>
            </a:r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données, IA et intégration · changement et adoption · qualité, risques et amélioration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jalons, chacun avec sa check-list et ses approbateurs nommés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phase ne se clôt que lorsque les éléments obligatoires sont satisfaits et la décision enregistrée.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394960"/>
                <a:gridCol w="25877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Jalon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Approbateurs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— Périmètre et preuves approuvés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Confirmer le périmètre approuvé et un jeu de réponses consolidé.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DRH, chef de projet consultant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 — Diagnostic validé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Valider les constats du diagnostic, les écarts, les demandes, le RAG et le SWOT.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formation, DRH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G3 — Rapport et feuille de route approuvés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Approuver le rapport d'ingénierie de formation, le plan priorisé et le budget.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DRH, comité de pilotage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G4 — Prêt pour le déploiement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Confirmer conception, contenus, formateurs et logistique avant déploiement.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formation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G5 — Évaluation et impact validés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Valider l'efficacité, le ROI et la conformité.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formation, responsable financier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G6 — Clôture et amélioration continue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Clôturer le cycle avec le REX et la feuille de route post-mission.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DRH, associé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DE SANTÉ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macro-processus santé en complément du modèle de base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Ajoutés automatiquement lorsque le secteur de l’organisation est Établissements de santé.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4884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291486"/>
            <a:ext cx="309067" cy="30906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HCPR-MP-01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Conformité réglementaire et formation sécurité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794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Maintenir chaque rôle réglementé du secteur Établissements de santé formé et certifié selon ISO 7101.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 : Responsable conformité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97680" y="19202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1" descr="Aw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646" y="2291486"/>
            <a:ext cx="309067" cy="309067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30352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HCPR-MP-02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Référentiel des compétences critiques et certifications</a:t>
            </a:r>
            <a:endParaRPr lang="en-US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3794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Définir les compétences critiques Soins cliniques et infirmiers et leurs parcours de certification.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 : Responsable formation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046720" y="19202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32104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4" name="Image 2" descr="Cp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3686" y="2291486"/>
            <a:ext cx="309067" cy="309067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05256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HCPR-MP-03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32104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 des compétences numériques et IA</a:t>
            </a:r>
            <a:endParaRPr lang="en-US" sz="1700" dirty="0"/>
          </a:p>
        </p:txBody>
      </p:sp>
      <p:sp>
        <p:nvSpPr>
          <p:cNvPr id="27" name="Text 22"/>
          <p:cNvSpPr txBox="1"/>
          <p:nvPr/>
        </p:nvSpPr>
        <p:spPr>
          <a:xfrm>
            <a:off x="8321040" y="3794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Planifier les compétences numériques et IA dont les opérations Établissements de santé auront besoin.</a:t>
            </a:r>
            <a:endParaRPr lang="en-US" sz="1350" dirty="0"/>
          </a:p>
        </p:txBody>
      </p:sp>
      <p:sp>
        <p:nvSpPr>
          <p:cNvPr id="28" name="Text 23"/>
          <p:cNvSpPr txBox="1"/>
          <p:nvPr/>
        </p:nvSpPr>
        <p:spPr>
          <a:xfrm>
            <a:off x="832104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 : Stratège formation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DE SANTÉ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processus de bout en bout pour la santé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Chacun a un déclencheur, un état final, les macro-processus qu’il traverse et ses tâches utilisateur.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057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HCPR-E2E-01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377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Conformité et préparation à la certification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004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320040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Maintenir les rôles réglementés Établissements de santé certifiés selon ISO 7101.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749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Déclencheur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74904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Nouvelle exigence ISO 7101 ou expiration de certification.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297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final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920240" y="429768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Extrait de conformité sectorielle émis, rôles critiques certifiés.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46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484632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MP-01 · MP-02 · MP-14 · HCPR-MP-01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94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539496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tâches utilisateur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53912" y="18745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2057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HCPR-E2E-02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2377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compétences critiques au plan de transformation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2004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320040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les écarts de compétences critiques et les cas d'usage numériques et IA en plan de transformation.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28232" y="3749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Déclencheur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525512" y="374904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annuel du plan ou évolution technologique dans le secteur Établissements de santé.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28232" y="4297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final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525512" y="429768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de transformation approuvés.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428232" y="4846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525512" y="484632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MP-02 · MP-03 · MP-05 · HCPR-MP-02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428232" y="5394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525512" y="539496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tâches utilisateur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SOCLE DE CONFORMITÉ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check-list de conformité pour les établissements de santé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Publiée une fois pour la verticale ; utilisée aux jalons et dans l’extrait de conformité.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8521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914400"/>
                <a:gridCol w="1097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Élément de la check-list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Obligatoire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Preuve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Exigences de formation ISO 7101 reliées aux postes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Rôles critiques Soins cliniques et infirmiers certifiés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Risque sectoriel revu : Événement indésirable lié à une lacune de formation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4206240"/>
            <a:ext cx="5852160" cy="1783080"/>
          </a:xfrm>
          <a:prstGeom prst="roundRect">
            <a:avLst>
              <a:gd name="adj" fmla="val 6154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4434840"/>
            <a:ext cx="502920" cy="5029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1" name="Image 0" descr="Inf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4555541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08760" y="4434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appui à la préparation, pas une certification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508760" y="48463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L’application organise les preuves et vérifie la préparation au regard d’ISO 7101, des standards JCI et d’ISO 15189. La décision de certification reste du ressort de l’organisme d’accréditation.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711696" y="1865376"/>
            <a:ext cx="4956048" cy="3138678"/>
          </a:xfrm>
          <a:prstGeom prst="roundRect">
            <a:avLst>
              <a:gd name="adj" fmla="val 233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5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920240"/>
            <a:ext cx="4846320" cy="30289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 ET RESPONSABILITÉS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rôles, un seul Approbateur par activité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RACSI : Responsable, Approbateur, Consulté, Soutien, Informé — affectés pour chaque activité du déroulé.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7059168" cy="4453128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949440" cy="4343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63840" y="1874520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de rôles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2240280"/>
            <a:ext cx="37792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DRH / président du comité de pilotage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formation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Analyste formation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Stratège formation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Partenaire formation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Planificateur formation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Concepteur pédagogique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de formation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863840" y="4754880"/>
            <a:ext cx="37792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65008" y="495604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4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736" y="5065776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641080" y="4882896"/>
            <a:ext cx="2864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279</a:t>
            </a:r>
            <a:endParaRPr lang="en-US" sz="2600" dirty="0"/>
          </a:p>
        </p:txBody>
      </p:sp>
      <p:sp>
        <p:nvSpPr>
          <p:cNvPr id="16" name="Text 12"/>
          <p:cNvSpPr txBox="1"/>
          <p:nvPr/>
        </p:nvSpPr>
        <p:spPr>
          <a:xfrm>
            <a:off x="8065008" y="5504688"/>
            <a:ext cx="34134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activités dans le déroulé de l’hôpital, chacune avec un seul Approbateur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IA SOUS CONTRÔLE HUMAIN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 cas d’usage IA, chacun revu par une personne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L’IA rédige ; un rôle nommé accepte, modifie ou rejette. Chaque suggestion est journalisée avec sa décision.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87452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4864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cas d’usage IA du catalogue par niveau de risque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74520"/>
          <a:ext cx="597377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3502152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 d’usage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Contrôle humain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Rédaction du rapport d'ingénierie de formation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stratège formation modifie chaque section ; le responsable qualité relit avant approbation.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Rédaction des constats de diagnostic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chef de projet consultant valide les constats avec le sponsor client.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Notation de priorisation des thèmes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stratège formation confirme le classement ; le comité de pilotage valide le plan.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Prévision des écarts de compétences (6-18 mois)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responsable formation accepte ou rejette chaque prédiction avant toute action.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de traduction des contenus (FR/AR)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L'expert métier valide la terminologie avant publication.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Étude de cas : un groupe hospitalier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Hospitalier Maghreb — 4 700 salariés, Casablanca. Données de démonstration, organisation fictive.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· PROFIL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Groupe Hospitalier Maghreb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Membre du Groupe Maghreb Santé &amp; Vie · Établissements de santé · grande entreprise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756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8541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4 700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salariés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18541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dans la structure de l’organisation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User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8541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 nommés, un par rôle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RefreshC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18541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déroulés complets en 2026 : numérique et IA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6559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Paramètre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Opérations, Qualité et HSE, Finance, Ressources humaines, Ventes et marketing, Systèmes d'information, Soins cliniques et infirmiers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BND-05 Suite complète (PK-01 à PK-08)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Modules complémentaires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Déploiement multi-sites / multi-entités; Bibliothèque de questionnaires et diffusion multicanale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Référentiels de protection des données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RGPD, loi 09-08 (CNDP, Maroc), ISO 9001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Déploiement · licences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 · 600 licences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Justification des modifications gouvernées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· ESPACE PROJET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déroulé compétences IA sur un seul écran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 complet compétences IA 2026 — Groupe Hospitalier Maghreb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223760" cy="451485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0" y="192024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550" y="202119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23960" y="188366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65 % des 265 tâches terminées ; 7 en cours, 1 bloquée.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229600" y="320040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550" y="330135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23960" y="316382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tâches en retard — chacune déclenche une alerte avec une chaîne d’escalade.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8229600" y="448056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550" y="4581510"/>
            <a:ext cx="218724" cy="2187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23960" y="444398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complexité 84 : mode complet, les sept phases et les six jalons.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· DEUX DÉROULÉS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déroulés : le numérique devance l’IA au déploiement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des tâches terminées par phase, même organisation, même modèle.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75895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/ tâches prévues dans chaque phase (%)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503920" y="1828800"/>
            <a:ext cx="313913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705088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2" name="Image 0" descr="MonitorSmart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16" y="213969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281160" y="1956816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208 / 265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8705088" y="2578608"/>
            <a:ext cx="27733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dans le déroulé numérique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503920" y="3246120"/>
            <a:ext cx="313913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05088" y="34472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7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16" y="3557016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281160" y="3374136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171 / 265</a:t>
            </a:r>
            <a:endParaRPr lang="en-US" sz="2600" dirty="0"/>
          </a:p>
        </p:txBody>
      </p:sp>
      <p:sp>
        <p:nvSpPr>
          <p:cNvPr id="19" name="Text 14"/>
          <p:cNvSpPr txBox="1"/>
          <p:nvPr/>
        </p:nvSpPr>
        <p:spPr>
          <a:xfrm>
            <a:off x="8705088" y="3995928"/>
            <a:ext cx="27733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dans le déroulé IA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8503920" y="4663440"/>
            <a:ext cx="31391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périmètre, le diagnostic et le rapport sont terminés dans les deux déroulés ; l’écart se creuse au déploiement et à l’évaluation.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· COMPLEXITÉ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de complexité 84 sur 100 : mode complet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 critères pondérés, notés de 1 à 5 à la création du projet ; le score recommande le mode.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de chaque critère de complexité (1 = faible, 5 = élevé)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0" y="1828800"/>
            <a:ext cx="3687775" cy="1920240"/>
          </a:xfrm>
          <a:prstGeom prst="roundRect">
            <a:avLst>
              <a:gd name="adj" fmla="val 5714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29600" y="19659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54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297180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complet : score de 70 ou plus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023360"/>
            <a:ext cx="368777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dessous de 70, le score recommande le mode PME et l’un des trois parcours (T1, T2, T3). Choisir un autre parcours exige une justification écrite.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PÉRIMÈTRE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périmètre approuvé avant toute collecte de données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on 22 juil. 2026 · focus AI · decision levels MS / MO / OP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756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Grid3x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8541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critères de périmètre : fonction × niveau de décision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18541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prenantes dans le registre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8541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40/40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prenantes avec consentement enregistré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Fi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18541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approuvée du périmètre</a:t>
            </a:r>
            <a:endParaRPr lang="en-US" sz="11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548640" y="3337560"/>
          <a:ext cx="539496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9" name="Text 22"/>
          <p:cNvSpPr txBox="1"/>
          <p:nvPr/>
        </p:nvSpPr>
        <p:spPr>
          <a:xfrm>
            <a:off x="548640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prenantes par niveau de décision</a:t>
            </a:r>
            <a:endParaRPr lang="en-US" sz="1000" dirty="0"/>
          </a:p>
        </p:txBody>
      </p:sp>
      <p:graphicFrame>
        <p:nvGraphicFramePr>
          <p:cNvPr id="30" name="Chart 1" descr=""/>
          <p:cNvGraphicFramePr/>
          <p:nvPr/>
        </p:nvGraphicFramePr>
        <p:xfrm>
          <a:off x="6217920" y="3337560"/>
          <a:ext cx="539496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Text 23"/>
          <p:cNvSpPr txBox="1"/>
          <p:nvPr/>
        </p:nvSpPr>
        <p:spPr>
          <a:xfrm>
            <a:off x="6217920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prenantes par canal préféré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PREUVES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questionnaire responses, 91% complete on average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rédigées par l’IA à partir du périmètre, validées par une personne, envoyées par le canal de chaque partie prenante.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47548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852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aux questionnaires par canal utilisé</a:t>
            </a:r>
            <a:endParaRPr lang="en-US" sz="10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5669280" y="17830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669280" y="5852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selon la complétude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 G1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 — Périmètre et preuves approuvés : « Go »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30 juil. 2026 · Tous les éléments obligatoires satisfaits ; preuves jointes.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4415" cy="914400"/>
        </p:xfrm>
        <a:graphic>
          <a:graphicData uri="http://schemas.openxmlformats.org/drawingml/2006/table">
            <a:tbl>
              <a:tblPr/>
              <a:tblGrid>
                <a:gridCol w="6885432"/>
                <a:gridCol w="1371600"/>
                <a:gridCol w="1463040"/>
                <a:gridCol w="1371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Élément de la check-list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Obligatoire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Preuve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Cadre du périmètre renseigné (Groupe Oui/Non, organisation, secteur)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Niveaux de décision et fonctions reportés dans la matrice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Registre des parties prenantes complet avec canaux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Chaque question générée par l'IA validée par une personne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Consentement confirmé pour chaque réponse stockée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5321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jalon ne peut pas être validé tant qu’un élément obligatoire reste ouvert ; les approbateurs sont le DRH et le chef de projet consultant.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DIAGNOSTIC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 à cinq axes : les SI obtiennent le score le plus bas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Constats validés avec le sponsor · scores sur une échelle de 0 à 5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3736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chaque axe du diagnostic (0–5)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949440" y="1874520"/>
            <a:ext cx="4693615" cy="1325880"/>
          </a:xfrm>
          <a:prstGeom prst="roundRect">
            <a:avLst>
              <a:gd name="adj" fmla="val 8276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223760" y="2011680"/>
            <a:ext cx="4144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Maturité CMM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23774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indent="0" marL="0">
              <a:buNone/>
            </a:pPr>
            <a:r>
              <a:rPr lang="en-US" sz="3200" b="1" dirty="0">
                <a:solidFill>
                  <a:srgbClr val="8081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9326880" y="2514600"/>
            <a:ext cx="2133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actuel → niveau cible (1–5)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949440" y="3383280"/>
            <a:ext cx="4693615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223760" y="3520440"/>
            <a:ext cx="4144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Maturité du leadership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223760" y="3886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indent="0" marL="0">
              <a:buNone/>
            </a:pPr>
            <a:r>
              <a:rPr lang="en-US" sz="3200" b="1" dirty="0">
                <a:solidFill>
                  <a:srgbClr val="8081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9326880" y="4023360"/>
            <a:ext cx="2133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actuel → niveau cible (1–5)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983480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le plus faible : systèmes d’information (2). Le plus élevé : stratégie (3,4).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PERFORMANCE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of 21 cells are Red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par fonction et niveau de décision : MS stratégique, MO managérial, OP opérationnel.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7665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80160"/>
                <a:gridCol w="1280160"/>
                <a:gridCol w="12801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Opérations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Qualité et HSE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Ressources humaines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Ventes et marketing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Systèmes d'information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Soins cliniques et infirmiers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7607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par cellule ; la couleur indique le statut RAG (rouge, orange, vert)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772400" y="1874520"/>
            <a:ext cx="3870655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046720" y="205740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Soins cliniques et infirmiers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2606040"/>
            <a:ext cx="640080" cy="365760"/>
          </a:xfrm>
          <a:prstGeom prst="rect">
            <a:avLst/>
          </a:prstGeom>
          <a:solidFill>
            <a:srgbClr val="808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823960" y="2587752"/>
            <a:ext cx="2590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· Amber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823960" y="2907792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: Triage IA et aide à la décision clinique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3566160"/>
            <a:ext cx="640080" cy="365760"/>
          </a:xfrm>
          <a:prstGeom prst="rect">
            <a:avLst/>
          </a:prstGeom>
          <a:solidFill>
            <a:srgbClr val="808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823960" y="3547872"/>
            <a:ext cx="2590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· Amber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823960" y="3867912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: Assistance IA en imagerie médicale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4526280"/>
            <a:ext cx="640080" cy="365760"/>
          </a:xfrm>
          <a:prstGeom prst="rect">
            <a:avLst/>
          </a:prstGeom>
          <a:solidFill>
            <a:srgbClr val="808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823960" y="4507992"/>
            <a:ext cx="2590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· Amber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823960" y="4828032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: Planification IA des lits et des effectifs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SWOT ET AXES D’AMÉLIORATION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axes d’amélioration, classés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 fonctionnel validé pour Opérations et Qualité et HSE.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Forces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expérimentée ; processus stables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37560" y="18745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6616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Faiblesses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usage de Triage IA et aide à la décision clinique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Opportunités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5720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IA des lits et des effectifs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37560" y="39319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566160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Menaces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45720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ISO 7101 plus stricts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309360" y="1783080"/>
          <a:ext cx="53035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6309360" y="58521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 de chaque axe d’amélioration, par rang de priorité (%)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ÉCARTS DE COMPÉTENCES ET BESOINS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écarts individuels aux demandes de formation validées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écarts proviennent des évaluations de compétences ; besoins et demandes sont validés avant la priorisation.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0" name="Image 0" descr="Clipboar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8541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évaluations de compétences enregistrées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0756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Triangle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18541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écarts de compétences, dont 2 critiques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List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8541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formation, 10 validés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Inbo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18541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de formation des managers et du personnel</a:t>
            </a:r>
            <a:endParaRPr lang="en-US" sz="11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548640" y="3291840"/>
          <a:ext cx="7315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9" name="Text 22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Écarts par compétence : écart moyen en niveaux de maîtrise et nombre d’écarts</a:t>
            </a:r>
            <a:endParaRPr lang="en-US" sz="1000" dirty="0"/>
          </a:p>
        </p:txBody>
      </p:sp>
      <p:sp>
        <p:nvSpPr>
          <p:cNvPr id="30" name="Text 23"/>
          <p:cNvSpPr txBox="1"/>
          <p:nvPr/>
        </p:nvSpPr>
        <p:spPr>
          <a:xfrm>
            <a:off x="8229600" y="3337560"/>
            <a:ext cx="3413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de formation par priorité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3703320"/>
          <a:ext cx="3413455" cy="914400"/>
        </p:xfrm>
        <a:graphic>
          <a:graphicData uri="http://schemas.openxmlformats.org/drawingml/2006/table">
            <a:tbl>
              <a:tblPr/>
              <a:tblGrid>
                <a:gridCol w="2048073"/>
                <a:gridCol w="136538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PRIORISATION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thèmes IA, classés par impact et urgence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L’IA propose un score de priorité ; le stratège formation l’accepte ou le modifie avec une justification.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1005840"/>
                <a:gridCol w="1005840"/>
                <a:gridCol w="1463040"/>
                <a:gridCol w="1463040"/>
                <a:gridCol w="14904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Thème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Jours × groupes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Formateur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IA et aide à la décision clinique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360 000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Assistance IA en imagerie médicale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Prestataire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300 000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Planification IA des lits et des effectifs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×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240 000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Littératie en IA pour tous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×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Prestataire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180 000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et IA générative au travail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×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120 000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 responsable et protection des données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Prestataire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60 000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257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et urgence sur une échelle de 1 à 5 ; la couleur suit l’échelle de statut (rouge = 1, vert foncé = 5). Budget tel qu’enregistré dans le plan.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RAPPORT ET FEUILLE DE ROUTE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rapport d’ingénierie de formation, publié et versionné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Publié · version 2 · 4 sections rédigées par l’IA et relues par le responsable qualité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240280" cy="384048"/>
          </a:xfrm>
          <a:prstGeom prst="rect">
            <a:avLst/>
          </a:prstGeom>
          <a:solidFill>
            <a:srgbClr val="F893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8745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34640" y="1874520"/>
            <a:ext cx="2240280" cy="384048"/>
          </a:xfrm>
          <a:prstGeom prst="rect">
            <a:avLst/>
          </a:prstGeom>
          <a:solidFill>
            <a:srgbClr val="5859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34640" y="18745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120640" y="1874520"/>
            <a:ext cx="2240280" cy="384048"/>
          </a:xfrm>
          <a:prstGeom prst="rect">
            <a:avLst/>
          </a:prstGeom>
          <a:solidFill>
            <a:srgbClr val="5859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0" y="18745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" y="2468880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13232" y="250545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IA et aide à la décision clinique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880360" y="3127248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2999232" y="31638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Assistance IA en imagerie médicale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166360" y="3785616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85232" y="38221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IA des lits et des effectifs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4443984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13232" y="4480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Littératie en IA pour tous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1663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Initiatives de la feuille de route par vague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187452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stratégiques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72400" y="228600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001000" y="2423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SO-1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869680" y="2423160"/>
            <a:ext cx="2544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d’ici le 31 déc. 2027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001000" y="2743200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Adopter Triage IA et aide à la décision clinique dans Soins cliniques et infirmiers d'ici fin 2027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772400" y="370332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001000" y="3840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SO-2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869680" y="3840480"/>
            <a:ext cx="2544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d’ici le 31 déc. 2026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001000" y="4160520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écart majeur aux audits ISO 7101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5212080"/>
            <a:ext cx="3870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Veille concurrentielle Établissements de santé 2026, updated 1 oct. 2026.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PLAN ET BUDGET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2026 verrouillé : 1 260 000 budgétés, 35 % réalisés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Montants prévus, engagés et réalisés par thème, tels qu’enregistrés (devise définie par organisation).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78638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Dépenses prévues, engagées et réalisées par thème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778240" y="1828800"/>
            <a:ext cx="28648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979408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2" name="Image 0" descr="FileSigna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36" y="213969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555480" y="1956816"/>
            <a:ext cx="1950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945 000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8979408" y="2578608"/>
            <a:ext cx="24990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engagés (75 % du prévu)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778240" y="3200400"/>
            <a:ext cx="28648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979408" y="340156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7" name="Image 1" descr="Receip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36" y="3511296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555480" y="3328416"/>
            <a:ext cx="1950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737 197</a:t>
            </a:r>
            <a:endParaRPr lang="en-US" sz="2600" dirty="0"/>
          </a:p>
        </p:txBody>
      </p:sp>
      <p:sp>
        <p:nvSpPr>
          <p:cNvPr id="19" name="Text 14"/>
          <p:cNvSpPr txBox="1"/>
          <p:nvPr/>
        </p:nvSpPr>
        <p:spPr>
          <a:xfrm>
            <a:off x="8979408" y="3950208"/>
            <a:ext cx="24990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spend (59% of planned)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778240" y="4572000"/>
            <a:ext cx="28648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979408" y="47731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2" name="Image 2" descr="Undo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36" y="4882896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555480" y="4700016"/>
            <a:ext cx="1950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352 800</a:t>
            </a:r>
            <a:endParaRPr lang="en-US" sz="2600" dirty="0"/>
          </a:p>
        </p:txBody>
      </p:sp>
      <p:sp>
        <p:nvSpPr>
          <p:cNvPr id="24" name="Text 18"/>
          <p:cNvSpPr txBox="1"/>
          <p:nvPr/>
        </p:nvSpPr>
        <p:spPr>
          <a:xfrm>
            <a:off x="8979408" y="5321808"/>
            <a:ext cx="24990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remboursement prévu au titre des contrats de formation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FINANCEMENT ET RÉGLEMENTATION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Remboursements des contrats de formation, suivis jusqu’à l’échéance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des contrats spéciaux de formation OFPPT · regulator OFPPT · deadline 30 oct. 2026 · status Approved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74980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051560"/>
                <a:gridCol w="1051560"/>
                <a:gridCol w="1143000"/>
                <a:gridCol w="960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Thème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Prévu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Réalisé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Rembours. prévu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Rembours. / prévu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IA et aide à la décision clinique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360 000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217 250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100 800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Assistance IA en imagerie médicale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300 000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171 599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84 000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Planification IA des lits et des effectifs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240 000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142 133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67 200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Littératie en IA pour tous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180 000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112 764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50 400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et IA générative au travail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120 000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61 149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33 600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 responsable et protection des données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60 000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32 302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0" y="1920240"/>
            <a:ext cx="3230575" cy="3108960"/>
          </a:xfrm>
          <a:prstGeom prst="roundRect">
            <a:avLst>
              <a:gd name="adj" fmla="val 3529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0" y="214884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0" descr="Calendar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8474" y="228051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418320" y="2194560"/>
            <a:ext cx="2041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Alertes d’échéance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2834640"/>
            <a:ext cx="268193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échéance de dépôt manquée signifie un remboursement perdu. Le déroulé enregistre le dossier, son échéance et son statut, et le registre des risques suit « Échéance de dépôt réglementaire manquée et remboursement perdu ».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CONCEPTION ET DÉPLOIEMENT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Parcours, modules et sessions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parcours · 4 modules · 4 sessions · 12 inscriptions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67665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188720"/>
                <a:gridCol w="73152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 de conception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 Triage IA et aide à la décision clinique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E-learning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Approuvé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 Assistance IA en imagerie médicale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Présentiel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Approuvé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 Triage IA et aide à la décision clinique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 virtuelle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Brouillon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M4 Assistance IA en imagerie médicale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Présentiel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Brouillon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80560"/>
          <a:ext cx="676656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64592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Début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S-01 Triage IA et aide à la décision clinique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oct.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S-02 Assistance IA en imagerie médicale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oct.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S-03 Triage IA et aide à la décision clinique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oct.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S-04 Assistance IA en imagerie médicale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oct.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772400" y="192024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973568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2" name="Image 0" descr="File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3296" y="22311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49640" y="204825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9"/>
          <p:cNvSpPr txBox="1"/>
          <p:nvPr/>
        </p:nvSpPr>
        <p:spPr>
          <a:xfrm>
            <a:off x="7973568" y="2670048"/>
            <a:ext cx="35048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de contenu reliées aux compétences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7772400" y="333756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973568" y="353872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7" name="Image 1" descr="CalendarDay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3296" y="364845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549640" y="346557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2600" dirty="0"/>
          </a:p>
        </p:txBody>
      </p:sp>
      <p:sp>
        <p:nvSpPr>
          <p:cNvPr id="19" name="Text 13"/>
          <p:cNvSpPr txBox="1"/>
          <p:nvPr/>
        </p:nvSpPr>
        <p:spPr>
          <a:xfrm>
            <a:off x="7973568" y="4087368"/>
            <a:ext cx="35048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places planifiées sur les sessions</a:t>
            </a:r>
            <a:endParaRPr lang="en-US" sz="1150" dirty="0"/>
          </a:p>
        </p:txBody>
      </p:sp>
      <p:sp>
        <p:nvSpPr>
          <p:cNvPr id="20" name="Text 14"/>
          <p:cNvSpPr txBox="1"/>
          <p:nvPr/>
        </p:nvSpPr>
        <p:spPr>
          <a:xfrm>
            <a:off x="7772400" y="4754880"/>
            <a:ext cx="3870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présence est enregistrée par session ; une feuille de présence manquante déclenche une alerte à l’administrateur de formation.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TÂCHE · QUOI SAISIR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consignes rédigées pour cet hôpital et ce secteur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panneau de tâche indique la réponse attendue, les entrées et sorties, le responsable et l’évaluateur.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223760" cy="451485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0" y="192024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550" y="202119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23960" y="188366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Quoi saisir » est propre à l’organisation, à son secteur et à l’orientation du déroulé.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229600" y="320040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550" y="330135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23960" y="316382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L’aide IA propose un brouillon, étiqueté avec sa confiance et ses sources.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8229600" y="448056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550" y="4581510"/>
            <a:ext cx="218724" cy="2187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23960" y="444398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responsable et l’évaluateur sont deux personnes différentes : la séparation des tâches est appliquée.</a:t>
            </a:r>
            <a:endParaRPr lang="en-US" sz="14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ÉVALUATION ET CERTIFICATION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Niveaux 1 à 3 de Kirkpatrick et validité des attestations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d’évaluation par inscription ; attestations suivies au regard de leur date d’expiration.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d’évaluation par niveau de Kirkpatrick : 1 réaction, 2 apprentissage, 3 comportement (%)</a:t>
            </a:r>
            <a:endParaRPr lang="en-US" sz="1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874520"/>
          <a:ext cx="487649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00200"/>
                <a:gridCol w="117043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 jusqu’au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Sensibilisation ISO 7101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août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Sensibilisation ISO 7101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nov.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Expirée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Sensibilisation ISO 7101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févr.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Sensibilisation ISO 7101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mai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échéance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Sensibilisation ISO 7101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août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Sensibilisation ISO 7101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nov.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766560" y="4937760"/>
            <a:ext cx="48764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valides · 1 à échéance · 1 expirée. L’expiration déclenche une alerte avant la date.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jalons validés, 3 ouverts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en est le déroulé : éléments obligatoires réalisés à chaque jalon.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et preuves approuvés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éléments réalisés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572000"/>
            <a:ext cx="1330909" cy="365760"/>
          </a:xfrm>
          <a:prstGeom prst="rect">
            <a:avLst/>
          </a:prstGeom>
          <a:solidFill>
            <a:srgbClr val="D9EA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· validé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428189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611069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G2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2611069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validé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11069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2611069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éléments réalisés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611069" y="4572000"/>
            <a:ext cx="1330909" cy="365760"/>
          </a:xfrm>
          <a:prstGeom prst="rect">
            <a:avLst/>
          </a:prstGeom>
          <a:solidFill>
            <a:srgbClr val="D9EA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· validé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07738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490618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G3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4490618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et feuille de route approuvés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490618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/ 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4490618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éléments réalisés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490618" y="4572000"/>
            <a:ext cx="1330909" cy="365760"/>
          </a:xfrm>
          <a:prstGeom prst="rect">
            <a:avLst/>
          </a:prstGeom>
          <a:solidFill>
            <a:srgbClr val="D9EA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· validé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87288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370168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85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G4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6370168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Prêt pour le déploiement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370168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/ 4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70168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éléments réalisés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370168" y="4572000"/>
            <a:ext cx="1330909" cy="365760"/>
          </a:xfrm>
          <a:prstGeom prst="rect">
            <a:avLst/>
          </a:prstGeom>
          <a:solidFill>
            <a:srgbClr val="FBE0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Ouvert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066837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249717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85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G5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8249717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et impact validés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249717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3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8249717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éléments réalisés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249717" y="4572000"/>
            <a:ext cx="1330909" cy="365760"/>
          </a:xfrm>
          <a:prstGeom prst="rect">
            <a:avLst/>
          </a:prstGeom>
          <a:solidFill>
            <a:srgbClr val="FBE0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Ouvert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946386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129266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85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G6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10129266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Clôture et amélioration continue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10129266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3</a:t>
            </a:r>
            <a:endParaRPr lang="en-US" sz="2200" dirty="0"/>
          </a:p>
        </p:txBody>
      </p:sp>
      <p:sp>
        <p:nvSpPr>
          <p:cNvPr id="42" name="Text 40"/>
          <p:cNvSpPr txBox="1"/>
          <p:nvPr/>
        </p:nvSpPr>
        <p:spPr>
          <a:xfrm>
            <a:off x="10129266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éléments réalisés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129266" y="4572000"/>
            <a:ext cx="1330909" cy="365760"/>
          </a:xfrm>
          <a:prstGeom prst="rect">
            <a:avLst/>
          </a:prstGeom>
          <a:solidFill>
            <a:srgbClr val="FBE0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Ouvert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4406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jalon a sa propre check-list ; la validation enregistre la décision, l’approbateur et la date.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· RISQUES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risques notés par probabilité et impact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risque est relié à ses contrôles, à un indicateur clé de risque et à un responsable.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210312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10312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210312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26080" y="210312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66160" y="210312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274320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45920" y="274320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274320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26080" y="274320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66160" y="274320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840" y="338328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45920" y="338328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45920" y="3383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286000" y="338328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286000" y="3383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926080" y="338328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338328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5840" y="402336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40233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645920" y="402336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45920" y="40233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286000" y="402336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26080" y="402336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66160" y="402336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5840" y="466344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45920" y="466344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86000" y="466344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26080" y="466344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66160" y="466344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0584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85800" y="466344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64592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402336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228600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338328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292608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85800" y="274320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356616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210312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1005840" y="5577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→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" y="1810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Probabilité ↓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6035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risques par cellule probabilité × impact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874520"/>
          <a:ext cx="679673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1234440"/>
                <a:gridCol w="80467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Risque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Catégorie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 adoption par les apprenants et utilisateurs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Savoirs critiques perdus au départ d'un expert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Opérationnel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Accès non autorisé aux données du locataire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Sécurité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formation non aligné sur la stratégie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Stratégique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Données de compétences inexactes conduisant à de mauvais besoins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Qualité des données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Contenu IA non vérifié dans le rapport d'ingénierie de formation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Certification obligatoire expirée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Conformité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· CONTRÔLES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 contrôles reliés aux composantes COSO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jugés efficaces · 89 règles métier les appliquent dans le flux de travail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Contrôles et contrôles efficaces par composante COSO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808976" y="1819656"/>
            <a:ext cx="3858768" cy="2452878"/>
          </a:xfrm>
          <a:prstGeom prst="roundRect">
            <a:avLst>
              <a:gd name="adj" fmla="val 29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0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74520"/>
            <a:ext cx="3749040" cy="234315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· INDICATEURS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 indicateurs standard, mesurés chaque mois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2 indicateurs personnalisés, par ex. « Part des encadrants Soins cliniques et infirmiers certifiés ».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5836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868680"/>
                <a:gridCol w="960120"/>
                <a:gridCol w="822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Indicateur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Dernière valeur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KPI-001 · Couverture des objectifs stratégiques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KPI-002 · Taux de validation de l'inventaire des compétences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KPI-003 · Taux d'écarts critiques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KPI-010 · Taux d'achèvement des apprenants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KPI-020 · Taux de réussite de la synchronisation des intégrations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99,5 %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KPI-061 · Taux d'engagement des parties prenantes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7315200" y="1783080"/>
          <a:ext cx="4327855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7315200" y="5760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objectifs stratégiques : valeur mensuelle au regard de la cible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· ALERTES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alertes ouvertes, chacune avec une chaîne d’escalade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alertes proviennent des règles des processus ; les étapes en retard remontent par rôle et par délai.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914400"/>
                <a:gridCol w="914400"/>
                <a:gridCol w="640080"/>
                <a:gridCol w="533095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Étape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Gravité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Ouvert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ALR-006 · Enregistrer la présence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MP-07.5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Formateur → administrateur de formation (24 h) → responsable formation (72 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ALR-007 · Déclencher une relance de réengagement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MP-08.6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Apprenant → manager (après la deuxième relance)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ALR-008 · Revoir les résultats d'évaluation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MP-09.7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Analyste formation → concepteur pédagogique → responsable formation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ALR-014 · Lancer la synchronisation SIRH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MP-16.4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Architecte SI → administrateur de la plateforme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ALR-016 · Appliquer la limite de tentatives de connexion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MP-17.6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Administrateur de la plateforme → architecte 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ALR-018 · Suivre l'usage et l'adoption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conduite du changement → responsable formation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ALR-020 · Exécuter l'action d'amélioration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MP-20.3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de l'action → responsable qualité (7 jours) → responsable formation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ALR-039 · Revoir le journal des violations d'accès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MP-17.4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Architecte SI → administrateur de la plateforme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Alertes, approbations et avis de tâches sont envoyés dans l’application et par e-mail (11 envois dans le déroulé de démonstration).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DE L’IA · JOURNAL D’USAGE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suggestions IA journalisées : 30 acceptées, 9 modifiées, 9 rejetées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journal d’usage est en ajout seul ; chaque ligne conserve le cas d’usage, l’utilisateur, la confiance et la décision.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4206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852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 IA selon la décision de la revue humaine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157216" y="1819656"/>
            <a:ext cx="6510528" cy="4110228"/>
          </a:xfrm>
          <a:prstGeom prst="roundRect">
            <a:avLst>
              <a:gd name="adj" fmla="val 178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0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87452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 le déroulé sur une seule frise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processus et tâches avec dépendances ; les barres de synthèse sont calculées à partir des tâches.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82496" y="1728216"/>
            <a:ext cx="7132320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83080"/>
            <a:ext cx="7022592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ET QUESTIONS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rapports standard et un assistant qui s’appuie sur les données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rapports s’exportent en PDF, Excel et Word. L’assistant répond dans les limites des permissions de l’utilisateur.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5596128" cy="3538728"/>
          </a:xfrm>
          <a:prstGeom prst="roundRect">
            <a:avLst>
              <a:gd name="adj" fmla="val 20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486400" cy="34290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54496" y="1728216"/>
            <a:ext cx="5413248" cy="3424428"/>
          </a:xfrm>
          <a:prstGeom prst="roundRect">
            <a:avLst>
              <a:gd name="adj" fmla="val 21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8308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· SAVOIRS ET AMÉLIORATION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enseignements alimentent le cycle suivant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d’expérience noté 4/5 · 4 articles de base de connaissances sur les normes du secteur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96596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a bien fonctionné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196596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registre des parties prenantes et la diffusion multicanale ont fait progresser le taux de réponse.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n’a pas fonctionné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990088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éléments SWOT d'une fonction sont arrivés en retard.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22776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4014216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racine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4014216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suppléant désigné pour le responsable de fonction.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946904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5038344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5038344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Désigner un suppléant pour chaque responsable de fonction dès le lancement.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1874520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connaissances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949440" y="22860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178040" y="23591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7101 — exigences de formation et de compétence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32004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178040" y="32735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JCI — notes pratiques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949440" y="41148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178040" y="41879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GPEC — gestion prévisionnelle des emplois et des compétences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49440" y="50292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178040" y="51023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Loi 09-08 — données personnelles dans les questionnaires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Étude de cas : une clinique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Clinique Al Amal — 95 salariés, Marrakech. La même méthode sur un parcours allégé.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· PARCOURS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de complexité 66 : parcours PME T3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Clinique Al Amal · 95 salariés · 11 utilisateurs · protection des données selon la loi 09-08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une clinique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3108960"/>
                <a:gridCol w="1280160"/>
                <a:gridCol w="1645920"/>
                <a:gridCol w="14904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Parcours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Jalons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Éléments par jalon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Durée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SME-T1 · Parcours Essentiel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· G3 · G6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 30 jours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0–35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SME-T2 · Parcours Standard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Petite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· G3 · G5 · G6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 60 jours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35–60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SME-T3 · Parcours Avancé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· G2 · G3 · G4 · G5 · G6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 90 jours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548640" y="4023360"/>
          <a:ext cx="11094415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de complexité (1–5), clinique comparée au groupe hospitalier : l’investissement et le périmètre font la différence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· ESPACE PROJET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même cycle, moins d’éléments à remplir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 complet compétences IA 2026 — Clinique Al Amal · 50 % des 277 tâches terminées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une clinique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223760" cy="451485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0" y="192024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550" y="202119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23960" y="188366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 numérique : 66 % des 277 tâches terminées ; déroulé IA : 50 %.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229600" y="320040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550" y="330135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23960" y="316382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jalons de cinq éléments chacun sur le parcours T3, au lieu des check-lists du mode complet.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8229600" y="448056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550" y="4581510"/>
            <a:ext cx="218724" cy="2187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23960" y="444398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parcours recommandé est conservé ; un autre choix exige une justification écrite.</a:t>
            </a:r>
            <a:endParaRPr lang="en-US" sz="14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· TOUT ÉCRAN, TOUTE LANGUE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mêmes consignes en anglais, français et arabe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panneau de tâche sur ordinateur, l’espace projet en arabe sur mobile (affichage de droite à gauche).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une clinique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132320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022592" cy="43891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089136" y="1728216"/>
            <a:ext cx="2137876" cy="4498848"/>
          </a:xfrm>
          <a:prstGeom prst="roundRect">
            <a:avLst>
              <a:gd name="adj" fmla="val 342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783080"/>
            <a:ext cx="202814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ET PME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méthode, dimensionnée selon l’organisation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des deux établissements de santé de l’instance de démonstration.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une clinique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87368"/>
                <a:gridCol w="407822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Groupe Hospitalier Maghreb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Clinique Al Amal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Salariés · ville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4 700 · Casablanca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· Marrakech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de complexité ·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 · mode complet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 · parcours PME T3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Tâches par déroulé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Déroulé IA réalisé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Déroulé numérique réalisé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Utilisateurs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BND-05 · 600 licences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SME-CMP · 100 licences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Protection des données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RGPD, loi 09-08, ISO 9001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Loi 09-08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L’écosystème de la santé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Sciences de la vie, distribution pharmaceutique et fabrication pharmaceutique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HLS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Santé et sciences de la vie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cœur : Opérations cliniques et laboratoire · ISO 13485, EU MDR, ISO 15189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L’écosystème de la santé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Life Sciences (3100)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BioLab Diagnostics Rabat (60)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416052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52628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60089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54456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80060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diagnostics assistés par IA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pour la détection des signaux de pharmacovigilance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responsable et éthique des données patients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589520" y="5394960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469575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41324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numériques prioritaires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66928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Cahiers de laboratoire électroniques et LIMS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électronique de la qualité (eQMS)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des données de santé (HL7 FHIR)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PHAR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Pharmacie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cœur : Qualité et distribution pharmaceutiques · EU GMP, GDP, ICH Q9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L’écosystème de la santé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Pharma Distribution (1400)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PharmaLog Services (44)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416052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52628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60089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54456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80060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Assistance IA à la rédaction des dossiers réglementaires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IA de la demande en médicaments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risques qualité assistée par IA (ICH Q9)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589520" y="5394960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469575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41324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numériques prioritaires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66928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Sérialisation et traçabilité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numérique des températures BPD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l'information réglementaire (RIM)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PHPR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Pharmaceutique et procédés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cœur : Fabrication BPF · EU GMP, ICH Q10, FDA 21 CFR Part 11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L’écosystème de la santé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Maghreb Process (2200)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Galénix Laboratoires (90)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416052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52628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60089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54456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80060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procédés par IA pour le rendement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IA des déviations et des CAPA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modèles d'IA en environnement GxP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589520" y="5394960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469575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41324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numériques prioritaires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66928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de lot électroniques (EBR)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systèmes informatisés (CSV)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des données et pratiques ALCOA+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ÉCOSYSTÈME DE LA SANTÉ · COMPARAISON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Huit organisations de santé, deux déroulés chacune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des tâches terminées dans les déroulés numérique et IA de chaque organisation de démonstration.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L’écosystème de la santé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11094415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dans chaque déroulé (%). Les membres du groupe voient ces agrégats ; les données des organisations sœurs restent en lecture seule.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Confiance et prochaines étapes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Sécurité, protection des données, déploiement et démarrage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ET PROTECTION DES DONNÉES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données proches du patient, traitées dans des limites strictes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du personnel et les dossiers de formation restent dans l’espace de l’organisation.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et prochaines étapes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04672" y="2130552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262226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0876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Isolement des organisations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organisation est un espace fermé ; les membres du groupe consultent les organisations sœurs sans pouvoir les modifier.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297680" y="18745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53712" y="213055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KeyRou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5386" y="2262226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25780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Accès par rôle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4553712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vérifiées sur le serveur pour chacun des 29 rôles ; droits des offres appliqués.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8046720" y="18745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02752" y="213055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4426" y="2262226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00684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Piste d’audit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8302752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modification d’un champ gouverné est justifiée et enregistrée dans un journal en ajout seul.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54864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04672" y="423367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346" y="4365346"/>
            <a:ext cx="285293" cy="285293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508760" y="4251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Référentiels de protection des données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804672" y="48920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RGPD, ISO/IEC 27001, SOC 2, ISO/IEC 27701, ISO 9001, loi 09-08 (CNDP, Maroc).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429768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553712" y="423367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5386" y="4365346"/>
            <a:ext cx="285293" cy="285293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257800" y="4251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gouvernée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4553712" y="48920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cas d’usage IA nomme son contrôle humain ; le journal d’usage conserve chaque décision.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04672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302752" y="423367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5" name="Image 5" descr="File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4426" y="4365346"/>
            <a:ext cx="285293" cy="285293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006840" y="4251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Consentement</a:t>
            </a:r>
            <a:endParaRPr lang="en-US" sz="1600" dirty="0"/>
          </a:p>
        </p:txBody>
      </p:sp>
      <p:sp>
        <p:nvSpPr>
          <p:cNvPr id="37" name="Text 29"/>
          <p:cNvSpPr txBox="1"/>
          <p:nvPr/>
        </p:nvSpPr>
        <p:spPr>
          <a:xfrm>
            <a:off x="8302752" y="48920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Consentement enregistré pour chaque réponse stockée avant le jalon G1.</a:t>
            </a:r>
            <a:endParaRPr lang="en-US" sz="12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intégrations au catalogue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connexions dans le groupe hospitalier, chacune contrôlée ; le contrôle de l’authentification unique signale actuellement un échec.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et prochaines étapes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47548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Intégrations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Systèmes d'entreprise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Gestion des talents et de la performance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Contenus et écosystème d'apprentissage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Apprentissage dans le flux de travail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Données et analytique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Socle de la plateforme et sécurité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Enquêtes et retours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74520"/>
          <a:ext cx="597377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7647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Connectées dans le groupe hospitalier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Dernier contrôle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SIRH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INT-HR-01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Réussi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Plateforme d’enquêtes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INT-SUR-01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Réussi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SSO (Microsoft Entra ID)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INT-SSO-01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Échec d’authentification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669280" y="3977640"/>
            <a:ext cx="5973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de SIRH : </a:t>
            </a:r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Workday, SAP SuccessFactors, Oracle HCM, ADP, BambooHR, Personio, DarwinBox</a:t>
            </a:r>
            <a:endParaRPr lang="en-US" sz="12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SaaS ou sur site, la même application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interface de licence, deux mises en œuvre, choisie au démarrage du serveur.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et prochaines étapes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256739"/>
            <a:ext cx="332842" cy="33284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645920" y="217627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718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Hébergée et mise à jour de façon centralisée.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vérifiée en ligne par organisation.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Adaptée aux cliniques et groupes sans équipe informatique locale.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153912" y="187452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28232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851" y="225673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251192" y="217627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 site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6473952" y="29718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Installée dans le centre de données de l’hôpital.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de licence signé, lié au serveur, avec date d’expiration et nombre de licences.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Adaptée aux politiques strictes de localisation des données.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48640" y="521208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822960" y="52578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licence of the hospital group: plan BND-05, up to 600 users, features analytics, export, api, valid until 10 nov. 2027.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OFFRES POUR LA SANTÉ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Offres recommandées pour un hôpital ou une clinique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catalogue mensuels, en USD ; chaque offre inclut un nombre d’utilisateurs, avec un prix par utilisateur au-delà.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et prochaines étapes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Offre ingénierie de formation de base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$99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· 100 utilisateurs inclus · 0,75 $ par utilisateur supplémentaire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Périmètre, preuves, diagnostic, rapport d’ingénierie de formation et feuille de route.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55848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84448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584448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Offre conformité et certification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584448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$99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3584448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· 300 utilisateurs inclus · 0,55 $ par utilisateur supplémentaire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84448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attestations et preuves de préparation pour ISO 7101, JCI et ISO 15189.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63056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391656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91656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Offre évaluation, analytique et ROI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391656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$129</a:t>
            </a:r>
            <a:endParaRPr lang="en-US" sz="2800" dirty="0"/>
          </a:p>
        </p:txBody>
      </p:sp>
      <p:sp>
        <p:nvSpPr>
          <p:cNvPr id="24" name="Text 22"/>
          <p:cNvSpPr txBox="1"/>
          <p:nvPr/>
        </p:nvSpPr>
        <p:spPr>
          <a:xfrm>
            <a:off x="6391656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· 500 utilisateurs inclus · 0,50 $ par utilisateur supplémentaire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91656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Kirkpatrick, indicateurs et retour sur investissement.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970264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198864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PK-02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198864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Offre réalisation et expérience d'apprentissage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$149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· 250 utilisateurs inclus · 0,60 $ par utilisateur supplémentaire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198864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Parcours, modules, sessions et engagement des apprenants.</a:t>
            </a:r>
            <a:endParaRPr lang="en-US" sz="12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COMPLÉMENTAIRES ET PACKS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modules adaptés aux groupes hospitaliers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catalogue mensuels, en USD.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et prochaines étapes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72237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73152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 qu’il apporte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AD-08 · Déploiement multi-sites / multi-entités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Adapter et déployer les plans de formation sur plusieurs sites, entités ou unités, en garantissant la pertinence locale et l'alignement stratégique.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AD-09 · Validation externe du plan de formation (réglementaire)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Gérer la validation externe et la conformité réglementaire des plans de formation, y compris la soumission aux organismes réglementaires (ex. OFPPT, GIAC-Agro).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AD-11 · Bibliothèque de questionnaires et diffusion multicanale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Fournir des modèles de questionnaires prêts à l'emploi adaptés à l'orientation (tous les besoins, digital, IA, personnalisée) et au secteur, avec diffusion multicanale (face-à-face, e-mail, hybride, personnalisé), affectation RACSI par section et collecte structurée des réponses.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AD-01 · Apprentissage immersif (RV/RA/simulation)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Créer des environnements d'apprentissage expérientiels et sans risque grâce à la RV, la RA et la simulation.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AD-07 · Capture et transfert des savoirs d'experts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Préserver les savoirs institutionnels avant qu'ils ne partent 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874520"/>
          <a:ext cx="359633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234440"/>
                <a:gridCol w="12161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Démarrage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+ PK-02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$223.2 (−10%)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Croissance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+ PK-02 + PK-03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$320.45 (−15%)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Entreprise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à PK-05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$476 (−20%)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Stratégique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à PK-06 + PK-08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$677.25 (−25%)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Suite complète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à PK-08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$806.4 (−30%)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premier déroulé en quatre étapes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Dimensionné par le score de complexité : environ 30, 60 ou 90 jours sur un parcours PME ; un déroulé complet pour un groupe hospitalier.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et prochaines étapes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331720"/>
            <a:ext cx="640080" cy="64008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485339"/>
            <a:ext cx="332842" cy="33284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331720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Paramétrer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Groupe, organisation, fonctions, utilisateurs et rôles ; connexion du SIRH.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355848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630168" y="23317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1" descr="Clipboard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3787" y="2485339"/>
            <a:ext cx="332842" cy="33284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138928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3630168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Périmètre et preuves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3630168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Approuver le périmètre, diffuser les questionnaires, passer le jalon G1.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163056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437376" y="23317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2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0995" y="2485339"/>
            <a:ext cx="332842" cy="33284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946136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6437376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Diagnostiquer et planifier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6437376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à cinq axes, écarts, thèmes priorisés, rapport, budget ; jalons G2 et G3.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8970264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9244584" y="23317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8" name="Image 3" descr="GraduationC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203" y="2485339"/>
            <a:ext cx="332842" cy="33284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0753344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30" name="Text 24"/>
          <p:cNvSpPr txBox="1"/>
          <p:nvPr/>
        </p:nvSpPr>
        <p:spPr>
          <a:xfrm>
            <a:off x="9244584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Déployer et évaluer</a:t>
            </a:r>
            <a:endParaRPr lang="en-US" sz="1700" dirty="0"/>
          </a:p>
        </p:txBody>
      </p:sp>
      <p:sp>
        <p:nvSpPr>
          <p:cNvPr id="31" name="Text 25"/>
          <p:cNvSpPr txBox="1"/>
          <p:nvPr/>
        </p:nvSpPr>
        <p:spPr>
          <a:xfrm>
            <a:off x="9244584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Sessions, évaluation Kirkpatrick, attestations, retour d’expérience ; jalons G4 à G6.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548640" y="5715000"/>
            <a:ext cx="11094415" cy="0"/>
          </a:xfrm>
          <a:prstGeom prst="line">
            <a:avLst/>
          </a:prstGeom>
          <a:noFill/>
          <a:ln w="12700">
            <a:solidFill>
              <a:srgbClr val="E3E3E4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accompagne chaque étape : paramétrage, coaching méthodologique et premières revues de jalons.</a:t>
            </a:r>
            <a:endParaRPr lang="en-US" sz="13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Commencer par un hôpital, un déroulé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19456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Calendar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337206"/>
            <a:ext cx="309067" cy="30906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00200" y="210312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Réserver une séance de travail avec POWERACT : votre calendrier d’accréditation, vos sites et vos rôles prioritaires.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38328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1" descr="MonitorPl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525926"/>
            <a:ext cx="309067" cy="30906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00200" y="329184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la démonstration : se connecter à l’espace santé et suivre une tâche du périmètre à l’attestation.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57200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2" descr="Rock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714646"/>
            <a:ext cx="309067" cy="309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48056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 un pilote : un site ou une clinique, orientation numérique ou IA, mesuré avec les mêmes indicateurs.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7955280" y="2011680"/>
            <a:ext cx="3657600" cy="3337560"/>
          </a:xfrm>
          <a:prstGeom prst="roundRect">
            <a:avLst>
              <a:gd name="adj" fmla="val 3288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POWERACT Consulting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0" y="2697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www.poweract.ma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229600" y="32918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chiffres de cette présentation proviennent de l’instance de démonstration. Les organisations et les personnes sont fictives.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CortexSkills pour la santé</dc:title>
  <dc:subject>PptxGenJS Presentation</dc:subject>
  <dc:creator>POWERACT Consulting</dc:creator>
  <cp:lastModifiedBy>POWERACT Consulting</cp:lastModifiedBy>
  <cp:revision>1</cp:revision>
  <dcterms:created xsi:type="dcterms:W3CDTF">2026-10-07T00:00:11Z</dcterms:created>
  <dcterms:modified xsi:type="dcterms:W3CDTF">2026-10-07T00:00:11Z</dcterms:modified>
</cp:coreProperties>
</file>
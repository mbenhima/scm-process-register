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5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6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7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8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9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10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charts/chart11.xml" ContentType="application/vnd.openxmlformats-officedocument.drawingml.chart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charts/chart12.xml" ContentType="application/vnd.openxmlformats-officedocument.drawingml.chart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charts/chart13.xml" ContentType="application/vnd.openxmlformats-officedocument.drawingml.chart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Direction générale</c:v>
                </c:pt>
              </c:strCache>
            </c:strRef>
          </c:tx>
          <c:spPr>
            <a:solidFill>
              <a:srgbClr val="12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Opérations</c:v>
                  </c:pt>
                  <c:pt idx="1">
                    <c:v>Qualité et HSE</c:v>
                  </c:pt>
                  <c:pt idx="2">
                    <c:v>Finance</c:v>
                  </c:pt>
                  <c:pt idx="3">
                    <c:v>Ressources humaines</c:v>
                  </c:pt>
                  <c:pt idx="4">
                    <c:v>Ventes et marketing</c:v>
                  </c:pt>
                  <c:pt idx="5">
                    <c:v>Systèmes d'information</c:v>
                  </c:pt>
                  <c:pt idx="6">
                    <c:v>Soins cliniques et infirmiers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Management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Opérations</c:v>
                  </c:pt>
                  <c:pt idx="1">
                    <c:v>Qualité et HSE</c:v>
                  </c:pt>
                  <c:pt idx="2">
                    <c:v>Finance</c:v>
                  </c:pt>
                  <c:pt idx="3">
                    <c:v>Ressources humaines</c:v>
                  </c:pt>
                  <c:pt idx="4">
                    <c:v>Ventes et marketing</c:v>
                  </c:pt>
                  <c:pt idx="5">
                    <c:v>Systèmes d'information</c:v>
                  </c:pt>
                  <c:pt idx="6">
                    <c:v>Soins cliniques et infirmiers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Membre de l’équipe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Opérations</c:v>
                  </c:pt>
                  <c:pt idx="1">
                    <c:v>Qualité et HSE</c:v>
                  </c:pt>
                  <c:pt idx="2">
                    <c:v>Finance</c:v>
                  </c:pt>
                  <c:pt idx="3">
                    <c:v>Ressources humaines</c:v>
                  </c:pt>
                  <c:pt idx="4">
                    <c:v>Ventes et marketing</c:v>
                  </c:pt>
                  <c:pt idx="5">
                    <c:v>Systèmes d'information</c:v>
                  </c:pt>
                  <c:pt idx="6">
                    <c:v>Soins cliniques et infirmiers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réponse (%)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Opérations</c:v>
                  </c:pt>
                  <c:pt idx="1">
                    <c:v>Qualité et HSE</c:v>
                  </c:pt>
                  <c:pt idx="2">
                    <c:v>Ressources humaines</c:v>
                  </c:pt>
                  <c:pt idx="3">
                    <c:v>Ventes et marketing</c:v>
                  </c:pt>
                  <c:pt idx="4">
                    <c:v>Systèmes d'information</c:v>
                  </c:pt>
                  <c:pt idx="5">
                    <c:v>Soins cliniques et infirmiers</c:v>
                  </c:pt>
                  <c:pt idx="6">
                    <c:v>Finance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83</c:v>
                </c:pt>
                <c:pt idx="2">
                  <c:v>83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83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(sur 5)</c:v>
                </c:pt>
              </c:strCache>
            </c:strRef>
          </c:tx>
          <c:spPr>
            <a:solidFill>
              <a:srgbClr val="1876C6"/>
            </a:solidFill>
            <a:ln w="25400" cap="flat">
              <a:solidFill>
                <a:srgbClr val="1876C6"/>
              </a:solidFill>
              <a:prstDash val="solid,dash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1876C6"/>
              </a:solidFill>
              <a:ln w="9525" cap="flat">
                <a:solidFill>
                  <a:srgbClr val="1876C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Stratégie</c:v>
                  </c:pt>
                  <c:pt idx="1">
                    <c:v>Organisation</c:v>
                  </c:pt>
                  <c:pt idx="2">
                    <c:v>Processus</c:v>
                  </c:pt>
                  <c:pt idx="3">
                    <c:v>Personnes et compétences</c:v>
                  </c:pt>
                  <c:pt idx="4">
                    <c:v>Systèmes d’information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2.8</c:v>
                </c:pt>
                <c:pt idx="2">
                  <c:v>2.6</c:v>
                </c:pt>
                <c:pt idx="3">
                  <c:v>3.1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Cible</c:v>
                </c:pt>
              </c:strCache>
            </c:strRef>
          </c:tx>
          <c:spPr>
            <a:solidFill>
              <a:srgbClr val="5A6B7B"/>
            </a:solidFill>
            <a:ln w="25400" cap="flat">
              <a:solidFill>
                <a:srgbClr val="5A6B7B"/>
              </a:solidFill>
              <a:prstDash val="solid,dash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5A6B7B"/>
              </a:solidFill>
              <a:ln w="9525" cap="flat">
                <a:solidFill>
                  <a:srgbClr val="5A6B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Stratégie</c:v>
                  </c:pt>
                  <c:pt idx="1">
                    <c:v>Organisation</c:v>
                  </c:pt>
                  <c:pt idx="2">
                    <c:v>Processus</c:v>
                  </c:pt>
                  <c:pt idx="3">
                    <c:v>Personnes et compétences</c:v>
                  </c:pt>
                  <c:pt idx="4">
                    <c:v>Systèmes d’information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12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Finance</c:v>
                  </c:pt>
                  <c:pt idx="1">
                    <c:v>Soins cliniques et infirmiers</c:v>
                  </c:pt>
                  <c:pt idx="2">
                    <c:v>Ressources humaines</c:v>
                  </c:pt>
                  <c:pt idx="3">
                    <c:v>Ventes et marketing</c:v>
                  </c:pt>
                  <c:pt idx="4">
                    <c:v>Opérations</c:v>
                  </c:pt>
                  <c:pt idx="5">
                    <c:v>Systèmes d'information</c:v>
                  </c:pt>
                  <c:pt idx="6">
                    <c:v>Qualité et HSE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</c:v>
                </c:pt>
                <c:pt idx="1">
                  <c:v>59</c:v>
                </c:pt>
                <c:pt idx="2">
                  <c:v>73</c:v>
                </c:pt>
                <c:pt idx="3">
                  <c:v>92</c:v>
                </c:pt>
                <c:pt idx="4">
                  <c:v>75</c:v>
                </c:pt>
                <c:pt idx="5">
                  <c:v>65</c:v>
                </c:pt>
                <c:pt idx="6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Finance</c:v>
                  </c:pt>
                  <c:pt idx="1">
                    <c:v>Soins cliniques et infirmiers</c:v>
                  </c:pt>
                  <c:pt idx="2">
                    <c:v>Ressources humaines</c:v>
                  </c:pt>
                  <c:pt idx="3">
                    <c:v>Ventes et marketing</c:v>
                  </c:pt>
                  <c:pt idx="4">
                    <c:v>Opérations</c:v>
                  </c:pt>
                  <c:pt idx="5">
                    <c:v>Systèmes d'information</c:v>
                  </c:pt>
                  <c:pt idx="6">
                    <c:v>Qualité et HSE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64</c:v>
                </c:pt>
                <c:pt idx="1">
                  <c:v>56</c:v>
                </c:pt>
                <c:pt idx="2">
                  <c:v>70</c:v>
                </c:pt>
                <c:pt idx="3">
                  <c:v>62</c:v>
                </c:pt>
                <c:pt idx="4">
                  <c:v>76</c:v>
                </c:pt>
                <c:pt idx="5">
                  <c:v>55</c:v>
                </c:pt>
                <c:pt idx="6">
                  <c:v>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Finance</c:v>
                  </c:pt>
                  <c:pt idx="1">
                    <c:v>Soins cliniques et infirmiers</c:v>
                  </c:pt>
                  <c:pt idx="2">
                    <c:v>Ressources humaines</c:v>
                  </c:pt>
                  <c:pt idx="3">
                    <c:v>Ventes et marketing</c:v>
                  </c:pt>
                  <c:pt idx="4">
                    <c:v>Opérations</c:v>
                  </c:pt>
                  <c:pt idx="5">
                    <c:v>Systèmes d'information</c:v>
                  </c:pt>
                  <c:pt idx="6">
                    <c:v>Qualité et HSE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89</c:v>
                </c:pt>
                <c:pt idx="1">
                  <c:v>64</c:v>
                </c:pt>
                <c:pt idx="2">
                  <c:v>75</c:v>
                </c:pt>
                <c:pt idx="3">
                  <c:v>52</c:v>
                </c:pt>
                <c:pt idx="4">
                  <c:v>68</c:v>
                </c:pt>
                <c:pt idx="5">
                  <c:v>84</c:v>
                </c:pt>
                <c:pt idx="6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Planification IA des lits et des effect…</c:v>
                  </c:pt>
                  <c:pt idx="1">
                    <c:v>Assistance IA en imagerie médicale</c:v>
                  </c:pt>
                  <c:pt idx="2">
                    <c:v>Communication avec l’équipe</c:v>
                  </c:pt>
                  <c:pt idx="3">
                    <c:v>Résolution de problèmes</c:v>
                  </c:pt>
                  <c:pt idx="4">
                    <c:v>Triage IA et aide à la décision clinique</c:v>
                  </c:pt>
                  <c:pt idx="5">
                    <c:v>Gestion du temps et priorités</c:v>
                  </c:pt>
                  <c:pt idx="6">
                    <c:v>Exigences ISO 7101</c:v>
                  </c:pt>
                  <c:pt idx="7">
                    <c:v>Tableaux de bord</c:v>
                  </c:pt>
                  <c:pt idx="8">
                    <c:v>qualité des données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108</c:v>
                </c:pt>
                <c:pt idx="1">
                  <c:v>103</c:v>
                </c:pt>
                <c:pt idx="2">
                  <c:v>101</c:v>
                </c:pt>
                <c:pt idx="3">
                  <c:v>101</c:v>
                </c:pt>
                <c:pt idx="4">
                  <c:v>82</c:v>
                </c:pt>
                <c:pt idx="5">
                  <c:v>65</c:v>
                </c:pt>
                <c:pt idx="6">
                  <c:v>64</c:v>
                </c:pt>
                <c:pt idx="7">
                  <c:v>64</c:v>
                </c:pt>
                <c:pt idx="8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des répondants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Productivité personnelle</c:v>
                  </c:pt>
                  <c:pt idx="1">
                    <c:v>Leadership personnel</c:v>
                  </c:pt>
                  <c:pt idx="2">
                    <c:v>Leadership appliqué aux équipes</c:v>
                  </c:pt>
                  <c:pt idx="3">
                    <c:v>Leadership d’une sous-fonction de…</c:v>
                  </c:pt>
                  <c:pt idx="4">
                    <c:v>Leadership d’une fonction ou de t…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27.6</c:v>
                </c:pt>
                <c:pt idx="1">
                  <c:v>18.5</c:v>
                </c:pt>
                <c:pt idx="2">
                  <c:v>12.1</c:v>
                </c:pt>
                <c:pt idx="3">
                  <c:v>7.9</c:v>
                </c:pt>
                <c:pt idx="4">
                  <c:v>3.6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Auto-évalué</c:v>
                </c:pt>
              </c:strCache>
            </c:strRef>
          </c:tx>
          <c:spPr>
            <a:solidFill>
              <a:srgbClr val="5A6B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Validé par le manager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Élevée</c:v>
                </c:pt>
              </c:strCache>
            </c:strRef>
          </c:tx>
          <c:spPr>
            <a:solidFill>
              <a:srgbClr val="12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Assistance IA en imagerie médicale</c:v>
                  </c:pt>
                  <c:pt idx="1">
                    <c:v>Triage IA et aide à la décision c…</c:v>
                  </c:pt>
                  <c:pt idx="2">
                    <c:v>Planification IA des lits et des …</c:v>
                  </c:pt>
                  <c:pt idx="3">
                    <c:v>Littératie en IA pour tous</c:v>
                  </c:pt>
                  <c:pt idx="4">
                    <c:v>IA responsable et protection des …</c:v>
                  </c:pt>
                  <c:pt idx="5">
                    <c:v>Prompting et IA générative au tra…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Moyenne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Assistance IA en imagerie médicale</c:v>
                  </c:pt>
                  <c:pt idx="1">
                    <c:v>Triage IA et aide à la décision c…</c:v>
                  </c:pt>
                  <c:pt idx="2">
                    <c:v>Planification IA des lits et des …</c:v>
                  </c:pt>
                  <c:pt idx="3">
                    <c:v>Littératie en IA pour tous</c:v>
                  </c:pt>
                  <c:pt idx="4">
                    <c:v>IA responsable et protection des …</c:v>
                  </c:pt>
                  <c:pt idx="5">
                    <c:v>Prompting et IA générative au tra…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Faible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Assistance IA en imagerie médicale</c:v>
                  </c:pt>
                  <c:pt idx="1">
                    <c:v>Triage IA et aide à la décision c…</c:v>
                  </c:pt>
                  <c:pt idx="2">
                    <c:v>Planification IA des lits et des …</c:v>
                  </c:pt>
                  <c:pt idx="3">
                    <c:v>Littératie en IA pour tous</c:v>
                  </c:pt>
                  <c:pt idx="4">
                    <c:v>IA responsable et protection des …</c:v>
                  </c:pt>
                  <c:pt idx="5">
                    <c:v>Prompting et IA générative au tra…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0</c:v>
                </c:pt>
                <c:pt idx="4">
                  <c:v>2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Réalisé (%)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#1 Triage IA et aide à la décision c…</c:v>
                  </c:pt>
                  <c:pt idx="1">
                    <c:v>#2 Assistance IA en imagerie médicale</c:v>
                  </c:pt>
                  <c:pt idx="2">
                    <c:v>#3 Planification IA des lits et des …</c:v>
                  </c:pt>
                  <c:pt idx="3">
                    <c:v>#4 Littératie en IA pour tous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65</c:v>
                </c:pt>
                <c:pt idx="2">
                  <c:v>70</c:v>
                </c:pt>
                <c:pt idx="3">
                  <c:v>75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Triage IA et aide à la déci…</c:v>
                  </c:pt>
                  <c:pt idx="1">
                    <c:v>Assistance IA en imagerie m…</c:v>
                  </c:pt>
                  <c:pt idx="2">
                    <c:v>Planification IA des lits e…</c:v>
                  </c:pt>
                  <c:pt idx="3">
                    <c:v>Littératie en IA pour tous</c:v>
                  </c:pt>
                  <c:pt idx="4">
                    <c:v>Prompting et IA générative …</c:v>
                  </c:pt>
                  <c:pt idx="5">
                    <c:v>IA responsable et protectio…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360000</c:v>
                </c:pt>
                <c:pt idx="1">
                  <c:v>300000</c:v>
                </c:pt>
                <c:pt idx="2">
                  <c:v>240000</c:v>
                </c:pt>
                <c:pt idx="3">
                  <c:v>180000</c:v>
                </c:pt>
                <c:pt idx="4">
                  <c:v>120000</c:v>
                </c:pt>
                <c:pt idx="5">
                  <c:v>60000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Alloué</c:v>
                </c:pt>
              </c:strCache>
            </c:strRef>
          </c:tx>
          <c:spPr>
            <a:solidFill>
              <a:srgbClr val="5A6B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Triage IA et aide à la dé…</c:v>
                  </c:pt>
                  <c:pt idx="1">
                    <c:v>Assistance IA en imagerie…</c:v>
                  </c:pt>
                  <c:pt idx="2">
                    <c:v>Planification IA des lits…</c:v>
                  </c:pt>
                  <c:pt idx="3">
                    <c:v>Littératie en IA pour tous</c:v>
                  </c:pt>
                  <c:pt idx="4">
                    <c:v>Prompting et IA générativ…</c:v>
                  </c:pt>
                  <c:pt idx="5">
                    <c:v>IA responsable et protect…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360000</c:v>
                </c:pt>
                <c:pt idx="1">
                  <c:v>300000</c:v>
                </c:pt>
                <c:pt idx="2">
                  <c:v>240000</c:v>
                </c:pt>
                <c:pt idx="3">
                  <c:v>180000</c:v>
                </c:pt>
                <c:pt idx="4">
                  <c:v>120000</c:v>
                </c:pt>
                <c:pt idx="5">
                  <c:v>60000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Réel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Triage IA et aide à la dé…</c:v>
                  </c:pt>
                  <c:pt idx="1">
                    <c:v>Assistance IA en imagerie…</c:v>
                  </c:pt>
                  <c:pt idx="2">
                    <c:v>Planification IA des lits…</c:v>
                  </c:pt>
                  <c:pt idx="3">
                    <c:v>Littératie en IA pour tous</c:v>
                  </c:pt>
                  <c:pt idx="4">
                    <c:v>Prompting et IA générativ…</c:v>
                  </c:pt>
                  <c:pt idx="5">
                    <c:v>IA responsable et protect…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347127</c:v>
                </c:pt>
                <c:pt idx="1">
                  <c:v>266091</c:v>
                </c:pt>
                <c:pt idx="2">
                  <c:v>243800</c:v>
                </c:pt>
                <c:pt idx="3">
                  <c:v>156192</c:v>
                </c:pt>
                <c:pt idx="4">
                  <c:v>118913</c:v>
                </c:pt>
                <c:pt idx="5">
                  <c:v>60539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moyen (%)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Niveau 1</c:v>
                  </c:pt>
                  <c:pt idx="1">
                    <c:v>Niveau 2</c:v>
                  </c:pt>
                  <c:pt idx="2">
                    <c:v>Niveau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</c:v>
                </c:pt>
                <c:pt idx="1">
                  <c:v>93</c:v>
                </c:pt>
                <c:pt idx="2">
                  <c:v>84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Constats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Non-conformité majeure</c:v>
                  </c:pt>
                  <c:pt idx="1">
                    <c:v>Non-conformité mineure</c:v>
                  </c:pt>
                  <c:pt idx="2">
                    <c:v>Observation</c:v>
                  </c:pt>
                  <c:pt idx="3">
                    <c:v>Piste d’amélioration</c:v>
                  </c:pt>
                  <c:pt idx="4">
                    <c:v>Point fort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26-1.png"/><Relationship Id="rId3" Type="http://schemas.openxmlformats.org/officeDocument/2006/relationships/image" Target="../media/image-26-2.png"/><Relationship Id="rId4" Type="http://schemas.openxmlformats.org/officeDocument/2006/relationships/image" Target="../media/image-2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1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2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3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image" Target="../media/image-63-5.png"/><Relationship Id="rId6" Type="http://schemas.openxmlformats.org/officeDocument/2006/relationships/image" Target="../media/image-63-6.png"/><Relationship Id="rId7" Type="http://schemas.openxmlformats.org/officeDocument/2006/relationships/image" Target="../media/image-6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image" Target="../media/image-6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38160" y="-2011680"/>
            <a:ext cx="6858000" cy="6858000"/>
          </a:xfrm>
          <a:prstGeom prst="ellipse">
            <a:avLst/>
          </a:prstGeom>
          <a:solidFill>
            <a:srgbClr val="1876C6">
              <a:alpha val="18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pic>
        <p:nvPicPr>
          <p:cNvPr id="4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743200" cy="50673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 COMPLET · SANTÉ · 2026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2402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Ingénierie de formation aux compétences IA dans un hôpital public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069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Centre Hospitalier Régional : le projet, le Rapport d’ingénierie de formation, le Plan de formation et chaque document produit avec CortexSkills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080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MEASURABLE · GOVERNED · SUSTAINABLE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537960" y="169164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CortexSkil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SOMMAIRE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Déroulé de la présentation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Sommaire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1" name="Image 1" descr="Hospi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20040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L’hôpital et le projet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Contexte, charte, périmètre, méthode, calendrier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29768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72000" y="210312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Stethosco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619" y="225673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494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Diagnostic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Questionnaires, maturité, écarts, besoins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804672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3" name="Image 3" descr="FileT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659" y="2256739"/>
            <a:ext cx="332842" cy="33284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69848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18"/>
          <p:cNvSpPr txBox="1"/>
          <p:nvPr/>
        </p:nvSpPr>
        <p:spPr>
          <a:xfrm>
            <a:off x="83210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 d’ingénierie de formation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832104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Structure, constats, feuille de route, risques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9" name="Image 4" descr="GraduationCa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20040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3"/>
          <p:cNvSpPr txBox="1"/>
          <p:nvPr/>
        </p:nvSpPr>
        <p:spPr>
          <a:xfrm>
            <a:off x="82296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de formation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2296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Programmes, déroulés, conception, budget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429768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572000" y="425196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5" name="Image 5" descr="ChartColum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5619" y="4405579"/>
            <a:ext cx="332842" cy="33284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94944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37" name="Text 28"/>
          <p:cNvSpPr txBox="1"/>
          <p:nvPr/>
        </p:nvSpPr>
        <p:spPr>
          <a:xfrm>
            <a:off x="457200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Déploiement, évaluation et audit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457200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Sessions, Kirkpatrick, ROI, audit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804672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8321040" y="425196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41" name="Image 6" descr="FileSta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4659" y="4405579"/>
            <a:ext cx="332842" cy="33284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069848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00" dirty="0"/>
          </a:p>
        </p:txBody>
      </p:sp>
      <p:sp>
        <p:nvSpPr>
          <p:cNvPr id="43" name="Text 33"/>
          <p:cNvSpPr txBox="1"/>
          <p:nvPr/>
        </p:nvSpPr>
        <p:spPr>
          <a:xfrm>
            <a:off x="832104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 produits</a:t>
            </a:r>
            <a:endParaRPr lang="en-US" sz="1600" dirty="0"/>
          </a:p>
        </p:txBody>
      </p:sp>
      <p:sp>
        <p:nvSpPr>
          <p:cNvPr id="44" name="Text 34"/>
          <p:cNvSpPr txBox="1"/>
          <p:nvPr/>
        </p:nvSpPr>
        <p:spPr>
          <a:xfrm>
            <a:off x="832104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documents publiés, tracés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SYNTHÈSE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cycle complet de compétences IA, documenté de bout en bout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Centre Hospitalier Régional · 3 400 collaborateurs · Déroulé complet compétences IA 2026 — Centre Hospitalier Régional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Synthèse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2" name="Image 1" descr="Circl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798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100 %</a:t>
            </a:r>
            <a:endParaRPr lang="en-US" sz="2500" dirty="0"/>
          </a:p>
        </p:txBody>
      </p:sp>
      <p:sp>
        <p:nvSpPr>
          <p:cNvPr id="14" name="Text 9"/>
          <p:cNvSpPr txBox="1"/>
          <p:nvPr/>
        </p:nvSpPr>
        <p:spPr>
          <a:xfrm>
            <a:off x="749808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 déroulé réalisé — 35 processus de bout en bout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355848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557016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Clipboard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15798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133088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 / 40</a:t>
            </a:r>
            <a:endParaRPr lang="en-US" sz="2500" dirty="0"/>
          </a:p>
        </p:txBody>
      </p:sp>
      <p:sp>
        <p:nvSpPr>
          <p:cNvPr id="19" name="Text 13"/>
          <p:cNvSpPr txBox="1"/>
          <p:nvPr/>
        </p:nvSpPr>
        <p:spPr>
          <a:xfrm>
            <a:off x="3557016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personnes ont répondu aux questionnaires (93 %)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163056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64224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3" descr="GraduationC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15798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40296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500" dirty="0"/>
          </a:p>
        </p:txBody>
      </p:sp>
      <p:sp>
        <p:nvSpPr>
          <p:cNvPr id="24" name="Text 17"/>
          <p:cNvSpPr txBox="1"/>
          <p:nvPr/>
        </p:nvSpPr>
        <p:spPr>
          <a:xfrm>
            <a:off x="6364224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formations dans 2 programmes, priorisées par impact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970264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171432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7" name="Image 4" descr="Wall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15798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747504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1 260 000</a:t>
            </a:r>
            <a:endParaRPr lang="en-US" sz="2500" dirty="0"/>
          </a:p>
        </p:txBody>
      </p:sp>
      <p:sp>
        <p:nvSpPr>
          <p:cNvPr id="29" name="Text 21"/>
          <p:cNvSpPr txBox="1"/>
          <p:nvPr/>
        </p:nvSpPr>
        <p:spPr>
          <a:xfrm>
            <a:off x="9171432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de formation ; 1 192 662 consommés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548640" y="3291840"/>
            <a:ext cx="11094415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868680" y="3456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montre le cas</a:t>
            </a:r>
            <a:endParaRPr lang="en-US" sz="1700" dirty="0"/>
          </a:p>
        </p:txBody>
      </p:sp>
      <p:sp>
        <p:nvSpPr>
          <p:cNvPr id="32" name="Shape 24"/>
          <p:cNvSpPr/>
          <p:nvPr/>
        </p:nvSpPr>
        <p:spPr>
          <a:xfrm>
            <a:off x="868680" y="393192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33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024092"/>
            <a:ext cx="199705" cy="1997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417320" y="390448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: « Systèmes d’information » est l’axe le plus faible (2 / 5) ; le plus grand écart est « Planification IA des lits et des effectifs » (écart moyen 3.0).</a:t>
            </a:r>
            <a:endParaRPr lang="en-US" sz="1350" dirty="0"/>
          </a:p>
        </p:txBody>
      </p:sp>
      <p:sp>
        <p:nvSpPr>
          <p:cNvPr id="35" name="Shape 26"/>
          <p:cNvSpPr/>
          <p:nvPr/>
        </p:nvSpPr>
        <p:spPr>
          <a:xfrm>
            <a:off x="868680" y="4462272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6" name="Image 6" descr="ArrowRigh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52" y="4554444"/>
            <a:ext cx="199705" cy="1997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417320" y="443484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besoins de formation ont été validés et regroupés en 6 thèmes, déployés en 4 initiatives sur trois vagues.</a:t>
            </a:r>
            <a:endParaRPr lang="en-US" sz="1350" dirty="0"/>
          </a:p>
        </p:txBody>
      </p:sp>
      <p:sp>
        <p:nvSpPr>
          <p:cNvPr id="38" name="Shape 28"/>
          <p:cNvSpPr/>
          <p:nvPr/>
        </p:nvSpPr>
        <p:spPr>
          <a:xfrm>
            <a:off x="868680" y="4992624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9" name="Image 7" descr="Shield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852" y="5084796"/>
            <a:ext cx="199705" cy="19970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1417320" y="4965192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Résultats Kirkpatrick 86 % · 93 % · 84 % ; ROI de la formation 108 % (cible ≥ 100 %).</a:t>
            </a:r>
            <a:endParaRPr lang="en-US" sz="1350" dirty="0"/>
          </a:p>
        </p:txBody>
      </p:sp>
      <p:sp>
        <p:nvSpPr>
          <p:cNvPr id="41" name="Shape 30"/>
          <p:cNvSpPr/>
          <p:nvPr/>
        </p:nvSpPr>
        <p:spPr>
          <a:xfrm>
            <a:off x="868680" y="5522976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42" name="Image 8" descr="CircleDo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852" y="5615148"/>
            <a:ext cx="199705" cy="19970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1417320" y="5495544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documents publiés, 1 105 pages ; le Rapport d’ingénierie de formation compte à lui seul 210 pages.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L’hôpital et le projet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Contexte, charte, périmètre, méthode et calendrier</a:t>
            </a:r>
            <a:endParaRPr lang="en-US" sz="1800" dirty="0"/>
          </a:p>
        </p:txBody>
      </p:sp>
      <p:pic>
        <p:nvPicPr>
          <p:cNvPr id="8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Centre Hospitalier Régional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Centre Hospitalier Régional opère dans le secteur Établissements de santé, à Région, avec 3400 salariés.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Sujet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Contenu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Devenir la référence du secteur Établissements de santé dans la région, avec des équipes formées aux meilleurs standards.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Mission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Offrir un service sûr et conforme grâce à des équipes compétentes et des processus maîtrisés.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Valeurs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Engagement · Excellence · Partage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Contexte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Concurrence forte, audits ISO 7101 plus stricts et arrivée de Triage IA et aide à la décision clinique.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Produits — existants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Services de base de Soins cliniques et infirmiers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Produits — nouveaux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Services numériques appuyés sur 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Segments du marché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Grands comptes · Secteur public · Particuliers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589520" y="1828800"/>
            <a:ext cx="4050792" cy="4206240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Organigramme et effectif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423160"/>
          <a:ext cx="361188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Effectif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Opérations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Qualité et HSE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Ressources humaines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Ventes et marketing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Systèmes d'information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POURQUOI CE PROJET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hôpital public sous pression : pourquoi les compétences d’abord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 que disent les SWOT fonctionnels et les objectifs stratégiques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5458968" cy="1938528"/>
          </a:xfrm>
          <a:prstGeom prst="roundRect">
            <a:avLst>
              <a:gd name="adj" fmla="val 4717"/>
            </a:avLst>
          </a:prstGeom>
          <a:solidFill>
            <a:srgbClr val="FBE0B5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2" name="Image 1" descr="Triangle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17810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20848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Pression externe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2542032"/>
            <a:ext cx="4343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Audits ISO 7101 plus stricts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Départ d’experts clés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90488" y="1828800"/>
            <a:ext cx="5458968" cy="1938528"/>
          </a:xfrm>
          <a:prstGeom prst="roundRect">
            <a:avLst>
              <a:gd name="adj" fmla="val 4717"/>
            </a:avLst>
          </a:prstGeom>
          <a:solidFill>
            <a:srgbClr val="D9EAD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9088" y="2057400"/>
            <a:ext cx="502920" cy="50292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89" y="217810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04888" y="20848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Opportunités à saisir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7104888" y="2542032"/>
            <a:ext cx="4343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Demande de services numériques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Contrats de formation remboursés par l’OFPPT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Planification IA des lits et des effectifs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5458968" cy="1938528"/>
          </a:xfrm>
          <a:prstGeom prst="roundRect">
            <a:avLst>
              <a:gd name="adj" fmla="val 4717"/>
            </a:avLst>
          </a:prstGeom>
          <a:solidFill>
            <a:srgbClr val="F4C7C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3" descr="Activ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81221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87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Points faibles aujourd’hui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1463040" y="4645152"/>
            <a:ext cx="4343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Faible usage de Triage IA et aide à la décision clinique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Reporting tenu sur des tableurs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Peu de polyvalence entre les postes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Faible usage de Planification IA des lits et des effectifs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Faible usage de Assistance IA en imagerie médicale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190488" y="3931920"/>
            <a:ext cx="5458968" cy="1938528"/>
          </a:xfrm>
          <a:prstGeom prst="roundRect">
            <a:avLst>
              <a:gd name="adj" fmla="val 4717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419088" y="4160520"/>
            <a:ext cx="502920" cy="50292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27" name="Image 4" descr="Targ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789" y="4281221"/>
            <a:ext cx="261518" cy="26151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104888" y="4187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à quoi la direction s’engage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7104888" y="4645152"/>
            <a:ext cx="4343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SO-1: Adopter Triage IA et aide à la décision clinique dans Soins cliniques et infirmiers d'ici fin 2027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SO-2: Zéro écart majeur aux audits ISO 7101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548640" y="6108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SWOT du RIF 1.4, SWOT fonctionnels (E2E-25) et objectifs stratégiques du périmètre.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PROFIL DE L’HÔPITAL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Dates clés et SWOT de l’hôpital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2008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Création de l’entreprise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55848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84448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2014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Ouverture du deuxième site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63056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91656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2019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6391656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Certification ISO 7101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970264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198864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9198864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Lancement du programme de transformation numérique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B6D7A8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49808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Forces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749808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Équipe expérimentée et engagée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Bonne connaissance du marché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Processus stables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3355848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4C7C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557016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Axes d’amélioration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3557016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Faible usage de Triage IA et aide à la décision clinique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Reporting tenu sur des tableurs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Peu de polyvalence entre les postes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Faible usage de Planification IA des lits et des effectifs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Faible usage de Assistance IA en imagerie médicale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163056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D9EAD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364224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Opportunités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6364224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Demande de services numériques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Contrats de formation remboursés par l’OFPPT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970264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BE0B5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171432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Menaces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9171432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Audits ISO 7101 plus stricts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Départ d’experts clés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sections 1.3 et 1.4.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CHARTE DU PROJET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Déroulé complet compétences IA 2026 — Centre Hospitalier Régional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Cycle d'ingénierie de formation centré sur les compétences IA pour le secteur Établissements de santé : périmètre, preuves, diagnostic, rapport, déploiement, évaluation et amélioration continue.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2139696"/>
            <a:ext cx="457200" cy="45720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2" name="Image 1" descr="Gau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24942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</a:t>
            </a:r>
            <a:endParaRPr lang="en-US" sz="2500" dirty="0"/>
          </a:p>
        </p:txBody>
      </p:sp>
      <p:sp>
        <p:nvSpPr>
          <p:cNvPr id="14" name="Text 9"/>
          <p:cNvSpPr txBox="1"/>
          <p:nvPr/>
        </p:nvSpPr>
        <p:spPr>
          <a:xfrm>
            <a:off x="749808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 de complexité (sur 100) : déroulé complet avec jalons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355848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557016" y="213969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24942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133088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2500" dirty="0"/>
          </a:p>
        </p:txBody>
      </p:sp>
      <p:sp>
        <p:nvSpPr>
          <p:cNvPr id="19" name="Text 13"/>
          <p:cNvSpPr txBox="1"/>
          <p:nvPr/>
        </p:nvSpPr>
        <p:spPr>
          <a:xfrm>
            <a:off x="3557016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parties prenantes enregistrées et consultées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163056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64224" y="213969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3" descr="Crossha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24942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40296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2500" dirty="0"/>
          </a:p>
        </p:txBody>
      </p:sp>
      <p:sp>
        <p:nvSpPr>
          <p:cNvPr id="24" name="Text 17"/>
          <p:cNvSpPr txBox="1"/>
          <p:nvPr/>
        </p:nvSpPr>
        <p:spPr>
          <a:xfrm>
            <a:off x="6364224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critères de périmètre approuvés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970264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171432" y="213969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7" name="Image 4" descr="Lay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24942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747504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 · MO · OP</a:t>
            </a:r>
            <a:endParaRPr lang="en-US" sz="2500" dirty="0"/>
          </a:p>
        </p:txBody>
      </p:sp>
      <p:sp>
        <p:nvSpPr>
          <p:cNvPr id="29" name="Text 21"/>
          <p:cNvSpPr txBox="1"/>
          <p:nvPr/>
        </p:nvSpPr>
        <p:spPr>
          <a:xfrm>
            <a:off x="9171432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niveaux de décision couverts (stratégique, intermédiaire, opérationnel)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548640" y="3429000"/>
            <a:ext cx="11094415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8686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Objectifs stratégiques</a:t>
            </a:r>
            <a:endParaRPr lang="en-US" sz="1700" dirty="0"/>
          </a:p>
        </p:txBody>
      </p:sp>
      <p:sp>
        <p:nvSpPr>
          <p:cNvPr id="32" name="Shape 24"/>
          <p:cNvSpPr/>
          <p:nvPr/>
        </p:nvSpPr>
        <p:spPr>
          <a:xfrm>
            <a:off x="868680" y="411480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33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206972"/>
            <a:ext cx="199705" cy="1997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417320" y="4087368"/>
            <a:ext cx="99056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SO-1 — Adopter Triage IA et aide à la décision clinique dans Soins cliniques et infirmiers d'ici fin 2027 (échéance 2027-12-31)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868680" y="480060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6" name="Image 6" descr="ArrowRigh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52" y="4892772"/>
            <a:ext cx="199705" cy="1997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417320" y="4773168"/>
            <a:ext cx="99056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SO-2 — Zéro écart majeur aux audits ISO 7101 (échéance 2026-12-31)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PÉRIMÈTRE DE LA MISSION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Fonctions et niveaux de décision couverts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Orientation: AI · Niveaux de décision: MS, MO, OP · Approbation: Approuvé (2026-04-30, Soukaina Ouazzani)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Fonction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MS — stratégique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 — intermédiaire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 — opérationnel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Opérations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Qualité et HSE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Ressources humaines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Ventes et marketing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Systèmes d'information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818120" y="1874520"/>
            <a:ext cx="3822192" cy="3200400"/>
          </a:xfrm>
          <a:prstGeom prst="roundRect">
            <a:avLst>
              <a:gd name="adj" fmla="val 2857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 le périmètre est fixé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046720" y="246888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case fonction × niveau de décision est un critère pondéré du périmètre. 16 critères ont été approuvés par le sponsor avant l’envoi de tout questionnaire ; chaque tableau du rapport est ensuite filtré par ce périmètre.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section 1.8.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MÉTHODE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phases, chacune close par un jalon et ses livrables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mission d’ingénierie de formation suit les phases ci-dessous, chacune clôturée par un jalon et ses livrables.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492240"/>
                <a:gridCol w="1307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Phase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Processus de bout en bout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Avancement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 Périmètre et collecte de preuves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E2E-32 · E2E-33 · E2E-19 · E2E-24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 Diagnostic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E2E-20 · E2E-25 · E2E-26 · E2E-27 · E2E-28 · E2E-29 · E2E-02 · E2E-21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 Rapport d'ingénierie de formation et plan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E2E-01 · E2E-03 · E2E-30 · E2E-22 · E2E-23 · E2E-16 · HCPR-E2E-02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 Conception et déploiement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E2E-04 · E2E-05 · E2E-06 · E2E-13 · E2E-14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5. Évaluation, conformité et impact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E2E-07 · E2E-08 · E2E-09 · HCPR-E2E-01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6. Talents, savoirs et amélioration continue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E2E-10 · E2E-11 · E2E-12 · E2E-31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Rapport d’ingénierie de formation, section 1.5 « La mission en cours ».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DÉROULÉ EN CHIFFRES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processus de bout en bout, 265 tâches, toutes réalisées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processus a un responsable, ses tâches, ses dates et le document qu’il produit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5895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1188720"/>
                <a:gridCol w="960120"/>
                <a:gridCol w="960120"/>
                <a:gridCol w="7315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Phase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Processus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Tâches faites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Début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Resp.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Catalyseurs (transverses à toutes les phases)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 / 21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2026-04-10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2026-05-01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Périmètre et collecte de preuves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37 / 37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2026-04-10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2026-05-16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62 / 62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2026-05-08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2026-06-07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d'ingénierie de formation et plan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 / 50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2026-06-05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2026-07-05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Conception et déploiement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39 / 39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2026-07-03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2026-07-30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Évaluation, conformité et impact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 / 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2026-07-31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2026-08-24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Talents, savoirs et amélioration continue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 / 30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2026-08-28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2026-09-21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8366760" y="1828800"/>
            <a:ext cx="327355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56792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3" name="Image 1" descr="ListChe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56" y="2157984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144000" y="197510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265 / 265</a:t>
            </a:r>
            <a:endParaRPr lang="en-US" sz="2500" dirty="0"/>
          </a:p>
        </p:txBody>
      </p:sp>
      <p:sp>
        <p:nvSpPr>
          <p:cNvPr id="15" name="Text 9"/>
          <p:cNvSpPr txBox="1"/>
          <p:nvPr/>
        </p:nvSpPr>
        <p:spPr>
          <a:xfrm>
            <a:off x="8567928" y="2596896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tâches réalisées, aucune en retard ni bloquée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8366760" y="3200400"/>
            <a:ext cx="327355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567928" y="34198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8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3529584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144000" y="334670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2500" dirty="0"/>
          </a:p>
        </p:txBody>
      </p:sp>
      <p:sp>
        <p:nvSpPr>
          <p:cNvPr id="20" name="Text 13"/>
          <p:cNvSpPr txBox="1"/>
          <p:nvPr/>
        </p:nvSpPr>
        <p:spPr>
          <a:xfrm>
            <a:off x="8567928" y="3968496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responsables de processus de l’équipe projet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8366760" y="4572000"/>
            <a:ext cx="327355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8567928" y="47914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3" name="Image 3" descr="FileSta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6" y="4901184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144000" y="471830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2500" dirty="0"/>
          </a:p>
        </p:txBody>
      </p:sp>
      <p:sp>
        <p:nvSpPr>
          <p:cNvPr id="25" name="Text 17"/>
          <p:cNvSpPr txBox="1"/>
          <p:nvPr/>
        </p:nvSpPr>
        <p:spPr>
          <a:xfrm>
            <a:off x="8567928" y="5340096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publiés, un par processus et plus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6108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espace projet (phases, processus, tâches).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PROCESSUS ET RESPONSABLES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 a porté chaque processus du déroulé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846320"/>
                <a:gridCol w="2651760"/>
                <a:gridCol w="1947672"/>
                <a:gridCol w="8229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Processus — document produit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Phase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Responsable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Tâches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Gouvernance des données, de l’IA et des intégrations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Catalyseurs (transverses à to…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Sara El Idrissi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de conduite du changement et d’adoption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Catalyseurs (transverses à to…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Rim Kettani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qualité, risques et amélioration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Catalyseurs (transverses à to…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Hamza Mansouri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E2E-32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Cahier des charges et registre des parties prenantes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Périmètre et collecte de preu…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9/9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E2E-33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campagne de questionnaires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Périmètre et collecte de preu…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Asmae Fassi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12/12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clôture de mission de conseil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Périmètre et collecte de preu…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Hamza Benjelloun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9/9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Note de veille concurrentielle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Périmètre et collecte de preu…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Omar Benjelloun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diagnostic multi-axes et de maturité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Hamza Benjelloun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10/10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Architecture des emplois et cartographie des compétences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Soukaina Ouazzani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Gestion prévisionnelle des emplois et compétences (GPEC)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Soukaina Ouazzani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Consolidation des demandes de formation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Évaluation des performances et tableau RAG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SWOT fonctionnel et axes d’amélioration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 des écarts de compétences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Évaluation de l’impact du plan précédent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annuel de formation et budget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d'ingénierie de forma…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des besoins de formation et feuille de route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d'ingénierie de forma…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10/10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de ressources priorisé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d'ingénierie de forma…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PROCESSUS ET RESPONSABLES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processus du déroulé (suite)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846320"/>
                <a:gridCol w="2651760"/>
                <a:gridCol w="1947672"/>
                <a:gridCol w="8229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Processus — document produit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Phase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Responsable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Tâches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de déploiement multi-sites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d'ingénierie de forma…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Dossier de soumission réglementaire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d'ingénierie de forma…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Kawtar Rami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Dossier de gestion des prestataires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d'ingénierie de forma…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Imane Naciri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6/6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HCPR-E2E-02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Processus propre au secteur santé (alimente le RIF et l’a…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d'ingénierie de forma…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4/4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Dossier de conception pédagogique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Conception et déploiement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réalisation des formations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Conception et déploiement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9/9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d’engagement des apprenants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Conception et déploiement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Catalogue et cycle de vie des contenus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Conception et déploiement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Rim Mansouri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formation de l’entreprise étendue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Conception et déploiement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Hajar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d’évaluation des formations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Évaluation, conformité et imp…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ROI et d’impact métier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Évaluation, conformité et imp…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Registre de conformité et des certifications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Évaluation, conformité et imp…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Kawtar Rami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HCPR-E2E-01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Processus propre au secteur santé (alimente le RIF et l’a…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Évaluation, conformité et imp…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4/4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Mobilité interne et parcours de carrière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Talents, savoirs et améliorat…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Soukaina Ouazzani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Dossier du programme d’intégration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Talents, savoirs et améliorat…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Hamza Lahlou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Capitalisation et transfert des connaissances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Talents, savoirs et améliorat…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Omar Alaoui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E2E-31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Feuille de route post-mission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Talents, savoirs et améliorat…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Hamza Benjelloun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CALENDRIER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Lots de travaux et diagramme de Gantt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Début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Avancement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Périmètre et preuves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2026-04-10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2026-05-07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2026-05-08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2026-06-04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et plan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2026-06-05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2026-07-02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4206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Sessions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S-01 Triage IA et aide à la décision 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2026-07-19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S-02 Assistance IA en imagerie médica…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S-03 Triage IA et aide à la décision 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S-04 Assistance IA en imagerie médica…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5029200" y="1783080"/>
            <a:ext cx="6528816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2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28800"/>
            <a:ext cx="6437376" cy="402336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07492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WBS et Gantt du projet dans CortexSkills.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PARTIES PRENANTES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personnes consultées dans toutes les fonctions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personnes ont été consultées : 1 de la direction générale, 26 managers et 13 collaborateurs.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Personnes consultées par fonction et population (RIF 1.7).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828800"/>
          <a:ext cx="4233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075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Canal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Personnes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Présentiel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Combination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E-mail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7406640" y="4023360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Consentement enregistré pour 40 personnes sur 40 avant tout enregistrement de réponse.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Diagnostic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 a répondu, où en est l’hôpital, quelles compétences manquent</a:t>
            </a:r>
            <a:endParaRPr lang="en-US" sz="1800" dirty="0"/>
          </a:p>
        </p:txBody>
      </p:sp>
      <p:pic>
        <p:nvPicPr>
          <p:cNvPr id="8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CAMPAGNE DE QUESTIONNAIRES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 personnes sur 40 ont répondu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personnes ont été invitées à répondre ; 37 ont répondu.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914400"/>
                <a:gridCol w="82296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Direction générale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Équipe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Répondants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Opérations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Qualité et HSE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Ressources humaines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Ventes et marketing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Systèmes d'information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6583680" y="17830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658368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Taux de réponse par fonction.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484632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1005840"/>
                <a:gridCol w="7772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Canal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Invités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Répondants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Complétude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Présentiel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95 %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Application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91 %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E-mail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77 %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7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sections 1.6, 1.12 et 1.13.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PLAN PRÉCÉDENT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les équipes disent du dernier plan de formation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Qu’avez-vous remarqué à propos du plan de formation de l’année n-1 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Les formations ont été choisies tard dans l’année, avec peu de lien avec nos objectifs.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Bonne participation, mais peu de suivi après les sessions.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9768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2628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Quels étaient les points forts du plan de formation de l’année n-1 ?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Des sessions sur site, proches des équipes.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Des formateurs pratiques qui connaissaient notre secteur.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7532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Quelles étaient les améliorations apportées par le plan de formation de l’année…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27532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Les encadrants utilisent les nouvelles procédures.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Moins d’erreurs sur les enregistrements ISO 7101.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724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Quels étaient les défis concernant le plan de formation de l’année n-1 ?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Mesurer l’effet des formations.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Libérer les personnes de leur poste pendant les pics d’activité.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52628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Qu’avez-vous apprécié et aimé à propos du plan de formation de l’année n-1 ?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52628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Les ateliers sur des cas réels.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Les échanges entre sites.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27532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on faisait un nouveau plan de formation, qu’est-ce que vous aimeriez voir de…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827532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Des formats courts en demi-journée avec un atelier à chaque fois.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Un plan construit à partir des besoins de chaque fonction.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chapitre 2 — 59 formations suivies sont listées en section 2.1.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ET MATURITÉ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Cinq axes évalués, maturité un niveau sous la cible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 de diagnostic par axe face à la cible de niveau 4 (RIF 1.9).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28800"/>
          <a:ext cx="49651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24963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Axe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Lecture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Stratégie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Point fort à consolider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Organisation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Partiellement en place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Partiellement en place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Personnes et compétences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Partiellement en place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Systèmes d’information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Priorité de développement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840480"/>
          <a:ext cx="49651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868680"/>
                <a:gridCol w="8503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Modèle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Actuel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Cible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Maturité CMM (CMM)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Maturité du leadership (Leadership)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3" name="Text 6"/>
          <p:cNvSpPr txBox="1"/>
          <p:nvPr/>
        </p:nvSpPr>
        <p:spPr>
          <a:xfrm>
            <a:off x="667512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Modèles de maturité (RIF 1.10).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PAR FONCTION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Où se situe chaque fonction à chaque niveau de décision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par niveau : MS management stratégique, MO management opérationnel, OP opérationnel.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188720"/>
                <a:gridCol w="1188720"/>
                <a:gridCol w="54223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Écarts principaux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Opérations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75%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76%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68%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 · Assistance IA en imagerie médicale · Planification 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Qualité et HSE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90% 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56%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65%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 · Planification IA des lits et des effectifs · Triage IA et…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62%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64%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89%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 · Triage IA et aide à la décision clinique · Assist…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Ressources humaines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73%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70%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75%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 · Assistance IA en imagerie médicale · Planification 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Ventes et marketing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92% 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62%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52%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 · Planification IA des lits et des effectifs · Triage IA et…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Systèmes d'information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65%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55%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84%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 · Triage IA et aide à la décision clinique · Assist…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59%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56%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64%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 · Assistance IA en imagerie médicale · Planification 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Carte de chaleur sur l’échelle de statut fixe rouge → vert (RIF 3.2).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ÉVALUATION DE LA PERFORMANCE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 cases évaluées : fonction × niveau de décision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 en % de la performance attendue, d’après les enregistrements d’évaluation (E2E-26)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 de performance par fonction et niveau de décision (%).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828800"/>
          <a:ext cx="39136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"/>
                <a:gridCol w="19019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Case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%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 relevé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Ventes et marketing — OP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Systèmes d'information — MO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Qualité et HSE — MO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 — MO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 — MS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 — MS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7726680" y="58521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six cases les plus faibles, avec l’écart relevé.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SWOT FONCTIONNELS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Forces et faiblesses, fonction par fonction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SWOT validés avec les responsables de fonction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5458968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2" name="Image 1" descr="Stethosco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13238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2057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Opérations — Validé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77240" y="269748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B6D7A8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14400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Forces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31363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Équipe expérimentée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processus stables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319272" y="269748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F4C7C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456432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Faiblesses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456432" y="31363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Faible usage de Triage IA et aide à la décision clinique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77240" y="425196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D9EAD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14400" y="4343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Opportunités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914400" y="4690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Planification IA des lits et des effectifs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319272" y="425196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FBE0B5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456432" y="4343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Menaces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3456432" y="4690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Audits ISO 7101 plus stricts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190488" y="1828800"/>
            <a:ext cx="5458968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19088" y="2011680"/>
            <a:ext cx="502920" cy="50292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28" name="Image 2" descr="Building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89" y="2132381"/>
            <a:ext cx="261518" cy="26151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104888" y="2057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Qualité et HSE — Validé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6419088" y="269748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B6D7A8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556248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Forces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6556248" y="31363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Équipe expérimentée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processus stables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961120" y="269748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F4C7C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9098280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Faiblesses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9098280" y="31363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Faible usage de Triage IA et aide à la décision clinique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419088" y="425196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D9EAD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556248" y="4343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Opportunités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6556248" y="4690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Planification IA des lits et des effectifs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8961120" y="425196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FBE0B5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9098280" y="4343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Menaces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9098280" y="4690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Audits ISO 7101 plus stricts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548640" y="6108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enregistrements SWOT fonctionnels (E2E-25), à l’origine des axes d’amélioration.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COMPÉTENCES CITÉES LORS DES ENTRETIENS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compétences demandées, par nombre de mentions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Consolidé à partir de 32 réponses.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Mentions dans l’ensemble des réponses (RIF 3.3).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7818120" y="1874520"/>
            <a:ext cx="3822192" cy="3931920"/>
          </a:xfrm>
          <a:prstGeom prst="roundRect">
            <a:avLst>
              <a:gd name="adj" fmla="val 2392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Lecture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046720" y="2468880"/>
            <a:ext cx="3429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deux thèmes IA cliniques arrivent en tête (108 et 103 mentions), suivis de la communication d’équipe et de la résolution de problèmes : le plan associe chaque formation IA à des ateliers pratiques sur les cas propres à l’hôpital.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COMPÉTENCES COMPORTEMENTALES ET LEADERSHIP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Auto-évaluation des répondants, du plus faible au plus fort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18872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Compétence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Moyenne (1–5)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Auto-contrôle et excellence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Amélioration continue de la qualité — résolution de conflits et solut…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Accompagnement des autres pour l’excellence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 par les valeurs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 d’entreprise : vue macro des métiers / fonctions de l’entr…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Formations et efficacité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Auto-motivation et énergie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Communication avec soi-même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7223760" y="1783080"/>
          <a:ext cx="441655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7223760" y="5577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Niveaux de leadership atteints (RIF 3.7).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ÉCARTS DE COMPÉTENCES ET BESOINS DE FORMATION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 écarts mesurés à un registre de besoins validé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868680"/>
                <a:gridCol w="777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Compétence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Personnes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 moyen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Critiques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Écarts par compétence (RIF 3.40).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828800"/>
          <a:ext cx="5742432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743200"/>
                <a:gridCol w="1051560"/>
                <a:gridCol w="685800"/>
                <a:gridCol w="9418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Thème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Source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Impact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IA responsable et protection des données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 de compétences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GPEC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Demande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et IA générative au travail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SWOT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 de compétences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Littératie en IA pour tous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GPEC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Demande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Littératie en IA pour tous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SWOT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589788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Registre des besoins (RIF 3.41) : chaque besoin tracé jusqu’à sa source.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502920" y="3429000"/>
            <a:ext cx="3895344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4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0"/>
            <a:ext cx="380390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CAMPAGNE DE COMPÉTENCES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Niveaux auto-évalués et validés côte à côte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évaluations de la campagne « Campagne de compétences 2026 », close le 2026-05-20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Nombre d’évaluations à chaque niveau.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7269480" y="1828800"/>
            <a:ext cx="437083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470648" y="2048256"/>
            <a:ext cx="457200" cy="45720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4" name="Image 1" descr="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376" y="215798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46720" y="1975104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2.0 → 2.0</a:t>
            </a:r>
            <a:endParaRPr lang="en-US" sz="2500" dirty="0"/>
          </a:p>
        </p:txBody>
      </p:sp>
      <p:sp>
        <p:nvSpPr>
          <p:cNvPr id="16" name="Text 10"/>
          <p:cNvSpPr txBox="1"/>
          <p:nvPr/>
        </p:nvSpPr>
        <p:spPr>
          <a:xfrm>
            <a:off x="7470648" y="2596896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 moyen, auto-évalué → validé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7269480" y="3200400"/>
            <a:ext cx="437083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470648" y="34198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9" name="Image 2" descr="Use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3529584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046720" y="3346704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· 0 · 0</a:t>
            </a:r>
            <a:endParaRPr lang="en-US" sz="2500" dirty="0"/>
          </a:p>
        </p:txBody>
      </p:sp>
      <p:sp>
        <p:nvSpPr>
          <p:cNvPr id="21" name="Text 14"/>
          <p:cNvSpPr txBox="1"/>
          <p:nvPr/>
        </p:nvSpPr>
        <p:spPr>
          <a:xfrm>
            <a:off x="7470648" y="3968496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confirmés · abaissés · relevés par le manager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269480" y="4617720"/>
            <a:ext cx="4370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validation par le manager transforme une auto-évaluation en écart mesuré : seuls les niveaux validés alimentent les écarts et le registre des besoins.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DEMANDES DE FORMATION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demandes reçues, toutes rattachées à un thème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Demandes individuelles et collectives des managers et des agents (E2E-27)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Demandes par thème et priorité.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828800"/>
          <a:ext cx="39136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704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Demandes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Planifiée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Rejetée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3566160"/>
          <a:ext cx="39136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704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Type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Demandes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Individuelle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Collective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ZOOM SUR LA FONCTION CŒUR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Soins cliniques et infirmiers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Besoins, évaluation et compétences de la fonction qui porte l’objectif stratégique SO-1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Niveau de décision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Note (%)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59 %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56 %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64 %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4572000"/>
                <a:gridCol w="32278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Répondant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Population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Forces / Points d’amélioration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Compétences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Reda Naciri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 — Bonne connaissance du marché — Peu de…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Reda Naciri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 — Bonne connaissance du marché — Report…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 ; Gestion du temps et prio…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Zineb Hajji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Membre de l’équipe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Équipe expérimentée et engagée — Faible usage de Assistance IA en ima…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Zineb Hajji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Membre de l’équipe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Processus stables — Faible usage de Assistance IA en imagerie médicale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Exigences ISO 7101 ; Tableaux de bord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Ayoub Benjelloun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 — Processus stables — Peu de polyvalenc…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Ayoub Benjelloun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 — Bonne connaissance du marché — Report…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Exigences ISO 7101 ; Tableaux de bord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sections 3.36 à 3.39.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USAGE ACTUEL DE L’IA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 les équipes utilisent l’IA et ce qui les freine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31520" y="1993392"/>
            <a:ext cx="457200" cy="45720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1" name="Image 1" descr="Activ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0312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152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Usage actuel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jour, pour le tri et les rapports. (33)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2798064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980944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Octagon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2103120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980944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Freins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2980944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Manque de formation et règles peu claires. (33)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047488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230368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2103120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230368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Risques à maîtriser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5230368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Protection des données et validation des résultats. (33)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7296912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479792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6" name="Image 4" descr="Targ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103120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479792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Priorités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7479792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Planification IA des lits et des effectifs ; qualité des données (12)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Assistance IA en imagerie médicale ; qualité des données (11)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9546336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9729216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1" name="Image 5" descr="Presenta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944" y="2103120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729216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 préféré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9729216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 ateliers courts sur le poste, puis du coaching. (33)</a:t>
            </a:r>
            <a:endParaRPr lang="en-US" sz="10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0"/>
                <a:gridCol w="978408"/>
                <a:gridCol w="969264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Pratique de planification stratégique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Oui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Existe-t-il un plan stratégique et des macro business plans au niveau de l’entreprise 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Ce plan stratégique et les macro business plans sont-ils mis en place 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Sont-ils surveillés 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Sont-ils sujets à l’amélioration continue 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</a:tbl>
          </a:graphicData>
        </a:graphic>
      </p:graphicFrame>
      <p:sp>
        <p:nvSpPr>
          <p:cNvPr id="35" name="Text 25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Réponses les plus fréquentes des 37 répondants (RIF 3.45, 3.46).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OBJECTIFS ET RÉSULTATS ATTENDUS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les répondants attendent de la formation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  <a:gridCol w="914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Objectif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Formulation SMART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Mentions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Améliorer la satisfaction des clients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Score de satisfaction ≥ 85 % d’ici la fin de l’année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Réduire les coûts de non-qualité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-20 % de reprises en 12 mois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Développer le capital humain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80 % des rôles critiques certifiés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589520" y="1828800"/>
            <a:ext cx="4050792" cy="4023360"/>
          </a:xfrm>
          <a:prstGeom prst="roundRect">
            <a:avLst>
              <a:gd name="adj" fmla="val 2273"/>
            </a:avLst>
          </a:prstGeom>
          <a:solidFill>
            <a:srgbClr val="E7F9F0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Résultats attendus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818120" y="242316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Des équipes capables d’utiliser Triage IA et aide à la décision clinique en sécurité.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 meilleurs résultats d’audit et une meilleure fidélisation du personnel.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Moins d’erreurs et un service plus rapide.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Des équipes capables d’utiliser Assistance IA en imagerie médicale en sécurité.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3.42 (74 objectifs exprimés) et 3.9.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 d’ingénierie de formation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134 sections, 210 pages, générées à partir des données du déroulé</a:t>
            </a:r>
            <a:endParaRPr lang="en-US" sz="1800" dirty="0"/>
          </a:p>
        </p:txBody>
      </p:sp>
      <p:pic>
        <p:nvPicPr>
          <p:cNvPr id="8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 DU RAPPORT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 d’ingénierie de formation et plan de formation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1 · auteur Leila Chraibi · approuvé par Soukaina Ouazzani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 d’ingénierie de formation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Chapitre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Sections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 Description de l’entreprise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 Le plan de formation précédent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 Les besoins en compétences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 Perspectives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5. Le plan de formation priorisé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6. Risques, contrôles et indicateurs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7. Annexes — formulaires d’entretien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38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897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Plus l’identification, les sources de données et l’approbation.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5897880" y="1783080"/>
            <a:ext cx="5760720" cy="363474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3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35433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94360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rapport dans l’éditeur de documents.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ORIENTATIONS STRATÉGIQUES ET RH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Besoins liés à la stratégie et aux orientations RH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Axes prioritaires cités par la direction générale: Leadership et performance · Triage IA et aide à la décision clinique · Conformité ISO 7101 · Tableaux de bord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 d’ingénierie de formation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531352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Objectif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Échéance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SO-1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Adopter Triage IA et aide à la décision clinique dans Soins cliniques et infirmiers d'ici fin 2027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2027-12-31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SO-2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Zéro écart majeur aux audits ISO 7101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2026-12-31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329184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Orientations RH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777240" y="38404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Mettre à jour les fiches de poste, les objectifs individuels et l’évaluation annuelle ; construire les chemins de carrière.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217920" y="3291840"/>
            <a:ext cx="5422392" cy="2651760"/>
          </a:xfrm>
          <a:prstGeom prst="roundRect">
            <a:avLst>
              <a:gd name="adj" fmla="val 3448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4652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du changement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46520" y="38404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1) Concentration et priorisation · 2) Être optimiste et positif · 3) Être persévérant et assurer le suivi par de courtes répétitions quotidiennes · Patience · Donner l’exemple · Progressivité.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sections 3.1, 3.5 et 3.6.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PERSPECTIVES ET FEUILLE DE ROUTE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Quatre initiatives déployées en trois vagues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perspectives tiennent compte des orientations stratégiques, du SWOT et des axes d’amélioration, des orientations GRH et des recommandations exprimées lors des rencon…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 d’ingénierie de formation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Vague 1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Triage IA et aide à la décision clinique — impact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Littératie en IA pour tous — impact 5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29768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Vague 2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Assistance IA en imagerie médicale — impact 4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4672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32104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Vague 3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832104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Planification IA des lits et des effectifs — impact 3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680960"/>
                <a:gridCol w="1463040"/>
                <a:gridCol w="14904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Axe d’amélioration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Réalisé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Vague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65%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Littératie en IA pour tous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75%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20" name="Text 15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chapitre 4 et section 4.1.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AXES D’AMÉLIORATION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axe classé, avec son avancement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Axes d’amélioration issus des SWOT et suivis dans la feuille de route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 d’ingénierie de formation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6766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715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Avancement de chaque axe d’amélioration, par rang de priorité.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828800"/>
          <a:ext cx="405079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503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Initiative de la feuille de route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Vague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Littératie en IA pour tous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7589520" y="3977640"/>
            <a:ext cx="4050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Avancement moyen 68 % : les axes de la vague 1 sont déployés, les autres sont portés par les vagues 2 et 3.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RISQUES ET CONTRÔLES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risque réduit par des contrôles nommés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 d’ingénierie de formation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206240"/>
                <a:gridCol w="1463040"/>
                <a:gridCol w="868680"/>
                <a:gridCol w="868680"/>
                <a:gridCol w="27706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Risque ou opportunité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Catégorie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Inhérent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Résiduel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Contrôles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RISK-014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Faible adoption par les apprenants et utilisateurs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Adoption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CTRL-081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RISK-017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Savoirs critiques perdus au départ d'un expert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Opérationnel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CTRL-070; CTRL-082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Accès non autorisé aux données du locataire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Sécurité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CTRL-001; CTRL-002; CTRL-048; CTRL-011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de formation non aligné sur la stratégie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Stratégique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CTRL-049; CTRL-057; CTRL-076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Données de compétences inexactes conduisant à de mauvais besoins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Qualité des données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CTRL-064; CTRL-045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Les fiches de poste s'écartent de la réalité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Organisationnel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CTRL-066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Contenu IA non vérifié dans le rapport d'ingénierie de 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CTRL-041; CTRL-056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Certification obligatoire expirée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Conformité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CTRL-053; CTRL-054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RISK-031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 déploiement d'un site s'écarte du plan groupe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Opérationnel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CTRL-071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4892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 premiers risques sur 35 par score résiduel (RIF chapitre 6).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INDICATEURS DU PROJET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Indicateurs suivis chaque mois pendant le déroulé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 d’ingénierie de formation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572000"/>
                <a:gridCol w="1463040"/>
                <a:gridCol w="2651760"/>
                <a:gridCol w="13075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Indicateur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Cible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Dernière valeur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d'écarts critiques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10 %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8.2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Délai de production du rapport d'ingénierie de 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30 jours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24.6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Délai d'approbation de la conception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20 jours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16.4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Délai de publication des contenus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15 jours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12.3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de remplissage des sessions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85 %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91.8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de réalisation du plan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90 %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97.2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d'achèvement des apprenants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80 %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86.4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Satisfaction moyenne de niveau 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4,2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4.5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de progression des compétences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70 %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75.6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de correction des dossiers de 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1 %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0.82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des 61 indicateurs de la section 6.1 du RIF.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de formation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plan 2026 comprend 2 programmes et 6 formations, soit 12 jours par groupe au total et 44 journées-groupes à réaliser, pour un budget de …</a:t>
            </a:r>
            <a:endParaRPr lang="en-US" sz="1800" dirty="0"/>
          </a:p>
        </p:txBody>
      </p:sp>
      <p:pic>
        <p:nvPicPr>
          <p:cNvPr id="8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PRIORISÉ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thèmes classés par impact et urgence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2026 — statut Verrouillé — budget 1 260 000.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291840"/>
                <a:gridCol w="731520"/>
                <a:gridCol w="73152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Thème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Groupes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Budget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360 000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300 000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240 000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Littératie en IA pour tous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180 000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et IA générative au travail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120 000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IA responsable et protection des données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60 000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6766560" y="178308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676656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par thème.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PROGRAMMES ET FORMATIONS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programmes, six formations, des prérequis clairs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3383280"/>
                <a:gridCol w="31363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Programme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Axe stratégique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Formations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PRG-1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Compétences IA pour Soins cliniques et infirmiers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Exécution de la fonction cœur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TR-AI-01, TR-AI-02, TR-AI-03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PRG-2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Fondamentaux IA pour tous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Leadership, performance et usage responsable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TR-AI-04, TR-AI-05, TR-AI-06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657600"/>
                <a:gridCol w="1188720"/>
                <a:gridCol w="1005840"/>
                <a:gridCol w="42336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Niveau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Durée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Prérequis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Intermédiaire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 jour(s)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Culture numérique de base ; la formation Fondamentaux est recommandée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Intermédiaire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jour(s)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Culture numérique de base ; la formation Fondamentaux est recommandée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Avancé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2.5 jour(s)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TR-AI-01 ou expérience équivalente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Littératie en IA pour tous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Fondamentaux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1.5 jour(s)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Aucun — ouvert à tous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et IA générative au travail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Fondamentaux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 jour(s)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Aucun — ouvert à tous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IA responsable et protection des données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Intermédiaire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jour(s)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Culture numérique de base ; la formation Fondamentaux est recommandée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54864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Plan de formation « Programmes » et RIF section 5.1.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FICHE DE FORMATION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TR-AI-01 — Triage IA et aide à la décision clinique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 Intermédiaire · 3 jour(s) · programme PRG-1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67665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Objectifs pédagogiques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423160"/>
            <a:ext cx="621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Expliquer les concepts clés de Triage IA et aide à la décision clinique et leur application à Soins cliniques et infirmiers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Appliquer les méthodes et outils de Triage IA et aide à la décision clinique à un cas réel de Centre Hospitalier Régional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Planifier le déploiement de Triage IA et aide à la décision clinique avec ses indicateurs et contrôles (ISO 7101)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589520" y="1828800"/>
            <a:ext cx="4050792" cy="4114800"/>
          </a:xfrm>
          <a:prstGeom prst="roundRect">
            <a:avLst>
              <a:gd name="adj" fmla="val 2257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818120" y="24231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Culture numérique de base ; la formation Fondamentaux est recommandée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Modalités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818120" y="406908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M1 Triage IA et aide à la décision clinique · E-learning · 2 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M3 Triage IA et aide à la décision clinique · Classe virtuelle · 3.5 h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 DÉTAILLÉ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Triage IA et aide à la décision clinique — demi-journée par demi-journée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 activités sur 3 jour(s) : exposés, quiz et ateliers sur les cas propres à l’hôpital.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42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 1 — matin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Fondamentaux de Triage IA et aide à la décision clinique : co…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Pourquoi Triage IA et aide à la décision clinique compte pour…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concepts clés de Triage IA et aide à la décision clini…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· Atelier — cartographier les pratiques actuelles de Soins clin… (75 min)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9768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2628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 1 — après-midi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Méthodes et outils de Triage IA et aide à la décision clinique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Exemple commenté du secteur Établissements de santé (40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choisir la bonne méthode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· Atelier — appliquer la méthode à un cas réel de Centre Hospit… (80 min)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7532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 2 — matin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Gouvernance, risques et exigences ISO 7101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Données, qualité et preuves à conserver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scénarios de conformité et de risque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· Atelier — construire la check-list de contrôle de votre proce… (80 min)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 2 — après-midi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Déployer Triage IA et aide à la décision clinique : rôles, ch…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Indicateurs pour mesurer les résultats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cas d’adoption et d’indicateurs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· Atelier — concevoir le tableau de bord d’indicateurs de votre… (80 min)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2628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 3 — matin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452628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Pratiques avancées et retours d’expérience en Soins cliniques…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cas avancés (25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· Atelier — résoudre un scénario d’incident critique (100 min)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27532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 3 — après-midi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27532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Transfert en situation de travail : le plan 30-60-90 jours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· Évaluation finale (niveau 2 de Kirkpatrick) (30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· Atelier — plan d’action individuel et revue entre pairs (90 min)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VALEUR POUR CHAQUE PERSONA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Pourquoi chaque public doit suivre la formation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 TR-AI-01 — comportements, irritants et attentes de chaque persona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2" name="Image 1" descr="Brief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214335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Sponsor exécutif — Directeur général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Décide sur des faits présentés en comités courts ; délègue l’exécution à l’équipe de management ; suit quelques indicateurs.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Dépenses de formation sans lien visible avec les objectifs stratégiques ; résultats du plan précédent difficiles à prouver ; audits ISO 7101 qui révèlent des écarts de compétences.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plan priorisé au service de la stratégie, un retour mesurable, et une équipe de management capable de conduire le changement.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29768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26280" y="201168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954" y="214335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21208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Manager — directeur, responsable, pilote de processus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52628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Arbitre entre opérations quotidiennes et projets d’amélioration ; préfère des formats pratiques et courts ; s’appuie sur des personnes clés de l’équipe.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Équipe absente du poste pendant des formations longues ; écarts de compétences sur les activités critiques de Soins cliniques et infirmiers ; processus non documentés ou sans pilote.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 formations qui règlent les vrais problèmes de la fonction, appliquées dès la semaine suivante, avec des indicateurs que le manager peut suivre.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04672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75320" y="201168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3" descr="Stethosco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994" y="214335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96112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Membre de l’équipe — Soins cliniques et infirmiers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827532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Apprend en faisant et auprès des pairs ; utilise plus le téléphone que l’ordinateur ; veut savoir ce qui change au quotidien.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Nouveaux outils introduits sans explication ; formations théoriques éloignées des tâches ; peur de se tromper avec Triage IA et aide à la décision clinique.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 compétences pratiques reconnues par une attestation, moins de reprises, et un parcours clair vers le poste suivant.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FICHE DE FORMATION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TR-AI-02 — Assistance IA en imagerie médicale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 Intermédiaire · 2 jour(s) · programme PRG-1 · 4 demi-journées, 15 activités, 14 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Objectifs pédagogiques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331720"/>
            <a:ext cx="49834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Expliquer les concepts clés de Assistance IA en imagerie médicale et leur application à Soins cliniques et infirmiers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Appliquer les méthodes et outils de Assistance IA en imagerie médicale à un cas réel de Centre Hospitalier Régional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Planifier le déploiement de Assistance IA en imagerie médicale avec ses indicateurs et contrôles (ISO 7101)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Prérequis et types d’activités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8463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Culture numérique de base ; la formation Fondamentaux est recommandée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Lecture: 7 · Quiz: 4 · Workshop: 4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Déroulé par demi-journée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240280"/>
          <a:ext cx="53766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20440"/>
                <a:gridCol w="621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Demi-journée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Activités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1 — matin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Fondamentaux de Assistance IA en imagerie médicale : concepts clés et vocabulaire · Pourquoi Assistance IA en imagerie 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1 — après-midi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Méthodes et outils de Assistance IA en imagerie médicale · Exemple commenté du secteur Établissements de santé · Quiz —…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2 — matin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Gouvernance, risques et exigences ISO 7101 · Données, qualité et preuves à conserver · Quiz — scénarios de conformité e…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2 — après-midi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Transfert en situation de travail : le plan 30-60-90 jours · Évaluation finale (niveau 2 de Kirkpatrick) · Atelier — pl…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263640" y="5623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Personas : Sponsor exécutif — Directeur général · Manager — directeur, responsable, pilote de processus · Membre de l’équipe — Soins cliniques et infirmiers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FICHE DE FORMATION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TR-AI-03 — Planification IA des lits et des effectifs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 Avancé · 2.5 jour(s) · programme PRG-1 · 5 demi-journées, 19 activités, 17 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Objectifs pédagogiques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331720"/>
            <a:ext cx="49834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Expliquer les concepts clés de Planification IA des lits et des effectifs et leur application à Soins cliniques et infirmiers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Appliquer les méthodes et outils de Planification IA des lits et des effectifs à un cas réel de Centre Hospitalier Régional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Planifier le déploiement de Planification IA des lits et des effectifs avec ses indicateurs et contrôles (ISO 7101)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Prérequis et types d’activités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8463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TR-AI-01 ou expérience équivalente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Lecture: 9 · Quiz: 5 · Workshop: 5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Déroulé par demi-journée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240280"/>
          <a:ext cx="53766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20440"/>
                <a:gridCol w="621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Demi-journée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Activités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1 — matin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Fondamentaux de Planification IA des lits et des effectifs : concepts clés et vocabulaire · Pourquoi Planification IA d…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1 — après-midi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Méthodes et outils de Planification IA des lits et des effectifs · Exemple commenté du secteur Établissements de santé 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2 — matin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Gouvernance, risques et exigences ISO 7101 · Données, qualité et preuves à conserver · Quiz — scénarios de conformité e…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2 — après-midi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Déployer Planification IA des lits et des effectifs : rôles, changement et adoption · Indicateurs pour mesurer les résu…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3 — matin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Transfert en situation de travail : le plan 30-60-90 jours · Évaluation finale (niveau 2 de Kirkpatrick) · Atelier — pl…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263640" y="5623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Personas : Sponsor exécutif — Directeur général · Manager — directeur, responsable, pilote de processus · Membre de l’équipe — Soins cliniques et infirmiers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FICHE DE FORMATION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TR-AI-04 — Littératie en IA pour tous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 Fondamentaux · 1.5 jour(s) · programme PRG-2 · 3 demi-journées, 11 activités, 10 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46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Objectifs pédagogiques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331720"/>
            <a:ext cx="49834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Expliquer les concepts clés de Littératie en IA pour tous et leur application à Soins cliniques et infirmiers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Appliquer les méthodes et outils de Littératie en IA pour tous à un cas réel de Centre Hospitalier Régional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Planifier le déploiement de Littératie en IA pour tous avec ses indicateurs et contrôles (ISO 7101)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Prérequis et types d’activités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8463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Aucun — ouvert à tous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Lecture: 5 · Quiz: 3 · Workshop: 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Déroulé par demi-journée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240280"/>
          <a:ext cx="53766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20440"/>
                <a:gridCol w="621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Demi-journée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Activités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1 — matin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Fondamentaux de Littératie en IA pour tous : concepts clés et vocabulaire · Pourquoi Littératie en IA pour tous compte 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1 — après-midi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Méthodes et outils de Littératie en IA pour tous · Exemple commenté du secteur Établissements de santé · Quiz — choisir…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2 — matin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Transfert en situation de travail : le plan 30-60-90 jours · Évaluation finale (niveau 2 de Kirkpatrick) · Atelier — pl…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263640" y="5623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Personas : Sponsor exécutif — Directeur général · Manager — directeur, responsable, pilote de processus · Membre de l’équipe — Soins cliniques et infirmiers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FICHE DE FORMATION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TR-AI-05 — Prompting et IA générative au travail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 Fondamentaux · 1 jour(s) · programme PRG-2 · 2 demi-journées, 7 activités, 7 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Objectifs pédagogiques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331720"/>
            <a:ext cx="49834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Expliquer les concepts clés de Prompting et IA générative au travail et leur application à Soins cliniques et infirmiers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Appliquer les méthodes et outils de Prompting et IA générative au travail à un cas réel de Centre Hospitalier Régional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Planifier le déploiement de Prompting et IA générative au travail avec ses indicateurs et contrôles (ISO 7101)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Prérequis et types d’activités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8463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Aucun — ouvert à tous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Lecture: 3 · Quiz: 2 · Workshop: 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Déroulé par demi-journée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240280"/>
          <a:ext cx="53766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20440"/>
                <a:gridCol w="621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Demi-journée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Activités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1 — matin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Fondamentaux de Prompting et IA générative au travail : concepts clés et vocabulaire · Pourquoi Prompting et IA générat…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1 — après-midi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Transfert en situation de travail : le plan 30-60-90 jours · Évaluation finale (niveau 2 de Kirkpatrick) · Atelier — pl…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263640" y="5623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Personas : Sponsor exécutif — Directeur général · Manager — directeur, responsable, pilote de processus · Membre de l’équipe — Soins cliniques et infirmiers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FICHE DE FORMATION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TR-AI-06 — IA responsable et protection des données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 Intermédiaire · 2 jour(s) · programme PRG-2 · 4 demi-journées, 15 activités, 14 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Objectifs pédagogiques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331720"/>
            <a:ext cx="49834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Expliquer les concepts clés de IA responsable et protection des données et leur application à Soins cliniques et infirmiers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Appliquer les méthodes et outils de IA responsable et protection des données à un cas réel de Centre Hospitalier Régional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Planifier le déploiement de IA responsable et protection des données avec ses indicateurs et contrôles (ISO 7101)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Prérequis et types d’activités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8463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Culture numérique de base ; la formation Fondamentaux est recommandée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Lecture: 7 · Quiz: 4 · Workshop: 4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Déroulé par demi-journée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240280"/>
          <a:ext cx="53766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20440"/>
                <a:gridCol w="621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Demi-journée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Activités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1 — matin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Fondamentaux de IA responsable et protection des données : concepts clés et vocabulaire · Pourquoi IA responsable et pr…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1 — après-midi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Méthodes et outils de IA responsable et protection des données · Exemple commenté du secteur Établissements de santé · 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2 — matin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Gouvernance, risques et exigences ISO 7101 · Données, qualité et preuves à conserver · Quiz — scénarios de conformité e…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 2 — après-midi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Transfert en situation de travail : le plan 30-60-90 jours · Évaluation finale (niveau 2 de Kirkpatrick) · Atelier — pl…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263640" y="5623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Personas : Sponsor exécutif — Directeur général · Manager — directeur, responsable, pilote de processus · Membre de l’équipe — Soins cliniques et infirmiers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INGÉNIERIE PÉDAGOGIQUE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Parcours, modules et ressources pédagogiques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31520"/>
                <a:gridCol w="3108960"/>
                <a:gridCol w="1645920"/>
                <a:gridCol w="822960"/>
                <a:gridCol w="1856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Parcours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Module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Modalité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Heures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Conception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M1 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E-learning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Approuvé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M3 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Classe virtuelle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Approuvé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M2 Assistance IA en imagerie médicale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Présentiel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Approuvé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M4 Assistance IA en imagerie médicale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Présentiel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Approuvé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371600"/>
                <a:gridCol w="2011680"/>
                <a:gridCol w="2011680"/>
                <a:gridCol w="1856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Ressource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Format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Taille (Mo)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Date de revue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Langue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Support M1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SCORM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2027-08-03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Support M2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Video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2027-04-05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Support M3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PDF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2026-12-06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Support M4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Capsule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sections 5.3 et 5.4.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Alloué, engagé, consommé et remboursements attendus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Alloué 1 260 000, engagé 1 260 000 (100 %), réalisé 1 192 662 (95 % du prévu) ; remboursements attendus 352 800.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82880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715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Alloué (gris) et réel (azur) par formation (RIF 5.7).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828800"/>
          <a:ext cx="44622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9875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Ligne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Rembours.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347 127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100 800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266 091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84 000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243 800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67 200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Littératie en IA pour tous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156 192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50 400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et IA générative au…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118 913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33 600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IA responsable et protection 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60 539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16 800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1 192 662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352 800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4343400"/>
          <a:ext cx="44622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713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Prestataire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Agrément jusqu’au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/5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Atlas Formation Conseil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2027-04-25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Maghreb Learning Partners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2027-08-03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Déploiement, évaluation et audit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Sessions, niveaux de Kirkpatrick, ROI, audit interne et retours d’expérience</a:t>
            </a:r>
            <a:endParaRPr lang="en-US" sz="1800" dirty="0"/>
          </a:p>
        </p:txBody>
      </p:sp>
      <p:pic>
        <p:nvPicPr>
          <p:cNvPr id="8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SESSIONS ET PRÉSENCE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Quatre sessions réalisées avec leurs inscriptions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Déploiement, évaluation et audit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52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60120"/>
                <a:gridCol w="822960"/>
                <a:gridCol w="150876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Session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Capacité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Formateur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Inscrits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S-01 Triage IA et aide à la décision clin…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2026-07-19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Rachid Benjelloun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S-02 Assistance IA en imagerie médicale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Rachid Benjelloun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S-03 Triage IA et aide à la décision clin…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Rachid Benjelloun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S-04 Assistance IA en imagerie médicale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Rachid Benjelloun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818120" y="1828800"/>
            <a:ext cx="38221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01928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2" name="Image 1" descr="User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6" y="215798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595360" y="197510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12</a:t>
            </a:r>
            <a:endParaRPr lang="en-US" sz="2500" dirty="0"/>
          </a:p>
        </p:txBody>
      </p:sp>
      <p:sp>
        <p:nvSpPr>
          <p:cNvPr id="14" name="Text 8"/>
          <p:cNvSpPr txBox="1"/>
          <p:nvPr/>
        </p:nvSpPr>
        <p:spPr>
          <a:xfrm>
            <a:off x="8019288" y="2596896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apprenants présents à leur session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7818120" y="3246120"/>
            <a:ext cx="38221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19288" y="346557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Badg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16" y="3575304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595360" y="339242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12</a:t>
            </a:r>
            <a:endParaRPr lang="en-US" sz="2500" dirty="0"/>
          </a:p>
        </p:txBody>
      </p:sp>
      <p:sp>
        <p:nvSpPr>
          <p:cNvPr id="19" name="Text 12"/>
          <p:cNvSpPr txBox="1"/>
          <p:nvPr/>
        </p:nvSpPr>
        <p:spPr>
          <a:xfrm>
            <a:off x="8019288" y="4014216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inscriptions achevées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502920" y="4160520"/>
            <a:ext cx="2798064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21" name="Image 3" descr="Capture d’écran de l’applic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06240"/>
            <a:ext cx="2706624" cy="169164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4864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 tâche du processus de déploiement avec ses étapes typées.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ÉVALUATION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Résultats mesurés sur trois niveaux de Kirkpatrick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Déploiement, évaluation et audit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53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1" name="Image 1" descr="Sm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798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19751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86 %</a:t>
            </a:r>
            <a:endParaRPr lang="en-US" sz="2500" dirty="0"/>
          </a:p>
        </p:txBody>
      </p:sp>
      <p:sp>
        <p:nvSpPr>
          <p:cNvPr id="13" name="Text 8"/>
          <p:cNvSpPr txBox="1"/>
          <p:nvPr/>
        </p:nvSpPr>
        <p:spPr>
          <a:xfrm>
            <a:off x="749808" y="25968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— Réaction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297680" y="18288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498848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BookOpen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15798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074920" y="19751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93 %</a:t>
            </a:r>
            <a:endParaRPr lang="en-US" sz="2500" dirty="0"/>
          </a:p>
        </p:txBody>
      </p:sp>
      <p:sp>
        <p:nvSpPr>
          <p:cNvPr id="18" name="Text 12"/>
          <p:cNvSpPr txBox="1"/>
          <p:nvPr/>
        </p:nvSpPr>
        <p:spPr>
          <a:xfrm>
            <a:off x="4498848" y="25968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— Apprentissage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8046720" y="18288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47888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3" descr="Footpri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2157984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823960" y="19751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84 %</a:t>
            </a:r>
            <a:endParaRPr lang="en-US" sz="2500" dirty="0"/>
          </a:p>
        </p:txBody>
      </p:sp>
      <p:sp>
        <p:nvSpPr>
          <p:cNvPr id="23" name="Text 16"/>
          <p:cNvSpPr txBox="1"/>
          <p:nvPr/>
        </p:nvSpPr>
        <p:spPr>
          <a:xfrm>
            <a:off x="8247888" y="25968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— Comportement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2103120"/>
                <a:gridCol w="2743200"/>
                <a:gridCol w="16733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Niveau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Ce qui est mesuré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Quand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Instrument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Résultats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 — Réaction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Satisfaction et utilité perçue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 de chaque session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Questionnaire de satisfaction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× 86 %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— Apprentissage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Connaissances et compétences acquises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 de la 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Test avant/après, étude de cas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× 93 %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 — Comportement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Mise en œuvre au poste de travail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Trois mois après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Grille d’observation du manager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× 84 %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 — Résultats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Effet sur les indicateurs de la fonction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Six à douze mois après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Indicateurs de la fonction (KPI)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25" name="Text 17"/>
          <p:cNvSpPr txBox="1"/>
          <p:nvPr/>
        </p:nvSpPr>
        <p:spPr>
          <a:xfrm>
            <a:off x="548640" y="5212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Certifications (RIF 5.10) : 4 valides, 1 à échéance proche, 1 expirée — l’expirée déclenche une alerte et une session de renouvellement.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RÉSULTATS D’ÉVALUATION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évaluation enregistrée avec son score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évaluations reliées aux inscriptions des sessions (E2E-07)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Déploiement, évaluation et audit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54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 moyen par niveau de Kirkpatrick.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28800"/>
          <a:ext cx="496519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11247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Évaluation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Niveau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Kirkpatrick niveau 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93 %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Kirkpatrick niveau 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79 %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Kirkpatrick niveau 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93 %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Kirkpatrick niveau 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92 %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Kirkpatrick niveau 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76 %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Kirkpatrick niveau 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92 %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CERTIFICATIONS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Certifications suivies, renouvellements planifiés avant échéance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Exigences réglementaires et d’accréditation par agent (E2E-09)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Déploiement, évaluation et audit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55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2" name="Image 1" descr="Badg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798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19751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500" dirty="0"/>
          </a:p>
        </p:txBody>
      </p:sp>
      <p:sp>
        <p:nvSpPr>
          <p:cNvPr id="14" name="Text 9"/>
          <p:cNvSpPr txBox="1"/>
          <p:nvPr/>
        </p:nvSpPr>
        <p:spPr>
          <a:xfrm>
            <a:off x="749808" y="259689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certifications valides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79392" y="182880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480560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Calendar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215798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056632" y="19751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500" dirty="0"/>
          </a:p>
        </p:txBody>
      </p:sp>
      <p:sp>
        <p:nvSpPr>
          <p:cNvPr id="19" name="Text 13"/>
          <p:cNvSpPr txBox="1"/>
          <p:nvPr/>
        </p:nvSpPr>
        <p:spPr>
          <a:xfrm>
            <a:off x="4480560" y="259689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à échéance sous 90 jours : session de renouvellement planifiée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10144" y="1828800"/>
            <a:ext cx="36301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11312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3" descr="BellR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15798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787384" y="1975104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500" dirty="0"/>
          </a:p>
        </p:txBody>
      </p:sp>
      <p:sp>
        <p:nvSpPr>
          <p:cNvPr id="24" name="Text 17"/>
          <p:cNvSpPr txBox="1"/>
          <p:nvPr/>
        </p:nvSpPr>
        <p:spPr>
          <a:xfrm>
            <a:off x="8211312" y="2596896"/>
            <a:ext cx="3264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expirée(s) : alerte envoyée au manager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2194560"/>
                <a:gridCol w="23134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Certification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Exigence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Valide jusqu’au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Sensibilisation 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2026-08-18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Sensibilisation 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2026-11-16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Expirée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Sensibilisation 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2027-02-14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Sensibilisation 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2027-05-15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Expire bientôt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Sensibilisation 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2027-08-13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Sensibilisation 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2027-11-11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 ET IMPACT MÉTIER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ROI de Phillips et indicateurs de l’étude ROI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 de ROI et d’impact métier — Centre Hospitalier Régional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Déploiement, évaluation et audit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56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2" name="Image 1" descr="Trending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798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108</a:t>
            </a:r>
            <a:endParaRPr lang="en-US" sz="2500" dirty="0"/>
          </a:p>
        </p:txBody>
      </p:sp>
      <p:sp>
        <p:nvSpPr>
          <p:cNvPr id="14" name="Text 9"/>
          <p:cNvSpPr txBox="1"/>
          <p:nvPr/>
        </p:nvSpPr>
        <p:spPr>
          <a:xfrm>
            <a:off x="749808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 de la formation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355848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557016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15798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133088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4.5</a:t>
            </a:r>
            <a:endParaRPr lang="en-US" sz="2500" dirty="0"/>
          </a:p>
        </p:txBody>
      </p:sp>
      <p:sp>
        <p:nvSpPr>
          <p:cNvPr id="19" name="Text 13"/>
          <p:cNvSpPr txBox="1"/>
          <p:nvPr/>
        </p:nvSpPr>
        <p:spPr>
          <a:xfrm>
            <a:off x="3557016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Satisfaction moyenne de niveau 1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163056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64224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3" descr="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15798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40296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75.6</a:t>
            </a:r>
            <a:endParaRPr lang="en-US" sz="2500" dirty="0"/>
          </a:p>
        </p:txBody>
      </p:sp>
      <p:sp>
        <p:nvSpPr>
          <p:cNvPr id="24" name="Text 17"/>
          <p:cNvSpPr txBox="1"/>
          <p:nvPr/>
        </p:nvSpPr>
        <p:spPr>
          <a:xfrm>
            <a:off x="6364224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Taux de progression des compétences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970264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171432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7" name="Image 4" descr="Sca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15798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747504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4.1</a:t>
            </a:r>
            <a:endParaRPr lang="en-US" sz="2500" dirty="0"/>
          </a:p>
        </p:txBody>
      </p:sp>
      <p:sp>
        <p:nvSpPr>
          <p:cNvPr id="29" name="Text 21"/>
          <p:cNvSpPr txBox="1"/>
          <p:nvPr/>
        </p:nvSpPr>
        <p:spPr>
          <a:xfrm>
            <a:off x="9171432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Écart d'exécution budgétaire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3931920"/>
                <a:gridCol w="1005840"/>
                <a:gridCol w="1645920"/>
                <a:gridCol w="10332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Indicateur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Formule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Cible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Dernière valeur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KPI-037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ROI de la 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(Bénéfices nets du programme / coûts du programme) x 100 (Phillips)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108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Satisfaction moyenne de niveau 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Score moyen de réaction sur les sessions clôturées (1-5)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4,2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4.5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de progression des compétences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Apprenants gagnant au moins un niveau en 6 mois / apprenants formés x…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70 %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75.6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KPI-022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 d'exécution budgétaire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|Réel - alloué| / alloué x 100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5 %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4.1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KPI-023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de recouvrement des remboursements OFPPT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Remboursements reçus / remboursements prévus x 100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90 %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97.2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31" name="Text 22"/>
          <p:cNvSpPr txBox="1"/>
          <p:nvPr/>
        </p:nvSpPr>
        <p:spPr>
          <a:xfrm>
            <a:off x="54864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rapport ROI et impact métier (DT-E2E-08), section indicateurs.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 INTERNE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 d’audit — Centre Hospitalier Régional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Conforme avec une non-conformité mineure à corriger sous 60 jours.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Déploiement, évaluation et audit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57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Constats par niveau.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828800"/>
          <a:ext cx="624535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554480"/>
                <a:gridCol w="1097280"/>
                <a:gridCol w="30449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Niveau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Exigence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Constat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Non-conformité mineure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7.2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Deux formateurs n’ont pas de preuve de compétence au dossier.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Observation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9.1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Les évaluations de niveau 3 sont prévues mais pas encore planifiées.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Piste d’amélioration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7.1.6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Capitaliser les retours d’expérience à la fin de chaque session.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Point fort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7.2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Analyse des besoins entièrement tracée depuis les objectifs stratégiques.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548640" y="5120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Points forts: Analyse des besoins claire ; forte implication du management ; feuilles de présence complètes.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Suivi: Vérification de l’action corrective au prochain comité de pilotage.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D’ACTIONS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 actions correctives portées, datées et évaluées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Actions issues de l’audit et des indicateurs, chacune avec un porteur et un évaluateur (gouvernance)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Déploiement, évaluation et audit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58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Échéance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Statut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Mettre à jour 11 fiches de poste obsolètes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2026-07-09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Ouverte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Contractualiser un second prestataire de formation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2026-06-09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Terminée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589520" y="1828800"/>
            <a:ext cx="4050792" cy="4023360"/>
          </a:xfrm>
          <a:prstGeom prst="roundRect">
            <a:avLst>
              <a:gd name="adj" fmla="val 2273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 les actions sont gouvernées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818120" y="246888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4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292" y="2561052"/>
            <a:ext cx="199705" cy="199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66760" y="2441448"/>
            <a:ext cx="31089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porteur réalise l’action, une autre personne en évalue l’efficacité.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818120" y="352044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3612612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366760" y="3493008"/>
            <a:ext cx="31089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 action en retard déclenche une alerte au porteur et au chef de projet.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7818120" y="457200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0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292" y="4664172"/>
            <a:ext cx="199705" cy="199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366760" y="4544568"/>
            <a:ext cx="31089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clôture exige l’évaluation : le constat d’audit n’est clos qu’ensuite.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RETOUR D’EXPÉRIENCE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REX — Triage IA et aide à la décision clinique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Déploiement, évaluation et audit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E7F9F0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1" name="Image 1" descr="Thumbs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218907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7724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a bien fonctionné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777240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registre des parties prenantes et la diffusion multicanale ont fait progresser le taux de réponse.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3355848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4C7C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584448" y="205740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Triangle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122" y="218907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584448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n’a pas fonctionné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584448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éléments SWOT d'une fonction sont arrivés en retard.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163056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3B0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391656" y="205740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0" y="218907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391656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Cause racine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391656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Aucun suppléant désigné pour le responsable de fonction.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970264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9198864" y="205740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6" name="Image 4" descr="Lightbul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538" y="218907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198864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nous ferons la prochaine fois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9198864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Désigner un suppléant pour chaque responsable de fonction dès le lancement.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 produits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documents publiés en français, chacun relié à ses données</a:t>
            </a:r>
            <a:endParaRPr lang="en-US" sz="1800" dirty="0"/>
          </a:p>
        </p:txBody>
      </p:sp>
      <p:pic>
        <p:nvPicPr>
          <p:cNvPr id="8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processus de bout en bout laisse son document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Tous publiés, versionnés et approuvés par une seconde personne — 1 105 pages.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61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annuel de formation et budget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 des écarts de compétences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des besoins de formation et feuille de route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Dossier de conception pédagogique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réalisation des formations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d’engagement des apprenants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d’évaluation des formations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ROI et d’impact métier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Registre de conformité et des certifications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Mobilité interne et parcours de carrière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Dossier du programme d’intégration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Capitalisation et transfert des connaissances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Catalogue et cycle de vie des contenus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formation de l’entreprise étendue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Gouvernance des données, de l’IA et des intégrations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Dossier de gestion des prestataires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de conduite du changement et d’adoption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qualité, risques et amélioration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clôture de mission de conseil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diagnostic multi-axes et de maturité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 produits (suite)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62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Évaluation de l’impact du plan précédent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de déploiement multi-sites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Dossier de soumission réglementaire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Note de veille concurrentielle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Architecture des emplois et cartographie des compétences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Gestion prévisionnelle des emplois et compétences (GPEC)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Consolidation des demandes de formation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Évaluation des performances et tableau RAG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SWOT fonctionnel et axes d’amélioration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de ressources priorisé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Feuille de route post-mission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Cahier des charges et registre des parties prenantes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campagne de questionnaires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DT-TER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d’ingénierie de formation et plan de formation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de formation avec programmes détaillés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DT-AUDIT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d’audit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DT-MASTER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Liste maîtresse des informations documentées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DANS L’APPLICATION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 les équipes ont saisi et gouverné les données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CortexSkills 1.11 — SRS Standard Application v1.8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2" name="Image 1" descr="ListChe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17810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Formulaires d’étape typés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étape demande ce qu’elle produit : enregistrements, matrices, décisions ; chaque ligne est enregistrée, avec annulation.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297680" y="182880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26280" y="2057400"/>
            <a:ext cx="502920" cy="50292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7" name="Image 2" descr="Maximize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81" y="217810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6636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Saisie plein écran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4526280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Tout tableau s’ouvre en plein écran avec zoom (50–200 %), ajout, enregistrement et retour à la même ligne.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8046720" y="182880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75320" y="2057400"/>
            <a:ext cx="502920" cy="50292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22" name="Image 3" descr="ClipboardPas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021" y="2178101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91540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Coller depuis Excel ou Word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8275320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listes d’agents ou de formations se collent en une fois, vérifiées cellule par cellule, enregistrées et annulables en une opération.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393192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7" name="Image 4" descr="Wall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281221"/>
            <a:ext cx="261518" cy="26151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17320" y="4206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Montants avec leur devise</a:t>
            </a:r>
            <a:endParaRPr lang="en-US" sz="1350" dirty="0"/>
          </a:p>
        </p:txBody>
      </p:sp>
      <p:sp>
        <p:nvSpPr>
          <p:cNvPr id="29" name="Text 21"/>
          <p:cNvSpPr txBox="1"/>
          <p:nvPr/>
        </p:nvSpPr>
        <p:spPr>
          <a:xfrm>
            <a:off x="777240" y="4800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budgets portent leur devise ; un total ne mélange jamais des devises sans taux et date indiqués.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4297680" y="393192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4526280" y="4160520"/>
            <a:ext cx="502920" cy="50292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2" name="Image 5" descr="User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981" y="4281221"/>
            <a:ext cx="261518" cy="26151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166360" y="4206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Publication à deux personnes</a:t>
            </a:r>
            <a:endParaRPr lang="en-US" sz="1350" dirty="0"/>
          </a:p>
        </p:txBody>
      </p:sp>
      <p:sp>
        <p:nvSpPr>
          <p:cNvPr id="34" name="Text 25"/>
          <p:cNvSpPr txBox="1"/>
          <p:nvPr/>
        </p:nvSpPr>
        <p:spPr>
          <a:xfrm>
            <a:off x="4526280" y="4800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document n’est publié qu’après l’approbation d’une seconde personne ; chaque version est conservée.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8046720" y="393192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8275320" y="4160520"/>
            <a:ext cx="502920" cy="50292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7" name="Image 6" descr="Histor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021" y="4281221"/>
            <a:ext cx="261518" cy="261518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915400" y="4206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Piste d’audit</a:t>
            </a:r>
            <a:endParaRPr lang="en-US" sz="1350" dirty="0"/>
          </a:p>
        </p:txBody>
      </p:sp>
      <p:sp>
        <p:nvSpPr>
          <p:cNvPr id="39" name="Text 29"/>
          <p:cNvSpPr txBox="1"/>
          <p:nvPr/>
        </p:nvSpPr>
        <p:spPr>
          <a:xfrm>
            <a:off x="8275320" y="4800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modification, collage et approbation est enregistré avec son auteur, sa date et sa justification.</a:t>
            </a:r>
            <a:endParaRPr lang="en-US" sz="11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TRAÇABILITÉ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chiffre du rapport provient d’un enregistrement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tableau de ce document provient des enregistrements de l’application ; données au 07/10/2026 15:28:07.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  ·  Données de démonstration — organisation fictive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64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  <a:gridCol w="118872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Source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Enreg.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Processus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Dernière modif.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Réponses aux questionnaires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MP-54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Stakeholder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MP-53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ScopeCriterion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MP-52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SkillAssessment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SkillGap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TrainingNeed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RoadmapInitiative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WbsNode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MP-49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Session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TrainingPlan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MP-49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Employee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StrategicObjective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269480" y="1828800"/>
            <a:ext cx="4370832" cy="4023360"/>
          </a:xfrm>
          <a:prstGeom prst="roundRect">
            <a:avLst>
              <a:gd name="adj" fmla="val 2273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49808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Gouvernance des documents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498080" y="246888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4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252" y="2561052"/>
            <a:ext cx="199705" cy="199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46720" y="2441448"/>
            <a:ext cx="3429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Auteur Leila Chraibi, approbateur Soukaina Ouazzani : deux personnes différentes.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498080" y="352044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252" y="3612612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046720" y="3493008"/>
            <a:ext cx="3429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version est conservée ; un changement des données marque le document comme obsolète.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7498080" y="457200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0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252" y="4664172"/>
            <a:ext cx="199705" cy="199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046720" y="4544568"/>
            <a:ext cx="3429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sources de données listées avec leur nombre d’enregistrements et leur processus.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DANS L’APPLICATION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plan de formation tel que les utilisateurs le voient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65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0292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0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486400" cy="3429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avec programmes détaillés — Centre Hospitalier Régional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612648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3" name="Image 2" descr="Capture d’écran de l’appli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5486400" cy="34290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Écran du plan de formation : programmes, formations et sessions.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DANS L’APPLICATION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L’espace projet et le tableau de bord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66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0292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0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486400" cy="3429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Espace projet : phases, processus et avancement.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612648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3" name="Image 2" descr="Capture d’écran de l’appli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5486400" cy="34290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Tableau de bord de l’hôpital.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l’hôpital obtient en fin de cycle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  ·  Données de démonstration — organisation fictive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67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0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12" y="2012412"/>
            <a:ext cx="199705" cy="1997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189280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Rapport d’ingénierie de formation de 210 pages, construit à partir de 37 réponses, 40 parties prenantes et du diagnostic de chaque fonction.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3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2789652"/>
            <a:ext cx="199705" cy="1997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7280" y="267004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Plan de formation verrouillé : 6 formations, des déroulés par demi-journée, une proposition de valeur par persona et un budget de 1 260 000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3566892"/>
            <a:ext cx="199705" cy="199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344728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 évaluation sur trois niveaux de Kirkpatrick, une étude ROI, des certifications suivies et un audit interne avec une non-conformité mineure à corriger.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9" name="Image 4" descr="CircleD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4344132"/>
            <a:ext cx="199705" cy="1997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97280" y="422452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documents publiés, prêts pour un audit d’accréditation (ISO 7101, JCI), chacun relié aux données et à l’étape qui l’a produit.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5" descr="Targ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2" y="5121372"/>
            <a:ext cx="199705" cy="1997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097280" y="500176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Ensuite : vagues 2 et 3 de la feuille de route et évaluation de niveau 4 (résultats) six à douze mois après les formations.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9928" y="1371600"/>
            <a:ext cx="3291840" cy="234452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406908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Merci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MEASURABLE · GOVERNED · SUSTAINABLE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AI Value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 complet santé — Projet d’ingénierie de formation</dc:title>
  <dc:subject>PptxGenJS Presentation</dc:subject>
  <dc:creator>AI Value</dc:creator>
  <cp:lastModifiedBy>AI Value</cp:lastModifiedBy>
  <cp:revision>1</cp:revision>
  <dcterms:created xsi:type="dcterms:W3CDTF">2026-10-12T22:25:56Z</dcterms:created>
  <dcterms:modified xsi:type="dcterms:W3CDTF">2026-10-12T22:25:56Z</dcterms:modified>
</cp:coreProperties>
</file>
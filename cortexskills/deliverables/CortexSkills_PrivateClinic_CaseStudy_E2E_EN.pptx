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charts/chart1.xml" ContentType="application/vnd.openxmlformats-officedocument.drawingml.chart+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Lst>
  <p:notesMasterIdLst>
    <p:notesMasterId r:id="rId9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4b9f092-3c92-993b-3bc6-65b42b04a7b2}">
          <p14:sldIdLst>
            <p14:sldId id="257"/>
            <p14:sldId id="258"/>
            <p14:sldId id="259"/>
            <p14:sldId id="260"/>
            <p14:sldId id="261"/>
            <p14:sldId id="262"/>
            <p14:sldId id="263"/>
            <p14:sldId id="264"/>
          </p14:sldIdLst>
        </p14:section>
        <p14:section name="Phase 1 — Scope &amp; evidence" id="{eeb8284f-3f6d-dc6d-8373-b2dca229765d}">
          <p14:sldIdLst>
            <p14:sldId id="265"/>
            <p14:sldId id="266"/>
            <p14:sldId id="267"/>
            <p14:sldId id="268"/>
            <p14:sldId id="269"/>
            <p14:sldId id="270"/>
            <p14:sldId id="271"/>
            <p14:sldId id="272"/>
            <p14:sldId id="273"/>
          </p14:sldIdLst>
        </p14:section>
        <p14:section name="Phase 2 — Diagnosis" id="{25850874-0be4-53a0-8530-2a9495101739}">
          <p14:sldIdLst>
            <p14:sldId id="274"/>
            <p14:sldId id="275"/>
            <p14:sldId id="276"/>
            <p14:sldId id="277"/>
            <p14:sldId id="278"/>
            <p14:sldId id="279"/>
            <p14:sldId id="280"/>
            <p14:sldId id="281"/>
            <p14:sldId id="282"/>
            <p14:sldId id="283"/>
            <p14:sldId id="284"/>
            <p14:sldId id="285"/>
            <p14:sldId id="286"/>
            <p14:sldId id="287"/>
            <p14:sldId id="288"/>
            <p14:sldId id="289"/>
            <p14:sldId id="290"/>
          </p14:sldIdLst>
        </p14:section>
        <p14:section name="Phase 3 — Training Engineering Report &amp; plan" id="{9e932dcf-262c-8d7a-2050-f1f1ddd13093}">
          <p14:sldIdLst>
            <p14:sldId id="291"/>
            <p14:sldId id="292"/>
            <p14:sldId id="293"/>
            <p14:sldId id="294"/>
            <p14:sldId id="295"/>
            <p14:sldId id="296"/>
            <p14:sldId id="297"/>
            <p14:sldId id="298"/>
            <p14:sldId id="299"/>
            <p14:sldId id="300"/>
            <p14:sldId id="301"/>
            <p14:sldId id="302"/>
            <p14:sldId id="303"/>
          </p14:sldIdLst>
        </p14:section>
        <p14:section name="Phase 4 — Design &amp; delivery" id="{7fb6702f-b140-2d13-3ef4-d5c4cfbb9653}">
          <p14:sldIdLst>
            <p14:sldId id="304"/>
            <p14:sldId id="305"/>
            <p14:sldId id="306"/>
            <p14:sldId id="307"/>
            <p14:sldId id="308"/>
            <p14:sldId id="309"/>
            <p14:sldId id="310"/>
            <p14:sldId id="311"/>
            <p14:sldId id="312"/>
            <p14:sldId id="313"/>
            <p14:sldId id="314"/>
          </p14:sldIdLst>
        </p14:section>
        <p14:section name="Phase 5 — Evaluation, compliance &amp; impact" id="{3c6086bc-346a-3343-1f42-8ba4c3e0a190}">
          <p14:sldIdLst>
            <p14:sldId id="315"/>
            <p14:sldId id="316"/>
            <p14:sldId id="317"/>
            <p14:sldId id="318"/>
            <p14:sldId id="319"/>
            <p14:sldId id="320"/>
            <p14:sldId id="321"/>
            <p14:sldId id="322"/>
          </p14:sldIdLst>
        </p14:section>
        <p14:section name="Phase 6 — Talent, knowledge &amp; continuous improvement" id="{d1703dc1-783f-2c46-c8f2-41fdc133cfc2}">
          <p14:sldIdLst>
            <p14:sldId id="323"/>
            <p14:sldId id="324"/>
            <p14:sldId id="325"/>
            <p14:sldId id="326"/>
            <p14:sldId id="327"/>
            <p14:sldId id="328"/>
            <p14:sldId id="329"/>
            <p14:sldId id="330"/>
            <p14:sldId id="331"/>
          </p14:sldIdLst>
        </p14:section>
        <p14:section name="Phase 0 — Enablers (run across all phases)" id="{b01e7b68-3c8a-48bd-779b-8e1bead28f77}">
          <p14:sldIdLst>
            <p14:sldId id="332"/>
            <p14:sldId id="333"/>
            <p14:sldId id="334"/>
            <p14:sldId id="335"/>
            <p14:sldId id="336"/>
            <p14:sldId id="337"/>
            <p14:sldId id="338"/>
          </p14:sldIdLst>
        </p14:section>
        <p14:section name="Results and next steps" id="{973f1886-03c9-fd22-7fc6-5da0011bd066}">
          <p14:sldIdLst>
            <p14:sldId id="339"/>
            <p14:sldId id="340"/>
            <p14:sldId id="341"/>
            <p14:sldId id="342"/>
            <p14:sldId id="343"/>
            <p14:sldId id="344"/>
            <p14:sldId id="345"/>
            <p14:sldId id="346"/>
            <p14:sldId id="34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notesMaster" Target="notesMasters/notesMaster1.xml"/><Relationship Id="rId95" Type="http://schemas.openxmlformats.org/officeDocument/2006/relationships/presProps" Target="presProps.xml"/><Relationship Id="rId96" Type="http://schemas.openxmlformats.org/officeDocument/2006/relationships/viewProps" Target="viewProps.xml"/><Relationship Id="rId97" Type="http://schemas.openxmlformats.org/officeDocument/2006/relationships/theme" Target="theme/theme1.xml"/><Relationship Id="rId9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A3A3C"/>
                </a:solidFill>
                <a:latin typeface="+mj-lt"/>
              </a:defRPr>
            </a:pPr>
            <a:r>
              <a:rPr sz="1400" b="0" i="0" u="none" strike="noStrike">
                <a:solidFill>
                  <a:srgbClr val="3A3A3C"/>
                </a:solidFill>
                <a:latin typeface="+mj-lt"/>
              </a:rPr>
              <a:t>Results of session S-01 (%)</a:t>
            </a:r>
          </a:p>
        </c:rich>
      </c:tx>
      <c:layout/>
      <c:overlay val="0"/>
    </c:title>
    <c:autoTitleDeleted val="0"/>
    <c:plotArea>
      <c:layout/>
      <c:barChart>
        <c:barDir val="col"/>
        <c:grouping val="clustered"/>
        <c:varyColors val="0"/>
        <c:ser>
          <c:idx val="0"/>
          <c:order val="0"/>
          <c:tx>
            <c:strRef>
              <c:f>Sheet1!$B$1</c:f>
              <c:strCache>
                <c:ptCount val="1"/>
                <c:pt idx="0">
                  <c:v>Score (%)</c:v>
                </c:pt>
              </c:strCache>
            </c:strRef>
          </c:tx>
          <c:spPr>
            <a:solidFill>
              <a:srgbClr val="808184"/>
            </a:solidFill>
            <a:effectLst/>
          </c:spPr>
          <c:invertIfNegative val="0"/>
          <c:dLbls>
            <c:numFmt formatCode="#,##0" sourceLinked="0"/>
            <c:txPr>
              <a:bodyPr/>
              <a:lstStyle/>
              <a:p>
                <a:pPr>
                  <a:defRPr b="0" i="0" strike="noStrike" sz="1200" u="none">
                    <a:solidFill>
                      <a:srgbClr val="3A3A3C"/>
                    </a:solidFill>
                    <a:latin typeface="+mn-lt"/>
                  </a:defRPr>
                </a:pPr>
              </a:p>
            </c:txPr>
            <c:showLegendKey val="0"/>
            <c:showVal val="1"/>
            <c:showCatName val="0"/>
            <c:showSerName val="0"/>
            <c:showPercent val="0"/>
            <c:showBubbleSize val="0"/>
            <c:showLeaderLines val="0"/>
          </c:dLbls>
          <c:dPt>
            <c:idx val="0"/>
            <c:invertIfNegative val="0"/>
            <c:bubble3D val="0"/>
            <c:spPr>
              <a:solidFill>
                <a:srgbClr val="808184"/>
              </a:solidFill>
              <a:effectLst/>
            </c:spPr>
          </c:dPt>
          <c:dPt>
            <c:idx val="1"/>
            <c:invertIfNegative val="0"/>
            <c:bubble3D val="0"/>
            <c:spPr>
              <a:solidFill>
                <a:srgbClr val="808184"/>
              </a:solidFill>
              <a:effectLst/>
            </c:spPr>
          </c:dPt>
          <c:dPt>
            <c:idx val="2"/>
            <c:invertIfNegative val="0"/>
            <c:bubble3D val="0"/>
            <c:spPr>
              <a:solidFill>
                <a:srgbClr val="F8931D"/>
              </a:solidFill>
              <a:effectLst/>
            </c:spPr>
          </c:dPt>
          <c:dPt>
            <c:idx val="3"/>
            <c:invertIfNegative val="0"/>
            <c:bubble3D val="0"/>
            <c:spPr>
              <a:solidFill>
                <a:srgbClr val="F8931D"/>
              </a:solidFill>
              <a:effectLst/>
            </c:spPr>
          </c:dPt>
          <c:cat>
            <c:multiLvlStrRef>
              <c:f>Sheet1!$A$2:$A$5</c:f>
              <c:multiLvlStrCache>
                <c:ptCount val="4"/>
                <c:lvl>
                  <c:pt idx="0">
                    <c:v>Satisfaction (4.3 / 5)</c:v>
                  </c:pt>
                  <c:pt idx="1">
                    <c:v>Pre-test</c:v>
                  </c:pt>
                  <c:pt idx="2">
                    <c:v>Post-test</c:v>
                  </c:pt>
                  <c:pt idx="3">
                    <c:v>Apply at day 30</c:v>
                  </c:pt>
                </c:lvl>
              </c:multiLvlStrCache>
            </c:multiLvlStrRef>
          </c:cat>
          <c:val>
            <c:numRef>
              <c:f>Sheet1!$B$2:$B$5</c:f>
              <c:numCache>
                <c:formatCode>General</c:formatCode>
                <c:ptCount val="4"/>
                <c:pt idx="0">
                  <c:v>86</c:v>
                </c:pt>
                <c:pt idx="1">
                  <c:v>48</c:v>
                </c:pt>
                <c:pt idx="2">
                  <c:v>81</c:v>
                </c:pt>
                <c:pt idx="3">
                  <c:v>82</c:v>
                </c:pt>
              </c:numCache>
            </c:numRef>
          </c:val>
        </c:ser>
        <c:dLbls>
          <c:numFmt formatCode="#,##0" sourceLinked="0"/>
          <c:txPr>
            <a:bodyPr/>
            <a:lstStyle/>
            <a:p>
              <a:pPr>
                <a:defRPr b="0" i="0" strike="noStrike" sz="1200" u="none">
                  <a:solidFill>
                    <a:srgbClr val="3A3A3C"/>
                  </a:solidFill>
                  <a:latin typeface="+mn-lt"/>
                </a:defRPr>
              </a:pPr>
            </a:p>
          </c:txPr>
          <c:showLegendKey val="0"/>
          <c:showVal val="1"/>
          <c:showCatName val="0"/>
          <c:showSerName val="0"/>
          <c:showPercent val="0"/>
          <c:showBubbleSize val="0"/>
          <c:showLeaderLines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8595B"/>
                </a:solidFill>
                <a:latin typeface="+mn-lt"/>
              </a:defRPr>
            </a:pPr>
            <a:endParaRPr lang="en-US"/>
          </a:p>
        </c:txPr>
        <c:crossAx val="2094734552"/>
        <c:crosses val="autoZero"/>
        <c:auto val="1"/>
        <c:lblAlgn val="ctr"/>
        <c:noMultiLvlLbl val="1"/>
      </c:catAx>
      <c:valAx>
        <c:axId val="2094734552"/>
        <c:scaling>
          <c:orientation val="minMax"/>
          <c:max val="100"/>
        </c:scaling>
        <c:delete val="0"/>
        <c:axPos val="l"/>
        <c:majorGridlines>
          <c:spPr>
            <a:ln w="6350" cap="flat">
              <a:solidFill>
                <a:srgbClr val="E3E3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0818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Case study of a private clinic group run end to end in CortexSkills. Every figure and every screen comes from the application.</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Three messages: the evidence comes first, the plan is approved on facts, and delivery is measured up to business impact.</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The client and what it wanted: the two strategic objectives typed in step MP-01.1 and the priority competency families.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Read the process slides with this grid: a process groups tasks; each task executes one or more steps of a macro process.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Scope &amp; evidence</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E2E-32 Scope-of-Work-to-Engineering-Plan — This root chain frames a training engineering engagement before any data is collected. It records whether the scope covers a Group or a single Organization, the sector, the decision levels (Strategic Management — MS, Operational Management — MO, Operational Level — OP, or a custom level), the functions in scope, the focus (all training needs, Digital, AI or custom) and any custom criteria. It then identifies the stakeholders who will respond, has the scope validated by the Head of L&amp;D and approved by the HR Director or the Consultant PM, and publishes it to questionnaire design and needs analysis. Any change after approval requires re-validation.
Trigger: New training engineering engagement, annual plan cycle, or executive request.
End state: Approved Scope of Work with criteria matrix and stakeholder register released to questionnaire design (E2E-33) and needs analysis (E2E-03).</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E2E-32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E2E-33 Questionnaire-to-Response-Collection — This root chain turns the approved Scope of Work into evidence. The L&amp;D Analyst selects a template by focus and sector and elaborates the questionnaire by loading a template, generating questions with AI, or writing them manually; every AI-generated or AI-tailored question is validated by a human before distribution. RACSI roles are allocated to each section, with exactly one Accountable. The questionnaire is then distributed through the channels each stakeholder uses (Face-to-Face, Email, Hybrid or Custom), reminders follow a per-channel cadence, and responses are collected — offline for Face-to-Face, with later synchronisation. No response is stored without consent. Complete responses are consolidated into a tenant-scoped dataset that feeds the needs analysis, the diagnostic and the Training Engineering Report.
Trigger: An approved Scope of Work becomes available (end of E2E-32).
End state: Consolidated, validated questionnaire response dataset feeding needs analysis (E2E-03), diagnostic (E2E-20) and demand collection (E2E-27).</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E2E-33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E2E-19 Consulting Engagement-to-Closure — This consulting root chain registers the engagement and purchase order, holds the kickoff with AI-drafted minutes, plans the work breakdown, tracks deliverables and closes with acceptance and REX.
Trigger: Client purchase order or engagement request received.
End state: Engagement closed with client acceptance and REX recorded.</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E2E-19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E2E-24 Competitive Intelligence-to-Strategy — This root chain analyzes the external business environment using Porter's Five Forces, market segmentation, and competitor benchmarking. It produces strategic implications for L&amp;D and feeds into the strategy, diagnostic, and functional SWOT processes.
Trigger: Annual strategy cycle or executive request for market positioning analysis.
End state: Validated competitive intelligence report feeding into L&amp;D strategy and organizational diagnostic.</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E2E-24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Diagnosis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E2E-20 Multi-Axis Diagnostic-to-Maturity Report — This diagnostic root chain defines the axes and sample, collects interview and questionnaire evidence, scores the axes, assesses CMM and leadership maturity, and validates the findings with the sponsor.
Trigger: Engagement kickoff or approved Scope of Work requesting a diagnostic.
End state: 5-axis diagnostic, CMM maturity and leadership maturity report validated with the sponsor.</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E2E-20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E2E-25 Job Architecture-to-Competency Map — This root chain manages the organization's job architecture (organizational charts, position descriptions, role profiles), conducts gap analysis between existing descriptions and reality, and aligns the architecture with the competency framework.
Trigger: Organizational change, new role creation, or annual job architecture review.
End state: Approved organizational charts, position descriptions, and competency maps with gap analysis.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E2E-25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E2E-26 GPEC-to-Training Plan — This root chain integrates GPEC (Gestion Prévisionnelle des Emplois et des Compétences — Forward Planning of Jobs and Skills) and HR strategic orientations into the training engineering process. It ensures L&amp;D supports workforce planning, career paths, and HR strategy.
Trigger: Annual HR strategic planning cycle or GPEC (Forward Planning of Jobs and Skills) review.
End state: Training plan aligned with GPEC and HR strategic orientations.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E2E-26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E2E-27 Demand Collection-to-Consolidation — This root chain collects individual and collective training demands from all levels of the organization and consolidates them into a structured demand repository. It is the bottom-up complement to the top-down needs analysis.
Trigger: Annual training plan cycle or ad-hoc demand collection request.
End state: Consolidated and prioritized demand repository integrated into the training needs analysis.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E2E-27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E2E-28 Performance Assessment-to-RAG Dashboard — This root chain assesses and visualizes organizational performance across three management levels — Strategic Management (MS), Operational Management (MO), and Operational Level (OP) — using a Green/Amber/Red (RAG) rating system. It feeds into the multi-axis diagnostic and functional SWOT.
Trigger: Annual performance cycle or management request for performance visualization.
End state: Validated MS/MO/OP (Strategic Management / Operational Management / Operational Level) performance assessment with RAG (Green/Amber/Red) dashboards.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E2E-28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E2E-29 Functional SWOT-to-Improvement Axes — This root chain conducts SWOT (Strengths, Weaknesses, Opportunities, Threats) analysis at the function/department level and defines improvement axes for each function. It feeds into the multi-axis diagnostic and the Training Engineering Report.
Trigger: Diagnostic phase of a training engineering engagement or annual functional review.
End state: Validated functional SWOT reports with prioritized improvement axes per function.</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E2E-29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E2E-02 Skills-to-Gap Diagnosis — This partition of E2E-01 maintains the competency framework, runs the skills assessment campaign, validates the inventory and computes the gap matrix that feeds the flagship report.
Trigger: Approved annual L&amp;D plan or a scheduled skills assessment campaign.
End state: Validated skills gap diagnosis released to needs analysis.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E2E-02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E2E-21 Previous Plan Impact-to-Strategy Update — This root chain loads N-1 plan execution data, defines impact criteria, surveys participants and managers, compares planned against realized, drafts conclusions and feeds them into the strategy update.
Trigger: Start of a new plan cycle with N-1 execution data available.
End state: N-1 impact conclusions fed into the strategy update.</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E2E-21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Training Engineering Report &amp; plan</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E2E-01 Strategy-to-Learning Plan — This root chain translates corporate strategy into an approved annual L&amp;D plan. It records strategic objectives, links them to functions and sites, sets the budget envelope and the governance calendar, and ends with a Steering Committee decision that locks the plan.
Trigger: Annual strategy cycle opened or revised corporate objectives published by the board.
End state: Annual L&amp;D plan and budget envelope approved by the Steering Committee and locked.</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E2E-01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E2E-03 Needs-to-Training Engineering Report &amp; Roadmap — The flagship chain. It turns gaps, demands, questionnaire evidence and diagnostic findings into a validated needs register, drafts the Training Engineering Report with AI assistance, runs a quality review, and sequences and approves the roadmap.
Trigger: Validated skills gap diagnosis, consolidated demands, approved Scope of Work or diagnostic findings available.
End state: Training Engineering Report and prioritized roadmap approved and published.</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E2E-03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E2E-30 Prioritization-to-Resource Plan — This root chain prioritizes training themes and plans resources (days per theme, number of groups, trainers, budget) for the training plan. It produces the "Plan de Formation Priorisé" (Prioritized Training Plan).
Trigger: Consolidated training themes requiring prioritization and resource planning.
End state: Approved prioritized training plan with days per theme, group planning, trainer allocation, and budget.</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E2E-30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E2E-22 Multi-Site Plan-to-Deployment — This partition of E2E-03 splits the plan by site, adapts it to local constraints and languages, validates and deploys each site schedule and consolidates status with escalation of deviations.
Trigger: Approved roadmap for an organization with several sites or entities.
End state: Site plans adapted, validated and deployed, with deviations escalated.</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E2E-22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E2E-23 Regulatory Submission-to-Validation — This root chain selects the regulatory template, generates the submission file, submits it, tracks its status, records the decision, files refund claims and archives the evidence.
Trigger: Approved plan requiring external validation or funding (e.g. OFPPT, GIAC-Agro).
End state: Plan validated by the regulatory body and evidence archived.</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E2E-16 Vendor-to-Finance — This partition of E2E-15 runs vendor selection, onboarding and accreditation, issues the purchase order and approves payment after matching invoice to order and attendance.
Trigger: Training need requiring an external provider.
End state: Vendor selected, order issued and payment approved against attendance.</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E2E-16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HCPR-E2E-02 Healthcare Providers Critical-Skills-to-Transformation Plan — Turn critical-skill gaps and digital and AI use cases into a transformation plan.
Trigger: Annual plan cycle or technology change in Healthcare Providers.
End state: Transformation learning paths approved.</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Design &amp; delivery</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E2E-04 Roadmap-to-Curriculum Design — This partition of E2E-03 converts the roadmap into curriculum maps and learning paths, writes the design specification, localizes it and gets it approved.
Trigger: Approved Training Engineering Report and roadmap published.
End state: Approved curriculum maps, learning paths and design documents.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E2E-04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E2E-05 Design-to-Delivery — This root chain delivers training in class, virtual, microlearning and immersive modes: it publishes content, schedules sessions, enrolls learners, runs sessions and closes them with attendance and completion.
Trigger: Approved design document and prioritized training plan.
End state: Training delivered across all modalities with attendance and completion recorded.</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E2E-05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E2E-06 Learner-Journey-to-Engagement — This partition of E2E-05 delivers a personalized, engaging experience: personal plans and recommendations, adaptive paths, social learning, gamification, coaching and engagement monitoring.
Trigger: Learner enrolled in a learning path or session.
End state: Personalized learning journey completed with engagement measured.</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E2E-06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E2E-13 Content-Curate-to-Retire — This partition of E2E-05 aggregates provider catalogs, curates and organizes items, promotes peer content, flags content past review and retires what is outdated.
Trigger: New content published or content past its review date.
End state: Catalog curated, maintained and outdated content retired.</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E2E-13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E2E-14 Extended-Enterprise-Training — This root chain sets up an external sub-portal and catalog, processes payment and enrollment, tracks completion and issues partner certifications.
Trigger: Partner, reseller or customer training program launched.
End state: External learners trained, paid and certified.</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E2E-14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Evaluation, compliance &amp; impact</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E2E-07 Assessment-to-Evaluation — This root chain builds assessment instruments, runs reaction, learning and behaviour evaluations, computes skill progression and reviews the results.
Trigger: Training session or path completed.
End state: Effectiveness measured on Kirkpatrick levels 1-3 and skill progression computed.</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E2E-07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E2E-08 Learning-to-ROI — This partition of E2E-07 selects a theme, defines business indicators, isolates the training effect, computes the Phillips ROI and publishes the business impact report.
Trigger: Evaluation results available for a theme selected for an ROI study.
End state: Phillips ROI validated with finance and business impact report published.</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E2E-08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E2E-09 Compliance-to-Certification — This root chain registers regulatory requirements, assigns mandatory training by position, tracks certification validity, launches renewals and produces the compliance audit extract.
Trigger: New regulatory requirement or certification nearing expiry.
End state: Compliant workforce with valid certifications and an audit extract available.</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E2E-09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HCPR-E2E-01 Healthcare Providers Compliance-to-Certification Readiness — Keep Healthcare Providers regulated roles certified against ISO 7101.
Trigger: New ISO 7101 requirement or certification expiry.
End state: Sector compliance extract issued with every critical role certified.</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Talent, knowledge &amp; continuous improvement</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E2E-10 Talent-to-Mobility — This root chain models career paths, publishes internal openings, matches employees to openings, shortlists candidates and assigns reskilling plans.
Trigger: Internal opening published or annual career review.
End state: Internal move decided with a reskilling plan assigned.</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E2E-10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E2E-11 Onboarding-to-Productivity — This root chain prepares the onboarding record, generates the 30-60-90 day path, runs check-ins with coaching support and confirms time to productivity.
Trigger: New hire or internal mover confirmed.
End state: Employee productive within target time and onboarding closed.</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E2E-11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E2E-12 Knowledge-Capture-to-Transfer — This root chain identifies critical experts, records and structures their knowledge, publishes it and validates its transfer to successors.
Trigger: Critical expert identified as leaving, retiring or holding at-risk knowledge.
End state: Knowledge captured, published and transferred to a validated successor.</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E2E-12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E2E-31 Engagement-to-Roadmap — This root chain defines the long-term roadmap beyond the current training engineering engagement, including future missions (One-to-One coaching, organizational optimization, IS rehabilitation/reengineering), KPIs, and dashboards.
Trigger: Closure of the current training engineering engagement (E2E-19).
End state: Approved post-engagement roadmap with future missions and continuous improvement plan.</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E2E-31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Enablers (run across all phases)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E2E-15 Data-AI-Integration — This enabler registers integrations and maps fields, runs HRIS synchronisation, sets retention rules, maintains the AI Use Case register and its activation, and reviews AI usage.
Trigger: New integration, data source or AI use case to govern.
End state: Integrations, data and AI governed with health, retention and usage reviewed.</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E2E-15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E2E-17 Change-to-Adoption — This enabler assesses change impact, builds the adoption plan, runs the communication campaign, tracks usage, detects low-adoption groups and runs reinforcement actions.
Trigger: Approved plan or new platform capability requiring adoption.
End state: Sustained adoption reached with low-adoption groups reinforced.</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E2E-17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E2E-18 Quality-Risk-Improvement — This enabler logs risks and opportunities, assigns and executes mitigation actions, has each action evaluated by a different user, runs periodic quality reviews and updates control effectiveness.
Trigger: Risk logged, periodic quality review due or control test scheduled.
End state: Risks mitigated, actions evaluated by a different person, controls rated.</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E2E-18 — remaining tasks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2"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DFDFC"/>
        </a:solidFill>
      </p:bgPr>
    </p:bg>
    <p:spTree>
      <p:nvGrpSpPr>
        <p:cNvPr id="2" name=""/>
        <p:cNvGrpSpPr/>
        <p:nvPr/>
      </p:nvGrpSpPr>
      <p:grpSpPr>
        <a:xfrm>
          <a:off x="0" y="0"/>
          <a:ext cx="0" cy="0"/>
          <a:chOff x="0" y="0"/>
          <a:chExt cx="0" cy="0"/>
        </a:xfrm>
      </p:grpSpPr>
      <p:sp>
        <p:nvSpPr>
          <p:cNvPr id="3" name="Text 0"/>
          <p:cNvSpPr/>
          <p:nvPr/>
        </p:nvSpPr>
        <p:spPr>
          <a:xfrm>
            <a:off x="457200" y="6419088"/>
            <a:ext cx="566928" cy="237744"/>
          </a:xfrm>
          <a:prstGeom prst="rect">
            <a:avLst/>
          </a:prstGeom>
          <a:noFill/>
          <a:ln/>
        </p:spPr>
        <p:txBody>
          <a:bodyPr wrap="square" lIns="0" tIns="0" rIns="0" bIns="0" rtlCol="0" anchor="ctr"/>
          <a:lstStyle/>
          <a:p>
            <a:pPr indent="0" marL="0">
              <a:buNone/>
            </a:pPr>
            <a:r>
              <a:rPr lang="en-US" sz="1100" b="1" dirty="0">
                <a:solidFill>
                  <a:srgbClr val="3A3A3C"/>
                </a:solidFill>
                <a:latin typeface="Cambria" pitchFamily="34" charset="0"/>
                <a:ea typeface="Cambria" pitchFamily="34" charset="-122"/>
                <a:cs typeface="Cambria" pitchFamily="34" charset="-120"/>
              </a:rPr>
              <a:t>POWER</a:t>
            </a:r>
            <a:endParaRPr lang="en-US" sz="1100" dirty="0"/>
          </a:p>
        </p:txBody>
      </p:sp>
      <p:sp>
        <p:nvSpPr>
          <p:cNvPr id="4" name="Text 1"/>
          <p:cNvSpPr/>
          <p:nvPr/>
        </p:nvSpPr>
        <p:spPr>
          <a:xfrm>
            <a:off x="946404" y="6419088"/>
            <a:ext cx="384048" cy="237744"/>
          </a:xfrm>
          <a:prstGeom prst="rect">
            <a:avLst/>
          </a:prstGeom>
          <a:noFill/>
          <a:ln/>
        </p:spPr>
        <p:txBody>
          <a:bodyPr wrap="square" lIns="0" tIns="0" rIns="0" bIns="0" rtlCol="0" anchor="ctr"/>
          <a:lstStyle/>
          <a:p>
            <a:pPr indent="0" marL="0">
              <a:buNone/>
            </a:pPr>
            <a:r>
              <a:rPr lang="en-US" sz="1100" b="1" dirty="0">
                <a:solidFill>
                  <a:srgbClr val="F8931D"/>
                </a:solidFill>
                <a:latin typeface="Cambria" pitchFamily="34" charset="0"/>
                <a:ea typeface="Cambria" pitchFamily="34" charset="-122"/>
                <a:cs typeface="Cambria" pitchFamily="34" charset="-120"/>
              </a:rPr>
              <a:t>ACT</a:t>
            </a:r>
            <a:endParaRPr lang="en-US" sz="1100" dirty="0"/>
          </a:p>
        </p:txBody>
      </p:sp>
      <p:sp>
        <p:nvSpPr>
          <p:cNvPr id="5" name="Text 2"/>
          <p:cNvSpPr/>
          <p:nvPr/>
        </p:nvSpPr>
        <p:spPr>
          <a:xfrm>
            <a:off x="1828800" y="6419088"/>
            <a:ext cx="5486400" cy="237744"/>
          </a:xfrm>
          <a:prstGeom prst="rect">
            <a:avLst/>
          </a:prstGeom>
          <a:noFill/>
          <a:ln/>
        </p:spPr>
        <p:txBody>
          <a:bodyPr wrap="square" lIns="0" tIns="0" rIns="0" bIns="0" rtlCol="0" anchor="ctr"/>
          <a:lstStyle/>
          <a:p>
            <a:pPr indent="0" marL="0">
              <a:buNone/>
            </a:pPr>
            <a:r>
              <a:rPr lang="en-US" sz="900" dirty="0">
                <a:solidFill>
                  <a:srgbClr val="808184"/>
                </a:solidFill>
                <a:latin typeface="Calibri" pitchFamily="34" charset="0"/>
                <a:ea typeface="Calibri" pitchFamily="34" charset="-122"/>
                <a:cs typeface="Calibri" pitchFamily="34" charset="-120"/>
              </a:rPr>
              <a:t>CortexSkills · Private clinic case study</a:t>
            </a:r>
            <a:endParaRPr lang="en-US" sz="900" dirty="0"/>
          </a:p>
        </p:txBody>
      </p:sp>
      <p:sp>
        <p:nvSpPr>
          <p:cNvPr id="6"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3A3A3C"/>
        </a:solidFill>
      </p:bgPr>
    </p:bg>
    <p:spTree>
      <p:nvGrpSpPr>
        <p:cNvPr id="2" name=""/>
        <p:cNvGrpSpPr/>
        <p:nvPr/>
      </p:nvGrpSpPr>
      <p:grpSpPr>
        <a:xfrm>
          <a:off x="0" y="0"/>
          <a:ext cx="0" cy="0"/>
          <a:chOff x="0" y="0"/>
          <a:chExt cx="0" cy="0"/>
        </a:xfrm>
      </p:grpSpPr>
      <p:sp>
        <p:nvSpPr>
          <p:cNvPr id="3" name="Text 0"/>
          <p:cNvSpPr/>
          <p:nvPr/>
        </p:nvSpPr>
        <p:spPr>
          <a:xfrm>
            <a:off x="457200" y="6419088"/>
            <a:ext cx="566928" cy="237744"/>
          </a:xfrm>
          <a:prstGeom prst="rect">
            <a:avLst/>
          </a:prstGeom>
          <a:noFill/>
          <a:ln/>
        </p:spPr>
        <p:txBody>
          <a:bodyPr wrap="square" lIns="0" tIns="0" rIns="0" bIns="0" rtlCol="0" anchor="ctr"/>
          <a:lstStyle/>
          <a:p>
            <a:pPr indent="0" marL="0">
              <a:buNone/>
            </a:pPr>
            <a:r>
              <a:rPr lang="en-US" sz="1100" b="1" dirty="0">
                <a:solidFill>
                  <a:srgbClr val="FFFFFF"/>
                </a:solidFill>
                <a:latin typeface="Cambria" pitchFamily="34" charset="0"/>
                <a:ea typeface="Cambria" pitchFamily="34" charset="-122"/>
                <a:cs typeface="Cambria" pitchFamily="34" charset="-120"/>
              </a:rPr>
              <a:t>POWER</a:t>
            </a:r>
            <a:endParaRPr lang="en-US" sz="1100" dirty="0"/>
          </a:p>
        </p:txBody>
      </p:sp>
      <p:sp>
        <p:nvSpPr>
          <p:cNvPr id="4" name="Text 1"/>
          <p:cNvSpPr/>
          <p:nvPr/>
        </p:nvSpPr>
        <p:spPr>
          <a:xfrm>
            <a:off x="946404" y="6419088"/>
            <a:ext cx="384048" cy="237744"/>
          </a:xfrm>
          <a:prstGeom prst="rect">
            <a:avLst/>
          </a:prstGeom>
          <a:noFill/>
          <a:ln/>
        </p:spPr>
        <p:txBody>
          <a:bodyPr wrap="square" lIns="0" tIns="0" rIns="0" bIns="0" rtlCol="0" anchor="ctr"/>
          <a:lstStyle/>
          <a:p>
            <a:pPr indent="0" marL="0">
              <a:buNone/>
            </a:pPr>
            <a:r>
              <a:rPr lang="en-US" sz="1100" b="1" dirty="0">
                <a:solidFill>
                  <a:srgbClr val="F8931D"/>
                </a:solidFill>
                <a:latin typeface="Cambria" pitchFamily="34" charset="0"/>
                <a:ea typeface="Cambria" pitchFamily="34" charset="-122"/>
                <a:cs typeface="Cambria" pitchFamily="34" charset="-120"/>
              </a:rPr>
              <a:t>ACT</a:t>
            </a:r>
            <a:endParaRPr lang="en-US" sz="1100" dirty="0"/>
          </a:p>
        </p:txBody>
      </p:sp>
      <p:sp>
        <p:nvSpPr>
          <p:cNvPr id="5"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DBDB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FDFDFC"/>
        </a:solidFill>
      </p:bgPr>
    </p:bg>
    <p:spTree>
      <p:nvGrpSpPr>
        <p:cNvPr id="2"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2.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jp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jp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jpg"/><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jp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jpg"/><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jpg"/><Relationship Id="rId2" Type="http://schemas.openxmlformats.org/officeDocument/2006/relationships/slideLayout" Target="../slideLayouts/slideLayout2.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jpg"/><Relationship Id="rId2" Type="http://schemas.openxmlformats.org/officeDocument/2006/relationships/slideLayout" Target="../slideLayouts/slideLayout2.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jpg"/><Relationship Id="rId2" Type="http://schemas.openxmlformats.org/officeDocument/2006/relationships/slideLayout" Target="../slideLayouts/slideLayout2.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jpg"/><Relationship Id="rId2" Type="http://schemas.openxmlformats.org/officeDocument/2006/relationships/slideLayout" Target="../slideLayouts/slideLayout2.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jpg"/><Relationship Id="rId2" Type="http://schemas.openxmlformats.org/officeDocument/2006/relationships/slideLayout" Target="../slideLayouts/slideLayout2.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jpg"/><Relationship Id="rId2" Type="http://schemas.openxmlformats.org/officeDocument/2006/relationships/slideLayout" Target="../slideLayouts/slideLayout2.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jpg"/><Relationship Id="rId2" Type="http://schemas.openxmlformats.org/officeDocument/2006/relationships/slideLayout" Target="../slideLayouts/slideLayout2.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jpg"/><Relationship Id="rId2" Type="http://schemas.openxmlformats.org/officeDocument/2006/relationships/slideLayout" Target="../slideLayouts/slideLayout2.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jpg"/><Relationship Id="rId2" Type="http://schemas.openxmlformats.org/officeDocument/2006/relationships/slideLayout" Target="../slideLayouts/slideLayout2.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jpg"/><Relationship Id="rId2" Type="http://schemas.openxmlformats.org/officeDocument/2006/relationships/slideLayout" Target="../slideLayouts/slideLayout2.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jpg"/><Relationship Id="rId2" Type="http://schemas.openxmlformats.org/officeDocument/2006/relationships/slideLayout" Target="../slideLayouts/slideLayout2.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85-1.png"/><Relationship Id="rId3" Type="http://schemas.openxmlformats.org/officeDocument/2006/relationships/image" Target="../media/image-85-2.png"/><Relationship Id="rId4" Type="http://schemas.openxmlformats.org/officeDocument/2006/relationships/image" Target="../media/image-85-3.png"/><Relationship Id="rId5" Type="http://schemas.openxmlformats.org/officeDocument/2006/relationships/image" Target="../media/image-85-4.png"/><Relationship Id="rId6" Type="http://schemas.openxmlformats.org/officeDocument/2006/relationships/slideLayout" Target="../slideLayouts/slideLayout2.xml"/><Relationship Id="rId7"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jpg"/><Relationship Id="rId2" Type="http://schemas.openxmlformats.org/officeDocument/2006/relationships/slideLayout" Target="../slideLayouts/slideLayout2.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jpg"/><Relationship Id="rId2" Type="http://schemas.openxmlformats.org/officeDocument/2006/relationships/slideLayout" Target="../slideLayouts/slideLayout2.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jpg"/><Relationship Id="rId2" Type="http://schemas.openxmlformats.org/officeDocument/2006/relationships/slideLayout" Target="../slideLayouts/slideLayout2.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jpg"/><Relationship Id="rId2" Type="http://schemas.openxmlformats.org/officeDocument/2006/relationships/slideLayout" Target="../slideLayouts/slideLayout2.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jpg"/><Relationship Id="rId2" Type="http://schemas.openxmlformats.org/officeDocument/2006/relationships/slideLayout" Target="../slideLayouts/slideLayout2.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image" Target="../media/image-91-2.png"/><Relationship Id="rId3" Type="http://schemas.openxmlformats.org/officeDocument/2006/relationships/image" Target="../media/image-91-3.png"/><Relationship Id="rId4" Type="http://schemas.openxmlformats.org/officeDocument/2006/relationships/slideLayout" Target="../slideLayouts/slideLayout2.xml"/><Relationship Id="rId5"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2" name=""/>
        <p:cNvGrpSpPr/>
        <p:nvPr/>
      </p:nvGrpSpPr>
      <p:grpSpPr>
        <a:xfrm>
          <a:off x="0" y="0"/>
          <a:ext cx="0" cy="0"/>
          <a:chOff x="0" y="0"/>
          <a:chExt cx="0" cy="0"/>
        </a:xfrm>
      </p:grpSpPr>
      <p:sp>
        <p:nvSpPr>
          <p:cNvPr id="3" name="Text 0"/>
          <p:cNvSpPr txBox="1"/>
          <p:nvPr/>
        </p:nvSpPr>
        <p:spPr>
          <a:xfrm>
            <a:off x="457200" y="411480"/>
            <a:ext cx="2743200" cy="457200"/>
          </a:xfrm>
          <a:prstGeom prst="rect">
            <a:avLst/>
          </a:prstGeom>
          <a:noFill/>
          <a:ln/>
        </p:spPr>
        <p:txBody>
          <a:bodyPr wrap="square" lIns="0" tIns="0" rIns="0" bIns="0" rtlCol="0" anchor="ctr"/>
          <a:lstStyle/>
          <a:p>
            <a:pPr indent="0" marL="0">
              <a:buNone/>
            </a:pPr>
            <a:r>
              <a:rPr lang="en-US" sz="2200" b="1" dirty="0">
                <a:solidFill>
                  <a:srgbClr val="3A3A3C"/>
                </a:solidFill>
                <a:latin typeface="Cambria" pitchFamily="34" charset="0"/>
                <a:ea typeface="Cambria" pitchFamily="34" charset="-122"/>
                <a:cs typeface="Cambria" pitchFamily="34" charset="-120"/>
              </a:rPr>
              <a:t>POWER</a:t>
            </a:r>
            <a:pPr indent="0" marL="0">
              <a:buNone/>
            </a:pPr>
            <a:r>
              <a:rPr lang="en-US" sz="2200" b="1" dirty="0">
                <a:solidFill>
                  <a:srgbClr val="F8931D"/>
                </a:solidFill>
                <a:latin typeface="Cambria" pitchFamily="34" charset="0"/>
                <a:ea typeface="Cambria" pitchFamily="34" charset="-122"/>
                <a:cs typeface="Cambria" pitchFamily="34" charset="-120"/>
              </a:rPr>
              <a:t>ACT</a:t>
            </a:r>
            <a:endParaRPr lang="en-US" sz="2200" dirty="0"/>
          </a:p>
        </p:txBody>
      </p:sp>
      <p:sp>
        <p:nvSpPr>
          <p:cNvPr id="4" name="Text 1"/>
          <p:cNvSpPr txBox="1"/>
          <p:nvPr/>
        </p:nvSpPr>
        <p:spPr>
          <a:xfrm>
            <a:off x="457200" y="786384"/>
            <a:ext cx="2743200" cy="201168"/>
          </a:xfrm>
          <a:prstGeom prst="rect">
            <a:avLst/>
          </a:prstGeom>
          <a:noFill/>
          <a:ln/>
        </p:spPr>
        <p:txBody>
          <a:bodyPr wrap="square" lIns="0" tIns="0" rIns="0" bIns="0" rtlCol="0" anchor="ctr"/>
          <a:lstStyle/>
          <a:p>
            <a:pPr indent="0" marL="0">
              <a:buNone/>
            </a:pPr>
            <a:r>
              <a:rPr lang="en-US" sz="900" dirty="0">
                <a:solidFill>
                  <a:srgbClr val="808184"/>
                </a:solidFill>
                <a:latin typeface="Calibri" pitchFamily="34" charset="0"/>
                <a:ea typeface="Calibri" pitchFamily="34" charset="-122"/>
                <a:cs typeface="Calibri" pitchFamily="34" charset="-120"/>
              </a:rPr>
              <a:t>C O N S U L T I N G</a:t>
            </a:r>
            <a:endParaRPr lang="en-US" sz="900" dirty="0"/>
          </a:p>
        </p:txBody>
      </p:sp>
      <p:sp>
        <p:nvSpPr>
          <p:cNvPr id="5" name="Text 2"/>
          <p:cNvSpPr txBox="1"/>
          <p:nvPr/>
        </p:nvSpPr>
        <p:spPr>
          <a:xfrm>
            <a:off x="457200" y="1828800"/>
            <a:ext cx="6949440" cy="320040"/>
          </a:xfrm>
          <a:prstGeom prst="rect">
            <a:avLst/>
          </a:prstGeom>
          <a:noFill/>
          <a:ln/>
        </p:spPr>
        <p:txBody>
          <a:bodyPr wrap="square" lIns="0" tIns="0" rIns="0" bIns="0" rtlCol="0" anchor="ctr"/>
          <a:lstStyle/>
          <a:p>
            <a:pPr indent="0" marL="0">
              <a:buNone/>
            </a:pPr>
            <a:r>
              <a:rPr lang="en-US" sz="1300" b="1" spc="300" kern="0" dirty="0">
                <a:solidFill>
                  <a:srgbClr val="E07B00"/>
                </a:solidFill>
                <a:latin typeface="Calibri" pitchFamily="34" charset="0"/>
                <a:ea typeface="Calibri" pitchFamily="34" charset="-122"/>
                <a:cs typeface="Calibri" pitchFamily="34" charset="-120"/>
              </a:rPr>
              <a:t>CASE STUDY · HEALTHCARE · PRIVATE CLINICS</a:t>
            </a:r>
            <a:endParaRPr lang="en-US" sz="1300" dirty="0"/>
          </a:p>
        </p:txBody>
      </p:sp>
      <p:sp>
        <p:nvSpPr>
          <p:cNvPr id="6" name="Text 3"/>
          <p:cNvSpPr txBox="1"/>
          <p:nvPr/>
        </p:nvSpPr>
        <p:spPr>
          <a:xfrm>
            <a:off x="457200" y="2240280"/>
            <a:ext cx="7223760" cy="1828800"/>
          </a:xfrm>
          <a:prstGeom prst="rect">
            <a:avLst/>
          </a:prstGeom>
          <a:noFill/>
          <a:ln/>
        </p:spPr>
        <p:txBody>
          <a:bodyPr wrap="square" lIns="0" tIns="0" rIns="0" bIns="0" rtlCol="0" anchor="t"/>
          <a:lstStyle/>
          <a:p>
            <a:pPr indent="0" marL="0">
              <a:buNone/>
            </a:pPr>
            <a:r>
              <a:rPr lang="en-US" sz="3600" b="1" dirty="0">
                <a:solidFill>
                  <a:srgbClr val="3A3A3C"/>
                </a:solidFill>
                <a:latin typeface="Cambria" pitchFamily="34" charset="0"/>
                <a:ea typeface="Cambria" pitchFamily="34" charset="-122"/>
                <a:cs typeface="Cambria" pitchFamily="34" charset="-120"/>
              </a:rPr>
              <a:t>Training engineering for AI skills, end to end</a:t>
            </a:r>
            <a:endParaRPr lang="en-US" sz="3600" dirty="0"/>
          </a:p>
        </p:txBody>
      </p:sp>
      <p:sp>
        <p:nvSpPr>
          <p:cNvPr id="7" name="Text 4"/>
          <p:cNvSpPr txBox="1"/>
          <p:nvPr/>
        </p:nvSpPr>
        <p:spPr>
          <a:xfrm>
            <a:off x="457200" y="4206240"/>
            <a:ext cx="6766560" cy="822960"/>
          </a:xfrm>
          <a:prstGeom prst="rect">
            <a:avLst/>
          </a:prstGeom>
          <a:noFill/>
          <a:ln/>
        </p:spPr>
        <p:txBody>
          <a:bodyPr wrap="square" lIns="0" tIns="0" rIns="0" bIns="0" rtlCol="0" anchor="t"/>
          <a:lstStyle/>
          <a:p>
            <a:pPr indent="0" marL="0">
              <a:buNone/>
            </a:pPr>
            <a:r>
              <a:rPr lang="en-US" sz="1600" dirty="0">
                <a:solidFill>
                  <a:srgbClr val="58595B"/>
                </a:solidFill>
                <a:latin typeface="Calibri" pitchFamily="34" charset="0"/>
                <a:ea typeface="Calibri" pitchFamily="34" charset="-122"/>
                <a:cs typeface="Calibri" pitchFamily="34" charset="-120"/>
              </a:rPr>
              <a:t>Santéora Private Clinics Group: the real flow of the 35 end-to-end processes run in CortexSkills — macro processes, tasks and steps</a:t>
            </a:r>
            <a:endParaRPr lang="en-US" sz="1600" dirty="0"/>
          </a:p>
        </p:txBody>
      </p:sp>
      <p:sp>
        <p:nvSpPr>
          <p:cNvPr id="8" name="Text 5"/>
          <p:cNvSpPr txBox="1"/>
          <p:nvPr/>
        </p:nvSpPr>
        <p:spPr>
          <a:xfrm>
            <a:off x="457200" y="5989320"/>
            <a:ext cx="6400800" cy="274320"/>
          </a:xfrm>
          <a:prstGeom prst="rect">
            <a:avLst/>
          </a:prstGeom>
          <a:noFill/>
          <a:ln/>
        </p:spPr>
        <p:txBody>
          <a:bodyPr wrap="square" lIns="0" tIns="0" rIns="0" bIns="0" rtlCol="0" anchor="ctr"/>
          <a:lstStyle/>
          <a:p>
            <a:pPr indent="0" marL="0">
              <a:buNone/>
            </a:pPr>
            <a:r>
              <a:rPr lang="en-US" sz="1100" dirty="0">
                <a:solidFill>
                  <a:srgbClr val="808184"/>
                </a:solidFill>
                <a:latin typeface="Calibri" pitchFamily="34" charset="0"/>
                <a:ea typeface="Calibri" pitchFamily="34" charset="-122"/>
                <a:cs typeface="Calibri" pitchFamily="34" charset="-120"/>
              </a:rPr>
              <a:t>Prepared by POWERACT Consulting · 16 Oct 2026</a:t>
            </a:r>
            <a:endParaRPr lang="en-US" sz="1100" dirty="0"/>
          </a:p>
        </p:txBody>
      </p:sp>
      <p:sp>
        <p:nvSpPr>
          <p:cNvPr id="9" name="decorative circle"/>
          <p:cNvSpPr/>
          <p:nvPr/>
        </p:nvSpPr>
        <p:spPr>
          <a:xfrm>
            <a:off x="8001000" y="868680"/>
            <a:ext cx="5120640" cy="5120640"/>
          </a:xfrm>
          <a:prstGeom prst="ellipse">
            <a:avLst/>
          </a:prstGeom>
          <a:solidFill>
            <a:srgbClr val="FDEEDA"/>
          </a:solidFill>
          <a:ln w="12700">
            <a:solidFill>
              <a:srgbClr val="FDEEDA"/>
            </a:solidFill>
            <a:prstDash val="solid"/>
          </a:ln>
        </p:spPr>
      </p:sp>
      <p:sp>
        <p:nvSpPr>
          <p:cNvPr id="10" name="logo circle"/>
          <p:cNvSpPr/>
          <p:nvPr/>
        </p:nvSpPr>
        <p:spPr>
          <a:xfrm>
            <a:off x="8366760" y="1463040"/>
            <a:ext cx="3931920" cy="3931920"/>
          </a:xfrm>
          <a:prstGeom prst="ellipse">
            <a:avLst/>
          </a:prstGeom>
          <a:solidFill>
            <a:srgbClr val="FFFFFF"/>
          </a:solidFill>
          <a:ln w="9525">
            <a:solidFill>
              <a:srgbClr val="E3E3E4"/>
            </a:solidFill>
            <a:prstDash val="solid"/>
          </a:ln>
          <a:effectLst>
            <a:outerShdw sx="100000" sy="100000" kx="0" ky="0" algn="bl" rotWithShape="0" blurRad="76200" dist="25400" dir="5400000">
              <a:srgbClr val="000000">
                <a:alpha val="10000"/>
              </a:srgbClr>
            </a:outerShdw>
          </a:effectLst>
        </p:spPr>
      </p:sp>
      <p:pic>
        <p:nvPicPr>
          <p:cNvPr id="11" name="Image 0" descr="CortexSkills">    </p:cNvPr>
          <p:cNvPicPr>
            <a:picLocks noChangeAspect="1"/>
          </p:cNvPicPr>
          <p:nvPr/>
        </p:nvPicPr>
        <p:blipFill>
          <a:blip r:embed="rId1"/>
          <a:srcRect l="0" r="0" t="0" b="0"/>
          <a:stretch/>
        </p:blipFill>
        <p:spPr>
          <a:xfrm>
            <a:off x="8915400" y="2011680"/>
            <a:ext cx="2834640" cy="2834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AGENDA</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What this case study covers</a:t>
            </a:r>
            <a:endParaRPr lang="en-US" sz="2800" dirty="0"/>
          </a:p>
        </p:txBody>
      </p:sp>
      <p:sp>
        <p:nvSpPr>
          <p:cNvPr id="5" name="badge building-2"/>
          <p:cNvSpPr/>
          <p:nvPr/>
        </p:nvSpPr>
        <p:spPr>
          <a:xfrm>
            <a:off x="457200" y="1600200"/>
            <a:ext cx="566928" cy="566928"/>
          </a:xfrm>
          <a:prstGeom prst="ellipse">
            <a:avLst/>
          </a:prstGeom>
          <a:solidFill>
            <a:srgbClr val="58595B"/>
          </a:solidFill>
          <a:ln w="12700">
            <a:solidFill>
              <a:srgbClr val="58595B"/>
            </a:solidFill>
            <a:prstDash val="solid"/>
          </a:ln>
        </p:spPr>
      </p:sp>
      <p:pic>
        <p:nvPicPr>
          <p:cNvPr id="6" name="Image 0" descr="building-2">    </p:cNvPr>
          <p:cNvPicPr>
            <a:picLocks noChangeAspect="1"/>
          </p:cNvPicPr>
          <p:nvPr/>
        </p:nvPicPr>
        <p:blipFill>
          <a:blip r:embed="rId1"/>
          <a:stretch>
            <a:fillRect/>
          </a:stretch>
        </p:blipFill>
        <p:spPr>
          <a:xfrm>
            <a:off x="587593" y="1730593"/>
            <a:ext cx="306141" cy="306141"/>
          </a:xfrm>
          <a:prstGeom prst="rect">
            <a:avLst/>
          </a:prstGeom>
        </p:spPr>
      </p:pic>
      <p:sp>
        <p:nvSpPr>
          <p:cNvPr id="7" name="Text 3"/>
          <p:cNvSpPr txBox="1"/>
          <p:nvPr/>
        </p:nvSpPr>
        <p:spPr>
          <a:xfrm>
            <a:off x="1207008" y="1600200"/>
            <a:ext cx="4846320" cy="566928"/>
          </a:xfrm>
          <a:prstGeom prst="rect">
            <a:avLst/>
          </a:prstGeom>
          <a:noFill/>
          <a:ln/>
        </p:spPr>
        <p:txBody>
          <a:bodyPr wrap="square" lIns="0" tIns="0" rIns="0" bIns="0" rtlCol="0" anchor="ctr"/>
          <a:lstStyle/>
          <a:p>
            <a:pPr indent="0" marL="0">
              <a:buNone/>
            </a:pPr>
            <a:r>
              <a:rPr lang="en-US" sz="1600" dirty="0">
                <a:solidFill>
                  <a:srgbClr val="3A3A3C"/>
                </a:solidFill>
                <a:latin typeface="Calibri" pitchFamily="34" charset="0"/>
                <a:ea typeface="Calibri" pitchFamily="34" charset="-122"/>
                <a:cs typeface="Calibri" pitchFamily="34" charset="-120"/>
              </a:rPr>
              <a:t>The client and the project</a:t>
            </a:r>
            <a:endParaRPr lang="en-US" sz="1600" dirty="0"/>
          </a:p>
        </p:txBody>
      </p:sp>
      <p:sp>
        <p:nvSpPr>
          <p:cNvPr id="8" name="badge network"/>
          <p:cNvSpPr/>
          <p:nvPr/>
        </p:nvSpPr>
        <p:spPr>
          <a:xfrm>
            <a:off x="457200" y="2496312"/>
            <a:ext cx="566928" cy="566928"/>
          </a:xfrm>
          <a:prstGeom prst="ellipse">
            <a:avLst/>
          </a:prstGeom>
          <a:solidFill>
            <a:srgbClr val="58595B"/>
          </a:solidFill>
          <a:ln w="12700">
            <a:solidFill>
              <a:srgbClr val="58595B"/>
            </a:solidFill>
            <a:prstDash val="solid"/>
          </a:ln>
        </p:spPr>
      </p:sp>
      <p:pic>
        <p:nvPicPr>
          <p:cNvPr id="9" name="Image 1" descr="network">    </p:cNvPr>
          <p:cNvPicPr>
            <a:picLocks noChangeAspect="1"/>
          </p:cNvPicPr>
          <p:nvPr/>
        </p:nvPicPr>
        <p:blipFill>
          <a:blip r:embed="rId2"/>
          <a:stretch>
            <a:fillRect/>
          </a:stretch>
        </p:blipFill>
        <p:spPr>
          <a:xfrm>
            <a:off x="587593" y="2626705"/>
            <a:ext cx="306141" cy="306141"/>
          </a:xfrm>
          <a:prstGeom prst="rect">
            <a:avLst/>
          </a:prstGeom>
        </p:spPr>
      </p:pic>
      <p:sp>
        <p:nvSpPr>
          <p:cNvPr id="10" name="Text 5"/>
          <p:cNvSpPr txBox="1"/>
          <p:nvPr/>
        </p:nvSpPr>
        <p:spPr>
          <a:xfrm>
            <a:off x="1207008" y="2496312"/>
            <a:ext cx="4846320" cy="566928"/>
          </a:xfrm>
          <a:prstGeom prst="rect">
            <a:avLst/>
          </a:prstGeom>
          <a:noFill/>
          <a:ln/>
        </p:spPr>
        <p:txBody>
          <a:bodyPr wrap="square" lIns="0" tIns="0" rIns="0" bIns="0" rtlCol="0" anchor="ctr"/>
          <a:lstStyle/>
          <a:p>
            <a:pPr indent="0" marL="0">
              <a:buNone/>
            </a:pPr>
            <a:r>
              <a:rPr lang="en-US" sz="1600" dirty="0">
                <a:solidFill>
                  <a:srgbClr val="3A3A3C"/>
                </a:solidFill>
                <a:latin typeface="Calibri" pitchFamily="34" charset="0"/>
                <a:ea typeface="Calibri" pitchFamily="34" charset="-122"/>
                <a:cs typeface="Calibri" pitchFamily="34" charset="-120"/>
              </a:rPr>
              <a:t>How CortexSkills structures the work</a:t>
            </a:r>
            <a:endParaRPr lang="en-US" sz="1600" dirty="0"/>
          </a:p>
        </p:txBody>
      </p:sp>
      <p:sp>
        <p:nvSpPr>
          <p:cNvPr id="11" name="badge search"/>
          <p:cNvSpPr/>
          <p:nvPr/>
        </p:nvSpPr>
        <p:spPr>
          <a:xfrm>
            <a:off x="457200" y="3392424"/>
            <a:ext cx="566928" cy="566928"/>
          </a:xfrm>
          <a:prstGeom prst="ellipse">
            <a:avLst/>
          </a:prstGeom>
          <a:solidFill>
            <a:srgbClr val="F8931D"/>
          </a:solidFill>
          <a:ln w="12700">
            <a:solidFill>
              <a:srgbClr val="F8931D"/>
            </a:solidFill>
            <a:prstDash val="solid"/>
          </a:ln>
        </p:spPr>
      </p:sp>
      <p:pic>
        <p:nvPicPr>
          <p:cNvPr id="12" name="Image 2" descr="search">    </p:cNvPr>
          <p:cNvPicPr>
            <a:picLocks noChangeAspect="1"/>
          </p:cNvPicPr>
          <p:nvPr/>
        </p:nvPicPr>
        <p:blipFill>
          <a:blip r:embed="rId3"/>
          <a:stretch>
            <a:fillRect/>
          </a:stretch>
        </p:blipFill>
        <p:spPr>
          <a:xfrm>
            <a:off x="587593" y="3522817"/>
            <a:ext cx="306141" cy="306141"/>
          </a:xfrm>
          <a:prstGeom prst="rect">
            <a:avLst/>
          </a:prstGeom>
        </p:spPr>
      </p:pic>
      <p:sp>
        <p:nvSpPr>
          <p:cNvPr id="13" name="Text 7"/>
          <p:cNvSpPr txBox="1"/>
          <p:nvPr/>
        </p:nvSpPr>
        <p:spPr>
          <a:xfrm>
            <a:off x="1207008" y="3392424"/>
            <a:ext cx="4846320" cy="566928"/>
          </a:xfrm>
          <a:prstGeom prst="rect">
            <a:avLst/>
          </a:prstGeom>
          <a:noFill/>
          <a:ln/>
        </p:spPr>
        <p:txBody>
          <a:bodyPr wrap="square" lIns="0" tIns="0" rIns="0" bIns="0" rtlCol="0" anchor="ctr"/>
          <a:lstStyle/>
          <a:p>
            <a:pPr indent="0" marL="0">
              <a:buNone/>
            </a:pPr>
            <a:r>
              <a:rPr lang="en-US" sz="1600" dirty="0">
                <a:solidFill>
                  <a:srgbClr val="3A3A3C"/>
                </a:solidFill>
                <a:latin typeface="Calibri" pitchFamily="34" charset="0"/>
                <a:ea typeface="Calibri" pitchFamily="34" charset="-122"/>
                <a:cs typeface="Calibri" pitchFamily="34" charset="-120"/>
              </a:rPr>
              <a:t>Phase 1 — Scope &amp; evidence</a:t>
            </a:r>
            <a:endParaRPr lang="en-US" sz="1600" dirty="0"/>
          </a:p>
        </p:txBody>
      </p:sp>
      <p:sp>
        <p:nvSpPr>
          <p:cNvPr id="14" name="badge stethoscope"/>
          <p:cNvSpPr/>
          <p:nvPr/>
        </p:nvSpPr>
        <p:spPr>
          <a:xfrm>
            <a:off x="457200" y="4288536"/>
            <a:ext cx="566928" cy="566928"/>
          </a:xfrm>
          <a:prstGeom prst="ellipse">
            <a:avLst/>
          </a:prstGeom>
          <a:solidFill>
            <a:srgbClr val="F8931D"/>
          </a:solidFill>
          <a:ln w="12700">
            <a:solidFill>
              <a:srgbClr val="F8931D"/>
            </a:solidFill>
            <a:prstDash val="solid"/>
          </a:ln>
        </p:spPr>
      </p:sp>
      <p:pic>
        <p:nvPicPr>
          <p:cNvPr id="15" name="Image 3" descr="stethoscope">    </p:cNvPr>
          <p:cNvPicPr>
            <a:picLocks noChangeAspect="1"/>
          </p:cNvPicPr>
          <p:nvPr/>
        </p:nvPicPr>
        <p:blipFill>
          <a:blip r:embed="rId4"/>
          <a:stretch>
            <a:fillRect/>
          </a:stretch>
        </p:blipFill>
        <p:spPr>
          <a:xfrm>
            <a:off x="587593" y="4418929"/>
            <a:ext cx="306141" cy="306141"/>
          </a:xfrm>
          <a:prstGeom prst="rect">
            <a:avLst/>
          </a:prstGeom>
        </p:spPr>
      </p:pic>
      <p:sp>
        <p:nvSpPr>
          <p:cNvPr id="16" name="Text 9"/>
          <p:cNvSpPr txBox="1"/>
          <p:nvPr/>
        </p:nvSpPr>
        <p:spPr>
          <a:xfrm>
            <a:off x="1207008" y="4288536"/>
            <a:ext cx="4846320" cy="566928"/>
          </a:xfrm>
          <a:prstGeom prst="rect">
            <a:avLst/>
          </a:prstGeom>
          <a:noFill/>
          <a:ln/>
        </p:spPr>
        <p:txBody>
          <a:bodyPr wrap="square" lIns="0" tIns="0" rIns="0" bIns="0" rtlCol="0" anchor="ctr"/>
          <a:lstStyle/>
          <a:p>
            <a:pPr indent="0" marL="0">
              <a:buNone/>
            </a:pPr>
            <a:r>
              <a:rPr lang="en-US" sz="1600" dirty="0">
                <a:solidFill>
                  <a:srgbClr val="3A3A3C"/>
                </a:solidFill>
                <a:latin typeface="Calibri" pitchFamily="34" charset="0"/>
                <a:ea typeface="Calibri" pitchFamily="34" charset="-122"/>
                <a:cs typeface="Calibri" pitchFamily="34" charset="-120"/>
              </a:rPr>
              <a:t>Phase 2 — Diagnosis</a:t>
            </a:r>
            <a:endParaRPr lang="en-US" sz="1600" dirty="0"/>
          </a:p>
        </p:txBody>
      </p:sp>
      <p:sp>
        <p:nvSpPr>
          <p:cNvPr id="17" name="badge file-text"/>
          <p:cNvSpPr/>
          <p:nvPr/>
        </p:nvSpPr>
        <p:spPr>
          <a:xfrm>
            <a:off x="457200" y="5184648"/>
            <a:ext cx="566928" cy="566928"/>
          </a:xfrm>
          <a:prstGeom prst="ellipse">
            <a:avLst/>
          </a:prstGeom>
          <a:solidFill>
            <a:srgbClr val="F8931D"/>
          </a:solidFill>
          <a:ln w="12700">
            <a:solidFill>
              <a:srgbClr val="F8931D"/>
            </a:solidFill>
            <a:prstDash val="solid"/>
          </a:ln>
        </p:spPr>
      </p:sp>
      <p:pic>
        <p:nvPicPr>
          <p:cNvPr id="18" name="Image 4" descr="file-text">    </p:cNvPr>
          <p:cNvPicPr>
            <a:picLocks noChangeAspect="1"/>
          </p:cNvPicPr>
          <p:nvPr/>
        </p:nvPicPr>
        <p:blipFill>
          <a:blip r:embed="rId5"/>
          <a:stretch>
            <a:fillRect/>
          </a:stretch>
        </p:blipFill>
        <p:spPr>
          <a:xfrm>
            <a:off x="587593" y="5315041"/>
            <a:ext cx="306141" cy="306141"/>
          </a:xfrm>
          <a:prstGeom prst="rect">
            <a:avLst/>
          </a:prstGeom>
        </p:spPr>
      </p:pic>
      <p:sp>
        <p:nvSpPr>
          <p:cNvPr id="19" name="Text 11"/>
          <p:cNvSpPr txBox="1"/>
          <p:nvPr/>
        </p:nvSpPr>
        <p:spPr>
          <a:xfrm>
            <a:off x="1207008" y="5184648"/>
            <a:ext cx="4846320" cy="566928"/>
          </a:xfrm>
          <a:prstGeom prst="rect">
            <a:avLst/>
          </a:prstGeom>
          <a:noFill/>
          <a:ln/>
        </p:spPr>
        <p:txBody>
          <a:bodyPr wrap="square" lIns="0" tIns="0" rIns="0" bIns="0" rtlCol="0" anchor="ctr"/>
          <a:lstStyle/>
          <a:p>
            <a:pPr indent="0" marL="0">
              <a:buNone/>
            </a:pPr>
            <a:r>
              <a:rPr lang="en-US" sz="1600" dirty="0">
                <a:solidFill>
                  <a:srgbClr val="3A3A3C"/>
                </a:solidFill>
                <a:latin typeface="Calibri" pitchFamily="34" charset="0"/>
                <a:ea typeface="Calibri" pitchFamily="34" charset="-122"/>
                <a:cs typeface="Calibri" pitchFamily="34" charset="-120"/>
              </a:rPr>
              <a:t>Phase 3 — Training Engineering Report &amp; plan</a:t>
            </a:r>
            <a:endParaRPr lang="en-US" sz="1600" dirty="0"/>
          </a:p>
        </p:txBody>
      </p:sp>
      <p:sp>
        <p:nvSpPr>
          <p:cNvPr id="20" name="badge graduation-cap"/>
          <p:cNvSpPr/>
          <p:nvPr/>
        </p:nvSpPr>
        <p:spPr>
          <a:xfrm>
            <a:off x="6217920" y="1600200"/>
            <a:ext cx="566928" cy="566928"/>
          </a:xfrm>
          <a:prstGeom prst="ellipse">
            <a:avLst/>
          </a:prstGeom>
          <a:solidFill>
            <a:srgbClr val="F8931D"/>
          </a:solidFill>
          <a:ln w="12700">
            <a:solidFill>
              <a:srgbClr val="F8931D"/>
            </a:solidFill>
            <a:prstDash val="solid"/>
          </a:ln>
        </p:spPr>
      </p:sp>
      <p:pic>
        <p:nvPicPr>
          <p:cNvPr id="21" name="Image 5" descr="graduation-cap">    </p:cNvPr>
          <p:cNvPicPr>
            <a:picLocks noChangeAspect="1"/>
          </p:cNvPicPr>
          <p:nvPr/>
        </p:nvPicPr>
        <p:blipFill>
          <a:blip r:embed="rId6"/>
          <a:stretch>
            <a:fillRect/>
          </a:stretch>
        </p:blipFill>
        <p:spPr>
          <a:xfrm>
            <a:off x="6348313" y="1730593"/>
            <a:ext cx="306141" cy="306141"/>
          </a:xfrm>
          <a:prstGeom prst="rect">
            <a:avLst/>
          </a:prstGeom>
        </p:spPr>
      </p:pic>
      <p:sp>
        <p:nvSpPr>
          <p:cNvPr id="22" name="Text 13"/>
          <p:cNvSpPr txBox="1"/>
          <p:nvPr/>
        </p:nvSpPr>
        <p:spPr>
          <a:xfrm>
            <a:off x="6967728" y="1600200"/>
            <a:ext cx="4846320" cy="566928"/>
          </a:xfrm>
          <a:prstGeom prst="rect">
            <a:avLst/>
          </a:prstGeom>
          <a:noFill/>
          <a:ln/>
        </p:spPr>
        <p:txBody>
          <a:bodyPr wrap="square" lIns="0" tIns="0" rIns="0" bIns="0" rtlCol="0" anchor="ctr"/>
          <a:lstStyle/>
          <a:p>
            <a:pPr indent="0" marL="0">
              <a:buNone/>
            </a:pPr>
            <a:r>
              <a:rPr lang="en-US" sz="1600" dirty="0">
                <a:solidFill>
                  <a:srgbClr val="3A3A3C"/>
                </a:solidFill>
                <a:latin typeface="Calibri" pitchFamily="34" charset="0"/>
                <a:ea typeface="Calibri" pitchFamily="34" charset="-122"/>
                <a:cs typeface="Calibri" pitchFamily="34" charset="-120"/>
              </a:rPr>
              <a:t>Phase 4 — Design &amp; delivery</a:t>
            </a:r>
            <a:endParaRPr lang="en-US" sz="1600" dirty="0"/>
          </a:p>
        </p:txBody>
      </p:sp>
      <p:sp>
        <p:nvSpPr>
          <p:cNvPr id="23" name="badge chart-column"/>
          <p:cNvSpPr/>
          <p:nvPr/>
        </p:nvSpPr>
        <p:spPr>
          <a:xfrm>
            <a:off x="6217920" y="2496312"/>
            <a:ext cx="566928" cy="566928"/>
          </a:xfrm>
          <a:prstGeom prst="ellipse">
            <a:avLst/>
          </a:prstGeom>
          <a:solidFill>
            <a:srgbClr val="F8931D"/>
          </a:solidFill>
          <a:ln w="12700">
            <a:solidFill>
              <a:srgbClr val="F8931D"/>
            </a:solidFill>
            <a:prstDash val="solid"/>
          </a:ln>
        </p:spPr>
      </p:sp>
      <p:pic>
        <p:nvPicPr>
          <p:cNvPr id="24" name="Image 6" descr="chart-column">    </p:cNvPr>
          <p:cNvPicPr>
            <a:picLocks noChangeAspect="1"/>
          </p:cNvPicPr>
          <p:nvPr/>
        </p:nvPicPr>
        <p:blipFill>
          <a:blip r:embed="rId7"/>
          <a:stretch>
            <a:fillRect/>
          </a:stretch>
        </p:blipFill>
        <p:spPr>
          <a:xfrm>
            <a:off x="6348313" y="2626705"/>
            <a:ext cx="306141" cy="306141"/>
          </a:xfrm>
          <a:prstGeom prst="rect">
            <a:avLst/>
          </a:prstGeom>
        </p:spPr>
      </p:pic>
      <p:sp>
        <p:nvSpPr>
          <p:cNvPr id="25" name="Text 15"/>
          <p:cNvSpPr txBox="1"/>
          <p:nvPr/>
        </p:nvSpPr>
        <p:spPr>
          <a:xfrm>
            <a:off x="6967728" y="2496312"/>
            <a:ext cx="4846320" cy="566928"/>
          </a:xfrm>
          <a:prstGeom prst="rect">
            <a:avLst/>
          </a:prstGeom>
          <a:noFill/>
          <a:ln/>
        </p:spPr>
        <p:txBody>
          <a:bodyPr wrap="square" lIns="0" tIns="0" rIns="0" bIns="0" rtlCol="0" anchor="ctr"/>
          <a:lstStyle/>
          <a:p>
            <a:pPr indent="0" marL="0">
              <a:buNone/>
            </a:pPr>
            <a:r>
              <a:rPr lang="en-US" sz="1600" dirty="0">
                <a:solidFill>
                  <a:srgbClr val="3A3A3C"/>
                </a:solidFill>
                <a:latin typeface="Calibri" pitchFamily="34" charset="0"/>
                <a:ea typeface="Calibri" pitchFamily="34" charset="-122"/>
                <a:cs typeface="Calibri" pitchFamily="34" charset="-120"/>
              </a:rPr>
              <a:t>Phase 5 — Evaluation, compliance &amp; impact</a:t>
            </a:r>
            <a:endParaRPr lang="en-US" sz="1600" dirty="0"/>
          </a:p>
        </p:txBody>
      </p:sp>
      <p:sp>
        <p:nvSpPr>
          <p:cNvPr id="26" name="badge users"/>
          <p:cNvSpPr/>
          <p:nvPr/>
        </p:nvSpPr>
        <p:spPr>
          <a:xfrm>
            <a:off x="6217920" y="3392424"/>
            <a:ext cx="566928" cy="566928"/>
          </a:xfrm>
          <a:prstGeom prst="ellipse">
            <a:avLst/>
          </a:prstGeom>
          <a:solidFill>
            <a:srgbClr val="F8931D"/>
          </a:solidFill>
          <a:ln w="12700">
            <a:solidFill>
              <a:srgbClr val="F8931D"/>
            </a:solidFill>
            <a:prstDash val="solid"/>
          </a:ln>
        </p:spPr>
      </p:sp>
      <p:pic>
        <p:nvPicPr>
          <p:cNvPr id="27" name="Image 7" descr="users">    </p:cNvPr>
          <p:cNvPicPr>
            <a:picLocks noChangeAspect="1"/>
          </p:cNvPicPr>
          <p:nvPr/>
        </p:nvPicPr>
        <p:blipFill>
          <a:blip r:embed="rId8"/>
          <a:stretch>
            <a:fillRect/>
          </a:stretch>
        </p:blipFill>
        <p:spPr>
          <a:xfrm>
            <a:off x="6348313" y="3522817"/>
            <a:ext cx="306141" cy="306141"/>
          </a:xfrm>
          <a:prstGeom prst="rect">
            <a:avLst/>
          </a:prstGeom>
        </p:spPr>
      </p:pic>
      <p:sp>
        <p:nvSpPr>
          <p:cNvPr id="28" name="Text 17"/>
          <p:cNvSpPr txBox="1"/>
          <p:nvPr/>
        </p:nvSpPr>
        <p:spPr>
          <a:xfrm>
            <a:off x="6967728" y="3392424"/>
            <a:ext cx="4846320" cy="566928"/>
          </a:xfrm>
          <a:prstGeom prst="rect">
            <a:avLst/>
          </a:prstGeom>
          <a:noFill/>
          <a:ln/>
        </p:spPr>
        <p:txBody>
          <a:bodyPr wrap="square" lIns="0" tIns="0" rIns="0" bIns="0" rtlCol="0" anchor="ctr"/>
          <a:lstStyle/>
          <a:p>
            <a:pPr indent="0" marL="0">
              <a:buNone/>
            </a:pPr>
            <a:r>
              <a:rPr lang="en-US" sz="1600" dirty="0">
                <a:solidFill>
                  <a:srgbClr val="3A3A3C"/>
                </a:solidFill>
                <a:latin typeface="Calibri" pitchFamily="34" charset="0"/>
                <a:ea typeface="Calibri" pitchFamily="34" charset="-122"/>
                <a:cs typeface="Calibri" pitchFamily="34" charset="-120"/>
              </a:rPr>
              <a:t>Phase 6 — Talent, knowledge &amp; continuous improvement</a:t>
            </a:r>
            <a:endParaRPr lang="en-US" sz="1600" dirty="0"/>
          </a:p>
        </p:txBody>
      </p:sp>
      <p:sp>
        <p:nvSpPr>
          <p:cNvPr id="29" name="badge layers"/>
          <p:cNvSpPr/>
          <p:nvPr/>
        </p:nvSpPr>
        <p:spPr>
          <a:xfrm>
            <a:off x="6217920" y="4288536"/>
            <a:ext cx="566928" cy="566928"/>
          </a:xfrm>
          <a:prstGeom prst="ellipse">
            <a:avLst/>
          </a:prstGeom>
          <a:solidFill>
            <a:srgbClr val="F8931D"/>
          </a:solidFill>
          <a:ln w="12700">
            <a:solidFill>
              <a:srgbClr val="F8931D"/>
            </a:solidFill>
            <a:prstDash val="solid"/>
          </a:ln>
        </p:spPr>
      </p:sp>
      <p:pic>
        <p:nvPicPr>
          <p:cNvPr id="30" name="Image 8" descr="layers">    </p:cNvPr>
          <p:cNvPicPr>
            <a:picLocks noChangeAspect="1"/>
          </p:cNvPicPr>
          <p:nvPr/>
        </p:nvPicPr>
        <p:blipFill>
          <a:blip r:embed="rId9"/>
          <a:stretch>
            <a:fillRect/>
          </a:stretch>
        </p:blipFill>
        <p:spPr>
          <a:xfrm>
            <a:off x="6348313" y="4418929"/>
            <a:ext cx="306141" cy="306141"/>
          </a:xfrm>
          <a:prstGeom prst="rect">
            <a:avLst/>
          </a:prstGeom>
        </p:spPr>
      </p:pic>
      <p:sp>
        <p:nvSpPr>
          <p:cNvPr id="31" name="Text 19"/>
          <p:cNvSpPr txBox="1"/>
          <p:nvPr/>
        </p:nvSpPr>
        <p:spPr>
          <a:xfrm>
            <a:off x="6967728" y="4288536"/>
            <a:ext cx="4846320" cy="566928"/>
          </a:xfrm>
          <a:prstGeom prst="rect">
            <a:avLst/>
          </a:prstGeom>
          <a:noFill/>
          <a:ln/>
        </p:spPr>
        <p:txBody>
          <a:bodyPr wrap="square" lIns="0" tIns="0" rIns="0" bIns="0" rtlCol="0" anchor="ctr"/>
          <a:lstStyle/>
          <a:p>
            <a:pPr indent="0" marL="0">
              <a:buNone/>
            </a:pPr>
            <a:r>
              <a:rPr lang="en-US" sz="1600" dirty="0">
                <a:solidFill>
                  <a:srgbClr val="3A3A3C"/>
                </a:solidFill>
                <a:latin typeface="Calibri" pitchFamily="34" charset="0"/>
                <a:ea typeface="Calibri" pitchFamily="34" charset="-122"/>
                <a:cs typeface="Calibri" pitchFamily="34" charset="-120"/>
              </a:rPr>
              <a:t>Phase 0 — Enablers (run across all phases)</a:t>
            </a:r>
            <a:endParaRPr lang="en-US" sz="1600" dirty="0"/>
          </a:p>
        </p:txBody>
      </p:sp>
      <p:sp>
        <p:nvSpPr>
          <p:cNvPr id="32" name="badge target"/>
          <p:cNvSpPr/>
          <p:nvPr/>
        </p:nvSpPr>
        <p:spPr>
          <a:xfrm>
            <a:off x="6217920" y="5184648"/>
            <a:ext cx="566928" cy="566928"/>
          </a:xfrm>
          <a:prstGeom prst="ellipse">
            <a:avLst/>
          </a:prstGeom>
          <a:solidFill>
            <a:srgbClr val="58595B"/>
          </a:solidFill>
          <a:ln w="12700">
            <a:solidFill>
              <a:srgbClr val="58595B"/>
            </a:solidFill>
            <a:prstDash val="solid"/>
          </a:ln>
        </p:spPr>
      </p:sp>
      <p:pic>
        <p:nvPicPr>
          <p:cNvPr id="33" name="Image 9" descr="target">    </p:cNvPr>
          <p:cNvPicPr>
            <a:picLocks noChangeAspect="1"/>
          </p:cNvPicPr>
          <p:nvPr/>
        </p:nvPicPr>
        <p:blipFill>
          <a:blip r:embed="rId10"/>
          <a:stretch>
            <a:fillRect/>
          </a:stretch>
        </p:blipFill>
        <p:spPr>
          <a:xfrm>
            <a:off x="6348313" y="5315041"/>
            <a:ext cx="306141" cy="306141"/>
          </a:xfrm>
          <a:prstGeom prst="rect">
            <a:avLst/>
          </a:prstGeom>
        </p:spPr>
      </p:pic>
      <p:sp>
        <p:nvSpPr>
          <p:cNvPr id="34" name="Text 21"/>
          <p:cNvSpPr txBox="1"/>
          <p:nvPr/>
        </p:nvSpPr>
        <p:spPr>
          <a:xfrm>
            <a:off x="6967728" y="5184648"/>
            <a:ext cx="4846320" cy="566928"/>
          </a:xfrm>
          <a:prstGeom prst="rect">
            <a:avLst/>
          </a:prstGeom>
          <a:noFill/>
          <a:ln/>
        </p:spPr>
        <p:txBody>
          <a:bodyPr wrap="square" lIns="0" tIns="0" rIns="0" bIns="0" rtlCol="0" anchor="ctr"/>
          <a:lstStyle/>
          <a:p>
            <a:pPr indent="0" marL="0">
              <a:buNone/>
            </a:pPr>
            <a:r>
              <a:rPr lang="en-US" sz="1600" dirty="0">
                <a:solidFill>
                  <a:srgbClr val="3A3A3C"/>
                </a:solidFill>
                <a:latin typeface="Calibri" pitchFamily="34" charset="0"/>
                <a:ea typeface="Calibri" pitchFamily="34" charset="-122"/>
                <a:cs typeface="Calibri" pitchFamily="34" charset="-120"/>
              </a:rPr>
              <a:t>Results and next steps</a:t>
            </a:r>
            <a:endParaRPr lang="en-US" sz="1600" dirty="0"/>
          </a:p>
        </p:txBody>
      </p:sp>
      <p:sp>
        <p:nvSpPr>
          <p:cNvPr id="35"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EXECUTIVE SUMMARY</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35 processes run end to end, 100 % of tasks completed</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18 Apr 2026 – 28 Sept 2026 · 27 people involved · every figure below is read from the application</a:t>
            </a:r>
            <a:endParaRPr lang="en-US" sz="1400" dirty="0"/>
          </a:p>
        </p:txBody>
      </p:sp>
      <p:sp>
        <p:nvSpPr>
          <p:cNvPr id="6" name="kpi end-to-end processes (33 standard + 2 healthcare)"/>
          <p:cNvSpPr/>
          <p:nvPr/>
        </p:nvSpPr>
        <p:spPr>
          <a:xfrm>
            <a:off x="457200" y="1783080"/>
            <a:ext cx="2679192" cy="1143000"/>
          </a:xfrm>
          <a:prstGeom prst="roundRect">
            <a:avLst>
              <a:gd name="adj" fmla="val 6400"/>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640080" y="1892808"/>
            <a:ext cx="2313432" cy="566928"/>
          </a:xfrm>
          <a:prstGeom prst="rect">
            <a:avLst/>
          </a:prstGeom>
          <a:noFill/>
          <a:ln/>
        </p:spPr>
        <p:txBody>
          <a:bodyPr wrap="square" lIns="0" tIns="0" rIns="0" bIns="0" rtlCol="0" anchor="ctr"/>
          <a:lstStyle/>
          <a:p>
            <a:pPr indent="0" marL="0">
              <a:buNone/>
            </a:pPr>
            <a:r>
              <a:rPr lang="en-US" sz="3200" b="1" dirty="0">
                <a:solidFill>
                  <a:srgbClr val="E07B00"/>
                </a:solidFill>
                <a:latin typeface="Cambria" pitchFamily="34" charset="0"/>
                <a:ea typeface="Cambria" pitchFamily="34" charset="-122"/>
                <a:cs typeface="Cambria" pitchFamily="34" charset="-120"/>
              </a:rPr>
              <a:t>35</a:t>
            </a:r>
            <a:endParaRPr lang="en-US" sz="3200" dirty="0"/>
          </a:p>
        </p:txBody>
      </p:sp>
      <p:sp>
        <p:nvSpPr>
          <p:cNvPr id="8" name="Text 5"/>
          <p:cNvSpPr txBox="1"/>
          <p:nvPr/>
        </p:nvSpPr>
        <p:spPr>
          <a:xfrm>
            <a:off x="640080" y="2459736"/>
            <a:ext cx="2313432" cy="384048"/>
          </a:xfrm>
          <a:prstGeom prst="rect">
            <a:avLst/>
          </a:prstGeom>
          <a:noFill/>
          <a:ln/>
        </p:spPr>
        <p:txBody>
          <a:bodyPr wrap="square" lIns="0" tIns="0" rIns="0" bIns="0" rtlCol="0" anchor="t"/>
          <a:lstStyle/>
          <a:p>
            <a:pPr indent="0" marL="0">
              <a:buNone/>
            </a:pPr>
            <a:r>
              <a:rPr lang="en-US" sz="1200" dirty="0">
                <a:solidFill>
                  <a:srgbClr val="58595B"/>
                </a:solidFill>
                <a:latin typeface="Calibri" pitchFamily="34" charset="0"/>
                <a:ea typeface="Calibri" pitchFamily="34" charset="-122"/>
                <a:cs typeface="Calibri" pitchFamily="34" charset="-120"/>
              </a:rPr>
              <a:t>end-to-end processes (33 standard + 2 healthcare)</a:t>
            </a:r>
            <a:endParaRPr lang="en-US" sz="1200" dirty="0"/>
          </a:p>
        </p:txBody>
      </p:sp>
      <p:sp>
        <p:nvSpPr>
          <p:cNvPr id="9" name="kpi macro processes involved"/>
          <p:cNvSpPr/>
          <p:nvPr/>
        </p:nvSpPr>
        <p:spPr>
          <a:xfrm>
            <a:off x="3319272" y="1783080"/>
            <a:ext cx="2679192" cy="1143000"/>
          </a:xfrm>
          <a:prstGeom prst="roundRect">
            <a:avLst>
              <a:gd name="adj" fmla="val 6400"/>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7"/>
          <p:cNvSpPr txBox="1"/>
          <p:nvPr/>
        </p:nvSpPr>
        <p:spPr>
          <a:xfrm>
            <a:off x="3502152" y="1892808"/>
            <a:ext cx="2313432" cy="566928"/>
          </a:xfrm>
          <a:prstGeom prst="rect">
            <a:avLst/>
          </a:prstGeom>
          <a:noFill/>
          <a:ln/>
        </p:spPr>
        <p:txBody>
          <a:bodyPr wrap="square" lIns="0" tIns="0" rIns="0" bIns="0" rtlCol="0" anchor="ctr"/>
          <a:lstStyle/>
          <a:p>
            <a:pPr indent="0" marL="0">
              <a:buNone/>
            </a:pPr>
            <a:r>
              <a:rPr lang="en-US" sz="3200" b="1" dirty="0">
                <a:solidFill>
                  <a:srgbClr val="E07B00"/>
                </a:solidFill>
                <a:latin typeface="Cambria" pitchFamily="34" charset="0"/>
                <a:ea typeface="Cambria" pitchFamily="34" charset="-122"/>
                <a:cs typeface="Cambria" pitchFamily="34" charset="-120"/>
              </a:rPr>
              <a:t>53</a:t>
            </a:r>
            <a:endParaRPr lang="en-US" sz="3200" dirty="0"/>
          </a:p>
        </p:txBody>
      </p:sp>
      <p:sp>
        <p:nvSpPr>
          <p:cNvPr id="11" name="Text 8"/>
          <p:cNvSpPr txBox="1"/>
          <p:nvPr/>
        </p:nvSpPr>
        <p:spPr>
          <a:xfrm>
            <a:off x="3502152" y="2459736"/>
            <a:ext cx="2313432" cy="384048"/>
          </a:xfrm>
          <a:prstGeom prst="rect">
            <a:avLst/>
          </a:prstGeom>
          <a:noFill/>
          <a:ln/>
        </p:spPr>
        <p:txBody>
          <a:bodyPr wrap="square" lIns="0" tIns="0" rIns="0" bIns="0" rtlCol="0" anchor="t"/>
          <a:lstStyle/>
          <a:p>
            <a:pPr indent="0" marL="0">
              <a:buNone/>
            </a:pPr>
            <a:r>
              <a:rPr lang="en-US" sz="1200" dirty="0">
                <a:solidFill>
                  <a:srgbClr val="58595B"/>
                </a:solidFill>
                <a:latin typeface="Calibri" pitchFamily="34" charset="0"/>
                <a:ea typeface="Calibri" pitchFamily="34" charset="-122"/>
                <a:cs typeface="Calibri" pitchFamily="34" charset="-120"/>
              </a:rPr>
              <a:t>macro processes involved</a:t>
            </a:r>
            <a:endParaRPr lang="en-US" sz="1200" dirty="0"/>
          </a:p>
        </p:txBody>
      </p:sp>
      <p:sp>
        <p:nvSpPr>
          <p:cNvPr id="12" name="kpi tasks completed, none overdue"/>
          <p:cNvSpPr/>
          <p:nvPr/>
        </p:nvSpPr>
        <p:spPr>
          <a:xfrm>
            <a:off x="6181344" y="1783080"/>
            <a:ext cx="2679192" cy="1143000"/>
          </a:xfrm>
          <a:prstGeom prst="roundRect">
            <a:avLst>
              <a:gd name="adj" fmla="val 6400"/>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3" name="Text 10"/>
          <p:cNvSpPr txBox="1"/>
          <p:nvPr/>
        </p:nvSpPr>
        <p:spPr>
          <a:xfrm>
            <a:off x="6364224" y="1892808"/>
            <a:ext cx="2313432" cy="566928"/>
          </a:xfrm>
          <a:prstGeom prst="rect">
            <a:avLst/>
          </a:prstGeom>
          <a:noFill/>
          <a:ln/>
        </p:spPr>
        <p:txBody>
          <a:bodyPr wrap="square" lIns="0" tIns="0" rIns="0" bIns="0" rtlCol="0" anchor="ctr"/>
          <a:lstStyle/>
          <a:p>
            <a:pPr indent="0" marL="0">
              <a:buNone/>
            </a:pPr>
            <a:r>
              <a:rPr lang="en-US" sz="3200" b="1" dirty="0">
                <a:solidFill>
                  <a:srgbClr val="E07B00"/>
                </a:solidFill>
                <a:latin typeface="Cambria" pitchFamily="34" charset="0"/>
                <a:ea typeface="Cambria" pitchFamily="34" charset="-122"/>
                <a:cs typeface="Cambria" pitchFamily="34" charset="-120"/>
              </a:rPr>
              <a:t>265</a:t>
            </a:r>
            <a:endParaRPr lang="en-US" sz="3200" dirty="0"/>
          </a:p>
        </p:txBody>
      </p:sp>
      <p:sp>
        <p:nvSpPr>
          <p:cNvPr id="14" name="Text 11"/>
          <p:cNvSpPr txBox="1"/>
          <p:nvPr/>
        </p:nvSpPr>
        <p:spPr>
          <a:xfrm>
            <a:off x="6364224" y="2459736"/>
            <a:ext cx="2313432" cy="384048"/>
          </a:xfrm>
          <a:prstGeom prst="rect">
            <a:avLst/>
          </a:prstGeom>
          <a:noFill/>
          <a:ln/>
        </p:spPr>
        <p:txBody>
          <a:bodyPr wrap="square" lIns="0" tIns="0" rIns="0" bIns="0" rtlCol="0" anchor="t"/>
          <a:lstStyle/>
          <a:p>
            <a:pPr indent="0" marL="0">
              <a:buNone/>
            </a:pPr>
            <a:r>
              <a:rPr lang="en-US" sz="1200" dirty="0">
                <a:solidFill>
                  <a:srgbClr val="58595B"/>
                </a:solidFill>
                <a:latin typeface="Calibri" pitchFamily="34" charset="0"/>
                <a:ea typeface="Calibri" pitchFamily="34" charset="-122"/>
                <a:cs typeface="Calibri" pitchFamily="34" charset="-120"/>
              </a:rPr>
              <a:t>tasks completed, none overdue</a:t>
            </a:r>
            <a:endParaRPr lang="en-US" sz="1200" dirty="0"/>
          </a:p>
        </p:txBody>
      </p:sp>
      <p:sp>
        <p:nvSpPr>
          <p:cNvPr id="15" name="kpi steps executed"/>
          <p:cNvSpPr/>
          <p:nvPr/>
        </p:nvSpPr>
        <p:spPr>
          <a:xfrm>
            <a:off x="9043416" y="1783080"/>
            <a:ext cx="2679192" cy="1143000"/>
          </a:xfrm>
          <a:prstGeom prst="roundRect">
            <a:avLst>
              <a:gd name="adj" fmla="val 6400"/>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6" name="Text 13"/>
          <p:cNvSpPr txBox="1"/>
          <p:nvPr/>
        </p:nvSpPr>
        <p:spPr>
          <a:xfrm>
            <a:off x="9226296" y="1892808"/>
            <a:ext cx="2313432" cy="566928"/>
          </a:xfrm>
          <a:prstGeom prst="rect">
            <a:avLst/>
          </a:prstGeom>
          <a:noFill/>
          <a:ln/>
        </p:spPr>
        <p:txBody>
          <a:bodyPr wrap="square" lIns="0" tIns="0" rIns="0" bIns="0" rtlCol="0" anchor="ctr"/>
          <a:lstStyle/>
          <a:p>
            <a:pPr indent="0" marL="0">
              <a:buNone/>
            </a:pPr>
            <a:r>
              <a:rPr lang="en-US" sz="3200" b="1" dirty="0">
                <a:solidFill>
                  <a:srgbClr val="E07B00"/>
                </a:solidFill>
                <a:latin typeface="Cambria" pitchFamily="34" charset="0"/>
                <a:ea typeface="Cambria" pitchFamily="34" charset="-122"/>
                <a:cs typeface="Cambria" pitchFamily="34" charset="-120"/>
              </a:rPr>
              <a:t>463</a:t>
            </a:r>
            <a:endParaRPr lang="en-US" sz="3200" dirty="0"/>
          </a:p>
        </p:txBody>
      </p:sp>
      <p:sp>
        <p:nvSpPr>
          <p:cNvPr id="17" name="Text 14"/>
          <p:cNvSpPr txBox="1"/>
          <p:nvPr/>
        </p:nvSpPr>
        <p:spPr>
          <a:xfrm>
            <a:off x="9226296" y="2459736"/>
            <a:ext cx="2313432" cy="384048"/>
          </a:xfrm>
          <a:prstGeom prst="rect">
            <a:avLst/>
          </a:prstGeom>
          <a:noFill/>
          <a:ln/>
        </p:spPr>
        <p:txBody>
          <a:bodyPr wrap="square" lIns="0" tIns="0" rIns="0" bIns="0" rtlCol="0" anchor="t"/>
          <a:lstStyle/>
          <a:p>
            <a:pPr indent="0" marL="0">
              <a:buNone/>
            </a:pPr>
            <a:r>
              <a:rPr lang="en-US" sz="1200" dirty="0">
                <a:solidFill>
                  <a:srgbClr val="58595B"/>
                </a:solidFill>
                <a:latin typeface="Calibri" pitchFamily="34" charset="0"/>
                <a:ea typeface="Calibri" pitchFamily="34" charset="-122"/>
                <a:cs typeface="Calibri" pitchFamily="34" charset="-120"/>
              </a:rPr>
              <a:t>steps executed</a:t>
            </a:r>
            <a:endParaRPr lang="en-US" sz="1200" dirty="0"/>
          </a:p>
        </p:txBody>
      </p:sp>
      <p:sp>
        <p:nvSpPr>
          <p:cNvPr id="18" name="message 0"/>
          <p:cNvSpPr/>
          <p:nvPr/>
        </p:nvSpPr>
        <p:spPr>
          <a:xfrm>
            <a:off x="457200" y="3200400"/>
            <a:ext cx="3611880" cy="2880360"/>
          </a:xfrm>
          <a:prstGeom prst="roundRect">
            <a:avLst>
              <a:gd name="adj" fmla="val 2540"/>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9" name="badge clipboard-check"/>
          <p:cNvSpPr/>
          <p:nvPr/>
        </p:nvSpPr>
        <p:spPr>
          <a:xfrm>
            <a:off x="731520" y="3474720"/>
            <a:ext cx="603504" cy="603504"/>
          </a:xfrm>
          <a:prstGeom prst="ellipse">
            <a:avLst/>
          </a:prstGeom>
          <a:solidFill>
            <a:srgbClr val="F8931D"/>
          </a:solidFill>
          <a:ln w="12700">
            <a:solidFill>
              <a:srgbClr val="F8931D"/>
            </a:solidFill>
            <a:prstDash val="solid"/>
          </a:ln>
        </p:spPr>
      </p:sp>
      <p:pic>
        <p:nvPicPr>
          <p:cNvPr id="20" name="Image 0" descr="clipboard-check">    </p:cNvPr>
          <p:cNvPicPr>
            <a:picLocks noChangeAspect="1"/>
          </p:cNvPicPr>
          <p:nvPr/>
        </p:nvPicPr>
        <p:blipFill>
          <a:blip r:embed="rId1"/>
          <a:stretch>
            <a:fillRect/>
          </a:stretch>
        </p:blipFill>
        <p:spPr>
          <a:xfrm>
            <a:off x="870326" y="3613526"/>
            <a:ext cx="325892" cy="325892"/>
          </a:xfrm>
          <a:prstGeom prst="rect">
            <a:avLst/>
          </a:prstGeom>
        </p:spPr>
      </p:pic>
      <p:sp>
        <p:nvSpPr>
          <p:cNvPr id="21" name="Text 17"/>
          <p:cNvSpPr txBox="1"/>
          <p:nvPr/>
        </p:nvSpPr>
        <p:spPr>
          <a:xfrm>
            <a:off x="731520" y="4206240"/>
            <a:ext cx="3108960" cy="502920"/>
          </a:xfrm>
          <a:prstGeom prst="rect">
            <a:avLst/>
          </a:prstGeom>
          <a:noFill/>
          <a:ln/>
        </p:spPr>
        <p:txBody>
          <a:bodyPr wrap="square" lIns="0" tIns="0" rIns="0" bIns="0" rtlCol="0" anchor="t"/>
          <a:lstStyle/>
          <a:p>
            <a:pPr indent="0" marL="0">
              <a:buNone/>
            </a:pPr>
            <a:r>
              <a:rPr lang="en-US" sz="1700" b="1" dirty="0">
                <a:solidFill>
                  <a:srgbClr val="3A3A3C"/>
                </a:solidFill>
                <a:latin typeface="Cambria" pitchFamily="34" charset="0"/>
                <a:ea typeface="Cambria" pitchFamily="34" charset="-122"/>
                <a:cs typeface="Cambria" pitchFamily="34" charset="-120"/>
              </a:rPr>
              <a:t>Scope and evidence first</a:t>
            </a:r>
            <a:endParaRPr lang="en-US" sz="1700" dirty="0"/>
          </a:p>
        </p:txBody>
      </p:sp>
      <p:sp>
        <p:nvSpPr>
          <p:cNvPr id="22" name="Text 18"/>
          <p:cNvSpPr txBox="1"/>
          <p:nvPr/>
        </p:nvSpPr>
        <p:spPr>
          <a:xfrm>
            <a:off x="731520" y="4754880"/>
            <a:ext cx="3108960" cy="118872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40 stakeholders registered, 24 AI-generated questions validated, 187 responses collected before any decision.</a:t>
            </a:r>
            <a:endParaRPr lang="en-US" sz="1400" dirty="0"/>
          </a:p>
        </p:txBody>
      </p:sp>
      <p:sp>
        <p:nvSpPr>
          <p:cNvPr id="23" name="message 1"/>
          <p:cNvSpPr/>
          <p:nvPr/>
        </p:nvSpPr>
        <p:spPr>
          <a:xfrm>
            <a:off x="4251960" y="3200400"/>
            <a:ext cx="3611880" cy="2880360"/>
          </a:xfrm>
          <a:prstGeom prst="roundRect">
            <a:avLst>
              <a:gd name="adj" fmla="val 2540"/>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24" name="badge file-check"/>
          <p:cNvSpPr/>
          <p:nvPr/>
        </p:nvSpPr>
        <p:spPr>
          <a:xfrm>
            <a:off x="4526280" y="3474720"/>
            <a:ext cx="603504" cy="603504"/>
          </a:xfrm>
          <a:prstGeom prst="ellipse">
            <a:avLst/>
          </a:prstGeom>
          <a:solidFill>
            <a:srgbClr val="F8931D"/>
          </a:solidFill>
          <a:ln w="12700">
            <a:solidFill>
              <a:srgbClr val="F8931D"/>
            </a:solidFill>
            <a:prstDash val="solid"/>
          </a:ln>
        </p:spPr>
      </p:sp>
      <p:pic>
        <p:nvPicPr>
          <p:cNvPr id="25" name="Image 1" descr="file-check">    </p:cNvPr>
          <p:cNvPicPr>
            <a:picLocks noChangeAspect="1"/>
          </p:cNvPicPr>
          <p:nvPr/>
        </p:nvPicPr>
        <p:blipFill>
          <a:blip r:embed="rId2"/>
          <a:stretch>
            <a:fillRect/>
          </a:stretch>
        </p:blipFill>
        <p:spPr>
          <a:xfrm>
            <a:off x="4665086" y="3613526"/>
            <a:ext cx="325892" cy="325892"/>
          </a:xfrm>
          <a:prstGeom prst="rect">
            <a:avLst/>
          </a:prstGeom>
        </p:spPr>
      </p:pic>
      <p:sp>
        <p:nvSpPr>
          <p:cNvPr id="26" name="Text 21"/>
          <p:cNvSpPr txBox="1"/>
          <p:nvPr/>
        </p:nvSpPr>
        <p:spPr>
          <a:xfrm>
            <a:off x="4526280" y="4206240"/>
            <a:ext cx="3108960" cy="502920"/>
          </a:xfrm>
          <a:prstGeom prst="rect">
            <a:avLst/>
          </a:prstGeom>
          <a:noFill/>
          <a:ln/>
        </p:spPr>
        <p:txBody>
          <a:bodyPr wrap="square" lIns="0" tIns="0" rIns="0" bIns="0" rtlCol="0" anchor="t"/>
          <a:lstStyle/>
          <a:p>
            <a:pPr indent="0" marL="0">
              <a:buNone/>
            </a:pPr>
            <a:r>
              <a:rPr lang="en-US" sz="1700" b="1" dirty="0">
                <a:solidFill>
                  <a:srgbClr val="3A3A3C"/>
                </a:solidFill>
                <a:latin typeface="Cambria" pitchFamily="34" charset="0"/>
                <a:ea typeface="Cambria" pitchFamily="34" charset="-122"/>
                <a:cs typeface="Cambria" pitchFamily="34" charset="-120"/>
              </a:rPr>
              <a:t>A plan approved on facts</a:t>
            </a:r>
            <a:endParaRPr lang="en-US" sz="1700" dirty="0"/>
          </a:p>
        </p:txBody>
      </p:sp>
      <p:sp>
        <p:nvSpPr>
          <p:cNvPr id="27" name="Text 22"/>
          <p:cNvSpPr txBox="1"/>
          <p:nvPr/>
        </p:nvSpPr>
        <p:spPr>
          <a:xfrm>
            <a:off x="4526280" y="4754880"/>
            <a:ext cx="3108960" cy="118872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23 needs grouped into 6 themes; net budget 1,330,000 MAD approved by the Steering Committee.</a:t>
            </a:r>
            <a:endParaRPr lang="en-US" sz="1400" dirty="0"/>
          </a:p>
        </p:txBody>
      </p:sp>
      <p:sp>
        <p:nvSpPr>
          <p:cNvPr id="28" name="message 2"/>
          <p:cNvSpPr/>
          <p:nvPr/>
        </p:nvSpPr>
        <p:spPr>
          <a:xfrm>
            <a:off x="8046720" y="3200400"/>
            <a:ext cx="3611880" cy="2880360"/>
          </a:xfrm>
          <a:prstGeom prst="roundRect">
            <a:avLst>
              <a:gd name="adj" fmla="val 2540"/>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29" name="badge trending-up"/>
          <p:cNvSpPr/>
          <p:nvPr/>
        </p:nvSpPr>
        <p:spPr>
          <a:xfrm>
            <a:off x="8321040" y="3474720"/>
            <a:ext cx="603504" cy="603504"/>
          </a:xfrm>
          <a:prstGeom prst="ellipse">
            <a:avLst/>
          </a:prstGeom>
          <a:solidFill>
            <a:srgbClr val="F8931D"/>
          </a:solidFill>
          <a:ln w="12700">
            <a:solidFill>
              <a:srgbClr val="F8931D"/>
            </a:solidFill>
            <a:prstDash val="solid"/>
          </a:ln>
        </p:spPr>
      </p:sp>
      <p:pic>
        <p:nvPicPr>
          <p:cNvPr id="30" name="Image 2" descr="trending-up">    </p:cNvPr>
          <p:cNvPicPr>
            <a:picLocks noChangeAspect="1"/>
          </p:cNvPicPr>
          <p:nvPr/>
        </p:nvPicPr>
        <p:blipFill>
          <a:blip r:embed="rId3"/>
          <a:stretch>
            <a:fillRect/>
          </a:stretch>
        </p:blipFill>
        <p:spPr>
          <a:xfrm>
            <a:off x="8459846" y="3613526"/>
            <a:ext cx="325892" cy="325892"/>
          </a:xfrm>
          <a:prstGeom prst="rect">
            <a:avLst/>
          </a:prstGeom>
        </p:spPr>
      </p:pic>
      <p:sp>
        <p:nvSpPr>
          <p:cNvPr id="31" name="Text 25"/>
          <p:cNvSpPr txBox="1"/>
          <p:nvPr/>
        </p:nvSpPr>
        <p:spPr>
          <a:xfrm>
            <a:off x="8321040" y="4206240"/>
            <a:ext cx="3108960" cy="502920"/>
          </a:xfrm>
          <a:prstGeom prst="rect">
            <a:avLst/>
          </a:prstGeom>
          <a:noFill/>
          <a:ln/>
        </p:spPr>
        <p:txBody>
          <a:bodyPr wrap="square" lIns="0" tIns="0" rIns="0" bIns="0" rtlCol="0" anchor="t"/>
          <a:lstStyle/>
          <a:p>
            <a:pPr indent="0" marL="0">
              <a:buNone/>
            </a:pPr>
            <a:r>
              <a:rPr lang="en-US" sz="1700" b="1" dirty="0">
                <a:solidFill>
                  <a:srgbClr val="3A3A3C"/>
                </a:solidFill>
                <a:latin typeface="Cambria" pitchFamily="34" charset="0"/>
                <a:ea typeface="Cambria" pitchFamily="34" charset="-122"/>
                <a:cs typeface="Cambria" pitchFamily="34" charset="-120"/>
              </a:rPr>
              <a:t>Delivery measured up to impact</a:t>
            </a:r>
            <a:endParaRPr lang="en-US" sz="1700" dirty="0"/>
          </a:p>
        </p:txBody>
      </p:sp>
      <p:sp>
        <p:nvSpPr>
          <p:cNvPr id="32" name="Text 26"/>
          <p:cNvSpPr txBox="1"/>
          <p:nvPr/>
        </p:nvSpPr>
        <p:spPr>
          <a:xfrm>
            <a:off x="8321040" y="4754880"/>
            <a:ext cx="3108960" cy="118872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Test scores from 48 % to 81 %; 9 of 11 supervisors apply the routine at day 30; ROI 22 %.</a:t>
            </a:r>
            <a:endParaRPr lang="en-US" sz="1400" dirty="0"/>
          </a:p>
        </p:txBody>
      </p:sp>
      <p:sp>
        <p:nvSpPr>
          <p:cNvPr id="33"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THE CLIENT</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Santéora Private Clinics Group</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Training engineering cycle focused on AI skills for Healthcare Providers: scope, evidence, diagnosis, report, delivery, evaluation and continuous improvement.</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577840" cy="914400"/>
        </p:xfrm>
        <a:graphic>
          <a:graphicData uri="http://schemas.openxmlformats.org/drawingml/2006/table">
            <a:tbl>
              <a:tblPr/>
              <a:tblGrid>
                <a:gridCol w="1554480"/>
                <a:gridCol w="4023360"/>
              </a:tblGrid>
              <a:tr h="38404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Fact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Value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384048">
                <a:tc>
                  <a:txBody>
                    <a:bodyPr/>
                    <a:lstStyle/>
                    <a:p>
                      <a:pPr indent="0" marL="0">
                        <a:buNone/>
                      </a:pPr>
                      <a:r>
                        <a:rPr lang="en-US" sz="1200" b="1" dirty="0">
                          <a:solidFill>
                            <a:srgbClr val="3A3A3C"/>
                          </a:solidFill>
                          <a:latin typeface="Calibri" pitchFamily="34" charset="0"/>
                          <a:ea typeface="Calibri" pitchFamily="34" charset="-122"/>
                          <a:cs typeface="Calibri" pitchFamily="34" charset="-120"/>
                        </a:rPr>
                        <a:t>Sector</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200" dirty="0">
                          <a:solidFill>
                            <a:srgbClr val="58595B"/>
                          </a:solidFill>
                          <a:latin typeface="Calibri" pitchFamily="34" charset="0"/>
                          <a:ea typeface="Calibri" pitchFamily="34" charset="-122"/>
                          <a:cs typeface="Calibri" pitchFamily="34" charset="-120"/>
                        </a:rPr>
                        <a:t>Healthcare providers — private clinics</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3A3A3C"/>
                          </a:solidFill>
                          <a:latin typeface="Calibri" pitchFamily="34" charset="0"/>
                          <a:ea typeface="Calibri" pitchFamily="34" charset="-122"/>
                          <a:cs typeface="Calibri" pitchFamily="34" charset="-120"/>
                        </a:rPr>
                        <a:t>Size</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200" dirty="0">
                          <a:solidFill>
                            <a:srgbClr val="58595B"/>
                          </a:solidFill>
                          <a:latin typeface="Calibri" pitchFamily="34" charset="0"/>
                          <a:ea typeface="Calibri" pitchFamily="34" charset="-122"/>
                          <a:cs typeface="Calibri" pitchFamily="34" charset="-120"/>
                        </a:rPr>
                        <a:t>2,600 employees, large organization</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384048">
                <a:tc>
                  <a:txBody>
                    <a:bodyPr/>
                    <a:lstStyle/>
                    <a:p>
                      <a:pPr indent="0" marL="0">
                        <a:buNone/>
                      </a:pPr>
                      <a:r>
                        <a:rPr lang="en-US" sz="1200" b="1" dirty="0">
                          <a:solidFill>
                            <a:srgbClr val="3A3A3C"/>
                          </a:solidFill>
                          <a:latin typeface="Calibri" pitchFamily="34" charset="0"/>
                          <a:ea typeface="Calibri" pitchFamily="34" charset="-122"/>
                          <a:cs typeface="Calibri" pitchFamily="34" charset="-120"/>
                        </a:rPr>
                        <a:t>Headquarters</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200" dirty="0">
                          <a:solidFill>
                            <a:srgbClr val="58595B"/>
                          </a:solidFill>
                          <a:latin typeface="Calibri" pitchFamily="34" charset="0"/>
                          <a:ea typeface="Calibri" pitchFamily="34" charset="-122"/>
                          <a:cs typeface="Calibri" pitchFamily="34" charset="-120"/>
                        </a:rPr>
                        <a:t>Casablanca, Morocco</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3A3A3C"/>
                          </a:solidFill>
                          <a:latin typeface="Calibri" pitchFamily="34" charset="0"/>
                          <a:ea typeface="Calibri" pitchFamily="34" charset="-122"/>
                          <a:cs typeface="Calibri" pitchFamily="34" charset="-120"/>
                        </a:rPr>
                        <a:t>Project</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200" dirty="0">
                          <a:solidFill>
                            <a:srgbClr val="58595B"/>
                          </a:solidFill>
                          <a:latin typeface="Calibri" pitchFamily="34" charset="0"/>
                          <a:ea typeface="Calibri" pitchFamily="34" charset="-122"/>
                          <a:cs typeface="Calibri" pitchFamily="34" charset="-120"/>
                        </a:rPr>
                        <a:t>AI Skills Full Run 2026 — Santéora Private Clinics Group</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384048">
                <a:tc>
                  <a:txBody>
                    <a:bodyPr/>
                    <a:lstStyle/>
                    <a:p>
                      <a:pPr indent="0" marL="0">
                        <a:buNone/>
                      </a:pPr>
                      <a:r>
                        <a:rPr lang="en-US" sz="1200" b="1" dirty="0">
                          <a:solidFill>
                            <a:srgbClr val="3A3A3C"/>
                          </a:solidFill>
                          <a:latin typeface="Calibri" pitchFamily="34" charset="0"/>
                          <a:ea typeface="Calibri" pitchFamily="34" charset="-122"/>
                          <a:cs typeface="Calibri" pitchFamily="34" charset="-120"/>
                        </a:rPr>
                        <a:t>Focus</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200" dirty="0">
                          <a:solidFill>
                            <a:srgbClr val="58595B"/>
                          </a:solidFill>
                          <a:latin typeface="Calibri" pitchFamily="34" charset="0"/>
                          <a:ea typeface="Calibri" pitchFamily="34" charset="-122"/>
                          <a:cs typeface="Calibri" pitchFamily="34" charset="-120"/>
                        </a:rPr>
                        <a:t>AI skills</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3A3A3C"/>
                          </a:solidFill>
                          <a:latin typeface="Calibri" pitchFamily="34" charset="0"/>
                          <a:ea typeface="Calibri" pitchFamily="34" charset="-122"/>
                          <a:cs typeface="Calibri" pitchFamily="34" charset="-120"/>
                        </a:rPr>
                        <a:t>Period</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200" dirty="0">
                          <a:solidFill>
                            <a:srgbClr val="58595B"/>
                          </a:solidFill>
                          <a:latin typeface="Calibri" pitchFamily="34" charset="0"/>
                          <a:ea typeface="Calibri" pitchFamily="34" charset="-122"/>
                          <a:cs typeface="Calibri" pitchFamily="34" charset="-120"/>
                        </a:rPr>
                        <a:t>18 Apr 2026 – 28 Sept 2026</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384048">
                <a:tc>
                  <a:txBody>
                    <a:bodyPr/>
                    <a:lstStyle/>
                    <a:p>
                      <a:pPr indent="0" marL="0">
                        <a:buNone/>
                      </a:pPr>
                      <a:r>
                        <a:rPr lang="en-US" sz="1200" b="1" dirty="0">
                          <a:solidFill>
                            <a:srgbClr val="3A3A3C"/>
                          </a:solidFill>
                          <a:latin typeface="Calibri" pitchFamily="34" charset="0"/>
                          <a:ea typeface="Calibri" pitchFamily="34" charset="-122"/>
                          <a:cs typeface="Calibri" pitchFamily="34" charset="-120"/>
                        </a:rPr>
                        <a:t>Languages</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200" dirty="0">
                          <a:solidFill>
                            <a:srgbClr val="58595B"/>
                          </a:solidFill>
                          <a:latin typeface="Calibri" pitchFamily="34" charset="0"/>
                          <a:ea typeface="Calibri" pitchFamily="34" charset="-122"/>
                          <a:cs typeface="Calibri" pitchFamily="34" charset="-120"/>
                        </a:rPr>
                        <a:t>French, English, Arabic</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7" name="objectives"/>
          <p:cNvSpPr/>
          <p:nvPr/>
        </p:nvSpPr>
        <p:spPr>
          <a:xfrm>
            <a:off x="6355080" y="1828800"/>
            <a:ext cx="5376672" cy="4297680"/>
          </a:xfrm>
          <a:prstGeom prst="roundRect">
            <a:avLst>
              <a:gd name="adj" fmla="val 1702"/>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8" name="badge target"/>
          <p:cNvSpPr/>
          <p:nvPr/>
        </p:nvSpPr>
        <p:spPr>
          <a:xfrm>
            <a:off x="6629400" y="2057400"/>
            <a:ext cx="566928" cy="566928"/>
          </a:xfrm>
          <a:prstGeom prst="ellipse">
            <a:avLst/>
          </a:prstGeom>
          <a:solidFill>
            <a:srgbClr val="F8931D"/>
          </a:solidFill>
          <a:ln w="12700">
            <a:solidFill>
              <a:srgbClr val="F8931D"/>
            </a:solidFill>
            <a:prstDash val="solid"/>
          </a:ln>
        </p:spPr>
      </p:sp>
      <p:pic>
        <p:nvPicPr>
          <p:cNvPr id="9" name="Image 0" descr="target">    </p:cNvPr>
          <p:cNvPicPr>
            <a:picLocks noChangeAspect="1"/>
          </p:cNvPicPr>
          <p:nvPr/>
        </p:nvPicPr>
        <p:blipFill>
          <a:blip r:embed="rId1"/>
          <a:stretch>
            <a:fillRect/>
          </a:stretch>
        </p:blipFill>
        <p:spPr>
          <a:xfrm>
            <a:off x="6759793" y="2187793"/>
            <a:ext cx="306141" cy="306141"/>
          </a:xfrm>
          <a:prstGeom prst="rect">
            <a:avLst/>
          </a:prstGeom>
        </p:spPr>
      </p:pic>
      <p:sp>
        <p:nvSpPr>
          <p:cNvPr id="10" name="Text 5"/>
          <p:cNvSpPr txBox="1"/>
          <p:nvPr/>
        </p:nvSpPr>
        <p:spPr>
          <a:xfrm>
            <a:off x="7360920" y="2057400"/>
            <a:ext cx="4206240" cy="566928"/>
          </a:xfrm>
          <a:prstGeom prst="rect">
            <a:avLst/>
          </a:prstGeom>
          <a:noFill/>
          <a:ln/>
        </p:spPr>
        <p:txBody>
          <a:bodyPr wrap="square" lIns="0" tIns="0" rIns="0" bIns="0" rtlCol="0" anchor="ctr"/>
          <a:lstStyle/>
          <a:p>
            <a:pPr indent="0" marL="0">
              <a:buNone/>
            </a:pPr>
            <a:r>
              <a:rPr lang="en-US" sz="1600" b="1" dirty="0">
                <a:solidFill>
                  <a:srgbClr val="3A3A3C"/>
                </a:solidFill>
                <a:latin typeface="Cambria" pitchFamily="34" charset="0"/>
                <a:ea typeface="Cambria" pitchFamily="34" charset="-122"/>
                <a:cs typeface="Cambria" pitchFamily="34" charset="-120"/>
              </a:rPr>
              <a:t>Strategic objectives entered in the application</a:t>
            </a:r>
            <a:endParaRPr lang="en-US" sz="1600" dirty="0"/>
          </a:p>
        </p:txBody>
      </p:sp>
      <p:sp>
        <p:nvSpPr>
          <p:cNvPr id="11" name="Text 6"/>
          <p:cNvSpPr txBox="1"/>
          <p:nvPr/>
        </p:nvSpPr>
        <p:spPr>
          <a:xfrm>
            <a:off x="6629400" y="2788920"/>
            <a:ext cx="489204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A3A3C"/>
                </a:solidFill>
                <a:latin typeface="Calibri" pitchFamily="34" charset="0"/>
                <a:ea typeface="Calibri" pitchFamily="34" charset="-122"/>
                <a:cs typeface="Calibri" pitchFamily="34" charset="-120"/>
              </a:rPr>
              <a:t>SO-1: AI triage and clinical decision support used by 80% of Clinical Care &amp; Nursing staff by end 2026 (owner: Operations Director, measured quarterly).</a:t>
            </a:r>
            <a:endParaRPr lang="en-US" sz="1400" dirty="0"/>
          </a:p>
          <a:p>
            <a:pPr marL="342900" indent="-342900">
              <a:spcAft>
                <a:spcPts val="800"/>
              </a:spcAft>
              <a:buSzPct val="100000"/>
              <a:buChar char="•"/>
            </a:pPr>
            <a:r>
              <a:rPr lang="en-US" sz="1400" dirty="0">
                <a:solidFill>
                  <a:srgbClr val="3A3A3C"/>
                </a:solidFill>
                <a:latin typeface="Calibri" pitchFamily="34" charset="0"/>
                <a:ea typeface="Calibri" pitchFamily="34" charset="-122"/>
                <a:cs typeface="Calibri" pitchFamily="34" charset="-120"/>
              </a:rPr>
              <a:t>SO-2: zero major audit findings on ISO 7101.</a:t>
            </a:r>
            <a:endParaRPr lang="en-US" sz="1400" dirty="0"/>
          </a:p>
          <a:p>
            <a:pPr marL="342900" indent="-342900">
              <a:buSzPct val="100000"/>
              <a:buChar char="•"/>
            </a:pPr>
            <a:r>
              <a:rPr lang="en-US" sz="1400" dirty="0">
                <a:solidFill>
                  <a:srgbClr val="3A3A3C"/>
                </a:solidFill>
                <a:latin typeface="Calibri" pitchFamily="34" charset="0"/>
                <a:ea typeface="Calibri" pitchFamily="34" charset="-122"/>
                <a:cs typeface="Calibri" pitchFamily="34" charset="-120"/>
              </a:rPr>
              <a:t>Priority competency families: AI triage and clinical decision support; AI medical imaging assistance; ISO 7101 compliance. Target level 3 (Autonomous) for supervisors.</a:t>
            </a:r>
            <a:endParaRPr lang="en-US" sz="1400" dirty="0"/>
          </a:p>
        </p:txBody>
      </p:sp>
      <p:sp>
        <p:nvSpPr>
          <p:cNvPr id="12"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HOW CORTEXSKILLS STRUCTURES THE WORK</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Four levels, from the value stream down to the step that is typed</a:t>
            </a:r>
            <a:endParaRPr lang="en-US" sz="2800" dirty="0"/>
          </a:p>
        </p:txBody>
      </p:sp>
      <p:sp>
        <p:nvSpPr>
          <p:cNvPr id="5" name="level 0"/>
          <p:cNvSpPr/>
          <p:nvPr/>
        </p:nvSpPr>
        <p:spPr>
          <a:xfrm>
            <a:off x="457200" y="1783080"/>
            <a:ext cx="2606040" cy="2651760"/>
          </a:xfrm>
          <a:prstGeom prst="roundRect">
            <a:avLst>
              <a:gd name="adj" fmla="val 2807"/>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6" name="badge workflow"/>
          <p:cNvSpPr/>
          <p:nvPr/>
        </p:nvSpPr>
        <p:spPr>
          <a:xfrm>
            <a:off x="685800" y="2011680"/>
            <a:ext cx="548640" cy="548640"/>
          </a:xfrm>
          <a:prstGeom prst="ellipse">
            <a:avLst/>
          </a:prstGeom>
          <a:solidFill>
            <a:srgbClr val="58595B"/>
          </a:solidFill>
          <a:ln w="12700">
            <a:solidFill>
              <a:srgbClr val="58595B"/>
            </a:solidFill>
            <a:prstDash val="solid"/>
          </a:ln>
        </p:spPr>
      </p:sp>
      <p:pic>
        <p:nvPicPr>
          <p:cNvPr id="7" name="Image 0" descr="workflow">    </p:cNvPr>
          <p:cNvPicPr>
            <a:picLocks noChangeAspect="1"/>
          </p:cNvPicPr>
          <p:nvPr/>
        </p:nvPicPr>
        <p:blipFill>
          <a:blip r:embed="rId1"/>
          <a:stretch>
            <a:fillRect/>
          </a:stretch>
        </p:blipFill>
        <p:spPr>
          <a:xfrm>
            <a:off x="811987" y="2137867"/>
            <a:ext cx="296266" cy="296266"/>
          </a:xfrm>
          <a:prstGeom prst="rect">
            <a:avLst/>
          </a:prstGeom>
        </p:spPr>
      </p:pic>
      <p:sp>
        <p:nvSpPr>
          <p:cNvPr id="8" name="Text 4"/>
          <p:cNvSpPr txBox="1"/>
          <p:nvPr/>
        </p:nvSpPr>
        <p:spPr>
          <a:xfrm>
            <a:off x="685800" y="2670048"/>
            <a:ext cx="2194560" cy="365760"/>
          </a:xfrm>
          <a:prstGeom prst="rect">
            <a:avLst/>
          </a:prstGeom>
          <a:noFill/>
          <a:ln/>
        </p:spPr>
        <p:txBody>
          <a:bodyPr wrap="square" lIns="0" tIns="0" rIns="0" bIns="0" rtlCol="0" anchor="ctr"/>
          <a:lstStyle/>
          <a:p>
            <a:pPr indent="0" marL="0">
              <a:buNone/>
            </a:pPr>
            <a:r>
              <a:rPr lang="en-US" sz="1600" b="1" dirty="0">
                <a:solidFill>
                  <a:srgbClr val="3A3A3C"/>
                </a:solidFill>
                <a:latin typeface="Cambria" pitchFamily="34" charset="0"/>
                <a:ea typeface="Cambria" pitchFamily="34" charset="-122"/>
                <a:cs typeface="Cambria" pitchFamily="34" charset="-120"/>
              </a:rPr>
              <a:t>End-to-end process</a:t>
            </a:r>
            <a:endParaRPr lang="en-US" sz="1600" dirty="0"/>
          </a:p>
        </p:txBody>
      </p:sp>
      <p:sp>
        <p:nvSpPr>
          <p:cNvPr id="9" name="Text 5"/>
          <p:cNvSpPr txBox="1"/>
          <p:nvPr/>
        </p:nvSpPr>
        <p:spPr>
          <a:xfrm>
            <a:off x="685800" y="3063240"/>
            <a:ext cx="2194560" cy="868680"/>
          </a:xfrm>
          <a:prstGeom prst="rect">
            <a:avLst/>
          </a:prstGeom>
          <a:noFill/>
          <a:ln/>
        </p:spPr>
        <p:txBody>
          <a:bodyPr wrap="square" lIns="0" tIns="0" rIns="0" bIns="0" rtlCol="0" anchor="t"/>
          <a:lstStyle/>
          <a:p>
            <a:pPr indent="0" marL="0">
              <a:buNone/>
            </a:pPr>
            <a:r>
              <a:rPr lang="en-US" sz="1300" dirty="0">
                <a:solidFill>
                  <a:srgbClr val="58595B"/>
                </a:solidFill>
                <a:latin typeface="Calibri" pitchFamily="34" charset="0"/>
                <a:ea typeface="Calibri" pitchFamily="34" charset="-122"/>
                <a:cs typeface="Calibri" pitchFamily="34" charset="-120"/>
              </a:rPr>
              <a:t>E2E-33 · Questionnaire-to-Response-Collection</a:t>
            </a:r>
            <a:endParaRPr lang="en-US" sz="1300" dirty="0"/>
          </a:p>
        </p:txBody>
      </p:sp>
      <p:sp>
        <p:nvSpPr>
          <p:cNvPr id="10" name="Text 6"/>
          <p:cNvSpPr txBox="1"/>
          <p:nvPr/>
        </p:nvSpPr>
        <p:spPr>
          <a:xfrm>
            <a:off x="685800" y="3931920"/>
            <a:ext cx="2194560" cy="320040"/>
          </a:xfrm>
          <a:prstGeom prst="rect">
            <a:avLst/>
          </a:prstGeom>
          <a:noFill/>
          <a:ln/>
        </p:spPr>
        <p:txBody>
          <a:bodyPr wrap="square" lIns="0" tIns="0" rIns="0" bIns="0" rtlCol="0" anchor="ctr"/>
          <a:lstStyle/>
          <a:p>
            <a:pPr indent="0" marL="0">
              <a:buNone/>
            </a:pPr>
            <a:r>
              <a:rPr lang="en-US" sz="1200" b="1" dirty="0">
                <a:solidFill>
                  <a:srgbClr val="E07B00"/>
                </a:solidFill>
                <a:latin typeface="Calibri" pitchFamily="34" charset="0"/>
                <a:ea typeface="Calibri" pitchFamily="34" charset="-122"/>
                <a:cs typeface="Calibri" pitchFamily="34" charset="-120"/>
              </a:rPr>
              <a:t>35 run in this case</a:t>
            </a:r>
            <a:endParaRPr lang="en-US" sz="1200" dirty="0"/>
          </a:p>
        </p:txBody>
      </p:sp>
      <p:sp>
        <p:nvSpPr>
          <p:cNvPr id="11" name="arrow"/>
          <p:cNvSpPr/>
          <p:nvPr/>
        </p:nvSpPr>
        <p:spPr>
          <a:xfrm>
            <a:off x="3108960" y="2971800"/>
            <a:ext cx="182880" cy="274320"/>
          </a:xfrm>
          <a:prstGeom prst="rightArrow">
            <a:avLst/>
          </a:prstGeom>
          <a:solidFill>
            <a:srgbClr val="F8931D"/>
          </a:solidFill>
          <a:ln w="12700">
            <a:solidFill>
              <a:srgbClr val="F8931D"/>
            </a:solidFill>
            <a:prstDash val="solid"/>
          </a:ln>
        </p:spPr>
      </p:sp>
      <p:sp>
        <p:nvSpPr>
          <p:cNvPr id="12" name="level 1"/>
          <p:cNvSpPr/>
          <p:nvPr/>
        </p:nvSpPr>
        <p:spPr>
          <a:xfrm>
            <a:off x="3337560" y="1783080"/>
            <a:ext cx="2606040" cy="2651760"/>
          </a:xfrm>
          <a:prstGeom prst="roundRect">
            <a:avLst>
              <a:gd name="adj" fmla="val 2807"/>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3" name="badge boxes"/>
          <p:cNvSpPr/>
          <p:nvPr/>
        </p:nvSpPr>
        <p:spPr>
          <a:xfrm>
            <a:off x="3566160" y="2011680"/>
            <a:ext cx="548640" cy="548640"/>
          </a:xfrm>
          <a:prstGeom prst="ellipse">
            <a:avLst/>
          </a:prstGeom>
          <a:solidFill>
            <a:srgbClr val="58595B"/>
          </a:solidFill>
          <a:ln w="12700">
            <a:solidFill>
              <a:srgbClr val="58595B"/>
            </a:solidFill>
            <a:prstDash val="solid"/>
          </a:ln>
        </p:spPr>
      </p:sp>
      <p:pic>
        <p:nvPicPr>
          <p:cNvPr id="14" name="Image 1" descr="boxes">    </p:cNvPr>
          <p:cNvPicPr>
            <a:picLocks noChangeAspect="1"/>
          </p:cNvPicPr>
          <p:nvPr/>
        </p:nvPicPr>
        <p:blipFill>
          <a:blip r:embed="rId2"/>
          <a:stretch>
            <a:fillRect/>
          </a:stretch>
        </p:blipFill>
        <p:spPr>
          <a:xfrm>
            <a:off x="3692347" y="2137867"/>
            <a:ext cx="296266" cy="296266"/>
          </a:xfrm>
          <a:prstGeom prst="rect">
            <a:avLst/>
          </a:prstGeom>
        </p:spPr>
      </p:pic>
      <p:sp>
        <p:nvSpPr>
          <p:cNvPr id="15" name="Text 10"/>
          <p:cNvSpPr txBox="1"/>
          <p:nvPr/>
        </p:nvSpPr>
        <p:spPr>
          <a:xfrm>
            <a:off x="3566160" y="2670048"/>
            <a:ext cx="2194560" cy="365760"/>
          </a:xfrm>
          <a:prstGeom prst="rect">
            <a:avLst/>
          </a:prstGeom>
          <a:noFill/>
          <a:ln/>
        </p:spPr>
        <p:txBody>
          <a:bodyPr wrap="square" lIns="0" tIns="0" rIns="0" bIns="0" rtlCol="0" anchor="ctr"/>
          <a:lstStyle/>
          <a:p>
            <a:pPr indent="0" marL="0">
              <a:buNone/>
            </a:pPr>
            <a:r>
              <a:rPr lang="en-US" sz="1600" b="1" dirty="0">
                <a:solidFill>
                  <a:srgbClr val="3A3A3C"/>
                </a:solidFill>
                <a:latin typeface="Cambria" pitchFamily="34" charset="0"/>
                <a:ea typeface="Cambria" pitchFamily="34" charset="-122"/>
                <a:cs typeface="Cambria" pitchFamily="34" charset="-120"/>
              </a:rPr>
              <a:t>Macro process</a:t>
            </a:r>
            <a:endParaRPr lang="en-US" sz="1600" dirty="0"/>
          </a:p>
        </p:txBody>
      </p:sp>
      <p:sp>
        <p:nvSpPr>
          <p:cNvPr id="16" name="Text 11"/>
          <p:cNvSpPr txBox="1"/>
          <p:nvPr/>
        </p:nvSpPr>
        <p:spPr>
          <a:xfrm>
            <a:off x="3566160" y="3063240"/>
            <a:ext cx="2194560" cy="868680"/>
          </a:xfrm>
          <a:prstGeom prst="rect">
            <a:avLst/>
          </a:prstGeom>
          <a:noFill/>
          <a:ln/>
        </p:spPr>
        <p:txBody>
          <a:bodyPr wrap="square" lIns="0" tIns="0" rIns="0" bIns="0" rtlCol="0" anchor="t"/>
          <a:lstStyle/>
          <a:p>
            <a:pPr indent="0" marL="0">
              <a:buNone/>
            </a:pPr>
            <a:r>
              <a:rPr lang="en-US" sz="1300" dirty="0">
                <a:solidFill>
                  <a:srgbClr val="58595B"/>
                </a:solidFill>
                <a:latin typeface="Calibri" pitchFamily="34" charset="0"/>
                <a:ea typeface="Calibri" pitchFamily="34" charset="-122"/>
                <a:cs typeface="Calibri" pitchFamily="34" charset="-120"/>
              </a:rPr>
              <a:t>MP-54 · Questionnaire Design, Distribution &amp; Response Collection</a:t>
            </a:r>
            <a:endParaRPr lang="en-US" sz="1300" dirty="0"/>
          </a:p>
        </p:txBody>
      </p:sp>
      <p:sp>
        <p:nvSpPr>
          <p:cNvPr id="17" name="Text 12"/>
          <p:cNvSpPr txBox="1"/>
          <p:nvPr/>
        </p:nvSpPr>
        <p:spPr>
          <a:xfrm>
            <a:off x="3566160" y="3931920"/>
            <a:ext cx="2194560" cy="320040"/>
          </a:xfrm>
          <a:prstGeom prst="rect">
            <a:avLst/>
          </a:prstGeom>
          <a:noFill/>
          <a:ln/>
        </p:spPr>
        <p:txBody>
          <a:bodyPr wrap="square" lIns="0" tIns="0" rIns="0" bIns="0" rtlCol="0" anchor="ctr"/>
          <a:lstStyle/>
          <a:p>
            <a:pPr indent="0" marL="0">
              <a:buNone/>
            </a:pPr>
            <a:r>
              <a:rPr lang="en-US" sz="1200" b="1" dirty="0">
                <a:solidFill>
                  <a:srgbClr val="E07B00"/>
                </a:solidFill>
                <a:latin typeface="Calibri" pitchFamily="34" charset="0"/>
                <a:ea typeface="Calibri" pitchFamily="34" charset="-122"/>
                <a:cs typeface="Calibri" pitchFamily="34" charset="-120"/>
              </a:rPr>
              <a:t>53 involved</a:t>
            </a:r>
            <a:endParaRPr lang="en-US" sz="1200" dirty="0"/>
          </a:p>
        </p:txBody>
      </p:sp>
      <p:sp>
        <p:nvSpPr>
          <p:cNvPr id="18" name="arrow"/>
          <p:cNvSpPr/>
          <p:nvPr/>
        </p:nvSpPr>
        <p:spPr>
          <a:xfrm>
            <a:off x="5989320" y="2971800"/>
            <a:ext cx="182880" cy="274320"/>
          </a:xfrm>
          <a:prstGeom prst="rightArrow">
            <a:avLst/>
          </a:prstGeom>
          <a:solidFill>
            <a:srgbClr val="F8931D"/>
          </a:solidFill>
          <a:ln w="12700">
            <a:solidFill>
              <a:srgbClr val="F8931D"/>
            </a:solidFill>
            <a:prstDash val="solid"/>
          </a:ln>
        </p:spPr>
      </p:sp>
      <p:sp>
        <p:nvSpPr>
          <p:cNvPr id="19" name="level 2"/>
          <p:cNvSpPr/>
          <p:nvPr/>
        </p:nvSpPr>
        <p:spPr>
          <a:xfrm>
            <a:off x="6217920" y="1783080"/>
            <a:ext cx="2606040" cy="2651760"/>
          </a:xfrm>
          <a:prstGeom prst="roundRect">
            <a:avLst>
              <a:gd name="adj" fmla="val 2807"/>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20" name="badge list-checks"/>
          <p:cNvSpPr/>
          <p:nvPr/>
        </p:nvSpPr>
        <p:spPr>
          <a:xfrm>
            <a:off x="6446520" y="2011680"/>
            <a:ext cx="548640" cy="548640"/>
          </a:xfrm>
          <a:prstGeom prst="ellipse">
            <a:avLst/>
          </a:prstGeom>
          <a:solidFill>
            <a:srgbClr val="58595B"/>
          </a:solidFill>
          <a:ln w="12700">
            <a:solidFill>
              <a:srgbClr val="58595B"/>
            </a:solidFill>
            <a:prstDash val="solid"/>
          </a:ln>
        </p:spPr>
      </p:sp>
      <p:pic>
        <p:nvPicPr>
          <p:cNvPr id="21" name="Image 2" descr="list-checks">    </p:cNvPr>
          <p:cNvPicPr>
            <a:picLocks noChangeAspect="1"/>
          </p:cNvPicPr>
          <p:nvPr/>
        </p:nvPicPr>
        <p:blipFill>
          <a:blip r:embed="rId3"/>
          <a:stretch>
            <a:fillRect/>
          </a:stretch>
        </p:blipFill>
        <p:spPr>
          <a:xfrm>
            <a:off x="6572707" y="2137867"/>
            <a:ext cx="296266" cy="296266"/>
          </a:xfrm>
          <a:prstGeom prst="rect">
            <a:avLst/>
          </a:prstGeom>
        </p:spPr>
      </p:pic>
      <p:sp>
        <p:nvSpPr>
          <p:cNvPr id="22" name="Text 16"/>
          <p:cNvSpPr txBox="1"/>
          <p:nvPr/>
        </p:nvSpPr>
        <p:spPr>
          <a:xfrm>
            <a:off x="6446520" y="2670048"/>
            <a:ext cx="2194560" cy="365760"/>
          </a:xfrm>
          <a:prstGeom prst="rect">
            <a:avLst/>
          </a:prstGeom>
          <a:noFill/>
          <a:ln/>
        </p:spPr>
        <p:txBody>
          <a:bodyPr wrap="square" lIns="0" tIns="0" rIns="0" bIns="0" rtlCol="0" anchor="ctr"/>
          <a:lstStyle/>
          <a:p>
            <a:pPr indent="0" marL="0">
              <a:buNone/>
            </a:pPr>
            <a:r>
              <a:rPr lang="en-US" sz="1600" b="1" dirty="0">
                <a:solidFill>
                  <a:srgbClr val="3A3A3C"/>
                </a:solidFill>
                <a:latin typeface="Cambria" pitchFamily="34" charset="0"/>
                <a:ea typeface="Cambria" pitchFamily="34" charset="-122"/>
                <a:cs typeface="Cambria" pitchFamily="34" charset="-120"/>
              </a:rPr>
              <a:t>Task</a:t>
            </a:r>
            <a:endParaRPr lang="en-US" sz="1600" dirty="0"/>
          </a:p>
        </p:txBody>
      </p:sp>
      <p:sp>
        <p:nvSpPr>
          <p:cNvPr id="23" name="Text 17"/>
          <p:cNvSpPr txBox="1"/>
          <p:nvPr/>
        </p:nvSpPr>
        <p:spPr>
          <a:xfrm>
            <a:off x="6446520" y="3063240"/>
            <a:ext cx="2194560" cy="868680"/>
          </a:xfrm>
          <a:prstGeom prst="rect">
            <a:avLst/>
          </a:prstGeom>
          <a:noFill/>
          <a:ln/>
        </p:spPr>
        <p:txBody>
          <a:bodyPr wrap="square" lIns="0" tIns="0" rIns="0" bIns="0" rtlCol="0" anchor="t"/>
          <a:lstStyle/>
          <a:p>
            <a:pPr indent="0" marL="0">
              <a:buNone/>
            </a:pPr>
            <a:r>
              <a:rPr lang="en-US" sz="1300" dirty="0">
                <a:solidFill>
                  <a:srgbClr val="58595B"/>
                </a:solidFill>
                <a:latin typeface="Calibri" pitchFamily="34" charset="0"/>
                <a:ea typeface="Calibri" pitchFamily="34" charset="-122"/>
                <a:cs typeface="Calibri" pitchFamily="34" charset="-120"/>
              </a:rPr>
              <a:t>UFT-33-04 · Allocate RACSI</a:t>
            </a:r>
            <a:endParaRPr lang="en-US" sz="1300" dirty="0"/>
          </a:p>
        </p:txBody>
      </p:sp>
      <p:sp>
        <p:nvSpPr>
          <p:cNvPr id="24" name="Text 18"/>
          <p:cNvSpPr txBox="1"/>
          <p:nvPr/>
        </p:nvSpPr>
        <p:spPr>
          <a:xfrm>
            <a:off x="6446520" y="3931920"/>
            <a:ext cx="2194560" cy="320040"/>
          </a:xfrm>
          <a:prstGeom prst="rect">
            <a:avLst/>
          </a:prstGeom>
          <a:noFill/>
          <a:ln/>
        </p:spPr>
        <p:txBody>
          <a:bodyPr wrap="square" lIns="0" tIns="0" rIns="0" bIns="0" rtlCol="0" anchor="ctr"/>
          <a:lstStyle/>
          <a:p>
            <a:pPr indent="0" marL="0">
              <a:buNone/>
            </a:pPr>
            <a:r>
              <a:rPr lang="en-US" sz="1200" b="1" dirty="0">
                <a:solidFill>
                  <a:srgbClr val="E07B00"/>
                </a:solidFill>
                <a:latin typeface="Calibri" pitchFamily="34" charset="0"/>
                <a:ea typeface="Calibri" pitchFamily="34" charset="-122"/>
                <a:cs typeface="Calibri" pitchFamily="34" charset="-120"/>
              </a:rPr>
              <a:t>265 completed</a:t>
            </a:r>
            <a:endParaRPr lang="en-US" sz="1200" dirty="0"/>
          </a:p>
        </p:txBody>
      </p:sp>
      <p:sp>
        <p:nvSpPr>
          <p:cNvPr id="25" name="arrow"/>
          <p:cNvSpPr/>
          <p:nvPr/>
        </p:nvSpPr>
        <p:spPr>
          <a:xfrm>
            <a:off x="8869680" y="2971800"/>
            <a:ext cx="182880" cy="274320"/>
          </a:xfrm>
          <a:prstGeom prst="rightArrow">
            <a:avLst/>
          </a:prstGeom>
          <a:solidFill>
            <a:srgbClr val="F8931D"/>
          </a:solidFill>
          <a:ln w="12700">
            <a:solidFill>
              <a:srgbClr val="F8931D"/>
            </a:solidFill>
            <a:prstDash val="solid"/>
          </a:ln>
        </p:spPr>
      </p:sp>
      <p:sp>
        <p:nvSpPr>
          <p:cNvPr id="26" name="level 3"/>
          <p:cNvSpPr/>
          <p:nvPr/>
        </p:nvSpPr>
        <p:spPr>
          <a:xfrm>
            <a:off x="9098280" y="1783080"/>
            <a:ext cx="2606040" cy="2651760"/>
          </a:xfrm>
          <a:prstGeom prst="roundRect">
            <a:avLst>
              <a:gd name="adj" fmla="val 2807"/>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27" name="badge square-pen"/>
          <p:cNvSpPr/>
          <p:nvPr/>
        </p:nvSpPr>
        <p:spPr>
          <a:xfrm>
            <a:off x="9326880" y="2011680"/>
            <a:ext cx="548640" cy="548640"/>
          </a:xfrm>
          <a:prstGeom prst="ellipse">
            <a:avLst/>
          </a:prstGeom>
          <a:solidFill>
            <a:srgbClr val="F8931D"/>
          </a:solidFill>
          <a:ln w="12700">
            <a:solidFill>
              <a:srgbClr val="F8931D"/>
            </a:solidFill>
            <a:prstDash val="solid"/>
          </a:ln>
        </p:spPr>
      </p:sp>
      <p:pic>
        <p:nvPicPr>
          <p:cNvPr id="28" name="Image 3" descr="square-pen">    </p:cNvPr>
          <p:cNvPicPr>
            <a:picLocks noChangeAspect="1"/>
          </p:cNvPicPr>
          <p:nvPr/>
        </p:nvPicPr>
        <p:blipFill>
          <a:blip r:embed="rId4"/>
          <a:stretch>
            <a:fillRect/>
          </a:stretch>
        </p:blipFill>
        <p:spPr>
          <a:xfrm>
            <a:off x="9453067" y="2137867"/>
            <a:ext cx="296266" cy="296266"/>
          </a:xfrm>
          <a:prstGeom prst="rect">
            <a:avLst/>
          </a:prstGeom>
        </p:spPr>
      </p:pic>
      <p:sp>
        <p:nvSpPr>
          <p:cNvPr id="29" name="Text 22"/>
          <p:cNvSpPr txBox="1"/>
          <p:nvPr/>
        </p:nvSpPr>
        <p:spPr>
          <a:xfrm>
            <a:off x="9326880" y="2670048"/>
            <a:ext cx="2194560" cy="365760"/>
          </a:xfrm>
          <a:prstGeom prst="rect">
            <a:avLst/>
          </a:prstGeom>
          <a:noFill/>
          <a:ln/>
        </p:spPr>
        <p:txBody>
          <a:bodyPr wrap="square" lIns="0" tIns="0" rIns="0" bIns="0" rtlCol="0" anchor="ctr"/>
          <a:lstStyle/>
          <a:p>
            <a:pPr indent="0" marL="0">
              <a:buNone/>
            </a:pPr>
            <a:r>
              <a:rPr lang="en-US" sz="1600" b="1" dirty="0">
                <a:solidFill>
                  <a:srgbClr val="3A3A3C"/>
                </a:solidFill>
                <a:latin typeface="Cambria" pitchFamily="34" charset="0"/>
                <a:ea typeface="Cambria" pitchFamily="34" charset="-122"/>
                <a:cs typeface="Cambria" pitchFamily="34" charset="-120"/>
              </a:rPr>
              <a:t>Step</a:t>
            </a:r>
            <a:endParaRPr lang="en-US" sz="1600" dirty="0"/>
          </a:p>
        </p:txBody>
      </p:sp>
      <p:sp>
        <p:nvSpPr>
          <p:cNvPr id="30" name="Text 23"/>
          <p:cNvSpPr txBox="1"/>
          <p:nvPr/>
        </p:nvSpPr>
        <p:spPr>
          <a:xfrm>
            <a:off x="9326880" y="3063240"/>
            <a:ext cx="2194560" cy="868680"/>
          </a:xfrm>
          <a:prstGeom prst="rect">
            <a:avLst/>
          </a:prstGeom>
          <a:noFill/>
          <a:ln/>
        </p:spPr>
        <p:txBody>
          <a:bodyPr wrap="square" lIns="0" tIns="0" rIns="0" bIns="0" rtlCol="0" anchor="t"/>
          <a:lstStyle/>
          <a:p>
            <a:pPr indent="0" marL="0">
              <a:buNone/>
            </a:pPr>
            <a:r>
              <a:rPr lang="en-US" sz="1300" dirty="0">
                <a:solidFill>
                  <a:srgbClr val="58595B"/>
                </a:solidFill>
                <a:latin typeface="Calibri" pitchFamily="34" charset="0"/>
                <a:ea typeface="Calibri" pitchFamily="34" charset="-122"/>
                <a:cs typeface="Calibri" pitchFamily="34" charset="-120"/>
              </a:rPr>
              <a:t>MP-54.4 · Allocate RACSI per section</a:t>
            </a:r>
            <a:endParaRPr lang="en-US" sz="1300" dirty="0"/>
          </a:p>
        </p:txBody>
      </p:sp>
      <p:sp>
        <p:nvSpPr>
          <p:cNvPr id="31" name="Text 24"/>
          <p:cNvSpPr txBox="1"/>
          <p:nvPr/>
        </p:nvSpPr>
        <p:spPr>
          <a:xfrm>
            <a:off x="9326880" y="3931920"/>
            <a:ext cx="2194560" cy="320040"/>
          </a:xfrm>
          <a:prstGeom prst="rect">
            <a:avLst/>
          </a:prstGeom>
          <a:noFill/>
          <a:ln/>
        </p:spPr>
        <p:txBody>
          <a:bodyPr wrap="square" lIns="0" tIns="0" rIns="0" bIns="0" rtlCol="0" anchor="ctr"/>
          <a:lstStyle/>
          <a:p>
            <a:pPr indent="0" marL="0">
              <a:buNone/>
            </a:pPr>
            <a:r>
              <a:rPr lang="en-US" sz="1200" b="1" dirty="0">
                <a:solidFill>
                  <a:srgbClr val="E07B00"/>
                </a:solidFill>
                <a:latin typeface="Calibri" pitchFamily="34" charset="0"/>
                <a:ea typeface="Calibri" pitchFamily="34" charset="-122"/>
                <a:cs typeface="Calibri" pitchFamily="34" charset="-120"/>
              </a:rPr>
              <a:t>463 executed</a:t>
            </a:r>
            <a:endParaRPr lang="en-US" sz="1200" dirty="0"/>
          </a:p>
        </p:txBody>
      </p:sp>
      <p:sp>
        <p:nvSpPr>
          <p:cNvPr id="32" name="entered"/>
          <p:cNvSpPr/>
          <p:nvPr/>
        </p:nvSpPr>
        <p:spPr>
          <a:xfrm>
            <a:off x="457200" y="4663440"/>
            <a:ext cx="11274552" cy="1463040"/>
          </a:xfrm>
          <a:prstGeom prst="roundRect">
            <a:avLst>
              <a:gd name="adj" fmla="val 5000"/>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33" name="Text 26"/>
          <p:cNvSpPr txBox="1"/>
          <p:nvPr/>
        </p:nvSpPr>
        <p:spPr>
          <a:xfrm>
            <a:off x="731520" y="4773168"/>
            <a:ext cx="5486400" cy="320040"/>
          </a:xfrm>
          <a:prstGeom prst="rect">
            <a:avLst/>
          </a:prstGeom>
          <a:noFill/>
          <a:ln/>
        </p:spPr>
        <p:txBody>
          <a:bodyPr wrap="square" lIns="0" tIns="0" rIns="0" bIns="0" rtlCol="0" anchor="ctr"/>
          <a:lstStyle/>
          <a:p>
            <a:pPr indent="0" marL="0">
              <a:buNone/>
            </a:pPr>
            <a:r>
              <a:rPr lang="en-US" sz="1200" b="1" dirty="0">
                <a:solidFill>
                  <a:srgbClr val="E07B00"/>
                </a:solidFill>
                <a:latin typeface="Calibri" pitchFamily="34" charset="0"/>
                <a:ea typeface="Calibri" pitchFamily="34" charset="-122"/>
                <a:cs typeface="Calibri" pitchFamily="34" charset="-120"/>
              </a:rPr>
              <a:t>What was entered at this step</a:t>
            </a:r>
            <a:endParaRPr lang="en-US" sz="1200" dirty="0"/>
          </a:p>
        </p:txBody>
      </p:sp>
      <p:sp>
        <p:nvSpPr>
          <p:cNvPr id="34" name="Text 27"/>
          <p:cNvSpPr txBox="1"/>
          <p:nvPr/>
        </p:nvSpPr>
        <p:spPr>
          <a:xfrm>
            <a:off x="731520" y="5102352"/>
            <a:ext cx="6766560" cy="868680"/>
          </a:xfrm>
          <a:prstGeom prst="rect">
            <a:avLst/>
          </a:prstGeom>
          <a:noFill/>
          <a:ln/>
        </p:spPr>
        <p:txBody>
          <a:bodyPr wrap="square" lIns="0" tIns="0" rIns="0" bIns="0" rtlCol="0" anchor="t"/>
          <a:lstStyle/>
          <a:p>
            <a:pPr indent="0" marL="0">
              <a:buNone/>
            </a:pPr>
            <a:r>
              <a:rPr lang="en-US" sz="1400" dirty="0">
                <a:solidFill>
                  <a:srgbClr val="3A3A3C"/>
                </a:solidFill>
                <a:latin typeface="Calibri" pitchFamily="34" charset="0"/>
                <a:ea typeface="Calibri" pitchFamily="34" charset="-122"/>
                <a:cs typeface="Calibri" pitchFamily="34" charset="-120"/>
              </a:rPr>
              <a:t>Section 'Digital practices': R L&amp;D Analyst, A Head of L&amp;D, C Consultant PM, S IT, I CHRO (one Accountable only).</a:t>
            </a:r>
            <a:endParaRPr lang="en-US" sz="1400" dirty="0"/>
          </a:p>
        </p:txBody>
      </p:sp>
      <p:sp>
        <p:nvSpPr>
          <p:cNvPr id="35" name="Text 28"/>
          <p:cNvSpPr txBox="1"/>
          <p:nvPr/>
        </p:nvSpPr>
        <p:spPr>
          <a:xfrm>
            <a:off x="7498080" y="4800600"/>
            <a:ext cx="4023360" cy="1188720"/>
          </a:xfrm>
          <a:prstGeom prst="rect">
            <a:avLst/>
          </a:prstGeom>
          <a:noFill/>
          <a:ln/>
        </p:spPr>
        <p:txBody>
          <a:bodyPr wrap="square" lIns="0" tIns="0" rIns="0" bIns="0" rtlCol="0" anchor="t"/>
          <a:lstStyle/>
          <a:p>
            <a:pPr indent="0" marL="0">
              <a:buNone/>
            </a:pPr>
            <a:r>
              <a:rPr lang="en-US" sz="1300" b="1" dirty="0">
                <a:solidFill>
                  <a:srgbClr val="58595B"/>
                </a:solidFill>
                <a:latin typeface="Calibri" pitchFamily="34" charset="0"/>
                <a:ea typeface="Calibri" pitchFamily="34" charset="-122"/>
                <a:cs typeface="Calibri" pitchFamily="34" charset="-120"/>
              </a:rPr>
              <a:t>Each step is filled in one of three ways: </a:t>
            </a:r>
            <a:pPr indent="0" marL="0">
              <a:buNone/>
            </a:pPr>
            <a:r>
              <a:rPr lang="en-US" sz="1300" dirty="0">
                <a:solidFill>
                  <a:srgbClr val="58595B"/>
                </a:solidFill>
                <a:latin typeface="Calibri" pitchFamily="34" charset="0"/>
                <a:ea typeface="Calibri" pitchFamily="34" charset="-122"/>
                <a:cs typeface="Calibri" pitchFamily="34" charset="-120"/>
              </a:rPr>
              <a:t>typed or pasted, loaded from a template, or proposed by AI and validated by a person.</a:t>
            </a:r>
            <a:endParaRPr lang="en-US" sz="1300" dirty="0"/>
          </a:p>
        </p:txBody>
      </p:sp>
      <p:sp>
        <p:nvSpPr>
          <p:cNvPr id="36"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THE PROJECT PATH</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Six phases closed by approval gates, with enablers running throughout</a:t>
            </a:r>
            <a:endParaRPr lang="en-US" sz="2800" dirty="0"/>
          </a:p>
        </p:txBody>
      </p:sp>
      <p:sp>
        <p:nvSpPr>
          <p:cNvPr id="5" name="phase 1"/>
          <p:cNvSpPr/>
          <p:nvPr/>
        </p:nvSpPr>
        <p:spPr>
          <a:xfrm>
            <a:off x="502920" y="1783080"/>
            <a:ext cx="1741932" cy="3337560"/>
          </a:xfrm>
          <a:prstGeom prst="roundRect">
            <a:avLst>
              <a:gd name="adj" fmla="val 41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6" name="phase number"/>
          <p:cNvSpPr/>
          <p:nvPr/>
        </p:nvSpPr>
        <p:spPr>
          <a:xfrm>
            <a:off x="685800" y="1965960"/>
            <a:ext cx="548640" cy="548640"/>
          </a:xfrm>
          <a:prstGeom prst="ellipse">
            <a:avLst/>
          </a:prstGeom>
          <a:solidFill>
            <a:srgbClr val="F8931D"/>
          </a:solidFill>
          <a:ln w="12700">
            <a:solidFill>
              <a:srgbClr val="F8931D"/>
            </a:solidFill>
            <a:prstDash val="solid"/>
          </a:ln>
        </p:spPr>
      </p:sp>
      <p:sp>
        <p:nvSpPr>
          <p:cNvPr id="7" name="Text 4"/>
          <p:cNvSpPr txBox="1"/>
          <p:nvPr/>
        </p:nvSpPr>
        <p:spPr>
          <a:xfrm>
            <a:off x="685800" y="19659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5"/>
          <p:cNvSpPr txBox="1"/>
          <p:nvPr/>
        </p:nvSpPr>
        <p:spPr>
          <a:xfrm>
            <a:off x="685800" y="2606040"/>
            <a:ext cx="1513332" cy="914400"/>
          </a:xfrm>
          <a:prstGeom prst="rect">
            <a:avLst/>
          </a:prstGeom>
          <a:noFill/>
          <a:ln/>
        </p:spPr>
        <p:txBody>
          <a:bodyPr wrap="square" lIns="0" tIns="0" rIns="0" bIns="0" rtlCol="0" anchor="t"/>
          <a:lstStyle/>
          <a:p>
            <a:pPr indent="0" marL="0">
              <a:buNone/>
            </a:pPr>
            <a:r>
              <a:rPr lang="en-US" sz="1300" b="1" dirty="0">
                <a:solidFill>
                  <a:srgbClr val="3A3A3C"/>
                </a:solidFill>
                <a:latin typeface="Cambria" pitchFamily="34" charset="0"/>
                <a:ea typeface="Cambria" pitchFamily="34" charset="-122"/>
                <a:cs typeface="Cambria" pitchFamily="34" charset="-120"/>
              </a:rPr>
              <a:t>Scope &amp; evidence</a:t>
            </a:r>
            <a:endParaRPr lang="en-US" sz="1300" dirty="0"/>
          </a:p>
        </p:txBody>
      </p:sp>
      <p:sp>
        <p:nvSpPr>
          <p:cNvPr id="9" name="Text 6"/>
          <p:cNvSpPr txBox="1"/>
          <p:nvPr/>
        </p:nvSpPr>
        <p:spPr>
          <a:xfrm>
            <a:off x="685800" y="3547872"/>
            <a:ext cx="1421892" cy="640080"/>
          </a:xfrm>
          <a:prstGeom prst="rect">
            <a:avLst/>
          </a:prstGeom>
          <a:noFill/>
          <a:ln/>
        </p:spPr>
        <p:txBody>
          <a:bodyPr wrap="square" lIns="0" tIns="0" rIns="0" bIns="0" rtlCol="0" anchor="t"/>
          <a:lstStyle/>
          <a:p>
            <a:pPr indent="0" marL="0">
              <a:buNone/>
            </a:pPr>
            <a:r>
              <a:rPr lang="en-US" sz="1100" dirty="0">
                <a:solidFill>
                  <a:srgbClr val="58595B"/>
                </a:solidFill>
                <a:latin typeface="Calibri" pitchFamily="34" charset="0"/>
                <a:ea typeface="Calibri" pitchFamily="34" charset="-122"/>
                <a:cs typeface="Calibri" pitchFamily="34" charset="-120"/>
              </a:rPr>
              <a:t>E2E-32 · E2E-33 · E2E-19 · E2E-24</a:t>
            </a:r>
            <a:endParaRPr lang="en-US" sz="1100" dirty="0"/>
          </a:p>
        </p:txBody>
      </p:sp>
      <p:sp>
        <p:nvSpPr>
          <p:cNvPr id="10" name="Text 7"/>
          <p:cNvSpPr txBox="1"/>
          <p:nvPr/>
        </p:nvSpPr>
        <p:spPr>
          <a:xfrm>
            <a:off x="685800" y="4206240"/>
            <a:ext cx="1421892" cy="274320"/>
          </a:xfrm>
          <a:prstGeom prst="rect">
            <a:avLst/>
          </a:prstGeom>
          <a:noFill/>
          <a:ln/>
        </p:spPr>
        <p:txBody>
          <a:bodyPr wrap="square" lIns="0" tIns="0" rIns="0" bIns="0" rtlCol="0" anchor="ctr"/>
          <a:lstStyle/>
          <a:p>
            <a:pPr indent="0" marL="0">
              <a:buNone/>
            </a:pPr>
            <a:r>
              <a:rPr lang="en-US" sz="1100" b="1" dirty="0">
                <a:solidFill>
                  <a:srgbClr val="E07B00"/>
                </a:solidFill>
                <a:latin typeface="Calibri" pitchFamily="34" charset="0"/>
                <a:ea typeface="Calibri" pitchFamily="34" charset="-122"/>
                <a:cs typeface="Calibri" pitchFamily="34" charset="-120"/>
              </a:rPr>
              <a:t>4 processes · 37 tasks</a:t>
            </a:r>
            <a:endParaRPr lang="en-US" sz="1100" dirty="0"/>
          </a:p>
        </p:txBody>
      </p:sp>
      <p:sp>
        <p:nvSpPr>
          <p:cNvPr id="11" name="Text 8"/>
          <p:cNvSpPr txBox="1"/>
          <p:nvPr/>
        </p:nvSpPr>
        <p:spPr>
          <a:xfrm>
            <a:off x="685800" y="4498848"/>
            <a:ext cx="1421892" cy="548640"/>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G1 — Scope &amp; evidence approved</a:t>
            </a:r>
            <a:endParaRPr lang="en-US" sz="1000" dirty="0"/>
          </a:p>
        </p:txBody>
      </p:sp>
      <p:sp>
        <p:nvSpPr>
          <p:cNvPr id="12" name="phase 2"/>
          <p:cNvSpPr/>
          <p:nvPr/>
        </p:nvSpPr>
        <p:spPr>
          <a:xfrm>
            <a:off x="2382012" y="1783080"/>
            <a:ext cx="1741932" cy="3337560"/>
          </a:xfrm>
          <a:prstGeom prst="roundRect">
            <a:avLst>
              <a:gd name="adj" fmla="val 41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3" name="phase number"/>
          <p:cNvSpPr/>
          <p:nvPr/>
        </p:nvSpPr>
        <p:spPr>
          <a:xfrm>
            <a:off x="2564892" y="1965960"/>
            <a:ext cx="548640" cy="548640"/>
          </a:xfrm>
          <a:prstGeom prst="ellipse">
            <a:avLst/>
          </a:prstGeom>
          <a:solidFill>
            <a:srgbClr val="F8931D"/>
          </a:solidFill>
          <a:ln w="12700">
            <a:solidFill>
              <a:srgbClr val="F8931D"/>
            </a:solidFill>
            <a:prstDash val="solid"/>
          </a:ln>
        </p:spPr>
      </p:sp>
      <p:sp>
        <p:nvSpPr>
          <p:cNvPr id="14" name="Text 11"/>
          <p:cNvSpPr txBox="1"/>
          <p:nvPr/>
        </p:nvSpPr>
        <p:spPr>
          <a:xfrm>
            <a:off x="2564892" y="19659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5" name="Text 12"/>
          <p:cNvSpPr txBox="1"/>
          <p:nvPr/>
        </p:nvSpPr>
        <p:spPr>
          <a:xfrm>
            <a:off x="2564892" y="2606040"/>
            <a:ext cx="1513332" cy="914400"/>
          </a:xfrm>
          <a:prstGeom prst="rect">
            <a:avLst/>
          </a:prstGeom>
          <a:noFill/>
          <a:ln/>
        </p:spPr>
        <p:txBody>
          <a:bodyPr wrap="square" lIns="0" tIns="0" rIns="0" bIns="0" rtlCol="0" anchor="t"/>
          <a:lstStyle/>
          <a:p>
            <a:pPr indent="0" marL="0">
              <a:buNone/>
            </a:pPr>
            <a:r>
              <a:rPr lang="en-US" sz="1300" b="1" dirty="0">
                <a:solidFill>
                  <a:srgbClr val="3A3A3C"/>
                </a:solidFill>
                <a:latin typeface="Cambria" pitchFamily="34" charset="0"/>
                <a:ea typeface="Cambria" pitchFamily="34" charset="-122"/>
                <a:cs typeface="Cambria" pitchFamily="34" charset="-120"/>
              </a:rPr>
              <a:t>Diagnosis</a:t>
            </a:r>
            <a:endParaRPr lang="en-US" sz="1300" dirty="0"/>
          </a:p>
        </p:txBody>
      </p:sp>
      <p:sp>
        <p:nvSpPr>
          <p:cNvPr id="16" name="Text 13"/>
          <p:cNvSpPr txBox="1"/>
          <p:nvPr/>
        </p:nvSpPr>
        <p:spPr>
          <a:xfrm>
            <a:off x="2564892" y="3547872"/>
            <a:ext cx="1421892" cy="640080"/>
          </a:xfrm>
          <a:prstGeom prst="rect">
            <a:avLst/>
          </a:prstGeom>
          <a:noFill/>
          <a:ln/>
        </p:spPr>
        <p:txBody>
          <a:bodyPr wrap="square" lIns="0" tIns="0" rIns="0" bIns="0" rtlCol="0" anchor="t"/>
          <a:lstStyle/>
          <a:p>
            <a:pPr indent="0" marL="0">
              <a:buNone/>
            </a:pPr>
            <a:r>
              <a:rPr lang="en-US" sz="1100" dirty="0">
                <a:solidFill>
                  <a:srgbClr val="58595B"/>
                </a:solidFill>
                <a:latin typeface="Calibri" pitchFamily="34" charset="0"/>
                <a:ea typeface="Calibri" pitchFamily="34" charset="-122"/>
                <a:cs typeface="Calibri" pitchFamily="34" charset="-120"/>
              </a:rPr>
              <a:t>E2E-20 · E2E-25 · E2E-26 · E2E-27 · E2E-28 · E2E-29 · E2E-02 · E2E-21</a:t>
            </a:r>
            <a:endParaRPr lang="en-US" sz="1100" dirty="0"/>
          </a:p>
        </p:txBody>
      </p:sp>
      <p:sp>
        <p:nvSpPr>
          <p:cNvPr id="17" name="Text 14"/>
          <p:cNvSpPr txBox="1"/>
          <p:nvPr/>
        </p:nvSpPr>
        <p:spPr>
          <a:xfrm>
            <a:off x="2564892" y="4206240"/>
            <a:ext cx="1421892" cy="274320"/>
          </a:xfrm>
          <a:prstGeom prst="rect">
            <a:avLst/>
          </a:prstGeom>
          <a:noFill/>
          <a:ln/>
        </p:spPr>
        <p:txBody>
          <a:bodyPr wrap="square" lIns="0" tIns="0" rIns="0" bIns="0" rtlCol="0" anchor="ctr"/>
          <a:lstStyle/>
          <a:p>
            <a:pPr indent="0" marL="0">
              <a:buNone/>
            </a:pPr>
            <a:r>
              <a:rPr lang="en-US" sz="1100" b="1" dirty="0">
                <a:solidFill>
                  <a:srgbClr val="E07B00"/>
                </a:solidFill>
                <a:latin typeface="Calibri" pitchFamily="34" charset="0"/>
                <a:ea typeface="Calibri" pitchFamily="34" charset="-122"/>
                <a:cs typeface="Calibri" pitchFamily="34" charset="-120"/>
              </a:rPr>
              <a:t>8 processes · 62 tasks</a:t>
            </a:r>
            <a:endParaRPr lang="en-US" sz="1100" dirty="0"/>
          </a:p>
        </p:txBody>
      </p:sp>
      <p:sp>
        <p:nvSpPr>
          <p:cNvPr id="18" name="Text 15"/>
          <p:cNvSpPr txBox="1"/>
          <p:nvPr/>
        </p:nvSpPr>
        <p:spPr>
          <a:xfrm>
            <a:off x="2564892" y="4498848"/>
            <a:ext cx="1421892" cy="548640"/>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G2 — Diagnostic validated</a:t>
            </a:r>
            <a:endParaRPr lang="en-US" sz="1000" dirty="0"/>
          </a:p>
        </p:txBody>
      </p:sp>
      <p:sp>
        <p:nvSpPr>
          <p:cNvPr id="19" name="phase 3"/>
          <p:cNvSpPr/>
          <p:nvPr/>
        </p:nvSpPr>
        <p:spPr>
          <a:xfrm>
            <a:off x="4261104" y="1783080"/>
            <a:ext cx="1741932" cy="3337560"/>
          </a:xfrm>
          <a:prstGeom prst="roundRect">
            <a:avLst>
              <a:gd name="adj" fmla="val 41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20" name="phase number"/>
          <p:cNvSpPr/>
          <p:nvPr/>
        </p:nvSpPr>
        <p:spPr>
          <a:xfrm>
            <a:off x="4443984" y="1965960"/>
            <a:ext cx="548640" cy="548640"/>
          </a:xfrm>
          <a:prstGeom prst="ellipse">
            <a:avLst/>
          </a:prstGeom>
          <a:solidFill>
            <a:srgbClr val="F8931D"/>
          </a:solidFill>
          <a:ln w="12700">
            <a:solidFill>
              <a:srgbClr val="F8931D"/>
            </a:solidFill>
            <a:prstDash val="solid"/>
          </a:ln>
        </p:spPr>
      </p:sp>
      <p:sp>
        <p:nvSpPr>
          <p:cNvPr id="21" name="Text 18"/>
          <p:cNvSpPr txBox="1"/>
          <p:nvPr/>
        </p:nvSpPr>
        <p:spPr>
          <a:xfrm>
            <a:off x="4443984" y="19659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2" name="Text 19"/>
          <p:cNvSpPr txBox="1"/>
          <p:nvPr/>
        </p:nvSpPr>
        <p:spPr>
          <a:xfrm>
            <a:off x="4443984" y="2606040"/>
            <a:ext cx="1513332" cy="914400"/>
          </a:xfrm>
          <a:prstGeom prst="rect">
            <a:avLst/>
          </a:prstGeom>
          <a:noFill/>
          <a:ln/>
        </p:spPr>
        <p:txBody>
          <a:bodyPr wrap="square" lIns="0" tIns="0" rIns="0" bIns="0" rtlCol="0" anchor="t"/>
          <a:lstStyle/>
          <a:p>
            <a:pPr indent="0" marL="0">
              <a:buNone/>
            </a:pPr>
            <a:r>
              <a:rPr lang="en-US" sz="1300" b="1" dirty="0">
                <a:solidFill>
                  <a:srgbClr val="3A3A3C"/>
                </a:solidFill>
                <a:latin typeface="Cambria" pitchFamily="34" charset="0"/>
                <a:ea typeface="Cambria" pitchFamily="34" charset="-122"/>
                <a:cs typeface="Cambria" pitchFamily="34" charset="-120"/>
              </a:rPr>
              <a:t>Training Engineering Report &amp; plan</a:t>
            </a:r>
            <a:endParaRPr lang="en-US" sz="1300" dirty="0"/>
          </a:p>
        </p:txBody>
      </p:sp>
      <p:sp>
        <p:nvSpPr>
          <p:cNvPr id="23" name="Text 20"/>
          <p:cNvSpPr txBox="1"/>
          <p:nvPr/>
        </p:nvSpPr>
        <p:spPr>
          <a:xfrm>
            <a:off x="4443984" y="3547872"/>
            <a:ext cx="1421892" cy="640080"/>
          </a:xfrm>
          <a:prstGeom prst="rect">
            <a:avLst/>
          </a:prstGeom>
          <a:noFill/>
          <a:ln/>
        </p:spPr>
        <p:txBody>
          <a:bodyPr wrap="square" lIns="0" tIns="0" rIns="0" bIns="0" rtlCol="0" anchor="t"/>
          <a:lstStyle/>
          <a:p>
            <a:pPr indent="0" marL="0">
              <a:buNone/>
            </a:pPr>
            <a:r>
              <a:rPr lang="en-US" sz="1100" dirty="0">
                <a:solidFill>
                  <a:srgbClr val="58595B"/>
                </a:solidFill>
                <a:latin typeface="Calibri" pitchFamily="34" charset="0"/>
                <a:ea typeface="Calibri" pitchFamily="34" charset="-122"/>
                <a:cs typeface="Calibri" pitchFamily="34" charset="-120"/>
              </a:rPr>
              <a:t>E2E-01 · E2E-03 · E2E-30 · E2E-22 · E2E-23 · E2E-16 · HCPR-E2E-02</a:t>
            </a:r>
            <a:endParaRPr lang="en-US" sz="1100" dirty="0"/>
          </a:p>
        </p:txBody>
      </p:sp>
      <p:sp>
        <p:nvSpPr>
          <p:cNvPr id="24" name="Text 21"/>
          <p:cNvSpPr txBox="1"/>
          <p:nvPr/>
        </p:nvSpPr>
        <p:spPr>
          <a:xfrm>
            <a:off x="4443984" y="4206240"/>
            <a:ext cx="1421892" cy="274320"/>
          </a:xfrm>
          <a:prstGeom prst="rect">
            <a:avLst/>
          </a:prstGeom>
          <a:noFill/>
          <a:ln/>
        </p:spPr>
        <p:txBody>
          <a:bodyPr wrap="square" lIns="0" tIns="0" rIns="0" bIns="0" rtlCol="0" anchor="ctr"/>
          <a:lstStyle/>
          <a:p>
            <a:pPr indent="0" marL="0">
              <a:buNone/>
            </a:pPr>
            <a:r>
              <a:rPr lang="en-US" sz="1100" b="1" dirty="0">
                <a:solidFill>
                  <a:srgbClr val="E07B00"/>
                </a:solidFill>
                <a:latin typeface="Calibri" pitchFamily="34" charset="0"/>
                <a:ea typeface="Calibri" pitchFamily="34" charset="-122"/>
                <a:cs typeface="Calibri" pitchFamily="34" charset="-120"/>
              </a:rPr>
              <a:t>7 processes · 50 tasks</a:t>
            </a:r>
            <a:endParaRPr lang="en-US" sz="1100" dirty="0"/>
          </a:p>
        </p:txBody>
      </p:sp>
      <p:sp>
        <p:nvSpPr>
          <p:cNvPr id="25" name="Text 22"/>
          <p:cNvSpPr txBox="1"/>
          <p:nvPr/>
        </p:nvSpPr>
        <p:spPr>
          <a:xfrm>
            <a:off x="4443984" y="4498848"/>
            <a:ext cx="1421892" cy="548640"/>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G3 — Report &amp; roadmap approved</a:t>
            </a:r>
            <a:endParaRPr lang="en-US" sz="1000" dirty="0"/>
          </a:p>
        </p:txBody>
      </p:sp>
      <p:sp>
        <p:nvSpPr>
          <p:cNvPr id="26" name="phase 4"/>
          <p:cNvSpPr/>
          <p:nvPr/>
        </p:nvSpPr>
        <p:spPr>
          <a:xfrm>
            <a:off x="6140196" y="1783080"/>
            <a:ext cx="1741932" cy="3337560"/>
          </a:xfrm>
          <a:prstGeom prst="roundRect">
            <a:avLst>
              <a:gd name="adj" fmla="val 41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27" name="phase number"/>
          <p:cNvSpPr/>
          <p:nvPr/>
        </p:nvSpPr>
        <p:spPr>
          <a:xfrm>
            <a:off x="6323076" y="1965960"/>
            <a:ext cx="548640" cy="548640"/>
          </a:xfrm>
          <a:prstGeom prst="ellipse">
            <a:avLst/>
          </a:prstGeom>
          <a:solidFill>
            <a:srgbClr val="F8931D"/>
          </a:solidFill>
          <a:ln w="12700">
            <a:solidFill>
              <a:srgbClr val="F8931D"/>
            </a:solidFill>
            <a:prstDash val="solid"/>
          </a:ln>
        </p:spPr>
      </p:sp>
      <p:sp>
        <p:nvSpPr>
          <p:cNvPr id="28" name="Text 25"/>
          <p:cNvSpPr txBox="1"/>
          <p:nvPr/>
        </p:nvSpPr>
        <p:spPr>
          <a:xfrm>
            <a:off x="6323076" y="19659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9" name="Text 26"/>
          <p:cNvSpPr txBox="1"/>
          <p:nvPr/>
        </p:nvSpPr>
        <p:spPr>
          <a:xfrm>
            <a:off x="6323076" y="2606040"/>
            <a:ext cx="1513332" cy="914400"/>
          </a:xfrm>
          <a:prstGeom prst="rect">
            <a:avLst/>
          </a:prstGeom>
          <a:noFill/>
          <a:ln/>
        </p:spPr>
        <p:txBody>
          <a:bodyPr wrap="square" lIns="0" tIns="0" rIns="0" bIns="0" rtlCol="0" anchor="t"/>
          <a:lstStyle/>
          <a:p>
            <a:pPr indent="0" marL="0">
              <a:buNone/>
            </a:pPr>
            <a:r>
              <a:rPr lang="en-US" sz="1300" b="1" dirty="0">
                <a:solidFill>
                  <a:srgbClr val="3A3A3C"/>
                </a:solidFill>
                <a:latin typeface="Cambria" pitchFamily="34" charset="0"/>
                <a:ea typeface="Cambria" pitchFamily="34" charset="-122"/>
                <a:cs typeface="Cambria" pitchFamily="34" charset="-120"/>
              </a:rPr>
              <a:t>Design &amp; delivery</a:t>
            </a:r>
            <a:endParaRPr lang="en-US" sz="1300" dirty="0"/>
          </a:p>
        </p:txBody>
      </p:sp>
      <p:sp>
        <p:nvSpPr>
          <p:cNvPr id="30" name="Text 27"/>
          <p:cNvSpPr txBox="1"/>
          <p:nvPr/>
        </p:nvSpPr>
        <p:spPr>
          <a:xfrm>
            <a:off x="6323076" y="3547872"/>
            <a:ext cx="1421892" cy="640080"/>
          </a:xfrm>
          <a:prstGeom prst="rect">
            <a:avLst/>
          </a:prstGeom>
          <a:noFill/>
          <a:ln/>
        </p:spPr>
        <p:txBody>
          <a:bodyPr wrap="square" lIns="0" tIns="0" rIns="0" bIns="0" rtlCol="0" anchor="t"/>
          <a:lstStyle/>
          <a:p>
            <a:pPr indent="0" marL="0">
              <a:buNone/>
            </a:pPr>
            <a:r>
              <a:rPr lang="en-US" sz="1100" dirty="0">
                <a:solidFill>
                  <a:srgbClr val="58595B"/>
                </a:solidFill>
                <a:latin typeface="Calibri" pitchFamily="34" charset="0"/>
                <a:ea typeface="Calibri" pitchFamily="34" charset="-122"/>
                <a:cs typeface="Calibri" pitchFamily="34" charset="-120"/>
              </a:rPr>
              <a:t>E2E-04 · E2E-05 · E2E-06 · E2E-13 · E2E-14</a:t>
            </a:r>
            <a:endParaRPr lang="en-US" sz="1100" dirty="0"/>
          </a:p>
        </p:txBody>
      </p:sp>
      <p:sp>
        <p:nvSpPr>
          <p:cNvPr id="31" name="Text 28"/>
          <p:cNvSpPr txBox="1"/>
          <p:nvPr/>
        </p:nvSpPr>
        <p:spPr>
          <a:xfrm>
            <a:off x="6323076" y="4206240"/>
            <a:ext cx="1421892" cy="274320"/>
          </a:xfrm>
          <a:prstGeom prst="rect">
            <a:avLst/>
          </a:prstGeom>
          <a:noFill/>
          <a:ln/>
        </p:spPr>
        <p:txBody>
          <a:bodyPr wrap="square" lIns="0" tIns="0" rIns="0" bIns="0" rtlCol="0" anchor="ctr"/>
          <a:lstStyle/>
          <a:p>
            <a:pPr indent="0" marL="0">
              <a:buNone/>
            </a:pPr>
            <a:r>
              <a:rPr lang="en-US" sz="1100" b="1" dirty="0">
                <a:solidFill>
                  <a:srgbClr val="E07B00"/>
                </a:solidFill>
                <a:latin typeface="Calibri" pitchFamily="34" charset="0"/>
                <a:ea typeface="Calibri" pitchFamily="34" charset="-122"/>
                <a:cs typeface="Calibri" pitchFamily="34" charset="-120"/>
              </a:rPr>
              <a:t>5 processes · 39 tasks</a:t>
            </a:r>
            <a:endParaRPr lang="en-US" sz="1100" dirty="0"/>
          </a:p>
        </p:txBody>
      </p:sp>
      <p:sp>
        <p:nvSpPr>
          <p:cNvPr id="32" name="Text 29"/>
          <p:cNvSpPr txBox="1"/>
          <p:nvPr/>
        </p:nvSpPr>
        <p:spPr>
          <a:xfrm>
            <a:off x="6323076" y="4498848"/>
            <a:ext cx="1421892" cy="548640"/>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G4 — Delivery readiness</a:t>
            </a:r>
            <a:endParaRPr lang="en-US" sz="1000" dirty="0"/>
          </a:p>
        </p:txBody>
      </p:sp>
      <p:sp>
        <p:nvSpPr>
          <p:cNvPr id="33" name="phase 5"/>
          <p:cNvSpPr/>
          <p:nvPr/>
        </p:nvSpPr>
        <p:spPr>
          <a:xfrm>
            <a:off x="8019288" y="1783080"/>
            <a:ext cx="1741932" cy="3337560"/>
          </a:xfrm>
          <a:prstGeom prst="roundRect">
            <a:avLst>
              <a:gd name="adj" fmla="val 41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34" name="phase number"/>
          <p:cNvSpPr/>
          <p:nvPr/>
        </p:nvSpPr>
        <p:spPr>
          <a:xfrm>
            <a:off x="8202168" y="1965960"/>
            <a:ext cx="548640" cy="548640"/>
          </a:xfrm>
          <a:prstGeom prst="ellipse">
            <a:avLst/>
          </a:prstGeom>
          <a:solidFill>
            <a:srgbClr val="F8931D"/>
          </a:solidFill>
          <a:ln w="12700">
            <a:solidFill>
              <a:srgbClr val="F8931D"/>
            </a:solidFill>
            <a:prstDash val="solid"/>
          </a:ln>
        </p:spPr>
      </p:sp>
      <p:sp>
        <p:nvSpPr>
          <p:cNvPr id="35" name="Text 32"/>
          <p:cNvSpPr txBox="1"/>
          <p:nvPr/>
        </p:nvSpPr>
        <p:spPr>
          <a:xfrm>
            <a:off x="8202168" y="19659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36" name="Text 33"/>
          <p:cNvSpPr txBox="1"/>
          <p:nvPr/>
        </p:nvSpPr>
        <p:spPr>
          <a:xfrm>
            <a:off x="8202168" y="2606040"/>
            <a:ext cx="1513332" cy="914400"/>
          </a:xfrm>
          <a:prstGeom prst="rect">
            <a:avLst/>
          </a:prstGeom>
          <a:noFill/>
          <a:ln/>
        </p:spPr>
        <p:txBody>
          <a:bodyPr wrap="square" lIns="0" tIns="0" rIns="0" bIns="0" rtlCol="0" anchor="t"/>
          <a:lstStyle/>
          <a:p>
            <a:pPr indent="0" marL="0">
              <a:buNone/>
            </a:pPr>
            <a:r>
              <a:rPr lang="en-US" sz="1300" b="1" dirty="0">
                <a:solidFill>
                  <a:srgbClr val="3A3A3C"/>
                </a:solidFill>
                <a:latin typeface="Cambria" pitchFamily="34" charset="0"/>
                <a:ea typeface="Cambria" pitchFamily="34" charset="-122"/>
                <a:cs typeface="Cambria" pitchFamily="34" charset="-120"/>
              </a:rPr>
              <a:t>Evaluation, compliance &amp; impact</a:t>
            </a:r>
            <a:endParaRPr lang="en-US" sz="1300" dirty="0"/>
          </a:p>
        </p:txBody>
      </p:sp>
      <p:sp>
        <p:nvSpPr>
          <p:cNvPr id="37" name="Text 34"/>
          <p:cNvSpPr txBox="1"/>
          <p:nvPr/>
        </p:nvSpPr>
        <p:spPr>
          <a:xfrm>
            <a:off x="8202168" y="3547872"/>
            <a:ext cx="1421892" cy="640080"/>
          </a:xfrm>
          <a:prstGeom prst="rect">
            <a:avLst/>
          </a:prstGeom>
          <a:noFill/>
          <a:ln/>
        </p:spPr>
        <p:txBody>
          <a:bodyPr wrap="square" lIns="0" tIns="0" rIns="0" bIns="0" rtlCol="0" anchor="t"/>
          <a:lstStyle/>
          <a:p>
            <a:pPr indent="0" marL="0">
              <a:buNone/>
            </a:pPr>
            <a:r>
              <a:rPr lang="en-US" sz="1100" dirty="0">
                <a:solidFill>
                  <a:srgbClr val="58595B"/>
                </a:solidFill>
                <a:latin typeface="Calibri" pitchFamily="34" charset="0"/>
                <a:ea typeface="Calibri" pitchFamily="34" charset="-122"/>
                <a:cs typeface="Calibri" pitchFamily="34" charset="-120"/>
              </a:rPr>
              <a:t>E2E-07 · E2E-08 · E2E-09 · HCPR-E2E-01</a:t>
            </a:r>
            <a:endParaRPr lang="en-US" sz="1100" dirty="0"/>
          </a:p>
        </p:txBody>
      </p:sp>
      <p:sp>
        <p:nvSpPr>
          <p:cNvPr id="38" name="Text 35"/>
          <p:cNvSpPr txBox="1"/>
          <p:nvPr/>
        </p:nvSpPr>
        <p:spPr>
          <a:xfrm>
            <a:off x="8202168" y="4206240"/>
            <a:ext cx="1421892" cy="274320"/>
          </a:xfrm>
          <a:prstGeom prst="rect">
            <a:avLst/>
          </a:prstGeom>
          <a:noFill/>
          <a:ln/>
        </p:spPr>
        <p:txBody>
          <a:bodyPr wrap="square" lIns="0" tIns="0" rIns="0" bIns="0" rtlCol="0" anchor="ctr"/>
          <a:lstStyle/>
          <a:p>
            <a:pPr indent="0" marL="0">
              <a:buNone/>
            </a:pPr>
            <a:r>
              <a:rPr lang="en-US" sz="1100" b="1" dirty="0">
                <a:solidFill>
                  <a:srgbClr val="E07B00"/>
                </a:solidFill>
                <a:latin typeface="Calibri" pitchFamily="34" charset="0"/>
                <a:ea typeface="Calibri" pitchFamily="34" charset="-122"/>
                <a:cs typeface="Calibri" pitchFamily="34" charset="-120"/>
              </a:rPr>
              <a:t>4 processes · 26 tasks</a:t>
            </a:r>
            <a:endParaRPr lang="en-US" sz="1100" dirty="0"/>
          </a:p>
        </p:txBody>
      </p:sp>
      <p:sp>
        <p:nvSpPr>
          <p:cNvPr id="39" name="Text 36"/>
          <p:cNvSpPr txBox="1"/>
          <p:nvPr/>
        </p:nvSpPr>
        <p:spPr>
          <a:xfrm>
            <a:off x="8202168" y="4498848"/>
            <a:ext cx="1421892" cy="548640"/>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G5 — Evaluation &amp; impact validated</a:t>
            </a:r>
            <a:endParaRPr lang="en-US" sz="1000" dirty="0"/>
          </a:p>
        </p:txBody>
      </p:sp>
      <p:sp>
        <p:nvSpPr>
          <p:cNvPr id="40" name="phase 6"/>
          <p:cNvSpPr/>
          <p:nvPr/>
        </p:nvSpPr>
        <p:spPr>
          <a:xfrm>
            <a:off x="9898380" y="1783080"/>
            <a:ext cx="1741932" cy="3337560"/>
          </a:xfrm>
          <a:prstGeom prst="roundRect">
            <a:avLst>
              <a:gd name="adj" fmla="val 41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41" name="phase number"/>
          <p:cNvSpPr/>
          <p:nvPr/>
        </p:nvSpPr>
        <p:spPr>
          <a:xfrm>
            <a:off x="10081260" y="1965960"/>
            <a:ext cx="548640" cy="548640"/>
          </a:xfrm>
          <a:prstGeom prst="ellipse">
            <a:avLst/>
          </a:prstGeom>
          <a:solidFill>
            <a:srgbClr val="F8931D"/>
          </a:solidFill>
          <a:ln w="12700">
            <a:solidFill>
              <a:srgbClr val="F8931D"/>
            </a:solidFill>
            <a:prstDash val="solid"/>
          </a:ln>
        </p:spPr>
      </p:sp>
      <p:sp>
        <p:nvSpPr>
          <p:cNvPr id="42" name="Text 39"/>
          <p:cNvSpPr txBox="1"/>
          <p:nvPr/>
        </p:nvSpPr>
        <p:spPr>
          <a:xfrm>
            <a:off x="10081260" y="19659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43" name="Text 40"/>
          <p:cNvSpPr txBox="1"/>
          <p:nvPr/>
        </p:nvSpPr>
        <p:spPr>
          <a:xfrm>
            <a:off x="10081260" y="2606040"/>
            <a:ext cx="1513332" cy="914400"/>
          </a:xfrm>
          <a:prstGeom prst="rect">
            <a:avLst/>
          </a:prstGeom>
          <a:noFill/>
          <a:ln/>
        </p:spPr>
        <p:txBody>
          <a:bodyPr wrap="square" lIns="0" tIns="0" rIns="0" bIns="0" rtlCol="0" anchor="t"/>
          <a:lstStyle/>
          <a:p>
            <a:pPr indent="0" marL="0">
              <a:buNone/>
            </a:pPr>
            <a:r>
              <a:rPr lang="en-US" sz="1300" b="1" dirty="0">
                <a:solidFill>
                  <a:srgbClr val="3A3A3C"/>
                </a:solidFill>
                <a:latin typeface="Cambria" pitchFamily="34" charset="0"/>
                <a:ea typeface="Cambria" pitchFamily="34" charset="-122"/>
                <a:cs typeface="Cambria" pitchFamily="34" charset="-120"/>
              </a:rPr>
              <a:t>Talent, knowledge &amp; continuous improvement</a:t>
            </a:r>
            <a:endParaRPr lang="en-US" sz="1300" dirty="0"/>
          </a:p>
        </p:txBody>
      </p:sp>
      <p:sp>
        <p:nvSpPr>
          <p:cNvPr id="44" name="Text 41"/>
          <p:cNvSpPr txBox="1"/>
          <p:nvPr/>
        </p:nvSpPr>
        <p:spPr>
          <a:xfrm>
            <a:off x="10081260" y="3547872"/>
            <a:ext cx="1421892" cy="640080"/>
          </a:xfrm>
          <a:prstGeom prst="rect">
            <a:avLst/>
          </a:prstGeom>
          <a:noFill/>
          <a:ln/>
        </p:spPr>
        <p:txBody>
          <a:bodyPr wrap="square" lIns="0" tIns="0" rIns="0" bIns="0" rtlCol="0" anchor="t"/>
          <a:lstStyle/>
          <a:p>
            <a:pPr indent="0" marL="0">
              <a:buNone/>
            </a:pPr>
            <a:r>
              <a:rPr lang="en-US" sz="1100" dirty="0">
                <a:solidFill>
                  <a:srgbClr val="58595B"/>
                </a:solidFill>
                <a:latin typeface="Calibri" pitchFamily="34" charset="0"/>
                <a:ea typeface="Calibri" pitchFamily="34" charset="-122"/>
                <a:cs typeface="Calibri" pitchFamily="34" charset="-120"/>
              </a:rPr>
              <a:t>E2E-10 · E2E-11 · E2E-12 · E2E-31</a:t>
            </a:r>
            <a:endParaRPr lang="en-US" sz="1100" dirty="0"/>
          </a:p>
        </p:txBody>
      </p:sp>
      <p:sp>
        <p:nvSpPr>
          <p:cNvPr id="45" name="Text 42"/>
          <p:cNvSpPr txBox="1"/>
          <p:nvPr/>
        </p:nvSpPr>
        <p:spPr>
          <a:xfrm>
            <a:off x="10081260" y="4206240"/>
            <a:ext cx="1421892" cy="274320"/>
          </a:xfrm>
          <a:prstGeom prst="rect">
            <a:avLst/>
          </a:prstGeom>
          <a:noFill/>
          <a:ln/>
        </p:spPr>
        <p:txBody>
          <a:bodyPr wrap="square" lIns="0" tIns="0" rIns="0" bIns="0" rtlCol="0" anchor="ctr"/>
          <a:lstStyle/>
          <a:p>
            <a:pPr indent="0" marL="0">
              <a:buNone/>
            </a:pPr>
            <a:r>
              <a:rPr lang="en-US" sz="1100" b="1" dirty="0">
                <a:solidFill>
                  <a:srgbClr val="E07B00"/>
                </a:solidFill>
                <a:latin typeface="Calibri" pitchFamily="34" charset="0"/>
                <a:ea typeface="Calibri" pitchFamily="34" charset="-122"/>
                <a:cs typeface="Calibri" pitchFamily="34" charset="-120"/>
              </a:rPr>
              <a:t>4 processes · 30 tasks</a:t>
            </a:r>
            <a:endParaRPr lang="en-US" sz="1100" dirty="0"/>
          </a:p>
        </p:txBody>
      </p:sp>
      <p:sp>
        <p:nvSpPr>
          <p:cNvPr id="46" name="Text 43"/>
          <p:cNvSpPr txBox="1"/>
          <p:nvPr/>
        </p:nvSpPr>
        <p:spPr>
          <a:xfrm>
            <a:off x="10081260" y="4498848"/>
            <a:ext cx="1421892" cy="548640"/>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G6 — Closure &amp; continuous improvement</a:t>
            </a:r>
            <a:endParaRPr lang="en-US" sz="1000" dirty="0"/>
          </a:p>
        </p:txBody>
      </p:sp>
      <p:sp>
        <p:nvSpPr>
          <p:cNvPr id="47" name="enablers"/>
          <p:cNvSpPr/>
          <p:nvPr/>
        </p:nvSpPr>
        <p:spPr>
          <a:xfrm>
            <a:off x="457200" y="5303520"/>
            <a:ext cx="11274552" cy="822960"/>
          </a:xfrm>
          <a:prstGeom prst="roundRect">
            <a:avLst>
              <a:gd name="adj" fmla="val 8889"/>
            </a:avLst>
          </a:prstGeom>
          <a:solidFill>
            <a:srgbClr val="F2F2F3"/>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48" name="badge layers"/>
          <p:cNvSpPr/>
          <p:nvPr/>
        </p:nvSpPr>
        <p:spPr>
          <a:xfrm>
            <a:off x="640080" y="5440680"/>
            <a:ext cx="548640" cy="548640"/>
          </a:xfrm>
          <a:prstGeom prst="ellipse">
            <a:avLst/>
          </a:prstGeom>
          <a:solidFill>
            <a:srgbClr val="58595B"/>
          </a:solidFill>
          <a:ln w="12700">
            <a:solidFill>
              <a:srgbClr val="58595B"/>
            </a:solidFill>
            <a:prstDash val="solid"/>
          </a:ln>
        </p:spPr>
      </p:sp>
      <p:pic>
        <p:nvPicPr>
          <p:cNvPr id="49" name="Image 0" descr="layers">    </p:cNvPr>
          <p:cNvPicPr>
            <a:picLocks noChangeAspect="1"/>
          </p:cNvPicPr>
          <p:nvPr/>
        </p:nvPicPr>
        <p:blipFill>
          <a:blip r:embed="rId1"/>
          <a:stretch>
            <a:fillRect/>
          </a:stretch>
        </p:blipFill>
        <p:spPr>
          <a:xfrm>
            <a:off x="766267" y="5566867"/>
            <a:ext cx="296266" cy="296266"/>
          </a:xfrm>
          <a:prstGeom prst="rect">
            <a:avLst/>
          </a:prstGeom>
        </p:spPr>
      </p:pic>
      <p:sp>
        <p:nvSpPr>
          <p:cNvPr id="50" name="Text 46"/>
          <p:cNvSpPr txBox="1"/>
          <p:nvPr/>
        </p:nvSpPr>
        <p:spPr>
          <a:xfrm>
            <a:off x="1371600" y="5349240"/>
            <a:ext cx="10241280" cy="731520"/>
          </a:xfrm>
          <a:prstGeom prst="rect">
            <a:avLst/>
          </a:prstGeom>
          <a:noFill/>
          <a:ln/>
        </p:spPr>
        <p:txBody>
          <a:bodyPr wrap="square" lIns="0" tIns="0" rIns="0" bIns="0" rtlCol="0" anchor="ctr"/>
          <a:lstStyle/>
          <a:p>
            <a:pPr indent="0" marL="0">
              <a:buNone/>
            </a:pPr>
            <a:r>
              <a:rPr lang="en-US" sz="1300" b="1" dirty="0">
                <a:solidFill>
                  <a:srgbClr val="3A3A3C"/>
                </a:solidFill>
                <a:latin typeface="Calibri" pitchFamily="34" charset="0"/>
                <a:ea typeface="Calibri" pitchFamily="34" charset="-122"/>
                <a:cs typeface="Calibri" pitchFamily="34" charset="-120"/>
              </a:rPr>
              <a:t>Phase 0 — Enablers, across all phases: </a:t>
            </a:r>
            <a:pPr indent="0" marL="0">
              <a:buNone/>
            </a:pPr>
            <a:r>
              <a:rPr lang="en-US" sz="1300" dirty="0">
                <a:solidFill>
                  <a:srgbClr val="58595B"/>
                </a:solidFill>
                <a:latin typeface="Calibri" pitchFamily="34" charset="0"/>
                <a:ea typeface="Calibri" pitchFamily="34" charset="-122"/>
                <a:cs typeface="Calibri" pitchFamily="34" charset="-120"/>
              </a:rPr>
              <a:t>E2E-15 Data-AI-Integration · E2E-17 Change-to-Adoption · E2E-18 Quality-Risk-Improvement</a:t>
            </a:r>
            <a:endParaRPr lang="en-US" sz="1300" dirty="0"/>
          </a:p>
        </p:txBody>
      </p:sp>
      <p:sp>
        <p:nvSpPr>
          <p:cNvPr id="5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IN THE APPLICATION</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The project cockpit: 265 of 265 tasks completed</a:t>
            </a:r>
            <a:endParaRPr lang="en-US" sz="2800" dirty="0"/>
          </a:p>
        </p:txBody>
      </p:sp>
      <p:sp>
        <p:nvSpPr>
          <p:cNvPr id="5" name="frame 01_project"/>
          <p:cNvSpPr/>
          <p:nvPr/>
        </p:nvSpPr>
        <p:spPr>
          <a:xfrm>
            <a:off x="1125038" y="1636776"/>
            <a:ext cx="6345284" cy="4636008"/>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6" name="Image 0" descr="01_project">    </p:cNvPr>
          <p:cNvPicPr>
            <a:picLocks noChangeAspect="1"/>
          </p:cNvPicPr>
          <p:nvPr/>
        </p:nvPicPr>
        <p:blipFill>
          <a:blip r:embed="rId1"/>
          <a:stretch>
            <a:fillRect/>
          </a:stretch>
        </p:blipFill>
        <p:spPr>
          <a:xfrm>
            <a:off x="1179902" y="1691640"/>
            <a:ext cx="6235556" cy="4526280"/>
          </a:xfrm>
          <a:prstGeom prst="rect">
            <a:avLst/>
          </a:prstGeom>
        </p:spPr>
      </p:pic>
      <p:sp>
        <p:nvSpPr>
          <p:cNvPr id="7" name="badge chart-column"/>
          <p:cNvSpPr/>
          <p:nvPr/>
        </p:nvSpPr>
        <p:spPr>
          <a:xfrm>
            <a:off x="8458200" y="1737360"/>
            <a:ext cx="502920" cy="502920"/>
          </a:xfrm>
          <a:prstGeom prst="ellipse">
            <a:avLst/>
          </a:prstGeom>
          <a:solidFill>
            <a:srgbClr val="F8931D"/>
          </a:solidFill>
          <a:ln w="12700">
            <a:solidFill>
              <a:srgbClr val="F8931D"/>
            </a:solidFill>
            <a:prstDash val="solid"/>
          </a:ln>
        </p:spPr>
      </p:sp>
      <p:pic>
        <p:nvPicPr>
          <p:cNvPr id="8" name="Image 1" descr="chart-column">    </p:cNvPr>
          <p:cNvPicPr>
            <a:picLocks noChangeAspect="1"/>
          </p:cNvPicPr>
          <p:nvPr/>
        </p:nvPicPr>
        <p:blipFill>
          <a:blip r:embed="rId2"/>
          <a:stretch>
            <a:fillRect/>
          </a:stretch>
        </p:blipFill>
        <p:spPr>
          <a:xfrm>
            <a:off x="8573872" y="1853032"/>
            <a:ext cx="271577" cy="271577"/>
          </a:xfrm>
          <a:prstGeom prst="rect">
            <a:avLst/>
          </a:prstGeom>
        </p:spPr>
      </p:pic>
      <p:sp>
        <p:nvSpPr>
          <p:cNvPr id="9" name="Text 4"/>
          <p:cNvSpPr txBox="1"/>
          <p:nvPr/>
        </p:nvSpPr>
        <p:spPr>
          <a:xfrm>
            <a:off x="9098280" y="1737360"/>
            <a:ext cx="2651760" cy="365760"/>
          </a:xfrm>
          <a:prstGeom prst="rect">
            <a:avLst/>
          </a:prstGeom>
          <a:noFill/>
          <a:ln/>
        </p:spPr>
        <p:txBody>
          <a:bodyPr wrap="square" lIns="0" tIns="0" rIns="0" bIns="0" rtlCol="0" anchor="ctr"/>
          <a:lstStyle/>
          <a:p>
            <a:pPr indent="0" marL="0">
              <a:buNone/>
            </a:pPr>
            <a:r>
              <a:rPr lang="en-US" sz="1500" b="1" dirty="0">
                <a:solidFill>
                  <a:srgbClr val="3A3A3C"/>
                </a:solidFill>
                <a:latin typeface="Cambria" pitchFamily="34" charset="0"/>
                <a:ea typeface="Cambria" pitchFamily="34" charset="-122"/>
                <a:cs typeface="Cambria" pitchFamily="34" charset="-120"/>
              </a:rPr>
              <a:t>Progress per phase</a:t>
            </a:r>
            <a:endParaRPr lang="en-US" sz="1500" dirty="0"/>
          </a:p>
        </p:txBody>
      </p:sp>
      <p:sp>
        <p:nvSpPr>
          <p:cNvPr id="10" name="Text 5"/>
          <p:cNvSpPr txBox="1"/>
          <p:nvPr/>
        </p:nvSpPr>
        <p:spPr>
          <a:xfrm>
            <a:off x="9098280" y="2121408"/>
            <a:ext cx="2651760" cy="868680"/>
          </a:xfrm>
          <a:prstGeom prst="rect">
            <a:avLst/>
          </a:prstGeom>
          <a:noFill/>
          <a:ln/>
        </p:spPr>
        <p:txBody>
          <a:bodyPr wrap="square" lIns="0" tIns="0" rIns="0" bIns="0" rtlCol="0" anchor="t"/>
          <a:lstStyle/>
          <a:p>
            <a:pPr indent="0" marL="0">
              <a:buNone/>
            </a:pPr>
            <a:r>
              <a:rPr lang="en-US" sz="1300" dirty="0">
                <a:solidFill>
                  <a:srgbClr val="58595B"/>
                </a:solidFill>
                <a:latin typeface="Calibri" pitchFamily="34" charset="0"/>
                <a:ea typeface="Calibri" pitchFamily="34" charset="-122"/>
                <a:cs typeface="Calibri" pitchFamily="34" charset="-120"/>
              </a:rPr>
              <a:t>Each phase lists its processes, owners and task counts.</a:t>
            </a:r>
            <a:endParaRPr lang="en-US" sz="1300" dirty="0"/>
          </a:p>
        </p:txBody>
      </p:sp>
      <p:sp>
        <p:nvSpPr>
          <p:cNvPr id="11" name="badge clock"/>
          <p:cNvSpPr/>
          <p:nvPr/>
        </p:nvSpPr>
        <p:spPr>
          <a:xfrm>
            <a:off x="8458200" y="3218688"/>
            <a:ext cx="502920" cy="502920"/>
          </a:xfrm>
          <a:prstGeom prst="ellipse">
            <a:avLst/>
          </a:prstGeom>
          <a:solidFill>
            <a:srgbClr val="F8931D"/>
          </a:solidFill>
          <a:ln w="12700">
            <a:solidFill>
              <a:srgbClr val="F8931D"/>
            </a:solidFill>
            <a:prstDash val="solid"/>
          </a:ln>
        </p:spPr>
      </p:sp>
      <p:pic>
        <p:nvPicPr>
          <p:cNvPr id="12" name="Image 2" descr="clock">    </p:cNvPr>
          <p:cNvPicPr>
            <a:picLocks noChangeAspect="1"/>
          </p:cNvPicPr>
          <p:nvPr/>
        </p:nvPicPr>
        <p:blipFill>
          <a:blip r:embed="rId3"/>
          <a:stretch>
            <a:fillRect/>
          </a:stretch>
        </p:blipFill>
        <p:spPr>
          <a:xfrm>
            <a:off x="8573872" y="3334360"/>
            <a:ext cx="271577" cy="271577"/>
          </a:xfrm>
          <a:prstGeom prst="rect">
            <a:avLst/>
          </a:prstGeom>
        </p:spPr>
      </p:pic>
      <p:sp>
        <p:nvSpPr>
          <p:cNvPr id="13" name="Text 7"/>
          <p:cNvSpPr txBox="1"/>
          <p:nvPr/>
        </p:nvSpPr>
        <p:spPr>
          <a:xfrm>
            <a:off x="9098280" y="3218688"/>
            <a:ext cx="2651760" cy="365760"/>
          </a:xfrm>
          <a:prstGeom prst="rect">
            <a:avLst/>
          </a:prstGeom>
          <a:noFill/>
          <a:ln/>
        </p:spPr>
        <p:txBody>
          <a:bodyPr wrap="square" lIns="0" tIns="0" rIns="0" bIns="0" rtlCol="0" anchor="ctr"/>
          <a:lstStyle/>
          <a:p>
            <a:pPr indent="0" marL="0">
              <a:buNone/>
            </a:pPr>
            <a:r>
              <a:rPr lang="en-US" sz="1500" b="1" dirty="0">
                <a:solidFill>
                  <a:srgbClr val="3A3A3C"/>
                </a:solidFill>
                <a:latin typeface="Cambria" pitchFamily="34" charset="0"/>
                <a:ea typeface="Cambria" pitchFamily="34" charset="-122"/>
                <a:cs typeface="Cambria" pitchFamily="34" charset="-120"/>
              </a:rPr>
              <a:t>No overdue task</a:t>
            </a:r>
            <a:endParaRPr lang="en-US" sz="1500" dirty="0"/>
          </a:p>
        </p:txBody>
      </p:sp>
      <p:sp>
        <p:nvSpPr>
          <p:cNvPr id="14" name="Text 8"/>
          <p:cNvSpPr txBox="1"/>
          <p:nvPr/>
        </p:nvSpPr>
        <p:spPr>
          <a:xfrm>
            <a:off x="9098280" y="3602736"/>
            <a:ext cx="2651760" cy="868680"/>
          </a:xfrm>
          <a:prstGeom prst="rect">
            <a:avLst/>
          </a:prstGeom>
          <a:noFill/>
          <a:ln/>
        </p:spPr>
        <p:txBody>
          <a:bodyPr wrap="square" lIns="0" tIns="0" rIns="0" bIns="0" rtlCol="0" anchor="t"/>
          <a:lstStyle/>
          <a:p>
            <a:pPr indent="0" marL="0">
              <a:buNone/>
            </a:pPr>
            <a:r>
              <a:rPr lang="en-US" sz="1300" dirty="0">
                <a:solidFill>
                  <a:srgbClr val="58595B"/>
                </a:solidFill>
                <a:latin typeface="Calibri" pitchFamily="34" charset="0"/>
                <a:ea typeface="Calibri" pitchFamily="34" charset="-122"/>
                <a:cs typeface="Calibri" pitchFamily="34" charset="-120"/>
              </a:rPr>
              <a:t>Due dates, owners and evaluators are set per task.</a:t>
            </a:r>
            <a:endParaRPr lang="en-US" sz="1300" dirty="0"/>
          </a:p>
        </p:txBody>
      </p:sp>
      <p:sp>
        <p:nvSpPr>
          <p:cNvPr id="15" name="badge gauge"/>
          <p:cNvSpPr/>
          <p:nvPr/>
        </p:nvSpPr>
        <p:spPr>
          <a:xfrm>
            <a:off x="8458200" y="4700016"/>
            <a:ext cx="502920" cy="502920"/>
          </a:xfrm>
          <a:prstGeom prst="ellipse">
            <a:avLst/>
          </a:prstGeom>
          <a:solidFill>
            <a:srgbClr val="F8931D"/>
          </a:solidFill>
          <a:ln w="12700">
            <a:solidFill>
              <a:srgbClr val="F8931D"/>
            </a:solidFill>
            <a:prstDash val="solid"/>
          </a:ln>
        </p:spPr>
      </p:sp>
      <p:pic>
        <p:nvPicPr>
          <p:cNvPr id="16" name="Image 3" descr="gauge">    </p:cNvPr>
          <p:cNvPicPr>
            <a:picLocks noChangeAspect="1"/>
          </p:cNvPicPr>
          <p:nvPr/>
        </p:nvPicPr>
        <p:blipFill>
          <a:blip r:embed="rId4"/>
          <a:stretch>
            <a:fillRect/>
          </a:stretch>
        </p:blipFill>
        <p:spPr>
          <a:xfrm>
            <a:off x="8573872" y="4815688"/>
            <a:ext cx="271577" cy="271577"/>
          </a:xfrm>
          <a:prstGeom prst="rect">
            <a:avLst/>
          </a:prstGeom>
        </p:spPr>
      </p:pic>
      <p:sp>
        <p:nvSpPr>
          <p:cNvPr id="17" name="Text 10"/>
          <p:cNvSpPr txBox="1"/>
          <p:nvPr/>
        </p:nvSpPr>
        <p:spPr>
          <a:xfrm>
            <a:off x="9098280" y="4700016"/>
            <a:ext cx="2651760" cy="365760"/>
          </a:xfrm>
          <a:prstGeom prst="rect">
            <a:avLst/>
          </a:prstGeom>
          <a:noFill/>
          <a:ln/>
        </p:spPr>
        <p:txBody>
          <a:bodyPr wrap="square" lIns="0" tIns="0" rIns="0" bIns="0" rtlCol="0" anchor="ctr"/>
          <a:lstStyle/>
          <a:p>
            <a:pPr indent="0" marL="0">
              <a:buNone/>
            </a:pPr>
            <a:r>
              <a:rPr lang="en-US" sz="1500" b="1" dirty="0">
                <a:solidFill>
                  <a:srgbClr val="3A3A3C"/>
                </a:solidFill>
                <a:latin typeface="Cambria" pitchFamily="34" charset="0"/>
                <a:ea typeface="Cambria" pitchFamily="34" charset="-122"/>
                <a:cs typeface="Cambria" pitchFamily="34" charset="-120"/>
              </a:rPr>
              <a:t>Complexity score 72</a:t>
            </a:r>
            <a:endParaRPr lang="en-US" sz="1500" dirty="0"/>
          </a:p>
        </p:txBody>
      </p:sp>
      <p:sp>
        <p:nvSpPr>
          <p:cNvPr id="18" name="Text 11"/>
          <p:cNvSpPr txBox="1"/>
          <p:nvPr/>
        </p:nvSpPr>
        <p:spPr>
          <a:xfrm>
            <a:off x="9098280" y="5084064"/>
            <a:ext cx="2651760" cy="868680"/>
          </a:xfrm>
          <a:prstGeom prst="rect">
            <a:avLst/>
          </a:prstGeom>
          <a:noFill/>
          <a:ln/>
        </p:spPr>
        <p:txBody>
          <a:bodyPr wrap="square" lIns="0" tIns="0" rIns="0" bIns="0" rtlCol="0" anchor="t"/>
          <a:lstStyle/>
          <a:p>
            <a:pPr indent="0" marL="0">
              <a:buNone/>
            </a:pPr>
            <a:r>
              <a:rPr lang="en-US" sz="1300" dirty="0">
                <a:solidFill>
                  <a:srgbClr val="58595B"/>
                </a:solidFill>
                <a:latin typeface="Calibri" pitchFamily="34" charset="0"/>
                <a:ea typeface="Calibri" pitchFamily="34" charset="-122"/>
                <a:cs typeface="Calibri" pitchFamily="34" charset="-120"/>
              </a:rPr>
              <a:t>Full mode chosen from the scoring of the project.</a:t>
            </a:r>
            <a:endParaRPr lang="en-US" sz="1300" dirty="0"/>
          </a:p>
        </p:txBody>
      </p:sp>
      <p:sp>
        <p:nvSpPr>
          <p:cNvPr id="19"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IN THE APPLICATION</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Work breakdown and Gantt chart of the run</a:t>
            </a:r>
            <a:endParaRPr lang="en-US" sz="2800" dirty="0"/>
          </a:p>
        </p:txBody>
      </p:sp>
      <p:sp>
        <p:nvSpPr>
          <p:cNvPr id="5" name="frame 02_gantt"/>
          <p:cNvSpPr/>
          <p:nvPr/>
        </p:nvSpPr>
        <p:spPr>
          <a:xfrm>
            <a:off x="3047805" y="1636776"/>
            <a:ext cx="6093342" cy="4453128"/>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6" name="Image 0" descr="02_gantt">    </p:cNvPr>
          <p:cNvPicPr>
            <a:picLocks noChangeAspect="1"/>
          </p:cNvPicPr>
          <p:nvPr/>
        </p:nvPicPr>
        <p:blipFill>
          <a:blip r:embed="rId1"/>
          <a:stretch>
            <a:fillRect/>
          </a:stretch>
        </p:blipFill>
        <p:spPr>
          <a:xfrm>
            <a:off x="3102669" y="1691640"/>
            <a:ext cx="5983614" cy="4343400"/>
          </a:xfrm>
          <a:prstGeom prst="rect">
            <a:avLst/>
          </a:prstGeom>
        </p:spPr>
      </p:pic>
      <p:sp>
        <p:nvSpPr>
          <p:cNvPr id="7" name="Text 3"/>
          <p:cNvSpPr txBox="1"/>
          <p:nvPr/>
        </p:nvSpPr>
        <p:spPr>
          <a:xfrm>
            <a:off x="3102669" y="6144768"/>
            <a:ext cx="5983614"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Phases, processes and tasks on one timeline, with their dependencies.</a:t>
            </a:r>
            <a:endParaRPr lang="en-US" sz="1000" dirty="0"/>
          </a:p>
        </p:txBody>
      </p:sp>
      <p:sp>
        <p:nvSpPr>
          <p:cNvPr id="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IN THE APPLICATION</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How the processes feed each other</a:t>
            </a:r>
            <a:endParaRPr lang="en-US" sz="2800" dirty="0"/>
          </a:p>
        </p:txBody>
      </p:sp>
      <p:sp>
        <p:nvSpPr>
          <p:cNvPr id="5" name="frame 03_chain"/>
          <p:cNvSpPr/>
          <p:nvPr/>
        </p:nvSpPr>
        <p:spPr>
          <a:xfrm>
            <a:off x="3047805" y="1636776"/>
            <a:ext cx="6093342" cy="4453128"/>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6" name="Image 0" descr="03_chain">    </p:cNvPr>
          <p:cNvPicPr>
            <a:picLocks noChangeAspect="1"/>
          </p:cNvPicPr>
          <p:nvPr/>
        </p:nvPicPr>
        <p:blipFill>
          <a:blip r:embed="rId1"/>
          <a:stretch>
            <a:fillRect/>
          </a:stretch>
        </p:blipFill>
        <p:spPr>
          <a:xfrm>
            <a:off x="3102669" y="1691640"/>
            <a:ext cx="5983614" cy="4343400"/>
          </a:xfrm>
          <a:prstGeom prst="rect">
            <a:avLst/>
          </a:prstGeom>
        </p:spPr>
      </p:pic>
      <p:sp>
        <p:nvSpPr>
          <p:cNvPr id="7" name="Text 3"/>
          <p:cNvSpPr txBox="1"/>
          <p:nvPr/>
        </p:nvSpPr>
        <p:spPr>
          <a:xfrm>
            <a:off x="3102669" y="6144768"/>
            <a:ext cx="5983614"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Chain diagram: the output of each process is an input of the next ones.</a:t>
            </a:r>
            <a:endParaRPr lang="en-US" sz="1000" dirty="0"/>
          </a:p>
        </p:txBody>
      </p:sp>
      <p:sp>
        <p:nvSpPr>
          <p:cNvPr id="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2" name=""/>
        <p:cNvGrpSpPr/>
        <p:nvPr/>
      </p:nvGrpSpPr>
      <p:grpSpPr>
        <a:xfrm>
          <a:off x="0" y="0"/>
          <a:ext cx="0" cy="0"/>
          <a:chOff x="0" y="0"/>
          <a:chExt cx="0" cy="0"/>
        </a:xfrm>
      </p:grpSpPr>
      <p:sp>
        <p:nvSpPr>
          <p:cNvPr id="3" name="Text 0"/>
          <p:cNvSpPr txBox="1"/>
          <p:nvPr/>
        </p:nvSpPr>
        <p:spPr>
          <a:xfrm>
            <a:off x="457200" y="914400"/>
            <a:ext cx="2743200" cy="1280160"/>
          </a:xfrm>
          <a:prstGeom prst="rect">
            <a:avLst/>
          </a:prstGeom>
          <a:noFill/>
          <a:ln/>
        </p:spPr>
        <p:txBody>
          <a:bodyPr wrap="square" lIns="0" tIns="0" rIns="0" bIns="0" rtlCol="0" anchor="ctr"/>
          <a:lstStyle/>
          <a:p>
            <a:pPr indent="0" marL="0">
              <a:buNone/>
            </a:pPr>
            <a:r>
              <a:rPr lang="en-US" sz="8000" b="1" dirty="0">
                <a:solidFill>
                  <a:srgbClr val="F8931D"/>
                </a:solidFill>
                <a:latin typeface="Cambria" pitchFamily="34" charset="0"/>
                <a:ea typeface="Cambria" pitchFamily="34" charset="-122"/>
                <a:cs typeface="Cambria" pitchFamily="34" charset="-120"/>
              </a:rPr>
              <a:t>01</a:t>
            </a:r>
            <a:endParaRPr lang="en-US" sz="8000" dirty="0"/>
          </a:p>
        </p:txBody>
      </p:sp>
      <p:sp>
        <p:nvSpPr>
          <p:cNvPr id="4" name="Text 1"/>
          <p:cNvSpPr txBox="1"/>
          <p:nvPr/>
        </p:nvSpPr>
        <p:spPr>
          <a:xfrm>
            <a:off x="457200" y="2331720"/>
            <a:ext cx="5486400" cy="320040"/>
          </a:xfrm>
          <a:prstGeom prst="rect">
            <a:avLst/>
          </a:prstGeom>
          <a:noFill/>
          <a:ln/>
        </p:spPr>
        <p:txBody>
          <a:bodyPr wrap="square" lIns="0" tIns="0" rIns="0" bIns="0" rtlCol="0" anchor="ctr"/>
          <a:lstStyle/>
          <a:p>
            <a:pPr indent="0" marL="0">
              <a:buNone/>
            </a:pPr>
            <a:r>
              <a:rPr lang="en-US" sz="1300" b="1" spc="300" kern="0" dirty="0">
                <a:solidFill>
                  <a:srgbClr val="F8931D"/>
                </a:solidFill>
                <a:latin typeface="Calibri" pitchFamily="34" charset="0"/>
                <a:ea typeface="Calibri" pitchFamily="34" charset="-122"/>
                <a:cs typeface="Calibri" pitchFamily="34" charset="-120"/>
              </a:rPr>
              <a:t>PHASE 1</a:t>
            </a:r>
            <a:endParaRPr lang="en-US" sz="1300" dirty="0"/>
          </a:p>
        </p:txBody>
      </p:sp>
      <p:sp>
        <p:nvSpPr>
          <p:cNvPr id="5" name="Text 2"/>
          <p:cNvSpPr txBox="1"/>
          <p:nvPr/>
        </p:nvSpPr>
        <p:spPr>
          <a:xfrm>
            <a:off x="457200" y="2697480"/>
            <a:ext cx="5669280" cy="13716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Scope &amp; evidence</a:t>
            </a:r>
            <a:endParaRPr lang="en-US" sz="3600" dirty="0"/>
          </a:p>
        </p:txBody>
      </p:sp>
      <p:sp>
        <p:nvSpPr>
          <p:cNvPr id="6" name="Text 3"/>
          <p:cNvSpPr txBox="1"/>
          <p:nvPr/>
        </p:nvSpPr>
        <p:spPr>
          <a:xfrm>
            <a:off x="457200" y="4206240"/>
            <a:ext cx="5669280" cy="1097280"/>
          </a:xfrm>
          <a:prstGeom prst="rect">
            <a:avLst/>
          </a:prstGeom>
          <a:noFill/>
          <a:ln/>
        </p:spPr>
        <p:txBody>
          <a:bodyPr wrap="square" lIns="0" tIns="0" rIns="0" bIns="0" rtlCol="0" anchor="t"/>
          <a:lstStyle/>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4 processes · 37 tasks · 52 steps</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18 Apr 2026 – 23 May 2026</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Closed by G1 — Scope &amp; evidence approved</a:t>
            </a:r>
            <a:endParaRPr lang="en-US" sz="1500" dirty="0"/>
          </a:p>
        </p:txBody>
      </p:sp>
      <p:sp>
        <p:nvSpPr>
          <p:cNvPr id="7" name="Text 4"/>
          <p:cNvSpPr txBox="1"/>
          <p:nvPr/>
        </p:nvSpPr>
        <p:spPr>
          <a:xfrm>
            <a:off x="6675120" y="1097280"/>
            <a:ext cx="5029200" cy="4754880"/>
          </a:xfrm>
          <a:prstGeom prst="rect">
            <a:avLst/>
          </a:prstGeom>
          <a:noFill/>
          <a:ln/>
        </p:spPr>
        <p:txBody>
          <a:bodyPr wrap="square" lIns="0" tIns="0" rIns="0" bIns="0" rtlCol="0" anchor="ctr"/>
          <a:lstStyle/>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E2E-32   Scope-of-Work-to-Engineering-Plan</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E2E-33   Questionnaire-to-Response-Collection</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E2E-19   Consulting Engagement-to-Closure</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E2E-24   Competitive Intelligence-to-Strategy</a:t>
            </a:r>
            <a:endParaRPr lang="en-US" sz="1500" dirty="0"/>
          </a:p>
        </p:txBody>
      </p:sp>
      <p:sp>
        <p:nvSpPr>
          <p:cNvPr id="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DBDB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1 · E2E-32 · ROOT — STRATEGIC</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Scope-of-Work-to-Engineering-Plan</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Define and approve the structured scope of work and stakeholder register</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New training engineering engagement, annual plan cycle, or executive request.</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Approved Scope of Work with criteria matrix and stakeholder register released to questionnaire design (E2E-33) and needs analysis (E2E-03).</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9 tasks · 12 steps
</a:t>
            </a:r>
            <a:pPr indent="0" marL="0">
              <a:buNone/>
            </a:pPr>
            <a:r>
              <a:rPr lang="en-US" sz="1100" dirty="0">
                <a:solidFill>
                  <a:srgbClr val="3A3A3C"/>
                </a:solidFill>
                <a:latin typeface="Calibri" pitchFamily="34" charset="0"/>
                <a:ea typeface="Calibri" pitchFamily="34" charset="-122"/>
                <a:cs typeface="Calibri" pitchFamily="34" charset="-120"/>
              </a:rPr>
              <a:t>26 days · 4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MP-53 Scope of Work Definition &amp; Management · </a:t>
            </a:r>
            <a:pPr indent="0" marL="0">
              <a:buNone/>
            </a:pPr>
            <a:r>
              <a:rPr lang="en-US" sz="1000" dirty="0">
                <a:solidFill>
                  <a:srgbClr val="58595B"/>
                </a:solidFill>
                <a:latin typeface="Calibri" pitchFamily="34" charset="0"/>
                <a:ea typeface="Calibri" pitchFamily="34" charset="-122"/>
                <a:cs typeface="Calibri" pitchFamily="34" charset="-120"/>
              </a:rPr>
              <a:t>MP-01 Strategy &amp; Governance Alignment · </a:t>
            </a:r>
            <a:pPr indent="0" marL="0">
              <a:buNone/>
            </a:pPr>
            <a:r>
              <a:rPr lang="en-US" sz="1000" dirty="0">
                <a:solidFill>
                  <a:srgbClr val="58595B"/>
                </a:solidFill>
                <a:latin typeface="Calibri" pitchFamily="34" charset="0"/>
                <a:ea typeface="Calibri" pitchFamily="34" charset="-122"/>
                <a:cs typeface="Calibri" pitchFamily="34" charset="-120"/>
              </a:rPr>
              <a:t>MP-44 Job Architecture &amp; Position Description Management · </a:t>
            </a:r>
            <a:pPr indent="0" marL="0">
              <a:buNone/>
            </a:pPr>
            <a:r>
              <a:rPr lang="en-US" sz="1000" dirty="0">
                <a:solidFill>
                  <a:srgbClr val="58595B"/>
                </a:solidFill>
                <a:latin typeface="Calibri" pitchFamily="34" charset="0"/>
                <a:ea typeface="Calibri" pitchFamily="34" charset="-122"/>
                <a:cs typeface="Calibri" pitchFamily="34" charset="-120"/>
              </a:rPr>
              <a:t>MP-45 GPEC &amp; HR Strategic Integration (Forward Planning of Jobs and Skills) · </a:t>
            </a:r>
            <a:pPr indent="0" marL="0">
              <a:buNone/>
            </a:pPr>
            <a:r>
              <a:rPr lang="en-US" sz="1000" dirty="0">
                <a:solidFill>
                  <a:srgbClr val="58595B"/>
                </a:solidFill>
                <a:latin typeface="Calibri" pitchFamily="34" charset="0"/>
                <a:ea typeface="Calibri" pitchFamily="34" charset="-122"/>
                <a:cs typeface="Calibri" pitchFamily="34" charset="-120"/>
              </a:rPr>
              <a:t>MP-03 Needs Analysis &amp; Diagnosis</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UFT-32-01
</a:t>
                      </a:r>
                      <a:pPr indent="0" marL="0">
                        <a:buNone/>
                      </a:pPr>
                      <a:r>
                        <a:rPr lang="en-US" sz="1000" b="1" dirty="0">
                          <a:solidFill>
                            <a:srgbClr val="3A3A3C"/>
                          </a:solidFill>
                          <a:latin typeface="Calibri" pitchFamily="34" charset="0"/>
                          <a:ea typeface="Calibri" pitchFamily="34" charset="-122"/>
                          <a:cs typeface="Calibri" pitchFamily="34" charset="-120"/>
                        </a:rPr>
                        <a:t>Define scope frame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MP-53.1 </a:t>
                      </a:r>
                      <a:pPr indent="0" marL="0">
                        <a:buNone/>
                      </a:pPr>
                      <a:r>
                        <a:rPr lang="en-US" sz="1000" dirty="0">
                          <a:solidFill>
                            <a:srgbClr val="58595B"/>
                          </a:solidFill>
                          <a:latin typeface="Calibri" pitchFamily="34" charset="0"/>
                          <a:ea typeface="Calibri" pitchFamily="34" charset="-122"/>
                          <a:cs typeface="Calibri" pitchFamily="34" charset="-120"/>
                        </a:rPr>
                        <a:t>Define scope frame (Group Yes/No)</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MP-53.2 </a:t>
                      </a:r>
                      <a:pPr indent="0" marL="0">
                        <a:buNone/>
                      </a:pPr>
                      <a:r>
                        <a:rPr lang="en-US" sz="1000" dirty="0">
                          <a:solidFill>
                            <a:srgbClr val="58595B"/>
                          </a:solidFill>
                          <a:latin typeface="Calibri" pitchFamily="34" charset="0"/>
                          <a:ea typeface="Calibri" pitchFamily="34" charset="-122"/>
                          <a:cs typeface="Calibri" pitchFamily="34" charset="-120"/>
                        </a:rPr>
                        <a:t>Select Organization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20 Apr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Group scope: No. Organization: Santéora Private Clinics Group.</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UFT-32-02
</a:t>
                      </a:r>
                      <a:pPr indent="0" marL="0">
                        <a:buNone/>
                      </a:pPr>
                      <a:r>
                        <a:rPr lang="en-US" sz="1000" b="1" dirty="0">
                          <a:solidFill>
                            <a:srgbClr val="3A3A3C"/>
                          </a:solidFill>
                          <a:latin typeface="Calibri" pitchFamily="34" charset="0"/>
                          <a:ea typeface="Calibri" pitchFamily="34" charset="-122"/>
                          <a:cs typeface="Calibri" pitchFamily="34" charset="-120"/>
                        </a:rPr>
                        <a:t>Select sector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MP-53.3 </a:t>
                      </a:r>
                      <a:pPr indent="0" marL="0">
                        <a:buNone/>
                      </a:pPr>
                      <a:r>
                        <a:rPr lang="en-US" sz="1000" dirty="0">
                          <a:solidFill>
                            <a:srgbClr val="58595B"/>
                          </a:solidFill>
                          <a:latin typeface="Calibri" pitchFamily="34" charset="0"/>
                          <a:ea typeface="Calibri" pitchFamily="34" charset="-122"/>
                          <a:cs typeface="Calibri" pitchFamily="34" charset="-120"/>
                        </a:rPr>
                        <a:t>Select sector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23 Apr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Sector: Healthcare Providers.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UFT-32-03
</a:t>
                      </a:r>
                      <a:pPr indent="0" marL="0">
                        <a:buNone/>
                      </a:pPr>
                      <a:r>
                        <a:rPr lang="en-US" sz="1000" b="1" dirty="0">
                          <a:solidFill>
                            <a:srgbClr val="3A3A3C"/>
                          </a:solidFill>
                          <a:latin typeface="Calibri" pitchFamily="34" charset="0"/>
                          <a:ea typeface="Calibri" pitchFamily="34" charset="-122"/>
                          <a:cs typeface="Calibri" pitchFamily="34" charset="-120"/>
                        </a:rPr>
                        <a:t>Select decision levels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MP-53.4 </a:t>
                      </a:r>
                      <a:pPr indent="0" marL="0">
                        <a:buNone/>
                      </a:pPr>
                      <a:r>
                        <a:rPr lang="en-US" sz="1000" dirty="0">
                          <a:solidFill>
                            <a:srgbClr val="58595B"/>
                          </a:solidFill>
                          <a:latin typeface="Calibri" pitchFamily="34" charset="0"/>
                          <a:ea typeface="Calibri" pitchFamily="34" charset="-122"/>
                          <a:cs typeface="Calibri" pitchFamily="34" charset="-120"/>
                        </a:rPr>
                        <a:t>Select decision level (MS/MO/OP/Custom)</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26 Apr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Decision levels: MS, MO, OP (no custom level).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UFT-32-04
</a:t>
                      </a:r>
                      <a:pPr indent="0" marL="0">
                        <a:buNone/>
                      </a:pPr>
                      <a:r>
                        <a:rPr lang="en-US" sz="1000" b="1" dirty="0">
                          <a:solidFill>
                            <a:srgbClr val="3A3A3C"/>
                          </a:solidFill>
                          <a:latin typeface="Calibri" pitchFamily="34" charset="0"/>
                          <a:ea typeface="Calibri" pitchFamily="34" charset="-122"/>
                          <a:cs typeface="Calibri" pitchFamily="34" charset="-120"/>
                        </a:rPr>
                        <a:t>Map functions × decision levels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MP-53.5 </a:t>
                      </a:r>
                      <a:pPr indent="0" marL="0">
                        <a:buNone/>
                      </a:pPr>
                      <a:r>
                        <a:rPr lang="en-US" sz="1000" dirty="0">
                          <a:solidFill>
                            <a:srgbClr val="58595B"/>
                          </a:solidFill>
                          <a:latin typeface="Calibri" pitchFamily="34" charset="0"/>
                          <a:ea typeface="Calibri" pitchFamily="34" charset="-122"/>
                          <a:cs typeface="Calibri" pitchFamily="34" charset="-120"/>
                        </a:rPr>
                        <a:t>Map functions × decision level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29 Apr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Matrix: Clinical Care &amp; Nursing × MS/MO/OP; Quality × MO/OP; Finance × MS/MO; HR × MS/MO.</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UFT-32-05
</a:t>
                      </a:r>
                      <a:pPr indent="0" marL="0">
                        <a:buNone/>
                      </a:pPr>
                      <a:r>
                        <a:rPr lang="en-US" sz="1000" b="1" dirty="0">
                          <a:solidFill>
                            <a:srgbClr val="3A3A3C"/>
                          </a:solidFill>
                          <a:latin typeface="Calibri" pitchFamily="34" charset="0"/>
                          <a:ea typeface="Calibri" pitchFamily="34" charset="-122"/>
                          <a:cs typeface="Calibri" pitchFamily="34" charset="-120"/>
                        </a:rPr>
                        <a:t>Select focus and add custom criteria</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MP-53.6 </a:t>
                      </a:r>
                      <a:pPr indent="0" marL="0">
                        <a:buNone/>
                      </a:pPr>
                      <a:r>
                        <a:rPr lang="en-US" sz="1000" dirty="0">
                          <a:solidFill>
                            <a:srgbClr val="58595B"/>
                          </a:solidFill>
                          <a:latin typeface="Calibri" pitchFamily="34" charset="0"/>
                          <a:ea typeface="Calibri" pitchFamily="34" charset="-122"/>
                          <a:cs typeface="Calibri" pitchFamily="34" charset="-120"/>
                        </a:rPr>
                        <a:t>Select focus (All/Digital/AI/Custom)</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MP-53.7 </a:t>
                      </a:r>
                      <a:pPr indent="0" marL="0">
                        <a:buNone/>
                      </a:pPr>
                      <a:r>
                        <a:rPr lang="en-US" sz="1000" dirty="0">
                          <a:solidFill>
                            <a:srgbClr val="58595B"/>
                          </a:solidFill>
                          <a:latin typeface="Calibri" pitchFamily="34" charset="0"/>
                          <a:ea typeface="Calibri" pitchFamily="34" charset="-122"/>
                          <a:cs typeface="Calibri" pitchFamily="34" charset="-120"/>
                        </a:rPr>
                        <a:t>Add custom criteria</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Focus: AI. Custom criterion: 'Readiness for AI triage and clinical decision support' (weight 2.00).</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UFT-32-06
</a:t>
                      </a:r>
                      <a:pPr indent="0" marL="0">
                        <a:buNone/>
                      </a:pPr>
                      <a:r>
                        <a:rPr lang="en-US" sz="1000" b="1" dirty="0">
                          <a:solidFill>
                            <a:srgbClr val="3A3A3C"/>
                          </a:solidFill>
                          <a:latin typeface="Calibri" pitchFamily="34" charset="0"/>
                          <a:ea typeface="Calibri" pitchFamily="34" charset="-122"/>
                          <a:cs typeface="Calibri" pitchFamily="34" charset="-120"/>
                        </a:rPr>
                        <a:t>Identify stakeholders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MP-53.8 </a:t>
                      </a:r>
                      <a:pPr indent="0" marL="0">
                        <a:buNone/>
                      </a:pPr>
                      <a:r>
                        <a:rPr lang="en-US" sz="1000" dirty="0">
                          <a:solidFill>
                            <a:srgbClr val="58595B"/>
                          </a:solidFill>
                          <a:latin typeface="Calibri" pitchFamily="34" charset="0"/>
                          <a:ea typeface="Calibri" pitchFamily="34" charset="-122"/>
                          <a:cs typeface="Calibri" pitchFamily="34" charset="-120"/>
                        </a:rPr>
                        <a:t>Identify stakeholders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Register 40 stakeholders: name, role, function, level, site, preferred channel (Email, Face-to-Face or Hybrid).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32"/>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32-06 Identify stakeholder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UFT-32-06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1 · E2E-32 · ROOT — STRATEGIC</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Scope-of-Work-to-Engineering-Plan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UFT-32-07
</a:t>
                      </a:r>
                      <a:pPr indent="0" marL="0">
                        <a:buNone/>
                      </a:pPr>
                      <a:r>
                        <a:rPr lang="en-US" sz="1000" b="1" dirty="0">
                          <a:solidFill>
                            <a:srgbClr val="3A3A3C"/>
                          </a:solidFill>
                          <a:latin typeface="Calibri" pitchFamily="34" charset="0"/>
                          <a:ea typeface="Calibri" pitchFamily="34" charset="-122"/>
                          <a:cs typeface="Calibri" pitchFamily="34" charset="-120"/>
                        </a:rPr>
                        <a:t>Validate scope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MP-53.9 </a:t>
                      </a:r>
                      <a:pPr indent="0" marL="0">
                        <a:buNone/>
                      </a:pPr>
                      <a:r>
                        <a:rPr lang="en-US" sz="1000" dirty="0">
                          <a:solidFill>
                            <a:srgbClr val="58595B"/>
                          </a:solidFill>
                          <a:latin typeface="Calibri" pitchFamily="34" charset="0"/>
                          <a:ea typeface="Calibri" pitchFamily="34" charset="-122"/>
                          <a:cs typeface="Calibri" pitchFamily="34" charset="-120"/>
                        </a:rPr>
                        <a:t>Validate and approve scope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8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Validation: every function in scope has at least 3 stakeholders; completeness 100%.</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UFT-32-08
</a:t>
                      </a:r>
                      <a:pPr indent="0" marL="0">
                        <a:buNone/>
                      </a:pPr>
                      <a:r>
                        <a:rPr lang="en-US" sz="1000" b="1" dirty="0">
                          <a:solidFill>
                            <a:srgbClr val="3A3A3C"/>
                          </a:solidFill>
                          <a:latin typeface="Calibri" pitchFamily="34" charset="0"/>
                          <a:ea typeface="Calibri" pitchFamily="34" charset="-122"/>
                          <a:cs typeface="Calibri" pitchFamily="34" charset="-120"/>
                        </a:rPr>
                        <a:t>Approve scope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MP-53.9 </a:t>
                      </a:r>
                      <a:pPr indent="0" marL="0">
                        <a:buNone/>
                      </a:pPr>
                      <a:r>
                        <a:rPr lang="en-US" sz="1000" dirty="0">
                          <a:solidFill>
                            <a:srgbClr val="58595B"/>
                          </a:solidFill>
                          <a:latin typeface="Calibri" pitchFamily="34" charset="0"/>
                          <a:ea typeface="Calibri" pitchFamily="34" charset="-122"/>
                          <a:cs typeface="Calibri" pitchFamily="34" charset="-120"/>
                        </a:rPr>
                        <a:t>Validate and approve scope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MP-53.10 </a:t>
                      </a:r>
                      <a:pPr indent="0" marL="0">
                        <a:buNone/>
                      </a:pPr>
                      <a:r>
                        <a:rPr lang="en-US" sz="1000" dirty="0">
                          <a:solidFill>
                            <a:srgbClr val="58595B"/>
                          </a:solidFill>
                          <a:latin typeface="Calibri" pitchFamily="34" charset="0"/>
                          <a:ea typeface="Calibri" pitchFamily="34" charset="-122"/>
                          <a:cs typeface="Calibri" pitchFamily="34" charset="-120"/>
                        </a:rPr>
                        <a:t>Publish scope and register stakeholders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Mehdi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11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Approval status: Approved (version 1). Justification: scope aligned with SO-1 and SO-2.</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UFT-32-09
</a:t>
                      </a:r>
                      <a:pPr indent="0" marL="0">
                        <a:buNone/>
                      </a:pPr>
                      <a:r>
                        <a:rPr lang="en-US" sz="1000" b="1" dirty="0">
                          <a:solidFill>
                            <a:srgbClr val="3A3A3C"/>
                          </a:solidFill>
                          <a:latin typeface="Calibri" pitchFamily="34" charset="0"/>
                          <a:ea typeface="Calibri" pitchFamily="34" charset="-122"/>
                          <a:cs typeface="Calibri" pitchFamily="34" charset="-120"/>
                        </a:rPr>
                        <a:t>Publish scope and register stakeholders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MP-53.10 </a:t>
                      </a:r>
                      <a:pPr indent="0" marL="0">
                        <a:buNone/>
                      </a:pPr>
                      <a:r>
                        <a:rPr lang="en-US" sz="1000" dirty="0">
                          <a:solidFill>
                            <a:srgbClr val="58595B"/>
                          </a:solidFill>
                          <a:latin typeface="Calibri" pitchFamily="34" charset="0"/>
                          <a:ea typeface="Calibri" pitchFamily="34" charset="-122"/>
                          <a:cs typeface="Calibri" pitchFamily="34" charset="-120"/>
                        </a:rPr>
                        <a:t>Publish scope and register stakeholders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14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Generate the SOW document (RPT-033) and release scope and stakeholders to the questionnaire studio.</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32"/>
          <p:cNvSpPr/>
          <p:nvPr/>
        </p:nvSpPr>
        <p:spPr>
          <a:xfrm>
            <a:off x="2513978" y="3291840"/>
            <a:ext cx="3750285" cy="2752344"/>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32">    </p:cNvPr>
          <p:cNvPicPr>
            <a:picLocks noChangeAspect="1"/>
          </p:cNvPicPr>
          <p:nvPr/>
        </p:nvPicPr>
        <p:blipFill>
          <a:blip r:embed="rId1"/>
          <a:stretch>
            <a:fillRect/>
          </a:stretch>
        </p:blipFill>
        <p:spPr>
          <a:xfrm>
            <a:off x="2568842" y="3346704"/>
            <a:ext cx="3640557" cy="2642616"/>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E2E-32 in CortexSkills: its tasks, owners and due dates, and the process card.</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 processes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MP-53 Scope of Work Definition &amp; Management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MP-01 Strategy &amp; Governance Alignment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MP-44 Job Architecture &amp; Position Description Management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MP-45 GPEC &amp; HR Strategic Integration (Forward Planning of Jobs and Skills)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MP-03 Needs Analysis &amp; Diagnosis</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Feeds into</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E2E-33, E2E-03, E2E-01</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Supported by</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E2E-15, 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1 · E2E-33 · ROOT — DIAGNOSTIC</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Questionnaire-to-Response-Collection</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Design, distribute and collect questionnaire responses across channels</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An approved Scope of Work becomes available (end of E2E-32).</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Consolidated, validated questionnaire response dataset feeding needs analysis (E2E-03), diagnostic (E2E-20) and demand collection (E2E-27).</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12 tasks · 13 steps
</a:t>
            </a:r>
            <a:pPr indent="0" marL="0">
              <a:buNone/>
            </a:pPr>
            <a:r>
              <a:rPr lang="en-US" sz="1100" dirty="0">
                <a:solidFill>
                  <a:srgbClr val="3A3A3C"/>
                </a:solidFill>
                <a:latin typeface="Calibri" pitchFamily="34" charset="0"/>
                <a:ea typeface="Calibri" pitchFamily="34" charset="-122"/>
                <a:cs typeface="Calibri" pitchFamily="34" charset="-120"/>
              </a:rPr>
              <a:t>35 days · 3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MP-54 Questionnaire Design, Distribution &amp; Response Collection · </a:t>
            </a:r>
            <a:pPr indent="0" marL="0">
              <a:buNone/>
            </a:pPr>
            <a:r>
              <a:rPr lang="en-US" sz="1000" dirty="0">
                <a:solidFill>
                  <a:srgbClr val="58595B"/>
                </a:solidFill>
                <a:latin typeface="Calibri" pitchFamily="34" charset="0"/>
                <a:ea typeface="Calibri" pitchFamily="34" charset="-122"/>
                <a:cs typeface="Calibri" pitchFamily="34" charset="-120"/>
              </a:rPr>
              <a:t>MP-03 Needs Analysis &amp; Diagnosis · </a:t>
            </a:r>
            <a:pPr indent="0" marL="0">
              <a:buNone/>
            </a:pPr>
            <a:r>
              <a:rPr lang="en-US" sz="1000" dirty="0">
                <a:solidFill>
                  <a:srgbClr val="58595B"/>
                </a:solidFill>
                <a:latin typeface="Calibri" pitchFamily="34" charset="0"/>
                <a:ea typeface="Calibri" pitchFamily="34" charset="-122"/>
                <a:cs typeface="Calibri" pitchFamily="34" charset="-120"/>
              </a:rPr>
              <a:t>MP-37 Multi-Axis Organizational Diagnostic · </a:t>
            </a:r>
            <a:pPr indent="0" marL="0">
              <a:buNone/>
            </a:pPr>
            <a:r>
              <a:rPr lang="en-US" sz="1000" dirty="0">
                <a:solidFill>
                  <a:srgbClr val="58595B"/>
                </a:solidFill>
                <a:latin typeface="Calibri" pitchFamily="34" charset="0"/>
                <a:ea typeface="Calibri" pitchFamily="34" charset="-122"/>
                <a:cs typeface="Calibri" pitchFamily="34" charset="-120"/>
              </a:rPr>
              <a:t>MP-46 Training Demand Collection &amp; Consolidation</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UFT-33-01
</a:t>
                      </a:r>
                      <a:pPr indent="0" marL="0">
                        <a:buNone/>
                      </a:pPr>
                      <a:r>
                        <a:rPr lang="en-US" sz="1000" b="1" dirty="0">
                          <a:solidFill>
                            <a:srgbClr val="3A3A3C"/>
                          </a:solidFill>
                          <a:latin typeface="Calibri" pitchFamily="34" charset="0"/>
                          <a:ea typeface="Calibri" pitchFamily="34" charset="-122"/>
                          <a:cs typeface="Calibri" pitchFamily="34" charset="-120"/>
                        </a:rPr>
                        <a:t>Select questionnaire template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MP-54.1 </a:t>
                      </a:r>
                      <a:pPr indent="0" marL="0">
                        <a:buNone/>
                      </a:pPr>
                      <a:r>
                        <a:rPr lang="en-US" sz="1000" dirty="0">
                          <a:solidFill>
                            <a:srgbClr val="58595B"/>
                          </a:solidFill>
                          <a:latin typeface="Calibri" pitchFamily="34" charset="0"/>
                          <a:ea typeface="Calibri" pitchFamily="34" charset="-122"/>
                          <a:cs typeface="Calibri" pitchFamily="34" charset="-120"/>
                        </a:rPr>
                        <a:t>Select questionnaire template by focus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20 Apr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Template: 'AI needs — Healthcare Providers' in the user's language, 5 sections.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UFT-33-02
</a:t>
                      </a:r>
                      <a:pPr indent="0" marL="0">
                        <a:buNone/>
                      </a:pPr>
                      <a:r>
                        <a:rPr lang="en-US" sz="1000" b="1" dirty="0">
                          <a:solidFill>
                            <a:srgbClr val="3A3A3C"/>
                          </a:solidFill>
                          <a:latin typeface="Calibri" pitchFamily="34" charset="0"/>
                          <a:ea typeface="Calibri" pitchFamily="34" charset="-122"/>
                          <a:cs typeface="Calibri" pitchFamily="34" charset="-120"/>
                        </a:rPr>
                        <a:t>Elaborate questionnaire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MP-54.2 </a:t>
                      </a:r>
                      <a:pPr indent="0" marL="0">
                        <a:buNone/>
                      </a:pPr>
                      <a:r>
                        <a:rPr lang="en-US" sz="1000" dirty="0">
                          <a:solidFill>
                            <a:srgbClr val="58595B"/>
                          </a:solidFill>
                          <a:latin typeface="Calibri" pitchFamily="34" charset="0"/>
                          <a:ea typeface="Calibri" pitchFamily="34" charset="-122"/>
                          <a:cs typeface="Calibri" pitchFamily="34" charset="-120"/>
                        </a:rPr>
                        <a:t>Elaborate questionnaire (Load/AI/Manual)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23 Apr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Elaboration mode: AI. 24 questions generated from the approved Scope of Work.</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UFT-33-03
</a:t>
                      </a:r>
                      <a:pPr indent="0" marL="0">
                        <a:buNone/>
                      </a:pPr>
                      <a:r>
                        <a:rPr lang="en-US" sz="1000" b="1" dirty="0">
                          <a:solidFill>
                            <a:srgbClr val="3A3A3C"/>
                          </a:solidFill>
                          <a:latin typeface="Calibri" pitchFamily="34" charset="0"/>
                          <a:ea typeface="Calibri" pitchFamily="34" charset="-122"/>
                          <a:cs typeface="Calibri" pitchFamily="34" charset="-120"/>
                        </a:rPr>
                        <a:t>Tailor and validate content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MP-54.3 </a:t>
                      </a:r>
                      <a:pPr indent="0" marL="0">
                        <a:buNone/>
                      </a:pPr>
                      <a:r>
                        <a:rPr lang="en-US" sz="1000" dirty="0">
                          <a:solidFill>
                            <a:srgbClr val="58595B"/>
                          </a:solidFill>
                          <a:latin typeface="Calibri" pitchFamily="34" charset="0"/>
                          <a:ea typeface="Calibri" pitchFamily="34" charset="-122"/>
                          <a:cs typeface="Calibri" pitchFamily="34" charset="-120"/>
                        </a:rPr>
                        <a:t>Tailor to sector and focus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26 Apr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Validate each question; reword 5 with Clinical Care &amp; Nursing vocabulary; delete 2 duplicates.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UFT-33-04
</a:t>
                      </a:r>
                      <a:pPr indent="0" marL="0">
                        <a:buNone/>
                      </a:pPr>
                      <a:r>
                        <a:rPr lang="en-US" sz="1000" b="1" dirty="0">
                          <a:solidFill>
                            <a:srgbClr val="3A3A3C"/>
                          </a:solidFill>
                          <a:latin typeface="Calibri" pitchFamily="34" charset="0"/>
                          <a:ea typeface="Calibri" pitchFamily="34" charset="-122"/>
                          <a:cs typeface="Calibri" pitchFamily="34" charset="-120"/>
                        </a:rPr>
                        <a:t>Allocate RACSI</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MP-54.4 </a:t>
                      </a:r>
                      <a:pPr indent="0" marL="0">
                        <a:buNone/>
                      </a:pPr>
                      <a:r>
                        <a:rPr lang="en-US" sz="1000" dirty="0">
                          <a:solidFill>
                            <a:srgbClr val="58595B"/>
                          </a:solidFill>
                          <a:latin typeface="Calibri" pitchFamily="34" charset="0"/>
                          <a:ea typeface="Calibri" pitchFamily="34" charset="-122"/>
                          <a:cs typeface="Calibri" pitchFamily="34" charset="-120"/>
                        </a:rPr>
                        <a:t>Allocate RACSI per section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29 Apr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Section 'Digital practices': R L&amp;D Analyst, A Head of L&amp;D, C Consultant PM, S IT, I CHRO (one Accountable only).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UFT-33-05
</a:t>
                      </a:r>
                      <a:pPr indent="0" marL="0">
                        <a:buNone/>
                      </a:pPr>
                      <a:r>
                        <a:rPr lang="en-US" sz="1000" b="1" dirty="0">
                          <a:solidFill>
                            <a:srgbClr val="3A3A3C"/>
                          </a:solidFill>
                          <a:latin typeface="Calibri" pitchFamily="34" charset="0"/>
                          <a:ea typeface="Calibri" pitchFamily="34" charset="-122"/>
                          <a:cs typeface="Calibri" pitchFamily="34" charset="-120"/>
                        </a:rPr>
                        <a:t>Select distribution channels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MP-54.5 </a:t>
                      </a:r>
                      <a:pPr indent="0" marL="0">
                        <a:buNone/>
                      </a:pPr>
                      <a:r>
                        <a:rPr lang="en-US" sz="1000" dirty="0">
                          <a:solidFill>
                            <a:srgbClr val="58595B"/>
                          </a:solidFill>
                          <a:latin typeface="Calibri" pitchFamily="34" charset="0"/>
                          <a:ea typeface="Calibri" pitchFamily="34" charset="-122"/>
                          <a:cs typeface="Calibri" pitchFamily="34" charset="-120"/>
                        </a:rPr>
                        <a:t>Select distribution channels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Channels: MS and MO by Email; OP Face-to-Face with tablets; night shift Hybrid.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UFT-33-06
</a:t>
                      </a:r>
                      <a:pPr indent="0" marL="0">
                        <a:buNone/>
                      </a:pPr>
                      <a:r>
                        <a:rPr lang="en-US" sz="1000" b="1" dirty="0">
                          <a:solidFill>
                            <a:srgbClr val="3A3A3C"/>
                          </a:solidFill>
                          <a:latin typeface="Calibri" pitchFamily="34" charset="0"/>
                          <a:ea typeface="Calibri" pitchFamily="34" charset="-122"/>
                          <a:cs typeface="Calibri" pitchFamily="34" charset="-120"/>
                        </a:rPr>
                        <a:t>Distribute questionnaire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MP-54.6 </a:t>
                      </a:r>
                      <a:pPr indent="0" marL="0">
                        <a:buNone/>
                      </a:pPr>
                      <a:r>
                        <a:rPr lang="en-US" sz="1000" dirty="0">
                          <a:solidFill>
                            <a:srgbClr val="58595B"/>
                          </a:solidFill>
                          <a:latin typeface="Calibri" pitchFamily="34" charset="0"/>
                          <a:ea typeface="Calibri" pitchFamily="34" charset="-122"/>
                          <a:cs typeface="Calibri" pitchFamily="34" charset="-120"/>
                        </a:rPr>
                        <a:t>Distribute to stakeholders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Distribute to 40 stakeholders; 40 dispatches logged.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33"/>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33-04 Allocate RACSI">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UFT-33-04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1 · E2E-33 · ROOT — DIAGNOSTIC</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Questionnaire-to-Response-Collection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UFT-33-07
</a:t>
                      </a:r>
                      <a:pPr indent="0" marL="0">
                        <a:buNone/>
                      </a:pPr>
                      <a:r>
                        <a:rPr lang="en-US" sz="1000" b="1" dirty="0">
                          <a:solidFill>
                            <a:srgbClr val="3A3A3C"/>
                          </a:solidFill>
                          <a:latin typeface="Calibri" pitchFamily="34" charset="0"/>
                          <a:ea typeface="Calibri" pitchFamily="34" charset="-122"/>
                          <a:cs typeface="Calibri" pitchFamily="34" charset="-120"/>
                        </a:rPr>
                        <a:t>Send reminders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MP-54.7 </a:t>
                      </a:r>
                      <a:pPr indent="0" marL="0">
                        <a:buNone/>
                      </a:pPr>
                      <a:r>
                        <a:rPr lang="en-US" sz="1000" dirty="0">
                          <a:solidFill>
                            <a:srgbClr val="58595B"/>
                          </a:solidFill>
                          <a:latin typeface="Calibri" pitchFamily="34" charset="0"/>
                          <a:ea typeface="Calibri" pitchFamily="34" charset="-122"/>
                          <a:cs typeface="Calibri" pitchFamily="34" charset="-120"/>
                        </a:rPr>
                        <a:t>Send reminders on cadence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8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Reminder 1 on day 5 to 17 non-respondents; reminder 2 on day 10 to 8.</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UFT-33-08
</a:t>
                      </a:r>
                      <a:pPr indent="0" marL="0">
                        <a:buNone/>
                      </a:pPr>
                      <a:r>
                        <a:rPr lang="en-US" sz="1000" b="1" dirty="0">
                          <a:solidFill>
                            <a:srgbClr val="3A3A3C"/>
                          </a:solidFill>
                          <a:latin typeface="Calibri" pitchFamily="34" charset="0"/>
                          <a:ea typeface="Calibri" pitchFamily="34" charset="-122"/>
                          <a:cs typeface="Calibri" pitchFamily="34" charset="-120"/>
                        </a:rPr>
                        <a:t>Collect responses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MP-54.8 </a:t>
                      </a:r>
                      <a:pPr indent="0" marL="0">
                        <a:buNone/>
                      </a:pPr>
                      <a:r>
                        <a:rPr lang="en-US" sz="1000" dirty="0">
                          <a:solidFill>
                            <a:srgbClr val="58595B"/>
                          </a:solidFill>
                          <a:latin typeface="Calibri" pitchFamily="34" charset="0"/>
                          <a:ea typeface="Calibri" pitchFamily="34" charset="-122"/>
                          <a:cs typeface="Calibri" pitchFamily="34" charset="-120"/>
                        </a:rPr>
                        <a:t>Collect responses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Soukaina Bennani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11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Responses: 34 collected (22 online, 12 offline synchronised).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UFT-33-09
</a:t>
                      </a:r>
                      <a:pPr indent="0" marL="0">
                        <a:buNone/>
                      </a:pPr>
                      <a:r>
                        <a:rPr lang="en-US" sz="1000" b="1" dirty="0">
                          <a:solidFill>
                            <a:srgbClr val="3A3A3C"/>
                          </a:solidFill>
                          <a:latin typeface="Calibri" pitchFamily="34" charset="0"/>
                          <a:ea typeface="Calibri" pitchFamily="34" charset="-122"/>
                          <a:cs typeface="Calibri" pitchFamily="34" charset="-120"/>
                        </a:rPr>
                        <a:t>Validate completeness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MP-54.9 </a:t>
                      </a:r>
                      <a:pPr indent="0" marL="0">
                        <a:buNone/>
                      </a:pPr>
                      <a:r>
                        <a:rPr lang="en-US" sz="1000" dirty="0">
                          <a:solidFill>
                            <a:srgbClr val="58595B"/>
                          </a:solidFill>
                          <a:latin typeface="Calibri" pitchFamily="34" charset="0"/>
                          <a:ea typeface="Calibri" pitchFamily="34" charset="-122"/>
                          <a:cs typeface="Calibri" pitchFamily="34" charset="-120"/>
                        </a:rPr>
                        <a:t>Validate completeness and consent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14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Completeness: 31 complete, 3 incomplete flagged.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UFT-33-10
</a:t>
                      </a:r>
                      <a:pPr indent="0" marL="0">
                        <a:buNone/>
                      </a:pPr>
                      <a:r>
                        <a:rPr lang="en-US" sz="1000" b="1" dirty="0">
                          <a:solidFill>
                            <a:srgbClr val="3A3A3C"/>
                          </a:solidFill>
                          <a:latin typeface="Calibri" pitchFamily="34" charset="0"/>
                          <a:ea typeface="Calibri" pitchFamily="34" charset="-122"/>
                          <a:cs typeface="Calibri" pitchFamily="34" charset="-120"/>
                        </a:rPr>
                        <a:t>Consolidate responses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MP-54.10 </a:t>
                      </a:r>
                      <a:pPr indent="0" marL="0">
                        <a:buNone/>
                      </a:pPr>
                      <a:r>
                        <a:rPr lang="en-US" sz="1000" dirty="0">
                          <a:solidFill>
                            <a:srgbClr val="58595B"/>
                          </a:solidFill>
                          <a:latin typeface="Calibri" pitchFamily="34" charset="0"/>
                          <a:ea typeface="Calibri" pitchFamily="34" charset="-122"/>
                          <a:cs typeface="Calibri" pitchFamily="34" charset="-120"/>
                        </a:rPr>
                        <a:t>Consolidate responses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17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Consolidated dataset: 31 responses, 24 questions, by function and level.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UFT-33-11
</a:t>
                      </a:r>
                      <a:pPr indent="0" marL="0">
                        <a:buNone/>
                      </a:pPr>
                      <a:r>
                        <a:rPr lang="en-US" sz="1000" b="1" dirty="0">
                          <a:solidFill>
                            <a:srgbClr val="3A3A3C"/>
                          </a:solidFill>
                          <a:latin typeface="Calibri" pitchFamily="34" charset="0"/>
                          <a:ea typeface="Calibri" pitchFamily="34" charset="-122"/>
                          <a:cs typeface="Calibri" pitchFamily="34" charset="-120"/>
                        </a:rPr>
                        <a:t>Check consent and release dataset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MP-54.11 </a:t>
                      </a:r>
                      <a:pPr indent="0" marL="0">
                        <a:buNone/>
                      </a:pPr>
                      <a:r>
                        <a:rPr lang="en-US" sz="1000" dirty="0">
                          <a:solidFill>
                            <a:srgbClr val="58595B"/>
                          </a:solidFill>
                          <a:latin typeface="Calibri" pitchFamily="34" charset="0"/>
                          <a:ea typeface="Calibri" pitchFamily="34" charset="-122"/>
                          <a:cs typeface="Calibri" pitchFamily="34" charset="-120"/>
                        </a:rPr>
                        <a:t>Feed responses to needs analysis and diagnostic</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MP-54.12 </a:t>
                      </a:r>
                      <a:pPr indent="0" marL="0">
                        <a:buNone/>
                      </a:pPr>
                      <a:r>
                        <a:rPr lang="en-US" sz="1000" dirty="0">
                          <a:solidFill>
                            <a:srgbClr val="58595B"/>
                          </a:solidFill>
                          <a:latin typeface="Calibri" pitchFamily="34" charset="0"/>
                          <a:ea typeface="Calibri" pitchFamily="34" charset="-122"/>
                          <a:cs typeface="Calibri" pitchFamily="34" charset="-120"/>
                        </a:rPr>
                        <a:t>Report on response rate and engagement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20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Consent given for 31 of 31 stored responses; release to needs analysis, diagnostic and demand collection.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UFT-33-12
</a:t>
                      </a:r>
                      <a:pPr indent="0" marL="0">
                        <a:buNone/>
                      </a:pPr>
                      <a:r>
                        <a:rPr lang="en-US" sz="1000" b="1" dirty="0">
                          <a:solidFill>
                            <a:srgbClr val="3A3A3C"/>
                          </a:solidFill>
                          <a:latin typeface="Calibri" pitchFamily="34" charset="0"/>
                          <a:ea typeface="Calibri" pitchFamily="34" charset="-122"/>
                          <a:cs typeface="Calibri" pitchFamily="34" charset="-120"/>
                        </a:rPr>
                        <a:t>Report on response and engagement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MP-54.12 </a:t>
                      </a:r>
                      <a:pPr indent="0" marL="0">
                        <a:buNone/>
                      </a:pPr>
                      <a:r>
                        <a:rPr lang="en-US" sz="1000" dirty="0">
                          <a:solidFill>
                            <a:srgbClr val="58595B"/>
                          </a:solidFill>
                          <a:latin typeface="Calibri" pitchFamily="34" charset="0"/>
                          <a:ea typeface="Calibri" pitchFamily="34" charset="-122"/>
                          <a:cs typeface="Calibri" pitchFamily="34" charset="-120"/>
                        </a:rPr>
                        <a:t>Report on response rate and engagement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23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Response rate 85%; engagement rate 78%; completeness 91% (RPT-034).</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6" name="frame run_E2E-33"/>
          <p:cNvSpPr/>
          <p:nvPr/>
        </p:nvSpPr>
        <p:spPr>
          <a:xfrm>
            <a:off x="8494776" y="1271016"/>
            <a:ext cx="3291840" cy="2419567"/>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33">    </p:cNvPr>
          <p:cNvPicPr>
            <a:picLocks noChangeAspect="1"/>
          </p:cNvPicPr>
          <p:nvPr/>
        </p:nvPicPr>
        <p:blipFill>
          <a:blip r:embed="rId1"/>
          <a:stretch>
            <a:fillRect/>
          </a:stretch>
        </p:blipFill>
        <p:spPr>
          <a:xfrm>
            <a:off x="8549640" y="1325880"/>
            <a:ext cx="3182112" cy="2309839"/>
          </a:xfrm>
          <a:prstGeom prst="rect">
            <a:avLst/>
          </a:prstGeom>
        </p:spPr>
      </p:pic>
      <p:sp>
        <p:nvSpPr>
          <p:cNvPr id="8" name="Text 3"/>
          <p:cNvSpPr txBox="1"/>
          <p:nvPr/>
        </p:nvSpPr>
        <p:spPr>
          <a:xfrm>
            <a:off x="8549640" y="3727159"/>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E2E-33 in CortexSkills: its tasks, owners and due dates, and the process card.</a:t>
            </a:r>
            <a:endParaRPr lang="en-US" sz="1000" dirty="0"/>
          </a:p>
        </p:txBody>
      </p:sp>
      <p:sp>
        <p:nvSpPr>
          <p:cNvPr id="9" name="feeds"/>
          <p:cNvSpPr/>
          <p:nvPr/>
        </p:nvSpPr>
        <p:spPr>
          <a:xfrm>
            <a:off x="8549640" y="4572000"/>
            <a:ext cx="3182112" cy="1508760"/>
          </a:xfrm>
          <a:prstGeom prst="roundRect">
            <a:avLst>
              <a:gd name="adj" fmla="val 4848"/>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686800" y="4645152"/>
            <a:ext cx="2926080" cy="1371600"/>
          </a:xfrm>
          <a:prstGeom prst="rect">
            <a:avLst/>
          </a:prstGeom>
          <a:noFill/>
          <a:ln/>
        </p:spPr>
        <p:txBody>
          <a:bodyPr wrap="square" lIns="0" tIns="0" rIns="0" bIns="0" rtlCol="0" anchor="t"/>
          <a:lstStyle/>
          <a:p>
            <a:pPr indent="0" marL="0">
              <a:buNone/>
            </a:pPr>
            <a:r>
              <a:rPr lang="en-US" sz="1000" b="1" dirty="0">
                <a:solidFill>
                  <a:srgbClr val="E07B00"/>
                </a:solidFill>
                <a:latin typeface="Calibri" pitchFamily="34" charset="0"/>
                <a:ea typeface="Calibri" pitchFamily="34" charset="-122"/>
                <a:cs typeface="Calibri" pitchFamily="34" charset="-120"/>
              </a:rPr>
              <a:t>Feeds into
</a:t>
            </a:r>
            <a:pPr indent="0" marL="0">
              <a:buNone/>
            </a:pPr>
            <a:r>
              <a:rPr lang="en-US" sz="1100" dirty="0">
                <a:solidFill>
                  <a:srgbClr val="3A3A3C"/>
                </a:solidFill>
                <a:latin typeface="Calibri" pitchFamily="34" charset="0"/>
                <a:ea typeface="Calibri" pitchFamily="34" charset="-122"/>
                <a:cs typeface="Calibri" pitchFamily="34" charset="-120"/>
              </a:rPr>
              <a:t>E2E-03, E2E-20, E2E-27</a:t>
            </a:r>
            <a:endParaRPr lang="en-US" sz="1100" dirty="0"/>
          </a:p>
          <a:p>
            <a:pPr indent="0" marL="0">
              <a:buNone/>
            </a:pPr>
            <a:r>
              <a:rPr lang="en-US" sz="1000" b="1" dirty="0">
                <a:solidFill>
                  <a:srgbClr val="E07B00"/>
                </a:solidFill>
                <a:latin typeface="Calibri" pitchFamily="34" charset="0"/>
                <a:ea typeface="Calibri" pitchFamily="34" charset="-122"/>
                <a:cs typeface="Calibri" pitchFamily="34" charset="-120"/>
              </a:rPr>
              <a:t>Supported by
</a:t>
            </a:r>
            <a:pPr indent="0" marL="0">
              <a:buNone/>
            </a:pPr>
            <a:r>
              <a:rPr lang="en-US" sz="1100" dirty="0">
                <a:solidFill>
                  <a:srgbClr val="3A3A3C"/>
                </a:solidFill>
                <a:latin typeface="Calibri" pitchFamily="34" charset="0"/>
                <a:ea typeface="Calibri" pitchFamily="34" charset="-122"/>
                <a:cs typeface="Calibri" pitchFamily="34" charset="-120"/>
              </a:rPr>
              <a:t>E2E-15, 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1 · E2E-19 · ROOT (CONSULTING)</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Consulting Engagement-to-Closure</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Manage full consulting engagement lifecycle</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Client purchase order or engagement request received.</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Engagement closed with client acceptance and REX recorded.</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9 tasks · 15 steps
</a:t>
            </a:r>
            <a:pPr indent="0" marL="0">
              <a:buNone/>
            </a:pPr>
            <a:r>
              <a:rPr lang="en-US" sz="1100" dirty="0">
                <a:solidFill>
                  <a:srgbClr val="3A3A3C"/>
                </a:solidFill>
                <a:latin typeface="Calibri" pitchFamily="34" charset="0"/>
                <a:ea typeface="Calibri" pitchFamily="34" charset="-122"/>
                <a:cs typeface="Calibri" pitchFamily="34" charset="-120"/>
              </a:rPr>
              <a:t>26 days · 2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MP-36 Consulting Engagement Management · </a:t>
            </a:r>
            <a:pPr indent="0" marL="0">
              <a:buNone/>
            </a:pPr>
            <a:r>
              <a:rPr lang="en-US" sz="1000" dirty="0">
                <a:solidFill>
                  <a:srgbClr val="58595B"/>
                </a:solidFill>
                <a:latin typeface="Calibri" pitchFamily="34" charset="0"/>
                <a:ea typeface="Calibri" pitchFamily="34" charset="-122"/>
                <a:cs typeface="Calibri" pitchFamily="34" charset="-120"/>
              </a:rPr>
              <a:t>MP-01 Strategy &amp; Governance Alignment · </a:t>
            </a:r>
            <a:pPr indent="0" marL="0">
              <a:buNone/>
            </a:pPr>
            <a:r>
              <a:rPr lang="en-US" sz="1000" dirty="0">
                <a:solidFill>
                  <a:srgbClr val="58595B"/>
                </a:solidFill>
                <a:latin typeface="Calibri" pitchFamily="34" charset="0"/>
                <a:ea typeface="Calibri" pitchFamily="34" charset="-122"/>
                <a:cs typeface="Calibri" pitchFamily="34" charset="-120"/>
              </a:rPr>
              <a:t>MP-19 Change Management &amp; Adoption · </a:t>
            </a:r>
            <a:pPr indent="0" marL="0">
              <a:buNone/>
            </a:pPr>
            <a:r>
              <a:rPr lang="en-US" sz="1000" dirty="0">
                <a:solidFill>
                  <a:srgbClr val="58595B"/>
                </a:solidFill>
                <a:latin typeface="Calibri" pitchFamily="34" charset="0"/>
                <a:ea typeface="Calibri" pitchFamily="34" charset="-122"/>
                <a:cs typeface="Calibri" pitchFamily="34" charset="-120"/>
              </a:rPr>
              <a:t>MP-20 Quality, Risk &amp; Continuous Improvement</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UFT-19-01
</a:t>
                      </a:r>
                      <a:pPr indent="0" marL="0">
                        <a:buNone/>
                      </a:pPr>
                      <a:r>
                        <a:rPr lang="en-US" sz="1000" b="1" dirty="0">
                          <a:solidFill>
                            <a:srgbClr val="3A3A3C"/>
                          </a:solidFill>
                          <a:latin typeface="Calibri" pitchFamily="34" charset="0"/>
                          <a:ea typeface="Calibri" pitchFamily="34" charset="-122"/>
                          <a:cs typeface="Calibri" pitchFamily="34" charset="-120"/>
                        </a:rPr>
                        <a:t>Register engagement and purchase order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MP-36.1 </a:t>
                      </a:r>
                      <a:pPr indent="0" marL="0">
                        <a:buNone/>
                      </a:pPr>
                      <a:r>
                        <a:rPr lang="en-US" sz="1000" dirty="0">
                          <a:solidFill>
                            <a:srgbClr val="58595B"/>
                          </a:solidFill>
                          <a:latin typeface="Calibri" pitchFamily="34" charset="0"/>
                          <a:ea typeface="Calibri" pitchFamily="34" charset="-122"/>
                          <a:cs typeface="Calibri" pitchFamily="34" charset="-120"/>
                        </a:rPr>
                        <a:t>Register engagement and purchase order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20 Apr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Engagement 'Training engineering 2026 — Santéora Private Clinics Group', PO-CL-221, 45 consulting days.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UFT-19-02
</a:t>
                      </a:r>
                      <a:pPr indent="0" marL="0">
                        <a:buNone/>
                      </a:pPr>
                      <a:r>
                        <a:rPr lang="en-US" sz="1000" b="1" dirty="0">
                          <a:solidFill>
                            <a:srgbClr val="3A3A3C"/>
                          </a:solidFill>
                          <a:latin typeface="Calibri" pitchFamily="34" charset="0"/>
                          <a:ea typeface="Calibri" pitchFamily="34" charset="-122"/>
                          <a:cs typeface="Calibri" pitchFamily="34" charset="-120"/>
                        </a:rPr>
                        <a:t>Hold kickoff meeting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MP-36.2 </a:t>
                      </a:r>
                      <a:pPr indent="0" marL="0">
                        <a:buNone/>
                      </a:pPr>
                      <a:r>
                        <a:rPr lang="en-US" sz="1000" dirty="0">
                          <a:solidFill>
                            <a:srgbClr val="58595B"/>
                          </a:solidFill>
                          <a:latin typeface="Calibri" pitchFamily="34" charset="0"/>
                          <a:ea typeface="Calibri" pitchFamily="34" charset="-122"/>
                          <a:cs typeface="Calibri" pitchFamily="34" charset="-120"/>
                        </a:rPr>
                        <a:t>Hold kickoff meeting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23 Apr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Kickoff held on 10 February with HR Director, Head of L&amp;D and 4 function heads.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UFT-19-03
</a:t>
                      </a:r>
                      <a:pPr indent="0" marL="0">
                        <a:buNone/>
                      </a:pPr>
                      <a:r>
                        <a:rPr lang="en-US" sz="1000" b="1" dirty="0">
                          <a:solidFill>
                            <a:srgbClr val="3A3A3C"/>
                          </a:solidFill>
                          <a:latin typeface="Calibri" pitchFamily="34" charset="0"/>
                          <a:ea typeface="Calibri" pitchFamily="34" charset="-122"/>
                          <a:cs typeface="Calibri" pitchFamily="34" charset="-120"/>
                        </a:rPr>
                        <a:t>Draft meeting minutes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MP-36.3 </a:t>
                      </a:r>
                      <a:pPr indent="0" marL="0">
                        <a:buNone/>
                      </a:pPr>
                      <a:r>
                        <a:rPr lang="en-US" sz="1000" dirty="0">
                          <a:solidFill>
                            <a:srgbClr val="58595B"/>
                          </a:solidFill>
                          <a:latin typeface="Calibri" pitchFamily="34" charset="0"/>
                          <a:ea typeface="Calibri" pitchFamily="34" charset="-122"/>
                          <a:cs typeface="Calibri" pitchFamily="34" charset="-120"/>
                        </a:rPr>
                        <a:t>Draft meeting minutes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26 Apr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Review the AI minutes: 6 decisions, 9 actions, RACSI extracted; correct 1 owner name.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UFT-19-04
</a:t>
                      </a:r>
                      <a:pPr indent="0" marL="0">
                        <a:buNone/>
                      </a:pPr>
                      <a:r>
                        <a:rPr lang="en-US" sz="1000" b="1" dirty="0">
                          <a:solidFill>
                            <a:srgbClr val="3A3A3C"/>
                          </a:solidFill>
                          <a:latin typeface="Calibri" pitchFamily="34" charset="0"/>
                          <a:ea typeface="Calibri" pitchFamily="34" charset="-122"/>
                          <a:cs typeface="Calibri" pitchFamily="34" charset="-120"/>
                        </a:rPr>
                        <a:t>Align with client strategy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MP-01.1 </a:t>
                      </a:r>
                      <a:pPr indent="0" marL="0">
                        <a:buNone/>
                      </a:pPr>
                      <a:r>
                        <a:rPr lang="en-US" sz="1000" dirty="0">
                          <a:solidFill>
                            <a:srgbClr val="58595B"/>
                          </a:solidFill>
                          <a:latin typeface="Calibri" pitchFamily="34" charset="0"/>
                          <a:ea typeface="Calibri" pitchFamily="34" charset="-122"/>
                          <a:cs typeface="Calibri" pitchFamily="34" charset="-120"/>
                        </a:rPr>
                        <a:t>Record corporate strategic objectives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MP-01.2 </a:t>
                      </a:r>
                      <a:pPr indent="0" marL="0">
                        <a:buNone/>
                      </a:pPr>
                      <a:r>
                        <a:rPr lang="en-US" sz="1000" dirty="0">
                          <a:solidFill>
                            <a:srgbClr val="58595B"/>
                          </a:solidFill>
                          <a:latin typeface="Calibri" pitchFamily="34" charset="0"/>
                          <a:ea typeface="Calibri" pitchFamily="34" charset="-122"/>
                          <a:cs typeface="Calibri" pitchFamily="34" charset="-120"/>
                        </a:rPr>
                        <a:t>Link objectives to functions and sites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29 Apr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Client objectives recorded: AI triage and clinical decision support and ISO 7101 compliance for Clinical Care &amp; Nursing.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UFT-19-05
</a:t>
                      </a:r>
                      <a:pPr indent="0" marL="0">
                        <a:buNone/>
                      </a:pPr>
                      <a:r>
                        <a:rPr lang="en-US" sz="1000" b="1" dirty="0">
                          <a:solidFill>
                            <a:srgbClr val="3A3A3C"/>
                          </a:solidFill>
                          <a:latin typeface="Calibri" pitchFamily="34" charset="0"/>
                          <a:ea typeface="Calibri" pitchFamily="34" charset="-122"/>
                          <a:cs typeface="Calibri" pitchFamily="34" charset="-120"/>
                        </a:rPr>
                        <a:t>Plan engagement work breakdown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MP-36.4 </a:t>
                      </a:r>
                      <a:pPr indent="0" marL="0">
                        <a:buNone/>
                      </a:pPr>
                      <a:r>
                        <a:rPr lang="en-US" sz="1000" dirty="0">
                          <a:solidFill>
                            <a:srgbClr val="58595B"/>
                          </a:solidFill>
                          <a:latin typeface="Calibri" pitchFamily="34" charset="0"/>
                          <a:ea typeface="Calibri" pitchFamily="34" charset="-122"/>
                          <a:cs typeface="Calibri" pitchFamily="34" charset="-120"/>
                        </a:rPr>
                        <a:t>Plan engagement work breakdown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WBS: 6 phases, 14 deliverables, Gantt from February to November.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19"/>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19-04 Align with client strategy">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UFT-19-04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1 · E2E-19 · ROOT (CONSULTING)</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Consulting Engagement-to-Closure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UFT-19-06
</a:t>
                      </a:r>
                      <a:pPr indent="0" marL="0">
                        <a:buNone/>
                      </a:pPr>
                      <a:r>
                        <a:rPr lang="en-US" sz="1000" b="1" dirty="0">
                          <a:solidFill>
                            <a:srgbClr val="3A3A3C"/>
                          </a:solidFill>
                          <a:latin typeface="Calibri" pitchFamily="34" charset="0"/>
                          <a:ea typeface="Calibri" pitchFamily="34" charset="-122"/>
                          <a:cs typeface="Calibri" pitchFamily="34" charset="-120"/>
                        </a:rPr>
                        <a:t>Plan change support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MP-19.1 </a:t>
                      </a:r>
                      <a:pPr indent="0" marL="0">
                        <a:buNone/>
                      </a:pPr>
                      <a:r>
                        <a:rPr lang="en-US" sz="1000" dirty="0">
                          <a:solidFill>
                            <a:srgbClr val="58595B"/>
                          </a:solidFill>
                          <a:latin typeface="Calibri" pitchFamily="34" charset="0"/>
                          <a:ea typeface="Calibri" pitchFamily="34" charset="-122"/>
                          <a:cs typeface="Calibri" pitchFamily="34" charset="-120"/>
                        </a:rPr>
                        <a:t>Assess change impact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MP-19.2 </a:t>
                      </a:r>
                      <a:pPr indent="0" marL="0">
                        <a:buNone/>
                      </a:pPr>
                      <a:r>
                        <a:rPr lang="en-US" sz="1000" dirty="0">
                          <a:solidFill>
                            <a:srgbClr val="58595B"/>
                          </a:solidFill>
                          <a:latin typeface="Calibri" pitchFamily="34" charset="0"/>
                          <a:ea typeface="Calibri" pitchFamily="34" charset="-122"/>
                          <a:cs typeface="Calibri" pitchFamily="34" charset="-120"/>
                        </a:rPr>
                        <a:t>Build adoption plan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Fassi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Change plan: 3 sponsor messages, champion network, 2 town-halls.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UFT-19-07
</a:t>
                      </a:r>
                      <a:pPr indent="0" marL="0">
                        <a:buNone/>
                      </a:pPr>
                      <a:r>
                        <a:rPr lang="en-US" sz="1000" b="1" dirty="0">
                          <a:solidFill>
                            <a:srgbClr val="3A3A3C"/>
                          </a:solidFill>
                          <a:latin typeface="Calibri" pitchFamily="34" charset="0"/>
                          <a:ea typeface="Calibri" pitchFamily="34" charset="-122"/>
                          <a:cs typeface="Calibri" pitchFamily="34" charset="-120"/>
                        </a:rPr>
                        <a:t>Track engagement deliverables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MP-36.5 </a:t>
                      </a:r>
                      <a:pPr indent="0" marL="0">
                        <a:buNone/>
                      </a:pPr>
                      <a:r>
                        <a:rPr lang="en-US" sz="1000" dirty="0">
                          <a:solidFill>
                            <a:srgbClr val="58595B"/>
                          </a:solidFill>
                          <a:latin typeface="Calibri" pitchFamily="34" charset="0"/>
                          <a:ea typeface="Calibri" pitchFamily="34" charset="-122"/>
                          <a:cs typeface="Calibri" pitchFamily="34" charset="-120"/>
                        </a:rPr>
                        <a:t>Track engagement deliverables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MP-20.5 </a:t>
                      </a:r>
                      <a:pPr indent="0" marL="0">
                        <a:buNone/>
                      </a:pPr>
                      <a:r>
                        <a:rPr lang="en-US" sz="1000" dirty="0">
                          <a:solidFill>
                            <a:srgbClr val="58595B"/>
                          </a:solidFill>
                          <a:latin typeface="Calibri" pitchFamily="34" charset="0"/>
                          <a:ea typeface="Calibri" pitchFamily="34" charset="-122"/>
                          <a:cs typeface="Calibri" pitchFamily="34" charset="-120"/>
                        </a:rPr>
                        <a:t>Run periodic quality review</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8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Deliverables: 9 of 14 delivered on time, 1 late (SWOT), 4 planned.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UFT-19-08
</a:t>
                      </a:r>
                      <a:pPr indent="0" marL="0">
                        <a:buNone/>
                      </a:pPr>
                      <a:r>
                        <a:rPr lang="en-US" sz="1000" b="1" dirty="0">
                          <a:solidFill>
                            <a:srgbClr val="3A3A3C"/>
                          </a:solidFill>
                          <a:latin typeface="Calibri" pitchFamily="34" charset="0"/>
                          <a:ea typeface="Calibri" pitchFamily="34" charset="-122"/>
                          <a:cs typeface="Calibri" pitchFamily="34" charset="-120"/>
                        </a:rPr>
                        <a:t>Deliver final report and obtain acceptance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MP-36.6 </a:t>
                      </a:r>
                      <a:pPr indent="0" marL="0">
                        <a:buNone/>
                      </a:pPr>
                      <a:r>
                        <a:rPr lang="en-US" sz="1000" dirty="0">
                          <a:solidFill>
                            <a:srgbClr val="58595B"/>
                          </a:solidFill>
                          <a:latin typeface="Calibri" pitchFamily="34" charset="0"/>
                          <a:ea typeface="Calibri" pitchFamily="34" charset="-122"/>
                          <a:cs typeface="Calibri" pitchFamily="34" charset="-120"/>
                        </a:rPr>
                        <a:t>Deliver final report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MP-36.7 </a:t>
                      </a:r>
                      <a:pPr indent="0" marL="0">
                        <a:buNone/>
                      </a:pPr>
                      <a:r>
                        <a:rPr lang="en-US" sz="1000" dirty="0">
                          <a:solidFill>
                            <a:srgbClr val="58595B"/>
                          </a:solidFill>
                          <a:latin typeface="Calibri" pitchFamily="34" charset="0"/>
                          <a:ea typeface="Calibri" pitchFamily="34" charset="-122"/>
                          <a:cs typeface="Calibri" pitchFamily="34" charset="-120"/>
                        </a:rPr>
                        <a:t>Obtain client acceptance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11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Final report delivered; acceptance signed by the HR Director on 28 November.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UFT-19-09
</a:t>
                      </a:r>
                      <a:pPr indent="0" marL="0">
                        <a:buNone/>
                      </a:pPr>
                      <a:r>
                        <a:rPr lang="en-US" sz="1000" b="1" dirty="0">
                          <a:solidFill>
                            <a:srgbClr val="3A3A3C"/>
                          </a:solidFill>
                          <a:latin typeface="Calibri" pitchFamily="34" charset="0"/>
                          <a:ea typeface="Calibri" pitchFamily="34" charset="-122"/>
                          <a:cs typeface="Calibri" pitchFamily="34" charset="-120"/>
                        </a:rPr>
                        <a:t>Record engagement REX</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MP-36.8 </a:t>
                      </a:r>
                      <a:pPr indent="0" marL="0">
                        <a:buNone/>
                      </a:pPr>
                      <a:r>
                        <a:rPr lang="en-US" sz="1000" dirty="0">
                          <a:solidFill>
                            <a:srgbClr val="58595B"/>
                          </a:solidFill>
                          <a:latin typeface="Calibri" pitchFamily="34" charset="0"/>
                          <a:ea typeface="Calibri" pitchFamily="34" charset="-122"/>
                          <a:cs typeface="Calibri" pitchFamily="34" charset="-120"/>
                        </a:rPr>
                        <a:t>Record engagement REX</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MP-12.6 </a:t>
                      </a:r>
                      <a:pPr indent="0" marL="0">
                        <a:buNone/>
                      </a:pPr>
                      <a:r>
                        <a:rPr lang="en-US" sz="1000" dirty="0">
                          <a:solidFill>
                            <a:srgbClr val="58595B"/>
                          </a:solidFill>
                          <a:latin typeface="Calibri" pitchFamily="34" charset="0"/>
                          <a:ea typeface="Calibri" pitchFamily="34" charset="-122"/>
                          <a:cs typeface="Calibri" pitchFamily="34" charset="-120"/>
                        </a:rPr>
                        <a:t>Record REX entry</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MP-12.5 </a:t>
                      </a:r>
                      <a:pPr indent="0" marL="0">
                        <a:buNone/>
                      </a:pPr>
                      <a:r>
                        <a:rPr lang="en-US" sz="1000" dirty="0">
                          <a:solidFill>
                            <a:srgbClr val="58595B"/>
                          </a:solidFill>
                          <a:latin typeface="Calibri" pitchFamily="34" charset="0"/>
                          <a:ea typeface="Calibri" pitchFamily="34" charset="-122"/>
                          <a:cs typeface="Calibri" pitchFamily="34" charset="-120"/>
                        </a:rPr>
                        <a:t>Prompt REX at closure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14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REX: went well — stakeholder register; did not — late SWOT inputs; root cause — no function-head backup; rating 4/5.</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6" name="frame run_E2E-19"/>
          <p:cNvSpPr/>
          <p:nvPr/>
        </p:nvSpPr>
        <p:spPr>
          <a:xfrm>
            <a:off x="2778516" y="3675888"/>
            <a:ext cx="3221207" cy="2368296"/>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19">    </p:cNvPr>
          <p:cNvPicPr>
            <a:picLocks noChangeAspect="1"/>
          </p:cNvPicPr>
          <p:nvPr/>
        </p:nvPicPr>
        <p:blipFill>
          <a:blip r:embed="rId1"/>
          <a:stretch>
            <a:fillRect/>
          </a:stretch>
        </p:blipFill>
        <p:spPr>
          <a:xfrm>
            <a:off x="2833380" y="3730752"/>
            <a:ext cx="3111479" cy="2258568"/>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E2E-19 in CortexSkills: its tasks, owners and due dates, and the process card.</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 processes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MP-36 Consulting Engagement Management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MP-01 Strategy &amp; Governance Alignment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MP-19 Change Management &amp; Adoption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MP-20 Quality, Risk &amp; Continuous Improvement</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Feeds into</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E2E-20, E2E-03, E2E-31</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Supported by</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E2E-15, 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1 · E2E-24 · ROOT (STRATEGIC)</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Competitive Intelligence-to-Strategy</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Analyze external environment and feed L&amp;D strategy</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Annual strategy cycle or executive request for market positioning analysis.</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Validated competitive intelligence report feeding into L&amp;D strategy and organizational diagnostic.</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tasks · 12 steps
</a:t>
            </a:r>
            <a:pPr indent="0" marL="0">
              <a:buNone/>
            </a:pPr>
            <a:r>
              <a:rPr lang="en-US" sz="1100" dirty="0">
                <a:solidFill>
                  <a:srgbClr val="3A3A3C"/>
                </a:solidFill>
                <a:latin typeface="Calibri" pitchFamily="34" charset="0"/>
                <a:ea typeface="Calibri" pitchFamily="34" charset="-122"/>
                <a:cs typeface="Calibri" pitchFamily="34" charset="-120"/>
              </a:rPr>
              <a:t>20 days · 2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MP-43 Strategic &amp; Competitive Intelligence · </a:t>
            </a:r>
            <a:pPr indent="0" marL="0">
              <a:buNone/>
            </a:pPr>
            <a:r>
              <a:rPr lang="en-US" sz="1000" dirty="0">
                <a:solidFill>
                  <a:srgbClr val="58595B"/>
                </a:solidFill>
                <a:latin typeface="Calibri" pitchFamily="34" charset="0"/>
                <a:ea typeface="Calibri" pitchFamily="34" charset="-122"/>
                <a:cs typeface="Calibri" pitchFamily="34" charset="-120"/>
              </a:rPr>
              <a:t>MP-01 Strategy &amp; Governance Alignment · </a:t>
            </a:r>
            <a:pPr indent="0" marL="0">
              <a:buNone/>
            </a:pPr>
            <a:r>
              <a:rPr lang="en-US" sz="1000" dirty="0">
                <a:solidFill>
                  <a:srgbClr val="58595B"/>
                </a:solidFill>
                <a:latin typeface="Calibri" pitchFamily="34" charset="0"/>
                <a:ea typeface="Calibri" pitchFamily="34" charset="-122"/>
                <a:cs typeface="Calibri" pitchFamily="34" charset="-120"/>
              </a:rPr>
              <a:t>MP-37 Multi-Axis Organizational Diagnostic · </a:t>
            </a:r>
            <a:pPr indent="0" marL="0">
              <a:buNone/>
            </a:pPr>
            <a:r>
              <a:rPr lang="en-US" sz="1000" dirty="0">
                <a:solidFill>
                  <a:srgbClr val="58595B"/>
                </a:solidFill>
                <a:latin typeface="Calibri" pitchFamily="34" charset="0"/>
                <a:ea typeface="Calibri" pitchFamily="34" charset="-122"/>
                <a:cs typeface="Calibri" pitchFamily="34" charset="-120"/>
              </a:rPr>
              <a:t>MP-04 Training Engineering Report &amp; Roadmap Elaboration</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UFT-24-01
</a:t>
                      </a:r>
                      <a:pPr indent="0" marL="0">
                        <a:buNone/>
                      </a:pPr>
                      <a:r>
                        <a:rPr lang="en-US" sz="1000" b="1" dirty="0">
                          <a:solidFill>
                            <a:srgbClr val="3A3A3C"/>
                          </a:solidFill>
                          <a:latin typeface="Calibri" pitchFamily="34" charset="0"/>
                          <a:ea typeface="Calibri" pitchFamily="34" charset="-122"/>
                          <a:cs typeface="Calibri" pitchFamily="34" charset="-120"/>
                        </a:rPr>
                        <a:t>Define intelligence scope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MP-43.1 </a:t>
                      </a:r>
                      <a:pPr indent="0" marL="0">
                        <a:buNone/>
                      </a:pPr>
                      <a:r>
                        <a:rPr lang="en-US" sz="1000" dirty="0">
                          <a:solidFill>
                            <a:srgbClr val="58595B"/>
                          </a:solidFill>
                          <a:latin typeface="Calibri" pitchFamily="34" charset="0"/>
                          <a:ea typeface="Calibri" pitchFamily="34" charset="-122"/>
                          <a:cs typeface="Calibri" pitchFamily="34" charset="-120"/>
                        </a:rPr>
                        <a:t>Define intelligence scope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Rim Ziani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20 Apr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Scope: Healthcare Providers market in Morocco and export markets; horizon 3 years; focus on AI triage and clinical decision support and AI medical imaging assistance.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UFT-24-02
</a:t>
                      </a:r>
                      <a:pPr indent="0" marL="0">
                        <a:buNone/>
                      </a:pPr>
                      <a:r>
                        <a:rPr lang="en-US" sz="1000" b="1" dirty="0">
                          <a:solidFill>
                            <a:srgbClr val="3A3A3C"/>
                          </a:solidFill>
                          <a:latin typeface="Calibri" pitchFamily="34" charset="0"/>
                          <a:ea typeface="Calibri" pitchFamily="34" charset="-122"/>
                          <a:cs typeface="Calibri" pitchFamily="34" charset="-120"/>
                        </a:rPr>
                        <a:t>Conduct Porter's Five Forces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MP-43.2 </a:t>
                      </a:r>
                      <a:pPr indent="0" marL="0">
                        <a:buNone/>
                      </a:pPr>
                      <a:r>
                        <a:rPr lang="en-US" sz="1000" dirty="0">
                          <a:solidFill>
                            <a:srgbClr val="58595B"/>
                          </a:solidFill>
                          <a:latin typeface="Calibri" pitchFamily="34" charset="0"/>
                          <a:ea typeface="Calibri" pitchFamily="34" charset="-122"/>
                          <a:cs typeface="Calibri" pitchFamily="34" charset="-120"/>
                        </a:rPr>
                        <a:t>Conduct Porter's Five Forces analysis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Rim Ziani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23 Apr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Rivalry 4/5; new entrants 3/5; substitutes 2/5; supplier power 3/5; buyer power 4/5.</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UFT-24-03
</a:t>
                      </a:r>
                      <a:pPr indent="0" marL="0">
                        <a:buNone/>
                      </a:pPr>
                      <a:r>
                        <a:rPr lang="en-US" sz="1000" b="1" dirty="0">
                          <a:solidFill>
                            <a:srgbClr val="3A3A3C"/>
                          </a:solidFill>
                          <a:latin typeface="Calibri" pitchFamily="34" charset="0"/>
                          <a:ea typeface="Calibri" pitchFamily="34" charset="-122"/>
                          <a:cs typeface="Calibri" pitchFamily="34" charset="-120"/>
                        </a:rPr>
                        <a:t>Map market segments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MP-43.3 </a:t>
                      </a:r>
                      <a:pPr indent="0" marL="0">
                        <a:buNone/>
                      </a:pPr>
                      <a:r>
                        <a:rPr lang="en-US" sz="1000" dirty="0">
                          <a:solidFill>
                            <a:srgbClr val="58595B"/>
                          </a:solidFill>
                          <a:latin typeface="Calibri" pitchFamily="34" charset="0"/>
                          <a:ea typeface="Calibri" pitchFamily="34" charset="-122"/>
                          <a:cs typeface="Calibri" pitchFamily="34" charset="-120"/>
                        </a:rPr>
                        <a:t>Map market segments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Rim Ziani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26 Apr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Segments: key accounts (55% revenue), resellers (30%), direct small customers (15%).</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UFT-24-04
</a:t>
                      </a:r>
                      <a:pPr indent="0" marL="0">
                        <a:buNone/>
                      </a:pPr>
                      <a:r>
                        <a:rPr lang="en-US" sz="1000" b="1" dirty="0">
                          <a:solidFill>
                            <a:srgbClr val="3A3A3C"/>
                          </a:solidFill>
                          <a:latin typeface="Calibri" pitchFamily="34" charset="0"/>
                          <a:ea typeface="Calibri" pitchFamily="34" charset="-122"/>
                          <a:cs typeface="Calibri" pitchFamily="34" charset="-120"/>
                        </a:rPr>
                        <a:t>Analyze competitor positioning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MP-43.4 </a:t>
                      </a:r>
                      <a:pPr indent="0" marL="0">
                        <a:buNone/>
                      </a:pPr>
                      <a:r>
                        <a:rPr lang="en-US" sz="1000" dirty="0">
                          <a:solidFill>
                            <a:srgbClr val="58595B"/>
                          </a:solidFill>
                          <a:latin typeface="Calibri" pitchFamily="34" charset="0"/>
                          <a:ea typeface="Calibri" pitchFamily="34" charset="-122"/>
                          <a:cs typeface="Calibri" pitchFamily="34" charset="-120"/>
                        </a:rPr>
                        <a:t>Analyze competitor positioning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Rim Ziani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29 Apr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Competitor A leads on AI triage and clinical decision support; competitor B cheaper but weaker on ISO 7101.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UFT-24-05
</a:t>
                      </a:r>
                      <a:pPr indent="0" marL="0">
                        <a:buNone/>
                      </a:pPr>
                      <a:r>
                        <a:rPr lang="en-US" sz="1000" b="1" dirty="0">
                          <a:solidFill>
                            <a:srgbClr val="3A3A3C"/>
                          </a:solidFill>
                          <a:latin typeface="Calibri" pitchFamily="34" charset="0"/>
                          <a:ea typeface="Calibri" pitchFamily="34" charset="-122"/>
                          <a:cs typeface="Calibri" pitchFamily="34" charset="-120"/>
                        </a:rPr>
                        <a:t>Monitor regulatory and technology trends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MP-43.5 </a:t>
                      </a:r>
                      <a:pPr indent="0" marL="0">
                        <a:buNone/>
                      </a:pPr>
                      <a:r>
                        <a:rPr lang="en-US" sz="1000" dirty="0">
                          <a:solidFill>
                            <a:srgbClr val="58595B"/>
                          </a:solidFill>
                          <a:latin typeface="Calibri" pitchFamily="34" charset="0"/>
                          <a:ea typeface="Calibri" pitchFamily="34" charset="-122"/>
                          <a:cs typeface="Calibri" pitchFamily="34" charset="-120"/>
                        </a:rPr>
                        <a:t>Monitor regulatory changes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MP-43.6 </a:t>
                      </a:r>
                      <a:pPr indent="0" marL="0">
                        <a:buNone/>
                      </a:pPr>
                      <a:r>
                        <a:rPr lang="en-US" sz="1000" dirty="0">
                          <a:solidFill>
                            <a:srgbClr val="58595B"/>
                          </a:solidFill>
                          <a:latin typeface="Calibri" pitchFamily="34" charset="0"/>
                          <a:ea typeface="Calibri" pitchFamily="34" charset="-122"/>
                          <a:cs typeface="Calibri" pitchFamily="34" charset="-120"/>
                        </a:rPr>
                        <a:t>Track technology trends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MP-43.7 </a:t>
                      </a:r>
                      <a:pPr indent="0" marL="0">
                        <a:buNone/>
                      </a:pPr>
                      <a:r>
                        <a:rPr lang="en-US" sz="1000" dirty="0">
                          <a:solidFill>
                            <a:srgbClr val="58595B"/>
                          </a:solidFill>
                          <a:latin typeface="Calibri" pitchFamily="34" charset="0"/>
                          <a:ea typeface="Calibri" pitchFamily="34" charset="-122"/>
                          <a:cs typeface="Calibri" pitchFamily="34" charset="-120"/>
                        </a:rPr>
                        <a:t>Benchmark against industry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Rim Ziani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Trends: revision of ISO 7101 expected next year; fast growth of AI bed and staff capacity planning.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24"/>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24-01 Define intelligence scope">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UFT-24-01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1 · E2E-24 · ROOT (STRATEGIC)</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Competitive Intelligence-to-Strategy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UFT-24-06
</a:t>
                      </a:r>
                      <a:pPr indent="0" marL="0">
                        <a:buNone/>
                      </a:pPr>
                      <a:r>
                        <a:rPr lang="en-US" sz="1000" b="1" dirty="0">
                          <a:solidFill>
                            <a:srgbClr val="3A3A3C"/>
                          </a:solidFill>
                          <a:latin typeface="Calibri" pitchFamily="34" charset="0"/>
                          <a:ea typeface="Calibri" pitchFamily="34" charset="-122"/>
                          <a:cs typeface="Calibri" pitchFamily="34" charset="-120"/>
                        </a:rPr>
                        <a:t>Identify L&amp;D implications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MP-43.8 </a:t>
                      </a:r>
                      <a:pPr indent="0" marL="0">
                        <a:buNone/>
                      </a:pPr>
                      <a:r>
                        <a:rPr lang="en-US" sz="1000" dirty="0">
                          <a:solidFill>
                            <a:srgbClr val="58595B"/>
                          </a:solidFill>
                          <a:latin typeface="Calibri" pitchFamily="34" charset="0"/>
                          <a:ea typeface="Calibri" pitchFamily="34" charset="-122"/>
                          <a:cs typeface="Calibri" pitchFamily="34" charset="-120"/>
                        </a:rPr>
                        <a:t>Identify strategic implications for L&amp;D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Amine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L&amp;D implication: build AI triage and clinical decision support skills for key-account teams before competitor A scales.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UFT-24-07
</a:t>
                      </a:r>
                      <a:pPr indent="0" marL="0">
                        <a:buNone/>
                      </a:pPr>
                      <a:r>
                        <a:rPr lang="en-US" sz="1000" b="1" dirty="0">
                          <a:solidFill>
                            <a:srgbClr val="3A3A3C"/>
                          </a:solidFill>
                          <a:latin typeface="Calibri" pitchFamily="34" charset="0"/>
                          <a:ea typeface="Calibri" pitchFamily="34" charset="-122"/>
                          <a:cs typeface="Calibri" pitchFamily="34" charset="-120"/>
                        </a:rPr>
                        <a:t>Publish intelligence report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MP-43.9 </a:t>
                      </a:r>
                      <a:pPr indent="0" marL="0">
                        <a:buNone/>
                      </a:pPr>
                      <a:r>
                        <a:rPr lang="en-US" sz="1000" dirty="0">
                          <a:solidFill>
                            <a:srgbClr val="58595B"/>
                          </a:solidFill>
                          <a:latin typeface="Calibri" pitchFamily="34" charset="0"/>
                          <a:ea typeface="Calibri" pitchFamily="34" charset="-122"/>
                          <a:cs typeface="Calibri" pitchFamily="34" charset="-120"/>
                        </a:rPr>
                        <a:t>Produce intelligence report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MP-43.10 </a:t>
                      </a:r>
                      <a:pPr indent="0" marL="0">
                        <a:buNone/>
                      </a:pPr>
                      <a:r>
                        <a:rPr lang="en-US" sz="1000" dirty="0">
                          <a:solidFill>
                            <a:srgbClr val="58595B"/>
                          </a:solidFill>
                          <a:latin typeface="Calibri" pitchFamily="34" charset="0"/>
                          <a:ea typeface="Calibri" pitchFamily="34" charset="-122"/>
                          <a:cs typeface="Calibri" pitchFamily="34" charset="-120"/>
                        </a:rPr>
                        <a:t>Feed intelligence into strategy and diagnostic</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MP-43.11 </a:t>
                      </a:r>
                      <a:pPr indent="0" marL="0">
                        <a:buNone/>
                      </a:pPr>
                      <a:r>
                        <a:rPr lang="en-US" sz="1000" dirty="0">
                          <a:solidFill>
                            <a:srgbClr val="58595B"/>
                          </a:solidFill>
                          <a:latin typeface="Calibri" pitchFamily="34" charset="0"/>
                          <a:ea typeface="Calibri" pitchFamily="34" charset="-122"/>
                          <a:cs typeface="Calibri" pitchFamily="34" charset="-120"/>
                        </a:rPr>
                        <a:t>Update intelligence continuously</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+ 1 more steps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Rim Ziani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8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Publish RPT-007 Competitive Intelligence Report to the executive committee.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6" name="frame run_E2E-24"/>
          <p:cNvSpPr/>
          <p:nvPr/>
        </p:nvSpPr>
        <p:spPr>
          <a:xfrm>
            <a:off x="2457291" y="3209544"/>
            <a:ext cx="3863659" cy="2834640"/>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24">    </p:cNvPr>
          <p:cNvPicPr>
            <a:picLocks noChangeAspect="1"/>
          </p:cNvPicPr>
          <p:nvPr/>
        </p:nvPicPr>
        <p:blipFill>
          <a:blip r:embed="rId1"/>
          <a:stretch>
            <a:fillRect/>
          </a:stretch>
        </p:blipFill>
        <p:spPr>
          <a:xfrm>
            <a:off x="2512155" y="3264408"/>
            <a:ext cx="3753931" cy="2724912"/>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E2E-24 in CortexSkills: its tasks, owners and due dates, and the process card.</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 processes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MP-43 Strategic &amp; Competitive Intelligence</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MP-01 Strategy &amp; Governance Alignment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MP-37 Multi-Axis Organizational Diagnostic</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MP-04 Training Engineering Report &amp; Roadmap Elaboration</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Feeds into</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E2E-01, E2E-20, E2E-29</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Supported by</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E2E-15, 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2" name=""/>
        <p:cNvGrpSpPr/>
        <p:nvPr/>
      </p:nvGrpSpPr>
      <p:grpSpPr>
        <a:xfrm>
          <a:off x="0" y="0"/>
          <a:ext cx="0" cy="0"/>
          <a:chOff x="0" y="0"/>
          <a:chExt cx="0" cy="0"/>
        </a:xfrm>
      </p:grpSpPr>
      <p:sp>
        <p:nvSpPr>
          <p:cNvPr id="3" name="Text 0"/>
          <p:cNvSpPr txBox="1"/>
          <p:nvPr/>
        </p:nvSpPr>
        <p:spPr>
          <a:xfrm>
            <a:off x="457200" y="914400"/>
            <a:ext cx="2743200" cy="1280160"/>
          </a:xfrm>
          <a:prstGeom prst="rect">
            <a:avLst/>
          </a:prstGeom>
          <a:noFill/>
          <a:ln/>
        </p:spPr>
        <p:txBody>
          <a:bodyPr wrap="square" lIns="0" tIns="0" rIns="0" bIns="0" rtlCol="0" anchor="ctr"/>
          <a:lstStyle/>
          <a:p>
            <a:pPr indent="0" marL="0">
              <a:buNone/>
            </a:pPr>
            <a:r>
              <a:rPr lang="en-US" sz="8000" b="1" dirty="0">
                <a:solidFill>
                  <a:srgbClr val="F8931D"/>
                </a:solidFill>
                <a:latin typeface="Cambria" pitchFamily="34" charset="0"/>
                <a:ea typeface="Cambria" pitchFamily="34" charset="-122"/>
                <a:cs typeface="Cambria" pitchFamily="34" charset="-120"/>
              </a:rPr>
              <a:t>02</a:t>
            </a:r>
            <a:endParaRPr lang="en-US" sz="8000" dirty="0"/>
          </a:p>
        </p:txBody>
      </p:sp>
      <p:sp>
        <p:nvSpPr>
          <p:cNvPr id="4" name="Text 1"/>
          <p:cNvSpPr txBox="1"/>
          <p:nvPr/>
        </p:nvSpPr>
        <p:spPr>
          <a:xfrm>
            <a:off x="457200" y="2331720"/>
            <a:ext cx="5486400" cy="320040"/>
          </a:xfrm>
          <a:prstGeom prst="rect">
            <a:avLst/>
          </a:prstGeom>
          <a:noFill/>
          <a:ln/>
        </p:spPr>
        <p:txBody>
          <a:bodyPr wrap="square" lIns="0" tIns="0" rIns="0" bIns="0" rtlCol="0" anchor="ctr"/>
          <a:lstStyle/>
          <a:p>
            <a:pPr indent="0" marL="0">
              <a:buNone/>
            </a:pPr>
            <a:r>
              <a:rPr lang="en-US" sz="1300" b="1" spc="300" kern="0" dirty="0">
                <a:solidFill>
                  <a:srgbClr val="F8931D"/>
                </a:solidFill>
                <a:latin typeface="Calibri" pitchFamily="34" charset="0"/>
                <a:ea typeface="Calibri" pitchFamily="34" charset="-122"/>
                <a:cs typeface="Calibri" pitchFamily="34" charset="-120"/>
              </a:rPr>
              <a:t>PHASE 2</a:t>
            </a:r>
            <a:endParaRPr lang="en-US" sz="1300" dirty="0"/>
          </a:p>
        </p:txBody>
      </p:sp>
      <p:sp>
        <p:nvSpPr>
          <p:cNvPr id="5" name="Text 2"/>
          <p:cNvSpPr txBox="1"/>
          <p:nvPr/>
        </p:nvSpPr>
        <p:spPr>
          <a:xfrm>
            <a:off x="457200" y="2697480"/>
            <a:ext cx="5669280" cy="13716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Diagnosis</a:t>
            </a:r>
            <a:endParaRPr lang="en-US" sz="3600" dirty="0"/>
          </a:p>
        </p:txBody>
      </p:sp>
      <p:sp>
        <p:nvSpPr>
          <p:cNvPr id="6" name="Text 3"/>
          <p:cNvSpPr txBox="1"/>
          <p:nvPr/>
        </p:nvSpPr>
        <p:spPr>
          <a:xfrm>
            <a:off x="457200" y="4206240"/>
            <a:ext cx="5669280" cy="1097280"/>
          </a:xfrm>
          <a:prstGeom prst="rect">
            <a:avLst/>
          </a:prstGeom>
          <a:noFill/>
          <a:ln/>
        </p:spPr>
        <p:txBody>
          <a:bodyPr wrap="square" lIns="0" tIns="0" rIns="0" bIns="0" rtlCol="0" anchor="t"/>
          <a:lstStyle/>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8 processes · 62 tasks · 100 steps</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16 May 2026 – 14 Jun 2026</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Closed by G2 — Diagnostic validated</a:t>
            </a:r>
            <a:endParaRPr lang="en-US" sz="1500" dirty="0"/>
          </a:p>
        </p:txBody>
      </p:sp>
      <p:sp>
        <p:nvSpPr>
          <p:cNvPr id="7" name="Text 4"/>
          <p:cNvSpPr txBox="1"/>
          <p:nvPr/>
        </p:nvSpPr>
        <p:spPr>
          <a:xfrm>
            <a:off x="6675120" y="1097280"/>
            <a:ext cx="5029200" cy="4754880"/>
          </a:xfrm>
          <a:prstGeom prst="rect">
            <a:avLst/>
          </a:prstGeom>
          <a:noFill/>
          <a:ln/>
        </p:spPr>
        <p:txBody>
          <a:bodyPr wrap="square" lIns="0" tIns="0" rIns="0" bIns="0" rtlCol="0" anchor="ctr"/>
          <a:lstStyle/>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E2E-20   Multi-Axis Diagnostic-to-Maturity Report</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E2E-25   Job Architecture-to-Competency Map</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E2E-26   GPEC-to-Training Plan</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E2E-27   Demand Collection-to-Consolidation</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E2E-28   Performance Assessment-to-RAG Dashboard</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E2E-29   Functional SWOT-to-Improvement Axes</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E2E-02   Skills-to-Gap Diagnosis</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E2E-21   Previous Plan Impact-to-Strategy Update</a:t>
            </a:r>
            <a:endParaRPr lang="en-US" sz="1500" dirty="0"/>
          </a:p>
        </p:txBody>
      </p:sp>
      <p:sp>
        <p:nvSpPr>
          <p:cNvPr id="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DBDBF"/>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E2E-20 · ROOT (DIAGNOSTIC)</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Multi-Axis Diagnostic-to-Maturity Report</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Conduct 5-axis diagnostic + CMM maturity + leadership assessment</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Engagement kickoff or approved Scope of Work requesting a diagnostic.</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5-axis diagnostic, CMM maturity and leadership maturity report validated with the sponsor.</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10 tasks · 17 steps
</a:t>
            </a:r>
            <a:pPr indent="0" marL="0">
              <a:buNone/>
            </a:pPr>
            <a:r>
              <a:rPr lang="en-US" sz="1100" dirty="0">
                <a:solidFill>
                  <a:srgbClr val="3A3A3C"/>
                </a:solidFill>
                <a:latin typeface="Calibri" pitchFamily="34" charset="0"/>
                <a:ea typeface="Calibri" pitchFamily="34" charset="-122"/>
                <a:cs typeface="Calibri" pitchFamily="34" charset="-120"/>
              </a:rPr>
              <a:t>29 days · 4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MP-37 Multi-Axis Organizational Diagnostic · </a:t>
            </a:r>
            <a:pPr indent="0" marL="0">
              <a:buNone/>
            </a:pPr>
            <a:r>
              <a:rPr lang="en-US" sz="1000" dirty="0">
                <a:solidFill>
                  <a:srgbClr val="58595B"/>
                </a:solidFill>
                <a:latin typeface="Calibri" pitchFamily="34" charset="0"/>
                <a:ea typeface="Calibri" pitchFamily="34" charset="-122"/>
                <a:cs typeface="Calibri" pitchFamily="34" charset="-120"/>
              </a:rPr>
              <a:t>MP-38 Organizational Maturity Assessment (CMM-Based) · </a:t>
            </a:r>
            <a:pPr indent="0" marL="0">
              <a:buNone/>
            </a:pPr>
            <a:r>
              <a:rPr lang="en-US" sz="1000" dirty="0">
                <a:solidFill>
                  <a:srgbClr val="58595B"/>
                </a:solidFill>
                <a:latin typeface="Calibri" pitchFamily="34" charset="0"/>
                <a:ea typeface="Calibri" pitchFamily="34" charset="-122"/>
                <a:cs typeface="Calibri" pitchFamily="34" charset="-120"/>
              </a:rPr>
              <a:t>MP-42 Leadership Maturity Assessment &amp; Development · </a:t>
            </a:r>
            <a:pPr indent="0" marL="0">
              <a:buNone/>
            </a:pPr>
            <a:r>
              <a:rPr lang="en-US" sz="1000" dirty="0">
                <a:solidFill>
                  <a:srgbClr val="58595B"/>
                </a:solidFill>
                <a:latin typeface="Calibri" pitchFamily="34" charset="0"/>
                <a:ea typeface="Calibri" pitchFamily="34" charset="-122"/>
                <a:cs typeface="Calibri" pitchFamily="34" charset="-120"/>
              </a:rPr>
              <a:t>MP-02 Skills &amp; Competency Management · </a:t>
            </a:r>
            <a:pPr indent="0" marL="0">
              <a:buNone/>
            </a:pPr>
            <a:r>
              <a:rPr lang="en-US" sz="1000" dirty="0">
                <a:solidFill>
                  <a:srgbClr val="58595B"/>
                </a:solidFill>
                <a:latin typeface="Calibri" pitchFamily="34" charset="0"/>
                <a:ea typeface="Calibri" pitchFamily="34" charset="-122"/>
                <a:cs typeface="Calibri" pitchFamily="34" charset="-120"/>
              </a:rPr>
              <a:t>MP-03 Needs Analysis &amp; Diagnosis</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UFT-20-01
</a:t>
                      </a:r>
                      <a:pPr indent="0" marL="0">
                        <a:buNone/>
                      </a:pPr>
                      <a:r>
                        <a:rPr lang="en-US" sz="1000" b="1" dirty="0">
                          <a:solidFill>
                            <a:srgbClr val="3A3A3C"/>
                          </a:solidFill>
                          <a:latin typeface="Calibri" pitchFamily="34" charset="0"/>
                          <a:ea typeface="Calibri" pitchFamily="34" charset="-122"/>
                          <a:cs typeface="Calibri" pitchFamily="34" charset="-120"/>
                        </a:rPr>
                        <a:t>Define diagnostic axes and sample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MP-37.1 </a:t>
                      </a:r>
                      <a:pPr indent="0" marL="0">
                        <a:buNone/>
                      </a:pPr>
                      <a:r>
                        <a:rPr lang="en-US" sz="1000" dirty="0">
                          <a:solidFill>
                            <a:srgbClr val="58595B"/>
                          </a:solidFill>
                          <a:latin typeface="Calibri" pitchFamily="34" charset="0"/>
                          <a:ea typeface="Calibri" pitchFamily="34" charset="-122"/>
                          <a:cs typeface="Calibri" pitchFamily="34" charset="-120"/>
                        </a:rPr>
                        <a:t>Define diagnostic axes and sample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Axes: strategy, organization, processes, people, information systems. Sample: 40 people (MS 8, MO 16, OP 16).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UFT-20-02
</a:t>
                      </a:r>
                      <a:pPr indent="0" marL="0">
                        <a:buNone/>
                      </a:pPr>
                      <a:r>
                        <a:rPr lang="en-US" sz="1000" b="1" dirty="0">
                          <a:solidFill>
                            <a:srgbClr val="3A3A3C"/>
                          </a:solidFill>
                          <a:latin typeface="Calibri" pitchFamily="34" charset="0"/>
                          <a:ea typeface="Calibri" pitchFamily="34" charset="-122"/>
                          <a:cs typeface="Calibri" pitchFamily="34" charset="-120"/>
                        </a:rPr>
                        <a:t>Deploy diagnostic questionnaire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MP-37.2 </a:t>
                      </a:r>
                      <a:pPr indent="0" marL="0">
                        <a:buNone/>
                      </a:pPr>
                      <a:r>
                        <a:rPr lang="en-US" sz="1000" dirty="0">
                          <a:solidFill>
                            <a:srgbClr val="58595B"/>
                          </a:solidFill>
                          <a:latin typeface="Calibri" pitchFamily="34" charset="0"/>
                          <a:ea typeface="Calibri" pitchFamily="34" charset="-122"/>
                          <a:cs typeface="Calibri" pitchFamily="34" charset="-120"/>
                        </a:rPr>
                        <a:t>Deploy diagnostic questionnaire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MP-37.4 </a:t>
                      </a:r>
                      <a:pPr indent="0" marL="0">
                        <a:buNone/>
                      </a:pPr>
                      <a:r>
                        <a:rPr lang="en-US" sz="1000" dirty="0">
                          <a:solidFill>
                            <a:srgbClr val="58595B"/>
                          </a:solidFill>
                          <a:latin typeface="Calibri" pitchFamily="34" charset="0"/>
                          <a:ea typeface="Calibri" pitchFamily="34" charset="-122"/>
                          <a:cs typeface="Calibri" pitchFamily="34" charset="-120"/>
                        </a:rPr>
                        <a:t>Collect questionnaire responses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Diagnostic questionnaire deployed to 40 people; 34 responses (85%).</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UFT-20-03
</a:t>
                      </a:r>
                      <a:pPr indent="0" marL="0">
                        <a:buNone/>
                      </a:pPr>
                      <a:r>
                        <a:rPr lang="en-US" sz="1000" b="1" dirty="0">
                          <a:solidFill>
                            <a:srgbClr val="3A3A3C"/>
                          </a:solidFill>
                          <a:latin typeface="Calibri" pitchFamily="34" charset="0"/>
                          <a:ea typeface="Calibri" pitchFamily="34" charset="-122"/>
                          <a:cs typeface="Calibri" pitchFamily="34" charset="-120"/>
                        </a:rPr>
                        <a:t>Conduct semi-structured interviews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MP-37.3 </a:t>
                      </a:r>
                      <a:pPr indent="0" marL="0">
                        <a:buNone/>
                      </a:pPr>
                      <a:r>
                        <a:rPr lang="en-US" sz="1000" dirty="0">
                          <a:solidFill>
                            <a:srgbClr val="58595B"/>
                          </a:solidFill>
                          <a:latin typeface="Calibri" pitchFamily="34" charset="0"/>
                          <a:ea typeface="Calibri" pitchFamily="34" charset="-122"/>
                          <a:cs typeface="Calibri" pitchFamily="34" charset="-120"/>
                        </a:rPr>
                        <a:t>Conduct semi-structured interviews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Soukaina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Interview notes (OP, Clinical Care &amp; Nursing): 'Procedures exist but are not updated since 2023.'</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UFT-20-04
</a:t>
                      </a:r>
                      <a:pPr indent="0" marL="0">
                        <a:buNone/>
                      </a:pPr>
                      <a:r>
                        <a:rPr lang="en-US" sz="1000" b="1" dirty="0">
                          <a:solidFill>
                            <a:srgbClr val="3A3A3C"/>
                          </a:solidFill>
                          <a:latin typeface="Calibri" pitchFamily="34" charset="0"/>
                          <a:ea typeface="Calibri" pitchFamily="34" charset="-122"/>
                          <a:cs typeface="Calibri" pitchFamily="34" charset="-120"/>
                        </a:rPr>
                        <a:t>Score diagnostic axes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MP-37.5 </a:t>
                      </a:r>
                      <a:pPr indent="0" marL="0">
                        <a:buNone/>
                      </a:pPr>
                      <a:r>
                        <a:rPr lang="en-US" sz="1000" dirty="0">
                          <a:solidFill>
                            <a:srgbClr val="58595B"/>
                          </a:solidFill>
                          <a:latin typeface="Calibri" pitchFamily="34" charset="0"/>
                          <a:ea typeface="Calibri" pitchFamily="34" charset="-122"/>
                          <a:cs typeface="Calibri" pitchFamily="34" charset="-120"/>
                        </a:rPr>
                        <a:t>Score diagnostic axes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Soukaina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Axis scores (1-5): strategy 3.4, organization 2.8, processes 2.6, people 3.1, IS 2.2.</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UFT-20-05
</a:t>
                      </a:r>
                      <a:pPr indent="0" marL="0">
                        <a:buNone/>
                      </a:pPr>
                      <a:r>
                        <a:rPr lang="en-US" sz="1000" b="1" dirty="0">
                          <a:solidFill>
                            <a:srgbClr val="3A3A3C"/>
                          </a:solidFill>
                          <a:latin typeface="Calibri" pitchFamily="34" charset="0"/>
                          <a:ea typeface="Calibri" pitchFamily="34" charset="-122"/>
                          <a:cs typeface="Calibri" pitchFamily="34" charset="-120"/>
                        </a:rPr>
                        <a:t>Select maturity model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MP-38.1 </a:t>
                      </a:r>
                      <a:pPr indent="0" marL="0">
                        <a:buNone/>
                      </a:pPr>
                      <a:r>
                        <a:rPr lang="en-US" sz="1000" dirty="0">
                          <a:solidFill>
                            <a:srgbClr val="58595B"/>
                          </a:solidFill>
                          <a:latin typeface="Calibri" pitchFamily="34" charset="0"/>
                          <a:ea typeface="Calibri" pitchFamily="34" charset="-122"/>
                          <a:cs typeface="Calibri" pitchFamily="34" charset="-120"/>
                        </a:rPr>
                        <a:t>Select maturity model levels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MP-38.2 </a:t>
                      </a:r>
                      <a:pPr indent="0" marL="0">
                        <a:buNone/>
                      </a:pPr>
                      <a:r>
                        <a:rPr lang="en-US" sz="1000" dirty="0">
                          <a:solidFill>
                            <a:srgbClr val="58595B"/>
                          </a:solidFill>
                          <a:latin typeface="Calibri" pitchFamily="34" charset="0"/>
                          <a:ea typeface="Calibri" pitchFamily="34" charset="-122"/>
                          <a:cs typeface="Calibri" pitchFamily="34" charset="-120"/>
                        </a:rPr>
                        <a:t>Define evidence criteria per level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Soukaina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Maturity model: CMM 5 levels; evidence for level 3 = documented and applied process.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20"/>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20-01 Define diagnostic axes and sample">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UFT-20-01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E2E-20 · ROOT (DIAGNOSTIC)</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Multi-Axis Diagnostic-to-Maturity Report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UFT-20-06
</a:t>
                      </a:r>
                      <a:pPr indent="0" marL="0">
                        <a:buNone/>
                      </a:pPr>
                      <a:r>
                        <a:rPr lang="en-US" sz="1000" b="1" dirty="0">
                          <a:solidFill>
                            <a:srgbClr val="3A3A3C"/>
                          </a:solidFill>
                          <a:latin typeface="Calibri" pitchFamily="34" charset="0"/>
                          <a:ea typeface="Calibri" pitchFamily="34" charset="-122"/>
                          <a:cs typeface="Calibri" pitchFamily="34" charset="-120"/>
                        </a:rPr>
                        <a:t>Rate process maturity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MP-38.3 </a:t>
                      </a:r>
                      <a:pPr indent="0" marL="0">
                        <a:buNone/>
                      </a:pPr>
                      <a:r>
                        <a:rPr lang="en-US" sz="1000" dirty="0">
                          <a:solidFill>
                            <a:srgbClr val="58595B"/>
                          </a:solidFill>
                          <a:latin typeface="Calibri" pitchFamily="34" charset="0"/>
                          <a:ea typeface="Calibri" pitchFamily="34" charset="-122"/>
                          <a:cs typeface="Calibri" pitchFamily="34" charset="-120"/>
                        </a:rPr>
                        <a:t>Rate maturity per process area</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MP-38.4 </a:t>
                      </a:r>
                      <a:pPr indent="0" marL="0">
                        <a:buNone/>
                      </a:pPr>
                      <a:r>
                        <a:rPr lang="en-US" sz="1000" dirty="0">
                          <a:solidFill>
                            <a:srgbClr val="58595B"/>
                          </a:solidFill>
                          <a:latin typeface="Calibri" pitchFamily="34" charset="0"/>
                          <a:ea typeface="Calibri" pitchFamily="34" charset="-122"/>
                          <a:cs typeface="Calibri" pitchFamily="34" charset="-120"/>
                        </a:rPr>
                        <a:t>Compute maturity profile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Soukaina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Maturity: training management level 2; Clinical Care &amp; Nursing processes level 3.</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UFT-20-07
</a:t>
                      </a:r>
                      <a:pPr indent="0" marL="0">
                        <a:buNone/>
                      </a:pPr>
                      <a:r>
                        <a:rPr lang="en-US" sz="1000" b="1" dirty="0">
                          <a:solidFill>
                            <a:srgbClr val="3A3A3C"/>
                          </a:solidFill>
                          <a:latin typeface="Calibri" pitchFamily="34" charset="0"/>
                          <a:ea typeface="Calibri" pitchFamily="34" charset="-122"/>
                          <a:cs typeface="Calibri" pitchFamily="34" charset="-120"/>
                        </a:rPr>
                        <a:t>Assess leadership maturity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MP-42.1 </a:t>
                      </a:r>
                      <a:pPr indent="0" marL="0">
                        <a:buNone/>
                      </a:pPr>
                      <a:r>
                        <a:rPr lang="en-US" sz="1000" dirty="0">
                          <a:solidFill>
                            <a:srgbClr val="58595B"/>
                          </a:solidFill>
                          <a:latin typeface="Calibri" pitchFamily="34" charset="0"/>
                          <a:ea typeface="Calibri" pitchFamily="34" charset="-122"/>
                          <a:cs typeface="Calibri" pitchFamily="34" charset="-120"/>
                        </a:rPr>
                        <a:t>Launch leadership 360 assessment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MP-42.2 </a:t>
                      </a:r>
                      <a:pPr indent="0" marL="0">
                        <a:buNone/>
                      </a:pPr>
                      <a:r>
                        <a:rPr lang="en-US" sz="1000" dirty="0">
                          <a:solidFill>
                            <a:srgbClr val="58595B"/>
                          </a:solidFill>
                          <a:latin typeface="Calibri" pitchFamily="34" charset="0"/>
                          <a:ea typeface="Calibri" pitchFamily="34" charset="-122"/>
                          <a:cs typeface="Calibri" pitchFamily="34" charset="-120"/>
                        </a:rPr>
                        <a:t>Compute leadership maturity level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Leadership 360: average level 3 (Team Leadership) across 18 managers.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UFT-20-08
</a:t>
                      </a:r>
                      <a:pPr indent="0" marL="0">
                        <a:buNone/>
                      </a:pPr>
                      <a:r>
                        <a:rPr lang="en-US" sz="1000" b="1" dirty="0">
                          <a:solidFill>
                            <a:srgbClr val="3A3A3C"/>
                          </a:solidFill>
                          <a:latin typeface="Calibri" pitchFamily="34" charset="0"/>
                          <a:ea typeface="Calibri" pitchFamily="34" charset="-122"/>
                          <a:cs typeface="Calibri" pitchFamily="34" charset="-120"/>
                        </a:rPr>
                        <a:t>Cross-check skills and needs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MP-02.7 </a:t>
                      </a:r>
                      <a:pPr indent="0" marL="0">
                        <a:buNone/>
                      </a:pPr>
                      <a:r>
                        <a:rPr lang="en-US" sz="1000" dirty="0">
                          <a:solidFill>
                            <a:srgbClr val="58595B"/>
                          </a:solidFill>
                          <a:latin typeface="Calibri" pitchFamily="34" charset="0"/>
                          <a:ea typeface="Calibri" pitchFamily="34" charset="-122"/>
                          <a:cs typeface="Calibri" pitchFamily="34" charset="-120"/>
                        </a:rPr>
                        <a:t>Validate skills inventory</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MP-03.2 </a:t>
                      </a:r>
                      <a:pPr indent="0" marL="0">
                        <a:buNone/>
                      </a:pPr>
                      <a:r>
                        <a:rPr lang="en-US" sz="1000" dirty="0">
                          <a:solidFill>
                            <a:srgbClr val="58595B"/>
                          </a:solidFill>
                          <a:latin typeface="Calibri" pitchFamily="34" charset="0"/>
                          <a:ea typeface="Calibri" pitchFamily="34" charset="-122"/>
                          <a:cs typeface="Calibri" pitchFamily="34" charset="-120"/>
                        </a:rPr>
                        <a:t>Review gap matrix by site and function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8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Cross-check: IS axis weakness confirmed by the AI triage and clinical decision support gap (-1.4).</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UFT-20-09
</a:t>
                      </a:r>
                      <a:pPr indent="0" marL="0">
                        <a:buNone/>
                      </a:pPr>
                      <a:r>
                        <a:rPr lang="en-US" sz="1000" b="1" dirty="0">
                          <a:solidFill>
                            <a:srgbClr val="3A3A3C"/>
                          </a:solidFill>
                          <a:latin typeface="Calibri" pitchFamily="34" charset="0"/>
                          <a:ea typeface="Calibri" pitchFamily="34" charset="-122"/>
                          <a:cs typeface="Calibri" pitchFamily="34" charset="-120"/>
                        </a:rPr>
                        <a:t>Draft diagnostic findings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MP-37.6 </a:t>
                      </a:r>
                      <a:pPr indent="0" marL="0">
                        <a:buNone/>
                      </a:pPr>
                      <a:r>
                        <a:rPr lang="en-US" sz="1000" dirty="0">
                          <a:solidFill>
                            <a:srgbClr val="58595B"/>
                          </a:solidFill>
                          <a:latin typeface="Calibri" pitchFamily="34" charset="0"/>
                          <a:ea typeface="Calibri" pitchFamily="34" charset="-122"/>
                          <a:cs typeface="Calibri" pitchFamily="34" charset="-120"/>
                        </a:rPr>
                        <a:t>Draft diagnostic findings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MP-38.5 </a:t>
                      </a:r>
                      <a:pPr indent="0" marL="0">
                        <a:buNone/>
                      </a:pPr>
                      <a:r>
                        <a:rPr lang="en-US" sz="1000" dirty="0">
                          <a:solidFill>
                            <a:srgbClr val="58595B"/>
                          </a:solidFill>
                          <a:latin typeface="Calibri" pitchFamily="34" charset="0"/>
                          <a:ea typeface="Calibri" pitchFamily="34" charset="-122"/>
                          <a:cs typeface="Calibri" pitchFamily="34" charset="-120"/>
                        </a:rPr>
                        <a:t>Produce maturity report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Soukaina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11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Edit AI findings: keep 5, merge 2, add one on ISO 7101 documentation.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UFT-20-10
</a:t>
                      </a:r>
                      <a:pPr indent="0" marL="0">
                        <a:buNone/>
                      </a:pPr>
                      <a:r>
                        <a:rPr lang="en-US" sz="1000" b="1" dirty="0">
                          <a:solidFill>
                            <a:srgbClr val="3A3A3C"/>
                          </a:solidFill>
                          <a:latin typeface="Calibri" pitchFamily="34" charset="0"/>
                          <a:ea typeface="Calibri" pitchFamily="34" charset="-122"/>
                          <a:cs typeface="Calibri" pitchFamily="34" charset="-120"/>
                        </a:rPr>
                        <a:t>Validate findings with sponsor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MP-37.7 </a:t>
                      </a:r>
                      <a:pPr indent="0" marL="0">
                        <a:buNone/>
                      </a:pPr>
                      <a:r>
                        <a:rPr lang="en-US" sz="1000" dirty="0">
                          <a:solidFill>
                            <a:srgbClr val="58595B"/>
                          </a:solidFill>
                          <a:latin typeface="Calibri" pitchFamily="34" charset="0"/>
                          <a:ea typeface="Calibri" pitchFamily="34" charset="-122"/>
                          <a:cs typeface="Calibri" pitchFamily="34" charset="-120"/>
                        </a:rPr>
                        <a:t>Validate findings with sponsor</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MP-38.6 </a:t>
                      </a:r>
                      <a:pPr indent="0" marL="0">
                        <a:buNone/>
                      </a:pPr>
                      <a:r>
                        <a:rPr lang="en-US" sz="1000" dirty="0">
                          <a:solidFill>
                            <a:srgbClr val="58595B"/>
                          </a:solidFill>
                          <a:latin typeface="Calibri" pitchFamily="34" charset="0"/>
                          <a:ea typeface="Calibri" pitchFamily="34" charset="-122"/>
                          <a:cs typeface="Calibri" pitchFamily="34" charset="-120"/>
                        </a:rPr>
                        <a:t>Agree target maturity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14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Findings validated with the sponsor; target maturity level 3 by 2026+1.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20"/>
          <p:cNvSpPr/>
          <p:nvPr/>
        </p:nvSpPr>
        <p:spPr>
          <a:xfrm>
            <a:off x="8494776" y="1271016"/>
            <a:ext cx="3291840" cy="2419567"/>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20">    </p:cNvPr>
          <p:cNvPicPr>
            <a:picLocks noChangeAspect="1"/>
          </p:cNvPicPr>
          <p:nvPr/>
        </p:nvPicPr>
        <p:blipFill>
          <a:blip r:embed="rId1"/>
          <a:stretch>
            <a:fillRect/>
          </a:stretch>
        </p:blipFill>
        <p:spPr>
          <a:xfrm>
            <a:off x="8549640" y="1325880"/>
            <a:ext cx="3182112" cy="2309839"/>
          </a:xfrm>
          <a:prstGeom prst="rect">
            <a:avLst/>
          </a:prstGeom>
        </p:spPr>
      </p:pic>
      <p:sp>
        <p:nvSpPr>
          <p:cNvPr id="8" name="Text 3"/>
          <p:cNvSpPr txBox="1"/>
          <p:nvPr/>
        </p:nvSpPr>
        <p:spPr>
          <a:xfrm>
            <a:off x="8549640" y="3727159"/>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E2E-20 in CortexSkills: its tasks, owners and due dates, and the process card.</a:t>
            </a:r>
            <a:endParaRPr lang="en-US" sz="1000" dirty="0"/>
          </a:p>
        </p:txBody>
      </p:sp>
      <p:sp>
        <p:nvSpPr>
          <p:cNvPr id="9" name="feeds"/>
          <p:cNvSpPr/>
          <p:nvPr/>
        </p:nvSpPr>
        <p:spPr>
          <a:xfrm>
            <a:off x="8549640" y="4572000"/>
            <a:ext cx="3182112" cy="1508760"/>
          </a:xfrm>
          <a:prstGeom prst="roundRect">
            <a:avLst>
              <a:gd name="adj" fmla="val 4848"/>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686800" y="4645152"/>
            <a:ext cx="2926080" cy="1371600"/>
          </a:xfrm>
          <a:prstGeom prst="rect">
            <a:avLst/>
          </a:prstGeom>
          <a:noFill/>
          <a:ln/>
        </p:spPr>
        <p:txBody>
          <a:bodyPr wrap="square" lIns="0" tIns="0" rIns="0" bIns="0" rtlCol="0" anchor="t"/>
          <a:lstStyle/>
          <a:p>
            <a:pPr indent="0" marL="0">
              <a:buNone/>
            </a:pPr>
            <a:r>
              <a:rPr lang="en-US" sz="1000" b="1" dirty="0">
                <a:solidFill>
                  <a:srgbClr val="E07B00"/>
                </a:solidFill>
                <a:latin typeface="Calibri" pitchFamily="34" charset="0"/>
                <a:ea typeface="Calibri" pitchFamily="34" charset="-122"/>
                <a:cs typeface="Calibri" pitchFamily="34" charset="-120"/>
              </a:rPr>
              <a:t>Feeds into
</a:t>
            </a:r>
            <a:pPr indent="0" marL="0">
              <a:buNone/>
            </a:pPr>
            <a:r>
              <a:rPr lang="en-US" sz="1100" dirty="0">
                <a:solidFill>
                  <a:srgbClr val="3A3A3C"/>
                </a:solidFill>
                <a:latin typeface="Calibri" pitchFamily="34" charset="0"/>
                <a:ea typeface="Calibri" pitchFamily="34" charset="-122"/>
                <a:cs typeface="Calibri" pitchFamily="34" charset="-120"/>
              </a:rPr>
              <a:t>E2E-03, E2E-21</a:t>
            </a:r>
            <a:endParaRPr lang="en-US" sz="1100" dirty="0"/>
          </a:p>
          <a:p>
            <a:pPr indent="0" marL="0">
              <a:buNone/>
            </a:pPr>
            <a:r>
              <a:rPr lang="en-US" sz="1000" b="1" dirty="0">
                <a:solidFill>
                  <a:srgbClr val="E07B00"/>
                </a:solidFill>
                <a:latin typeface="Calibri" pitchFamily="34" charset="0"/>
                <a:ea typeface="Calibri" pitchFamily="34" charset="-122"/>
                <a:cs typeface="Calibri" pitchFamily="34" charset="-120"/>
              </a:rPr>
              <a:t>Supported by
</a:t>
            </a:r>
            <a:pPr indent="0" marL="0">
              <a:buNone/>
            </a:pPr>
            <a:r>
              <a:rPr lang="en-US" sz="1100" dirty="0">
                <a:solidFill>
                  <a:srgbClr val="3A3A3C"/>
                </a:solidFill>
                <a:latin typeface="Calibri" pitchFamily="34" charset="0"/>
                <a:ea typeface="Calibri" pitchFamily="34" charset="-122"/>
                <a:cs typeface="Calibri" pitchFamily="34" charset="-120"/>
              </a:rPr>
              <a:t>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E2E-25 · ROOT (ORGANIZATIONAL)</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Job Architecture-to-Competency Map</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Manage organizational charts, position descriptions, gap analysis</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Organizational change, new role creation, or annual job architecture review.</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Approved organizational charts, position descriptions, and competency maps with gap analysis.</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8 tasks · 12 steps
</a:t>
            </a:r>
            <a:pPr indent="0" marL="0">
              <a:buNone/>
            </a:pPr>
            <a:r>
              <a:rPr lang="en-US" sz="1100" dirty="0">
                <a:solidFill>
                  <a:srgbClr val="3A3A3C"/>
                </a:solidFill>
                <a:latin typeface="Calibri" pitchFamily="34" charset="0"/>
                <a:ea typeface="Calibri" pitchFamily="34" charset="-122"/>
                <a:cs typeface="Calibri" pitchFamily="34" charset="-120"/>
              </a:rPr>
              <a:t>23 days · 2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MP-44 Job Architecture &amp; Position Description Management · </a:t>
            </a:r>
            <a:pPr indent="0" marL="0">
              <a:buNone/>
            </a:pPr>
            <a:r>
              <a:rPr lang="en-US" sz="1000" dirty="0">
                <a:solidFill>
                  <a:srgbClr val="58595B"/>
                </a:solidFill>
                <a:latin typeface="Calibri" pitchFamily="34" charset="0"/>
                <a:ea typeface="Calibri" pitchFamily="34" charset="-122"/>
                <a:cs typeface="Calibri" pitchFamily="34" charset="-120"/>
              </a:rPr>
              <a:t>MP-02 Skills &amp; Competency Management · </a:t>
            </a:r>
            <a:pPr indent="0" marL="0">
              <a:buNone/>
            </a:pPr>
            <a:r>
              <a:rPr lang="en-US" sz="1000" dirty="0">
                <a:solidFill>
                  <a:srgbClr val="58595B"/>
                </a:solidFill>
                <a:latin typeface="Calibri" pitchFamily="34" charset="0"/>
                <a:ea typeface="Calibri" pitchFamily="34" charset="-122"/>
                <a:cs typeface="Calibri" pitchFamily="34" charset="-120"/>
              </a:rPr>
              <a:t>MP-13 Talent &amp; Career Development · </a:t>
            </a:r>
            <a:pPr indent="0" marL="0">
              <a:buNone/>
            </a:pPr>
            <a:r>
              <a:rPr lang="en-US" sz="1000" dirty="0">
                <a:solidFill>
                  <a:srgbClr val="58595B"/>
                </a:solidFill>
                <a:latin typeface="Calibri" pitchFamily="34" charset="0"/>
                <a:ea typeface="Calibri" pitchFamily="34" charset="-122"/>
                <a:cs typeface="Calibri" pitchFamily="34" charset="-120"/>
              </a:rPr>
              <a:t>MP-37 Multi-Axis Organizational Diagnostic</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UFT-25-01
</a:t>
                      </a:r>
                      <a:pPr indent="0" marL="0">
                        <a:buNone/>
                      </a:pPr>
                      <a:r>
                        <a:rPr lang="en-US" sz="1000" b="1" dirty="0">
                          <a:solidFill>
                            <a:srgbClr val="3A3A3C"/>
                          </a:solidFill>
                          <a:latin typeface="Calibri" pitchFamily="34" charset="0"/>
                          <a:ea typeface="Calibri" pitchFamily="34" charset="-122"/>
                          <a:cs typeface="Calibri" pitchFamily="34" charset="-120"/>
                        </a:rPr>
                        <a:t>Map organizational structure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MP-44.1 </a:t>
                      </a:r>
                      <a:pPr indent="0" marL="0">
                        <a:buNone/>
                      </a:pPr>
                      <a:r>
                        <a:rPr lang="en-US" sz="1000" dirty="0">
                          <a:solidFill>
                            <a:srgbClr val="58595B"/>
                          </a:solidFill>
                          <a:latin typeface="Calibri" pitchFamily="34" charset="0"/>
                          <a:ea typeface="Calibri" pitchFamily="34" charset="-122"/>
                          <a:cs typeface="Calibri" pitchFamily="34" charset="-120"/>
                        </a:rPr>
                        <a:t>Map organizational structure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Mehdi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Structure: 6 functions, 14 departments, 3 sites; 212 positions.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UFT-25-02
</a:t>
                      </a:r>
                      <a:pPr indent="0" marL="0">
                        <a:buNone/>
                      </a:pPr>
                      <a:r>
                        <a:rPr lang="en-US" sz="1000" b="1" dirty="0">
                          <a:solidFill>
                            <a:srgbClr val="3A3A3C"/>
                          </a:solidFill>
                          <a:latin typeface="Calibri" pitchFamily="34" charset="0"/>
                          <a:ea typeface="Calibri" pitchFamily="34" charset="-122"/>
                          <a:cs typeface="Calibri" pitchFamily="34" charset="-120"/>
                        </a:rPr>
                        <a:t>Design organizational charts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MP-44.2 </a:t>
                      </a:r>
                      <a:pPr indent="0" marL="0">
                        <a:buNone/>
                      </a:pPr>
                      <a:r>
                        <a:rPr lang="en-US" sz="1000" dirty="0">
                          <a:solidFill>
                            <a:srgbClr val="58595B"/>
                          </a:solidFill>
                          <a:latin typeface="Calibri" pitchFamily="34" charset="0"/>
                          <a:ea typeface="Calibri" pitchFamily="34" charset="-122"/>
                          <a:cs typeface="Calibri" pitchFamily="34" charset="-120"/>
                        </a:rPr>
                        <a:t>Design organizational charts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Mehdi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Org chart 'Clinical Care &amp; Nursing': director → 3 managers → 9 supervisors → operators.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UFT-25-03
</a:t>
                      </a:r>
                      <a:pPr indent="0" marL="0">
                        <a:buNone/>
                      </a:pPr>
                      <a:r>
                        <a:rPr lang="en-US" sz="1000" b="1" dirty="0">
                          <a:solidFill>
                            <a:srgbClr val="3A3A3C"/>
                          </a:solidFill>
                          <a:latin typeface="Calibri" pitchFamily="34" charset="0"/>
                          <a:ea typeface="Calibri" pitchFamily="34" charset="-122"/>
                          <a:cs typeface="Calibri" pitchFamily="34" charset="-120"/>
                        </a:rPr>
                        <a:t>Conduct job analysis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MP-44.3 </a:t>
                      </a:r>
                      <a:pPr indent="0" marL="0">
                        <a:buNone/>
                      </a:pPr>
                      <a:r>
                        <a:rPr lang="en-US" sz="1000" dirty="0">
                          <a:solidFill>
                            <a:srgbClr val="58595B"/>
                          </a:solidFill>
                          <a:latin typeface="Calibri" pitchFamily="34" charset="0"/>
                          <a:ea typeface="Calibri" pitchFamily="34" charset="-122"/>
                          <a:cs typeface="Calibri" pitchFamily="34" charset="-120"/>
                        </a:rPr>
                        <a:t>Conduct job analysis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Job analysis 'Clinical Care &amp; Nursing supervisor': 8 main activities, 2 of them now supported by AI triage and clinical decision support.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UFT-25-04
</a:t>
                      </a:r>
                      <a:pPr indent="0" marL="0">
                        <a:buNone/>
                      </a:pPr>
                      <a:r>
                        <a:rPr lang="en-US" sz="1000" b="1" dirty="0">
                          <a:solidFill>
                            <a:srgbClr val="3A3A3C"/>
                          </a:solidFill>
                          <a:latin typeface="Calibri" pitchFamily="34" charset="0"/>
                          <a:ea typeface="Calibri" pitchFamily="34" charset="-122"/>
                          <a:cs typeface="Calibri" pitchFamily="34" charset="-120"/>
                        </a:rPr>
                        <a:t>Draft position descriptions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MP-44.4 </a:t>
                      </a:r>
                      <a:pPr indent="0" marL="0">
                        <a:buNone/>
                      </a:pPr>
                      <a:r>
                        <a:rPr lang="en-US" sz="1000" dirty="0">
                          <a:solidFill>
                            <a:srgbClr val="58595B"/>
                          </a:solidFill>
                          <a:latin typeface="Calibri" pitchFamily="34" charset="0"/>
                          <a:ea typeface="Calibri" pitchFamily="34" charset="-122"/>
                          <a:cs typeface="Calibri" pitchFamily="34" charset="-120"/>
                        </a:rPr>
                        <a:t>Draft position descriptions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Position description drafted: mission, activities, competencies (AI triage and clinical decision support level 3, ISO 7101 level 3), KPIs.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UFT-25-05
</a:t>
                      </a:r>
                      <a:pPr indent="0" marL="0">
                        <a:buNone/>
                      </a:pPr>
                      <a:r>
                        <a:rPr lang="en-US" sz="1000" b="1" dirty="0">
                          <a:solidFill>
                            <a:srgbClr val="3A3A3C"/>
                          </a:solidFill>
                          <a:latin typeface="Calibri" pitchFamily="34" charset="0"/>
                          <a:ea typeface="Calibri" pitchFamily="34" charset="-122"/>
                          <a:cs typeface="Calibri" pitchFamily="34" charset="-120"/>
                        </a:rPr>
                        <a:t>Validate with managers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MP-44.5 </a:t>
                      </a:r>
                      <a:pPr indent="0" marL="0">
                        <a:buNone/>
                      </a:pPr>
                      <a:r>
                        <a:rPr lang="en-US" sz="1000" dirty="0">
                          <a:solidFill>
                            <a:srgbClr val="58595B"/>
                          </a:solidFill>
                          <a:latin typeface="Calibri" pitchFamily="34" charset="0"/>
                          <a:ea typeface="Calibri" pitchFamily="34" charset="-122"/>
                          <a:cs typeface="Calibri" pitchFamily="34" charset="-120"/>
                        </a:rPr>
                        <a:t>Validate descriptions with managers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Validated by the Clinical Care &amp; Nursing manager with 2 changes on activities.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25"/>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25-04 Draft position description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UFT-25-04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E2E-25 · ROOT (ORGANIZATIONAL)</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Job Architecture-to-Competency Map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UFT-25-06
</a:t>
                      </a:r>
                      <a:pPr indent="0" marL="0">
                        <a:buNone/>
                      </a:pPr>
                      <a:r>
                        <a:rPr lang="en-US" sz="1000" b="1" dirty="0">
                          <a:solidFill>
                            <a:srgbClr val="3A3A3C"/>
                          </a:solidFill>
                          <a:latin typeface="Calibri" pitchFamily="34" charset="0"/>
                          <a:ea typeface="Calibri" pitchFamily="34" charset="-122"/>
                          <a:cs typeface="Calibri" pitchFamily="34" charset="-120"/>
                        </a:rPr>
                        <a:t>Conduct gap analysis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MP-44.6 </a:t>
                      </a:r>
                      <a:pPr indent="0" marL="0">
                        <a:buNone/>
                      </a:pPr>
                      <a:r>
                        <a:rPr lang="en-US" sz="1000" dirty="0">
                          <a:solidFill>
                            <a:srgbClr val="58595B"/>
                          </a:solidFill>
                          <a:latin typeface="Calibri" pitchFamily="34" charset="0"/>
                          <a:ea typeface="Calibri" pitchFamily="34" charset="-122"/>
                          <a:cs typeface="Calibri" pitchFamily="34" charset="-120"/>
                        </a:rPr>
                        <a:t>Conduct gap analysis existing versus real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Gap existing vs real: 11 descriptions outdated; 4 roles with new AI triage and clinical decision support tasks.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UFT-25-07
</a:t>
                      </a:r>
                      <a:pPr indent="0" marL="0">
                        <a:buNone/>
                      </a:pPr>
                      <a:r>
                        <a:rPr lang="en-US" sz="1000" b="1" dirty="0">
                          <a:solidFill>
                            <a:srgbClr val="3A3A3C"/>
                          </a:solidFill>
                          <a:latin typeface="Calibri" pitchFamily="34" charset="0"/>
                          <a:ea typeface="Calibri" pitchFamily="34" charset="-122"/>
                          <a:cs typeface="Calibri" pitchFamily="34" charset="-120"/>
                        </a:rPr>
                        <a:t>Identify roles to develop</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MP-44.7 </a:t>
                      </a:r>
                      <a:pPr indent="0" marL="0">
                        <a:buNone/>
                      </a:pPr>
                      <a:r>
                        <a:rPr lang="en-US" sz="1000" dirty="0">
                          <a:solidFill>
                            <a:srgbClr val="58595B"/>
                          </a:solidFill>
                          <a:latin typeface="Calibri" pitchFamily="34" charset="0"/>
                          <a:ea typeface="Calibri" pitchFamily="34" charset="-122"/>
                          <a:cs typeface="Calibri" pitchFamily="34" charset="-120"/>
                        </a:rPr>
                        <a:t>Identify roles to develop</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MP-44.8 </a:t>
                      </a:r>
                      <a:pPr indent="0" marL="0">
                        <a:buNone/>
                      </a:pPr>
                      <a:r>
                        <a:rPr lang="en-US" sz="1000" dirty="0">
                          <a:solidFill>
                            <a:srgbClr val="58595B"/>
                          </a:solidFill>
                          <a:latin typeface="Calibri" pitchFamily="34" charset="0"/>
                          <a:ea typeface="Calibri" pitchFamily="34" charset="-122"/>
                          <a:cs typeface="Calibri" pitchFamily="34" charset="-120"/>
                        </a:rPr>
                        <a:t>Update job architecture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MP-44.9 </a:t>
                      </a:r>
                      <a:pPr indent="0" marL="0">
                        <a:buNone/>
                      </a:pPr>
                      <a:r>
                        <a:rPr lang="en-US" sz="1000" dirty="0">
                          <a:solidFill>
                            <a:srgbClr val="58595B"/>
                          </a:solidFill>
                          <a:latin typeface="Calibri" pitchFamily="34" charset="0"/>
                          <a:ea typeface="Calibri" pitchFamily="34" charset="-122"/>
                          <a:cs typeface="Calibri" pitchFamily="34" charset="-120"/>
                        </a:rPr>
                        <a:t>Align with competency framework</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Roles 'To develop': data-literate supervisor, maintenance technician 4.0.</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UFT-25-08
</a:t>
                      </a:r>
                      <a:pPr indent="0" marL="0">
                        <a:buNone/>
                      </a:pPr>
                      <a:r>
                        <a:rPr lang="en-US" sz="1000" b="1" dirty="0">
                          <a:solidFill>
                            <a:srgbClr val="3A3A3C"/>
                          </a:solidFill>
                          <a:latin typeface="Calibri" pitchFamily="34" charset="0"/>
                          <a:ea typeface="Calibri" pitchFamily="34" charset="-122"/>
                          <a:cs typeface="Calibri" pitchFamily="34" charset="-120"/>
                        </a:rPr>
                        <a:t>Publish approved architecture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MP-44.10 </a:t>
                      </a:r>
                      <a:pPr indent="0" marL="0">
                        <a:buNone/>
                      </a:pPr>
                      <a:r>
                        <a:rPr lang="en-US" sz="1000" dirty="0">
                          <a:solidFill>
                            <a:srgbClr val="58595B"/>
                          </a:solidFill>
                          <a:latin typeface="Calibri" pitchFamily="34" charset="0"/>
                          <a:ea typeface="Calibri" pitchFamily="34" charset="-122"/>
                          <a:cs typeface="Calibri" pitchFamily="34" charset="-120"/>
                        </a:rPr>
                        <a:t>Publish approved position descriptions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MP-44.11 </a:t>
                      </a:r>
                      <a:pPr indent="0" marL="0">
                        <a:buNone/>
                      </a:pPr>
                      <a:r>
                        <a:rPr lang="en-US" sz="1000" dirty="0">
                          <a:solidFill>
                            <a:srgbClr val="58595B"/>
                          </a:solidFill>
                          <a:latin typeface="Calibri" pitchFamily="34" charset="0"/>
                          <a:ea typeface="Calibri" pitchFamily="34" charset="-122"/>
                          <a:cs typeface="Calibri" pitchFamily="34" charset="-120"/>
                        </a:rPr>
                        <a:t>Track job architecture changes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MP-44.12 </a:t>
                      </a:r>
                      <a:pPr indent="0" marL="0">
                        <a:buNone/>
                      </a:pPr>
                      <a:r>
                        <a:rPr lang="en-US" sz="1000" dirty="0">
                          <a:solidFill>
                            <a:srgbClr val="58595B"/>
                          </a:solidFill>
                          <a:latin typeface="Calibri" pitchFamily="34" charset="0"/>
                          <a:ea typeface="Calibri" pitchFamily="34" charset="-122"/>
                          <a:cs typeface="Calibri" pitchFamily="34" charset="-120"/>
                        </a:rPr>
                        <a:t>Report on architecture health</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Mehdi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8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Publish 212 approved descriptions and the architecture map to all employees.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25"/>
          <p:cNvSpPr/>
          <p:nvPr/>
        </p:nvSpPr>
        <p:spPr>
          <a:xfrm>
            <a:off x="2721829" y="3593592"/>
            <a:ext cx="3334581" cy="2450592"/>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25">    </p:cNvPr>
          <p:cNvPicPr>
            <a:picLocks noChangeAspect="1"/>
          </p:cNvPicPr>
          <p:nvPr/>
        </p:nvPicPr>
        <p:blipFill>
          <a:blip r:embed="rId1"/>
          <a:stretch>
            <a:fillRect/>
          </a:stretch>
        </p:blipFill>
        <p:spPr>
          <a:xfrm>
            <a:off x="2776693" y="3648456"/>
            <a:ext cx="3224853" cy="2340864"/>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E2E-25 in CortexSkills: its tasks, owners and due dates, and the process card.</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 processes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MP-44 Job Architecture &amp; Position Description Management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MP-02 Skills &amp; Competency Management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MP-13 Talent &amp; Career Development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MP-37 Multi-Axis Organizational Diagnostic</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Feeds into</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E2E-02, E2E-10, E2E-26</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Supported by</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E2E-15, 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E2E-26 · ROOT (HR INTEGRATION)</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GPEC-to-Training Plan</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Integrate Forward Planning of Jobs and Skills into L&amp;D</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Annual HR strategic planning cycle or GPEC (Forward Planning of Jobs and Skills) review.</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Training plan aligned with GPEC and HR strategic orientations.</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8 tasks · 12 steps
</a:t>
            </a:r>
            <a:pPr indent="0" marL="0">
              <a:buNone/>
            </a:pPr>
            <a:r>
              <a:rPr lang="en-US" sz="1100" dirty="0">
                <a:solidFill>
                  <a:srgbClr val="3A3A3C"/>
                </a:solidFill>
                <a:latin typeface="Calibri" pitchFamily="34" charset="0"/>
                <a:ea typeface="Calibri" pitchFamily="34" charset="-122"/>
                <a:cs typeface="Calibri" pitchFamily="34" charset="-120"/>
              </a:rPr>
              <a:t>23 days · 4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MP-45 GPEC &amp; HR Strategic Integration (Forward Planning of Jobs and Skills) · </a:t>
            </a:r>
            <a:pPr indent="0" marL="0">
              <a:buNone/>
            </a:pPr>
            <a:r>
              <a:rPr lang="en-US" sz="1000" dirty="0">
                <a:solidFill>
                  <a:srgbClr val="58595B"/>
                </a:solidFill>
                <a:latin typeface="Calibri" pitchFamily="34" charset="0"/>
                <a:ea typeface="Calibri" pitchFamily="34" charset="-122"/>
                <a:cs typeface="Calibri" pitchFamily="34" charset="-120"/>
              </a:rPr>
              <a:t>MP-13 Talent &amp; Career Development · </a:t>
            </a:r>
            <a:pPr indent="0" marL="0">
              <a:buNone/>
            </a:pPr>
            <a:r>
              <a:rPr lang="en-US" sz="1000" dirty="0">
                <a:solidFill>
                  <a:srgbClr val="58595B"/>
                </a:solidFill>
                <a:latin typeface="Calibri" pitchFamily="34" charset="0"/>
                <a:ea typeface="Calibri" pitchFamily="34" charset="-122"/>
                <a:cs typeface="Calibri" pitchFamily="34" charset="-120"/>
              </a:rPr>
              <a:t>MP-04 Training Engineering Report &amp; Roadmap Elaboration · </a:t>
            </a:r>
            <a:pPr indent="0" marL="0">
              <a:buNone/>
            </a:pPr>
            <a:r>
              <a:rPr lang="en-US" sz="1000" dirty="0">
                <a:solidFill>
                  <a:srgbClr val="58595B"/>
                </a:solidFill>
                <a:latin typeface="Calibri" pitchFamily="34" charset="0"/>
                <a:ea typeface="Calibri" pitchFamily="34" charset="-122"/>
                <a:cs typeface="Calibri" pitchFamily="34" charset="-120"/>
              </a:rPr>
              <a:t>MP-03 Needs Analysis &amp; Diagnosis · </a:t>
            </a:r>
            <a:pPr indent="0" marL="0">
              <a:buNone/>
            </a:pPr>
            <a:r>
              <a:rPr lang="en-US" sz="1000" dirty="0">
                <a:solidFill>
                  <a:srgbClr val="58595B"/>
                </a:solidFill>
                <a:latin typeface="Calibri" pitchFamily="34" charset="0"/>
                <a:ea typeface="Calibri" pitchFamily="34" charset="-122"/>
                <a:cs typeface="Calibri" pitchFamily="34" charset="-120"/>
              </a:rPr>
              <a:t>MP-18 Financial &amp; Budget Management</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UFT-26-01
</a:t>
                      </a:r>
                      <a:pPr indent="0" marL="0">
                        <a:buNone/>
                      </a:pPr>
                      <a:r>
                        <a:rPr lang="en-US" sz="1000" b="1" dirty="0">
                          <a:solidFill>
                            <a:srgbClr val="3A3A3C"/>
                          </a:solidFill>
                          <a:latin typeface="Calibri" pitchFamily="34" charset="0"/>
                          <a:ea typeface="Calibri" pitchFamily="34" charset="-122"/>
                          <a:cs typeface="Calibri" pitchFamily="34" charset="-120"/>
                        </a:rPr>
                        <a:t>Define GPEC scope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MP-45.1 </a:t>
                      </a:r>
                      <a:pPr indent="0" marL="0">
                        <a:buNone/>
                      </a:pPr>
                      <a:r>
                        <a:rPr lang="en-US" sz="1000" dirty="0">
                          <a:solidFill>
                            <a:srgbClr val="58595B"/>
                          </a:solidFill>
                          <a:latin typeface="Calibri" pitchFamily="34" charset="0"/>
                          <a:ea typeface="Calibri" pitchFamily="34" charset="-122"/>
                          <a:cs typeface="Calibri" pitchFamily="34" charset="-120"/>
                        </a:rPr>
                        <a:t>Define GPEC scope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Tazi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GPEC scope: Clinical Care &amp; Nursing and Information Systems jobs; horizon 3 years.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UFT-26-02
</a:t>
                      </a:r>
                      <a:pPr indent="0" marL="0">
                        <a:buNone/>
                      </a:pPr>
                      <a:r>
                        <a:rPr lang="en-US" sz="1000" b="1" dirty="0">
                          <a:solidFill>
                            <a:srgbClr val="3A3A3C"/>
                          </a:solidFill>
                          <a:latin typeface="Calibri" pitchFamily="34" charset="0"/>
                          <a:ea typeface="Calibri" pitchFamily="34" charset="-122"/>
                          <a:cs typeface="Calibri" pitchFamily="34" charset="-120"/>
                        </a:rPr>
                        <a:t>Map HR strategic orientations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MP-45.2 </a:t>
                      </a:r>
                      <a:pPr indent="0" marL="0">
                        <a:buNone/>
                      </a:pPr>
                      <a:r>
                        <a:rPr lang="en-US" sz="1000" dirty="0">
                          <a:solidFill>
                            <a:srgbClr val="58595B"/>
                          </a:solidFill>
                          <a:latin typeface="Calibri" pitchFamily="34" charset="0"/>
                          <a:ea typeface="Calibri" pitchFamily="34" charset="-122"/>
                          <a:cs typeface="Calibri" pitchFamily="34" charset="-120"/>
                        </a:rPr>
                        <a:t>Map HR strategic orientations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MP-45.3 </a:t>
                      </a:r>
                      <a:pPr indent="0" marL="0">
                        <a:buNone/>
                      </a:pPr>
                      <a:r>
                        <a:rPr lang="en-US" sz="1000" dirty="0">
                          <a:solidFill>
                            <a:srgbClr val="58595B"/>
                          </a:solidFill>
                          <a:latin typeface="Calibri" pitchFamily="34" charset="0"/>
                          <a:ea typeface="Calibri" pitchFamily="34" charset="-122"/>
                          <a:cs typeface="Calibri" pitchFamily="34" charset="-120"/>
                        </a:rPr>
                        <a:t>Align training with GPEC</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Mehdi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HR orientations: internal mobility first; 30% of promotions from internal talent.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UFT-26-03
</a:t>
                      </a:r>
                      <a:pPr indent="0" marL="0">
                        <a:buNone/>
                      </a:pPr>
                      <a:r>
                        <a:rPr lang="en-US" sz="1000" b="1" dirty="0">
                          <a:solidFill>
                            <a:srgbClr val="3A3A3C"/>
                          </a:solidFill>
                          <a:latin typeface="Calibri" pitchFamily="34" charset="0"/>
                          <a:ea typeface="Calibri" pitchFamily="34" charset="-122"/>
                          <a:cs typeface="Calibri" pitchFamily="34" charset="-120"/>
                        </a:rPr>
                        <a:t>Update development foundation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MP-45.4 </a:t>
                      </a:r>
                      <a:pPr indent="0" marL="0">
                        <a:buNone/>
                      </a:pPr>
                      <a:r>
                        <a:rPr lang="en-US" sz="1000" dirty="0">
                          <a:solidFill>
                            <a:srgbClr val="58595B"/>
                          </a:solidFill>
                          <a:latin typeface="Calibri" pitchFamily="34" charset="0"/>
                          <a:ea typeface="Calibri" pitchFamily="34" charset="-122"/>
                          <a:cs typeface="Calibri" pitchFamily="34" charset="-120"/>
                        </a:rPr>
                        <a:t>Update development foundation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MP-45.5 </a:t>
                      </a:r>
                      <a:pPr indent="0" marL="0">
                        <a:buNone/>
                      </a:pPr>
                      <a:r>
                        <a:rPr lang="en-US" sz="1000" dirty="0">
                          <a:solidFill>
                            <a:srgbClr val="58595B"/>
                          </a:solidFill>
                          <a:latin typeface="Calibri" pitchFamily="34" charset="0"/>
                          <a:ea typeface="Calibri" pitchFamily="34" charset="-122"/>
                          <a:cs typeface="Calibri" pitchFamily="34" charset="-120"/>
                        </a:rPr>
                        <a:t>Support human capital development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Development foundation updated: descriptions, annual objectives, evaluation grid.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UFT-26-04
</a:t>
                      </a:r>
                      <a:pPr indent="0" marL="0">
                        <a:buNone/>
                      </a:pPr>
                      <a:r>
                        <a:rPr lang="en-US" sz="1000" b="1" dirty="0">
                          <a:solidFill>
                            <a:srgbClr val="3A3A3C"/>
                          </a:solidFill>
                          <a:latin typeface="Calibri" pitchFamily="34" charset="0"/>
                          <a:ea typeface="Calibri" pitchFamily="34" charset="-122"/>
                          <a:cs typeface="Calibri" pitchFamily="34" charset="-120"/>
                        </a:rPr>
                        <a:t>Update Jobs and Skills Directory (REC)</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MP-45.6 </a:t>
                      </a:r>
                      <a:pPr indent="0" marL="0">
                        <a:buNone/>
                      </a:pPr>
                      <a:r>
                        <a:rPr lang="en-US" sz="1000" dirty="0">
                          <a:solidFill>
                            <a:srgbClr val="58595B"/>
                          </a:solidFill>
                          <a:latin typeface="Calibri" pitchFamily="34" charset="0"/>
                          <a:ea typeface="Calibri" pitchFamily="34" charset="-122"/>
                          <a:cs typeface="Calibri" pitchFamily="34" charset="-120"/>
                        </a:rPr>
                        <a:t>Update Jobs and Skills Directory (REC)</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Tazi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REC updated: 42 jobs, 3 new jobs linked to AI triage and clinical decision support.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UFT-26-05
</a:t>
                      </a:r>
                      <a:pPr indent="0" marL="0">
                        <a:buNone/>
                      </a:pPr>
                      <a:r>
                        <a:rPr lang="en-US" sz="1000" b="1" dirty="0">
                          <a:solidFill>
                            <a:srgbClr val="3A3A3C"/>
                          </a:solidFill>
                          <a:latin typeface="Calibri" pitchFamily="34" charset="0"/>
                          <a:ea typeface="Calibri" pitchFamily="34" charset="-122"/>
                          <a:cs typeface="Calibri" pitchFamily="34" charset="-120"/>
                        </a:rPr>
                        <a:t>Redynamize periodic evaluations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MP-45.7 </a:t>
                      </a:r>
                      <a:pPr indent="0" marL="0">
                        <a:buNone/>
                      </a:pPr>
                      <a:r>
                        <a:rPr lang="en-US" sz="1000" dirty="0">
                          <a:solidFill>
                            <a:srgbClr val="58595B"/>
                          </a:solidFill>
                          <a:latin typeface="Calibri" pitchFamily="34" charset="0"/>
                          <a:ea typeface="Calibri" pitchFamily="34" charset="-122"/>
                          <a:cs typeface="Calibri" pitchFamily="34" charset="-120"/>
                        </a:rPr>
                        <a:t>Redynamize periodic evaluations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Periodic evaluation redesigned: 2 reviews per year, competency section added.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UFT-26-06
</a:t>
                      </a:r>
                      <a:pPr indent="0" marL="0">
                        <a:buNone/>
                      </a:pPr>
                      <a:r>
                        <a:rPr lang="en-US" sz="1000" b="1" dirty="0">
                          <a:solidFill>
                            <a:srgbClr val="3A3A3C"/>
                          </a:solidFill>
                          <a:latin typeface="Calibri" pitchFamily="34" charset="0"/>
                          <a:ea typeface="Calibri" pitchFamily="34" charset="-122"/>
                          <a:cs typeface="Calibri" pitchFamily="34" charset="-120"/>
                        </a:rPr>
                        <a:t>Design career paths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MP-45.8 </a:t>
                      </a:r>
                      <a:pPr indent="0" marL="0">
                        <a:buNone/>
                      </a:pPr>
                      <a:r>
                        <a:rPr lang="en-US" sz="1000" dirty="0">
                          <a:solidFill>
                            <a:srgbClr val="58595B"/>
                          </a:solidFill>
                          <a:latin typeface="Calibri" pitchFamily="34" charset="0"/>
                          <a:ea typeface="Calibri" pitchFamily="34" charset="-122"/>
                          <a:cs typeface="Calibri" pitchFamily="34" charset="-120"/>
                        </a:rPr>
                        <a:t>Design career paths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Mehdi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Career path: operator → team leader → supervisor → Clinical Care &amp; Nursing manager.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26"/>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26-04 Update Jobs and Skills Directory (REC)">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UFT-26-04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E2E-26 · ROOT (HR INTEGRATION)</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GPEC-to-Training Plan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UFT-26-07
</a:t>
                      </a:r>
                      <a:pPr indent="0" marL="0">
                        <a:buNone/>
                      </a:pPr>
                      <a:r>
                        <a:rPr lang="en-US" sz="1000" b="1" dirty="0">
                          <a:solidFill>
                            <a:srgbClr val="3A3A3C"/>
                          </a:solidFill>
                          <a:latin typeface="Calibri" pitchFamily="34" charset="0"/>
                          <a:ea typeface="Calibri" pitchFamily="34" charset="-122"/>
                          <a:cs typeface="Calibri" pitchFamily="34" charset="-120"/>
                        </a:rPr>
                        <a:t>Document career management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MP-45.9 </a:t>
                      </a:r>
                      <a:pPr indent="0" marL="0">
                        <a:buNone/>
                      </a:pPr>
                      <a:r>
                        <a:rPr lang="en-US" sz="1000" dirty="0">
                          <a:solidFill>
                            <a:srgbClr val="58595B"/>
                          </a:solidFill>
                          <a:latin typeface="Calibri" pitchFamily="34" charset="0"/>
                          <a:ea typeface="Calibri" pitchFamily="34" charset="-122"/>
                          <a:cs typeface="Calibri" pitchFamily="34" charset="-120"/>
                        </a:rPr>
                        <a:t>Document career management process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MP-45.10 </a:t>
                      </a:r>
                      <a:pPr indent="0" marL="0">
                        <a:buNone/>
                      </a:pPr>
                      <a:r>
                        <a:rPr lang="en-US" sz="1000" dirty="0">
                          <a:solidFill>
                            <a:srgbClr val="58595B"/>
                          </a:solidFill>
                          <a:latin typeface="Calibri" pitchFamily="34" charset="0"/>
                          <a:ea typeface="Calibri" pitchFamily="34" charset="-122"/>
                          <a:cs typeface="Calibri" pitchFamily="34" charset="-120"/>
                        </a:rPr>
                        <a:t>Implement collective compensation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Mehdi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Career management procedure documented (v1): eligibility, committee, calendar.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UFT-26-08
</a:t>
                      </a:r>
                      <a:pPr indent="0" marL="0">
                        <a:buNone/>
                      </a:pPr>
                      <a:r>
                        <a:rPr lang="en-US" sz="1000" b="1" dirty="0">
                          <a:solidFill>
                            <a:srgbClr val="3A3A3C"/>
                          </a:solidFill>
                          <a:latin typeface="Calibri" pitchFamily="34" charset="0"/>
                          <a:ea typeface="Calibri" pitchFamily="34" charset="-122"/>
                          <a:cs typeface="Calibri" pitchFamily="34" charset="-120"/>
                        </a:rPr>
                        <a:t>Align training with GPEC</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MP-45.11 </a:t>
                      </a:r>
                      <a:pPr indent="0" marL="0">
                        <a:buNone/>
                      </a:pPr>
                      <a:r>
                        <a:rPr lang="en-US" sz="1000" dirty="0">
                          <a:solidFill>
                            <a:srgbClr val="58595B"/>
                          </a:solidFill>
                          <a:latin typeface="Calibri" pitchFamily="34" charset="0"/>
                          <a:ea typeface="Calibri" pitchFamily="34" charset="-122"/>
                          <a:cs typeface="Calibri" pitchFamily="34" charset="-120"/>
                        </a:rPr>
                        <a:t>Feed GPEC into training needs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MP-45.12 </a:t>
                      </a:r>
                      <a:pPr indent="0" marL="0">
                        <a:buNone/>
                      </a:pPr>
                      <a:r>
                        <a:rPr lang="en-US" sz="1000" dirty="0">
                          <a:solidFill>
                            <a:srgbClr val="58595B"/>
                          </a:solidFill>
                          <a:latin typeface="Calibri" pitchFamily="34" charset="0"/>
                          <a:ea typeface="Calibri" pitchFamily="34" charset="-122"/>
                          <a:cs typeface="Calibri" pitchFamily="34" charset="-120"/>
                        </a:rPr>
                        <a:t>Report on GPEC integration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Amine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8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Training aligned with GPEC: 4 themes cover the 3 new jobs; 2 themes removed.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6" name="frame run_E2E-26"/>
          <p:cNvSpPr/>
          <p:nvPr/>
        </p:nvSpPr>
        <p:spPr>
          <a:xfrm>
            <a:off x="2249439" y="2907792"/>
            <a:ext cx="4279362" cy="3136392"/>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26">    </p:cNvPr>
          <p:cNvPicPr>
            <a:picLocks noChangeAspect="1"/>
          </p:cNvPicPr>
          <p:nvPr/>
        </p:nvPicPr>
        <p:blipFill>
          <a:blip r:embed="rId1"/>
          <a:stretch>
            <a:fillRect/>
          </a:stretch>
        </p:blipFill>
        <p:spPr>
          <a:xfrm>
            <a:off x="2304303" y="2962656"/>
            <a:ext cx="4169634" cy="3026664"/>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E2E-26 in CortexSkills: its tasks, owners and due dates, and the process card.</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 processes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MP-45 GPEC &amp; HR Strategic Integration (Forward Planning of Jobs and Skills)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MP-13 Talent &amp; Career Development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MP-04 Training Engineering Report &amp; Roadmap Elaboration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MP-03 Needs Analysis &amp; Diagnosis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MP-18 Financial &amp; Budget Management</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Feeds into</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E2E-03, E2E-30</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Supported by</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E2E-15, 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E2E-27 · ROOT (DEMAND)</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Demand Collection-to-Consolidation</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Collect individual and collective training demands</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Annual training plan cycle or ad-hoc demand collection request.</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Consolidated and prioritized demand repository integrated into the training needs analysis.</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tasks · 12 steps
</a:t>
            </a:r>
            <a:pPr indent="0" marL="0">
              <a:buNone/>
            </a:pPr>
            <a:r>
              <a:rPr lang="en-US" sz="1100" dirty="0">
                <a:solidFill>
                  <a:srgbClr val="3A3A3C"/>
                </a:solidFill>
                <a:latin typeface="Calibri" pitchFamily="34" charset="0"/>
                <a:ea typeface="Calibri" pitchFamily="34" charset="-122"/>
                <a:cs typeface="Calibri" pitchFamily="34" charset="-120"/>
              </a:rPr>
              <a:t>20 days · 2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MP-46 Training Demand Collection &amp; Consolidation · </a:t>
            </a:r>
            <a:pPr indent="0" marL="0">
              <a:buNone/>
            </a:pPr>
            <a:r>
              <a:rPr lang="en-US" sz="1000" dirty="0">
                <a:solidFill>
                  <a:srgbClr val="58595B"/>
                </a:solidFill>
                <a:latin typeface="Calibri" pitchFamily="34" charset="0"/>
                <a:ea typeface="Calibri" pitchFamily="34" charset="-122"/>
                <a:cs typeface="Calibri" pitchFamily="34" charset="-120"/>
              </a:rPr>
              <a:t>MP-03 Needs Analysis &amp; Diagnosis · </a:t>
            </a:r>
            <a:pPr indent="0" marL="0">
              <a:buNone/>
            </a:pPr>
            <a:r>
              <a:rPr lang="en-US" sz="1000" dirty="0">
                <a:solidFill>
                  <a:srgbClr val="58595B"/>
                </a:solidFill>
                <a:latin typeface="Calibri" pitchFamily="34" charset="0"/>
                <a:ea typeface="Calibri" pitchFamily="34" charset="-122"/>
                <a:cs typeface="Calibri" pitchFamily="34" charset="-120"/>
              </a:rPr>
              <a:t>MP-04 Training Engineering Report &amp; Roadmap Elaboration · </a:t>
            </a:r>
            <a:pPr indent="0" marL="0">
              <a:buNone/>
            </a:pPr>
            <a:r>
              <a:rPr lang="en-US" sz="1000" dirty="0">
                <a:solidFill>
                  <a:srgbClr val="58595B"/>
                </a:solidFill>
                <a:latin typeface="Calibri" pitchFamily="34" charset="0"/>
                <a:ea typeface="Calibri" pitchFamily="34" charset="-122"/>
                <a:cs typeface="Calibri" pitchFamily="34" charset="-120"/>
              </a:rPr>
              <a:t>MP-08 Learner Experience &amp; Engagement</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UFT-27-01
</a:t>
                      </a:r>
                      <a:pPr indent="0" marL="0">
                        <a:buNone/>
                      </a:pPr>
                      <a:r>
                        <a:rPr lang="en-US" sz="1000" b="1" dirty="0">
                          <a:solidFill>
                            <a:srgbClr val="3A3A3C"/>
                          </a:solidFill>
                          <a:latin typeface="Calibri" pitchFamily="34" charset="0"/>
                          <a:ea typeface="Calibri" pitchFamily="34" charset="-122"/>
                          <a:cs typeface="Calibri" pitchFamily="34" charset="-120"/>
                        </a:rPr>
                        <a:t>Design demand collection forms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MP-46.1 </a:t>
                      </a:r>
                      <a:pPr indent="0" marL="0">
                        <a:buNone/>
                      </a:pPr>
                      <a:r>
                        <a:rPr lang="en-US" sz="1000" dirty="0">
                          <a:solidFill>
                            <a:srgbClr val="58595B"/>
                          </a:solidFill>
                          <a:latin typeface="Calibri" pitchFamily="34" charset="0"/>
                          <a:ea typeface="Calibri" pitchFamily="34" charset="-122"/>
                          <a:cs typeface="Calibri" pitchFamily="34" charset="-120"/>
                        </a:rPr>
                        <a:t>Design demand collection forms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Forms: individual form (5 questions) and collective form per team (3 questions).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UFT-27-02
</a:t>
                      </a:r>
                      <a:pPr indent="0" marL="0">
                        <a:buNone/>
                      </a:pPr>
                      <a:r>
                        <a:rPr lang="en-US" sz="1000" b="1" dirty="0">
                          <a:solidFill>
                            <a:srgbClr val="3A3A3C"/>
                          </a:solidFill>
                          <a:latin typeface="Calibri" pitchFamily="34" charset="0"/>
                          <a:ea typeface="Calibri" pitchFamily="34" charset="-122"/>
                          <a:cs typeface="Calibri" pitchFamily="34" charset="-120"/>
                        </a:rPr>
                        <a:t>Deploy individual demand collection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MP-46.2 </a:t>
                      </a:r>
                      <a:pPr indent="0" marL="0">
                        <a:buNone/>
                      </a:pPr>
                      <a:r>
                        <a:rPr lang="en-US" sz="1000" dirty="0">
                          <a:solidFill>
                            <a:srgbClr val="58595B"/>
                          </a:solidFill>
                          <a:latin typeface="Calibri" pitchFamily="34" charset="0"/>
                          <a:ea typeface="Calibri" pitchFamily="34" charset="-122"/>
                          <a:cs typeface="Calibri" pitchFamily="34" charset="-120"/>
                        </a:rPr>
                        <a:t>Deploy individual demand collection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Individual collection open 1-20 March; 146 demands received.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UFT-27-03
</a:t>
                      </a:r>
                      <a:pPr indent="0" marL="0">
                        <a:buNone/>
                      </a:pPr>
                      <a:r>
                        <a:rPr lang="en-US" sz="1000" b="1" dirty="0">
                          <a:solidFill>
                            <a:srgbClr val="3A3A3C"/>
                          </a:solidFill>
                          <a:latin typeface="Calibri" pitchFamily="34" charset="0"/>
                          <a:ea typeface="Calibri" pitchFamily="34" charset="-122"/>
                          <a:cs typeface="Calibri" pitchFamily="34" charset="-120"/>
                        </a:rPr>
                        <a:t>Deploy collective demand collection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MP-46.3 </a:t>
                      </a:r>
                      <a:pPr indent="0" marL="0">
                        <a:buNone/>
                      </a:pPr>
                      <a:r>
                        <a:rPr lang="en-US" sz="1000" dirty="0">
                          <a:solidFill>
                            <a:srgbClr val="58595B"/>
                          </a:solidFill>
                          <a:latin typeface="Calibri" pitchFamily="34" charset="0"/>
                          <a:ea typeface="Calibri" pitchFamily="34" charset="-122"/>
                          <a:cs typeface="Calibri" pitchFamily="34" charset="-120"/>
                        </a:rPr>
                        <a:t>Deploy collective demand collection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Collective collection: 18 team demands received.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UFT-27-04
</a:t>
                      </a:r>
                      <a:pPr indent="0" marL="0">
                        <a:buNone/>
                      </a:pPr>
                      <a:r>
                        <a:rPr lang="en-US" sz="1000" b="1" dirty="0">
                          <a:solidFill>
                            <a:srgbClr val="3A3A3C"/>
                          </a:solidFill>
                          <a:latin typeface="Calibri" pitchFamily="34" charset="0"/>
                          <a:ea typeface="Calibri" pitchFamily="34" charset="-122"/>
                          <a:cs typeface="Calibri" pitchFamily="34" charset="-120"/>
                        </a:rPr>
                        <a:t>Collect manager recommendations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MP-46.4 </a:t>
                      </a:r>
                      <a:pPr indent="0" marL="0">
                        <a:buNone/>
                      </a:pPr>
                      <a:r>
                        <a:rPr lang="en-US" sz="1000" dirty="0">
                          <a:solidFill>
                            <a:srgbClr val="58595B"/>
                          </a:solidFill>
                          <a:latin typeface="Calibri" pitchFamily="34" charset="0"/>
                          <a:ea typeface="Calibri" pitchFamily="34" charset="-122"/>
                          <a:cs typeface="Calibri" pitchFamily="34" charset="-120"/>
                        </a:rPr>
                        <a:t>Collect manager recommendations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Manager recommendations: 24 received, 9 flagged as priority.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UFT-27-05
</a:t>
                      </a:r>
                      <a:pPr indent="0" marL="0">
                        <a:buNone/>
                      </a:pPr>
                      <a:r>
                        <a:rPr lang="en-US" sz="1000" b="1" dirty="0">
                          <a:solidFill>
                            <a:srgbClr val="3A3A3C"/>
                          </a:solidFill>
                          <a:latin typeface="Calibri" pitchFamily="34" charset="0"/>
                          <a:ea typeface="Calibri" pitchFamily="34" charset="-122"/>
                          <a:cs typeface="Calibri" pitchFamily="34" charset="-120"/>
                        </a:rPr>
                        <a:t>Consolidate demands by function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MP-46.5 </a:t>
                      </a:r>
                      <a:pPr indent="0" marL="0">
                        <a:buNone/>
                      </a:pPr>
                      <a:r>
                        <a:rPr lang="en-US" sz="1000" dirty="0">
                          <a:solidFill>
                            <a:srgbClr val="58595B"/>
                          </a:solidFill>
                          <a:latin typeface="Calibri" pitchFamily="34" charset="0"/>
                          <a:ea typeface="Calibri" pitchFamily="34" charset="-122"/>
                          <a:cs typeface="Calibri" pitchFamily="34" charset="-120"/>
                        </a:rPr>
                        <a:t>Consolidate demands by function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Consolidated: Clinical Care &amp; Nursing 64 demands, Operations 41, Quality 22, others 37.</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27"/>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27-05 Consolidate demands by function">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UFT-27-05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E2E-27 · ROOT (DEMAND)</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Demand Collection-to-Consolidation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UFT-27-06
</a:t>
                      </a:r>
                      <a:pPr indent="0" marL="0">
                        <a:buNone/>
                      </a:pPr>
                      <a:r>
                        <a:rPr lang="en-US" sz="1000" b="1" dirty="0">
                          <a:solidFill>
                            <a:srgbClr val="3A3A3C"/>
                          </a:solidFill>
                          <a:latin typeface="Calibri" pitchFamily="34" charset="0"/>
                          <a:ea typeface="Calibri" pitchFamily="34" charset="-122"/>
                          <a:cs typeface="Calibri" pitchFamily="34" charset="-120"/>
                        </a:rPr>
                        <a:t>Map demands to competencies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MP-46.6 </a:t>
                      </a:r>
                      <a:pPr indent="0" marL="0">
                        <a:buNone/>
                      </a:pPr>
                      <a:r>
                        <a:rPr lang="en-US" sz="1000" dirty="0">
                          <a:solidFill>
                            <a:srgbClr val="58595B"/>
                          </a:solidFill>
                          <a:latin typeface="Calibri" pitchFamily="34" charset="0"/>
                          <a:ea typeface="Calibri" pitchFamily="34" charset="-122"/>
                          <a:cs typeface="Calibri" pitchFamily="34" charset="-120"/>
                        </a:rPr>
                        <a:t>Map demands to competencies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MP-46.7 </a:t>
                      </a:r>
                      <a:pPr indent="0" marL="0">
                        <a:buNone/>
                      </a:pPr>
                      <a:r>
                        <a:rPr lang="en-US" sz="1000" dirty="0">
                          <a:solidFill>
                            <a:srgbClr val="58595B"/>
                          </a:solidFill>
                          <a:latin typeface="Calibri" pitchFamily="34" charset="0"/>
                          <a:ea typeface="Calibri" pitchFamily="34" charset="-122"/>
                          <a:cs typeface="Calibri" pitchFamily="34" charset="-120"/>
                        </a:rPr>
                        <a:t>Prioritize demands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Accept AI mapping for 139 demands; map 7 manually to 'AI medical imaging assistance'.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UFT-27-07
</a:t>
                      </a:r>
                      <a:pPr indent="0" marL="0">
                        <a:buNone/>
                      </a:pPr>
                      <a:r>
                        <a:rPr lang="en-US" sz="1000" b="1" dirty="0">
                          <a:solidFill>
                            <a:srgbClr val="3A3A3C"/>
                          </a:solidFill>
                          <a:latin typeface="Calibri" pitchFamily="34" charset="0"/>
                          <a:ea typeface="Calibri" pitchFamily="34" charset="-122"/>
                          <a:cs typeface="Calibri" pitchFamily="34" charset="-120"/>
                        </a:rPr>
                        <a:t>Prioritize and validate demands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MP-46.8 </a:t>
                      </a:r>
                      <a:pPr indent="0" marL="0">
                        <a:buNone/>
                      </a:pPr>
                      <a:r>
                        <a:rPr lang="en-US" sz="1000" dirty="0">
                          <a:solidFill>
                            <a:srgbClr val="58595B"/>
                          </a:solidFill>
                          <a:latin typeface="Calibri" pitchFamily="34" charset="0"/>
                          <a:ea typeface="Calibri" pitchFamily="34" charset="-122"/>
                          <a:cs typeface="Calibri" pitchFamily="34" charset="-120"/>
                        </a:rPr>
                        <a:t>Validate demands with managers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MP-46.9 </a:t>
                      </a:r>
                      <a:pPr indent="0" marL="0">
                        <a:buNone/>
                      </a:pPr>
                      <a:r>
                        <a:rPr lang="en-US" sz="1000" dirty="0">
                          <a:solidFill>
                            <a:srgbClr val="58595B"/>
                          </a:solidFill>
                          <a:latin typeface="Calibri" pitchFamily="34" charset="0"/>
                          <a:ea typeface="Calibri" pitchFamily="34" charset="-122"/>
                          <a:cs typeface="Calibri" pitchFamily="34" charset="-120"/>
                        </a:rPr>
                        <a:t>Integrate demands into needs analysis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MP-46.10 </a:t>
                      </a:r>
                      <a:pPr indent="0" marL="0">
                        <a:buNone/>
                      </a:pPr>
                      <a:r>
                        <a:rPr lang="en-US" sz="1000" dirty="0">
                          <a:solidFill>
                            <a:srgbClr val="58595B"/>
                          </a:solidFill>
                          <a:latin typeface="Calibri" pitchFamily="34" charset="0"/>
                          <a:ea typeface="Calibri" pitchFamily="34" charset="-122"/>
                          <a:cs typeface="Calibri" pitchFamily="34" charset="-120"/>
                        </a:rPr>
                        <a:t>Report on demand patterns</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+ 2 more steps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Validated: 112 demands (High 38, Medium 51, Low 23); 34 rejected with reason.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6" name="frame run_E2E-27"/>
          <p:cNvSpPr/>
          <p:nvPr/>
        </p:nvSpPr>
        <p:spPr>
          <a:xfrm>
            <a:off x="2457291" y="3209544"/>
            <a:ext cx="3863659" cy="2834640"/>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27">    </p:cNvPr>
          <p:cNvPicPr>
            <a:picLocks noChangeAspect="1"/>
          </p:cNvPicPr>
          <p:nvPr/>
        </p:nvPicPr>
        <p:blipFill>
          <a:blip r:embed="rId1"/>
          <a:stretch>
            <a:fillRect/>
          </a:stretch>
        </p:blipFill>
        <p:spPr>
          <a:xfrm>
            <a:off x="2512155" y="3264408"/>
            <a:ext cx="3753931" cy="2724912"/>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E2E-27 in CortexSkills: its tasks, owners and due dates, and the process card.</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 processes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MP-46 Training Demand Collection &amp; Consolidation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MP-03 Needs Analysis &amp; Diagnosis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MP-04 Training Engineering Report &amp; Roadmap Elaboration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MP-08 Learner Experience &amp; Engagement</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Feeds into</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E2E-03, E2E-30</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Supported by</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E2E-28 · ROOT (PERFORMANCE)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Performance Assessment-to-RAG Dashboard</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Assess MS/MO/OP performance with RAG ratings</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Annual performance cycle or management request for performance visualization.</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Validated MS/MO/OP (Strategic Management / Operational Management / Operational Level) performance assessment with RAG (Green/Amber/Red) dashboards.</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tasks · 12 steps
</a:t>
            </a:r>
            <a:pPr indent="0" marL="0">
              <a:buNone/>
            </a:pPr>
            <a:r>
              <a:rPr lang="en-US" sz="1100" dirty="0">
                <a:solidFill>
                  <a:srgbClr val="3A3A3C"/>
                </a:solidFill>
                <a:latin typeface="Calibri" pitchFamily="34" charset="0"/>
                <a:ea typeface="Calibri" pitchFamily="34" charset="-122"/>
                <a:cs typeface="Calibri" pitchFamily="34" charset="-120"/>
              </a:rPr>
              <a:t>20 days · 1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MP-47 Performance Level Assessment &amp; Visualization (MS/MO/OP) · </a:t>
            </a:r>
            <a:pPr indent="0" marL="0">
              <a:buNone/>
            </a:pPr>
            <a:r>
              <a:rPr lang="en-US" sz="1000" dirty="0">
                <a:solidFill>
                  <a:srgbClr val="58595B"/>
                </a:solidFill>
                <a:latin typeface="Calibri" pitchFamily="34" charset="0"/>
                <a:ea typeface="Calibri" pitchFamily="34" charset="-122"/>
                <a:cs typeface="Calibri" pitchFamily="34" charset="-120"/>
              </a:rPr>
              <a:t>MP-10 Reporting &amp; Analytics · </a:t>
            </a:r>
            <a:pPr indent="0" marL="0">
              <a:buNone/>
            </a:pPr>
            <a:r>
              <a:rPr lang="en-US" sz="1000" dirty="0">
                <a:solidFill>
                  <a:srgbClr val="58595B"/>
                </a:solidFill>
                <a:latin typeface="Calibri" pitchFamily="34" charset="0"/>
                <a:ea typeface="Calibri" pitchFamily="34" charset="-122"/>
                <a:cs typeface="Calibri" pitchFamily="34" charset="-120"/>
              </a:rPr>
              <a:t>MP-37 Multi-Axis Organizational Diagnostic · </a:t>
            </a:r>
            <a:pPr indent="0" marL="0">
              <a:buNone/>
            </a:pPr>
            <a:r>
              <a:rPr lang="en-US" sz="1000" dirty="0">
                <a:solidFill>
                  <a:srgbClr val="58595B"/>
                </a:solidFill>
                <a:latin typeface="Calibri" pitchFamily="34" charset="0"/>
                <a:ea typeface="Calibri" pitchFamily="34" charset="-122"/>
                <a:cs typeface="Calibri" pitchFamily="34" charset="-120"/>
              </a:rPr>
              <a:t>MP-04 Training Engineering Report &amp; Roadmap Elaboration</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UFT-28-01
</a:t>
                      </a:r>
                      <a:pPr indent="0" marL="0">
                        <a:buNone/>
                      </a:pPr>
                      <a:r>
                        <a:rPr lang="en-US" sz="1000" b="1" dirty="0">
                          <a:solidFill>
                            <a:srgbClr val="3A3A3C"/>
                          </a:solidFill>
                          <a:latin typeface="Calibri" pitchFamily="34" charset="0"/>
                          <a:ea typeface="Calibri" pitchFamily="34" charset="-122"/>
                          <a:cs typeface="Calibri" pitchFamily="34" charset="-120"/>
                        </a:rPr>
                        <a:t>Define MS/MO/OP framework</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MP-47.1 </a:t>
                      </a:r>
                      <a:pPr indent="0" marL="0">
                        <a:buNone/>
                      </a:pPr>
                      <a:r>
                        <a:rPr lang="en-US" sz="1000" dirty="0">
                          <a:solidFill>
                            <a:srgbClr val="58595B"/>
                          </a:solidFill>
                          <a:latin typeface="Calibri" pitchFamily="34" charset="0"/>
                          <a:ea typeface="Calibri" pitchFamily="34" charset="-122"/>
                          <a:cs typeface="Calibri" pitchFamily="34" charset="-120"/>
                        </a:rPr>
                        <a:t>Define MS/MO/OP framework</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MS = executive committee; MO = managers and supervisors; OP = operators and technicians.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UFT-28-02
</a:t>
                      </a:r>
                      <a:pPr indent="0" marL="0">
                        <a:buNone/>
                      </a:pPr>
                      <a:r>
                        <a:rPr lang="en-US" sz="1000" b="1" dirty="0">
                          <a:solidFill>
                            <a:srgbClr val="3A3A3C"/>
                          </a:solidFill>
                          <a:latin typeface="Calibri" pitchFamily="34" charset="0"/>
                          <a:ea typeface="Calibri" pitchFamily="34" charset="-122"/>
                          <a:cs typeface="Calibri" pitchFamily="34" charset="-120"/>
                        </a:rPr>
                        <a:t>Define RAG criteria</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MP-47.2 </a:t>
                      </a:r>
                      <a:pPr indent="0" marL="0">
                        <a:buNone/>
                      </a:pPr>
                      <a:r>
                        <a:rPr lang="en-US" sz="1000" dirty="0">
                          <a:solidFill>
                            <a:srgbClr val="58595B"/>
                          </a:solidFill>
                          <a:latin typeface="Calibri" pitchFamily="34" charset="0"/>
                          <a:ea typeface="Calibri" pitchFamily="34" charset="-122"/>
                          <a:cs typeface="Calibri" pitchFamily="34" charset="-120"/>
                        </a:rPr>
                        <a:t>Define RAG criteria</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Green ≥ 90% of target; Amber 70-89%; Red &lt; 70%.</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UFT-28-03
</a:t>
                      </a:r>
                      <a:pPr indent="0" marL="0">
                        <a:buNone/>
                      </a:pPr>
                      <a:r>
                        <a:rPr lang="en-US" sz="1000" b="1" dirty="0">
                          <a:solidFill>
                            <a:srgbClr val="3A3A3C"/>
                          </a:solidFill>
                          <a:latin typeface="Calibri" pitchFamily="34" charset="0"/>
                          <a:ea typeface="Calibri" pitchFamily="34" charset="-122"/>
                          <a:cs typeface="Calibri" pitchFamily="34" charset="-120"/>
                        </a:rPr>
                        <a:t>Collect performance data by function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MP-47.3 </a:t>
                      </a:r>
                      <a:pPr indent="0" marL="0">
                        <a:buNone/>
                      </a:pPr>
                      <a:r>
                        <a:rPr lang="en-US" sz="1000" dirty="0">
                          <a:solidFill>
                            <a:srgbClr val="58595B"/>
                          </a:solidFill>
                          <a:latin typeface="Calibri" pitchFamily="34" charset="0"/>
                          <a:ea typeface="Calibri" pitchFamily="34" charset="-122"/>
                          <a:cs typeface="Calibri" pitchFamily="34" charset="-120"/>
                        </a:rPr>
                        <a:t>Collect performance data by function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Data collected for 6 functions: 18 KPIs, last 12 months.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UFT-28-04
</a:t>
                      </a:r>
                      <a:pPr indent="0" marL="0">
                        <a:buNone/>
                      </a:pPr>
                      <a:r>
                        <a:rPr lang="en-US" sz="1000" b="1" dirty="0">
                          <a:solidFill>
                            <a:srgbClr val="3A3A3C"/>
                          </a:solidFill>
                          <a:latin typeface="Calibri" pitchFamily="34" charset="0"/>
                          <a:ea typeface="Calibri" pitchFamily="34" charset="-122"/>
                          <a:cs typeface="Calibri" pitchFamily="34" charset="-120"/>
                        </a:rPr>
                        <a:t>Assess MS performance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MP-47.4 </a:t>
                      </a:r>
                      <a:pPr indent="0" marL="0">
                        <a:buNone/>
                      </a:pPr>
                      <a:r>
                        <a:rPr lang="en-US" sz="1000" dirty="0">
                          <a:solidFill>
                            <a:srgbClr val="58595B"/>
                          </a:solidFill>
                          <a:latin typeface="Calibri" pitchFamily="34" charset="0"/>
                          <a:ea typeface="Calibri" pitchFamily="34" charset="-122"/>
                          <a:cs typeface="Calibri" pitchFamily="34" charset="-120"/>
                        </a:rPr>
                        <a:t>Assess MS performance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MS: strategy deployment Amber (78%); governance Green (92%).</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UFT-28-05
</a:t>
                      </a:r>
                      <a:pPr indent="0" marL="0">
                        <a:buNone/>
                      </a:pPr>
                      <a:r>
                        <a:rPr lang="en-US" sz="1000" b="1" dirty="0">
                          <a:solidFill>
                            <a:srgbClr val="3A3A3C"/>
                          </a:solidFill>
                          <a:latin typeface="Calibri" pitchFamily="34" charset="0"/>
                          <a:ea typeface="Calibri" pitchFamily="34" charset="-122"/>
                          <a:cs typeface="Calibri" pitchFamily="34" charset="-120"/>
                        </a:rPr>
                        <a:t>Assess MO performance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MP-47.5 </a:t>
                      </a:r>
                      <a:pPr indent="0" marL="0">
                        <a:buNone/>
                      </a:pPr>
                      <a:r>
                        <a:rPr lang="en-US" sz="1000" dirty="0">
                          <a:solidFill>
                            <a:srgbClr val="58595B"/>
                          </a:solidFill>
                          <a:latin typeface="Calibri" pitchFamily="34" charset="0"/>
                          <a:ea typeface="Calibri" pitchFamily="34" charset="-122"/>
                          <a:cs typeface="Calibri" pitchFamily="34" charset="-120"/>
                        </a:rPr>
                        <a:t>Assess MO performance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MO: Clinical Care &amp; Nursing team management Red (64%); planning Amber (81%).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UFT-28-06
</a:t>
                      </a:r>
                      <a:pPr indent="0" marL="0">
                        <a:buNone/>
                      </a:pPr>
                      <a:r>
                        <a:rPr lang="en-US" sz="1000" b="1" dirty="0">
                          <a:solidFill>
                            <a:srgbClr val="3A3A3C"/>
                          </a:solidFill>
                          <a:latin typeface="Calibri" pitchFamily="34" charset="0"/>
                          <a:ea typeface="Calibri" pitchFamily="34" charset="-122"/>
                          <a:cs typeface="Calibri" pitchFamily="34" charset="-120"/>
                        </a:rPr>
                        <a:t>Assess OP performance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MP-47.6 </a:t>
                      </a:r>
                      <a:pPr indent="0" marL="0">
                        <a:buNone/>
                      </a:pPr>
                      <a:r>
                        <a:rPr lang="en-US" sz="1000" dirty="0">
                          <a:solidFill>
                            <a:srgbClr val="58595B"/>
                          </a:solidFill>
                          <a:latin typeface="Calibri" pitchFamily="34" charset="0"/>
                          <a:ea typeface="Calibri" pitchFamily="34" charset="-122"/>
                          <a:cs typeface="Calibri" pitchFamily="34" charset="-120"/>
                        </a:rPr>
                        <a:t>Assess OP performance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MP-47.7 </a:t>
                      </a:r>
                      <a:pPr indent="0" marL="0">
                        <a:buNone/>
                      </a:pPr>
                      <a:r>
                        <a:rPr lang="en-US" sz="1000" dirty="0">
                          <a:solidFill>
                            <a:srgbClr val="58595B"/>
                          </a:solidFill>
                          <a:latin typeface="Calibri" pitchFamily="34" charset="0"/>
                          <a:ea typeface="Calibri" pitchFamily="34" charset="-122"/>
                          <a:cs typeface="Calibri" pitchFamily="34" charset="-120"/>
                        </a:rPr>
                        <a:t>Apply RAG ratings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OP: ISO 7101 compliance Amber (85%); productivity Green (93%).</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28"/>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28-01 Define MS/MO/OP framework">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UFT-28-01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E2E-28 · ROOT (PERFORMANCE)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Performance Assessment-to-RAG Dashboard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UFT-28-07
</a:t>
                      </a:r>
                      <a:pPr indent="0" marL="0">
                        <a:buNone/>
                      </a:pPr>
                      <a:r>
                        <a:rPr lang="en-US" sz="1000" b="1" dirty="0">
                          <a:solidFill>
                            <a:srgbClr val="3A3A3C"/>
                          </a:solidFill>
                          <a:latin typeface="Calibri" pitchFamily="34" charset="0"/>
                          <a:ea typeface="Calibri" pitchFamily="34" charset="-122"/>
                          <a:cs typeface="Calibri" pitchFamily="34" charset="-120"/>
                        </a:rPr>
                        <a:t>Publish RAG dashboard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MP-47.8 </a:t>
                      </a:r>
                      <a:pPr indent="0" marL="0">
                        <a:buNone/>
                      </a:pPr>
                      <a:r>
                        <a:rPr lang="en-US" sz="1000" dirty="0">
                          <a:solidFill>
                            <a:srgbClr val="58595B"/>
                          </a:solidFill>
                          <a:latin typeface="Calibri" pitchFamily="34" charset="0"/>
                          <a:ea typeface="Calibri" pitchFamily="34" charset="-122"/>
                          <a:cs typeface="Calibri" pitchFamily="34" charset="-120"/>
                        </a:rPr>
                        <a:t>Visualize performance dashboards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MP-47.9 </a:t>
                      </a:r>
                      <a:pPr indent="0" marL="0">
                        <a:buNone/>
                      </a:pPr>
                      <a:r>
                        <a:rPr lang="en-US" sz="1000" dirty="0">
                          <a:solidFill>
                            <a:srgbClr val="58595B"/>
                          </a:solidFill>
                          <a:latin typeface="Calibri" pitchFamily="34" charset="0"/>
                          <a:ea typeface="Calibri" pitchFamily="34" charset="-122"/>
                          <a:cs typeface="Calibri" pitchFamily="34" charset="-120"/>
                        </a:rPr>
                        <a:t>Identify performance gaps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MP-47.10 </a:t>
                      </a:r>
                      <a:pPr indent="0" marL="0">
                        <a:buNone/>
                      </a:pPr>
                      <a:r>
                        <a:rPr lang="en-US" sz="1000" dirty="0">
                          <a:solidFill>
                            <a:srgbClr val="58595B"/>
                          </a:solidFill>
                          <a:latin typeface="Calibri" pitchFamily="34" charset="0"/>
                          <a:ea typeface="Calibri" pitchFamily="34" charset="-122"/>
                          <a:cs typeface="Calibri" pitchFamily="34" charset="-120"/>
                        </a:rPr>
                        <a:t>Feed performance into diagnostic report</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+ 2 more steps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Publish RPT-005 MS/MO/OP RAG dashboard to the executive committee.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28"/>
          <p:cNvSpPr/>
          <p:nvPr/>
        </p:nvSpPr>
        <p:spPr>
          <a:xfrm>
            <a:off x="2091975" y="2679192"/>
            <a:ext cx="4594289" cy="3364992"/>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28">    </p:cNvPr>
          <p:cNvPicPr>
            <a:picLocks noChangeAspect="1"/>
          </p:cNvPicPr>
          <p:nvPr/>
        </p:nvPicPr>
        <p:blipFill>
          <a:blip r:embed="rId1"/>
          <a:stretch>
            <a:fillRect/>
          </a:stretch>
        </p:blipFill>
        <p:spPr>
          <a:xfrm>
            <a:off x="2146839" y="2734056"/>
            <a:ext cx="4484561" cy="3255264"/>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E2E-28 in CortexSkills: its tasks, owners and due dates, and the process card.</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 processes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MP-47 Performance Level Assessment &amp; Visualization (MS/MO/OP)</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MP-10 Reporting &amp; Analytics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MP-37 Multi-Axis Organizational Diagnostic</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MP-04 Training Engineering Report &amp; Roadmap Elaboration</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Feeds into</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E2E-20, E2E-29</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Supported by</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E2E-15, 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E2E-29 · ROOT (DIAGNOSTIC)</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Functional SWOT-to-Improvement Axes</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Conduct function-level SWOT and define improvement axes</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Diagnostic phase of a training engineering engagement or annual functional review.</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Validated functional SWOT reports with prioritized improvement axes per function.</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tasks · 12 steps
</a:t>
            </a:r>
            <a:pPr indent="0" marL="0">
              <a:buNone/>
            </a:pPr>
            <a:r>
              <a:rPr lang="en-US" sz="1100" dirty="0">
                <a:solidFill>
                  <a:srgbClr val="3A3A3C"/>
                </a:solidFill>
                <a:latin typeface="Calibri" pitchFamily="34" charset="0"/>
                <a:ea typeface="Calibri" pitchFamily="34" charset="-122"/>
                <a:cs typeface="Calibri" pitchFamily="34" charset="-120"/>
              </a:rPr>
              <a:t>20 days · 3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MP-48 Functional SWOT &amp; Improvement Axes Analysis · </a:t>
            </a:r>
            <a:pPr indent="0" marL="0">
              <a:buNone/>
            </a:pPr>
            <a:r>
              <a:rPr lang="en-US" sz="1000" dirty="0">
                <a:solidFill>
                  <a:srgbClr val="58595B"/>
                </a:solidFill>
                <a:latin typeface="Calibri" pitchFamily="34" charset="0"/>
                <a:ea typeface="Calibri" pitchFamily="34" charset="-122"/>
                <a:cs typeface="Calibri" pitchFamily="34" charset="-120"/>
              </a:rPr>
              <a:t>MP-37 Multi-Axis Organizational Diagnostic · </a:t>
            </a:r>
            <a:pPr indent="0" marL="0">
              <a:buNone/>
            </a:pPr>
            <a:r>
              <a:rPr lang="en-US" sz="1000" dirty="0">
                <a:solidFill>
                  <a:srgbClr val="58595B"/>
                </a:solidFill>
                <a:latin typeface="Calibri" pitchFamily="34" charset="0"/>
                <a:ea typeface="Calibri" pitchFamily="34" charset="-122"/>
                <a:cs typeface="Calibri" pitchFamily="34" charset="-120"/>
              </a:rPr>
              <a:t>MP-04 Training Engineering Report &amp; Roadmap Elaboration · </a:t>
            </a:r>
            <a:pPr indent="0" marL="0">
              <a:buNone/>
            </a:pPr>
            <a:r>
              <a:rPr lang="en-US" sz="1000" dirty="0">
                <a:solidFill>
                  <a:srgbClr val="58595B"/>
                </a:solidFill>
                <a:latin typeface="Calibri" pitchFamily="34" charset="0"/>
                <a:ea typeface="Calibri" pitchFamily="34" charset="-122"/>
                <a:cs typeface="Calibri" pitchFamily="34" charset="-120"/>
              </a:rPr>
              <a:t>MP-20 Quality, Risk &amp; Continuous Improvement</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UFT-29-01
</a:t>
                      </a:r>
                      <a:pPr indent="0" marL="0">
                        <a:buNone/>
                      </a:pPr>
                      <a:r>
                        <a:rPr lang="en-US" sz="1000" b="1" dirty="0">
                          <a:solidFill>
                            <a:srgbClr val="3A3A3C"/>
                          </a:solidFill>
                          <a:latin typeface="Calibri" pitchFamily="34" charset="0"/>
                          <a:ea typeface="Calibri" pitchFamily="34" charset="-122"/>
                          <a:cs typeface="Calibri" pitchFamily="34" charset="-120"/>
                        </a:rPr>
                        <a:t>Define function scope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MP-48.1 </a:t>
                      </a:r>
                      <a:pPr indent="0" marL="0">
                        <a:buNone/>
                      </a:pPr>
                      <a:r>
                        <a:rPr lang="en-US" sz="1000" dirty="0">
                          <a:solidFill>
                            <a:srgbClr val="58595B"/>
                          </a:solidFill>
                          <a:latin typeface="Calibri" pitchFamily="34" charset="0"/>
                          <a:ea typeface="Calibri" pitchFamily="34" charset="-122"/>
                          <a:cs typeface="Calibri" pitchFamily="34" charset="-120"/>
                        </a:rPr>
                        <a:t>Define function scope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Function in scope: Clinical Care &amp; Nursing (3 sites, 96 people).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UFT-29-02
</a:t>
                      </a:r>
                      <a:pPr indent="0" marL="0">
                        <a:buNone/>
                      </a:pPr>
                      <a:r>
                        <a:rPr lang="en-US" sz="1000" b="1" dirty="0">
                          <a:solidFill>
                            <a:srgbClr val="3A3A3C"/>
                          </a:solidFill>
                          <a:latin typeface="Calibri" pitchFamily="34" charset="0"/>
                          <a:ea typeface="Calibri" pitchFamily="34" charset="-122"/>
                          <a:cs typeface="Calibri" pitchFamily="34" charset="-120"/>
                        </a:rPr>
                        <a:t>Conduct function SWOT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MP-48.2 </a:t>
                      </a:r>
                      <a:pPr indent="0" marL="0">
                        <a:buNone/>
                      </a:pPr>
                      <a:r>
                        <a:rPr lang="en-US" sz="1000" dirty="0">
                          <a:solidFill>
                            <a:srgbClr val="58595B"/>
                          </a:solidFill>
                          <a:latin typeface="Calibri" pitchFamily="34" charset="0"/>
                          <a:ea typeface="Calibri" pitchFamily="34" charset="-122"/>
                          <a:cs typeface="Calibri" pitchFamily="34" charset="-120"/>
                        </a:rPr>
                        <a:t>Conduct function SWOT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SWOT workshop held with the function head and 6 supervisors.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UFT-29-03
</a:t>
                      </a:r>
                      <a:pPr indent="0" marL="0">
                        <a:buNone/>
                      </a:pPr>
                      <a:r>
                        <a:rPr lang="en-US" sz="1000" b="1" dirty="0">
                          <a:solidFill>
                            <a:srgbClr val="3A3A3C"/>
                          </a:solidFill>
                          <a:latin typeface="Calibri" pitchFamily="34" charset="0"/>
                          <a:ea typeface="Calibri" pitchFamily="34" charset="-122"/>
                          <a:cs typeface="Calibri" pitchFamily="34" charset="-120"/>
                        </a:rPr>
                        <a:t>Identify strengths and weaknesses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MP-48.3 </a:t>
                      </a:r>
                      <a:pPr indent="0" marL="0">
                        <a:buNone/>
                      </a:pPr>
                      <a:r>
                        <a:rPr lang="en-US" sz="1000" dirty="0">
                          <a:solidFill>
                            <a:srgbClr val="58595B"/>
                          </a:solidFill>
                          <a:latin typeface="Calibri" pitchFamily="34" charset="0"/>
                          <a:ea typeface="Calibri" pitchFamily="34" charset="-122"/>
                          <a:cs typeface="Calibri" pitchFamily="34" charset="-120"/>
                        </a:rPr>
                        <a:t>Identify strengths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MP-48.4 </a:t>
                      </a:r>
                      <a:pPr indent="0" marL="0">
                        <a:buNone/>
                      </a:pPr>
                      <a:r>
                        <a:rPr lang="en-US" sz="1000" dirty="0">
                          <a:solidFill>
                            <a:srgbClr val="58595B"/>
                          </a:solidFill>
                          <a:latin typeface="Calibri" pitchFamily="34" charset="0"/>
                          <a:ea typeface="Calibri" pitchFamily="34" charset="-122"/>
                          <a:cs typeface="Calibri" pitchFamily="34" charset="-120"/>
                        </a:rPr>
                        <a:t>Identify weaknesses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Strength: experienced team. Weakness: low AI triage and clinical decision support usage, paper records.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UFT-29-04
</a:t>
                      </a:r>
                      <a:pPr indent="0" marL="0">
                        <a:buNone/>
                      </a:pPr>
                      <a:r>
                        <a:rPr lang="en-US" sz="1000" b="1" dirty="0">
                          <a:solidFill>
                            <a:srgbClr val="3A3A3C"/>
                          </a:solidFill>
                          <a:latin typeface="Calibri" pitchFamily="34" charset="0"/>
                          <a:ea typeface="Calibri" pitchFamily="34" charset="-122"/>
                          <a:cs typeface="Calibri" pitchFamily="34" charset="-120"/>
                        </a:rPr>
                        <a:t>Identify opportunities and threats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MP-48.5 </a:t>
                      </a:r>
                      <a:pPr indent="0" marL="0">
                        <a:buNone/>
                      </a:pPr>
                      <a:r>
                        <a:rPr lang="en-US" sz="1000" dirty="0">
                          <a:solidFill>
                            <a:srgbClr val="58595B"/>
                          </a:solidFill>
                          <a:latin typeface="Calibri" pitchFamily="34" charset="0"/>
                          <a:ea typeface="Calibri" pitchFamily="34" charset="-122"/>
                          <a:cs typeface="Calibri" pitchFamily="34" charset="-120"/>
                        </a:rPr>
                        <a:t>Identify opportunities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MP-48.6 </a:t>
                      </a:r>
                      <a:pPr indent="0" marL="0">
                        <a:buNone/>
                      </a:pPr>
                      <a:r>
                        <a:rPr lang="en-US" sz="1000" dirty="0">
                          <a:solidFill>
                            <a:srgbClr val="58595B"/>
                          </a:solidFill>
                          <a:latin typeface="Calibri" pitchFamily="34" charset="0"/>
                          <a:ea typeface="Calibri" pitchFamily="34" charset="-122"/>
                          <a:cs typeface="Calibri" pitchFamily="34" charset="-120"/>
                        </a:rPr>
                        <a:t>Identify threats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Opportunity: AI bed and staff capacity planning. Threat: stricter ISO 7101 audits.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UFT-29-05
</a:t>
                      </a:r>
                      <a:pPr indent="0" marL="0">
                        <a:buNone/>
                      </a:pPr>
                      <a:r>
                        <a:rPr lang="en-US" sz="1000" b="1" dirty="0">
                          <a:solidFill>
                            <a:srgbClr val="3A3A3C"/>
                          </a:solidFill>
                          <a:latin typeface="Calibri" pitchFamily="34" charset="0"/>
                          <a:ea typeface="Calibri" pitchFamily="34" charset="-122"/>
                          <a:cs typeface="Calibri" pitchFamily="34" charset="-120"/>
                        </a:rPr>
                        <a:t>Define improvement axes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MP-48.7 </a:t>
                      </a:r>
                      <a:pPr indent="0" marL="0">
                        <a:buNone/>
                      </a:pPr>
                      <a:r>
                        <a:rPr lang="en-US" sz="1000" dirty="0">
                          <a:solidFill>
                            <a:srgbClr val="58595B"/>
                          </a:solidFill>
                          <a:latin typeface="Calibri" pitchFamily="34" charset="0"/>
                          <a:ea typeface="Calibri" pitchFamily="34" charset="-122"/>
                          <a:cs typeface="Calibri" pitchFamily="34" charset="-120"/>
                        </a:rPr>
                        <a:t>Define improvement axes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Axis 1: digitalise shift records with AI triage and clinical decision support. Axis 2: certify supervisors on ISO 7101.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UFT-29-06
</a:t>
                      </a:r>
                      <a:pPr indent="0" marL="0">
                        <a:buNone/>
                      </a:pPr>
                      <a:r>
                        <a:rPr lang="en-US" sz="1000" b="1" dirty="0">
                          <a:solidFill>
                            <a:srgbClr val="3A3A3C"/>
                          </a:solidFill>
                          <a:latin typeface="Calibri" pitchFamily="34" charset="0"/>
                          <a:ea typeface="Calibri" pitchFamily="34" charset="-122"/>
                          <a:cs typeface="Calibri" pitchFamily="34" charset="-120"/>
                        </a:rPr>
                        <a:t>Validate with function heads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MP-48.8 </a:t>
                      </a:r>
                      <a:pPr indent="0" marL="0">
                        <a:buNone/>
                      </a:pPr>
                      <a:r>
                        <a:rPr lang="en-US" sz="1000" dirty="0">
                          <a:solidFill>
                            <a:srgbClr val="58595B"/>
                          </a:solidFill>
                          <a:latin typeface="Calibri" pitchFamily="34" charset="0"/>
                          <a:ea typeface="Calibri" pitchFamily="34" charset="-122"/>
                          <a:cs typeface="Calibri" pitchFamily="34" charset="-120"/>
                        </a:rPr>
                        <a:t>Validate axes with function heads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Validated by the function head on 18 April; axis 2 deadline moved to Q3.</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29"/>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29-05 Define improvement axe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UFT-29-05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E2E-29 · ROOT (DIAGNOSTIC)</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Functional SWOT-to-Improvement Axes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UFT-29-07
</a:t>
                      </a:r>
                      <a:pPr indent="0" marL="0">
                        <a:buNone/>
                      </a:pPr>
                      <a:r>
                        <a:rPr lang="en-US" sz="1000" b="1" dirty="0">
                          <a:solidFill>
                            <a:srgbClr val="3A3A3C"/>
                          </a:solidFill>
                          <a:latin typeface="Calibri" pitchFamily="34" charset="0"/>
                          <a:ea typeface="Calibri" pitchFamily="34" charset="-122"/>
                          <a:cs typeface="Calibri" pitchFamily="34" charset="-120"/>
                        </a:rPr>
                        <a:t>Prioritize improvement axes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MP-48.9 </a:t>
                      </a:r>
                      <a:pPr indent="0" marL="0">
                        <a:buNone/>
                      </a:pPr>
                      <a:r>
                        <a:rPr lang="en-US" sz="1000" dirty="0">
                          <a:solidFill>
                            <a:srgbClr val="58595B"/>
                          </a:solidFill>
                          <a:latin typeface="Calibri" pitchFamily="34" charset="0"/>
                          <a:ea typeface="Calibri" pitchFamily="34" charset="-122"/>
                          <a:cs typeface="Calibri" pitchFamily="34" charset="-120"/>
                        </a:rPr>
                        <a:t>Prioritize improvement axes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MP-48.10 </a:t>
                      </a:r>
                      <a:pPr indent="0" marL="0">
                        <a:buNone/>
                      </a:pPr>
                      <a:r>
                        <a:rPr lang="en-US" sz="1000" dirty="0">
                          <a:solidFill>
                            <a:srgbClr val="58595B"/>
                          </a:solidFill>
                          <a:latin typeface="Calibri" pitchFamily="34" charset="0"/>
                          <a:ea typeface="Calibri" pitchFamily="34" charset="-122"/>
                          <a:cs typeface="Calibri" pitchFamily="34" charset="-120"/>
                        </a:rPr>
                        <a:t>Feed SWOT into diagnostic report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MP-48.11 </a:t>
                      </a:r>
                      <a:pPr indent="0" marL="0">
                        <a:buNone/>
                      </a:pPr>
                      <a:r>
                        <a:rPr lang="en-US" sz="1000" dirty="0">
                          <a:solidFill>
                            <a:srgbClr val="58595B"/>
                          </a:solidFill>
                          <a:latin typeface="Calibri" pitchFamily="34" charset="0"/>
                          <a:ea typeface="Calibri" pitchFamily="34" charset="-122"/>
                          <a:cs typeface="Calibri" pitchFamily="34" charset="-120"/>
                        </a:rPr>
                        <a:t>Track improvement implementation</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+ 1 more steps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Amine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Priority: axis 1 (impact 5), axis 2 (impact 4).</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29"/>
          <p:cNvSpPr/>
          <p:nvPr/>
        </p:nvSpPr>
        <p:spPr>
          <a:xfrm>
            <a:off x="2192752" y="2825496"/>
            <a:ext cx="4392736" cy="3218688"/>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29">    </p:cNvPr>
          <p:cNvPicPr>
            <a:picLocks noChangeAspect="1"/>
          </p:cNvPicPr>
          <p:nvPr/>
        </p:nvPicPr>
        <p:blipFill>
          <a:blip r:embed="rId1"/>
          <a:stretch>
            <a:fillRect/>
          </a:stretch>
        </p:blipFill>
        <p:spPr>
          <a:xfrm>
            <a:off x="2247616" y="2880360"/>
            <a:ext cx="4283008" cy="3108960"/>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E2E-29 in CortexSkills: its tasks, owners and due dates, and the process card.</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 processes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MP-48 Functional SWOT &amp; Improvement Axes Analysis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MP-37 Multi-Axis Organizational Diagnostic</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MP-04 Training Engineering Report &amp; Roadmap Elaboration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MP-20 Quality, Risk &amp; Continuous Improvement</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Feeds into</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E2E-20, E2E-03</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Supported by</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E2E-02 · PARTITION OF E2E-01</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Skills-to-Gap Diagnosis</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Produce a validated skills gap diagnosis</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Approved annual L&amp;D plan or a scheduled skills assessment campaign.</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Validated skills gap diagnosis released to needs analysis.</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tasks · 11 steps
</a:t>
            </a:r>
            <a:pPr indent="0" marL="0">
              <a:buNone/>
            </a:pPr>
            <a:r>
              <a:rPr lang="en-US" sz="1100" dirty="0">
                <a:solidFill>
                  <a:srgbClr val="3A3A3C"/>
                </a:solidFill>
                <a:latin typeface="Calibri" pitchFamily="34" charset="0"/>
                <a:ea typeface="Calibri" pitchFamily="34" charset="-122"/>
                <a:cs typeface="Calibri" pitchFamily="34" charset="-120"/>
              </a:rPr>
              <a:t>20 days · 4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MP-02 Skills &amp; Competency Management · </a:t>
            </a:r>
            <a:pPr indent="0" marL="0">
              <a:buNone/>
            </a:pPr>
            <a:r>
              <a:rPr lang="en-US" sz="1000" dirty="0">
                <a:solidFill>
                  <a:srgbClr val="58595B"/>
                </a:solidFill>
                <a:latin typeface="Calibri" pitchFamily="34" charset="0"/>
                <a:ea typeface="Calibri" pitchFamily="34" charset="-122"/>
                <a:cs typeface="Calibri" pitchFamily="34" charset="-120"/>
              </a:rPr>
              <a:t>MP-03 Needs Analysis &amp; Diagnosis · </a:t>
            </a:r>
            <a:pPr indent="0" marL="0">
              <a:buNone/>
            </a:pPr>
            <a:r>
              <a:rPr lang="en-US" sz="1000" dirty="0">
                <a:solidFill>
                  <a:srgbClr val="58595B"/>
                </a:solidFill>
                <a:latin typeface="Calibri" pitchFamily="34" charset="0"/>
                <a:ea typeface="Calibri" pitchFamily="34" charset="-122"/>
                <a:cs typeface="Calibri" pitchFamily="34" charset="-120"/>
              </a:rPr>
              <a:t>MP-28 Predictive Learning Analytics &amp; Intelligence</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UFT-02-01
</a:t>
                      </a:r>
                      <a:pPr indent="0" marL="0">
                        <a:buNone/>
                      </a:pPr>
                      <a:r>
                        <a:rPr lang="en-US" sz="1000" b="1" dirty="0">
                          <a:solidFill>
                            <a:srgbClr val="3A3A3C"/>
                          </a:solidFill>
                          <a:latin typeface="Calibri" pitchFamily="34" charset="0"/>
                          <a:ea typeface="Calibri" pitchFamily="34" charset="-122"/>
                          <a:cs typeface="Calibri" pitchFamily="34" charset="-120"/>
                        </a:rPr>
                        <a:t>Maintain competency framework</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MP-02.1 </a:t>
                      </a:r>
                      <a:pPr indent="0" marL="0">
                        <a:buNone/>
                      </a:pPr>
                      <a:r>
                        <a:rPr lang="en-US" sz="1000" dirty="0">
                          <a:solidFill>
                            <a:srgbClr val="58595B"/>
                          </a:solidFill>
                          <a:latin typeface="Calibri" pitchFamily="34" charset="0"/>
                          <a:ea typeface="Calibri" pitchFamily="34" charset="-122"/>
                          <a:cs typeface="Calibri" pitchFamily="34" charset="-120"/>
                        </a:rPr>
                        <a:t>Define competency families and levels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Family 'AI triage and clinical decision support': 4 competencies on the 1-4 scale (Aware, Practitioner, Autonomous, Expert).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UFT-02-02
</a:t>
                      </a:r>
                      <a:pPr indent="0" marL="0">
                        <a:buNone/>
                      </a:pPr>
                      <a:r>
                        <a:rPr lang="en-US" sz="1000" b="1" dirty="0">
                          <a:solidFill>
                            <a:srgbClr val="3A3A3C"/>
                          </a:solidFill>
                          <a:latin typeface="Calibri" pitchFamily="34" charset="0"/>
                          <a:ea typeface="Calibri" pitchFamily="34" charset="-122"/>
                          <a:cs typeface="Calibri" pitchFamily="34" charset="-120"/>
                        </a:rPr>
                        <a:t>Set target levels per position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MP-02.2 </a:t>
                      </a:r>
                      <a:pPr indent="0" marL="0">
                        <a:buNone/>
                      </a:pPr>
                      <a:r>
                        <a:rPr lang="en-US" sz="1000" dirty="0">
                          <a:solidFill>
                            <a:srgbClr val="58595B"/>
                          </a:solidFill>
                          <a:latin typeface="Calibri" pitchFamily="34" charset="0"/>
                          <a:ea typeface="Calibri" pitchFamily="34" charset="-122"/>
                          <a:cs typeface="Calibri" pitchFamily="34" charset="-120"/>
                        </a:rPr>
                        <a:t>Set target levels per position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Clinical Care &amp; Nursing supervisor: AI triage and clinical decision support = 3; ISO 7101 = 3. Clinical Care &amp; Nursing operator: AI triage and clinical decision support = 2.</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UFT-02-03
</a:t>
                      </a:r>
                      <a:pPr indent="0" marL="0">
                        <a:buNone/>
                      </a:pPr>
                      <a:r>
                        <a:rPr lang="en-US" sz="1000" b="1" dirty="0">
                          <a:solidFill>
                            <a:srgbClr val="3A3A3C"/>
                          </a:solidFill>
                          <a:latin typeface="Calibri" pitchFamily="34" charset="0"/>
                          <a:ea typeface="Calibri" pitchFamily="34" charset="-122"/>
                          <a:cs typeface="Calibri" pitchFamily="34" charset="-120"/>
                        </a:rPr>
                        <a:t>Launch assessment campaign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MP-02.3 </a:t>
                      </a:r>
                      <a:pPr indent="0" marL="0">
                        <a:buNone/>
                      </a:pPr>
                      <a:r>
                        <a:rPr lang="en-US" sz="1000" dirty="0">
                          <a:solidFill>
                            <a:srgbClr val="58595B"/>
                          </a:solidFill>
                          <a:latin typeface="Calibri" pitchFamily="34" charset="0"/>
                          <a:ea typeface="Calibri" pitchFamily="34" charset="-122"/>
                          <a:cs typeface="Calibri" pitchFamily="34" charset="-120"/>
                        </a:rPr>
                        <a:t>Launch assessment campaign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Campaign 'Skills 2026': population Clinical Care &amp; Nursing and Operations (212 people), 12 competencies, close date 30 April.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UFT-02-04
</a:t>
                      </a:r>
                      <a:pPr indent="0" marL="0">
                        <a:buNone/>
                      </a:pPr>
                      <a:r>
                        <a:rPr lang="en-US" sz="1000" b="1" dirty="0">
                          <a:solidFill>
                            <a:srgbClr val="3A3A3C"/>
                          </a:solidFill>
                          <a:latin typeface="Calibri" pitchFamily="34" charset="0"/>
                          <a:ea typeface="Calibri" pitchFamily="34" charset="-122"/>
                          <a:cs typeface="Calibri" pitchFamily="34" charset="-120"/>
                        </a:rPr>
                        <a:t>Collect self and manager assessments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MP-02.4 </a:t>
                      </a:r>
                      <a:pPr indent="0" marL="0">
                        <a:buNone/>
                      </a:pPr>
                      <a:r>
                        <a:rPr lang="en-US" sz="1000" dirty="0">
                          <a:solidFill>
                            <a:srgbClr val="58595B"/>
                          </a:solidFill>
                          <a:latin typeface="Calibri" pitchFamily="34" charset="0"/>
                          <a:ea typeface="Calibri" pitchFamily="34" charset="-122"/>
                          <a:cs typeface="Calibri" pitchFamily="34" charset="-120"/>
                        </a:rPr>
                        <a:t>Submit self and manager assessments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MP-02.5 </a:t>
                      </a:r>
                      <a:pPr indent="0" marL="0">
                        <a:buNone/>
                      </a:pPr>
                      <a:r>
                        <a:rPr lang="en-US" sz="1000" dirty="0">
                          <a:solidFill>
                            <a:srgbClr val="58595B"/>
                          </a:solidFill>
                          <a:latin typeface="Calibri" pitchFamily="34" charset="0"/>
                          <a:ea typeface="Calibri" pitchFamily="34" charset="-122"/>
                          <a:cs typeface="Calibri" pitchFamily="34" charset="-120"/>
                        </a:rPr>
                        <a:t>Consolidate assessment results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Self-assessment AI triage and clinical decision support: 2; manager validation: 2 with comment 'needs practice on live cases'.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02"/>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02-07 Compute and forecast gap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UFT-02-07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E2E-02 · PARTITION OF E2E-01</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Skills-to-Gap Diagnosis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UFT-02-05
</a:t>
                      </a:r>
                      <a:pPr indent="0" marL="0">
                        <a:buNone/>
                      </a:pPr>
                      <a:r>
                        <a:rPr lang="en-US" sz="1000" b="1" dirty="0">
                          <a:solidFill>
                            <a:srgbClr val="3A3A3C"/>
                          </a:solidFill>
                          <a:latin typeface="Calibri" pitchFamily="34" charset="0"/>
                          <a:ea typeface="Calibri" pitchFamily="34" charset="-122"/>
                          <a:cs typeface="Calibri" pitchFamily="34" charset="-120"/>
                        </a:rPr>
                        <a:t>Suggest proficiency from evidence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MP-02.6 </a:t>
                      </a:r>
                      <a:pPr indent="0" marL="0">
                        <a:buNone/>
                      </a:pPr>
                      <a:r>
                        <a:rPr lang="en-US" sz="1000" dirty="0">
                          <a:solidFill>
                            <a:srgbClr val="58595B"/>
                          </a:solidFill>
                          <a:latin typeface="Calibri" pitchFamily="34" charset="0"/>
                          <a:ea typeface="Calibri" pitchFamily="34" charset="-122"/>
                          <a:cs typeface="Calibri" pitchFamily="34" charset="-120"/>
                        </a:rPr>
                        <a:t>Suggest proficiency from evidence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Accept 38 suggested levels, edit 4 (evidence too old), reject 1. Every change carries a note.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UFT-02-06
</a:t>
                      </a:r>
                      <a:pPr indent="0" marL="0">
                        <a:buNone/>
                      </a:pPr>
                      <a:r>
                        <a:rPr lang="en-US" sz="1000" b="1" dirty="0">
                          <a:solidFill>
                            <a:srgbClr val="3A3A3C"/>
                          </a:solidFill>
                          <a:latin typeface="Calibri" pitchFamily="34" charset="0"/>
                          <a:ea typeface="Calibri" pitchFamily="34" charset="-122"/>
                          <a:cs typeface="Calibri" pitchFamily="34" charset="-120"/>
                        </a:rPr>
                        <a:t>Validate skills inventory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MP-02.7 </a:t>
                      </a:r>
                      <a:pPr indent="0" marL="0">
                        <a:buNone/>
                      </a:pPr>
                      <a:r>
                        <a:rPr lang="en-US" sz="1000" dirty="0">
                          <a:solidFill>
                            <a:srgbClr val="58595B"/>
                          </a:solidFill>
                          <a:latin typeface="Calibri" pitchFamily="34" charset="0"/>
                          <a:ea typeface="Calibri" pitchFamily="34" charset="-122"/>
                          <a:cs typeface="Calibri" pitchFamily="34" charset="-120"/>
                        </a:rPr>
                        <a:t>Validate skills inventory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Inventory validated: 212 employees, 96% assessments complete. Justification: sample checked by site.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UFT-02-07
</a:t>
                      </a:r>
                      <a:pPr indent="0" marL="0">
                        <a:buNone/>
                      </a:pPr>
                      <a:r>
                        <a:rPr lang="en-US" sz="1000" b="1" dirty="0">
                          <a:solidFill>
                            <a:srgbClr val="3A3A3C"/>
                          </a:solidFill>
                          <a:latin typeface="Calibri" pitchFamily="34" charset="0"/>
                          <a:ea typeface="Calibri" pitchFamily="34" charset="-122"/>
                          <a:cs typeface="Calibri" pitchFamily="34" charset="-120"/>
                        </a:rPr>
                        <a:t>Compute and forecast gaps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MP-03.1 </a:t>
                      </a:r>
                      <a:pPr indent="0" marL="0">
                        <a:buNone/>
                      </a:pPr>
                      <a:r>
                        <a:rPr lang="en-US" sz="1000" dirty="0">
                          <a:solidFill>
                            <a:srgbClr val="58595B"/>
                          </a:solidFill>
                          <a:latin typeface="Calibri" pitchFamily="34" charset="0"/>
                          <a:ea typeface="Calibri" pitchFamily="34" charset="-122"/>
                          <a:cs typeface="Calibri" pitchFamily="34" charset="-120"/>
                        </a:rPr>
                        <a:t>Compute gap matrix</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MP-03.2 </a:t>
                      </a:r>
                      <a:pPr indent="0" marL="0">
                        <a:buNone/>
                      </a:pPr>
                      <a:r>
                        <a:rPr lang="en-US" sz="1000" dirty="0">
                          <a:solidFill>
                            <a:srgbClr val="58595B"/>
                          </a:solidFill>
                          <a:latin typeface="Calibri" pitchFamily="34" charset="0"/>
                          <a:ea typeface="Calibri" pitchFamily="34" charset="-122"/>
                          <a:cs typeface="Calibri" pitchFamily="34" charset="-120"/>
                        </a:rPr>
                        <a:t>Review gap matrix by site and function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MP-28.3 </a:t>
                      </a:r>
                      <a:pPr indent="0" marL="0">
                        <a:buNone/>
                      </a:pPr>
                      <a:r>
                        <a:rPr lang="en-US" sz="1000" dirty="0">
                          <a:solidFill>
                            <a:srgbClr val="58595B"/>
                          </a:solidFill>
                          <a:latin typeface="Calibri" pitchFamily="34" charset="0"/>
                          <a:ea typeface="Calibri" pitchFamily="34" charset="-122"/>
                          <a:cs typeface="Calibri" pitchFamily="34" charset="-120"/>
                        </a:rPr>
                        <a:t>Forecast skill gaps</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+ 1 more steps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Critical gaps: AI triage and clinical decision support (-1.4 average on supervisors), AI medical imaging assistance (-1.1). Forecast: AI bed and staff capacity planning becomes critical within 12 months.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02"/>
          <p:cNvSpPr/>
          <p:nvPr/>
        </p:nvSpPr>
        <p:spPr>
          <a:xfrm>
            <a:off x="2935980" y="3904488"/>
            <a:ext cx="2906280" cy="2139696"/>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02">    </p:cNvPr>
          <p:cNvPicPr>
            <a:picLocks noChangeAspect="1"/>
          </p:cNvPicPr>
          <p:nvPr/>
        </p:nvPicPr>
        <p:blipFill>
          <a:blip r:embed="rId1"/>
          <a:stretch>
            <a:fillRect/>
          </a:stretch>
        </p:blipFill>
        <p:spPr>
          <a:xfrm>
            <a:off x="2990844" y="3959352"/>
            <a:ext cx="2796552" cy="2029968"/>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E2E-02 in CortexSkills: its tasks, owners and due dates, and the process card.</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 processes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MP-02 Skills &amp; Competency Management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MP-03 Needs Analysis &amp; Diagnosis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MP-28 Predictive Learning Analytics &amp; Intelligence</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Feeds into</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E2E-03, E2E-10</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Supported by</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E2E-15</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E2E-21 · ROOT</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Previous Plan Impact-to-Strategy Update</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Evaluate N-1 plan impact and update strategy</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Start of a new plan cycle with N-1 execution data available.</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N-1 impact conclusions fed into the strategy update.</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8 tasks · 12 steps
</a:t>
            </a:r>
            <a:pPr indent="0" marL="0">
              <a:buNone/>
            </a:pPr>
            <a:r>
              <a:rPr lang="en-US" sz="1100" dirty="0">
                <a:solidFill>
                  <a:srgbClr val="3A3A3C"/>
                </a:solidFill>
                <a:latin typeface="Calibri" pitchFamily="34" charset="0"/>
                <a:ea typeface="Calibri" pitchFamily="34" charset="-122"/>
                <a:cs typeface="Calibri" pitchFamily="34" charset="-120"/>
              </a:rPr>
              <a:t>23 days · 4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MP-39 Training Plan Impact Study (N-1) · </a:t>
            </a:r>
            <a:pPr indent="0" marL="0">
              <a:buNone/>
            </a:pPr>
            <a:r>
              <a:rPr lang="en-US" sz="1000" dirty="0">
                <a:solidFill>
                  <a:srgbClr val="58595B"/>
                </a:solidFill>
                <a:latin typeface="Calibri" pitchFamily="34" charset="0"/>
                <a:ea typeface="Calibri" pitchFamily="34" charset="-122"/>
                <a:cs typeface="Calibri" pitchFamily="34" charset="-120"/>
              </a:rPr>
              <a:t>MP-09 Assessment &amp; Evaluation · </a:t>
            </a:r>
            <a:pPr indent="0" marL="0">
              <a:buNone/>
            </a:pPr>
            <a:r>
              <a:rPr lang="en-US" sz="1000" dirty="0">
                <a:solidFill>
                  <a:srgbClr val="58595B"/>
                </a:solidFill>
                <a:latin typeface="Calibri" pitchFamily="34" charset="0"/>
                <a:ea typeface="Calibri" pitchFamily="34" charset="-122"/>
                <a:cs typeface="Calibri" pitchFamily="34" charset="-120"/>
              </a:rPr>
              <a:t>MP-32 Learning ROI &amp; Business Impact Measurement · </a:t>
            </a:r>
            <a:pPr indent="0" marL="0">
              <a:buNone/>
            </a:pPr>
            <a:r>
              <a:rPr lang="en-US" sz="1000" dirty="0">
                <a:solidFill>
                  <a:srgbClr val="58595B"/>
                </a:solidFill>
                <a:latin typeface="Calibri" pitchFamily="34" charset="0"/>
                <a:ea typeface="Calibri" pitchFamily="34" charset="-122"/>
                <a:cs typeface="Calibri" pitchFamily="34" charset="-120"/>
              </a:rPr>
              <a:t>MP-01 Strategy &amp; Governance Alignment · </a:t>
            </a:r>
            <a:pPr indent="0" marL="0">
              <a:buNone/>
            </a:pPr>
            <a:r>
              <a:rPr lang="en-US" sz="1000" dirty="0">
                <a:solidFill>
                  <a:srgbClr val="58595B"/>
                </a:solidFill>
                <a:latin typeface="Calibri" pitchFamily="34" charset="0"/>
                <a:ea typeface="Calibri" pitchFamily="34" charset="-122"/>
                <a:cs typeface="Calibri" pitchFamily="34" charset="-120"/>
              </a:rPr>
              <a:t>MP-04 Training Engineering Report &amp; Roadmap Elaboration</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UFT-21-01
</a:t>
                      </a:r>
                      <a:pPr indent="0" marL="0">
                        <a:buNone/>
                      </a:pPr>
                      <a:r>
                        <a:rPr lang="en-US" sz="1000" b="1" dirty="0">
                          <a:solidFill>
                            <a:srgbClr val="3A3A3C"/>
                          </a:solidFill>
                          <a:latin typeface="Calibri" pitchFamily="34" charset="0"/>
                          <a:ea typeface="Calibri" pitchFamily="34" charset="-122"/>
                          <a:cs typeface="Calibri" pitchFamily="34" charset="-120"/>
                        </a:rPr>
                        <a:t>Load N-1 plan execution data</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MP-39.1 </a:t>
                      </a:r>
                      <a:pPr indent="0" marL="0">
                        <a:buNone/>
                      </a:pPr>
                      <a:r>
                        <a:rPr lang="en-US" sz="1000" dirty="0">
                          <a:solidFill>
                            <a:srgbClr val="58595B"/>
                          </a:solidFill>
                          <a:latin typeface="Calibri" pitchFamily="34" charset="0"/>
                          <a:ea typeface="Calibri" pitchFamily="34" charset="-122"/>
                          <a:cs typeface="Calibri" pitchFamily="34" charset="-120"/>
                        </a:rPr>
                        <a:t>Load N-1 plan execution data</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Load N-1 plan: 28 sessions planned, 23 delivered, 1,410,000 MAD spent.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UFT-21-02
</a:t>
                      </a:r>
                      <a:pPr indent="0" marL="0">
                        <a:buNone/>
                      </a:pPr>
                      <a:r>
                        <a:rPr lang="en-US" sz="1000" b="1" dirty="0">
                          <a:solidFill>
                            <a:srgbClr val="3A3A3C"/>
                          </a:solidFill>
                          <a:latin typeface="Calibri" pitchFamily="34" charset="0"/>
                          <a:ea typeface="Calibri" pitchFamily="34" charset="-122"/>
                          <a:cs typeface="Calibri" pitchFamily="34" charset="-120"/>
                        </a:rPr>
                        <a:t>Define impact criteria</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MP-39.2 </a:t>
                      </a:r>
                      <a:pPr indent="0" marL="0">
                        <a:buNone/>
                      </a:pPr>
                      <a:r>
                        <a:rPr lang="en-US" sz="1000" dirty="0">
                          <a:solidFill>
                            <a:srgbClr val="58595B"/>
                          </a:solidFill>
                          <a:latin typeface="Calibri" pitchFamily="34" charset="0"/>
                          <a:ea typeface="Calibri" pitchFamily="34" charset="-122"/>
                          <a:cs typeface="Calibri" pitchFamily="34" charset="-120"/>
                        </a:rPr>
                        <a:t>Define impact criteria</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Impact criteria: application on the job, KPI change, satisfaction, cost per learner.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UFT-21-03
</a:t>
                      </a:r>
                      <a:pPr indent="0" marL="0">
                        <a:buNone/>
                      </a:pPr>
                      <a:r>
                        <a:rPr lang="en-US" sz="1000" b="1" dirty="0">
                          <a:solidFill>
                            <a:srgbClr val="3A3A3C"/>
                          </a:solidFill>
                          <a:latin typeface="Calibri" pitchFamily="34" charset="0"/>
                          <a:ea typeface="Calibri" pitchFamily="34" charset="-122"/>
                          <a:cs typeface="Calibri" pitchFamily="34" charset="-120"/>
                        </a:rPr>
                        <a:t>Survey participants and managers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MP-39.3 </a:t>
                      </a:r>
                      <a:pPr indent="0" marL="0">
                        <a:buNone/>
                      </a:pPr>
                      <a:r>
                        <a:rPr lang="en-US" sz="1000" dirty="0">
                          <a:solidFill>
                            <a:srgbClr val="58595B"/>
                          </a:solidFill>
                          <a:latin typeface="Calibri" pitchFamily="34" charset="0"/>
                          <a:ea typeface="Calibri" pitchFamily="34" charset="-122"/>
                          <a:cs typeface="Calibri" pitchFamily="34" charset="-120"/>
                        </a:rPr>
                        <a:t>Survey participants and managers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MP-09.5 </a:t>
                      </a:r>
                      <a:pPr indent="0" marL="0">
                        <a:buNone/>
                      </a:pPr>
                      <a:r>
                        <a:rPr lang="en-US" sz="1000" dirty="0">
                          <a:solidFill>
                            <a:srgbClr val="58595B"/>
                          </a:solidFill>
                          <a:latin typeface="Calibri" pitchFamily="34" charset="0"/>
                          <a:ea typeface="Calibri" pitchFamily="34" charset="-122"/>
                          <a:cs typeface="Calibri" pitchFamily="34" charset="-120"/>
                        </a:rPr>
                        <a:t>Record on-the-job observation (Level 3)</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Survey sent to 190 participants and 34 managers; 61% responded.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UFT-21-04
</a:t>
                      </a:r>
                      <a:pPr indent="0" marL="0">
                        <a:buNone/>
                      </a:pPr>
                      <a:r>
                        <a:rPr lang="en-US" sz="1000" b="1" dirty="0">
                          <a:solidFill>
                            <a:srgbClr val="3A3A3C"/>
                          </a:solidFill>
                          <a:latin typeface="Calibri" pitchFamily="34" charset="0"/>
                          <a:ea typeface="Calibri" pitchFamily="34" charset="-122"/>
                          <a:cs typeface="Calibri" pitchFamily="34" charset="-120"/>
                        </a:rPr>
                        <a:t>Compare planned against realized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MP-39.4 </a:t>
                      </a:r>
                      <a:pPr indent="0" marL="0">
                        <a:buNone/>
                      </a:pPr>
                      <a:r>
                        <a:rPr lang="en-US" sz="1000" dirty="0">
                          <a:solidFill>
                            <a:srgbClr val="58595B"/>
                          </a:solidFill>
                          <a:latin typeface="Calibri" pitchFamily="34" charset="0"/>
                          <a:ea typeface="Calibri" pitchFamily="34" charset="-122"/>
                          <a:cs typeface="Calibri" pitchFamily="34" charset="-120"/>
                        </a:rPr>
                        <a:t>Compare planned against realized</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MP-32.3 </a:t>
                      </a:r>
                      <a:pPr indent="0" marL="0">
                        <a:buNone/>
                      </a:pPr>
                      <a:r>
                        <a:rPr lang="en-US" sz="1000" dirty="0">
                          <a:solidFill>
                            <a:srgbClr val="58595B"/>
                          </a:solidFill>
                          <a:latin typeface="Calibri" pitchFamily="34" charset="0"/>
                          <a:ea typeface="Calibri" pitchFamily="34" charset="-122"/>
                          <a:cs typeface="Calibri" pitchFamily="34" charset="-120"/>
                        </a:rPr>
                        <a:t>Isolate training effect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Planned vs realized: 82% of sessions, 94% of budget; 2 themes not delivered.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UFT-21-05
</a:t>
                      </a:r>
                      <a:pPr indent="0" marL="0">
                        <a:buNone/>
                      </a:pPr>
                      <a:r>
                        <a:rPr lang="en-US" sz="1000" b="1" dirty="0">
                          <a:solidFill>
                            <a:srgbClr val="3A3A3C"/>
                          </a:solidFill>
                          <a:latin typeface="Calibri" pitchFamily="34" charset="0"/>
                          <a:ea typeface="Calibri" pitchFamily="34" charset="-122"/>
                          <a:cs typeface="Calibri" pitchFamily="34" charset="-120"/>
                        </a:rPr>
                        <a:t>Review N-1 ROI</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MP-32.4 </a:t>
                      </a:r>
                      <a:pPr indent="0" marL="0">
                        <a:buNone/>
                      </a:pPr>
                      <a:r>
                        <a:rPr lang="en-US" sz="1000" dirty="0">
                          <a:solidFill>
                            <a:srgbClr val="58595B"/>
                          </a:solidFill>
                          <a:latin typeface="Calibri" pitchFamily="34" charset="0"/>
                          <a:ea typeface="Calibri" pitchFamily="34" charset="-122"/>
                          <a:cs typeface="Calibri" pitchFamily="34" charset="-120"/>
                        </a:rPr>
                        <a:t>Compute Phillips ROI</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MP-32.5 </a:t>
                      </a:r>
                      <a:pPr indent="0" marL="0">
                        <a:buNone/>
                      </a:pPr>
                      <a:r>
                        <a:rPr lang="en-US" sz="1000" dirty="0">
                          <a:solidFill>
                            <a:srgbClr val="58595B"/>
                          </a:solidFill>
                          <a:latin typeface="Calibri" pitchFamily="34" charset="0"/>
                          <a:ea typeface="Calibri" pitchFamily="34" charset="-122"/>
                          <a:cs typeface="Calibri" pitchFamily="34" charset="-120"/>
                        </a:rPr>
                        <a:t>Review ROI with finance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N-1 ROI: AI medical imaging assistance 18%; safety theme 35%.</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UFT-21-06
</a:t>
                      </a:r>
                      <a:pPr indent="0" marL="0">
                        <a:buNone/>
                      </a:pPr>
                      <a:r>
                        <a:rPr lang="en-US" sz="1000" b="1" dirty="0">
                          <a:solidFill>
                            <a:srgbClr val="3A3A3C"/>
                          </a:solidFill>
                          <a:latin typeface="Calibri" pitchFamily="34" charset="0"/>
                          <a:ea typeface="Calibri" pitchFamily="34" charset="-122"/>
                          <a:cs typeface="Calibri" pitchFamily="34" charset="-120"/>
                        </a:rPr>
                        <a:t>Draft impact conclusions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MP-39.5 </a:t>
                      </a:r>
                      <a:pPr indent="0" marL="0">
                        <a:buNone/>
                      </a:pPr>
                      <a:r>
                        <a:rPr lang="en-US" sz="1000" dirty="0">
                          <a:solidFill>
                            <a:srgbClr val="58595B"/>
                          </a:solidFill>
                          <a:latin typeface="Calibri" pitchFamily="34" charset="0"/>
                          <a:ea typeface="Calibri" pitchFamily="34" charset="-122"/>
                          <a:cs typeface="Calibri" pitchFamily="34" charset="-120"/>
                        </a:rPr>
                        <a:t>Draft impact study conclusions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Accept AI conclusions 1-3; rewrite conclusion 4 (sample too small).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21"/>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21-08 Update roadmap prioritie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UFT-21-08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E2E-21 · ROOT</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Previous Plan Impact-to-Strategy Update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UFT-21-07
</a:t>
                      </a:r>
                      <a:pPr indent="0" marL="0">
                        <a:buNone/>
                      </a:pPr>
                      <a:r>
                        <a:rPr lang="en-US" sz="1000" b="1" dirty="0">
                          <a:solidFill>
                            <a:srgbClr val="3A3A3C"/>
                          </a:solidFill>
                          <a:latin typeface="Calibri" pitchFamily="34" charset="0"/>
                          <a:ea typeface="Calibri" pitchFamily="34" charset="-122"/>
                          <a:cs typeface="Calibri" pitchFamily="34" charset="-120"/>
                        </a:rPr>
                        <a:t>Feed conclusions to strategy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MP-39.6 </a:t>
                      </a:r>
                      <a:pPr indent="0" marL="0">
                        <a:buNone/>
                      </a:pPr>
                      <a:r>
                        <a:rPr lang="en-US" sz="1000" dirty="0">
                          <a:solidFill>
                            <a:srgbClr val="58595B"/>
                          </a:solidFill>
                          <a:latin typeface="Calibri" pitchFamily="34" charset="0"/>
                          <a:ea typeface="Calibri" pitchFamily="34" charset="-122"/>
                          <a:cs typeface="Calibri" pitchFamily="34" charset="-120"/>
                        </a:rPr>
                        <a:t>Feed conclusions to strategy update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MP-01.1 </a:t>
                      </a:r>
                      <a:pPr indent="0" marL="0">
                        <a:buNone/>
                      </a:pPr>
                      <a:r>
                        <a:rPr lang="en-US" sz="1000" dirty="0">
                          <a:solidFill>
                            <a:srgbClr val="58595B"/>
                          </a:solidFill>
                          <a:latin typeface="Calibri" pitchFamily="34" charset="0"/>
                          <a:ea typeface="Calibri" pitchFamily="34" charset="-122"/>
                          <a:cs typeface="Calibri" pitchFamily="34" charset="-120"/>
                        </a:rPr>
                        <a:t>Record corporate strategic objectives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Feed to strategy: keep blended format; stop long classroom courses on AI medical imaging assistance.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UFT-21-08
</a:t>
                      </a:r>
                      <a:pPr indent="0" marL="0">
                        <a:buNone/>
                      </a:pPr>
                      <a:r>
                        <a:rPr lang="en-US" sz="1000" b="1" dirty="0">
                          <a:solidFill>
                            <a:srgbClr val="3A3A3C"/>
                          </a:solidFill>
                          <a:latin typeface="Calibri" pitchFamily="34" charset="0"/>
                          <a:ea typeface="Calibri" pitchFamily="34" charset="-122"/>
                          <a:cs typeface="Calibri" pitchFamily="34" charset="-120"/>
                        </a:rPr>
                        <a:t>Update roadmap priorities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MP-04.6 </a:t>
                      </a:r>
                      <a:pPr indent="0" marL="0">
                        <a:buNone/>
                      </a:pPr>
                      <a:r>
                        <a:rPr lang="en-US" sz="1000" dirty="0">
                          <a:solidFill>
                            <a:srgbClr val="58595B"/>
                          </a:solidFill>
                          <a:latin typeface="Calibri" pitchFamily="34" charset="0"/>
                          <a:ea typeface="Calibri" pitchFamily="34" charset="-122"/>
                          <a:cs typeface="Calibri" pitchFamily="34" charset="-120"/>
                        </a:rPr>
                        <a:t>Sequence roadmap initiatives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Amine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8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Roadmap priority updated: AI triage and clinical decision support moved to Q2; AI medical imaging assistance to microlearning.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6" name="frame run_E2E-21"/>
          <p:cNvSpPr/>
          <p:nvPr/>
        </p:nvSpPr>
        <p:spPr>
          <a:xfrm>
            <a:off x="2457291" y="3209544"/>
            <a:ext cx="3863659" cy="2834640"/>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21">    </p:cNvPr>
          <p:cNvPicPr>
            <a:picLocks noChangeAspect="1"/>
          </p:cNvPicPr>
          <p:nvPr/>
        </p:nvPicPr>
        <p:blipFill>
          <a:blip r:embed="rId1"/>
          <a:stretch>
            <a:fillRect/>
          </a:stretch>
        </p:blipFill>
        <p:spPr>
          <a:xfrm>
            <a:off x="2512155" y="3264408"/>
            <a:ext cx="3753931" cy="2724912"/>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E2E-21 in CortexSkills: its tasks, owners and due dates, and the process card.</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 processes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MP-39 Training Plan Impact Study (N-1)</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MP-09 Assessment &amp; Evaluation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MP-32 Learning ROI &amp; Business Impact Measurement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MP-01 Strategy &amp; Governance Alignment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MP-04 Training Engineering Report &amp; Roadmap Elaboration</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Feeds into</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E2E-01, E2E-03</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Supported by</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2" name=""/>
        <p:cNvGrpSpPr/>
        <p:nvPr/>
      </p:nvGrpSpPr>
      <p:grpSpPr>
        <a:xfrm>
          <a:off x="0" y="0"/>
          <a:ext cx="0" cy="0"/>
          <a:chOff x="0" y="0"/>
          <a:chExt cx="0" cy="0"/>
        </a:xfrm>
      </p:grpSpPr>
      <p:sp>
        <p:nvSpPr>
          <p:cNvPr id="3" name="Text 0"/>
          <p:cNvSpPr txBox="1"/>
          <p:nvPr/>
        </p:nvSpPr>
        <p:spPr>
          <a:xfrm>
            <a:off x="457200" y="914400"/>
            <a:ext cx="2743200" cy="1280160"/>
          </a:xfrm>
          <a:prstGeom prst="rect">
            <a:avLst/>
          </a:prstGeom>
          <a:noFill/>
          <a:ln/>
        </p:spPr>
        <p:txBody>
          <a:bodyPr wrap="square" lIns="0" tIns="0" rIns="0" bIns="0" rtlCol="0" anchor="ctr"/>
          <a:lstStyle/>
          <a:p>
            <a:pPr indent="0" marL="0">
              <a:buNone/>
            </a:pPr>
            <a:r>
              <a:rPr lang="en-US" sz="8000" b="1" dirty="0">
                <a:solidFill>
                  <a:srgbClr val="F8931D"/>
                </a:solidFill>
                <a:latin typeface="Cambria" pitchFamily="34" charset="0"/>
                <a:ea typeface="Cambria" pitchFamily="34" charset="-122"/>
                <a:cs typeface="Cambria" pitchFamily="34" charset="-120"/>
              </a:rPr>
              <a:t>03</a:t>
            </a:r>
            <a:endParaRPr lang="en-US" sz="8000" dirty="0"/>
          </a:p>
        </p:txBody>
      </p:sp>
      <p:sp>
        <p:nvSpPr>
          <p:cNvPr id="4" name="Text 1"/>
          <p:cNvSpPr txBox="1"/>
          <p:nvPr/>
        </p:nvSpPr>
        <p:spPr>
          <a:xfrm>
            <a:off x="457200" y="2331720"/>
            <a:ext cx="5486400" cy="320040"/>
          </a:xfrm>
          <a:prstGeom prst="rect">
            <a:avLst/>
          </a:prstGeom>
          <a:noFill/>
          <a:ln/>
        </p:spPr>
        <p:txBody>
          <a:bodyPr wrap="square" lIns="0" tIns="0" rIns="0" bIns="0" rtlCol="0" anchor="ctr"/>
          <a:lstStyle/>
          <a:p>
            <a:pPr indent="0" marL="0">
              <a:buNone/>
            </a:pPr>
            <a:r>
              <a:rPr lang="en-US" sz="1300" b="1" spc="300" kern="0" dirty="0">
                <a:solidFill>
                  <a:srgbClr val="F8931D"/>
                </a:solidFill>
                <a:latin typeface="Calibri" pitchFamily="34" charset="0"/>
                <a:ea typeface="Calibri" pitchFamily="34" charset="-122"/>
                <a:cs typeface="Calibri" pitchFamily="34" charset="-120"/>
              </a:rPr>
              <a:t>PHASE 3</a:t>
            </a:r>
            <a:endParaRPr lang="en-US" sz="1300" dirty="0"/>
          </a:p>
        </p:txBody>
      </p:sp>
      <p:sp>
        <p:nvSpPr>
          <p:cNvPr id="5" name="Text 2"/>
          <p:cNvSpPr txBox="1"/>
          <p:nvPr/>
        </p:nvSpPr>
        <p:spPr>
          <a:xfrm>
            <a:off x="457200" y="2697480"/>
            <a:ext cx="5669280" cy="13716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Training Engineering Report &amp; plan</a:t>
            </a:r>
            <a:endParaRPr lang="en-US" sz="3600" dirty="0"/>
          </a:p>
        </p:txBody>
      </p:sp>
      <p:sp>
        <p:nvSpPr>
          <p:cNvPr id="6" name="Text 3"/>
          <p:cNvSpPr txBox="1"/>
          <p:nvPr/>
        </p:nvSpPr>
        <p:spPr>
          <a:xfrm>
            <a:off x="457200" y="4206240"/>
            <a:ext cx="5669280" cy="1097280"/>
          </a:xfrm>
          <a:prstGeom prst="rect">
            <a:avLst/>
          </a:prstGeom>
          <a:noFill/>
          <a:ln/>
        </p:spPr>
        <p:txBody>
          <a:bodyPr wrap="square" lIns="0" tIns="0" rIns="0" bIns="0" rtlCol="0" anchor="t"/>
          <a:lstStyle/>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7 processes · 50 tasks · 84 steps</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13 Jun 2026 – 12 Jul 2026</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Closed by G3 — Report &amp; roadmap approved</a:t>
            </a:r>
            <a:endParaRPr lang="en-US" sz="1500" dirty="0"/>
          </a:p>
        </p:txBody>
      </p:sp>
      <p:sp>
        <p:nvSpPr>
          <p:cNvPr id="7" name="Text 4"/>
          <p:cNvSpPr txBox="1"/>
          <p:nvPr/>
        </p:nvSpPr>
        <p:spPr>
          <a:xfrm>
            <a:off x="6675120" y="1097280"/>
            <a:ext cx="5029200" cy="4754880"/>
          </a:xfrm>
          <a:prstGeom prst="rect">
            <a:avLst/>
          </a:prstGeom>
          <a:noFill/>
          <a:ln/>
        </p:spPr>
        <p:txBody>
          <a:bodyPr wrap="square" lIns="0" tIns="0" rIns="0" bIns="0" rtlCol="0" anchor="ctr"/>
          <a:lstStyle/>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E2E-01   Strategy-to-Learning Plan</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E2E-03   Needs-to-Training Engineering Report &amp; Roadmap</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E2E-30   Prioritization-to-Resource Plan</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E2E-22   Multi-Site Plan-to-Deployment</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E2E-23   Regulatory Submission-to-Validation</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E2E-16   Vendor-to-Finance</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HCPR-E2E-02   Healthcare Providers Critical-Skills-to-Transformation Plan</a:t>
            </a:r>
            <a:endParaRPr lang="en-US" sz="1500" dirty="0"/>
          </a:p>
        </p:txBody>
      </p:sp>
      <p:sp>
        <p:nvSpPr>
          <p:cNvPr id="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DBDBF"/>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3 · E2E-01 · ROOT / MASTER CHAIN</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Strategy-to-Learning Plan</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Translate corporate strategy into an approved annual L&amp;D plan and budget</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Annual strategy cycle opened or revised corporate objectives published by the board.</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Annual L&amp;D plan and budget envelope approved by the Steering Committee and locked.</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8 tasks · 16 steps
</a:t>
            </a:r>
            <a:pPr indent="0" marL="0">
              <a:buNone/>
            </a:pPr>
            <a:r>
              <a:rPr lang="en-US" sz="1100" dirty="0">
                <a:solidFill>
                  <a:srgbClr val="3A3A3C"/>
                </a:solidFill>
                <a:latin typeface="Calibri" pitchFamily="34" charset="0"/>
                <a:ea typeface="Calibri" pitchFamily="34" charset="-122"/>
                <a:cs typeface="Calibri" pitchFamily="34" charset="-120"/>
              </a:rPr>
              <a:t>23 days · 6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MP-01 Strategy &amp; Governance Alignment · </a:t>
            </a:r>
            <a:pPr indent="0" marL="0">
              <a:buNone/>
            </a:pPr>
            <a:r>
              <a:rPr lang="en-US" sz="1000" dirty="0">
                <a:solidFill>
                  <a:srgbClr val="58595B"/>
                </a:solidFill>
                <a:latin typeface="Calibri" pitchFamily="34" charset="0"/>
                <a:ea typeface="Calibri" pitchFamily="34" charset="-122"/>
                <a:cs typeface="Calibri" pitchFamily="34" charset="-120"/>
              </a:rPr>
              <a:t>MP-02 Skills &amp; Competency Management · </a:t>
            </a:r>
            <a:pPr indent="0" marL="0">
              <a:buNone/>
            </a:pPr>
            <a:r>
              <a:rPr lang="en-US" sz="1000" dirty="0">
                <a:solidFill>
                  <a:srgbClr val="58595B"/>
                </a:solidFill>
                <a:latin typeface="Calibri" pitchFamily="34" charset="0"/>
                <a:ea typeface="Calibri" pitchFamily="34" charset="-122"/>
                <a:cs typeface="Calibri" pitchFamily="34" charset="-120"/>
              </a:rPr>
              <a:t>MP-03 Needs Analysis &amp; Diagnosis · </a:t>
            </a:r>
            <a:pPr indent="0" marL="0">
              <a:buNone/>
            </a:pPr>
            <a:r>
              <a:rPr lang="en-US" sz="1000" dirty="0">
                <a:solidFill>
                  <a:srgbClr val="58595B"/>
                </a:solidFill>
                <a:latin typeface="Calibri" pitchFamily="34" charset="0"/>
                <a:ea typeface="Calibri" pitchFamily="34" charset="-122"/>
                <a:cs typeface="Calibri" pitchFamily="34" charset="-120"/>
              </a:rPr>
              <a:t>MP-04 Training Engineering Report &amp; Roadmap Elaboration · </a:t>
            </a:r>
            <a:pPr indent="0" marL="0">
              <a:buNone/>
            </a:pPr>
            <a:r>
              <a:rPr lang="en-US" sz="1000" dirty="0">
                <a:solidFill>
                  <a:srgbClr val="58595B"/>
                </a:solidFill>
                <a:latin typeface="Calibri" pitchFamily="34" charset="0"/>
                <a:ea typeface="Calibri" pitchFamily="34" charset="-122"/>
                <a:cs typeface="Calibri" pitchFamily="34" charset="-120"/>
              </a:rPr>
              <a:t>MP-18 Financial &amp; Budget Management · </a:t>
            </a:r>
            <a:pPr indent="0" marL="0">
              <a:buNone/>
            </a:pPr>
            <a:r>
              <a:rPr lang="en-US" sz="1000" dirty="0">
                <a:solidFill>
                  <a:srgbClr val="58595B"/>
                </a:solidFill>
                <a:latin typeface="Calibri" pitchFamily="34" charset="0"/>
                <a:ea typeface="Calibri" pitchFamily="34" charset="-122"/>
                <a:cs typeface="Calibri" pitchFamily="34" charset="-120"/>
              </a:rPr>
              <a:t>MP-19 Change Management &amp; Adoption</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UFT-01-01
</a:t>
                      </a:r>
                      <a:pPr indent="0" marL="0">
                        <a:buNone/>
                      </a:pPr>
                      <a:r>
                        <a:rPr lang="en-US" sz="1000" b="1" dirty="0">
                          <a:solidFill>
                            <a:srgbClr val="3A3A3C"/>
                          </a:solidFill>
                          <a:latin typeface="Calibri" pitchFamily="34" charset="0"/>
                          <a:ea typeface="Calibri" pitchFamily="34" charset="-122"/>
                          <a:cs typeface="Calibri" pitchFamily="34" charset="-120"/>
                        </a:rPr>
                        <a:t>Record strategic objectives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MP-01.1 </a:t>
                      </a:r>
                      <a:pPr indent="0" marL="0">
                        <a:buNone/>
                      </a:pPr>
                      <a:r>
                        <a:rPr lang="en-US" sz="1000" dirty="0">
                          <a:solidFill>
                            <a:srgbClr val="58595B"/>
                          </a:solidFill>
                          <a:latin typeface="Calibri" pitchFamily="34" charset="0"/>
                          <a:ea typeface="Calibri" pitchFamily="34" charset="-122"/>
                          <a:cs typeface="Calibri" pitchFamily="34" charset="-120"/>
                        </a:rPr>
                        <a:t>Record corporate strategic objectives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15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SO-1: AI triage and clinical decision support used by 80% of Clinical Care &amp; Nursing staff by end 2026 (owner: Operations Director, measured quarterly). SO-2: zero major audit findings on ISO 7101.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UFT-01-02
</a:t>
                      </a:r>
                      <a:pPr indent="0" marL="0">
                        <a:buNone/>
                      </a:pPr>
                      <a:r>
                        <a:rPr lang="en-US" sz="1000" b="1" dirty="0">
                          <a:solidFill>
                            <a:srgbClr val="3A3A3C"/>
                          </a:solidFill>
                          <a:latin typeface="Calibri" pitchFamily="34" charset="0"/>
                          <a:ea typeface="Calibri" pitchFamily="34" charset="-122"/>
                          <a:cs typeface="Calibri" pitchFamily="34" charset="-120"/>
                        </a:rPr>
                        <a:t>Link objectives to functions and sites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MP-01.2 </a:t>
                      </a:r>
                      <a:pPr indent="0" marL="0">
                        <a:buNone/>
                      </a:pPr>
                      <a:r>
                        <a:rPr lang="en-US" sz="1000" dirty="0">
                          <a:solidFill>
                            <a:srgbClr val="58595B"/>
                          </a:solidFill>
                          <a:latin typeface="Calibri" pitchFamily="34" charset="0"/>
                          <a:ea typeface="Calibri" pitchFamily="34" charset="-122"/>
                          <a:cs typeface="Calibri" pitchFamily="34" charset="-120"/>
                        </a:rPr>
                        <a:t>Link objectives to functions and sites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Amine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SO-1 → Clinical Care &amp; Nursing, Operations, Information Systems (all sites). SO-2 → Quality &amp; HSE, Clinical Care &amp; Nursing.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UFT-01-03
</a:t>
                      </a:r>
                      <a:pPr indent="0" marL="0">
                        <a:buNone/>
                      </a:pPr>
                      <a:r>
                        <a:rPr lang="en-US" sz="1000" b="1" dirty="0">
                          <a:solidFill>
                            <a:srgbClr val="3A3A3C"/>
                          </a:solidFill>
                          <a:latin typeface="Calibri" pitchFamily="34" charset="0"/>
                          <a:ea typeface="Calibri" pitchFamily="34" charset="-122"/>
                          <a:cs typeface="Calibri" pitchFamily="34" charset="-120"/>
                        </a:rPr>
                        <a:t>Frame skills priorities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MP-02.1 </a:t>
                      </a:r>
                      <a:pPr indent="0" marL="0">
                        <a:buNone/>
                      </a:pPr>
                      <a:r>
                        <a:rPr lang="en-US" sz="1000" dirty="0">
                          <a:solidFill>
                            <a:srgbClr val="58595B"/>
                          </a:solidFill>
                          <a:latin typeface="Calibri" pitchFamily="34" charset="0"/>
                          <a:ea typeface="Calibri" pitchFamily="34" charset="-122"/>
                          <a:cs typeface="Calibri" pitchFamily="34" charset="-120"/>
                        </a:rPr>
                        <a:t>Define competency families and levels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MP-02.2 </a:t>
                      </a:r>
                      <a:pPr indent="0" marL="0">
                        <a:buNone/>
                      </a:pPr>
                      <a:r>
                        <a:rPr lang="en-US" sz="1000" dirty="0">
                          <a:solidFill>
                            <a:srgbClr val="58595B"/>
                          </a:solidFill>
                          <a:latin typeface="Calibri" pitchFamily="34" charset="0"/>
                          <a:ea typeface="Calibri" pitchFamily="34" charset="-122"/>
                          <a:cs typeface="Calibri" pitchFamily="34" charset="-120"/>
                        </a:rPr>
                        <a:t>Set target levels per position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Priority competency families: AI triage and clinical decision support; AI medical imaging assistance; ISO 7101 compliance. Target level 3 (Autonomous) for supervisors.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01"/>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01-01 Record strategic objective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UFT-01-01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3 · E2E-01 · ROOT / MASTER CHAIN</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Strategy-to-Learning Plan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UFT-01-04
</a:t>
                      </a:r>
                      <a:pPr indent="0" marL="0">
                        <a:buNone/>
                      </a:pPr>
                      <a:r>
                        <a:rPr lang="en-US" sz="1000" b="1" dirty="0">
                          <a:solidFill>
                            <a:srgbClr val="3A3A3C"/>
                          </a:solidFill>
                          <a:latin typeface="Calibri" pitchFamily="34" charset="0"/>
                          <a:ea typeface="Calibri" pitchFamily="34" charset="-122"/>
                          <a:cs typeface="Calibri" pitchFamily="34" charset="-120"/>
                        </a:rPr>
                        <a:t>Pre-scope training needs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MP-03.1 </a:t>
                      </a:r>
                      <a:pPr indent="0" marL="0">
                        <a:buNone/>
                      </a:pPr>
                      <a:r>
                        <a:rPr lang="en-US" sz="1000" dirty="0">
                          <a:solidFill>
                            <a:srgbClr val="58595B"/>
                          </a:solidFill>
                          <a:latin typeface="Calibri" pitchFamily="34" charset="0"/>
                          <a:ea typeface="Calibri" pitchFamily="34" charset="-122"/>
                          <a:cs typeface="Calibri" pitchFamily="34" charset="-120"/>
                        </a:rPr>
                        <a:t>Compute gap matrix</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MP-03.2 </a:t>
                      </a:r>
                      <a:pPr indent="0" marL="0">
                        <a:buNone/>
                      </a:pPr>
                      <a:r>
                        <a:rPr lang="en-US" sz="1000" dirty="0">
                          <a:solidFill>
                            <a:srgbClr val="58595B"/>
                          </a:solidFill>
                          <a:latin typeface="Calibri" pitchFamily="34" charset="0"/>
                          <a:ea typeface="Calibri" pitchFamily="34" charset="-122"/>
                          <a:cs typeface="Calibri" pitchFamily="34" charset="-120"/>
                        </a:rPr>
                        <a:t>Review gap matrix by site and function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Pre-scoped needs: 42% of Clinical Care &amp; Nursing supervisors below target on AI triage and clinical decision support; 18 employees below target on ISO 7101.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UFT-01-05
</a:t>
                      </a:r>
                      <a:pPr indent="0" marL="0">
                        <a:buNone/>
                      </a:pPr>
                      <a:r>
                        <a:rPr lang="en-US" sz="1000" b="1" dirty="0">
                          <a:solidFill>
                            <a:srgbClr val="3A3A3C"/>
                          </a:solidFill>
                          <a:latin typeface="Calibri" pitchFamily="34" charset="0"/>
                          <a:ea typeface="Calibri" pitchFamily="34" charset="-122"/>
                          <a:cs typeface="Calibri" pitchFamily="34" charset="-120"/>
                        </a:rPr>
                        <a:t>Define budget envelope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MP-01.3 </a:t>
                      </a:r>
                      <a:pPr indent="0" marL="0">
                        <a:buNone/>
                      </a:pPr>
                      <a:r>
                        <a:rPr lang="en-US" sz="1000" dirty="0">
                          <a:solidFill>
                            <a:srgbClr val="58595B"/>
                          </a:solidFill>
                          <a:latin typeface="Calibri" pitchFamily="34" charset="0"/>
                          <a:ea typeface="Calibri" pitchFamily="34" charset="-122"/>
                          <a:cs typeface="Calibri" pitchFamily="34" charset="-120"/>
                        </a:rPr>
                        <a:t>Define L&amp;D budget envelope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MP-18.1 </a:t>
                      </a:r>
                      <a:pPr indent="0" marL="0">
                        <a:buNone/>
                      </a:pPr>
                      <a:r>
                        <a:rPr lang="en-US" sz="1000" dirty="0">
                          <a:solidFill>
                            <a:srgbClr val="58595B"/>
                          </a:solidFill>
                          <a:latin typeface="Calibri" pitchFamily="34" charset="0"/>
                          <a:ea typeface="Calibri" pitchFamily="34" charset="-122"/>
                          <a:cs typeface="Calibri" pitchFamily="34" charset="-120"/>
                        </a:rPr>
                        <a:t>Allocate budget by theme and site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MP-18.2 </a:t>
                      </a:r>
                      <a:pPr indent="0" marL="0">
                        <a:buNone/>
                      </a:pPr>
                      <a:r>
                        <a:rPr lang="en-US" sz="1000" dirty="0">
                          <a:solidFill>
                            <a:srgbClr val="58595B"/>
                          </a:solidFill>
                          <a:latin typeface="Calibri" pitchFamily="34" charset="0"/>
                          <a:ea typeface="Calibri" pitchFamily="34" charset="-122"/>
                          <a:cs typeface="Calibri" pitchFamily="34" charset="-120"/>
                        </a:rPr>
                        <a:t>Forecast OFPPT refunds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Kawtar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Gross L&amp;D budget 2026: 1,850,000 MAD; forecast refund (OFPPT/CSF): 520,000 MAD; net envelope: 1,330,000 MAD.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UFT-01-06
</a:t>
                      </a:r>
                      <a:pPr indent="0" marL="0">
                        <a:buNone/>
                      </a:pPr>
                      <a:r>
                        <a:rPr lang="en-US" sz="1000" b="1" dirty="0">
                          <a:solidFill>
                            <a:srgbClr val="3A3A3C"/>
                          </a:solidFill>
                          <a:latin typeface="Calibri" pitchFamily="34" charset="0"/>
                          <a:ea typeface="Calibri" pitchFamily="34" charset="-122"/>
                          <a:cs typeface="Calibri" pitchFamily="34" charset="-120"/>
                        </a:rPr>
                        <a:t>Plan change and adoption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MP-19.1 </a:t>
                      </a:r>
                      <a:pPr indent="0" marL="0">
                        <a:buNone/>
                      </a:pPr>
                      <a:r>
                        <a:rPr lang="en-US" sz="1000" dirty="0">
                          <a:solidFill>
                            <a:srgbClr val="58595B"/>
                          </a:solidFill>
                          <a:latin typeface="Calibri" pitchFamily="34" charset="0"/>
                          <a:ea typeface="Calibri" pitchFamily="34" charset="-122"/>
                          <a:cs typeface="Calibri" pitchFamily="34" charset="-120"/>
                        </a:rPr>
                        <a:t>Assess change impact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MP-19.2 </a:t>
                      </a:r>
                      <a:pPr indent="0" marL="0">
                        <a:buNone/>
                      </a:pPr>
                      <a:r>
                        <a:rPr lang="en-US" sz="1000" dirty="0">
                          <a:solidFill>
                            <a:srgbClr val="58595B"/>
                          </a:solidFill>
                          <a:latin typeface="Calibri" pitchFamily="34" charset="0"/>
                          <a:ea typeface="Calibri" pitchFamily="34" charset="-122"/>
                          <a:cs typeface="Calibri" pitchFamily="34" charset="-120"/>
                        </a:rPr>
                        <a:t>Build adoption plan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Fassi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Change impact: high for Clinical Care &amp; Nursing supervisors (new AI triage and clinical decision support routines). Sponsors: Operations Director. Champions: one per site.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UFT-01-07
</a:t>
                      </a:r>
                      <a:pPr indent="0" marL="0">
                        <a:buNone/>
                      </a:pPr>
                      <a:r>
                        <a:rPr lang="en-US" sz="1000" b="1" dirty="0">
                          <a:solidFill>
                            <a:srgbClr val="3A3A3C"/>
                          </a:solidFill>
                          <a:latin typeface="Calibri" pitchFamily="34" charset="0"/>
                          <a:ea typeface="Calibri" pitchFamily="34" charset="-122"/>
                          <a:cs typeface="Calibri" pitchFamily="34" charset="-120"/>
                        </a:rPr>
                        <a:t>Compile plan approval pack</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MP-01.4 </a:t>
                      </a:r>
                      <a:pPr indent="0" marL="0">
                        <a:buNone/>
                      </a:pPr>
                      <a:r>
                        <a:rPr lang="en-US" sz="1000" dirty="0">
                          <a:solidFill>
                            <a:srgbClr val="58595B"/>
                          </a:solidFill>
                          <a:latin typeface="Calibri" pitchFamily="34" charset="0"/>
                          <a:ea typeface="Calibri" pitchFamily="34" charset="-122"/>
                          <a:cs typeface="Calibri" pitchFamily="34" charset="-120"/>
                        </a:rPr>
                        <a:t>Schedule Steering Committee milestones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MP-01.5 </a:t>
                      </a:r>
                      <a:pPr indent="0" marL="0">
                        <a:buNone/>
                      </a:pPr>
                      <a:r>
                        <a:rPr lang="en-US" sz="1000" dirty="0">
                          <a:solidFill>
                            <a:srgbClr val="58595B"/>
                          </a:solidFill>
                          <a:latin typeface="Calibri" pitchFamily="34" charset="0"/>
                          <a:ea typeface="Calibri" pitchFamily="34" charset="-122"/>
                          <a:cs typeface="Calibri" pitchFamily="34" charset="-120"/>
                        </a:rPr>
                        <a:t>Compile plan approval pack</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MP-04.1 </a:t>
                      </a:r>
                      <a:pPr indent="0" marL="0">
                        <a:buNone/>
                      </a:pPr>
                      <a:r>
                        <a:rPr lang="en-US" sz="1000" dirty="0">
                          <a:solidFill>
                            <a:srgbClr val="58595B"/>
                          </a:solidFill>
                          <a:latin typeface="Calibri" pitchFamily="34" charset="0"/>
                          <a:ea typeface="Calibri" pitchFamily="34" charset="-122"/>
                          <a:cs typeface="Calibri" pitchFamily="34" charset="-120"/>
                        </a:rPr>
                        <a:t>Consolidate feeder outputs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Approval pack: 2 objectives, net budget 1,330,000 MAD, 6 priority themes, committee date 15 March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UFT-01-08
</a:t>
                      </a:r>
                      <a:pPr indent="0" marL="0">
                        <a:buNone/>
                      </a:pPr>
                      <a:r>
                        <a:rPr lang="en-US" sz="1000" b="1" dirty="0">
                          <a:solidFill>
                            <a:srgbClr val="3A3A3C"/>
                          </a:solidFill>
                          <a:latin typeface="Calibri" pitchFamily="34" charset="0"/>
                          <a:ea typeface="Calibri" pitchFamily="34" charset="-122"/>
                          <a:cs typeface="Calibri" pitchFamily="34" charset="-120"/>
                        </a:rPr>
                        <a:t>Approve and lock annual L&amp;D plan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MP-01.6 </a:t>
                      </a:r>
                      <a:pPr indent="0" marL="0">
                        <a:buNone/>
                      </a:pPr>
                      <a:r>
                        <a:rPr lang="en-US" sz="1000" dirty="0">
                          <a:solidFill>
                            <a:srgbClr val="58595B"/>
                          </a:solidFill>
                          <a:latin typeface="Calibri" pitchFamily="34" charset="0"/>
                          <a:ea typeface="Calibri" pitchFamily="34" charset="-122"/>
                          <a:cs typeface="Calibri" pitchFamily="34" charset="-120"/>
                        </a:rPr>
                        <a:t>Record Steering Committee decision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MP-01.7 </a:t>
                      </a:r>
                      <a:pPr indent="0" marL="0">
                        <a:buNone/>
                      </a:pPr>
                      <a:r>
                        <a:rPr lang="en-US" sz="1000" dirty="0">
                          <a:solidFill>
                            <a:srgbClr val="58595B"/>
                          </a:solidFill>
                          <a:latin typeface="Calibri" pitchFamily="34" charset="0"/>
                          <a:ea typeface="Calibri" pitchFamily="34" charset="-122"/>
                          <a:cs typeface="Calibri" pitchFamily="34" charset="-120"/>
                        </a:rPr>
                        <a:t>Lock and distribute approved plan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Mehdi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6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Decision: Approve. Justification: aligned with SO-1 and SO-2; budget within envelope. Plan locked as version 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01"/>
          <p:cNvSpPr/>
          <p:nvPr/>
        </p:nvSpPr>
        <p:spPr>
          <a:xfrm>
            <a:off x="8494776" y="1271016"/>
            <a:ext cx="3291840" cy="2419567"/>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01">    </p:cNvPr>
          <p:cNvPicPr>
            <a:picLocks noChangeAspect="1"/>
          </p:cNvPicPr>
          <p:nvPr/>
        </p:nvPicPr>
        <p:blipFill>
          <a:blip r:embed="rId1"/>
          <a:stretch>
            <a:fillRect/>
          </a:stretch>
        </p:blipFill>
        <p:spPr>
          <a:xfrm>
            <a:off x="8549640" y="1325880"/>
            <a:ext cx="3182112" cy="2309839"/>
          </a:xfrm>
          <a:prstGeom prst="rect">
            <a:avLst/>
          </a:prstGeom>
        </p:spPr>
      </p:pic>
      <p:sp>
        <p:nvSpPr>
          <p:cNvPr id="8" name="Text 3"/>
          <p:cNvSpPr txBox="1"/>
          <p:nvPr/>
        </p:nvSpPr>
        <p:spPr>
          <a:xfrm>
            <a:off x="8549640" y="3727159"/>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E2E-01 in CortexSkills: its tasks, owners and due dates, and the process card.</a:t>
            </a:r>
            <a:endParaRPr lang="en-US" sz="1000" dirty="0"/>
          </a:p>
        </p:txBody>
      </p:sp>
      <p:sp>
        <p:nvSpPr>
          <p:cNvPr id="9" name="feeds"/>
          <p:cNvSpPr/>
          <p:nvPr/>
        </p:nvSpPr>
        <p:spPr>
          <a:xfrm>
            <a:off x="8549640" y="4572000"/>
            <a:ext cx="3182112" cy="1508760"/>
          </a:xfrm>
          <a:prstGeom prst="roundRect">
            <a:avLst>
              <a:gd name="adj" fmla="val 4848"/>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686800" y="4645152"/>
            <a:ext cx="2926080" cy="1371600"/>
          </a:xfrm>
          <a:prstGeom prst="rect">
            <a:avLst/>
          </a:prstGeom>
          <a:noFill/>
          <a:ln/>
        </p:spPr>
        <p:txBody>
          <a:bodyPr wrap="square" lIns="0" tIns="0" rIns="0" bIns="0" rtlCol="0" anchor="t"/>
          <a:lstStyle/>
          <a:p>
            <a:pPr indent="0" marL="0">
              <a:buNone/>
            </a:pPr>
            <a:r>
              <a:rPr lang="en-US" sz="1000" b="1" dirty="0">
                <a:solidFill>
                  <a:srgbClr val="E07B00"/>
                </a:solidFill>
                <a:latin typeface="Calibri" pitchFamily="34" charset="0"/>
                <a:ea typeface="Calibri" pitchFamily="34" charset="-122"/>
                <a:cs typeface="Calibri" pitchFamily="34" charset="-120"/>
              </a:rPr>
              <a:t>Feeds into
</a:t>
            </a:r>
            <a:pPr indent="0" marL="0">
              <a:buNone/>
            </a:pPr>
            <a:r>
              <a:rPr lang="en-US" sz="1100" dirty="0">
                <a:solidFill>
                  <a:srgbClr val="3A3A3C"/>
                </a:solidFill>
                <a:latin typeface="Calibri" pitchFamily="34" charset="0"/>
                <a:ea typeface="Calibri" pitchFamily="34" charset="-122"/>
                <a:cs typeface="Calibri" pitchFamily="34" charset="-120"/>
              </a:rPr>
              <a:t>E2E-02, E2E-03</a:t>
            </a:r>
            <a:endParaRPr lang="en-US" sz="1100" dirty="0"/>
          </a:p>
          <a:p>
            <a:pPr indent="0" marL="0">
              <a:buNone/>
            </a:pPr>
            <a:r>
              <a:rPr lang="en-US" sz="1000" b="1" dirty="0">
                <a:solidFill>
                  <a:srgbClr val="E07B00"/>
                </a:solidFill>
                <a:latin typeface="Calibri" pitchFamily="34" charset="0"/>
                <a:ea typeface="Calibri" pitchFamily="34" charset="-122"/>
                <a:cs typeface="Calibri" pitchFamily="34" charset="-120"/>
              </a:rPr>
              <a:t>Supported by
</a:t>
            </a:r>
            <a:pPr indent="0" marL="0">
              <a:buNone/>
            </a:pPr>
            <a:r>
              <a:rPr lang="en-US" sz="1100" dirty="0">
                <a:solidFill>
                  <a:srgbClr val="3A3A3C"/>
                </a:solidFill>
                <a:latin typeface="Calibri" pitchFamily="34" charset="0"/>
                <a:ea typeface="Calibri" pitchFamily="34" charset="-122"/>
                <a:cs typeface="Calibri" pitchFamily="34" charset="-120"/>
              </a:rPr>
              <a:t>E2E-15, E2E-17</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3 · E2E-03 · ROOT / MASTER CHAIN (FLAGSHIP)</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Needs-to-Training Engineering Report &amp; Roadmap</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Produce the Training Engineering Report and the prioritized training roadmap</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Validated skills gap diagnosis, consolidated demands, approved Scope of Work or diagnostic findings available.</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Training Engineering Report and prioritized roadmap approved and published.</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10 tasks · 17 steps
</a:t>
            </a:r>
            <a:pPr indent="0" marL="0">
              <a:buNone/>
            </a:pPr>
            <a:r>
              <a:rPr lang="en-US" sz="1100" dirty="0">
                <a:solidFill>
                  <a:srgbClr val="3A3A3C"/>
                </a:solidFill>
                <a:latin typeface="Calibri" pitchFamily="34" charset="0"/>
                <a:ea typeface="Calibri" pitchFamily="34" charset="-122"/>
                <a:cs typeface="Calibri" pitchFamily="34" charset="-120"/>
              </a:rPr>
              <a:t>29 days · 4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MP-01 Strategy &amp; Governance Alignment · </a:t>
            </a:r>
            <a:pPr indent="0" marL="0">
              <a:buNone/>
            </a:pPr>
            <a:r>
              <a:rPr lang="en-US" sz="1000" dirty="0">
                <a:solidFill>
                  <a:srgbClr val="58595B"/>
                </a:solidFill>
                <a:latin typeface="Calibri" pitchFamily="34" charset="0"/>
                <a:ea typeface="Calibri" pitchFamily="34" charset="-122"/>
                <a:cs typeface="Calibri" pitchFamily="34" charset="-120"/>
              </a:rPr>
              <a:t>MP-03 Needs Analysis &amp; Diagnosis · </a:t>
            </a:r>
            <a:pPr indent="0" marL="0">
              <a:buNone/>
            </a:pPr>
            <a:r>
              <a:rPr lang="en-US" sz="1000" dirty="0">
                <a:solidFill>
                  <a:srgbClr val="58595B"/>
                </a:solidFill>
                <a:latin typeface="Calibri" pitchFamily="34" charset="0"/>
                <a:ea typeface="Calibri" pitchFamily="34" charset="-122"/>
                <a:cs typeface="Calibri" pitchFamily="34" charset="-120"/>
              </a:rPr>
              <a:t>MP-04 Training Engineering Report &amp; Roadmap Elaboration · </a:t>
            </a:r>
            <a:pPr indent="0" marL="0">
              <a:buNone/>
            </a:pPr>
            <a:r>
              <a:rPr lang="en-US" sz="1000" dirty="0">
                <a:solidFill>
                  <a:srgbClr val="58595B"/>
                </a:solidFill>
                <a:latin typeface="Calibri" pitchFamily="34" charset="0"/>
                <a:ea typeface="Calibri" pitchFamily="34" charset="-122"/>
                <a:cs typeface="Calibri" pitchFamily="34" charset="-120"/>
              </a:rPr>
              <a:t>MP-18 Financial &amp; Budget Management · </a:t>
            </a:r>
            <a:pPr indent="0" marL="0">
              <a:buNone/>
            </a:pPr>
            <a:r>
              <a:rPr lang="en-US" sz="1000" dirty="0">
                <a:solidFill>
                  <a:srgbClr val="58595B"/>
                </a:solidFill>
                <a:latin typeface="Calibri" pitchFamily="34" charset="0"/>
                <a:ea typeface="Calibri" pitchFamily="34" charset="-122"/>
                <a:cs typeface="Calibri" pitchFamily="34" charset="-120"/>
              </a:rPr>
              <a:t>MP-20 Quality, Risk &amp; Continuous Improvement</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UFT-03-01
</a:t>
                      </a:r>
                      <a:pPr indent="0" marL="0">
                        <a:buNone/>
                      </a:pPr>
                      <a:r>
                        <a:rPr lang="en-US" sz="1000" b="1" dirty="0">
                          <a:solidFill>
                            <a:srgbClr val="3A3A3C"/>
                          </a:solidFill>
                          <a:latin typeface="Calibri" pitchFamily="34" charset="0"/>
                          <a:ea typeface="Calibri" pitchFamily="34" charset="-122"/>
                          <a:cs typeface="Calibri" pitchFamily="34" charset="-120"/>
                        </a:rPr>
                        <a:t>Plan diagnostic interviews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MP-03.3 </a:t>
                      </a:r>
                      <a:pPr indent="0" marL="0">
                        <a:buNone/>
                      </a:pPr>
                      <a:r>
                        <a:rPr lang="en-US" sz="1000" dirty="0">
                          <a:solidFill>
                            <a:srgbClr val="58595B"/>
                          </a:solidFill>
                          <a:latin typeface="Calibri" pitchFamily="34" charset="0"/>
                          <a:ea typeface="Calibri" pitchFamily="34" charset="-122"/>
                          <a:cs typeface="Calibri" pitchFamily="34" charset="-120"/>
                        </a:rPr>
                        <a:t>Plan diagnostic interviews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15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Interview plan: 14 semi-structured interviews (4 MS, 6 MO, 4 OP), 45 minutes each, weeks 10-11.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UFT-03-02
</a:t>
                      </a:r>
                      <a:pPr indent="0" marL="0">
                        <a:buNone/>
                      </a:pPr>
                      <a:r>
                        <a:rPr lang="en-US" sz="1000" b="1" dirty="0">
                          <a:solidFill>
                            <a:srgbClr val="3A3A3C"/>
                          </a:solidFill>
                          <a:latin typeface="Calibri" pitchFamily="34" charset="0"/>
                          <a:ea typeface="Calibri" pitchFamily="34" charset="-122"/>
                          <a:cs typeface="Calibri" pitchFamily="34" charset="-120"/>
                        </a:rPr>
                        <a:t>Record interview findings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MP-03.4 </a:t>
                      </a:r>
                      <a:pPr indent="0" marL="0">
                        <a:buNone/>
                      </a:pPr>
                      <a:r>
                        <a:rPr lang="en-US" sz="1000" dirty="0">
                          <a:solidFill>
                            <a:srgbClr val="58595B"/>
                          </a:solidFill>
                          <a:latin typeface="Calibri" pitchFamily="34" charset="0"/>
                          <a:ea typeface="Calibri" pitchFamily="34" charset="-122"/>
                          <a:cs typeface="Calibri" pitchFamily="34" charset="-120"/>
                        </a:rPr>
                        <a:t>Record interview findings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Finding (MO, Clinical Care &amp; Nursing): 'Supervisors do not trust AI triage and clinical decision support data; they re-enter figures on paper.'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UFT-03-03
</a:t>
                      </a:r>
                      <a:pPr indent="0" marL="0">
                        <a:buNone/>
                      </a:pPr>
                      <a:r>
                        <a:rPr lang="en-US" sz="1000" b="1" dirty="0">
                          <a:solidFill>
                            <a:srgbClr val="3A3A3C"/>
                          </a:solidFill>
                          <a:latin typeface="Calibri" pitchFamily="34" charset="0"/>
                          <a:ea typeface="Calibri" pitchFamily="34" charset="-122"/>
                          <a:cs typeface="Calibri" pitchFamily="34" charset="-120"/>
                        </a:rPr>
                        <a:t>Cluster needs into themes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MP-03.5 </a:t>
                      </a:r>
                      <a:pPr indent="0" marL="0">
                        <a:buNone/>
                      </a:pPr>
                      <a:r>
                        <a:rPr lang="en-US" sz="1000" dirty="0">
                          <a:solidFill>
                            <a:srgbClr val="58595B"/>
                          </a:solidFill>
                          <a:latin typeface="Calibri" pitchFamily="34" charset="0"/>
                          <a:ea typeface="Calibri" pitchFamily="34" charset="-122"/>
                          <a:cs typeface="Calibri" pitchFamily="34" charset="-120"/>
                        </a:rPr>
                        <a:t>Cluster needs into training themes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Accept theme 'AI triage and clinical decision support for supervisors'; merge two duplicate themes on AI medical imaging assistance; split 'ISO 7101' into awareness and auditor tracks.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UFT-03-04
</a:t>
                      </a:r>
                      <a:pPr indent="0" marL="0">
                        <a:buNone/>
                      </a:pPr>
                      <a:r>
                        <a:rPr lang="en-US" sz="1000" b="1" dirty="0">
                          <a:solidFill>
                            <a:srgbClr val="3A3A3C"/>
                          </a:solidFill>
                          <a:latin typeface="Calibri" pitchFamily="34" charset="0"/>
                          <a:ea typeface="Calibri" pitchFamily="34" charset="-122"/>
                          <a:cs typeface="Calibri" pitchFamily="34" charset="-120"/>
                        </a:rPr>
                        <a:t>Prioritize needs by impact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MP-03.6 </a:t>
                      </a:r>
                      <a:pPr indent="0" marL="0">
                        <a:buNone/>
                      </a:pPr>
                      <a:r>
                        <a:rPr lang="en-US" sz="1000" dirty="0">
                          <a:solidFill>
                            <a:srgbClr val="58595B"/>
                          </a:solidFill>
                          <a:latin typeface="Calibri" pitchFamily="34" charset="0"/>
                          <a:ea typeface="Calibri" pitchFamily="34" charset="-122"/>
                          <a:cs typeface="Calibri" pitchFamily="34" charset="-120"/>
                        </a:rPr>
                        <a:t>Prioritize needs by business impact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Amine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AI triage and clinical decision support: impact 5, urgency 4. AI medical imaging assistance: impact 4, urgency 3. ISO 7101: impact 4, urgency 5.</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03"/>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03-03 Cluster needs into theme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UFT-03-03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3 · E2E-03 · ROOT / MASTER CHAIN (FLAGSHIP)</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Needs-to-Training Engineering Report &amp; Roadmap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UFT-03-05
</a:t>
                      </a:r>
                      <a:pPr indent="0" marL="0">
                        <a:buNone/>
                      </a:pPr>
                      <a:r>
                        <a:rPr lang="en-US" sz="1000" b="1" dirty="0">
                          <a:solidFill>
                            <a:srgbClr val="3A3A3C"/>
                          </a:solidFill>
                          <a:latin typeface="Calibri" pitchFamily="34" charset="0"/>
                          <a:ea typeface="Calibri" pitchFamily="34" charset="-122"/>
                          <a:cs typeface="Calibri" pitchFamily="34" charset="-120"/>
                        </a:rPr>
                        <a:t>Validate needs register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MP-03.7 </a:t>
                      </a:r>
                      <a:pPr indent="0" marL="0">
                        <a:buNone/>
                      </a:pPr>
                      <a:r>
                        <a:rPr lang="en-US" sz="1000" dirty="0">
                          <a:solidFill>
                            <a:srgbClr val="58595B"/>
                          </a:solidFill>
                          <a:latin typeface="Calibri" pitchFamily="34" charset="0"/>
                          <a:ea typeface="Calibri" pitchFamily="34" charset="-122"/>
                          <a:cs typeface="Calibri" pitchFamily="34" charset="-120"/>
                        </a:rPr>
                        <a:t>Validate needs register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Needs register validated: 23 needs, 6 themes. Justification: covers SO-1 and SO-2; sponsor reviewed.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UFT-03-06
</a:t>
                      </a:r>
                      <a:pPr indent="0" marL="0">
                        <a:buNone/>
                      </a:pPr>
                      <a:r>
                        <a:rPr lang="en-US" sz="1000" b="1" dirty="0">
                          <a:solidFill>
                            <a:srgbClr val="3A3A3C"/>
                          </a:solidFill>
                          <a:latin typeface="Calibri" pitchFamily="34" charset="0"/>
                          <a:ea typeface="Calibri" pitchFamily="34" charset="-122"/>
                          <a:cs typeface="Calibri" pitchFamily="34" charset="-120"/>
                        </a:rPr>
                        <a:t>Consolidate engineering inputs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MP-04.1 </a:t>
                      </a:r>
                      <a:pPr indent="0" marL="0">
                        <a:buNone/>
                      </a:pPr>
                      <a:r>
                        <a:rPr lang="en-US" sz="1000" dirty="0">
                          <a:solidFill>
                            <a:srgbClr val="58595B"/>
                          </a:solidFill>
                          <a:latin typeface="Calibri" pitchFamily="34" charset="0"/>
                          <a:ea typeface="Calibri" pitchFamily="34" charset="-122"/>
                          <a:cs typeface="Calibri" pitchFamily="34" charset="-120"/>
                        </a:rPr>
                        <a:t>Consolidate feeder outputs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MP-04.2 </a:t>
                      </a:r>
                      <a:pPr indent="0" marL="0">
                        <a:buNone/>
                      </a:pPr>
                      <a:r>
                        <a:rPr lang="en-US" sz="1000" dirty="0">
                          <a:solidFill>
                            <a:srgbClr val="58595B"/>
                          </a:solidFill>
                          <a:latin typeface="Calibri" pitchFamily="34" charset="0"/>
                          <a:ea typeface="Calibri" pitchFamily="34" charset="-122"/>
                          <a:cs typeface="Calibri" pitchFamily="34" charset="-120"/>
                        </a:rPr>
                        <a:t>Check input completeness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Inputs complete: Scope of Work, 187 responses, gap matrix, RAG dashboard, SWOT, demands. Missing: none.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UFT-03-07
</a:t>
                      </a:r>
                      <a:pPr indent="0" marL="0">
                        <a:buNone/>
                      </a:pPr>
                      <a:r>
                        <a:rPr lang="en-US" sz="1000" b="1" dirty="0">
                          <a:solidFill>
                            <a:srgbClr val="3A3A3C"/>
                          </a:solidFill>
                          <a:latin typeface="Calibri" pitchFamily="34" charset="0"/>
                          <a:ea typeface="Calibri" pitchFamily="34" charset="-122"/>
                          <a:cs typeface="Calibri" pitchFamily="34" charset="-120"/>
                        </a:rPr>
                        <a:t>Draft Training Engineering Report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MP-04.3 </a:t>
                      </a:r>
                      <a:pPr indent="0" marL="0">
                        <a:buNone/>
                      </a:pPr>
                      <a:r>
                        <a:rPr lang="en-US" sz="1000" dirty="0">
                          <a:solidFill>
                            <a:srgbClr val="58595B"/>
                          </a:solidFill>
                          <a:latin typeface="Calibri" pitchFamily="34" charset="0"/>
                          <a:ea typeface="Calibri" pitchFamily="34" charset="-122"/>
                          <a:cs typeface="Calibri" pitchFamily="34" charset="-120"/>
                        </a:rPr>
                        <a:t>Generate report draft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MP-04.4 </a:t>
                      </a:r>
                      <a:pPr indent="0" marL="0">
                        <a:buNone/>
                      </a:pPr>
                      <a:r>
                        <a:rPr lang="en-US" sz="1000" dirty="0">
                          <a:solidFill>
                            <a:srgbClr val="58595B"/>
                          </a:solidFill>
                          <a:latin typeface="Calibri" pitchFamily="34" charset="0"/>
                          <a:ea typeface="Calibri" pitchFamily="34" charset="-122"/>
                          <a:cs typeface="Calibri" pitchFamily="34" charset="-120"/>
                        </a:rPr>
                        <a:t>Edit and complete report sections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Amine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Section 3 'Diagnostic': edit the AI draft, add the interview quote on AI triage and clinical decision support, keep the RAG table.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UFT-03-08
</a:t>
                      </a:r>
                      <a:pPr indent="0" marL="0">
                        <a:buNone/>
                      </a:pPr>
                      <a:r>
                        <a:rPr lang="en-US" sz="1000" b="1" dirty="0">
                          <a:solidFill>
                            <a:srgbClr val="3A3A3C"/>
                          </a:solidFill>
                          <a:latin typeface="Calibri" pitchFamily="34" charset="0"/>
                          <a:ea typeface="Calibri" pitchFamily="34" charset="-122"/>
                          <a:cs typeface="Calibri" pitchFamily="34" charset="-120"/>
                        </a:rPr>
                        <a:t>Run quality review</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MP-04.5 </a:t>
                      </a:r>
                      <a:pPr indent="0" marL="0">
                        <a:buNone/>
                      </a:pPr>
                      <a:r>
                        <a:rPr lang="en-US" sz="1000" dirty="0">
                          <a:solidFill>
                            <a:srgbClr val="58595B"/>
                          </a:solidFill>
                          <a:latin typeface="Calibri" pitchFamily="34" charset="0"/>
                          <a:ea typeface="Calibri" pitchFamily="34" charset="-122"/>
                          <a:cs typeface="Calibri" pitchFamily="34" charset="-120"/>
                        </a:rPr>
                        <a:t>Run quality review of report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MP-20.5 </a:t>
                      </a:r>
                      <a:pPr indent="0" marL="0">
                        <a:buNone/>
                      </a:pPr>
                      <a:r>
                        <a:rPr lang="en-US" sz="1000" dirty="0">
                          <a:solidFill>
                            <a:srgbClr val="58595B"/>
                          </a:solidFill>
                          <a:latin typeface="Calibri" pitchFamily="34" charset="0"/>
                          <a:ea typeface="Calibri" pitchFamily="34" charset="-122"/>
                          <a:cs typeface="Calibri" pitchFamily="34" charset="-120"/>
                        </a:rPr>
                        <a:t>Run periodic quality review</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Soukaina Bennani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6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Quality review: 11/12 checklist items met; fix item 'sources cited for every figure'. Result: pass after correction.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UFT-03-09
</a:t>
                      </a:r>
                      <a:pPr indent="0" marL="0">
                        <a:buNone/>
                      </a:pPr>
                      <a:r>
                        <a:rPr lang="en-US" sz="1000" b="1" dirty="0">
                          <a:solidFill>
                            <a:srgbClr val="3A3A3C"/>
                          </a:solidFill>
                          <a:latin typeface="Calibri" pitchFamily="34" charset="0"/>
                          <a:ea typeface="Calibri" pitchFamily="34" charset="-122"/>
                          <a:cs typeface="Calibri" pitchFamily="34" charset="-120"/>
                        </a:rPr>
                        <a:t>Sequence and budget roadmap</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MP-04.6 </a:t>
                      </a:r>
                      <a:pPr indent="0" marL="0">
                        <a:buNone/>
                      </a:pPr>
                      <a:r>
                        <a:rPr lang="en-US" sz="1000" dirty="0">
                          <a:solidFill>
                            <a:srgbClr val="58595B"/>
                          </a:solidFill>
                          <a:latin typeface="Calibri" pitchFamily="34" charset="0"/>
                          <a:ea typeface="Calibri" pitchFamily="34" charset="-122"/>
                          <a:cs typeface="Calibri" pitchFamily="34" charset="-120"/>
                        </a:rPr>
                        <a:t>Sequence roadmap initiatives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MP-18.1 </a:t>
                      </a:r>
                      <a:pPr indent="0" marL="0">
                        <a:buNone/>
                      </a:pPr>
                      <a:r>
                        <a:rPr lang="en-US" sz="1000" dirty="0">
                          <a:solidFill>
                            <a:srgbClr val="58595B"/>
                          </a:solidFill>
                          <a:latin typeface="Calibri" pitchFamily="34" charset="0"/>
                          <a:ea typeface="Calibri" pitchFamily="34" charset="-122"/>
                          <a:cs typeface="Calibri" pitchFamily="34" charset="-120"/>
                        </a:rPr>
                        <a:t>Allocate budget by theme and site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Amine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9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Roadmap: Q2 AI triage and clinical decision support (6 groups); Q3 ISO 7101 (4 groups); Q4 AI medical imaging assistance (3 groups). Total 1,240,000 MAD.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UFT-03-10
</a:t>
                      </a:r>
                      <a:pPr indent="0" marL="0">
                        <a:buNone/>
                      </a:pPr>
                      <a:r>
                        <a:rPr lang="en-US" sz="1000" b="1" dirty="0">
                          <a:solidFill>
                            <a:srgbClr val="3A3A3C"/>
                          </a:solidFill>
                          <a:latin typeface="Calibri" pitchFamily="34" charset="0"/>
                          <a:ea typeface="Calibri" pitchFamily="34" charset="-122"/>
                          <a:cs typeface="Calibri" pitchFamily="34" charset="-120"/>
                        </a:rPr>
                        <a:t>Approve and publish report and roadmap</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MP-04.7 </a:t>
                      </a:r>
                      <a:pPr indent="0" marL="0">
                        <a:buNone/>
                      </a:pPr>
                      <a:r>
                        <a:rPr lang="en-US" sz="1000" dirty="0">
                          <a:solidFill>
                            <a:srgbClr val="58595B"/>
                          </a:solidFill>
                          <a:latin typeface="Calibri" pitchFamily="34" charset="0"/>
                          <a:ea typeface="Calibri" pitchFamily="34" charset="-122"/>
                          <a:cs typeface="Calibri" pitchFamily="34" charset="-120"/>
                        </a:rPr>
                        <a:t>Submit roadmap for approval</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MP-04.8 </a:t>
                      </a:r>
                      <a:pPr indent="0" marL="0">
                        <a:buNone/>
                      </a:pPr>
                      <a:r>
                        <a:rPr lang="en-US" sz="1000" dirty="0">
                          <a:solidFill>
                            <a:srgbClr val="58595B"/>
                          </a:solidFill>
                          <a:latin typeface="Calibri" pitchFamily="34" charset="0"/>
                          <a:ea typeface="Calibri" pitchFamily="34" charset="-122"/>
                          <a:cs typeface="Calibri" pitchFamily="34" charset="-120"/>
                        </a:rPr>
                        <a:t>Record roadmap approval</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MP-04.9 </a:t>
                      </a:r>
                      <a:pPr indent="0" marL="0">
                        <a:buNone/>
                      </a:pPr>
                      <a:r>
                        <a:rPr lang="en-US" sz="1000" dirty="0">
                          <a:solidFill>
                            <a:srgbClr val="58595B"/>
                          </a:solidFill>
                          <a:latin typeface="Calibri" pitchFamily="34" charset="0"/>
                          <a:ea typeface="Calibri" pitchFamily="34" charset="-122"/>
                          <a:cs typeface="Calibri" pitchFamily="34" charset="-120"/>
                        </a:rPr>
                        <a:t>Publish approved report and roadmap</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+ 1 more steps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12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Decision: Approve report and roadmap v1. Justification: within budget, linked to SO-1/SO-2. Publish to all stakeholders.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6" name="frame run_E2E-03"/>
          <p:cNvSpPr/>
          <p:nvPr/>
        </p:nvSpPr>
        <p:spPr>
          <a:xfrm>
            <a:off x="8494776" y="1271016"/>
            <a:ext cx="3291840" cy="2419567"/>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03">    </p:cNvPr>
          <p:cNvPicPr>
            <a:picLocks noChangeAspect="1"/>
          </p:cNvPicPr>
          <p:nvPr/>
        </p:nvPicPr>
        <p:blipFill>
          <a:blip r:embed="rId1"/>
          <a:stretch>
            <a:fillRect/>
          </a:stretch>
        </p:blipFill>
        <p:spPr>
          <a:xfrm>
            <a:off x="8549640" y="1325880"/>
            <a:ext cx="3182112" cy="2309839"/>
          </a:xfrm>
          <a:prstGeom prst="rect">
            <a:avLst/>
          </a:prstGeom>
        </p:spPr>
      </p:pic>
      <p:sp>
        <p:nvSpPr>
          <p:cNvPr id="8" name="Text 3"/>
          <p:cNvSpPr txBox="1"/>
          <p:nvPr/>
        </p:nvSpPr>
        <p:spPr>
          <a:xfrm>
            <a:off x="8549640" y="3727159"/>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E2E-03 in CortexSkills: its tasks, owners and due dates, and the process card.</a:t>
            </a:r>
            <a:endParaRPr lang="en-US" sz="1000" dirty="0"/>
          </a:p>
        </p:txBody>
      </p:sp>
      <p:sp>
        <p:nvSpPr>
          <p:cNvPr id="9" name="feeds"/>
          <p:cNvSpPr/>
          <p:nvPr/>
        </p:nvSpPr>
        <p:spPr>
          <a:xfrm>
            <a:off x="8549640" y="4572000"/>
            <a:ext cx="3182112" cy="1508760"/>
          </a:xfrm>
          <a:prstGeom prst="roundRect">
            <a:avLst>
              <a:gd name="adj" fmla="val 4848"/>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686800" y="4645152"/>
            <a:ext cx="2926080" cy="1371600"/>
          </a:xfrm>
          <a:prstGeom prst="rect">
            <a:avLst/>
          </a:prstGeom>
          <a:noFill/>
          <a:ln/>
        </p:spPr>
        <p:txBody>
          <a:bodyPr wrap="square" lIns="0" tIns="0" rIns="0" bIns="0" rtlCol="0" anchor="t"/>
          <a:lstStyle/>
          <a:p>
            <a:pPr indent="0" marL="0">
              <a:buNone/>
            </a:pPr>
            <a:r>
              <a:rPr lang="en-US" sz="1000" b="1" dirty="0">
                <a:solidFill>
                  <a:srgbClr val="E07B00"/>
                </a:solidFill>
                <a:latin typeface="Calibri" pitchFamily="34" charset="0"/>
                <a:ea typeface="Calibri" pitchFamily="34" charset="-122"/>
                <a:cs typeface="Calibri" pitchFamily="34" charset="-120"/>
              </a:rPr>
              <a:t>Feeds into
</a:t>
            </a:r>
            <a:pPr indent="0" marL="0">
              <a:buNone/>
            </a:pPr>
            <a:r>
              <a:rPr lang="en-US" sz="1100" dirty="0">
                <a:solidFill>
                  <a:srgbClr val="3A3A3C"/>
                </a:solidFill>
                <a:latin typeface="Calibri" pitchFamily="34" charset="0"/>
                <a:ea typeface="Calibri" pitchFamily="34" charset="-122"/>
                <a:cs typeface="Calibri" pitchFamily="34" charset="-120"/>
              </a:rPr>
              <a:t>E2E-04, E2E-22, E2E-23</a:t>
            </a:r>
            <a:endParaRPr lang="en-US" sz="1100" dirty="0"/>
          </a:p>
          <a:p>
            <a:pPr indent="0" marL="0">
              <a:buNone/>
            </a:pPr>
            <a:r>
              <a:rPr lang="en-US" sz="1000" b="1" dirty="0">
                <a:solidFill>
                  <a:srgbClr val="E07B00"/>
                </a:solidFill>
                <a:latin typeface="Calibri" pitchFamily="34" charset="0"/>
                <a:ea typeface="Calibri" pitchFamily="34" charset="-122"/>
                <a:cs typeface="Calibri" pitchFamily="34" charset="-120"/>
              </a:rPr>
              <a:t>Supported by
</a:t>
            </a:r>
            <a:pPr indent="0" marL="0">
              <a:buNone/>
            </a:pPr>
            <a:r>
              <a:rPr lang="en-US" sz="1100" dirty="0">
                <a:solidFill>
                  <a:srgbClr val="3A3A3C"/>
                </a:solidFill>
                <a:latin typeface="Calibri" pitchFamily="34" charset="0"/>
                <a:ea typeface="Calibri" pitchFamily="34" charset="-122"/>
                <a:cs typeface="Calibri" pitchFamily="34" charset="-120"/>
              </a:rPr>
              <a:t>E2E-15, 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3 · E2E-30 · ROOT (PLANNING)</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Prioritization-to-Resource Plan</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Prioritize themes and plan days, groups, trainers, budget</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Consolidated training themes requiring prioritization and resource planning.</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Approved prioritized training plan with days per theme, group planning, trainer allocation, and budget.</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tasks · 12 steps
</a:t>
            </a:r>
            <a:pPr indent="0" marL="0">
              <a:buNone/>
            </a:pPr>
            <a:r>
              <a:rPr lang="en-US" sz="1100" dirty="0">
                <a:solidFill>
                  <a:srgbClr val="3A3A3C"/>
                </a:solidFill>
                <a:latin typeface="Calibri" pitchFamily="34" charset="0"/>
                <a:ea typeface="Calibri" pitchFamily="34" charset="-122"/>
                <a:cs typeface="Calibri" pitchFamily="34" charset="-120"/>
              </a:rPr>
              <a:t>20 days · 5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MP-49 Training Plan Prioritization &amp; Resource Planning · </a:t>
            </a:r>
            <a:pPr indent="0" marL="0">
              <a:buNone/>
            </a:pPr>
            <a:r>
              <a:rPr lang="en-US" sz="1000" dirty="0">
                <a:solidFill>
                  <a:srgbClr val="58595B"/>
                </a:solidFill>
                <a:latin typeface="Calibri" pitchFamily="34" charset="0"/>
                <a:ea typeface="Calibri" pitchFamily="34" charset="-122"/>
                <a:cs typeface="Calibri" pitchFamily="34" charset="-120"/>
              </a:rPr>
              <a:t>MP-04 Training Engineering Report &amp; Roadmap Elaboration · </a:t>
            </a:r>
            <a:pPr indent="0" marL="0">
              <a:buNone/>
            </a:pPr>
            <a:r>
              <a:rPr lang="en-US" sz="1000" dirty="0">
                <a:solidFill>
                  <a:srgbClr val="58595B"/>
                </a:solidFill>
                <a:latin typeface="Calibri" pitchFamily="34" charset="0"/>
                <a:ea typeface="Calibri" pitchFamily="34" charset="-122"/>
                <a:cs typeface="Calibri" pitchFamily="34" charset="-120"/>
              </a:rPr>
              <a:t>MP-18 Financial &amp; Budget Management · </a:t>
            </a:r>
            <a:pPr indent="0" marL="0">
              <a:buNone/>
            </a:pPr>
            <a:r>
              <a:rPr lang="en-US" sz="1000" dirty="0">
                <a:solidFill>
                  <a:srgbClr val="58595B"/>
                </a:solidFill>
                <a:latin typeface="Calibri" pitchFamily="34" charset="0"/>
                <a:ea typeface="Calibri" pitchFamily="34" charset="-122"/>
                <a:cs typeface="Calibri" pitchFamily="34" charset="-120"/>
              </a:rPr>
              <a:t>MP-11 Administration &amp; Operations · </a:t>
            </a:r>
            <a:pPr indent="0" marL="0">
              <a:buNone/>
            </a:pPr>
            <a:r>
              <a:rPr lang="en-US" sz="1000" dirty="0">
                <a:solidFill>
                  <a:srgbClr val="58595B"/>
                </a:solidFill>
                <a:latin typeface="Calibri" pitchFamily="34" charset="0"/>
                <a:ea typeface="Calibri" pitchFamily="34" charset="-122"/>
                <a:cs typeface="Calibri" pitchFamily="34" charset="-120"/>
              </a:rPr>
              <a:t>MP-07 Learning Delivery &amp; Implementation</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UFT-30-01
</a:t>
                      </a:r>
                      <a:pPr indent="0" marL="0">
                        <a:buNone/>
                      </a:pPr>
                      <a:r>
                        <a:rPr lang="en-US" sz="1000" b="1" dirty="0">
                          <a:solidFill>
                            <a:srgbClr val="3A3A3C"/>
                          </a:solidFill>
                          <a:latin typeface="Calibri" pitchFamily="34" charset="0"/>
                          <a:ea typeface="Calibri" pitchFamily="34" charset="-122"/>
                          <a:cs typeface="Calibri" pitchFamily="34" charset="-120"/>
                        </a:rPr>
                        <a:t>Consolidate training themes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MP-49.1 </a:t>
                      </a:r>
                      <a:pPr indent="0" marL="0">
                        <a:buNone/>
                      </a:pPr>
                      <a:r>
                        <a:rPr lang="en-US" sz="1000" dirty="0">
                          <a:solidFill>
                            <a:srgbClr val="58595B"/>
                          </a:solidFill>
                          <a:latin typeface="Calibri" pitchFamily="34" charset="0"/>
                          <a:ea typeface="Calibri" pitchFamily="34" charset="-122"/>
                          <a:cs typeface="Calibri" pitchFamily="34" charset="-120"/>
                        </a:rPr>
                        <a:t>Consolidate training themes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15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Consolidated list: 9 themes from needs, demands, GPEC and SWOT.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UFT-30-02
</a:t>
                      </a:r>
                      <a:pPr indent="0" marL="0">
                        <a:buNone/>
                      </a:pPr>
                      <a:r>
                        <a:rPr lang="en-US" sz="1000" b="1" dirty="0">
                          <a:solidFill>
                            <a:srgbClr val="3A3A3C"/>
                          </a:solidFill>
                          <a:latin typeface="Calibri" pitchFamily="34" charset="0"/>
                          <a:ea typeface="Calibri" pitchFamily="34" charset="-122"/>
                          <a:cs typeface="Calibri" pitchFamily="34" charset="-120"/>
                        </a:rPr>
                        <a:t>Define prioritization criteria</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MP-49.2 </a:t>
                      </a:r>
                      <a:pPr indent="0" marL="0">
                        <a:buNone/>
                      </a:pPr>
                      <a:r>
                        <a:rPr lang="en-US" sz="1000" dirty="0">
                          <a:solidFill>
                            <a:srgbClr val="58595B"/>
                          </a:solidFill>
                          <a:latin typeface="Calibri" pitchFamily="34" charset="0"/>
                          <a:ea typeface="Calibri" pitchFamily="34" charset="-122"/>
                          <a:cs typeface="Calibri" pitchFamily="34" charset="-120"/>
                        </a:rPr>
                        <a:t>Define prioritization criteria</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Amine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Criteria: strategic impact 40%, urgency 30%, number of learners 20%, cost 10%.</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UFT-30-03
</a:t>
                      </a:r>
                      <a:pPr indent="0" marL="0">
                        <a:buNone/>
                      </a:pPr>
                      <a:r>
                        <a:rPr lang="en-US" sz="1000" b="1" dirty="0">
                          <a:solidFill>
                            <a:srgbClr val="3A3A3C"/>
                          </a:solidFill>
                          <a:latin typeface="Calibri" pitchFamily="34" charset="0"/>
                          <a:ea typeface="Calibri" pitchFamily="34" charset="-122"/>
                          <a:cs typeface="Calibri" pitchFamily="34" charset="-120"/>
                        </a:rPr>
                        <a:t>Prioritize themes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MP-49.3 </a:t>
                      </a:r>
                      <a:pPr indent="0" marL="0">
                        <a:buNone/>
                      </a:pPr>
                      <a:r>
                        <a:rPr lang="en-US" sz="1000" dirty="0">
                          <a:solidFill>
                            <a:srgbClr val="58595B"/>
                          </a:solidFill>
                          <a:latin typeface="Calibri" pitchFamily="34" charset="0"/>
                          <a:ea typeface="Calibri" pitchFamily="34" charset="-122"/>
                          <a:cs typeface="Calibri" pitchFamily="34" charset="-120"/>
                        </a:rPr>
                        <a:t>Prioritize themes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Amine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Rank 1 AI triage and clinical decision support (score 86); rank 2 ISO 7101 (81); rank 3 AI medical imaging assistance (74).</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UFT-30-04
</a:t>
                      </a:r>
                      <a:pPr indent="0" marL="0">
                        <a:buNone/>
                      </a:pPr>
                      <a:r>
                        <a:rPr lang="en-US" sz="1000" b="1" dirty="0">
                          <a:solidFill>
                            <a:srgbClr val="3A3A3C"/>
                          </a:solidFill>
                          <a:latin typeface="Calibri" pitchFamily="34" charset="0"/>
                          <a:ea typeface="Calibri" pitchFamily="34" charset="-122"/>
                          <a:cs typeface="Calibri" pitchFamily="34" charset="-120"/>
                        </a:rPr>
                        <a:t>Estimate days per theme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MP-49.4 </a:t>
                      </a:r>
                      <a:pPr indent="0" marL="0">
                        <a:buNone/>
                      </a:pPr>
                      <a:r>
                        <a:rPr lang="en-US" sz="1000" dirty="0">
                          <a:solidFill>
                            <a:srgbClr val="58595B"/>
                          </a:solidFill>
                          <a:latin typeface="Calibri" pitchFamily="34" charset="0"/>
                          <a:ea typeface="Calibri" pitchFamily="34" charset="-122"/>
                          <a:cs typeface="Calibri" pitchFamily="34" charset="-120"/>
                        </a:rPr>
                        <a:t>Estimate days per theme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Hamza Sefrioui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AI triage and clinical decision support: 3 days per group; ISO 7101: 2 days; AI medical imaging assistance: 1.5 days.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UFT-30-05
</a:t>
                      </a:r>
                      <a:pPr indent="0" marL="0">
                        <a:buNone/>
                      </a:pPr>
                      <a:r>
                        <a:rPr lang="en-US" sz="1000" b="1" dirty="0">
                          <a:solidFill>
                            <a:srgbClr val="3A3A3C"/>
                          </a:solidFill>
                          <a:latin typeface="Calibri" pitchFamily="34" charset="0"/>
                          <a:ea typeface="Calibri" pitchFamily="34" charset="-122"/>
                          <a:cs typeface="Calibri" pitchFamily="34" charset="-120"/>
                        </a:rPr>
                        <a:t>Define groups per theme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MP-49.5 </a:t>
                      </a:r>
                      <a:pPr indent="0" marL="0">
                        <a:buNone/>
                      </a:pPr>
                      <a:r>
                        <a:rPr lang="en-US" sz="1000" dirty="0">
                          <a:solidFill>
                            <a:srgbClr val="58595B"/>
                          </a:solidFill>
                          <a:latin typeface="Calibri" pitchFamily="34" charset="0"/>
                          <a:ea typeface="Calibri" pitchFamily="34" charset="-122"/>
                          <a:cs typeface="Calibri" pitchFamily="34" charset="-120"/>
                        </a:rPr>
                        <a:t>Define number of groups per theme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MP-49.6 </a:t>
                      </a:r>
                      <a:pPr indent="0" marL="0">
                        <a:buNone/>
                      </a:pPr>
                      <a:r>
                        <a:rPr lang="en-US" sz="1000" dirty="0">
                          <a:solidFill>
                            <a:srgbClr val="58595B"/>
                          </a:solidFill>
                          <a:latin typeface="Calibri" pitchFamily="34" charset="0"/>
                          <a:ea typeface="Calibri" pitchFamily="34" charset="-122"/>
                          <a:cs typeface="Calibri" pitchFamily="34" charset="-120"/>
                        </a:rPr>
                        <a:t>Allocate trainers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Hamza Sefrioui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AI triage and clinical decision support: 6 groups of 12; ISO 7101: 4 groups; AI medical imaging assistance: 3 groups.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UFT-30-06
</a:t>
                      </a:r>
                      <a:pPr indent="0" marL="0">
                        <a:buNone/>
                      </a:pPr>
                      <a:r>
                        <a:rPr lang="en-US" sz="1000" b="1" dirty="0">
                          <a:solidFill>
                            <a:srgbClr val="3A3A3C"/>
                          </a:solidFill>
                          <a:latin typeface="Calibri" pitchFamily="34" charset="0"/>
                          <a:ea typeface="Calibri" pitchFamily="34" charset="-122"/>
                          <a:cs typeface="Calibri" pitchFamily="34" charset="-120"/>
                        </a:rPr>
                        <a:t>Allocate trainers and budget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MP-49.7 </a:t>
                      </a:r>
                      <a:pPr indent="0" marL="0">
                        <a:buNone/>
                      </a:pPr>
                      <a:r>
                        <a:rPr lang="en-US" sz="1000" dirty="0">
                          <a:solidFill>
                            <a:srgbClr val="58595B"/>
                          </a:solidFill>
                          <a:latin typeface="Calibri" pitchFamily="34" charset="0"/>
                          <a:ea typeface="Calibri" pitchFamily="34" charset="-122"/>
                          <a:cs typeface="Calibri" pitchFamily="34" charset="-120"/>
                        </a:rPr>
                        <a:t>Estimate plan budget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MP-49.8 </a:t>
                      </a:r>
                      <a:pPr indent="0" marL="0">
                        <a:buNone/>
                      </a:pPr>
                      <a:r>
                        <a:rPr lang="en-US" sz="1000" dirty="0">
                          <a:solidFill>
                            <a:srgbClr val="58595B"/>
                          </a:solidFill>
                          <a:latin typeface="Calibri" pitchFamily="34" charset="0"/>
                          <a:ea typeface="Calibri" pitchFamily="34" charset="-122"/>
                          <a:cs typeface="Calibri" pitchFamily="34" charset="-120"/>
                        </a:rPr>
                        <a:t>Sequence delivery</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MP-49.9 </a:t>
                      </a:r>
                      <a:pPr indent="0" marL="0">
                        <a:buNone/>
                      </a:pPr>
                      <a:r>
                        <a:rPr lang="en-US" sz="1000" dirty="0">
                          <a:solidFill>
                            <a:srgbClr val="58595B"/>
                          </a:solidFill>
                          <a:latin typeface="Calibri" pitchFamily="34" charset="0"/>
                          <a:ea typeface="Calibri" pitchFamily="34" charset="-122"/>
                          <a:cs typeface="Calibri" pitchFamily="34" charset="-120"/>
                        </a:rPr>
                        <a:t>Validate plan with governance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Kawtar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Trainers: 2 internal, vendor A; budget 1,240,000 MAD (within envelope).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30"/>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30-03 Prioritize theme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UFT-30-03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3 · E2E-30 · ROOT (PLANNING)</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Prioritization-to-Resource Plan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UFT-30-07
</a:t>
                      </a:r>
                      <a:pPr indent="0" marL="0">
                        <a:buNone/>
                      </a:pPr>
                      <a:r>
                        <a:rPr lang="en-US" sz="1000" b="1" dirty="0">
                          <a:solidFill>
                            <a:srgbClr val="3A3A3C"/>
                          </a:solidFill>
                          <a:latin typeface="Calibri" pitchFamily="34" charset="0"/>
                          <a:ea typeface="Calibri" pitchFamily="34" charset="-122"/>
                          <a:cs typeface="Calibri" pitchFamily="34" charset="-120"/>
                        </a:rPr>
                        <a:t>Publish prioritized training plan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MP-49.10 </a:t>
                      </a:r>
                      <a:pPr indent="0" marL="0">
                        <a:buNone/>
                      </a:pPr>
                      <a:r>
                        <a:rPr lang="en-US" sz="1000" dirty="0">
                          <a:solidFill>
                            <a:srgbClr val="58595B"/>
                          </a:solidFill>
                          <a:latin typeface="Calibri" pitchFamily="34" charset="0"/>
                          <a:ea typeface="Calibri" pitchFamily="34" charset="-122"/>
                          <a:cs typeface="Calibri" pitchFamily="34" charset="-120"/>
                        </a:rPr>
                        <a:t>Publish prioritized plan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MP-49.11 </a:t>
                      </a:r>
                      <a:pPr indent="0" marL="0">
                        <a:buNone/>
                      </a:pPr>
                      <a:r>
                        <a:rPr lang="en-US" sz="1000" dirty="0">
                          <a:solidFill>
                            <a:srgbClr val="58595B"/>
                          </a:solidFill>
                          <a:latin typeface="Calibri" pitchFamily="34" charset="0"/>
                          <a:ea typeface="Calibri" pitchFamily="34" charset="-122"/>
                          <a:cs typeface="Calibri" pitchFamily="34" charset="-120"/>
                        </a:rPr>
                        <a:t>Track plan execution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MP-49.12 </a:t>
                      </a:r>
                      <a:pPr indent="0" marL="0">
                        <a:buNone/>
                      </a:pPr>
                      <a:r>
                        <a:rPr lang="en-US" sz="1000" dirty="0">
                          <a:solidFill>
                            <a:srgbClr val="58595B"/>
                          </a:solidFill>
                          <a:latin typeface="Calibri" pitchFamily="34" charset="0"/>
                          <a:ea typeface="Calibri" pitchFamily="34" charset="-122"/>
                          <a:cs typeface="Calibri" pitchFamily="34" charset="-120"/>
                        </a:rPr>
                        <a:t>Report on resource utilization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Publish RPT-002 Prioritized Training Plan 2026 to all stakeholders.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30"/>
          <p:cNvSpPr/>
          <p:nvPr/>
        </p:nvSpPr>
        <p:spPr>
          <a:xfrm>
            <a:off x="1877825" y="2368296"/>
            <a:ext cx="5022590" cy="3675888"/>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30">    </p:cNvPr>
          <p:cNvPicPr>
            <a:picLocks noChangeAspect="1"/>
          </p:cNvPicPr>
          <p:nvPr/>
        </p:nvPicPr>
        <p:blipFill>
          <a:blip r:embed="rId1"/>
          <a:stretch>
            <a:fillRect/>
          </a:stretch>
        </p:blipFill>
        <p:spPr>
          <a:xfrm>
            <a:off x="1932689" y="2423160"/>
            <a:ext cx="4912862" cy="3566160"/>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E2E-30 in CortexSkills: its tasks, owners and due dates, and the process card.</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 processes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MP-49 Training Plan Prioritization &amp; Resource Planning</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MP-04 Training Engineering Report &amp; Roadmap Elaboration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MP-18 Financial &amp; Budget Management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MP-11 Administration &amp; Operations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MP-07 Learning Delivery &amp; Implementation</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Feeds into</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E2E-03, E2E-05</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Supported by</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E2E-16</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3 · E2E-22 · PARTITION OF E2E-03</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Multi-Site Plan-to-Deployment</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Adapt and deploy plans across sites</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Approved roadmap for an organization with several sites or entities.</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Site plans adapted, validated and deployed, with deviations escalated.</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8 tasks · 12 steps
</a:t>
            </a:r>
            <a:pPr indent="0" marL="0">
              <a:buNone/>
            </a:pPr>
            <a:r>
              <a:rPr lang="en-US" sz="1100" dirty="0">
                <a:solidFill>
                  <a:srgbClr val="3A3A3C"/>
                </a:solidFill>
                <a:latin typeface="Calibri" pitchFamily="34" charset="0"/>
                <a:ea typeface="Calibri" pitchFamily="34" charset="-122"/>
                <a:cs typeface="Calibri" pitchFamily="34" charset="-120"/>
              </a:rPr>
              <a:t>23 days · 4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MP-40 Multi-Site / Multi-Entity Training Plan Deployment · </a:t>
            </a:r>
            <a:pPr indent="0" marL="0">
              <a:buNone/>
            </a:pPr>
            <a:r>
              <a:rPr lang="en-US" sz="1000" dirty="0">
                <a:solidFill>
                  <a:srgbClr val="58595B"/>
                </a:solidFill>
                <a:latin typeface="Calibri" pitchFamily="34" charset="0"/>
                <a:ea typeface="Calibri" pitchFamily="34" charset="-122"/>
                <a:cs typeface="Calibri" pitchFamily="34" charset="-120"/>
              </a:rPr>
              <a:t>MP-04 Training Engineering Report &amp; Roadmap Elaboration · </a:t>
            </a:r>
            <a:pPr indent="0" marL="0">
              <a:buNone/>
            </a:pPr>
            <a:r>
              <a:rPr lang="en-US" sz="1000" dirty="0">
                <a:solidFill>
                  <a:srgbClr val="58595B"/>
                </a:solidFill>
                <a:latin typeface="Calibri" pitchFamily="34" charset="0"/>
                <a:ea typeface="Calibri" pitchFamily="34" charset="-122"/>
                <a:cs typeface="Calibri" pitchFamily="34" charset="-120"/>
              </a:rPr>
              <a:t>MP-07 Learning Delivery &amp; Implementation · </a:t>
            </a:r>
            <a:pPr indent="0" marL="0">
              <a:buNone/>
            </a:pPr>
            <a:r>
              <a:rPr lang="en-US" sz="1000" dirty="0">
                <a:solidFill>
                  <a:srgbClr val="58595B"/>
                </a:solidFill>
                <a:latin typeface="Calibri" pitchFamily="34" charset="0"/>
                <a:ea typeface="Calibri" pitchFamily="34" charset="-122"/>
                <a:cs typeface="Calibri" pitchFamily="34" charset="-120"/>
              </a:rPr>
              <a:t>MP-11 Administration &amp; Operations · </a:t>
            </a:r>
            <a:pPr indent="0" marL="0">
              <a:buNone/>
            </a:pPr>
            <a:r>
              <a:rPr lang="en-US" sz="1000" dirty="0">
                <a:solidFill>
                  <a:srgbClr val="58595B"/>
                </a:solidFill>
                <a:latin typeface="Calibri" pitchFamily="34" charset="0"/>
                <a:ea typeface="Calibri" pitchFamily="34" charset="-122"/>
                <a:cs typeface="Calibri" pitchFamily="34" charset="-120"/>
              </a:rPr>
              <a:t>MP-23 Localization, Accessibility &amp; Inclusion</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UFT-22-01
</a:t>
                      </a:r>
                      <a:pPr indent="0" marL="0">
                        <a:buNone/>
                      </a:pPr>
                      <a:r>
                        <a:rPr lang="en-US" sz="1000" b="1" dirty="0">
                          <a:solidFill>
                            <a:srgbClr val="3A3A3C"/>
                          </a:solidFill>
                          <a:latin typeface="Calibri" pitchFamily="34" charset="0"/>
                          <a:ea typeface="Calibri" pitchFamily="34" charset="-122"/>
                          <a:cs typeface="Calibri" pitchFamily="34" charset="-120"/>
                        </a:rPr>
                        <a:t>Split plan by site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MP-40.1 </a:t>
                      </a:r>
                      <a:pPr indent="0" marL="0">
                        <a:buNone/>
                      </a:pPr>
                      <a:r>
                        <a:rPr lang="en-US" sz="1000" dirty="0">
                          <a:solidFill>
                            <a:srgbClr val="58595B"/>
                          </a:solidFill>
                          <a:latin typeface="Calibri" pitchFamily="34" charset="0"/>
                          <a:ea typeface="Calibri" pitchFamily="34" charset="-122"/>
                          <a:cs typeface="Calibri" pitchFamily="34" charset="-120"/>
                        </a:rPr>
                        <a:t>Split plan by site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15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Split plan into 3 sites: Casablanca 55%, Tanger 30%, Agadir 15%.</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UFT-22-02
</a:t>
                      </a:r>
                      <a:pPr indent="0" marL="0">
                        <a:buNone/>
                      </a:pPr>
                      <a:r>
                        <a:rPr lang="en-US" sz="1000" b="1" dirty="0">
                          <a:solidFill>
                            <a:srgbClr val="3A3A3C"/>
                          </a:solidFill>
                          <a:latin typeface="Calibri" pitchFamily="34" charset="0"/>
                          <a:ea typeface="Calibri" pitchFamily="34" charset="-122"/>
                          <a:cs typeface="Calibri" pitchFamily="34" charset="-120"/>
                        </a:rPr>
                        <a:t>Adapt site plan to local constraints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MP-40.2 </a:t>
                      </a:r>
                      <a:pPr indent="0" marL="0">
                        <a:buNone/>
                      </a:pPr>
                      <a:r>
                        <a:rPr lang="en-US" sz="1000" dirty="0">
                          <a:solidFill>
                            <a:srgbClr val="58595B"/>
                          </a:solidFill>
                          <a:latin typeface="Calibri" pitchFamily="34" charset="0"/>
                          <a:ea typeface="Calibri" pitchFamily="34" charset="-122"/>
                          <a:cs typeface="Calibri" pitchFamily="34" charset="-120"/>
                        </a:rPr>
                        <a:t>Adapt site plan to local constraints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Imane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Tanger: shift constraints → sessions of 4 hours instead of full days.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UFT-22-03
</a:t>
                      </a:r>
                      <a:pPr indent="0" marL="0">
                        <a:buNone/>
                      </a:pPr>
                      <a:r>
                        <a:rPr lang="en-US" sz="1000" b="1" dirty="0">
                          <a:solidFill>
                            <a:srgbClr val="3A3A3C"/>
                          </a:solidFill>
                          <a:latin typeface="Calibri" pitchFamily="34" charset="0"/>
                          <a:ea typeface="Calibri" pitchFamily="34" charset="-122"/>
                          <a:cs typeface="Calibri" pitchFamily="34" charset="-120"/>
                        </a:rPr>
                        <a:t>Localize site materials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MP-23.1 </a:t>
                      </a:r>
                      <a:pPr indent="0" marL="0">
                        <a:buNone/>
                      </a:pPr>
                      <a:r>
                        <a:rPr lang="en-US" sz="1000" dirty="0">
                          <a:solidFill>
                            <a:srgbClr val="58595B"/>
                          </a:solidFill>
                          <a:latin typeface="Calibri" pitchFamily="34" charset="0"/>
                          <a:ea typeface="Calibri" pitchFamily="34" charset="-122"/>
                          <a:cs typeface="Calibri" pitchFamily="34" charset="-120"/>
                        </a:rPr>
                        <a:t>Request translation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MP-23.3 </a:t>
                      </a:r>
                      <a:pPr indent="0" marL="0">
                        <a:buNone/>
                      </a:pPr>
                      <a:r>
                        <a:rPr lang="en-US" sz="1000" dirty="0">
                          <a:solidFill>
                            <a:srgbClr val="58595B"/>
                          </a:solidFill>
                          <a:latin typeface="Calibri" pitchFamily="34" charset="0"/>
                          <a:ea typeface="Calibri" pitchFamily="34" charset="-122"/>
                          <a:cs typeface="Calibri" pitchFamily="34" charset="-120"/>
                        </a:rPr>
                        <a:t>Validate translation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MP-23.6 </a:t>
                      </a:r>
                      <a:pPr indent="0" marL="0">
                        <a:buNone/>
                      </a:pPr>
                      <a:r>
                        <a:rPr lang="en-US" sz="1000" dirty="0">
                          <a:solidFill>
                            <a:srgbClr val="58595B"/>
                          </a:solidFill>
                          <a:latin typeface="Calibri" pitchFamily="34" charset="0"/>
                          <a:ea typeface="Calibri" pitchFamily="34" charset="-122"/>
                          <a:cs typeface="Calibri" pitchFamily="34" charset="-120"/>
                        </a:rPr>
                        <a:t>Review participation equity</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+ 1 more steps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Ghita Bouzidi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Agadir materials translated to AR; validated by the site expert.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UFT-22-04
</a:t>
                      </a:r>
                      <a:pPr indent="0" marL="0">
                        <a:buNone/>
                      </a:pPr>
                      <a:r>
                        <a:rPr lang="en-US" sz="1000" b="1" dirty="0">
                          <a:solidFill>
                            <a:srgbClr val="3A3A3C"/>
                          </a:solidFill>
                          <a:latin typeface="Calibri" pitchFamily="34" charset="0"/>
                          <a:ea typeface="Calibri" pitchFamily="34" charset="-122"/>
                          <a:cs typeface="Calibri" pitchFamily="34" charset="-120"/>
                        </a:rPr>
                        <a:t>Validate site plan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MP-40.3 </a:t>
                      </a:r>
                      <a:pPr indent="0" marL="0">
                        <a:buNone/>
                      </a:pPr>
                      <a:r>
                        <a:rPr lang="en-US" sz="1000" dirty="0">
                          <a:solidFill>
                            <a:srgbClr val="58595B"/>
                          </a:solidFill>
                          <a:latin typeface="Calibri" pitchFamily="34" charset="0"/>
                          <a:ea typeface="Calibri" pitchFamily="34" charset="-122"/>
                          <a:cs typeface="Calibri" pitchFamily="34" charset="-120"/>
                        </a:rPr>
                        <a:t>Validate site plan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Site plans validated centrally; budget deviation within ±5%.</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UFT-22-05
</a:t>
                      </a:r>
                      <a:pPr indent="0" marL="0">
                        <a:buNone/>
                      </a:pPr>
                      <a:r>
                        <a:rPr lang="en-US" sz="1000" b="1" dirty="0">
                          <a:solidFill>
                            <a:srgbClr val="3A3A3C"/>
                          </a:solidFill>
                          <a:latin typeface="Calibri" pitchFamily="34" charset="0"/>
                          <a:ea typeface="Calibri" pitchFamily="34" charset="-122"/>
                          <a:cs typeface="Calibri" pitchFamily="34" charset="-120"/>
                        </a:rPr>
                        <a:t>Schedule site sessions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MP-07.1 </a:t>
                      </a:r>
                      <a:pPr indent="0" marL="0">
                        <a:buNone/>
                      </a:pPr>
                      <a:r>
                        <a:rPr lang="en-US" sz="1000" dirty="0">
                          <a:solidFill>
                            <a:srgbClr val="58595B"/>
                          </a:solidFill>
                          <a:latin typeface="Calibri" pitchFamily="34" charset="0"/>
                          <a:ea typeface="Calibri" pitchFamily="34" charset="-122"/>
                          <a:cs typeface="Calibri" pitchFamily="34" charset="-120"/>
                        </a:rPr>
                        <a:t>Create training session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MP-11.1 </a:t>
                      </a:r>
                      <a:pPr indent="0" marL="0">
                        <a:buNone/>
                      </a:pPr>
                      <a:r>
                        <a:rPr lang="en-US" sz="1000" dirty="0">
                          <a:solidFill>
                            <a:srgbClr val="58595B"/>
                          </a:solidFill>
                          <a:latin typeface="Calibri" pitchFamily="34" charset="0"/>
                          <a:ea typeface="Calibri" pitchFamily="34" charset="-122"/>
                          <a:cs typeface="Calibri" pitchFamily="34" charset="-120"/>
                        </a:rPr>
                        <a:t>Book rooms and equipment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Tanger schedule: 8 sessions, rooms booked, 2 trainers.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UFT-22-06
</a:t>
                      </a:r>
                      <a:pPr indent="0" marL="0">
                        <a:buNone/>
                      </a:pPr>
                      <a:r>
                        <a:rPr lang="en-US" sz="1000" b="1" dirty="0">
                          <a:solidFill>
                            <a:srgbClr val="3A3A3C"/>
                          </a:solidFill>
                          <a:latin typeface="Calibri" pitchFamily="34" charset="0"/>
                          <a:ea typeface="Calibri" pitchFamily="34" charset="-122"/>
                          <a:cs typeface="Calibri" pitchFamily="34" charset="-120"/>
                        </a:rPr>
                        <a:t>Deploy site schedule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MP-40.4 </a:t>
                      </a:r>
                      <a:pPr indent="0" marL="0">
                        <a:buNone/>
                      </a:pPr>
                      <a:r>
                        <a:rPr lang="en-US" sz="1000" dirty="0">
                          <a:solidFill>
                            <a:srgbClr val="58595B"/>
                          </a:solidFill>
                          <a:latin typeface="Calibri" pitchFamily="34" charset="0"/>
                          <a:ea typeface="Calibri" pitchFamily="34" charset="-122"/>
                          <a:cs typeface="Calibri" pitchFamily="34" charset="-120"/>
                        </a:rPr>
                        <a:t>Deploy site schedule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Imane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Schedules deployed and communicated to site managers.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UFT-22-07
</a:t>
                      </a:r>
                      <a:pPr indent="0" marL="0">
                        <a:buNone/>
                      </a:pPr>
                      <a:r>
                        <a:rPr lang="en-US" sz="1000" b="1" dirty="0">
                          <a:solidFill>
                            <a:srgbClr val="3A3A3C"/>
                          </a:solidFill>
                          <a:latin typeface="Calibri" pitchFamily="34" charset="0"/>
                          <a:ea typeface="Calibri" pitchFamily="34" charset="-122"/>
                          <a:cs typeface="Calibri" pitchFamily="34" charset="-120"/>
                        </a:rPr>
                        <a:t>Consolidate site status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MP-40.5 </a:t>
                      </a:r>
                      <a:pPr indent="0" marL="0">
                        <a:buNone/>
                      </a:pPr>
                      <a:r>
                        <a:rPr lang="en-US" sz="1000" dirty="0">
                          <a:solidFill>
                            <a:srgbClr val="58595B"/>
                          </a:solidFill>
                          <a:latin typeface="Calibri" pitchFamily="34" charset="0"/>
                          <a:ea typeface="Calibri" pitchFamily="34" charset="-122"/>
                          <a:cs typeface="Calibri" pitchFamily="34" charset="-120"/>
                        </a:rPr>
                        <a:t>Consolidate site status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Status: Casablanca 70%, Tanger 45%, Agadir 20% delivered.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22"/>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22-08 Escalate site deviation">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UFT-22-08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3 · E2E-22 · PARTITION OF E2E-03</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Multi-Site Plan-to-Deployment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UFT-22-08
</a:t>
                      </a:r>
                      <a:pPr indent="0" marL="0">
                        <a:buNone/>
                      </a:pPr>
                      <a:r>
                        <a:rPr lang="en-US" sz="1000" b="1" dirty="0">
                          <a:solidFill>
                            <a:srgbClr val="3A3A3C"/>
                          </a:solidFill>
                          <a:latin typeface="Calibri" pitchFamily="34" charset="0"/>
                          <a:ea typeface="Calibri" pitchFamily="34" charset="-122"/>
                          <a:cs typeface="Calibri" pitchFamily="34" charset="-120"/>
                        </a:rPr>
                        <a:t>Escalate site deviation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MP-40.6 </a:t>
                      </a:r>
                      <a:pPr indent="0" marL="0">
                        <a:buNone/>
                      </a:pPr>
                      <a:r>
                        <a:rPr lang="en-US" sz="1000" dirty="0">
                          <a:solidFill>
                            <a:srgbClr val="58595B"/>
                          </a:solidFill>
                          <a:latin typeface="Calibri" pitchFamily="34" charset="0"/>
                          <a:ea typeface="Calibri" pitchFamily="34" charset="-122"/>
                          <a:cs typeface="Calibri" pitchFamily="34" charset="-120"/>
                        </a:rPr>
                        <a:t>Escalate site deviation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6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Escalate Agadir deviation (-25%) to the HR Director with a recovery plan.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22"/>
          <p:cNvSpPr/>
          <p:nvPr/>
        </p:nvSpPr>
        <p:spPr>
          <a:xfrm>
            <a:off x="1770750" y="2212848"/>
            <a:ext cx="5236741" cy="3831336"/>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22">    </p:cNvPr>
          <p:cNvPicPr>
            <a:picLocks noChangeAspect="1"/>
          </p:cNvPicPr>
          <p:nvPr/>
        </p:nvPicPr>
        <p:blipFill>
          <a:blip r:embed="rId1"/>
          <a:stretch>
            <a:fillRect/>
          </a:stretch>
        </p:blipFill>
        <p:spPr>
          <a:xfrm>
            <a:off x="1825614" y="2267712"/>
            <a:ext cx="5127013" cy="3721608"/>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E2E-22 in CortexSkills: its tasks, owners and due dates, and the process card.</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 processes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MP-40 Multi-Site / Multi-Entity Training Plan Deployment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MP-04 Training Engineering Report &amp; Roadmap Elaboration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MP-07 Learning Delivery &amp; Implementation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MP-11 Administration &amp; Operations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MP-23 Localization, Accessibility &amp; Inclusion</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Feeds into</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E2E-05</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Supported by</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E2E-15</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3 · E2E-23 · ROOT</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Regulatory Submission-to-Validation</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Submit and validate training plans with regulatory bodies</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Approved plan requiring external validation or funding (e.g. OFPPT, GIAC-Agro).</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Plan validated by the regulatory body and evidence archived.</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tasks · 10 steps
</a:t>
            </a:r>
            <a:pPr indent="0" marL="0">
              <a:buNone/>
            </a:pPr>
            <a:r>
              <a:rPr lang="en-US" sz="1100" dirty="0">
                <a:solidFill>
                  <a:srgbClr val="3A3A3C"/>
                </a:solidFill>
                <a:latin typeface="Calibri" pitchFamily="34" charset="0"/>
                <a:ea typeface="Calibri" pitchFamily="34" charset="-122"/>
                <a:cs typeface="Calibri" pitchFamily="34" charset="-120"/>
              </a:rPr>
              <a:t>20 days · 2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MP-41 External Training Plan Validation &amp; Regulatory Compliance · </a:t>
            </a:r>
            <a:pPr indent="0" marL="0">
              <a:buNone/>
            </a:pPr>
            <a:r>
              <a:rPr lang="en-US" sz="1000" dirty="0">
                <a:solidFill>
                  <a:srgbClr val="58595B"/>
                </a:solidFill>
                <a:latin typeface="Calibri" pitchFamily="34" charset="0"/>
                <a:ea typeface="Calibri" pitchFamily="34" charset="-122"/>
                <a:cs typeface="Calibri" pitchFamily="34" charset="-120"/>
              </a:rPr>
              <a:t>MP-14 Compliance &amp; Certification Management · </a:t>
            </a:r>
            <a:pPr indent="0" marL="0">
              <a:buNone/>
            </a:pPr>
            <a:r>
              <a:rPr lang="en-US" sz="1000" dirty="0">
                <a:solidFill>
                  <a:srgbClr val="58595B"/>
                </a:solidFill>
                <a:latin typeface="Calibri" pitchFamily="34" charset="0"/>
                <a:ea typeface="Calibri" pitchFamily="34" charset="-122"/>
                <a:cs typeface="Calibri" pitchFamily="34" charset="-120"/>
              </a:rPr>
              <a:t>MP-18 Financial &amp; Budget Management · </a:t>
            </a:r>
            <a:pPr indent="0" marL="0">
              <a:buNone/>
            </a:pPr>
            <a:r>
              <a:rPr lang="en-US" sz="1000" dirty="0">
                <a:solidFill>
                  <a:srgbClr val="58595B"/>
                </a:solidFill>
                <a:latin typeface="Calibri" pitchFamily="34" charset="0"/>
                <a:ea typeface="Calibri" pitchFamily="34" charset="-122"/>
                <a:cs typeface="Calibri" pitchFamily="34" charset="-120"/>
              </a:rPr>
              <a:t>MP-20 Quality, Risk &amp; Continuous Improvement</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UFT-23-01
</a:t>
                      </a:r>
                      <a:pPr indent="0" marL="0">
                        <a:buNone/>
                      </a:pPr>
                      <a:r>
                        <a:rPr lang="en-US" sz="1000" b="1" dirty="0">
                          <a:solidFill>
                            <a:srgbClr val="3A3A3C"/>
                          </a:solidFill>
                          <a:latin typeface="Calibri" pitchFamily="34" charset="0"/>
                          <a:ea typeface="Calibri" pitchFamily="34" charset="-122"/>
                          <a:cs typeface="Calibri" pitchFamily="34" charset="-120"/>
                        </a:rPr>
                        <a:t>Select regulatory template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MP-41.1 </a:t>
                      </a:r>
                      <a:pPr indent="0" marL="0">
                        <a:buNone/>
                      </a:pPr>
                      <a:r>
                        <a:rPr lang="en-US" sz="1000" dirty="0">
                          <a:solidFill>
                            <a:srgbClr val="58595B"/>
                          </a:solidFill>
                          <a:latin typeface="Calibri" pitchFamily="34" charset="0"/>
                          <a:ea typeface="Calibri" pitchFamily="34" charset="-122"/>
                          <a:cs typeface="Calibri" pitchFamily="34" charset="-120"/>
                        </a:rPr>
                        <a:t>Select regulatory template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15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Template: OFPPT special training contracts (CSF) — plan file.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UFT-23-02
</a:t>
                      </a:r>
                      <a:pPr indent="0" marL="0">
                        <a:buNone/>
                      </a:pPr>
                      <a:r>
                        <a:rPr lang="en-US" sz="1000" b="1" dirty="0">
                          <a:solidFill>
                            <a:srgbClr val="3A3A3C"/>
                          </a:solidFill>
                          <a:latin typeface="Calibri" pitchFamily="34" charset="0"/>
                          <a:ea typeface="Calibri" pitchFamily="34" charset="-122"/>
                          <a:cs typeface="Calibri" pitchFamily="34" charset="-120"/>
                        </a:rPr>
                        <a:t>Generate submission file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MP-41.2 </a:t>
                      </a:r>
                      <a:pPr indent="0" marL="0">
                        <a:buNone/>
                      </a:pPr>
                      <a:r>
                        <a:rPr lang="en-US" sz="1000" dirty="0">
                          <a:solidFill>
                            <a:srgbClr val="58595B"/>
                          </a:solidFill>
                          <a:latin typeface="Calibri" pitchFamily="34" charset="0"/>
                          <a:ea typeface="Calibri" pitchFamily="34" charset="-122"/>
                          <a:cs typeface="Calibri" pitchFamily="34" charset="-120"/>
                        </a:rPr>
                        <a:t>Generate submission file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MP-20.5 </a:t>
                      </a:r>
                      <a:pPr indent="0" marL="0">
                        <a:buNone/>
                      </a:pPr>
                      <a:r>
                        <a:rPr lang="en-US" sz="1000" dirty="0">
                          <a:solidFill>
                            <a:srgbClr val="58595B"/>
                          </a:solidFill>
                          <a:latin typeface="Calibri" pitchFamily="34" charset="0"/>
                          <a:ea typeface="Calibri" pitchFamily="34" charset="-122"/>
                          <a:cs typeface="Calibri" pitchFamily="34" charset="-120"/>
                        </a:rPr>
                        <a:t>Run periodic quality review</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Submission file generated: plan, themes, providers, costs; quality check passed.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UFT-23-03
</a:t>
                      </a:r>
                      <a:pPr indent="0" marL="0">
                        <a:buNone/>
                      </a:pPr>
                      <a:r>
                        <a:rPr lang="en-US" sz="1000" b="1" dirty="0">
                          <a:solidFill>
                            <a:srgbClr val="3A3A3C"/>
                          </a:solidFill>
                          <a:latin typeface="Calibri" pitchFamily="34" charset="0"/>
                          <a:ea typeface="Calibri" pitchFamily="34" charset="-122"/>
                          <a:cs typeface="Calibri" pitchFamily="34" charset="-120"/>
                        </a:rPr>
                        <a:t>Submit plan to regulatory body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MP-41.3 </a:t>
                      </a:r>
                      <a:pPr indent="0" marL="0">
                        <a:buNone/>
                      </a:pPr>
                      <a:r>
                        <a:rPr lang="en-US" sz="1000" dirty="0">
                          <a:solidFill>
                            <a:srgbClr val="58595B"/>
                          </a:solidFill>
                          <a:latin typeface="Calibri" pitchFamily="34" charset="0"/>
                          <a:ea typeface="Calibri" pitchFamily="34" charset="-122"/>
                          <a:cs typeface="Calibri" pitchFamily="34" charset="-120"/>
                        </a:rPr>
                        <a:t>Submit plan to regulatory body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Submitted to the regional funding committee on 5 March; reference GSF-2026-118.</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UFT-23-04
</a:t>
                      </a:r>
                      <a:pPr indent="0" marL="0">
                        <a:buNone/>
                      </a:pPr>
                      <a:r>
                        <a:rPr lang="en-US" sz="1000" b="1" dirty="0">
                          <a:solidFill>
                            <a:srgbClr val="3A3A3C"/>
                          </a:solidFill>
                          <a:latin typeface="Calibri" pitchFamily="34" charset="0"/>
                          <a:ea typeface="Calibri" pitchFamily="34" charset="-122"/>
                          <a:cs typeface="Calibri" pitchFamily="34" charset="-120"/>
                        </a:rPr>
                        <a:t>Track submission status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MP-41.4 </a:t>
                      </a:r>
                      <a:pPr indent="0" marL="0">
                        <a:buNone/>
                      </a:pPr>
                      <a:r>
                        <a:rPr lang="en-US" sz="1000" dirty="0">
                          <a:solidFill>
                            <a:srgbClr val="58595B"/>
                          </a:solidFill>
                          <a:latin typeface="Calibri" pitchFamily="34" charset="0"/>
                          <a:ea typeface="Calibri" pitchFamily="34" charset="-122"/>
                          <a:cs typeface="Calibri" pitchFamily="34" charset="-120"/>
                        </a:rPr>
                        <a:t>Track submission status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Status: additional document requested (provider accreditation) — sent on 12 March.</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UFT-23-05
</a:t>
                      </a:r>
                      <a:pPr indent="0" marL="0">
                        <a:buNone/>
                      </a:pPr>
                      <a:r>
                        <a:rPr lang="en-US" sz="1000" b="1" dirty="0">
                          <a:solidFill>
                            <a:srgbClr val="3A3A3C"/>
                          </a:solidFill>
                          <a:latin typeface="Calibri" pitchFamily="34" charset="0"/>
                          <a:ea typeface="Calibri" pitchFamily="34" charset="-122"/>
                          <a:cs typeface="Calibri" pitchFamily="34" charset="-120"/>
                        </a:rPr>
                        <a:t>Record regulator decision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MP-41.5 </a:t>
                      </a:r>
                      <a:pPr indent="0" marL="0">
                        <a:buNone/>
                      </a:pPr>
                      <a:r>
                        <a:rPr lang="en-US" sz="1000" dirty="0">
                          <a:solidFill>
                            <a:srgbClr val="58595B"/>
                          </a:solidFill>
                          <a:latin typeface="Calibri" pitchFamily="34" charset="0"/>
                          <a:ea typeface="Calibri" pitchFamily="34" charset="-122"/>
                          <a:cs typeface="Calibri" pitchFamily="34" charset="-120"/>
                        </a:rPr>
                        <a:t>Record regulator decision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MP-14.1 </a:t>
                      </a:r>
                      <a:pPr indent="0" marL="0">
                        <a:buNone/>
                      </a:pPr>
                      <a:r>
                        <a:rPr lang="en-US" sz="1000" dirty="0">
                          <a:solidFill>
                            <a:srgbClr val="58595B"/>
                          </a:solidFill>
                          <a:latin typeface="Calibri" pitchFamily="34" charset="0"/>
                          <a:ea typeface="Calibri" pitchFamily="34" charset="-122"/>
                          <a:cs typeface="Calibri" pitchFamily="34" charset="-120"/>
                        </a:rPr>
                        <a:t>Register regulatory requirement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Decision: approved with a cap of 520,000 MAD.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UFT-23-06
</a:t>
                      </a:r>
                      <a:pPr indent="0" marL="0">
                        <a:buNone/>
                      </a:pPr>
                      <a:r>
                        <a:rPr lang="en-US" sz="1000" b="1" dirty="0">
                          <a:solidFill>
                            <a:srgbClr val="3A3A3C"/>
                          </a:solidFill>
                          <a:latin typeface="Calibri" pitchFamily="34" charset="0"/>
                          <a:ea typeface="Calibri" pitchFamily="34" charset="-122"/>
                          <a:cs typeface="Calibri" pitchFamily="34" charset="-120"/>
                        </a:rPr>
                        <a:t>Submit refund claims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MP-18.5 </a:t>
                      </a:r>
                      <a:pPr indent="0" marL="0">
                        <a:buNone/>
                      </a:pPr>
                      <a:r>
                        <a:rPr lang="en-US" sz="1000" dirty="0">
                          <a:solidFill>
                            <a:srgbClr val="58595B"/>
                          </a:solidFill>
                          <a:latin typeface="Calibri" pitchFamily="34" charset="0"/>
                          <a:ea typeface="Calibri" pitchFamily="34" charset="-122"/>
                          <a:cs typeface="Calibri" pitchFamily="34" charset="-120"/>
                        </a:rPr>
                        <a:t>Submit refund claims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Kawtar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Refund claims submitted for 12 delivered actions: 318,000 MAD.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UFT-23-07
</a:t>
                      </a:r>
                      <a:pPr indent="0" marL="0">
                        <a:buNone/>
                      </a:pPr>
                      <a:r>
                        <a:rPr lang="en-US" sz="1000" b="1" dirty="0">
                          <a:solidFill>
                            <a:srgbClr val="3A3A3C"/>
                          </a:solidFill>
                          <a:latin typeface="Calibri" pitchFamily="34" charset="0"/>
                          <a:ea typeface="Calibri" pitchFamily="34" charset="-122"/>
                          <a:cs typeface="Calibri" pitchFamily="34" charset="-120"/>
                        </a:rPr>
                        <a:t>Archive submission evidence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MP-41.6 </a:t>
                      </a:r>
                      <a:pPr indent="0" marL="0">
                        <a:buNone/>
                      </a:pPr>
                      <a:r>
                        <a:rPr lang="en-US" sz="1000" dirty="0">
                          <a:solidFill>
                            <a:srgbClr val="58595B"/>
                          </a:solidFill>
                          <a:latin typeface="Calibri" pitchFamily="34" charset="0"/>
                          <a:ea typeface="Calibri" pitchFamily="34" charset="-122"/>
                          <a:cs typeface="Calibri" pitchFamily="34" charset="-120"/>
                        </a:rPr>
                        <a:t>Archive submission evidence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MP-18.6 </a:t>
                      </a:r>
                      <a:pPr indent="0" marL="0">
                        <a:buNone/>
                      </a:pPr>
                      <a:r>
                        <a:rPr lang="en-US" sz="1000" dirty="0">
                          <a:solidFill>
                            <a:srgbClr val="58595B"/>
                          </a:solidFill>
                          <a:latin typeface="Calibri" pitchFamily="34" charset="0"/>
                          <a:ea typeface="Calibri" pitchFamily="34" charset="-122"/>
                          <a:cs typeface="Calibri" pitchFamily="34" charset="-120"/>
                        </a:rPr>
                        <a:t>Close budget period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Archive file, decision and claims; retention 10 years.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23"/>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23-04 Track submission statu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UFT-23-04 opened in CortexSkills: what to enter, its steps and its result.</a:t>
            </a:r>
            <a:endParaRPr lang="en-US" sz="1000" dirty="0"/>
          </a:p>
        </p:txBody>
      </p:sp>
      <p:sp>
        <p:nvSpPr>
          <p:cNvPr id="17"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3 · E2E-16 · PARTITION OF E2E-15</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Vendor-to-Finance</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Manage vendors from selection to payment</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Training need requiring an external provider.</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Vendor selected, order issued and payment approved against attendance.</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6 tasks · 10 steps
</a:t>
            </a:r>
            <a:pPr indent="0" marL="0">
              <a:buNone/>
            </a:pPr>
            <a:r>
              <a:rPr lang="en-US" sz="1100" dirty="0">
                <a:solidFill>
                  <a:srgbClr val="3A3A3C"/>
                </a:solidFill>
                <a:latin typeface="Calibri" pitchFamily="34" charset="0"/>
                <a:ea typeface="Calibri" pitchFamily="34" charset="-122"/>
                <a:cs typeface="Calibri" pitchFamily="34" charset="-120"/>
              </a:rPr>
              <a:t>17 days · 3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MP-15 Vendor &amp; Partner Ecosystem Management · </a:t>
            </a:r>
            <a:pPr indent="0" marL="0">
              <a:buNone/>
            </a:pPr>
            <a:r>
              <a:rPr lang="en-US" sz="1000" dirty="0">
                <a:solidFill>
                  <a:srgbClr val="58595B"/>
                </a:solidFill>
                <a:latin typeface="Calibri" pitchFamily="34" charset="0"/>
                <a:ea typeface="Calibri" pitchFamily="34" charset="-122"/>
                <a:cs typeface="Calibri" pitchFamily="34" charset="-120"/>
              </a:rPr>
              <a:t>MP-18 Financial &amp; Budget Management · </a:t>
            </a:r>
            <a:pPr indent="0" marL="0">
              <a:buNone/>
            </a:pPr>
            <a:r>
              <a:rPr lang="en-US" sz="1000" dirty="0">
                <a:solidFill>
                  <a:srgbClr val="58595B"/>
                </a:solidFill>
                <a:latin typeface="Calibri" pitchFamily="34" charset="0"/>
                <a:ea typeface="Calibri" pitchFamily="34" charset="-122"/>
                <a:cs typeface="Calibri" pitchFamily="34" charset="-120"/>
              </a:rPr>
              <a:t>MP-11 Administration &amp; Operations</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UFT-16-01
</a:t>
                      </a:r>
                      <a:pPr indent="0" marL="0">
                        <a:buNone/>
                      </a:pPr>
                      <a:r>
                        <a:rPr lang="en-US" sz="1000" b="1" dirty="0">
                          <a:solidFill>
                            <a:srgbClr val="3A3A3C"/>
                          </a:solidFill>
                          <a:latin typeface="Calibri" pitchFamily="34" charset="0"/>
                          <a:ea typeface="Calibri" pitchFamily="34" charset="-122"/>
                          <a:cs typeface="Calibri" pitchFamily="34" charset="-120"/>
                        </a:rPr>
                        <a:t>Issue request for proposal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MP-15.1 </a:t>
                      </a:r>
                      <a:pPr indent="0" marL="0">
                        <a:buNone/>
                      </a:pPr>
                      <a:r>
                        <a:rPr lang="en-US" sz="1000" dirty="0">
                          <a:solidFill>
                            <a:srgbClr val="58595B"/>
                          </a:solidFill>
                          <a:latin typeface="Calibri" pitchFamily="34" charset="0"/>
                          <a:ea typeface="Calibri" pitchFamily="34" charset="-122"/>
                          <a:cs typeface="Calibri" pitchFamily="34" charset="-120"/>
                        </a:rPr>
                        <a:t>Issue request for proposal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Youssef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15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RFP 'Training on AI triage and clinical decision support' sent to 4 vendors, answers due 15 May.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UFT-16-02
</a:t>
                      </a:r>
                      <a:pPr indent="0" marL="0">
                        <a:buNone/>
                      </a:pPr>
                      <a:r>
                        <a:rPr lang="en-US" sz="1000" b="1" dirty="0">
                          <a:solidFill>
                            <a:srgbClr val="3A3A3C"/>
                          </a:solidFill>
                          <a:latin typeface="Calibri" pitchFamily="34" charset="0"/>
                          <a:ea typeface="Calibri" pitchFamily="34" charset="-122"/>
                          <a:cs typeface="Calibri" pitchFamily="34" charset="-120"/>
                        </a:rPr>
                        <a:t>Score vendor proposals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MP-15.2 </a:t>
                      </a:r>
                      <a:pPr indent="0" marL="0">
                        <a:buNone/>
                      </a:pPr>
                      <a:r>
                        <a:rPr lang="en-US" sz="1000" dirty="0">
                          <a:solidFill>
                            <a:srgbClr val="58595B"/>
                          </a:solidFill>
                          <a:latin typeface="Calibri" pitchFamily="34" charset="0"/>
                          <a:ea typeface="Calibri" pitchFamily="34" charset="-122"/>
                          <a:cs typeface="Calibri" pitchFamily="34" charset="-120"/>
                        </a:rPr>
                        <a:t>Score vendor proposals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Youssef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Scores: vendor A 82, vendor B 76, vendor C 64 (price 40%, expertise 40%, references 20%).</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UFT-16-03
</a:t>
                      </a:r>
                      <a:pPr indent="0" marL="0">
                        <a:buNone/>
                      </a:pPr>
                      <a:r>
                        <a:rPr lang="en-US" sz="1000" b="1" dirty="0">
                          <a:solidFill>
                            <a:srgbClr val="3A3A3C"/>
                          </a:solidFill>
                          <a:latin typeface="Calibri" pitchFamily="34" charset="0"/>
                          <a:ea typeface="Calibri" pitchFamily="34" charset="-122"/>
                          <a:cs typeface="Calibri" pitchFamily="34" charset="-120"/>
                        </a:rPr>
                        <a:t>Register and verify vendor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MP-15.3 </a:t>
                      </a:r>
                      <a:pPr indent="0" marL="0">
                        <a:buNone/>
                      </a:pPr>
                      <a:r>
                        <a:rPr lang="en-US" sz="1000" dirty="0">
                          <a:solidFill>
                            <a:srgbClr val="58595B"/>
                          </a:solidFill>
                          <a:latin typeface="Calibri" pitchFamily="34" charset="0"/>
                          <a:ea typeface="Calibri" pitchFamily="34" charset="-122"/>
                          <a:cs typeface="Calibri" pitchFamily="34" charset="-120"/>
                        </a:rPr>
                        <a:t>Register vendor record</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MP-15.4 </a:t>
                      </a:r>
                      <a:pPr indent="0" marL="0">
                        <a:buNone/>
                      </a:pPr>
                      <a:r>
                        <a:rPr lang="en-US" sz="1000" dirty="0">
                          <a:solidFill>
                            <a:srgbClr val="58595B"/>
                          </a:solidFill>
                          <a:latin typeface="Calibri" pitchFamily="34" charset="0"/>
                          <a:ea typeface="Calibri" pitchFamily="34" charset="-122"/>
                          <a:cs typeface="Calibri" pitchFamily="34" charset="-120"/>
                        </a:rPr>
                        <a:t>Verify vendor accreditation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Youssef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Register vendor A; accreditation OFPPT verified, valid until December.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UFT-16-04
</a:t>
                      </a:r>
                      <a:pPr indent="0" marL="0">
                        <a:buNone/>
                      </a:pPr>
                      <a:r>
                        <a:rPr lang="en-US" sz="1000" b="1" dirty="0">
                          <a:solidFill>
                            <a:srgbClr val="3A3A3C"/>
                          </a:solidFill>
                          <a:latin typeface="Calibri" pitchFamily="34" charset="0"/>
                          <a:ea typeface="Calibri" pitchFamily="34" charset="-122"/>
                          <a:cs typeface="Calibri" pitchFamily="34" charset="-120"/>
                        </a:rPr>
                        <a:t>Issue purchase order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MP-15.5 </a:t>
                      </a:r>
                      <a:pPr indent="0" marL="0">
                        <a:buNone/>
                      </a:pPr>
                      <a:r>
                        <a:rPr lang="en-US" sz="1000" dirty="0">
                          <a:solidFill>
                            <a:srgbClr val="58595B"/>
                          </a:solidFill>
                          <a:latin typeface="Calibri" pitchFamily="34" charset="0"/>
                          <a:ea typeface="Calibri" pitchFamily="34" charset="-122"/>
                          <a:cs typeface="Calibri" pitchFamily="34" charset="-120"/>
                        </a:rPr>
                        <a:t>Issue purchase order</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MP-18.3 </a:t>
                      </a:r>
                      <a:pPr indent="0" marL="0">
                        <a:buNone/>
                      </a:pPr>
                      <a:r>
                        <a:rPr lang="en-US" sz="1000" dirty="0">
                          <a:solidFill>
                            <a:srgbClr val="58595B"/>
                          </a:solidFill>
                          <a:latin typeface="Calibri" pitchFamily="34" charset="0"/>
                          <a:ea typeface="Calibri" pitchFamily="34" charset="-122"/>
                          <a:cs typeface="Calibri" pitchFamily="34" charset="-120"/>
                        </a:rPr>
                        <a:t>Record committed and actual costs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Youssef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Purchase order PO-2026-044: 180,000 MAD on budget line 'AI triage and clinical decision support'.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UFT-16-05
</a:t>
                      </a:r>
                      <a:pPr indent="0" marL="0">
                        <a:buNone/>
                      </a:pPr>
                      <a:r>
                        <a:rPr lang="en-US" sz="1000" b="1" dirty="0">
                          <a:solidFill>
                            <a:srgbClr val="3A3A3C"/>
                          </a:solidFill>
                          <a:latin typeface="Calibri" pitchFamily="34" charset="0"/>
                          <a:ea typeface="Calibri" pitchFamily="34" charset="-122"/>
                          <a:cs typeface="Calibri" pitchFamily="34" charset="-120"/>
                        </a:rPr>
                        <a:t>Match invoice to order and attendance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MP-15.6 </a:t>
                      </a:r>
                      <a:pPr indent="0" marL="0">
                        <a:buNone/>
                      </a:pPr>
                      <a:r>
                        <a:rPr lang="en-US" sz="1000" dirty="0">
                          <a:solidFill>
                            <a:srgbClr val="58595B"/>
                          </a:solidFill>
                          <a:latin typeface="Calibri" pitchFamily="34" charset="0"/>
                          <a:ea typeface="Calibri" pitchFamily="34" charset="-122"/>
                          <a:cs typeface="Calibri" pitchFamily="34" charset="-120"/>
                        </a:rPr>
                        <a:t>Match invoice to order and attendance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MP-11.5 </a:t>
                      </a:r>
                      <a:pPr indent="0" marL="0">
                        <a:buNone/>
                      </a:pPr>
                      <a:r>
                        <a:rPr lang="en-US" sz="1000" dirty="0">
                          <a:solidFill>
                            <a:srgbClr val="58595B"/>
                          </a:solidFill>
                          <a:latin typeface="Calibri" pitchFamily="34" charset="0"/>
                          <a:ea typeface="Calibri" pitchFamily="34" charset="-122"/>
                          <a:cs typeface="Calibri" pitchFamily="34" charset="-120"/>
                        </a:rPr>
                        <a:t>Reconcile attendance with invoices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Invoice matched with PO and attendance (3 days × 12 learners): OK.</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16"/>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16-04 Issue purchase order">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UFT-16-04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3 · E2E-16 · PARTITION OF E2E-15</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Vendor-to-Finance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UFT-16-06
</a:t>
                      </a:r>
                      <a:pPr indent="0" marL="0">
                        <a:buNone/>
                      </a:pPr>
                      <a:r>
                        <a:rPr lang="en-US" sz="1000" b="1" dirty="0">
                          <a:solidFill>
                            <a:srgbClr val="3A3A3C"/>
                          </a:solidFill>
                          <a:latin typeface="Calibri" pitchFamily="34" charset="0"/>
                          <a:ea typeface="Calibri" pitchFamily="34" charset="-122"/>
                          <a:cs typeface="Calibri" pitchFamily="34" charset="-120"/>
                        </a:rPr>
                        <a:t>Approve vendor payment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MP-15.7 </a:t>
                      </a:r>
                      <a:pPr indent="0" marL="0">
                        <a:buNone/>
                      </a:pPr>
                      <a:r>
                        <a:rPr lang="en-US" sz="1000" dirty="0">
                          <a:solidFill>
                            <a:srgbClr val="58595B"/>
                          </a:solidFill>
                          <a:latin typeface="Calibri" pitchFamily="34" charset="0"/>
                          <a:ea typeface="Calibri" pitchFamily="34" charset="-122"/>
                          <a:cs typeface="Calibri" pitchFamily="34" charset="-120"/>
                        </a:rPr>
                        <a:t>Approve vendor payment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MP-18.4 </a:t>
                      </a:r>
                      <a:pPr indent="0" marL="0">
                        <a:buNone/>
                      </a:pPr>
                      <a:r>
                        <a:rPr lang="en-US" sz="1000" dirty="0">
                          <a:solidFill>
                            <a:srgbClr val="58595B"/>
                          </a:solidFill>
                          <a:latin typeface="Calibri" pitchFamily="34" charset="0"/>
                          <a:ea typeface="Calibri" pitchFamily="34" charset="-122"/>
                          <a:cs typeface="Calibri" pitchFamily="34" charset="-120"/>
                        </a:rPr>
                        <a:t>Compare spend against budget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Kawtar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Approve payment 180,000 MAD; vendor performance rating 4/5.</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16"/>
          <p:cNvSpPr/>
          <p:nvPr/>
        </p:nvSpPr>
        <p:spPr>
          <a:xfrm>
            <a:off x="1770750" y="2212848"/>
            <a:ext cx="5236741" cy="3831336"/>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16">    </p:cNvPr>
          <p:cNvPicPr>
            <a:picLocks noChangeAspect="1"/>
          </p:cNvPicPr>
          <p:nvPr/>
        </p:nvPicPr>
        <p:blipFill>
          <a:blip r:embed="rId1"/>
          <a:stretch>
            <a:fillRect/>
          </a:stretch>
        </p:blipFill>
        <p:spPr>
          <a:xfrm>
            <a:off x="1825614" y="2267712"/>
            <a:ext cx="5127013" cy="3721608"/>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E2E-16 in CortexSkills: its tasks, owners and due dates, and the process card.</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 processes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MP-15 Vendor &amp; Partner Ecosystem Management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MP-18 Financial &amp; Budget Management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MP-11 Administration &amp; Operations</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Feeds into</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E2E-05</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Supported by</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E2E-15</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3 · HCPR-E2E-02 · VERTICAL</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Healthcare Providers Critical-Skills-to-Transformation Plan</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Turn critical-skill gaps and digital and AI use cases into a transformation plan.</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Annual plan cycle or technology change in Healthcare Providers.</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Transformation learning paths approved.</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4 tasks · 7 steps
</a:t>
            </a:r>
            <a:pPr indent="0" marL="0">
              <a:buNone/>
            </a:pPr>
            <a:r>
              <a:rPr lang="en-US" sz="1100" dirty="0">
                <a:solidFill>
                  <a:srgbClr val="3A3A3C"/>
                </a:solidFill>
                <a:latin typeface="Calibri" pitchFamily="34" charset="0"/>
                <a:ea typeface="Calibri" pitchFamily="34" charset="-122"/>
                <a:cs typeface="Calibri" pitchFamily="34" charset="-120"/>
              </a:rPr>
              <a:t>11 days · 4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MP-02 Skills &amp; Competency Management · </a:t>
            </a:r>
            <a:pPr indent="0" marL="0">
              <a:buNone/>
            </a:pPr>
            <a:r>
              <a:rPr lang="en-US" sz="1000" dirty="0">
                <a:solidFill>
                  <a:srgbClr val="58595B"/>
                </a:solidFill>
                <a:latin typeface="Calibri" pitchFamily="34" charset="0"/>
                <a:ea typeface="Calibri" pitchFamily="34" charset="-122"/>
                <a:cs typeface="Calibri" pitchFamily="34" charset="-120"/>
              </a:rPr>
              <a:t>MP-03 Needs Analysis &amp; Diagnosis · </a:t>
            </a:r>
            <a:pPr indent="0" marL="0">
              <a:buNone/>
            </a:pPr>
            <a:r>
              <a:rPr lang="en-US" sz="1000" dirty="0">
                <a:solidFill>
                  <a:srgbClr val="58595B"/>
                </a:solidFill>
                <a:latin typeface="Calibri" pitchFamily="34" charset="0"/>
                <a:ea typeface="Calibri" pitchFamily="34" charset="-122"/>
                <a:cs typeface="Calibri" pitchFamily="34" charset="-120"/>
              </a:rPr>
              <a:t>MP-05 Learning Design &amp; Curriculum Engineering · </a:t>
            </a:r>
            <a:pPr indent="0" marL="0">
              <a:buNone/>
            </a:pPr>
            <a:r>
              <a:rPr lang="en-US" sz="1000" dirty="0">
                <a:solidFill>
                  <a:srgbClr val="58595B"/>
                </a:solidFill>
                <a:latin typeface="Calibri" pitchFamily="34" charset="0"/>
                <a:ea typeface="Calibri" pitchFamily="34" charset="-122"/>
                <a:cs typeface="Calibri" pitchFamily="34" charset="-120"/>
              </a:rPr>
              <a:t>HCPR-MP-02 HCPR-MP-02</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UFT-HCPR-E2-01
</a:t>
                      </a:r>
                      <a:pPr indent="0" marL="0">
                        <a:buNone/>
                      </a:pPr>
                      <a:r>
                        <a:rPr lang="en-US" sz="1000" b="1" dirty="0">
                          <a:solidFill>
                            <a:srgbClr val="3A3A3C"/>
                          </a:solidFill>
                          <a:latin typeface="Calibri" pitchFamily="34" charset="0"/>
                          <a:ea typeface="Calibri" pitchFamily="34" charset="-122"/>
                          <a:cs typeface="Calibri" pitchFamily="34" charset="-120"/>
                        </a:rPr>
                        <a:t>List critical Clinical Care &amp; Nursing skills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MP-02.1 </a:t>
                      </a:r>
                      <a:pPr indent="0" marL="0">
                        <a:buNone/>
                      </a:pPr>
                      <a:r>
                        <a:rPr lang="en-US" sz="1000" dirty="0">
                          <a:solidFill>
                            <a:srgbClr val="58595B"/>
                          </a:solidFill>
                          <a:latin typeface="Calibri" pitchFamily="34" charset="0"/>
                          <a:ea typeface="Calibri" pitchFamily="34" charset="-122"/>
                          <a:cs typeface="Calibri" pitchFamily="34" charset="-120"/>
                        </a:rPr>
                        <a:t>Define competency families and levels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MP-03.1 </a:t>
                      </a:r>
                      <a:pPr indent="0" marL="0">
                        <a:buNone/>
                      </a:pPr>
                      <a:r>
                        <a:rPr lang="en-US" sz="1000" dirty="0">
                          <a:solidFill>
                            <a:srgbClr val="58595B"/>
                          </a:solidFill>
                          <a:latin typeface="Calibri" pitchFamily="34" charset="0"/>
                          <a:ea typeface="Calibri" pitchFamily="34" charset="-122"/>
                          <a:cs typeface="Calibri" pitchFamily="34" charset="-120"/>
                        </a:rPr>
                        <a:t>Compute gap matrix</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15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Critical skills: 6 for Clinical Care &amp; Nursing, each with target level 3.</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UFT-HCPR-E2-02
</a:t>
                      </a:r>
                      <a:pPr indent="0" marL="0">
                        <a:buNone/>
                      </a:pPr>
                      <a:r>
                        <a:rPr lang="en-US" sz="1000" b="1" dirty="0">
                          <a:solidFill>
                            <a:srgbClr val="3A3A3C"/>
                          </a:solidFill>
                          <a:latin typeface="Calibri" pitchFamily="34" charset="0"/>
                          <a:ea typeface="Calibri" pitchFamily="34" charset="-122"/>
                          <a:cs typeface="Calibri" pitchFamily="34" charset="-120"/>
                        </a:rPr>
                        <a:t>List digital and AI use cases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MP-03.3 </a:t>
                      </a:r>
                      <a:pPr indent="0" marL="0">
                        <a:buNone/>
                      </a:pPr>
                      <a:r>
                        <a:rPr lang="en-US" sz="1000" dirty="0">
                          <a:solidFill>
                            <a:srgbClr val="58595B"/>
                          </a:solidFill>
                          <a:latin typeface="Calibri" pitchFamily="34" charset="0"/>
                          <a:ea typeface="Calibri" pitchFamily="34" charset="-122"/>
                          <a:cs typeface="Calibri" pitchFamily="34" charset="-120"/>
                        </a:rPr>
                        <a:t>Plan diagnostic interviews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Amine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Use cases: AI triage and clinical decision support; AI medical imaging assistance; AI bed and staff capacity planning.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UFT-HCPR-E2-03
</a:t>
                      </a:r>
                      <a:pPr indent="0" marL="0">
                        <a:buNone/>
                      </a:pPr>
                      <a:r>
                        <a:rPr lang="en-US" sz="1000" b="1" dirty="0">
                          <a:solidFill>
                            <a:srgbClr val="3A3A3C"/>
                          </a:solidFill>
                          <a:latin typeface="Calibri" pitchFamily="34" charset="0"/>
                          <a:ea typeface="Calibri" pitchFamily="34" charset="-122"/>
                          <a:cs typeface="Calibri" pitchFamily="34" charset="-120"/>
                        </a:rPr>
                        <a:t>Forecast impacted roles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MP-03.5 </a:t>
                      </a:r>
                      <a:pPr indent="0" marL="0">
                        <a:buNone/>
                      </a:pPr>
                      <a:r>
                        <a:rPr lang="en-US" sz="1000" dirty="0">
                          <a:solidFill>
                            <a:srgbClr val="58595B"/>
                          </a:solidFill>
                          <a:latin typeface="Calibri" pitchFamily="34" charset="0"/>
                          <a:ea typeface="Calibri" pitchFamily="34" charset="-122"/>
                          <a:cs typeface="Calibri" pitchFamily="34" charset="-120"/>
                        </a:rPr>
                        <a:t>Cluster needs into training themes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MP-28.3 </a:t>
                      </a:r>
                      <a:pPr indent="0" marL="0">
                        <a:buNone/>
                      </a:pPr>
                      <a:r>
                        <a:rPr lang="en-US" sz="1000" dirty="0">
                          <a:solidFill>
                            <a:srgbClr val="58595B"/>
                          </a:solidFill>
                          <a:latin typeface="Calibri" pitchFamily="34" charset="0"/>
                          <a:ea typeface="Calibri" pitchFamily="34" charset="-122"/>
                          <a:cs typeface="Calibri" pitchFamily="34" charset="-120"/>
                        </a:rPr>
                        <a:t>Forecast skill gaps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Impacted roles: supervisors (high), operators (medium); accept the AI forecast.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UFT-HCPR-E2-04
</a:t>
                      </a:r>
                      <a:pPr indent="0" marL="0">
                        <a:buNone/>
                      </a:pPr>
                      <a:r>
                        <a:rPr lang="en-US" sz="1000" b="1" dirty="0">
                          <a:solidFill>
                            <a:srgbClr val="3A3A3C"/>
                          </a:solidFill>
                          <a:latin typeface="Calibri" pitchFamily="34" charset="0"/>
                          <a:ea typeface="Calibri" pitchFamily="34" charset="-122"/>
                          <a:cs typeface="Calibri" pitchFamily="34" charset="-120"/>
                        </a:rPr>
                        <a:t>Approve transformation paths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MP-05.2 </a:t>
                      </a:r>
                      <a:pPr indent="0" marL="0">
                        <a:buNone/>
                      </a:pPr>
                      <a:r>
                        <a:rPr lang="en-US" sz="1000" dirty="0">
                          <a:solidFill>
                            <a:srgbClr val="58595B"/>
                          </a:solidFill>
                          <a:latin typeface="Calibri" pitchFamily="34" charset="0"/>
                          <a:ea typeface="Calibri" pitchFamily="34" charset="-122"/>
                          <a:cs typeface="Calibri" pitchFamily="34" charset="-120"/>
                        </a:rPr>
                        <a:t>Define learning path and modules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MP-05.7 </a:t>
                      </a:r>
                      <a:pPr indent="0" marL="0">
                        <a:buNone/>
                      </a:pPr>
                      <a:r>
                        <a:rPr lang="en-US" sz="1000" dirty="0">
                          <a:solidFill>
                            <a:srgbClr val="58595B"/>
                          </a:solidFill>
                          <a:latin typeface="Calibri" pitchFamily="34" charset="0"/>
                          <a:ea typeface="Calibri" pitchFamily="34" charset="-122"/>
                          <a:cs typeface="Calibri" pitchFamily="34" charset="-120"/>
                        </a:rPr>
                        <a:t>Approve design document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Ghita Bouzidi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Jun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Approve 2 transformation paths: 'AI triage and clinical decision support for supervisors', 'AI medical imaging assistance for operators'.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HCPR-E2E-02"/>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HCPR-E2-04 Approve transformation path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UFT-HCPR-E2-04 opened in CortexSkills: what to enter, its steps and its result.</a:t>
            </a:r>
            <a:endParaRPr lang="en-US" sz="1000" dirty="0"/>
          </a:p>
        </p:txBody>
      </p:sp>
      <p:sp>
        <p:nvSpPr>
          <p:cNvPr id="17"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2" name=""/>
        <p:cNvGrpSpPr/>
        <p:nvPr/>
      </p:nvGrpSpPr>
      <p:grpSpPr>
        <a:xfrm>
          <a:off x="0" y="0"/>
          <a:ext cx="0" cy="0"/>
          <a:chOff x="0" y="0"/>
          <a:chExt cx="0" cy="0"/>
        </a:xfrm>
      </p:grpSpPr>
      <p:sp>
        <p:nvSpPr>
          <p:cNvPr id="3" name="Text 0"/>
          <p:cNvSpPr txBox="1"/>
          <p:nvPr/>
        </p:nvSpPr>
        <p:spPr>
          <a:xfrm>
            <a:off x="457200" y="914400"/>
            <a:ext cx="2743200" cy="1280160"/>
          </a:xfrm>
          <a:prstGeom prst="rect">
            <a:avLst/>
          </a:prstGeom>
          <a:noFill/>
          <a:ln/>
        </p:spPr>
        <p:txBody>
          <a:bodyPr wrap="square" lIns="0" tIns="0" rIns="0" bIns="0" rtlCol="0" anchor="ctr"/>
          <a:lstStyle/>
          <a:p>
            <a:pPr indent="0" marL="0">
              <a:buNone/>
            </a:pPr>
            <a:r>
              <a:rPr lang="en-US" sz="8000" b="1" dirty="0">
                <a:solidFill>
                  <a:srgbClr val="F8931D"/>
                </a:solidFill>
                <a:latin typeface="Cambria" pitchFamily="34" charset="0"/>
                <a:ea typeface="Cambria" pitchFamily="34" charset="-122"/>
                <a:cs typeface="Cambria" pitchFamily="34" charset="-120"/>
              </a:rPr>
              <a:t>04</a:t>
            </a:r>
            <a:endParaRPr lang="en-US" sz="8000" dirty="0"/>
          </a:p>
        </p:txBody>
      </p:sp>
      <p:sp>
        <p:nvSpPr>
          <p:cNvPr id="4" name="Text 1"/>
          <p:cNvSpPr txBox="1"/>
          <p:nvPr/>
        </p:nvSpPr>
        <p:spPr>
          <a:xfrm>
            <a:off x="457200" y="2331720"/>
            <a:ext cx="5486400" cy="320040"/>
          </a:xfrm>
          <a:prstGeom prst="rect">
            <a:avLst/>
          </a:prstGeom>
          <a:noFill/>
          <a:ln/>
        </p:spPr>
        <p:txBody>
          <a:bodyPr wrap="square" lIns="0" tIns="0" rIns="0" bIns="0" rtlCol="0" anchor="ctr"/>
          <a:lstStyle/>
          <a:p>
            <a:pPr indent="0" marL="0">
              <a:buNone/>
            </a:pPr>
            <a:r>
              <a:rPr lang="en-US" sz="1300" b="1" spc="300" kern="0" dirty="0">
                <a:solidFill>
                  <a:srgbClr val="F8931D"/>
                </a:solidFill>
                <a:latin typeface="Calibri" pitchFamily="34" charset="0"/>
                <a:ea typeface="Calibri" pitchFamily="34" charset="-122"/>
                <a:cs typeface="Calibri" pitchFamily="34" charset="-120"/>
              </a:rPr>
              <a:t>PHASE 4</a:t>
            </a:r>
            <a:endParaRPr lang="en-US" sz="1300" dirty="0"/>
          </a:p>
        </p:txBody>
      </p:sp>
      <p:sp>
        <p:nvSpPr>
          <p:cNvPr id="5" name="Text 2"/>
          <p:cNvSpPr txBox="1"/>
          <p:nvPr/>
        </p:nvSpPr>
        <p:spPr>
          <a:xfrm>
            <a:off x="457200" y="2697480"/>
            <a:ext cx="5669280" cy="13716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Design &amp; delivery</a:t>
            </a:r>
            <a:endParaRPr lang="en-US" sz="3600" dirty="0"/>
          </a:p>
        </p:txBody>
      </p:sp>
      <p:sp>
        <p:nvSpPr>
          <p:cNvPr id="6" name="Text 3"/>
          <p:cNvSpPr txBox="1"/>
          <p:nvPr/>
        </p:nvSpPr>
        <p:spPr>
          <a:xfrm>
            <a:off x="457200" y="4206240"/>
            <a:ext cx="5669280" cy="1097280"/>
          </a:xfrm>
          <a:prstGeom prst="rect">
            <a:avLst/>
          </a:prstGeom>
          <a:noFill/>
          <a:ln/>
        </p:spPr>
        <p:txBody>
          <a:bodyPr wrap="square" lIns="0" tIns="0" rIns="0" bIns="0" rtlCol="0" anchor="t"/>
          <a:lstStyle/>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5 processes · 39 tasks · 99 steps</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11 Jul 2026 – 6 Aug 2026</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Closed by G4 — Delivery readiness</a:t>
            </a:r>
            <a:endParaRPr lang="en-US" sz="1500" dirty="0"/>
          </a:p>
        </p:txBody>
      </p:sp>
      <p:sp>
        <p:nvSpPr>
          <p:cNvPr id="7" name="Text 4"/>
          <p:cNvSpPr txBox="1"/>
          <p:nvPr/>
        </p:nvSpPr>
        <p:spPr>
          <a:xfrm>
            <a:off x="6675120" y="1097280"/>
            <a:ext cx="5029200" cy="4754880"/>
          </a:xfrm>
          <a:prstGeom prst="rect">
            <a:avLst/>
          </a:prstGeom>
          <a:noFill/>
          <a:ln/>
        </p:spPr>
        <p:txBody>
          <a:bodyPr wrap="square" lIns="0" tIns="0" rIns="0" bIns="0" rtlCol="0" anchor="ctr"/>
          <a:lstStyle/>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E2E-04   Roadmap-to-Curriculum Design</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E2E-05   Design-to-Delivery</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E2E-06   Learner-Journey-to-Engagement</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E2E-13   Content-Curate-to-Retire</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E2E-14   Extended-Enterprise-Training</a:t>
            </a:r>
            <a:endParaRPr lang="en-US" sz="1500" dirty="0"/>
          </a:p>
        </p:txBody>
      </p:sp>
      <p:sp>
        <p:nvSpPr>
          <p:cNvPr id="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DBDBF"/>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4 · E2E-04 · PARTITION OF E2E-03</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Roadmap-to-Curriculum Design</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Convert roadmap into curriculum maps, learning paths, design documents</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Approved Training Engineering Report and roadmap published.</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Approved curriculum maps, learning paths and design documents.</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8 tasks · 15 steps
</a:t>
            </a:r>
            <a:pPr indent="0" marL="0">
              <a:buNone/>
            </a:pPr>
            <a:r>
              <a:rPr lang="en-US" sz="1100" dirty="0">
                <a:solidFill>
                  <a:srgbClr val="3A3A3C"/>
                </a:solidFill>
                <a:latin typeface="Calibri" pitchFamily="34" charset="0"/>
                <a:ea typeface="Calibri" pitchFamily="34" charset="-122"/>
                <a:cs typeface="Calibri" pitchFamily="34" charset="-120"/>
              </a:rPr>
              <a:t>23 days · 3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MP-04 Training Engineering Report &amp; Roadmap Elaboration · </a:t>
            </a:r>
            <a:pPr indent="0" marL="0">
              <a:buNone/>
            </a:pPr>
            <a:r>
              <a:rPr lang="en-US" sz="1000" dirty="0">
                <a:solidFill>
                  <a:srgbClr val="58595B"/>
                </a:solidFill>
                <a:latin typeface="Calibri" pitchFamily="34" charset="0"/>
                <a:ea typeface="Calibri" pitchFamily="34" charset="-122"/>
                <a:cs typeface="Calibri" pitchFamily="34" charset="-120"/>
              </a:rPr>
              <a:t>MP-05 Learning Design &amp; Curriculum Engineering · </a:t>
            </a:r>
            <a:pPr indent="0" marL="0">
              <a:buNone/>
            </a:pPr>
            <a:r>
              <a:rPr lang="en-US" sz="1000" dirty="0">
                <a:solidFill>
                  <a:srgbClr val="58595B"/>
                </a:solidFill>
                <a:latin typeface="Calibri" pitchFamily="34" charset="0"/>
                <a:ea typeface="Calibri" pitchFamily="34" charset="-122"/>
                <a:cs typeface="Calibri" pitchFamily="34" charset="-120"/>
              </a:rPr>
              <a:t>MP-06 Content &amp; Resource Management · </a:t>
            </a:r>
            <a:pPr indent="0" marL="0">
              <a:buNone/>
            </a:pPr>
            <a:r>
              <a:rPr lang="en-US" sz="1000" dirty="0">
                <a:solidFill>
                  <a:srgbClr val="58595B"/>
                </a:solidFill>
                <a:latin typeface="Calibri" pitchFamily="34" charset="0"/>
                <a:ea typeface="Calibri" pitchFamily="34" charset="-122"/>
                <a:cs typeface="Calibri" pitchFamily="34" charset="-120"/>
              </a:rPr>
              <a:t>MP-23 Localization, Accessibility &amp; Inclusion</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UFT-04-01
</a:t>
                      </a:r>
                      <a:pPr indent="0" marL="0">
                        <a:buNone/>
                      </a:pPr>
                      <a:r>
                        <a:rPr lang="en-US" sz="1000" b="1" dirty="0">
                          <a:solidFill>
                            <a:srgbClr val="3A3A3C"/>
                          </a:solidFill>
                          <a:latin typeface="Calibri" pitchFamily="34" charset="0"/>
                          <a:ea typeface="Calibri" pitchFamily="34" charset="-122"/>
                          <a:cs typeface="Calibri" pitchFamily="34" charset="-120"/>
                        </a:rPr>
                        <a:t>Create curriculum map</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MP-05.1 </a:t>
                      </a:r>
                      <a:pPr indent="0" marL="0">
                        <a:buNone/>
                      </a:pPr>
                      <a:r>
                        <a:rPr lang="en-US" sz="1000" dirty="0">
                          <a:solidFill>
                            <a:srgbClr val="58595B"/>
                          </a:solidFill>
                          <a:latin typeface="Calibri" pitchFamily="34" charset="0"/>
                          <a:ea typeface="Calibri" pitchFamily="34" charset="-122"/>
                          <a:cs typeface="Calibri" pitchFamily="34" charset="-120"/>
                        </a:rPr>
                        <a:t>Create curriculum map from roadmap</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Ghita Bouzidi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Curriculum map 'AI triage and clinical decision support': 3 learning paths (operators, supervisors, managers), 9 modules.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UFT-04-02
</a:t>
                      </a:r>
                      <a:pPr indent="0" marL="0">
                        <a:buNone/>
                      </a:pPr>
                      <a:r>
                        <a:rPr lang="en-US" sz="1000" b="1" dirty="0">
                          <a:solidFill>
                            <a:srgbClr val="3A3A3C"/>
                          </a:solidFill>
                          <a:latin typeface="Calibri" pitchFamily="34" charset="0"/>
                          <a:ea typeface="Calibri" pitchFamily="34" charset="-122"/>
                          <a:cs typeface="Calibri" pitchFamily="34" charset="-120"/>
                        </a:rPr>
                        <a:t>Define learning paths and modules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MP-05.2 </a:t>
                      </a:r>
                      <a:pPr indent="0" marL="0">
                        <a:buNone/>
                      </a:pPr>
                      <a:r>
                        <a:rPr lang="en-US" sz="1000" dirty="0">
                          <a:solidFill>
                            <a:srgbClr val="58595B"/>
                          </a:solidFill>
                          <a:latin typeface="Calibri" pitchFamily="34" charset="0"/>
                          <a:ea typeface="Calibri" pitchFamily="34" charset="-122"/>
                          <a:cs typeface="Calibri" pitchFamily="34" charset="-120"/>
                        </a:rPr>
                        <a:t>Define learning path and modules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Ghita Bouzidi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Path 'Supervisors — AI triage and clinical decision support': 4 modules, 3 days blended (1 day e-learning, 2 days workshop).</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UFT-04-03
</a:t>
                      </a:r>
                      <a:pPr indent="0" marL="0">
                        <a:buNone/>
                      </a:pPr>
                      <a:r>
                        <a:rPr lang="en-US" sz="1000" b="1" dirty="0">
                          <a:solidFill>
                            <a:srgbClr val="3A3A3C"/>
                          </a:solidFill>
                          <a:latin typeface="Calibri" pitchFamily="34" charset="0"/>
                          <a:ea typeface="Calibri" pitchFamily="34" charset="-122"/>
                          <a:cs typeface="Calibri" pitchFamily="34" charset="-120"/>
                        </a:rPr>
                        <a:t>Write learning objectives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MP-05.3 </a:t>
                      </a:r>
                      <a:pPr indent="0" marL="0">
                        <a:buNone/>
                      </a:pPr>
                      <a:r>
                        <a:rPr lang="en-US" sz="1000" dirty="0">
                          <a:solidFill>
                            <a:srgbClr val="58595B"/>
                          </a:solidFill>
                          <a:latin typeface="Calibri" pitchFamily="34" charset="0"/>
                          <a:ea typeface="Calibri" pitchFamily="34" charset="-122"/>
                          <a:cs typeface="Calibri" pitchFamily="34" charset="-120"/>
                        </a:rPr>
                        <a:t>Write learning objectives per module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Ghita Bouzidi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Objective M1: 'By the end, the supervisor reads the AI triage and clinical decision support dashboard and decides the shift action in 5 minutes.'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UFT-04-04
</a:t>
                      </a:r>
                      <a:pPr indent="0" marL="0">
                        <a:buNone/>
                      </a:pPr>
                      <a:r>
                        <a:rPr lang="en-US" sz="1000" b="1" dirty="0">
                          <a:solidFill>
                            <a:srgbClr val="3A3A3C"/>
                          </a:solidFill>
                          <a:latin typeface="Calibri" pitchFamily="34" charset="0"/>
                          <a:ea typeface="Calibri" pitchFamily="34" charset="-122"/>
                          <a:cs typeface="Calibri" pitchFamily="34" charset="-120"/>
                        </a:rPr>
                        <a:t>Propose module structure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MP-05.4 </a:t>
                      </a:r>
                      <a:pPr indent="0" marL="0">
                        <a:buNone/>
                      </a:pPr>
                      <a:r>
                        <a:rPr lang="en-US" sz="1000" dirty="0">
                          <a:solidFill>
                            <a:srgbClr val="58595B"/>
                          </a:solidFill>
                          <a:latin typeface="Calibri" pitchFamily="34" charset="0"/>
                          <a:ea typeface="Calibri" pitchFamily="34" charset="-122"/>
                          <a:cs typeface="Calibri" pitchFamily="34" charset="-120"/>
                        </a:rPr>
                        <a:t>Propose module structure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Ghita Bouzidi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22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Accept the proposed structure (intro, demo, practice, quiz); replace the quiz by a live case from Clinical Care &amp; Nursing.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04"/>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04-03 Write learning objective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UFT-04-03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4 · E2E-04 · PARTITION OF E2E-03</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Roadmap-to-Curriculum Design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UFT-04-05
</a:t>
                      </a:r>
                      <a:pPr indent="0" marL="0">
                        <a:buNone/>
                      </a:pPr>
                      <a:r>
                        <a:rPr lang="en-US" sz="1000" b="1" dirty="0">
                          <a:solidFill>
                            <a:srgbClr val="3A3A3C"/>
                          </a:solidFill>
                          <a:latin typeface="Calibri" pitchFamily="34" charset="0"/>
                          <a:ea typeface="Calibri" pitchFamily="34" charset="-122"/>
                          <a:cs typeface="Calibri" pitchFamily="34" charset="-120"/>
                        </a:rPr>
                        <a:t>Set assessment strategy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MP-05.5 </a:t>
                      </a:r>
                      <a:pPr indent="0" marL="0">
                        <a:buNone/>
                      </a:pPr>
                      <a:r>
                        <a:rPr lang="en-US" sz="1000" dirty="0">
                          <a:solidFill>
                            <a:srgbClr val="58595B"/>
                          </a:solidFill>
                          <a:latin typeface="Calibri" pitchFamily="34" charset="0"/>
                          <a:ea typeface="Calibri" pitchFamily="34" charset="-122"/>
                          <a:cs typeface="Calibri" pitchFamily="34" charset="-120"/>
                        </a:rPr>
                        <a:t>Set assessment strategy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Ghita Bouzidi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25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Assessment: pre/post test (Level 2) and manager observation after 30 days (Level 3).</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UFT-04-06
</a:t>
                      </a:r>
                      <a:pPr indent="0" marL="0">
                        <a:buNone/>
                      </a:pPr>
                      <a:r>
                        <a:rPr lang="en-US" sz="1000" b="1" dirty="0">
                          <a:solidFill>
                            <a:srgbClr val="3A3A3C"/>
                          </a:solidFill>
                          <a:latin typeface="Calibri" pitchFamily="34" charset="0"/>
                          <a:ea typeface="Calibri" pitchFamily="34" charset="-122"/>
                          <a:cs typeface="Calibri" pitchFamily="34" charset="-120"/>
                        </a:rPr>
                        <a:t>Develop and tag content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MP-06.1 </a:t>
                      </a:r>
                      <a:pPr indent="0" marL="0">
                        <a:buNone/>
                      </a:pPr>
                      <a:r>
                        <a:rPr lang="en-US" sz="1000" dirty="0">
                          <a:solidFill>
                            <a:srgbClr val="58595B"/>
                          </a:solidFill>
                          <a:latin typeface="Calibri" pitchFamily="34" charset="0"/>
                          <a:ea typeface="Calibri" pitchFamily="34" charset="-122"/>
                          <a:cs typeface="Calibri" pitchFamily="34" charset="-120"/>
                        </a:rPr>
                        <a:t>Upload content assets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MP-06.2 </a:t>
                      </a:r>
                      <a:pPr indent="0" marL="0">
                        <a:buNone/>
                      </a:pPr>
                      <a:r>
                        <a:rPr lang="en-US" sz="1000" dirty="0">
                          <a:solidFill>
                            <a:srgbClr val="58595B"/>
                          </a:solidFill>
                          <a:latin typeface="Calibri" pitchFamily="34" charset="0"/>
                          <a:ea typeface="Calibri" pitchFamily="34" charset="-122"/>
                          <a:cs typeface="Calibri" pitchFamily="34" charset="-120"/>
                        </a:rPr>
                        <a:t>Validate package format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MP-06.5 </a:t>
                      </a:r>
                      <a:pPr indent="0" marL="0">
                        <a:buNone/>
                      </a:pPr>
                      <a:r>
                        <a:rPr lang="en-US" sz="1000" dirty="0">
                          <a:solidFill>
                            <a:srgbClr val="58595B"/>
                          </a:solidFill>
                          <a:latin typeface="Calibri" pitchFamily="34" charset="0"/>
                          <a:ea typeface="Calibri" pitchFamily="34" charset="-122"/>
                          <a:cs typeface="Calibri" pitchFamily="34" charset="-120"/>
                        </a:rPr>
                        <a:t>Tag content with competencies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28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Upload 'M1_AI triage and clinical decision support.pptx' and 'M1_video.mp4'; tag competency 'AI triage and clinical decision support' level 3.</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UFT-04-07
</a:t>
                      </a:r>
                      <a:pPr indent="0" marL="0">
                        <a:buNone/>
                      </a:pPr>
                      <a:r>
                        <a:rPr lang="en-US" sz="1000" b="1" dirty="0">
                          <a:solidFill>
                            <a:srgbClr val="3A3A3C"/>
                          </a:solidFill>
                          <a:latin typeface="Calibri" pitchFamily="34" charset="0"/>
                          <a:ea typeface="Calibri" pitchFamily="34" charset="-122"/>
                          <a:cs typeface="Calibri" pitchFamily="34" charset="-120"/>
                        </a:rPr>
                        <a:t>Localize and check accessibility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MP-23.1 </a:t>
                      </a:r>
                      <a:pPr indent="0" marL="0">
                        <a:buNone/>
                      </a:pPr>
                      <a:r>
                        <a:rPr lang="en-US" sz="1000" dirty="0">
                          <a:solidFill>
                            <a:srgbClr val="58595B"/>
                          </a:solidFill>
                          <a:latin typeface="Calibri" pitchFamily="34" charset="0"/>
                          <a:ea typeface="Calibri" pitchFamily="34" charset="-122"/>
                          <a:cs typeface="Calibri" pitchFamily="34" charset="-120"/>
                        </a:rPr>
                        <a:t>Request translation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MP-23.2 </a:t>
                      </a:r>
                      <a:pPr indent="0" marL="0">
                        <a:buNone/>
                      </a:pPr>
                      <a:r>
                        <a:rPr lang="en-US" sz="1000" dirty="0">
                          <a:solidFill>
                            <a:srgbClr val="58595B"/>
                          </a:solidFill>
                          <a:latin typeface="Calibri" pitchFamily="34" charset="0"/>
                          <a:ea typeface="Calibri" pitchFamily="34" charset="-122"/>
                          <a:cs typeface="Calibri" pitchFamily="34" charset="-120"/>
                        </a:rPr>
                        <a:t>Draft machine translation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MP-23.3 </a:t>
                      </a:r>
                      <a:pPr indent="0" marL="0">
                        <a:buNone/>
                      </a:pPr>
                      <a:r>
                        <a:rPr lang="en-US" sz="1000" dirty="0">
                          <a:solidFill>
                            <a:srgbClr val="58595B"/>
                          </a:solidFill>
                          <a:latin typeface="Calibri" pitchFamily="34" charset="0"/>
                          <a:ea typeface="Calibri" pitchFamily="34" charset="-122"/>
                          <a:cs typeface="Calibri" pitchFamily="34" charset="-120"/>
                        </a:rPr>
                        <a:t>Validate translation</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+ 2 more steps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Ghita Bouzidi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31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Request FR and AR versions; validate the AI draft translation; accessibility check: 0 blocking issues.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UFT-04-08
</a:t>
                      </a:r>
                      <a:pPr indent="0" marL="0">
                        <a:buNone/>
                      </a:pPr>
                      <a:r>
                        <a:rPr lang="en-US" sz="1000" b="1" dirty="0">
                          <a:solidFill>
                            <a:srgbClr val="3A3A3C"/>
                          </a:solidFill>
                          <a:latin typeface="Calibri" pitchFamily="34" charset="0"/>
                          <a:ea typeface="Calibri" pitchFamily="34" charset="-122"/>
                          <a:cs typeface="Calibri" pitchFamily="34" charset="-120"/>
                        </a:rPr>
                        <a:t>Approve design document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MP-05.6 </a:t>
                      </a:r>
                      <a:pPr indent="0" marL="0">
                        <a:buNone/>
                      </a:pPr>
                      <a:r>
                        <a:rPr lang="en-US" sz="1000" dirty="0">
                          <a:solidFill>
                            <a:srgbClr val="58595B"/>
                          </a:solidFill>
                          <a:latin typeface="Calibri" pitchFamily="34" charset="0"/>
                          <a:ea typeface="Calibri" pitchFamily="34" charset="-122"/>
                          <a:cs typeface="Calibri" pitchFamily="34" charset="-120"/>
                        </a:rPr>
                        <a:t>Review design with subject matter expert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MP-05.7 </a:t>
                      </a:r>
                      <a:pPr indent="0" marL="0">
                        <a:buNone/>
                      </a:pPr>
                      <a:r>
                        <a:rPr lang="en-US" sz="1000" dirty="0">
                          <a:solidFill>
                            <a:srgbClr val="58595B"/>
                          </a:solidFill>
                          <a:latin typeface="Calibri" pitchFamily="34" charset="0"/>
                          <a:ea typeface="Calibri" pitchFamily="34" charset="-122"/>
                          <a:cs typeface="Calibri" pitchFamily="34" charset="-120"/>
                        </a:rPr>
                        <a:t>Approve design document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Decision: design approved. Comment: SME review done on 12 May; ready for delivery.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6" name="frame run_E2E-04"/>
          <p:cNvSpPr/>
          <p:nvPr/>
        </p:nvSpPr>
        <p:spPr>
          <a:xfrm>
            <a:off x="3200519" y="4288536"/>
            <a:ext cx="2377203" cy="1755648"/>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04">    </p:cNvPr>
          <p:cNvPicPr>
            <a:picLocks noChangeAspect="1"/>
          </p:cNvPicPr>
          <p:nvPr/>
        </p:nvPicPr>
        <p:blipFill>
          <a:blip r:embed="rId1"/>
          <a:stretch>
            <a:fillRect/>
          </a:stretch>
        </p:blipFill>
        <p:spPr>
          <a:xfrm>
            <a:off x="3255383" y="4343400"/>
            <a:ext cx="2267475" cy="1645920"/>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E2E-04 in CortexSkills: its tasks, owners and due dates, and the process card.</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 processes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MP-04 Training Engineering Report &amp; Roadmap Elaboration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MP-05 Learning Design &amp; Curriculum Engineering</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MP-06 Content &amp; Resource Management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MP-23 Localization, Accessibility &amp; Inclusion</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Feeds into</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E2E-05, E2E-11</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Supported by</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4 · E2E-05 · ROOT / MASTER CHAIN</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Design-to-Delivery</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Deliver training across all modalities</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Approved design document and prioritized training plan.</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Training delivered across all modalities with attendance and completion recorded.</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9 tasks · 27 steps
</a:t>
            </a:r>
            <a:pPr indent="0" marL="0">
              <a:buNone/>
            </a:pPr>
            <a:r>
              <a:rPr lang="en-US" sz="1100" dirty="0">
                <a:solidFill>
                  <a:srgbClr val="3A3A3C"/>
                </a:solidFill>
                <a:latin typeface="Calibri" pitchFamily="34" charset="0"/>
                <a:ea typeface="Calibri" pitchFamily="34" charset="-122"/>
                <a:cs typeface="Calibri" pitchFamily="34" charset="-120"/>
              </a:rPr>
              <a:t>26 days · 4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MP-05 Learning Design &amp; Curriculum Engineering · </a:t>
            </a:r>
            <a:pPr indent="0" marL="0">
              <a:buNone/>
            </a:pPr>
            <a:r>
              <a:rPr lang="en-US" sz="1000" dirty="0">
                <a:solidFill>
                  <a:srgbClr val="58595B"/>
                </a:solidFill>
                <a:latin typeface="Calibri" pitchFamily="34" charset="0"/>
                <a:ea typeface="Calibri" pitchFamily="34" charset="-122"/>
                <a:cs typeface="Calibri" pitchFamily="34" charset="-120"/>
              </a:rPr>
              <a:t>MP-06 Content &amp; Resource Management · </a:t>
            </a:r>
            <a:pPr indent="0" marL="0">
              <a:buNone/>
            </a:pPr>
            <a:r>
              <a:rPr lang="en-US" sz="1000" dirty="0">
                <a:solidFill>
                  <a:srgbClr val="58595B"/>
                </a:solidFill>
                <a:latin typeface="Calibri" pitchFamily="34" charset="0"/>
                <a:ea typeface="Calibri" pitchFamily="34" charset="-122"/>
                <a:cs typeface="Calibri" pitchFamily="34" charset="-120"/>
              </a:rPr>
              <a:t>MP-07 Learning Delivery &amp; Implementation · </a:t>
            </a:r>
            <a:pPr indent="0" marL="0">
              <a:buNone/>
            </a:pPr>
            <a:r>
              <a:rPr lang="en-US" sz="1000" dirty="0">
                <a:solidFill>
                  <a:srgbClr val="58595B"/>
                </a:solidFill>
                <a:latin typeface="Calibri" pitchFamily="34" charset="0"/>
                <a:ea typeface="Calibri" pitchFamily="34" charset="-122"/>
                <a:cs typeface="Calibri" pitchFamily="34" charset="-120"/>
              </a:rPr>
              <a:t>MP-11 Administration &amp; Operations · </a:t>
            </a:r>
            <a:pPr indent="0" marL="0">
              <a:buNone/>
            </a:pPr>
            <a:r>
              <a:rPr lang="en-US" sz="1000" dirty="0">
                <a:solidFill>
                  <a:srgbClr val="58595B"/>
                </a:solidFill>
                <a:latin typeface="Calibri" pitchFamily="34" charset="0"/>
                <a:ea typeface="Calibri" pitchFamily="34" charset="-122"/>
                <a:cs typeface="Calibri" pitchFamily="34" charset="-120"/>
              </a:rPr>
              <a:t>MP-17 Identity, Access &amp; Security Management · </a:t>
            </a:r>
            <a:pPr indent="0" marL="0">
              <a:buNone/>
            </a:pPr>
            <a:r>
              <a:rPr lang="en-US" sz="1000" dirty="0">
                <a:solidFill>
                  <a:srgbClr val="58595B"/>
                </a:solidFill>
                <a:latin typeface="Calibri" pitchFamily="34" charset="0"/>
                <a:ea typeface="Calibri" pitchFamily="34" charset="-122"/>
                <a:cs typeface="Calibri" pitchFamily="34" charset="-120"/>
              </a:rPr>
              <a:t>MP-25 Microlearning &amp; Learning in the Flow of Work · </a:t>
            </a:r>
            <a:pPr indent="0" marL="0">
              <a:buNone/>
            </a:pPr>
            <a:r>
              <a:rPr lang="en-US" sz="1000" dirty="0">
                <a:solidFill>
                  <a:srgbClr val="58595B"/>
                </a:solidFill>
                <a:latin typeface="Calibri" pitchFamily="34" charset="0"/>
                <a:ea typeface="Calibri" pitchFamily="34" charset="-122"/>
                <a:cs typeface="Calibri" pitchFamily="34" charset="-120"/>
              </a:rPr>
              <a:t>MP-30 Immersive Learning (VR/AR/Simulation)</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UFT-05-01
</a:t>
                      </a:r>
                      <a:pPr indent="0" marL="0">
                        <a:buNone/>
                      </a:pPr>
                      <a:r>
                        <a:rPr lang="en-US" sz="1000" b="1" dirty="0">
                          <a:solidFill>
                            <a:srgbClr val="3A3A3C"/>
                          </a:solidFill>
                          <a:latin typeface="Calibri" pitchFamily="34" charset="0"/>
                          <a:ea typeface="Calibri" pitchFamily="34" charset="-122"/>
                          <a:cs typeface="Calibri" pitchFamily="34" charset="-120"/>
                        </a:rPr>
                        <a:t>Publish content to catalog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MP-06.3 </a:t>
                      </a:r>
                      <a:pPr indent="0" marL="0">
                        <a:buNone/>
                      </a:pPr>
                      <a:r>
                        <a:rPr lang="en-US" sz="1000" dirty="0">
                          <a:solidFill>
                            <a:srgbClr val="58595B"/>
                          </a:solidFill>
                          <a:latin typeface="Calibri" pitchFamily="34" charset="0"/>
                          <a:ea typeface="Calibri" pitchFamily="34" charset="-122"/>
                          <a:cs typeface="Calibri" pitchFamily="34" charset="-120"/>
                        </a:rPr>
                        <a:t>Route content for expert review</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MP-06.4 </a:t>
                      </a:r>
                      <a:pPr indent="0" marL="0">
                        <a:buNone/>
                      </a:pPr>
                      <a:r>
                        <a:rPr lang="en-US" sz="1000" dirty="0">
                          <a:solidFill>
                            <a:srgbClr val="58595B"/>
                          </a:solidFill>
                          <a:latin typeface="Calibri" pitchFamily="34" charset="0"/>
                          <a:ea typeface="Calibri" pitchFamily="34" charset="-122"/>
                          <a:cs typeface="Calibri" pitchFamily="34" charset="-120"/>
                        </a:rPr>
                        <a:t>Record review decision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MP-06.6 </a:t>
                      </a:r>
                      <a:pPr indent="0" marL="0">
                        <a:buNone/>
                      </a:pPr>
                      <a:r>
                        <a:rPr lang="en-US" sz="1000" dirty="0">
                          <a:solidFill>
                            <a:srgbClr val="58595B"/>
                          </a:solidFill>
                          <a:latin typeface="Calibri" pitchFamily="34" charset="0"/>
                          <a:ea typeface="Calibri" pitchFamily="34" charset="-122"/>
                          <a:cs typeface="Calibri" pitchFamily="34" charset="-120"/>
                        </a:rPr>
                        <a:t>Publish content to catalog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Publish module 'M1 AI triage and clinical decision support' to the catalog; audience: supervisors; languages EN/FR/AR.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UFT-05-02
</a:t>
                      </a:r>
                      <a:pPr indent="0" marL="0">
                        <a:buNone/>
                      </a:pPr>
                      <a:r>
                        <a:rPr lang="en-US" sz="1000" b="1" dirty="0">
                          <a:solidFill>
                            <a:srgbClr val="3A3A3C"/>
                          </a:solidFill>
                          <a:latin typeface="Calibri" pitchFamily="34" charset="0"/>
                          <a:ea typeface="Calibri" pitchFamily="34" charset="-122"/>
                          <a:cs typeface="Calibri" pitchFamily="34" charset="-120"/>
                        </a:rPr>
                        <a:t>Book logistics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MP-11.1 </a:t>
                      </a:r>
                      <a:pPr indent="0" marL="0">
                        <a:buNone/>
                      </a:pPr>
                      <a:r>
                        <a:rPr lang="en-US" sz="1000" dirty="0">
                          <a:solidFill>
                            <a:srgbClr val="58595B"/>
                          </a:solidFill>
                          <a:latin typeface="Calibri" pitchFamily="34" charset="0"/>
                          <a:ea typeface="Calibri" pitchFamily="34" charset="-122"/>
                          <a:cs typeface="Calibri" pitchFamily="34" charset="-120"/>
                        </a:rPr>
                        <a:t>Book rooms and equipment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MP-11.2 </a:t>
                      </a:r>
                      <a:pPr indent="0" marL="0">
                        <a:buNone/>
                      </a:pPr>
                      <a:r>
                        <a:rPr lang="en-US" sz="1000" dirty="0">
                          <a:solidFill>
                            <a:srgbClr val="58595B"/>
                          </a:solidFill>
                          <a:latin typeface="Calibri" pitchFamily="34" charset="0"/>
                          <a:ea typeface="Calibri" pitchFamily="34" charset="-122"/>
                          <a:cs typeface="Calibri" pitchFamily="34" charset="-120"/>
                        </a:rPr>
                        <a:t>Manage trainer calendars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Room 'Training A' (20 seats) 3-5 June; projector; trainer calendar blocked.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UFT-05-03
</a:t>
                      </a:r>
                      <a:pPr indent="0" marL="0">
                        <a:buNone/>
                      </a:pPr>
                      <a:r>
                        <a:rPr lang="en-US" sz="1000" b="1" dirty="0">
                          <a:solidFill>
                            <a:srgbClr val="3A3A3C"/>
                          </a:solidFill>
                          <a:latin typeface="Calibri" pitchFamily="34" charset="0"/>
                          <a:ea typeface="Calibri" pitchFamily="34" charset="-122"/>
                          <a:cs typeface="Calibri" pitchFamily="34" charset="-120"/>
                        </a:rPr>
                        <a:t>Schedule sessions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MP-07.1 </a:t>
                      </a:r>
                      <a:pPr indent="0" marL="0">
                        <a:buNone/>
                      </a:pPr>
                      <a:r>
                        <a:rPr lang="en-US" sz="1000" dirty="0">
                          <a:solidFill>
                            <a:srgbClr val="58595B"/>
                          </a:solidFill>
                          <a:latin typeface="Calibri" pitchFamily="34" charset="0"/>
                          <a:ea typeface="Calibri" pitchFamily="34" charset="-122"/>
                          <a:cs typeface="Calibri" pitchFamily="34" charset="-120"/>
                        </a:rPr>
                        <a:t>Create training session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MP-07.2 </a:t>
                      </a:r>
                      <a:pPr indent="0" marL="0">
                        <a:buNone/>
                      </a:pPr>
                      <a:r>
                        <a:rPr lang="en-US" sz="1000" dirty="0">
                          <a:solidFill>
                            <a:srgbClr val="58595B"/>
                          </a:solidFill>
                          <a:latin typeface="Calibri" pitchFamily="34" charset="0"/>
                          <a:ea typeface="Calibri" pitchFamily="34" charset="-122"/>
                          <a:cs typeface="Calibri" pitchFamily="34" charset="-120"/>
                        </a:rPr>
                        <a:t>Check scheduling conflicts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Session S-01 'AI triage and clinical decision support — supervisors', 3-5 June, 12 seats, no conflict reported.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UFT-05-04
</a:t>
                      </a:r>
                      <a:pPr indent="0" marL="0">
                        <a:buNone/>
                      </a:pPr>
                      <a:r>
                        <a:rPr lang="en-US" sz="1000" b="1" dirty="0">
                          <a:solidFill>
                            <a:srgbClr val="3A3A3C"/>
                          </a:solidFill>
                          <a:latin typeface="Calibri" pitchFamily="34" charset="0"/>
                          <a:ea typeface="Calibri" pitchFamily="34" charset="-122"/>
                          <a:cs typeface="Calibri" pitchFamily="34" charset="-120"/>
                        </a:rPr>
                        <a:t>Enroll learners and send convocations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MP-07.3 </a:t>
                      </a:r>
                      <a:pPr indent="0" marL="0">
                        <a:buNone/>
                      </a:pPr>
                      <a:r>
                        <a:rPr lang="en-US" sz="1000" dirty="0">
                          <a:solidFill>
                            <a:srgbClr val="58595B"/>
                          </a:solidFill>
                          <a:latin typeface="Calibri" pitchFamily="34" charset="0"/>
                          <a:ea typeface="Calibri" pitchFamily="34" charset="-122"/>
                          <a:cs typeface="Calibri" pitchFamily="34" charset="-120"/>
                        </a:rPr>
                        <a:t>Enroll learners into session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MP-07.4 </a:t>
                      </a:r>
                      <a:pPr indent="0" marL="0">
                        <a:buNone/>
                      </a:pPr>
                      <a:r>
                        <a:rPr lang="en-US" sz="1000" dirty="0">
                          <a:solidFill>
                            <a:srgbClr val="58595B"/>
                          </a:solidFill>
                          <a:latin typeface="Calibri" pitchFamily="34" charset="0"/>
                          <a:ea typeface="Calibri" pitchFamily="34" charset="-122"/>
                          <a:cs typeface="Calibri" pitchFamily="34" charset="-120"/>
                        </a:rPr>
                        <a:t>Send convocations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MP-17.1 </a:t>
                      </a:r>
                      <a:pPr indent="0" marL="0">
                        <a:buNone/>
                      </a:pPr>
                      <a:r>
                        <a:rPr lang="en-US" sz="1000" dirty="0">
                          <a:solidFill>
                            <a:srgbClr val="58595B"/>
                          </a:solidFill>
                          <a:latin typeface="Calibri" pitchFamily="34" charset="0"/>
                          <a:ea typeface="Calibri" pitchFamily="34" charset="-122"/>
                          <a:cs typeface="Calibri" pitchFamily="34" charset="-120"/>
                        </a:rPr>
                        <a:t>Provision users via SSO</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22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Enroll 12 supervisors; convocations sent by e-mail and SMS in each learner's language.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UFT-05-05
</a:t>
                      </a:r>
                      <a:pPr indent="0" marL="0">
                        <a:buNone/>
                      </a:pPr>
                      <a:r>
                        <a:rPr lang="en-US" sz="1000" b="1" dirty="0">
                          <a:solidFill>
                            <a:srgbClr val="3A3A3C"/>
                          </a:solidFill>
                          <a:latin typeface="Calibri" pitchFamily="34" charset="0"/>
                          <a:ea typeface="Calibri" pitchFamily="34" charset="-122"/>
                          <a:cs typeface="Calibri" pitchFamily="34" charset="-120"/>
                        </a:rPr>
                        <a:t>Push microlearning capsules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MP-25.1 </a:t>
                      </a:r>
                      <a:pPr indent="0" marL="0">
                        <a:buNone/>
                      </a:pPr>
                      <a:r>
                        <a:rPr lang="en-US" sz="1000" dirty="0">
                          <a:solidFill>
                            <a:srgbClr val="58595B"/>
                          </a:solidFill>
                          <a:latin typeface="Calibri" pitchFamily="34" charset="0"/>
                          <a:ea typeface="Calibri" pitchFamily="34" charset="-122"/>
                          <a:cs typeface="Calibri" pitchFamily="34" charset="-120"/>
                        </a:rPr>
                        <a:t>Author microlearning capsule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MP-25.2 </a:t>
                      </a:r>
                      <a:pPr indent="0" marL="0">
                        <a:buNone/>
                      </a:pPr>
                      <a:r>
                        <a:rPr lang="en-US" sz="1000" dirty="0">
                          <a:solidFill>
                            <a:srgbClr val="58595B"/>
                          </a:solidFill>
                          <a:latin typeface="Calibri" pitchFamily="34" charset="0"/>
                          <a:ea typeface="Calibri" pitchFamily="34" charset="-122"/>
                          <a:cs typeface="Calibri" pitchFamily="34" charset="-120"/>
                        </a:rPr>
                        <a:t>Generate capsule draft from source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MP-25.3 </a:t>
                      </a:r>
                      <a:pPr indent="0" marL="0">
                        <a:buNone/>
                      </a:pPr>
                      <a:r>
                        <a:rPr lang="en-US" sz="1000" dirty="0">
                          <a:solidFill>
                            <a:srgbClr val="58595B"/>
                          </a:solidFill>
                          <a:latin typeface="Calibri" pitchFamily="34" charset="0"/>
                          <a:ea typeface="Calibri" pitchFamily="34" charset="-122"/>
                          <a:cs typeface="Calibri" pitchFamily="34" charset="-120"/>
                        </a:rPr>
                        <a:t>Push capsule to collaboration channel</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+ 2 more steps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Ghita Bouzidi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25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Capsule '5-minute AI medical imaging assistance check' pushed to the Teams channel of Clinical Care &amp; Nursing; 48 views in week 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05"/>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05-05 Push microlearning capsule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UFT-05-05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4 · E2E-05 · ROOT / MASTER CHAIN</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Design-to-Delivery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UFT-05-06
</a:t>
                      </a:r>
                      <a:pPr indent="0" marL="0">
                        <a:buNone/>
                      </a:pPr>
                      <a:r>
                        <a:rPr lang="en-US" sz="1000" b="1" dirty="0">
                          <a:solidFill>
                            <a:srgbClr val="3A3A3C"/>
                          </a:solidFill>
                          <a:latin typeface="Calibri" pitchFamily="34" charset="0"/>
                          <a:ea typeface="Calibri" pitchFamily="34" charset="-122"/>
                          <a:cs typeface="Calibri" pitchFamily="34" charset="-120"/>
                        </a:rPr>
                        <a:t>Run immersive simulations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MP-30.1 </a:t>
                      </a:r>
                      <a:pPr indent="0" marL="0">
                        <a:buNone/>
                      </a:pPr>
                      <a:r>
                        <a:rPr lang="en-US" sz="1000" dirty="0">
                          <a:solidFill>
                            <a:srgbClr val="58595B"/>
                          </a:solidFill>
                          <a:latin typeface="Calibri" pitchFamily="34" charset="0"/>
                          <a:ea typeface="Calibri" pitchFamily="34" charset="-122"/>
                          <a:cs typeface="Calibri" pitchFamily="34" charset="-120"/>
                        </a:rPr>
                        <a:t>Define simulation scenario</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MP-30.2 </a:t>
                      </a:r>
                      <a:pPr indent="0" marL="0">
                        <a:buNone/>
                      </a:pPr>
                      <a:r>
                        <a:rPr lang="en-US" sz="1000" dirty="0">
                          <a:solidFill>
                            <a:srgbClr val="58595B"/>
                          </a:solidFill>
                          <a:latin typeface="Calibri" pitchFamily="34" charset="0"/>
                          <a:ea typeface="Calibri" pitchFamily="34" charset="-122"/>
                          <a:cs typeface="Calibri" pitchFamily="34" charset="-120"/>
                        </a:rPr>
                        <a:t>Configure simulation scoring</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MP-30.3 </a:t>
                      </a:r>
                      <a:pPr indent="0" marL="0">
                        <a:buNone/>
                      </a:pPr>
                      <a:r>
                        <a:rPr lang="en-US" sz="1000" dirty="0">
                          <a:solidFill>
                            <a:srgbClr val="58595B"/>
                          </a:solidFill>
                          <a:latin typeface="Calibri" pitchFamily="34" charset="0"/>
                          <a:ea typeface="Calibri" pitchFamily="34" charset="-122"/>
                          <a:cs typeface="Calibri" pitchFamily="34" charset="-120"/>
                        </a:rPr>
                        <a:t>Launch simulation session</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+ 3 more steps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Zineb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28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Simulation 'Clinical Care &amp; Nursing incident': score 78/100; debrief notes recorded; evidence saved.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UFT-05-07
</a:t>
                      </a:r>
                      <a:pPr indent="0" marL="0">
                        <a:buNone/>
                      </a:pPr>
                      <a:r>
                        <a:rPr lang="en-US" sz="1000" b="1" dirty="0">
                          <a:solidFill>
                            <a:srgbClr val="3A3A3C"/>
                          </a:solidFill>
                          <a:latin typeface="Calibri" pitchFamily="34" charset="0"/>
                          <a:ea typeface="Calibri" pitchFamily="34" charset="-122"/>
                          <a:cs typeface="Calibri" pitchFamily="34" charset="-120"/>
                        </a:rPr>
                        <a:t>Record attendance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MP-07.5 </a:t>
                      </a:r>
                      <a:pPr indent="0" marL="0">
                        <a:buNone/>
                      </a:pPr>
                      <a:r>
                        <a:rPr lang="en-US" sz="1000" dirty="0">
                          <a:solidFill>
                            <a:srgbClr val="58595B"/>
                          </a:solidFill>
                          <a:latin typeface="Calibri" pitchFamily="34" charset="0"/>
                          <a:ea typeface="Calibri" pitchFamily="34" charset="-122"/>
                          <a:cs typeface="Calibri" pitchFamily="34" charset="-120"/>
                        </a:rPr>
                        <a:t>Record attendance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Zineb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31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Attendance S-01: 11 present, 1 absent (justified). Signature sheet attached.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UFT-05-08
</a:t>
                      </a:r>
                      <a:pPr indent="0" marL="0">
                        <a:buNone/>
                      </a:pPr>
                      <a:r>
                        <a:rPr lang="en-US" sz="1000" b="1" dirty="0">
                          <a:solidFill>
                            <a:srgbClr val="3A3A3C"/>
                          </a:solidFill>
                          <a:latin typeface="Calibri" pitchFamily="34" charset="0"/>
                          <a:ea typeface="Calibri" pitchFamily="34" charset="-122"/>
                          <a:cs typeface="Calibri" pitchFamily="34" charset="-120"/>
                        </a:rPr>
                        <a:t>Close sessions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MP-07.6 </a:t>
                      </a:r>
                      <a:pPr indent="0" marL="0">
                        <a:buNone/>
                      </a:pPr>
                      <a:r>
                        <a:rPr lang="en-US" sz="1000" dirty="0">
                          <a:solidFill>
                            <a:srgbClr val="58595B"/>
                          </a:solidFill>
                          <a:latin typeface="Calibri" pitchFamily="34" charset="0"/>
                          <a:ea typeface="Calibri" pitchFamily="34" charset="-122"/>
                          <a:cs typeface="Calibri" pitchFamily="34" charset="-120"/>
                        </a:rPr>
                        <a:t>Close session and record completion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Close S-01: 11 completions recorded; certificate issued to each participant.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UFT-05-09
</a:t>
                      </a:r>
                      <a:pPr indent="0" marL="0">
                        <a:buNone/>
                      </a:pPr>
                      <a:r>
                        <a:rPr lang="en-US" sz="1000" b="1" dirty="0">
                          <a:solidFill>
                            <a:srgbClr val="3A3A3C"/>
                          </a:solidFill>
                          <a:latin typeface="Calibri" pitchFamily="34" charset="0"/>
                          <a:ea typeface="Calibri" pitchFamily="34" charset="-122"/>
                          <a:cs typeface="Calibri" pitchFamily="34" charset="-120"/>
                        </a:rPr>
                        <a:t>Reconcile and archive period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MP-11.5 </a:t>
                      </a:r>
                      <a:pPr indent="0" marL="0">
                        <a:buNone/>
                      </a:pPr>
                      <a:r>
                        <a:rPr lang="en-US" sz="1000" dirty="0">
                          <a:solidFill>
                            <a:srgbClr val="58595B"/>
                          </a:solidFill>
                          <a:latin typeface="Calibri" pitchFamily="34" charset="0"/>
                          <a:ea typeface="Calibri" pitchFamily="34" charset="-122"/>
                          <a:cs typeface="Calibri" pitchFamily="34" charset="-120"/>
                        </a:rPr>
                        <a:t>Reconcile attendance with invoices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MP-11.6 </a:t>
                      </a:r>
                      <a:pPr indent="0" marL="0">
                        <a:buNone/>
                      </a:pPr>
                      <a:r>
                        <a:rPr lang="en-US" sz="1000" dirty="0">
                          <a:solidFill>
                            <a:srgbClr val="58595B"/>
                          </a:solidFill>
                          <a:latin typeface="Calibri" pitchFamily="34" charset="0"/>
                          <a:ea typeface="Calibri" pitchFamily="34" charset="-122"/>
                          <a:cs typeface="Calibri" pitchFamily="34" charset="-120"/>
                        </a:rPr>
                        <a:t>Archive period records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MP-11.3 </a:t>
                      </a:r>
                      <a:pPr indent="0" marL="0">
                        <a:buNone/>
                      </a:pPr>
                      <a:r>
                        <a:rPr lang="en-US" sz="1000" dirty="0">
                          <a:solidFill>
                            <a:srgbClr val="58595B"/>
                          </a:solidFill>
                          <a:latin typeface="Calibri" pitchFamily="34" charset="0"/>
                          <a:ea typeface="Calibri" pitchFamily="34" charset="-122"/>
                          <a:cs typeface="Calibri" pitchFamily="34" charset="-120"/>
                        </a:rPr>
                        <a:t>Import external training records</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+ 1 more steps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6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Reconcile invoice INV-2026-118 (3 days × 12 learners) with attendance; archive period Q2.</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6" name="frame run_E2E-05"/>
          <p:cNvSpPr/>
          <p:nvPr/>
        </p:nvSpPr>
        <p:spPr>
          <a:xfrm>
            <a:off x="8494776" y="1271016"/>
            <a:ext cx="3291840" cy="2419567"/>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05">    </p:cNvPr>
          <p:cNvPicPr>
            <a:picLocks noChangeAspect="1"/>
          </p:cNvPicPr>
          <p:nvPr/>
        </p:nvPicPr>
        <p:blipFill>
          <a:blip r:embed="rId1"/>
          <a:stretch>
            <a:fillRect/>
          </a:stretch>
        </p:blipFill>
        <p:spPr>
          <a:xfrm>
            <a:off x="8549640" y="1325880"/>
            <a:ext cx="3182112" cy="2309839"/>
          </a:xfrm>
          <a:prstGeom prst="rect">
            <a:avLst/>
          </a:prstGeom>
        </p:spPr>
      </p:pic>
      <p:sp>
        <p:nvSpPr>
          <p:cNvPr id="8" name="Text 3"/>
          <p:cNvSpPr txBox="1"/>
          <p:nvPr/>
        </p:nvSpPr>
        <p:spPr>
          <a:xfrm>
            <a:off x="8549640" y="3727159"/>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E2E-05 in CortexSkills: its tasks, owners and due dates, and the process card.</a:t>
            </a:r>
            <a:endParaRPr lang="en-US" sz="1000" dirty="0"/>
          </a:p>
        </p:txBody>
      </p:sp>
      <p:sp>
        <p:nvSpPr>
          <p:cNvPr id="9" name="feeds"/>
          <p:cNvSpPr/>
          <p:nvPr/>
        </p:nvSpPr>
        <p:spPr>
          <a:xfrm>
            <a:off x="8549640" y="4572000"/>
            <a:ext cx="3182112" cy="1508760"/>
          </a:xfrm>
          <a:prstGeom prst="roundRect">
            <a:avLst>
              <a:gd name="adj" fmla="val 4848"/>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686800" y="4645152"/>
            <a:ext cx="2926080" cy="1371600"/>
          </a:xfrm>
          <a:prstGeom prst="rect">
            <a:avLst/>
          </a:prstGeom>
          <a:noFill/>
          <a:ln/>
        </p:spPr>
        <p:txBody>
          <a:bodyPr wrap="square" lIns="0" tIns="0" rIns="0" bIns="0" rtlCol="0" anchor="t"/>
          <a:lstStyle/>
          <a:p>
            <a:pPr indent="0" marL="0">
              <a:buNone/>
            </a:pPr>
            <a:r>
              <a:rPr lang="en-US" sz="1000" b="1" dirty="0">
                <a:solidFill>
                  <a:srgbClr val="E07B00"/>
                </a:solidFill>
                <a:latin typeface="Calibri" pitchFamily="34" charset="0"/>
                <a:ea typeface="Calibri" pitchFamily="34" charset="-122"/>
                <a:cs typeface="Calibri" pitchFamily="34" charset="-120"/>
              </a:rPr>
              <a:t>Feeds into
</a:t>
            </a:r>
            <a:pPr indent="0" marL="0">
              <a:buNone/>
            </a:pPr>
            <a:r>
              <a:rPr lang="en-US" sz="1100" dirty="0">
                <a:solidFill>
                  <a:srgbClr val="3A3A3C"/>
                </a:solidFill>
                <a:latin typeface="Calibri" pitchFamily="34" charset="0"/>
                <a:ea typeface="Calibri" pitchFamily="34" charset="-122"/>
                <a:cs typeface="Calibri" pitchFamily="34" charset="-120"/>
              </a:rPr>
              <a:t>E2E-06, E2E-07, E2E-13</a:t>
            </a:r>
            <a:endParaRPr lang="en-US" sz="1100" dirty="0"/>
          </a:p>
          <a:p>
            <a:pPr indent="0" marL="0">
              <a:buNone/>
            </a:pPr>
            <a:r>
              <a:rPr lang="en-US" sz="1000" b="1" dirty="0">
                <a:solidFill>
                  <a:srgbClr val="E07B00"/>
                </a:solidFill>
                <a:latin typeface="Calibri" pitchFamily="34" charset="0"/>
                <a:ea typeface="Calibri" pitchFamily="34" charset="-122"/>
                <a:cs typeface="Calibri" pitchFamily="34" charset="-120"/>
              </a:rPr>
              <a:t>Supported by
</a:t>
            </a:r>
            <a:pPr indent="0" marL="0">
              <a:buNone/>
            </a:pPr>
            <a:r>
              <a:rPr lang="en-US" sz="1100" dirty="0">
                <a:solidFill>
                  <a:srgbClr val="3A3A3C"/>
                </a:solidFill>
                <a:latin typeface="Calibri" pitchFamily="34" charset="0"/>
                <a:ea typeface="Calibri" pitchFamily="34" charset="-122"/>
                <a:cs typeface="Calibri" pitchFamily="34" charset="-120"/>
              </a:rPr>
              <a:t>E2E-15, E2E-17</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4 · E2E-06 · PARTITION OF E2E-05</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Learner-Journey-to-Engagement</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Deliver personalized, engaging learning experience</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Learner enrolled in a learning path or session.</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Personalized learning journey completed with engagement measured.</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8 tasks · 33 steps
</a:t>
            </a:r>
            <a:pPr indent="0" marL="0">
              <a:buNone/>
            </a:pPr>
            <a:r>
              <a:rPr lang="en-US" sz="1100" dirty="0">
                <a:solidFill>
                  <a:srgbClr val="3A3A3C"/>
                </a:solidFill>
                <a:latin typeface="Calibri" pitchFamily="34" charset="0"/>
                <a:ea typeface="Calibri" pitchFamily="34" charset="-122"/>
                <a:cs typeface="Calibri" pitchFamily="34" charset="-120"/>
              </a:rPr>
              <a:t>23 days · 5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MP-08 Learner Experience &amp; Engagement · </a:t>
            </a:r>
            <a:pPr indent="0" marL="0">
              <a:buNone/>
            </a:pPr>
            <a:r>
              <a:rPr lang="en-US" sz="1000" dirty="0">
                <a:solidFill>
                  <a:srgbClr val="58595B"/>
                </a:solidFill>
                <a:latin typeface="Calibri" pitchFamily="34" charset="0"/>
                <a:ea typeface="Calibri" pitchFamily="34" charset="-122"/>
                <a:cs typeface="Calibri" pitchFamily="34" charset="-120"/>
              </a:rPr>
              <a:t>MP-24 AI-Powered Personalization &amp; Adaptive Learning · </a:t>
            </a:r>
            <a:pPr indent="0" marL="0">
              <a:buNone/>
            </a:pPr>
            <a:r>
              <a:rPr lang="en-US" sz="1000" dirty="0">
                <a:solidFill>
                  <a:srgbClr val="58595B"/>
                </a:solidFill>
                <a:latin typeface="Calibri" pitchFamily="34" charset="0"/>
                <a:ea typeface="Calibri" pitchFamily="34" charset="-122"/>
                <a:cs typeface="Calibri" pitchFamily="34" charset="-120"/>
              </a:rPr>
              <a:t>MP-25 Microlearning &amp; Learning in the Flow of Work · </a:t>
            </a:r>
            <a:pPr indent="0" marL="0">
              <a:buNone/>
            </a:pPr>
            <a:r>
              <a:rPr lang="en-US" sz="1000" dirty="0">
                <a:solidFill>
                  <a:srgbClr val="58595B"/>
                </a:solidFill>
                <a:latin typeface="Calibri" pitchFamily="34" charset="0"/>
                <a:ea typeface="Calibri" pitchFamily="34" charset="-122"/>
                <a:cs typeface="Calibri" pitchFamily="34" charset="-120"/>
              </a:rPr>
              <a:t>MP-26 Social &amp; Collaborative Learning Networks · </a:t>
            </a:r>
            <a:pPr indent="0" marL="0">
              <a:buNone/>
            </a:pPr>
            <a:r>
              <a:rPr lang="en-US" sz="1000" dirty="0">
                <a:solidFill>
                  <a:srgbClr val="58595B"/>
                </a:solidFill>
                <a:latin typeface="Calibri" pitchFamily="34" charset="0"/>
                <a:ea typeface="Calibri" pitchFamily="34" charset="-122"/>
                <a:cs typeface="Calibri" pitchFamily="34" charset="-120"/>
              </a:rPr>
              <a:t>MP-27 Gamification &amp; Engagement Mechanics</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UFT-06-01
</a:t>
                      </a:r>
                      <a:pPr indent="0" marL="0">
                        <a:buNone/>
                      </a:pPr>
                      <a:r>
                        <a:rPr lang="en-US" sz="1000" b="1" dirty="0">
                          <a:solidFill>
                            <a:srgbClr val="3A3A3C"/>
                          </a:solidFill>
                          <a:latin typeface="Calibri" pitchFamily="34" charset="0"/>
                          <a:ea typeface="Calibri" pitchFamily="34" charset="-122"/>
                          <a:cs typeface="Calibri" pitchFamily="34" charset="-120"/>
                        </a:rPr>
                        <a:t>Generate personal learning plan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MP-08.1 </a:t>
                      </a:r>
                      <a:pPr indent="0" marL="0">
                        <a:buNone/>
                      </a:pPr>
                      <a:r>
                        <a:rPr lang="en-US" sz="1000" dirty="0">
                          <a:solidFill>
                            <a:srgbClr val="58595B"/>
                          </a:solidFill>
                          <a:latin typeface="Calibri" pitchFamily="34" charset="0"/>
                          <a:ea typeface="Calibri" pitchFamily="34" charset="-122"/>
                          <a:cs typeface="Calibri" pitchFamily="34" charset="-120"/>
                        </a:rPr>
                        <a:t>Generate personal learning plan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Personal plan generated for each learner: 3 items on AI triage and clinical decision support, 1 capsule on AI medical imaging assistance.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UFT-06-02
</a:t>
                      </a:r>
                      <a:pPr indent="0" marL="0">
                        <a:buNone/>
                      </a:pPr>
                      <a:r>
                        <a:rPr lang="en-US" sz="1000" b="1" dirty="0">
                          <a:solidFill>
                            <a:srgbClr val="3A3A3C"/>
                          </a:solidFill>
                          <a:latin typeface="Calibri" pitchFamily="34" charset="0"/>
                          <a:ea typeface="Calibri" pitchFamily="34" charset="-122"/>
                          <a:cs typeface="Calibri" pitchFamily="34" charset="-120"/>
                        </a:rPr>
                        <a:t>Recommend learning items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MP-08.2 </a:t>
                      </a:r>
                      <a:pPr indent="0" marL="0">
                        <a:buNone/>
                      </a:pPr>
                      <a:r>
                        <a:rPr lang="en-US" sz="1000" dirty="0">
                          <a:solidFill>
                            <a:srgbClr val="58595B"/>
                          </a:solidFill>
                          <a:latin typeface="Calibri" pitchFamily="34" charset="0"/>
                          <a:ea typeface="Calibri" pitchFamily="34" charset="-122"/>
                          <a:cs typeface="Calibri" pitchFamily="34" charset="-120"/>
                        </a:rPr>
                        <a:t>Recommend learning items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MP-24.1 </a:t>
                      </a:r>
                      <a:pPr indent="0" marL="0">
                        <a:buNone/>
                      </a:pPr>
                      <a:r>
                        <a:rPr lang="en-US" sz="1000" dirty="0">
                          <a:solidFill>
                            <a:srgbClr val="58595B"/>
                          </a:solidFill>
                          <a:latin typeface="Calibri" pitchFamily="34" charset="0"/>
                          <a:ea typeface="Calibri" pitchFamily="34" charset="-122"/>
                          <a:cs typeface="Calibri" pitchFamily="34" charset="-120"/>
                        </a:rPr>
                        <a:t>Enable personalization per scope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Sefrioui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Accept 2 recommendations, reject 1 ('already mastered'). The outcome is logged.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UFT-06-03
</a:t>
                      </a:r>
                      <a:pPr indent="0" marL="0">
                        <a:buNone/>
                      </a:pPr>
                      <a:r>
                        <a:rPr lang="en-US" sz="1000" b="1" dirty="0">
                          <a:solidFill>
                            <a:srgbClr val="3A3A3C"/>
                          </a:solidFill>
                          <a:latin typeface="Calibri" pitchFamily="34" charset="0"/>
                          <a:ea typeface="Calibri" pitchFamily="34" charset="-122"/>
                          <a:cs typeface="Calibri" pitchFamily="34" charset="-120"/>
                        </a:rPr>
                        <a:t>Adapt path to performance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MP-24.2 </a:t>
                      </a:r>
                      <a:pPr indent="0" marL="0">
                        <a:buNone/>
                      </a:pPr>
                      <a:r>
                        <a:rPr lang="en-US" sz="1000" dirty="0">
                          <a:solidFill>
                            <a:srgbClr val="58595B"/>
                          </a:solidFill>
                          <a:latin typeface="Calibri" pitchFamily="34" charset="0"/>
                          <a:ea typeface="Calibri" pitchFamily="34" charset="-122"/>
                          <a:cs typeface="Calibri" pitchFamily="34" charset="-120"/>
                        </a:rPr>
                        <a:t>Set adaptation rules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MP-24.3 </a:t>
                      </a:r>
                      <a:pPr indent="0" marL="0">
                        <a:buNone/>
                      </a:pPr>
                      <a:r>
                        <a:rPr lang="en-US" sz="1000" dirty="0">
                          <a:solidFill>
                            <a:srgbClr val="58595B"/>
                          </a:solidFill>
                          <a:latin typeface="Calibri" pitchFamily="34" charset="0"/>
                          <a:ea typeface="Calibri" pitchFamily="34" charset="-122"/>
                          <a:cs typeface="Calibri" pitchFamily="34" charset="-120"/>
                        </a:rPr>
                        <a:t>Adapt path to learner performance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MP-24.4 </a:t>
                      </a:r>
                      <a:pPr indent="0" marL="0">
                        <a:buNone/>
                      </a:pPr>
                      <a:r>
                        <a:rPr lang="en-US" sz="1000" dirty="0">
                          <a:solidFill>
                            <a:srgbClr val="58595B"/>
                          </a:solidFill>
                          <a:latin typeface="Calibri" pitchFamily="34" charset="0"/>
                          <a:ea typeface="Calibri" pitchFamily="34" charset="-122"/>
                          <a:cs typeface="Calibri" pitchFamily="34" charset="-120"/>
                        </a:rPr>
                        <a:t>Record learner response to adaptation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Ghita Bouzidi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Rule: if the quiz score &lt; 60%, add the remedial capsule 'AI triage and clinical decision support basics'.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UFT-06-04
</a:t>
                      </a:r>
                      <a:pPr indent="0" marL="0">
                        <a:buNone/>
                      </a:pPr>
                      <a:r>
                        <a:rPr lang="en-US" sz="1000" b="1" dirty="0">
                          <a:solidFill>
                            <a:srgbClr val="3A3A3C"/>
                          </a:solidFill>
                          <a:latin typeface="Calibri" pitchFamily="34" charset="0"/>
                          <a:ea typeface="Calibri" pitchFamily="34" charset="-122"/>
                          <a:cs typeface="Calibri" pitchFamily="34" charset="-120"/>
                        </a:rPr>
                        <a:t>Animate social learning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MP-26.1 </a:t>
                      </a:r>
                      <a:pPr indent="0" marL="0">
                        <a:buNone/>
                      </a:pPr>
                      <a:r>
                        <a:rPr lang="en-US" sz="1000" dirty="0">
                          <a:solidFill>
                            <a:srgbClr val="58595B"/>
                          </a:solidFill>
                          <a:latin typeface="Calibri" pitchFamily="34" charset="0"/>
                          <a:ea typeface="Calibri" pitchFamily="34" charset="-122"/>
                          <a:cs typeface="Calibri" pitchFamily="34" charset="-120"/>
                        </a:rPr>
                        <a:t>Create learning cohort group</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MP-26.2 </a:t>
                      </a:r>
                      <a:pPr indent="0" marL="0">
                        <a:buNone/>
                      </a:pPr>
                      <a:r>
                        <a:rPr lang="en-US" sz="1000" dirty="0">
                          <a:solidFill>
                            <a:srgbClr val="58595B"/>
                          </a:solidFill>
                          <a:latin typeface="Calibri" pitchFamily="34" charset="0"/>
                          <a:ea typeface="Calibri" pitchFamily="34" charset="-122"/>
                          <a:cs typeface="Calibri" pitchFamily="34" charset="-120"/>
                        </a:rPr>
                        <a:t>Invite group members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MP-26.3 </a:t>
                      </a:r>
                      <a:pPr indent="0" marL="0">
                        <a:buNone/>
                      </a:pPr>
                      <a:r>
                        <a:rPr lang="en-US" sz="1000" dirty="0">
                          <a:solidFill>
                            <a:srgbClr val="58595B"/>
                          </a:solidFill>
                          <a:latin typeface="Calibri" pitchFamily="34" charset="0"/>
                          <a:ea typeface="Calibri" pitchFamily="34" charset="-122"/>
                          <a:cs typeface="Calibri" pitchFamily="34" charset="-120"/>
                        </a:rPr>
                        <a:t>Post question or answer</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+ 3 more steps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Asmae Ziani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22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Create cohort 'AI triage and clinical decision support supervisors 2026' and invite 12 members; first question posted.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06"/>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06-01 Generate personal learning plan">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UFT-06-01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4 · E2E-06 · PARTITION OF E2E-05</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Learner-Journey-to-Engagement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UFT-06-05
</a:t>
                      </a:r>
                      <a:pPr indent="0" marL="0">
                        <a:buNone/>
                      </a:pPr>
                      <a:r>
                        <a:rPr lang="en-US" sz="1000" b="1" dirty="0">
                          <a:solidFill>
                            <a:srgbClr val="3A3A3C"/>
                          </a:solidFill>
                          <a:latin typeface="Calibri" pitchFamily="34" charset="0"/>
                          <a:ea typeface="Calibri" pitchFamily="34" charset="-122"/>
                          <a:cs typeface="Calibri" pitchFamily="34" charset="-120"/>
                        </a:rPr>
                        <a:t>Run gamification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MP-27.1 </a:t>
                      </a:r>
                      <a:pPr indent="0" marL="0">
                        <a:buNone/>
                      </a:pPr>
                      <a:r>
                        <a:rPr lang="en-US" sz="1000" dirty="0">
                          <a:solidFill>
                            <a:srgbClr val="58595B"/>
                          </a:solidFill>
                          <a:latin typeface="Calibri" pitchFamily="34" charset="0"/>
                          <a:ea typeface="Calibri" pitchFamily="34" charset="-122"/>
                          <a:cs typeface="Calibri" pitchFamily="34" charset="-120"/>
                        </a:rPr>
                        <a:t>Define points and badge rules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MP-27.2 </a:t>
                      </a:r>
                      <a:pPr indent="0" marL="0">
                        <a:buNone/>
                      </a:pPr>
                      <a:r>
                        <a:rPr lang="en-US" sz="1000" dirty="0">
                          <a:solidFill>
                            <a:srgbClr val="58595B"/>
                          </a:solidFill>
                          <a:latin typeface="Calibri" pitchFamily="34" charset="0"/>
                          <a:ea typeface="Calibri" pitchFamily="34" charset="-122"/>
                          <a:cs typeface="Calibri" pitchFamily="34" charset="-120"/>
                        </a:rPr>
                        <a:t>Configure leaderboard scope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MP-27.3 </a:t>
                      </a:r>
                      <a:pPr indent="0" marL="0">
                        <a:buNone/>
                      </a:pPr>
                      <a:r>
                        <a:rPr lang="en-US" sz="1000" dirty="0">
                          <a:solidFill>
                            <a:srgbClr val="58595B"/>
                          </a:solidFill>
                          <a:latin typeface="Calibri" pitchFamily="34" charset="0"/>
                          <a:ea typeface="Calibri" pitchFamily="34" charset="-122"/>
                          <a:cs typeface="Calibri" pitchFamily="34" charset="-120"/>
                        </a:rPr>
                        <a:t>Award points on completion</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+ 2 more steps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Ghita Bouzidi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25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Badge 'AI triage and clinical decision support Practitioner' for completing 3 modules; 10 points per capsule.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UFT-06-06
</a:t>
                      </a:r>
                      <a:pPr indent="0" marL="0">
                        <a:buNone/>
                      </a:pPr>
                      <a:r>
                        <a:rPr lang="en-US" sz="1000" b="1" dirty="0">
                          <a:solidFill>
                            <a:srgbClr val="3A3A3C"/>
                          </a:solidFill>
                          <a:latin typeface="Calibri" pitchFamily="34" charset="0"/>
                          <a:ea typeface="Calibri" pitchFamily="34" charset="-122"/>
                          <a:cs typeface="Calibri" pitchFamily="34" charset="-120"/>
                        </a:rPr>
                        <a:t>Match and run coaching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MP-21.1 </a:t>
                      </a:r>
                      <a:pPr indent="0" marL="0">
                        <a:buNone/>
                      </a:pPr>
                      <a:r>
                        <a:rPr lang="en-US" sz="1000" dirty="0">
                          <a:solidFill>
                            <a:srgbClr val="58595B"/>
                          </a:solidFill>
                          <a:latin typeface="Calibri" pitchFamily="34" charset="0"/>
                          <a:ea typeface="Calibri" pitchFamily="34" charset="-122"/>
                          <a:cs typeface="Calibri" pitchFamily="34" charset="-120"/>
                        </a:rPr>
                        <a:t>Request coaching</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MP-21.2 </a:t>
                      </a:r>
                      <a:pPr indent="0" marL="0">
                        <a:buNone/>
                      </a:pPr>
                      <a:r>
                        <a:rPr lang="en-US" sz="1000" dirty="0">
                          <a:solidFill>
                            <a:srgbClr val="58595B"/>
                          </a:solidFill>
                          <a:latin typeface="Calibri" pitchFamily="34" charset="0"/>
                          <a:ea typeface="Calibri" pitchFamily="34" charset="-122"/>
                          <a:cs typeface="Calibri" pitchFamily="34" charset="-120"/>
                        </a:rPr>
                        <a:t>Match coach to learner</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MP-21.3 </a:t>
                      </a:r>
                      <a:pPr indent="0" marL="0">
                        <a:buNone/>
                      </a:pPr>
                      <a:r>
                        <a:rPr lang="en-US" sz="1000" dirty="0">
                          <a:solidFill>
                            <a:srgbClr val="58595B"/>
                          </a:solidFill>
                          <a:latin typeface="Calibri" pitchFamily="34" charset="0"/>
                          <a:ea typeface="Calibri" pitchFamily="34" charset="-122"/>
                          <a:cs typeface="Calibri" pitchFamily="34" charset="-120"/>
                        </a:rPr>
                        <a:t>Schedule coaching sessions</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+ 3 more steps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28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Match coach 'Senior Clinical Care &amp; Nursing supervisor' to 3 learners; 4 sessions of 1 hour.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UFT-06-07
</a:t>
                      </a:r>
                      <a:pPr indent="0" marL="0">
                        <a:buNone/>
                      </a:pPr>
                      <a:r>
                        <a:rPr lang="en-US" sz="1000" b="1" dirty="0">
                          <a:solidFill>
                            <a:srgbClr val="3A3A3C"/>
                          </a:solidFill>
                          <a:latin typeface="Calibri" pitchFamily="34" charset="0"/>
                          <a:ea typeface="Calibri" pitchFamily="34" charset="-122"/>
                          <a:cs typeface="Calibri" pitchFamily="34" charset="-120"/>
                        </a:rPr>
                        <a:t>Collect learner feedback</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MP-08.3 </a:t>
                      </a:r>
                      <a:pPr indent="0" marL="0">
                        <a:buNone/>
                      </a:pPr>
                      <a:r>
                        <a:rPr lang="en-US" sz="1000" dirty="0">
                          <a:solidFill>
                            <a:srgbClr val="58595B"/>
                          </a:solidFill>
                          <a:latin typeface="Calibri" pitchFamily="34" charset="0"/>
                          <a:ea typeface="Calibri" pitchFamily="34" charset="-122"/>
                          <a:cs typeface="Calibri" pitchFamily="34" charset="-120"/>
                        </a:rPr>
                        <a:t>Enroll in recommended item</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MP-08.4 </a:t>
                      </a:r>
                      <a:pPr indent="0" marL="0">
                        <a:buNone/>
                      </a:pPr>
                      <a:r>
                        <a:rPr lang="en-US" sz="1000" dirty="0">
                          <a:solidFill>
                            <a:srgbClr val="58595B"/>
                          </a:solidFill>
                          <a:latin typeface="Calibri" pitchFamily="34" charset="0"/>
                          <a:ea typeface="Calibri" pitchFamily="34" charset="-122"/>
                          <a:cs typeface="Calibri" pitchFamily="34" charset="-120"/>
                        </a:rPr>
                        <a:t>Submit learning feedback</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Sefrioui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31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Feedback: 4.4/5; comment 'more real cases from Clinical Care &amp; Nursing'.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UFT-06-08
</a:t>
                      </a:r>
                      <a:pPr indent="0" marL="0">
                        <a:buNone/>
                      </a:pPr>
                      <a:r>
                        <a:rPr lang="en-US" sz="1000" b="1" dirty="0">
                          <a:solidFill>
                            <a:srgbClr val="3A3A3C"/>
                          </a:solidFill>
                          <a:latin typeface="Calibri" pitchFamily="34" charset="0"/>
                          <a:ea typeface="Calibri" pitchFamily="34" charset="-122"/>
                          <a:cs typeface="Calibri" pitchFamily="34" charset="-120"/>
                        </a:rPr>
                        <a:t>Monitor engagement and nudge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MP-08.5 </a:t>
                      </a:r>
                      <a:pPr indent="0" marL="0">
                        <a:buNone/>
                      </a:pPr>
                      <a:r>
                        <a:rPr lang="en-US" sz="1000" dirty="0">
                          <a:solidFill>
                            <a:srgbClr val="58595B"/>
                          </a:solidFill>
                          <a:latin typeface="Calibri" pitchFamily="34" charset="0"/>
                          <a:ea typeface="Calibri" pitchFamily="34" charset="-122"/>
                          <a:cs typeface="Calibri" pitchFamily="34" charset="-120"/>
                        </a:rPr>
                        <a:t>Monitor engagement indicators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MP-08.6 </a:t>
                      </a:r>
                      <a:pPr indent="0" marL="0">
                        <a:buNone/>
                      </a:pPr>
                      <a:r>
                        <a:rPr lang="en-US" sz="1000" dirty="0">
                          <a:solidFill>
                            <a:srgbClr val="58595B"/>
                          </a:solidFill>
                          <a:latin typeface="Calibri" pitchFamily="34" charset="0"/>
                          <a:ea typeface="Calibri" pitchFamily="34" charset="-122"/>
                          <a:cs typeface="Calibri" pitchFamily="34" charset="-120"/>
                        </a:rPr>
                        <a:t>Trigger re-engagement nudge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MP-24.5 </a:t>
                      </a:r>
                      <a:pPr indent="0" marL="0">
                        <a:buNone/>
                      </a:pPr>
                      <a:r>
                        <a:rPr lang="en-US" sz="1000" dirty="0">
                          <a:solidFill>
                            <a:srgbClr val="58595B"/>
                          </a:solidFill>
                          <a:latin typeface="Calibri" pitchFamily="34" charset="0"/>
                          <a:ea typeface="Calibri" pitchFamily="34" charset="-122"/>
                          <a:cs typeface="Calibri" pitchFamily="34" charset="-120"/>
                        </a:rPr>
                        <a:t>Review recommendation acceptance</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+ 5 more steps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Engagement 81%; nudge sent to 9 inactive learners; drop-out risk high for 2 learners.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6" name="frame run_E2E-06"/>
          <p:cNvSpPr/>
          <p:nvPr/>
        </p:nvSpPr>
        <p:spPr>
          <a:xfrm>
            <a:off x="8494776" y="1271016"/>
            <a:ext cx="3291840" cy="2419567"/>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06">    </p:cNvPr>
          <p:cNvPicPr>
            <a:picLocks noChangeAspect="1"/>
          </p:cNvPicPr>
          <p:nvPr/>
        </p:nvPicPr>
        <p:blipFill>
          <a:blip r:embed="rId1"/>
          <a:stretch>
            <a:fillRect/>
          </a:stretch>
        </p:blipFill>
        <p:spPr>
          <a:xfrm>
            <a:off x="8549640" y="1325880"/>
            <a:ext cx="3182112" cy="2309839"/>
          </a:xfrm>
          <a:prstGeom prst="rect">
            <a:avLst/>
          </a:prstGeom>
        </p:spPr>
      </p:pic>
      <p:sp>
        <p:nvSpPr>
          <p:cNvPr id="8" name="Text 3"/>
          <p:cNvSpPr txBox="1"/>
          <p:nvPr/>
        </p:nvSpPr>
        <p:spPr>
          <a:xfrm>
            <a:off x="8549640" y="3727159"/>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E2E-06 in CortexSkills: its tasks, owners and due dates, and the process card.</a:t>
            </a:r>
            <a:endParaRPr lang="en-US" sz="1000" dirty="0"/>
          </a:p>
        </p:txBody>
      </p:sp>
      <p:sp>
        <p:nvSpPr>
          <p:cNvPr id="9" name="feeds"/>
          <p:cNvSpPr/>
          <p:nvPr/>
        </p:nvSpPr>
        <p:spPr>
          <a:xfrm>
            <a:off x="8549640" y="4572000"/>
            <a:ext cx="3182112" cy="1508760"/>
          </a:xfrm>
          <a:prstGeom prst="roundRect">
            <a:avLst>
              <a:gd name="adj" fmla="val 4848"/>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686800" y="4645152"/>
            <a:ext cx="2926080" cy="1371600"/>
          </a:xfrm>
          <a:prstGeom prst="rect">
            <a:avLst/>
          </a:prstGeom>
          <a:noFill/>
          <a:ln/>
        </p:spPr>
        <p:txBody>
          <a:bodyPr wrap="square" lIns="0" tIns="0" rIns="0" bIns="0" rtlCol="0" anchor="t"/>
          <a:lstStyle/>
          <a:p>
            <a:pPr indent="0" marL="0">
              <a:buNone/>
            </a:pPr>
            <a:r>
              <a:rPr lang="en-US" sz="1000" b="1" dirty="0">
                <a:solidFill>
                  <a:srgbClr val="E07B00"/>
                </a:solidFill>
                <a:latin typeface="Calibri" pitchFamily="34" charset="0"/>
                <a:ea typeface="Calibri" pitchFamily="34" charset="-122"/>
                <a:cs typeface="Calibri" pitchFamily="34" charset="-120"/>
              </a:rPr>
              <a:t>Feeds into
</a:t>
            </a:r>
            <a:pPr indent="0" marL="0">
              <a:buNone/>
            </a:pPr>
            <a:r>
              <a:rPr lang="en-US" sz="1100" dirty="0">
                <a:solidFill>
                  <a:srgbClr val="3A3A3C"/>
                </a:solidFill>
                <a:latin typeface="Calibri" pitchFamily="34" charset="0"/>
                <a:ea typeface="Calibri" pitchFamily="34" charset="-122"/>
                <a:cs typeface="Calibri" pitchFamily="34" charset="-120"/>
              </a:rPr>
              <a:t>E2E-10, E2E-07</a:t>
            </a:r>
            <a:endParaRPr lang="en-US" sz="1100" dirty="0"/>
          </a:p>
          <a:p>
            <a:pPr indent="0" marL="0">
              <a:buNone/>
            </a:pPr>
            <a:r>
              <a:rPr lang="en-US" sz="1000" b="1" dirty="0">
                <a:solidFill>
                  <a:srgbClr val="E07B00"/>
                </a:solidFill>
                <a:latin typeface="Calibri" pitchFamily="34" charset="0"/>
                <a:ea typeface="Calibri" pitchFamily="34" charset="-122"/>
                <a:cs typeface="Calibri" pitchFamily="34" charset="-120"/>
              </a:rPr>
              <a:t>Supported by
</a:t>
            </a:r>
            <a:pPr indent="0" marL="0">
              <a:buNone/>
            </a:pPr>
            <a:r>
              <a:rPr lang="en-US" sz="1100" dirty="0">
                <a:solidFill>
                  <a:srgbClr val="3A3A3C"/>
                </a:solidFill>
                <a:latin typeface="Calibri" pitchFamily="34" charset="0"/>
                <a:ea typeface="Calibri" pitchFamily="34" charset="-122"/>
                <a:cs typeface="Calibri" pitchFamily="34" charset="-120"/>
              </a:rPr>
              <a:t>E2E-15, E2E-17</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4 · E2E-13 · PARTITION OF E2E-05</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Content-Curate-to-Retire</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Publish, maintain, retire content</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New content published or content past its review date.</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Catalog curated, maintained and outdated content retired.</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tasks · 12 steps
</a:t>
            </a:r>
            <a:pPr indent="0" marL="0">
              <a:buNone/>
            </a:pPr>
            <a:r>
              <a:rPr lang="en-US" sz="1100" dirty="0">
                <a:solidFill>
                  <a:srgbClr val="3A3A3C"/>
                </a:solidFill>
                <a:latin typeface="Calibri" pitchFamily="34" charset="0"/>
                <a:ea typeface="Calibri" pitchFamily="34" charset="-122"/>
                <a:cs typeface="Calibri" pitchFamily="34" charset="-120"/>
              </a:rPr>
              <a:t>20 days · 3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MP-06 Content &amp; Resource Management · </a:t>
            </a:r>
            <a:pPr indent="0" marL="0">
              <a:buNone/>
            </a:pPr>
            <a:r>
              <a:rPr lang="en-US" sz="1000" dirty="0">
                <a:solidFill>
                  <a:srgbClr val="58595B"/>
                </a:solidFill>
                <a:latin typeface="Calibri" pitchFamily="34" charset="0"/>
                <a:ea typeface="Calibri" pitchFamily="34" charset="-122"/>
                <a:cs typeface="Calibri" pitchFamily="34" charset="-120"/>
              </a:rPr>
              <a:t>MP-29 Content Curation &amp; Aggregation Engine · </a:t>
            </a:r>
            <a:pPr indent="0" marL="0">
              <a:buNone/>
            </a:pPr>
            <a:r>
              <a:rPr lang="en-US" sz="1000" dirty="0">
                <a:solidFill>
                  <a:srgbClr val="58595B"/>
                </a:solidFill>
                <a:latin typeface="Calibri" pitchFamily="34" charset="0"/>
                <a:ea typeface="Calibri" pitchFamily="34" charset="-122"/>
                <a:cs typeface="Calibri" pitchFamily="34" charset="-120"/>
              </a:rPr>
              <a:t>MP-33 User-Generated Content &amp; Peer Knowledge Sharing</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UFT-13-01
</a:t>
                      </a:r>
                      <a:pPr indent="0" marL="0">
                        <a:buNone/>
                      </a:pPr>
                      <a:r>
                        <a:rPr lang="en-US" sz="1000" b="1" dirty="0">
                          <a:solidFill>
                            <a:srgbClr val="3A3A3C"/>
                          </a:solidFill>
                          <a:latin typeface="Calibri" pitchFamily="34" charset="0"/>
                          <a:ea typeface="Calibri" pitchFamily="34" charset="-122"/>
                          <a:cs typeface="Calibri" pitchFamily="34" charset="-120"/>
                        </a:rPr>
                        <a:t>Aggregate provider catalogs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MP-29.1 </a:t>
                      </a:r>
                      <a:pPr indent="0" marL="0">
                        <a:buNone/>
                      </a:pPr>
                      <a:r>
                        <a:rPr lang="en-US" sz="1000" dirty="0">
                          <a:solidFill>
                            <a:srgbClr val="58595B"/>
                          </a:solidFill>
                          <a:latin typeface="Calibri" pitchFamily="34" charset="0"/>
                          <a:ea typeface="Calibri" pitchFamily="34" charset="-122"/>
                          <a:cs typeface="Calibri" pitchFamily="34" charset="-120"/>
                        </a:rPr>
                        <a:t>Aggregate provider catalogs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Aggregate 2 provider catalogs (LinkedIn Learning, Coursera): 1,240 items imported.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UFT-13-02
</a:t>
                      </a:r>
                      <a:pPr indent="0" marL="0">
                        <a:buNone/>
                      </a:pPr>
                      <a:r>
                        <a:rPr lang="en-US" sz="1000" b="1" dirty="0">
                          <a:solidFill>
                            <a:srgbClr val="3A3A3C"/>
                          </a:solidFill>
                          <a:latin typeface="Calibri" pitchFamily="34" charset="0"/>
                          <a:ea typeface="Calibri" pitchFamily="34" charset="-122"/>
                          <a:cs typeface="Calibri" pitchFamily="34" charset="-120"/>
                        </a:rPr>
                        <a:t>Recommend curated items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MP-29.2 </a:t>
                      </a:r>
                      <a:pPr indent="0" marL="0">
                        <a:buNone/>
                      </a:pPr>
                      <a:r>
                        <a:rPr lang="en-US" sz="1000" dirty="0">
                          <a:solidFill>
                            <a:srgbClr val="58595B"/>
                          </a:solidFill>
                          <a:latin typeface="Calibri" pitchFamily="34" charset="0"/>
                          <a:ea typeface="Calibri" pitchFamily="34" charset="-122"/>
                          <a:cs typeface="Calibri" pitchFamily="34" charset="-120"/>
                        </a:rPr>
                        <a:t>Recommend curated items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Keep the 15 top-ranked items on AI triage and clinical decision support; reject 3 items older than 3 years.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UFT-13-03
</a:t>
                      </a:r>
                      <a:pPr indent="0" marL="0">
                        <a:buNone/>
                      </a:pPr>
                      <a:r>
                        <a:rPr lang="en-US" sz="1000" b="1" dirty="0">
                          <a:solidFill>
                            <a:srgbClr val="3A3A3C"/>
                          </a:solidFill>
                          <a:latin typeface="Calibri" pitchFamily="34" charset="0"/>
                          <a:ea typeface="Calibri" pitchFamily="34" charset="-122"/>
                          <a:cs typeface="Calibri" pitchFamily="34" charset="-120"/>
                        </a:rPr>
                        <a:t>Approve and organize collections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MP-29.3 </a:t>
                      </a:r>
                      <a:pPr indent="0" marL="0">
                        <a:buNone/>
                      </a:pPr>
                      <a:r>
                        <a:rPr lang="en-US" sz="1000" dirty="0">
                          <a:solidFill>
                            <a:srgbClr val="58595B"/>
                          </a:solidFill>
                          <a:latin typeface="Calibri" pitchFamily="34" charset="0"/>
                          <a:ea typeface="Calibri" pitchFamily="34" charset="-122"/>
                          <a:cs typeface="Calibri" pitchFamily="34" charset="-120"/>
                        </a:rPr>
                        <a:t>Approve curated item</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MP-29.4 </a:t>
                      </a:r>
                      <a:pPr indent="0" marL="0">
                        <a:buNone/>
                      </a:pPr>
                      <a:r>
                        <a:rPr lang="en-US" sz="1000" dirty="0">
                          <a:solidFill>
                            <a:srgbClr val="58595B"/>
                          </a:solidFill>
                          <a:latin typeface="Calibri" pitchFamily="34" charset="0"/>
                          <a:ea typeface="Calibri" pitchFamily="34" charset="-122"/>
                          <a:cs typeface="Calibri" pitchFamily="34" charset="-120"/>
                        </a:rPr>
                        <a:t>Organize curated collection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Collection 'AI triage and clinical decision support starter kit': 8 items, audience supervisors, review date in 12 months.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UFT-13-04
</a:t>
                      </a:r>
                      <a:pPr indent="0" marL="0">
                        <a:buNone/>
                      </a:pPr>
                      <a:r>
                        <a:rPr lang="en-US" sz="1000" b="1" dirty="0">
                          <a:solidFill>
                            <a:srgbClr val="3A3A3C"/>
                          </a:solidFill>
                          <a:latin typeface="Calibri" pitchFamily="34" charset="0"/>
                          <a:ea typeface="Calibri" pitchFamily="34" charset="-122"/>
                          <a:cs typeface="Calibri" pitchFamily="34" charset="-120"/>
                        </a:rPr>
                        <a:t>Review peer content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MP-33.1 </a:t>
                      </a:r>
                      <a:pPr indent="0" marL="0">
                        <a:buNone/>
                      </a:pPr>
                      <a:r>
                        <a:rPr lang="en-US" sz="1000" dirty="0">
                          <a:solidFill>
                            <a:srgbClr val="58595B"/>
                          </a:solidFill>
                          <a:latin typeface="Calibri" pitchFamily="34" charset="0"/>
                          <a:ea typeface="Calibri" pitchFamily="34" charset="-122"/>
                          <a:cs typeface="Calibri" pitchFamily="34" charset="-120"/>
                        </a:rPr>
                        <a:t>Submit user-generated content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MP-33.2 </a:t>
                      </a:r>
                      <a:pPr indent="0" marL="0">
                        <a:buNone/>
                      </a:pPr>
                      <a:r>
                        <a:rPr lang="en-US" sz="1000" dirty="0">
                          <a:solidFill>
                            <a:srgbClr val="58595B"/>
                          </a:solidFill>
                          <a:latin typeface="Calibri" pitchFamily="34" charset="0"/>
                          <a:ea typeface="Calibri" pitchFamily="34" charset="-122"/>
                          <a:cs typeface="Calibri" pitchFamily="34" charset="-120"/>
                        </a:rPr>
                        <a:t>Check content against policy</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MP-33.3 </a:t>
                      </a:r>
                      <a:pPr indent="0" marL="0">
                        <a:buNone/>
                      </a:pPr>
                      <a:r>
                        <a:rPr lang="en-US" sz="1000" dirty="0">
                          <a:solidFill>
                            <a:srgbClr val="58595B"/>
                          </a:solidFill>
                          <a:latin typeface="Calibri" pitchFamily="34" charset="0"/>
                          <a:ea typeface="Calibri" pitchFamily="34" charset="-122"/>
                          <a:cs typeface="Calibri" pitchFamily="34" charset="-120"/>
                        </a:rPr>
                        <a:t>Peer review content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Hamza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22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Peer video 'How we use AI medical imaging assistance on shift' reviewed by an expert: approved with 1 correction.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UFT-13-05
</a:t>
                      </a:r>
                      <a:pPr indent="0" marL="0">
                        <a:buNone/>
                      </a:pPr>
                      <a:r>
                        <a:rPr lang="en-US" sz="1000" b="1" dirty="0">
                          <a:solidFill>
                            <a:srgbClr val="3A3A3C"/>
                          </a:solidFill>
                          <a:latin typeface="Calibri" pitchFamily="34" charset="0"/>
                          <a:ea typeface="Calibri" pitchFamily="34" charset="-122"/>
                          <a:cs typeface="Calibri" pitchFamily="34" charset="-120"/>
                        </a:rPr>
                        <a:t>Promote and rate content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MP-33.5 </a:t>
                      </a:r>
                      <a:pPr indent="0" marL="0">
                        <a:buNone/>
                      </a:pPr>
                      <a:r>
                        <a:rPr lang="en-US" sz="1000" dirty="0">
                          <a:solidFill>
                            <a:srgbClr val="58595B"/>
                          </a:solidFill>
                          <a:latin typeface="Calibri" pitchFamily="34" charset="0"/>
                          <a:ea typeface="Calibri" pitchFamily="34" charset="-122"/>
                          <a:cs typeface="Calibri" pitchFamily="34" charset="-120"/>
                        </a:rPr>
                        <a:t>Send approved content to curation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MP-33.6 </a:t>
                      </a:r>
                      <a:pPr indent="0" marL="0">
                        <a:buNone/>
                      </a:pPr>
                      <a:r>
                        <a:rPr lang="en-US" sz="1000" dirty="0">
                          <a:solidFill>
                            <a:srgbClr val="58595B"/>
                          </a:solidFill>
                          <a:latin typeface="Calibri" pitchFamily="34" charset="0"/>
                          <a:ea typeface="Calibri" pitchFamily="34" charset="-122"/>
                          <a:cs typeface="Calibri" pitchFamily="34" charset="-120"/>
                        </a:rPr>
                        <a:t>Rate user-generated item</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Asmae Ziani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25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Send approved peer content to curation; average learner rating 4.5/5.</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UFT-13-06
</a:t>
                      </a:r>
                      <a:pPr indent="0" marL="0">
                        <a:buNone/>
                      </a:pPr>
                      <a:r>
                        <a:rPr lang="en-US" sz="1000" b="1" dirty="0">
                          <a:solidFill>
                            <a:srgbClr val="3A3A3C"/>
                          </a:solidFill>
                          <a:latin typeface="Calibri" pitchFamily="34" charset="0"/>
                          <a:ea typeface="Calibri" pitchFamily="34" charset="-122"/>
                          <a:cs typeface="Calibri" pitchFamily="34" charset="-120"/>
                        </a:rPr>
                        <a:t>Flag content past review date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MP-29.5 </a:t>
                      </a:r>
                      <a:pPr indent="0" marL="0">
                        <a:buNone/>
                      </a:pPr>
                      <a:r>
                        <a:rPr lang="en-US" sz="1000" dirty="0">
                          <a:solidFill>
                            <a:srgbClr val="58595B"/>
                          </a:solidFill>
                          <a:latin typeface="Calibri" pitchFamily="34" charset="0"/>
                          <a:ea typeface="Calibri" pitchFamily="34" charset="-122"/>
                          <a:cs typeface="Calibri" pitchFamily="34" charset="-120"/>
                        </a:rPr>
                        <a:t>Flag content past review date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28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14 items past review date flagged; owners notified.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13"/>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13-03 Approve and organize collection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UFT-13-03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4 · E2E-13 · PARTITION OF E2E-05</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Content-Curate-to-Retire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UFT-13-07
</a:t>
                      </a:r>
                      <a:pPr indent="0" marL="0">
                        <a:buNone/>
                      </a:pPr>
                      <a:r>
                        <a:rPr lang="en-US" sz="1000" b="1" dirty="0">
                          <a:solidFill>
                            <a:srgbClr val="3A3A3C"/>
                          </a:solidFill>
                          <a:latin typeface="Calibri" pitchFamily="34" charset="0"/>
                          <a:ea typeface="Calibri" pitchFamily="34" charset="-122"/>
                          <a:cs typeface="Calibri" pitchFamily="34" charset="-120"/>
                        </a:rPr>
                        <a:t>Retire outdated content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MP-29.6 </a:t>
                      </a:r>
                      <a:pPr indent="0" marL="0">
                        <a:buNone/>
                      </a:pPr>
                      <a:r>
                        <a:rPr lang="en-US" sz="1000" dirty="0">
                          <a:solidFill>
                            <a:srgbClr val="58595B"/>
                          </a:solidFill>
                          <a:latin typeface="Calibri" pitchFamily="34" charset="0"/>
                          <a:ea typeface="Calibri" pitchFamily="34" charset="-122"/>
                          <a:cs typeface="Calibri" pitchFamily="34" charset="-120"/>
                        </a:rPr>
                        <a:t>Retire outdated content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MP-25.6 </a:t>
                      </a:r>
                      <a:pPr indent="0" marL="0">
                        <a:buNone/>
                      </a:pPr>
                      <a:r>
                        <a:rPr lang="en-US" sz="1000" dirty="0">
                          <a:solidFill>
                            <a:srgbClr val="58595B"/>
                          </a:solidFill>
                          <a:latin typeface="Calibri" pitchFamily="34" charset="0"/>
                          <a:ea typeface="Calibri" pitchFamily="34" charset="-122"/>
                          <a:cs typeface="Calibri" pitchFamily="34" charset="-120"/>
                        </a:rPr>
                        <a:t>Retire low-value capsule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31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Retire 6 outdated items and 2 low-value capsules; library health 92%.</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13"/>
          <p:cNvSpPr/>
          <p:nvPr/>
        </p:nvSpPr>
        <p:spPr>
          <a:xfrm>
            <a:off x="1770750" y="2212848"/>
            <a:ext cx="5236741" cy="3831336"/>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13">    </p:cNvPr>
          <p:cNvPicPr>
            <a:picLocks noChangeAspect="1"/>
          </p:cNvPicPr>
          <p:nvPr/>
        </p:nvPicPr>
        <p:blipFill>
          <a:blip r:embed="rId1"/>
          <a:stretch>
            <a:fillRect/>
          </a:stretch>
        </p:blipFill>
        <p:spPr>
          <a:xfrm>
            <a:off x="1825614" y="2267712"/>
            <a:ext cx="5127013" cy="3721608"/>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E2E-13 in CortexSkills: its tasks, owners and due dates, and the process card.</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 processes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MP-06 Content &amp; Resource Management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MP-29 Content Curation &amp; Aggregation Engine</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MP-33 User-Generated Content &amp; Peer Knowledge Sharing</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Feeds into</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E2E-06</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Supported by</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4 · E2E-14 · ROOT / MASTER CHAIN</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Extended-Enterprise-Training</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Certify partners and train customers</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Partner, reseller or customer training program launched.</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External learners trained, paid and certified.</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tasks · 12 steps
</a:t>
            </a:r>
            <a:pPr indent="0" marL="0">
              <a:buNone/>
            </a:pPr>
            <a:r>
              <a:rPr lang="en-US" sz="1100" dirty="0">
                <a:solidFill>
                  <a:srgbClr val="3A3A3C"/>
                </a:solidFill>
                <a:latin typeface="Calibri" pitchFamily="34" charset="0"/>
                <a:ea typeface="Calibri" pitchFamily="34" charset="-122"/>
                <a:cs typeface="Calibri" pitchFamily="34" charset="-120"/>
              </a:rPr>
              <a:t>20 days · 3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MP-22 Extended Enterprise &amp; External Training · </a:t>
            </a:r>
            <a:pPr indent="0" marL="0">
              <a:buNone/>
            </a:pPr>
            <a:r>
              <a:rPr lang="en-US" sz="1000" dirty="0">
                <a:solidFill>
                  <a:srgbClr val="58595B"/>
                </a:solidFill>
                <a:latin typeface="Calibri" pitchFamily="34" charset="0"/>
                <a:ea typeface="Calibri" pitchFamily="34" charset="-122"/>
                <a:cs typeface="Calibri" pitchFamily="34" charset="-120"/>
              </a:rPr>
              <a:t>MP-07 Learning Delivery &amp; Implementation · </a:t>
            </a:r>
            <a:pPr indent="0" marL="0">
              <a:buNone/>
            </a:pPr>
            <a:r>
              <a:rPr lang="en-US" sz="1000" dirty="0">
                <a:solidFill>
                  <a:srgbClr val="58595B"/>
                </a:solidFill>
                <a:latin typeface="Calibri" pitchFamily="34" charset="0"/>
                <a:ea typeface="Calibri" pitchFamily="34" charset="-122"/>
                <a:cs typeface="Calibri" pitchFamily="34" charset="-120"/>
              </a:rPr>
              <a:t>MP-14 Compliance &amp; Certification Management · </a:t>
            </a:r>
            <a:pPr indent="0" marL="0">
              <a:buNone/>
            </a:pPr>
            <a:r>
              <a:rPr lang="en-US" sz="1000" dirty="0">
                <a:solidFill>
                  <a:srgbClr val="58595B"/>
                </a:solidFill>
                <a:latin typeface="Calibri" pitchFamily="34" charset="0"/>
                <a:ea typeface="Calibri" pitchFamily="34" charset="-122"/>
                <a:cs typeface="Calibri" pitchFamily="34" charset="-120"/>
              </a:rPr>
              <a:t>MP-18 Financial &amp; Budget Management</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UFT-14-01
</a:t>
                      </a:r>
                      <a:pPr indent="0" marL="0">
                        <a:buNone/>
                      </a:pPr>
                      <a:r>
                        <a:rPr lang="en-US" sz="1000" b="1" dirty="0">
                          <a:solidFill>
                            <a:srgbClr val="3A3A3C"/>
                          </a:solidFill>
                          <a:latin typeface="Calibri" pitchFamily="34" charset="0"/>
                          <a:ea typeface="Calibri" pitchFamily="34" charset="-122"/>
                          <a:cs typeface="Calibri" pitchFamily="34" charset="-120"/>
                        </a:rPr>
                        <a:t>Create external sub-portal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MP-22.1 </a:t>
                      </a:r>
                      <a:pPr indent="0" marL="0">
                        <a:buNone/>
                      </a:pPr>
                      <a:r>
                        <a:rPr lang="en-US" sz="1000" dirty="0">
                          <a:solidFill>
                            <a:srgbClr val="58595B"/>
                          </a:solidFill>
                          <a:latin typeface="Calibri" pitchFamily="34" charset="0"/>
                          <a:ea typeface="Calibri" pitchFamily="34" charset="-122"/>
                          <a:cs typeface="Calibri" pitchFamily="34" charset="-120"/>
                        </a:rPr>
                        <a:t>Create external sub-portal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Sub-portal 'Partners Academy — Santéora Private Clinics Group' created for distributors and installers.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UFT-14-02
</a:t>
                      </a:r>
                      <a:pPr indent="0" marL="0">
                        <a:buNone/>
                      </a:pPr>
                      <a:r>
                        <a:rPr lang="en-US" sz="1000" b="1" dirty="0">
                          <a:solidFill>
                            <a:srgbClr val="3A3A3C"/>
                          </a:solidFill>
                          <a:latin typeface="Calibri" pitchFamily="34" charset="0"/>
                          <a:ea typeface="Calibri" pitchFamily="34" charset="-122"/>
                          <a:cs typeface="Calibri" pitchFamily="34" charset="-120"/>
                        </a:rPr>
                        <a:t>Configure catalog and pricing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MP-22.2 </a:t>
                      </a:r>
                      <a:pPr indent="0" marL="0">
                        <a:buNone/>
                      </a:pPr>
                      <a:r>
                        <a:rPr lang="en-US" sz="1000" dirty="0">
                          <a:solidFill>
                            <a:srgbClr val="58595B"/>
                          </a:solidFill>
                          <a:latin typeface="Calibri" pitchFamily="34" charset="0"/>
                          <a:ea typeface="Calibri" pitchFamily="34" charset="-122"/>
                          <a:cs typeface="Calibri" pitchFamily="34" charset="-120"/>
                        </a:rPr>
                        <a:t>Configure external catalog and pricing</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MP-18.1 </a:t>
                      </a:r>
                      <a:pPr indent="0" marL="0">
                        <a:buNone/>
                      </a:pPr>
                      <a:r>
                        <a:rPr lang="en-US" sz="1000" dirty="0">
                          <a:solidFill>
                            <a:srgbClr val="58595B"/>
                          </a:solidFill>
                          <a:latin typeface="Calibri" pitchFamily="34" charset="0"/>
                          <a:ea typeface="Calibri" pitchFamily="34" charset="-122"/>
                          <a:cs typeface="Calibri" pitchFamily="34" charset="-120"/>
                        </a:rPr>
                        <a:t>Allocate budget by theme and site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Catalog: 'ISO 7101 for partners' 1,200 MAD; 'AI triage and clinical decision support certification' 2,400 MAD.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UFT-14-03
</a:t>
                      </a:r>
                      <a:pPr indent="0" marL="0">
                        <a:buNone/>
                      </a:pPr>
                      <a:r>
                        <a:rPr lang="en-US" sz="1000" b="1" dirty="0">
                          <a:solidFill>
                            <a:srgbClr val="3A3A3C"/>
                          </a:solidFill>
                          <a:latin typeface="Calibri" pitchFamily="34" charset="0"/>
                          <a:ea typeface="Calibri" pitchFamily="34" charset="-122"/>
                          <a:cs typeface="Calibri" pitchFamily="34" charset="-120"/>
                        </a:rPr>
                        <a:t>Process payment and enroll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MP-22.3 </a:t>
                      </a:r>
                      <a:pPr indent="0" marL="0">
                        <a:buNone/>
                      </a:pPr>
                      <a:r>
                        <a:rPr lang="en-US" sz="1000" dirty="0">
                          <a:solidFill>
                            <a:srgbClr val="58595B"/>
                          </a:solidFill>
                          <a:latin typeface="Calibri" pitchFamily="34" charset="0"/>
                          <a:ea typeface="Calibri" pitchFamily="34" charset="-122"/>
                          <a:cs typeface="Calibri" pitchFamily="34" charset="-120"/>
                        </a:rPr>
                        <a:t>Process online payment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MP-22.4 </a:t>
                      </a:r>
                      <a:pPr indent="0" marL="0">
                        <a:buNone/>
                      </a:pPr>
                      <a:r>
                        <a:rPr lang="en-US" sz="1000" dirty="0">
                          <a:solidFill>
                            <a:srgbClr val="58595B"/>
                          </a:solidFill>
                          <a:latin typeface="Calibri" pitchFamily="34" charset="0"/>
                          <a:ea typeface="Calibri" pitchFamily="34" charset="-122"/>
                          <a:cs typeface="Calibri" pitchFamily="34" charset="-120"/>
                        </a:rPr>
                        <a:t>Enroll external learner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18 online payments processed; 18 external learners enrolled.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UFT-14-04
</a:t>
                      </a:r>
                      <a:pPr indent="0" marL="0">
                        <a:buNone/>
                      </a:pPr>
                      <a:r>
                        <a:rPr lang="en-US" sz="1000" b="1" dirty="0">
                          <a:solidFill>
                            <a:srgbClr val="3A3A3C"/>
                          </a:solidFill>
                          <a:latin typeface="Calibri" pitchFamily="34" charset="0"/>
                          <a:ea typeface="Calibri" pitchFamily="34" charset="-122"/>
                          <a:cs typeface="Calibri" pitchFamily="34" charset="-120"/>
                        </a:rPr>
                        <a:t>Deliver external sessions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MP-07.1 </a:t>
                      </a:r>
                      <a:pPr indent="0" marL="0">
                        <a:buNone/>
                      </a:pPr>
                      <a:r>
                        <a:rPr lang="en-US" sz="1000" dirty="0">
                          <a:solidFill>
                            <a:srgbClr val="58595B"/>
                          </a:solidFill>
                          <a:latin typeface="Calibri" pitchFamily="34" charset="0"/>
                          <a:ea typeface="Calibri" pitchFamily="34" charset="-122"/>
                          <a:cs typeface="Calibri" pitchFamily="34" charset="-120"/>
                        </a:rPr>
                        <a:t>Create training session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MP-07.5 </a:t>
                      </a:r>
                      <a:pPr indent="0" marL="0">
                        <a:buNone/>
                      </a:pPr>
                      <a:r>
                        <a:rPr lang="en-US" sz="1000" dirty="0">
                          <a:solidFill>
                            <a:srgbClr val="58595B"/>
                          </a:solidFill>
                          <a:latin typeface="Calibri" pitchFamily="34" charset="0"/>
                          <a:ea typeface="Calibri" pitchFamily="34" charset="-122"/>
                          <a:cs typeface="Calibri" pitchFamily="34" charset="-120"/>
                        </a:rPr>
                        <a:t>Record attendance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22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Session P-01 (virtual), 18 invited, 16 present.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UFT-14-05
</a:t>
                      </a:r>
                      <a:pPr indent="0" marL="0">
                        <a:buNone/>
                      </a:pPr>
                      <a:r>
                        <a:rPr lang="en-US" sz="1000" b="1" dirty="0">
                          <a:solidFill>
                            <a:srgbClr val="3A3A3C"/>
                          </a:solidFill>
                          <a:latin typeface="Calibri" pitchFamily="34" charset="0"/>
                          <a:ea typeface="Calibri" pitchFamily="34" charset="-122"/>
                          <a:cs typeface="Calibri" pitchFamily="34" charset="-120"/>
                        </a:rPr>
                        <a:t>Track external completion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MP-22.5 </a:t>
                      </a:r>
                      <a:pPr indent="0" marL="0">
                        <a:buNone/>
                      </a:pPr>
                      <a:r>
                        <a:rPr lang="en-US" sz="1000" dirty="0">
                          <a:solidFill>
                            <a:srgbClr val="58595B"/>
                          </a:solidFill>
                          <a:latin typeface="Calibri" pitchFamily="34" charset="0"/>
                          <a:ea typeface="Calibri" pitchFamily="34" charset="-122"/>
                          <a:cs typeface="Calibri" pitchFamily="34" charset="-120"/>
                        </a:rPr>
                        <a:t>Track external completion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25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Completion: 15 of 16 passed the final quiz.</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UFT-14-06
</a:t>
                      </a:r>
                      <a:pPr indent="0" marL="0">
                        <a:buNone/>
                      </a:pPr>
                      <a:r>
                        <a:rPr lang="en-US" sz="1000" b="1" dirty="0">
                          <a:solidFill>
                            <a:srgbClr val="3A3A3C"/>
                          </a:solidFill>
                          <a:latin typeface="Calibri" pitchFamily="34" charset="0"/>
                          <a:ea typeface="Calibri" pitchFamily="34" charset="-122"/>
                          <a:cs typeface="Calibri" pitchFamily="34" charset="-120"/>
                        </a:rPr>
                        <a:t>Issue partner certification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MP-22.6 </a:t>
                      </a:r>
                      <a:pPr indent="0" marL="0">
                        <a:buNone/>
                      </a:pPr>
                      <a:r>
                        <a:rPr lang="en-US" sz="1000" dirty="0">
                          <a:solidFill>
                            <a:srgbClr val="58595B"/>
                          </a:solidFill>
                          <a:latin typeface="Calibri" pitchFamily="34" charset="0"/>
                          <a:ea typeface="Calibri" pitchFamily="34" charset="-122"/>
                          <a:cs typeface="Calibri" pitchFamily="34" charset="-120"/>
                        </a:rPr>
                        <a:t>Issue partner certification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MP-14.4 </a:t>
                      </a:r>
                      <a:pPr indent="0" marL="0">
                        <a:buNone/>
                      </a:pPr>
                      <a:r>
                        <a:rPr lang="en-US" sz="1000" dirty="0">
                          <a:solidFill>
                            <a:srgbClr val="58595B"/>
                          </a:solidFill>
                          <a:latin typeface="Calibri" pitchFamily="34" charset="0"/>
                          <a:ea typeface="Calibri" pitchFamily="34" charset="-122"/>
                          <a:cs typeface="Calibri" pitchFamily="34" charset="-120"/>
                        </a:rPr>
                        <a:t>Issue certificate on completion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28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Issue 15 partner certificates valid 2 years.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14"/>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14-02 Configure catalog and pricing">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UFT-14-02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4 · E2E-14 · ROOT / MASTER CHAIN</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Extended-Enterprise-Training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UFT-14-07
</a:t>
                      </a:r>
                      <a:pPr indent="0" marL="0">
                        <a:buNone/>
                      </a:pPr>
                      <a:r>
                        <a:rPr lang="en-US" sz="1000" b="1" dirty="0">
                          <a:solidFill>
                            <a:srgbClr val="3A3A3C"/>
                          </a:solidFill>
                          <a:latin typeface="Calibri" pitchFamily="34" charset="0"/>
                          <a:ea typeface="Calibri" pitchFamily="34" charset="-122"/>
                          <a:cs typeface="Calibri" pitchFamily="34" charset="-120"/>
                        </a:rPr>
                        <a:t>Reconcile external revenue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MP-18.3 </a:t>
                      </a:r>
                      <a:pPr indent="0" marL="0">
                        <a:buNone/>
                      </a:pPr>
                      <a:r>
                        <a:rPr lang="en-US" sz="1000" dirty="0">
                          <a:solidFill>
                            <a:srgbClr val="58595B"/>
                          </a:solidFill>
                          <a:latin typeface="Calibri" pitchFamily="34" charset="0"/>
                          <a:ea typeface="Calibri" pitchFamily="34" charset="-122"/>
                          <a:cs typeface="Calibri" pitchFamily="34" charset="-120"/>
                        </a:rPr>
                        <a:t>Record committed and actual costs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MP-18.4 </a:t>
                      </a:r>
                      <a:pPr indent="0" marL="0">
                        <a:buNone/>
                      </a:pPr>
                      <a:r>
                        <a:rPr lang="en-US" sz="1000" dirty="0">
                          <a:solidFill>
                            <a:srgbClr val="58595B"/>
                          </a:solidFill>
                          <a:latin typeface="Calibri" pitchFamily="34" charset="0"/>
                          <a:ea typeface="Calibri" pitchFamily="34" charset="-122"/>
                          <a:cs typeface="Calibri" pitchFamily="34" charset="-120"/>
                        </a:rPr>
                        <a:t>Compare spend against budget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Kawtar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31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Revenue 43,200 MAD reconciled with the ERP; 0 unpaid.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14"/>
          <p:cNvSpPr/>
          <p:nvPr/>
        </p:nvSpPr>
        <p:spPr>
          <a:xfrm>
            <a:off x="1877825" y="2368296"/>
            <a:ext cx="5022590" cy="3675888"/>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14">    </p:cNvPr>
          <p:cNvPicPr>
            <a:picLocks noChangeAspect="1"/>
          </p:cNvPicPr>
          <p:nvPr/>
        </p:nvPicPr>
        <p:blipFill>
          <a:blip r:embed="rId1"/>
          <a:stretch>
            <a:fillRect/>
          </a:stretch>
        </p:blipFill>
        <p:spPr>
          <a:xfrm>
            <a:off x="1932689" y="2423160"/>
            <a:ext cx="4912862" cy="3566160"/>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E2E-14 in CortexSkills: its tasks, owners and due dates, and the process card.</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 processes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MP-22 Extended Enterprise &amp; External Training</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MP-07 Learning Delivery &amp; Implementation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MP-14 Compliance &amp; Certification Management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MP-18 Financial &amp; Budget Management</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Feeds into</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Supported by</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E2E-16</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2" name=""/>
        <p:cNvGrpSpPr/>
        <p:nvPr/>
      </p:nvGrpSpPr>
      <p:grpSpPr>
        <a:xfrm>
          <a:off x="0" y="0"/>
          <a:ext cx="0" cy="0"/>
          <a:chOff x="0" y="0"/>
          <a:chExt cx="0" cy="0"/>
        </a:xfrm>
      </p:grpSpPr>
      <p:sp>
        <p:nvSpPr>
          <p:cNvPr id="3" name="Text 0"/>
          <p:cNvSpPr txBox="1"/>
          <p:nvPr/>
        </p:nvSpPr>
        <p:spPr>
          <a:xfrm>
            <a:off x="457200" y="914400"/>
            <a:ext cx="2743200" cy="1280160"/>
          </a:xfrm>
          <a:prstGeom prst="rect">
            <a:avLst/>
          </a:prstGeom>
          <a:noFill/>
          <a:ln/>
        </p:spPr>
        <p:txBody>
          <a:bodyPr wrap="square" lIns="0" tIns="0" rIns="0" bIns="0" rtlCol="0" anchor="ctr"/>
          <a:lstStyle/>
          <a:p>
            <a:pPr indent="0" marL="0">
              <a:buNone/>
            </a:pPr>
            <a:r>
              <a:rPr lang="en-US" sz="8000" b="1" dirty="0">
                <a:solidFill>
                  <a:srgbClr val="F8931D"/>
                </a:solidFill>
                <a:latin typeface="Cambria" pitchFamily="34" charset="0"/>
                <a:ea typeface="Cambria" pitchFamily="34" charset="-122"/>
                <a:cs typeface="Cambria" pitchFamily="34" charset="-120"/>
              </a:rPr>
              <a:t>05</a:t>
            </a:r>
            <a:endParaRPr lang="en-US" sz="8000" dirty="0"/>
          </a:p>
        </p:txBody>
      </p:sp>
      <p:sp>
        <p:nvSpPr>
          <p:cNvPr id="4" name="Text 1"/>
          <p:cNvSpPr txBox="1"/>
          <p:nvPr/>
        </p:nvSpPr>
        <p:spPr>
          <a:xfrm>
            <a:off x="457200" y="2331720"/>
            <a:ext cx="5486400" cy="320040"/>
          </a:xfrm>
          <a:prstGeom prst="rect">
            <a:avLst/>
          </a:prstGeom>
          <a:noFill/>
          <a:ln/>
        </p:spPr>
        <p:txBody>
          <a:bodyPr wrap="square" lIns="0" tIns="0" rIns="0" bIns="0" rtlCol="0" anchor="ctr"/>
          <a:lstStyle/>
          <a:p>
            <a:pPr indent="0" marL="0">
              <a:buNone/>
            </a:pPr>
            <a:r>
              <a:rPr lang="en-US" sz="1300" b="1" spc="300" kern="0" dirty="0">
                <a:solidFill>
                  <a:srgbClr val="F8931D"/>
                </a:solidFill>
                <a:latin typeface="Calibri" pitchFamily="34" charset="0"/>
                <a:ea typeface="Calibri" pitchFamily="34" charset="-122"/>
                <a:cs typeface="Calibri" pitchFamily="34" charset="-120"/>
              </a:rPr>
              <a:t>PHASE 5</a:t>
            </a:r>
            <a:endParaRPr lang="en-US" sz="1300" dirty="0"/>
          </a:p>
        </p:txBody>
      </p:sp>
      <p:sp>
        <p:nvSpPr>
          <p:cNvPr id="5" name="Text 2"/>
          <p:cNvSpPr txBox="1"/>
          <p:nvPr/>
        </p:nvSpPr>
        <p:spPr>
          <a:xfrm>
            <a:off x="457200" y="2697480"/>
            <a:ext cx="5669280" cy="13716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Evaluation, compliance &amp; impact</a:t>
            </a:r>
            <a:endParaRPr lang="en-US" sz="3600" dirty="0"/>
          </a:p>
        </p:txBody>
      </p:sp>
      <p:sp>
        <p:nvSpPr>
          <p:cNvPr id="6" name="Text 3"/>
          <p:cNvSpPr txBox="1"/>
          <p:nvPr/>
        </p:nvSpPr>
        <p:spPr>
          <a:xfrm>
            <a:off x="457200" y="4206240"/>
            <a:ext cx="5669280" cy="1097280"/>
          </a:xfrm>
          <a:prstGeom prst="rect">
            <a:avLst/>
          </a:prstGeom>
          <a:noFill/>
          <a:ln/>
        </p:spPr>
        <p:txBody>
          <a:bodyPr wrap="square" lIns="0" tIns="0" rIns="0" bIns="0" rtlCol="0" anchor="t"/>
          <a:lstStyle/>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4 processes · 26 tasks · 43 steps</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8 Aug 2026 – 31 Aug 2026</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Closed by G5 — Evaluation &amp; impact validated</a:t>
            </a:r>
            <a:endParaRPr lang="en-US" sz="1500" dirty="0"/>
          </a:p>
        </p:txBody>
      </p:sp>
      <p:sp>
        <p:nvSpPr>
          <p:cNvPr id="7" name="Text 4"/>
          <p:cNvSpPr txBox="1"/>
          <p:nvPr/>
        </p:nvSpPr>
        <p:spPr>
          <a:xfrm>
            <a:off x="6675120" y="1097280"/>
            <a:ext cx="5029200" cy="4754880"/>
          </a:xfrm>
          <a:prstGeom prst="rect">
            <a:avLst/>
          </a:prstGeom>
          <a:noFill/>
          <a:ln/>
        </p:spPr>
        <p:txBody>
          <a:bodyPr wrap="square" lIns="0" tIns="0" rIns="0" bIns="0" rtlCol="0" anchor="ctr"/>
          <a:lstStyle/>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E2E-07   Assessment-to-Evaluation</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E2E-08   Learning-to-ROI</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E2E-09   Compliance-to-Certification</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HCPR-E2E-01   Healthcare Providers Compliance-to-Certification Readiness</a:t>
            </a:r>
            <a:endParaRPr lang="en-US" sz="1500" dirty="0"/>
          </a:p>
        </p:txBody>
      </p:sp>
      <p:sp>
        <p:nvSpPr>
          <p:cNvPr id="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DBDBF"/>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5 · E2E-07 · ROOT / MASTER CHAIN</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Assessment-to-Evaluation</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Measure training effectiveness and skill progression</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Training session or path completed.</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Effectiveness measured on Kirkpatrick levels 1-3 and skill progression computed.</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8 tasks · 12 steps
</a:t>
            </a:r>
            <a:pPr indent="0" marL="0">
              <a:buNone/>
            </a:pPr>
            <a:r>
              <a:rPr lang="en-US" sz="1100" dirty="0">
                <a:solidFill>
                  <a:srgbClr val="3A3A3C"/>
                </a:solidFill>
                <a:latin typeface="Calibri" pitchFamily="34" charset="0"/>
                <a:ea typeface="Calibri" pitchFamily="34" charset="-122"/>
                <a:cs typeface="Calibri" pitchFamily="34" charset="-120"/>
              </a:rPr>
              <a:t>23 days · 4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MP-09 Assessment &amp; Evaluation · </a:t>
            </a:r>
            <a:pPr indent="0" marL="0">
              <a:buNone/>
            </a:pPr>
            <a:r>
              <a:rPr lang="en-US" sz="1000" dirty="0">
                <a:solidFill>
                  <a:srgbClr val="58595B"/>
                </a:solidFill>
                <a:latin typeface="Calibri" pitchFamily="34" charset="0"/>
                <a:ea typeface="Calibri" pitchFamily="34" charset="-122"/>
                <a:cs typeface="Calibri" pitchFamily="34" charset="-120"/>
              </a:rPr>
              <a:t>MP-10 Reporting &amp; Analytics · </a:t>
            </a:r>
            <a:pPr indent="0" marL="0">
              <a:buNone/>
            </a:pPr>
            <a:r>
              <a:rPr lang="en-US" sz="1000" dirty="0">
                <a:solidFill>
                  <a:srgbClr val="58595B"/>
                </a:solidFill>
                <a:latin typeface="Calibri" pitchFamily="34" charset="0"/>
                <a:ea typeface="Calibri" pitchFamily="34" charset="-122"/>
                <a:cs typeface="Calibri" pitchFamily="34" charset="-120"/>
              </a:rPr>
              <a:t>MP-20 Quality, Risk &amp; Continuous Improvement</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UFT-07-01
</a:t>
                      </a:r>
                      <a:pPr indent="0" marL="0">
                        <a:buNone/>
                      </a:pPr>
                      <a:r>
                        <a:rPr lang="en-US" sz="1000" b="1" dirty="0">
                          <a:solidFill>
                            <a:srgbClr val="3A3A3C"/>
                          </a:solidFill>
                          <a:latin typeface="Calibri" pitchFamily="34" charset="0"/>
                          <a:ea typeface="Calibri" pitchFamily="34" charset="-122"/>
                          <a:cs typeface="Calibri" pitchFamily="34" charset="-120"/>
                        </a:rPr>
                        <a:t>Create assessment instrument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MP-09.1 </a:t>
                      </a:r>
                      <a:pPr indent="0" marL="0">
                        <a:buNone/>
                      </a:pPr>
                      <a:r>
                        <a:rPr lang="en-US" sz="1000" dirty="0">
                          <a:solidFill>
                            <a:srgbClr val="58595B"/>
                          </a:solidFill>
                          <a:latin typeface="Calibri" pitchFamily="34" charset="0"/>
                          <a:ea typeface="Calibri" pitchFamily="34" charset="-122"/>
                          <a:cs typeface="Calibri" pitchFamily="34" charset="-120"/>
                        </a:rPr>
                        <a:t>Create assessment instrument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Ghita Bouzidi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10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Instrument 'Test AI triage and clinical decision support M1': 15 questions, pass mark 70%.</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UFT-07-02
</a:t>
                      </a:r>
                      <a:pPr indent="0" marL="0">
                        <a:buNone/>
                      </a:pPr>
                      <a:r>
                        <a:rPr lang="en-US" sz="1000" b="1" dirty="0">
                          <a:solidFill>
                            <a:srgbClr val="3A3A3C"/>
                          </a:solidFill>
                          <a:latin typeface="Calibri" pitchFamily="34" charset="0"/>
                          <a:ea typeface="Calibri" pitchFamily="34" charset="-122"/>
                          <a:cs typeface="Calibri" pitchFamily="34" charset="-120"/>
                        </a:rPr>
                        <a:t>Draft question bank</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MP-09.2 </a:t>
                      </a:r>
                      <a:pPr indent="0" marL="0">
                        <a:buNone/>
                      </a:pPr>
                      <a:r>
                        <a:rPr lang="en-US" sz="1000" dirty="0">
                          <a:solidFill>
                            <a:srgbClr val="58595B"/>
                          </a:solidFill>
                          <a:latin typeface="Calibri" pitchFamily="34" charset="0"/>
                          <a:ea typeface="Calibri" pitchFamily="34" charset="-122"/>
                          <a:cs typeface="Calibri" pitchFamily="34" charset="-120"/>
                        </a:rPr>
                        <a:t>Generate question bank draft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Ghita Bouzidi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Keep 12 AI-drafted questions, rewrite 3 with Clinical Care &amp; Nursing vocabulary; validate each one.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UFT-07-03
</a:t>
                      </a:r>
                      <a:pPr indent="0" marL="0">
                        <a:buNone/>
                      </a:pPr>
                      <a:r>
                        <a:rPr lang="en-US" sz="1000" b="1" dirty="0">
                          <a:solidFill>
                            <a:srgbClr val="3A3A3C"/>
                          </a:solidFill>
                          <a:latin typeface="Calibri" pitchFamily="34" charset="0"/>
                          <a:ea typeface="Calibri" pitchFamily="34" charset="-122"/>
                          <a:cs typeface="Calibri" pitchFamily="34" charset="-120"/>
                        </a:rPr>
                        <a:t>Collect reaction survey (Level 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MP-09.3 </a:t>
                      </a:r>
                      <a:pPr indent="0" marL="0">
                        <a:buNone/>
                      </a:pPr>
                      <a:r>
                        <a:rPr lang="en-US" sz="1000" dirty="0">
                          <a:solidFill>
                            <a:srgbClr val="58595B"/>
                          </a:solidFill>
                          <a:latin typeface="Calibri" pitchFamily="34" charset="0"/>
                          <a:ea typeface="Calibri" pitchFamily="34" charset="-122"/>
                          <a:cs typeface="Calibri" pitchFamily="34" charset="-120"/>
                        </a:rPr>
                        <a:t>Collect reaction survey (Level 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Reaction survey S-01: 11 responses, satisfaction 4.3/5.</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UFT-07-04
</a:t>
                      </a:r>
                      <a:pPr indent="0" marL="0">
                        <a:buNone/>
                      </a:pPr>
                      <a:r>
                        <a:rPr lang="en-US" sz="1000" b="1" dirty="0">
                          <a:solidFill>
                            <a:srgbClr val="3A3A3C"/>
                          </a:solidFill>
                          <a:latin typeface="Calibri" pitchFamily="34" charset="0"/>
                          <a:ea typeface="Calibri" pitchFamily="34" charset="-122"/>
                          <a:cs typeface="Calibri" pitchFamily="34" charset="-120"/>
                        </a:rPr>
                        <a:t>Record learning results (Level 2)</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MP-09.4 </a:t>
                      </a:r>
                      <a:pPr indent="0" marL="0">
                        <a:buNone/>
                      </a:pPr>
                      <a:r>
                        <a:rPr lang="en-US" sz="1000" dirty="0">
                          <a:solidFill>
                            <a:srgbClr val="58595B"/>
                          </a:solidFill>
                          <a:latin typeface="Calibri" pitchFamily="34" charset="0"/>
                          <a:ea typeface="Calibri" pitchFamily="34" charset="-122"/>
                          <a:cs typeface="Calibri" pitchFamily="34" charset="-120"/>
                        </a:rPr>
                        <a:t>Record learning results (Level 2)</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Zineb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Level 2: average pre-test 48%, post-test 81% (+33 points).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UFT-07-05
</a:t>
                      </a:r>
                      <a:pPr indent="0" marL="0">
                        <a:buNone/>
                      </a:pPr>
                      <a:r>
                        <a:rPr lang="en-US" sz="1000" b="1" dirty="0">
                          <a:solidFill>
                            <a:srgbClr val="3A3A3C"/>
                          </a:solidFill>
                          <a:latin typeface="Calibri" pitchFamily="34" charset="0"/>
                          <a:ea typeface="Calibri" pitchFamily="34" charset="-122"/>
                          <a:cs typeface="Calibri" pitchFamily="34" charset="-120"/>
                        </a:rPr>
                        <a:t>Record on-the-job observation (Level 3)</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MP-09.5 </a:t>
                      </a:r>
                      <a:pPr indent="0" marL="0">
                        <a:buNone/>
                      </a:pPr>
                      <a:r>
                        <a:rPr lang="en-US" sz="1000" dirty="0">
                          <a:solidFill>
                            <a:srgbClr val="58595B"/>
                          </a:solidFill>
                          <a:latin typeface="Calibri" pitchFamily="34" charset="0"/>
                          <a:ea typeface="Calibri" pitchFamily="34" charset="-122"/>
                          <a:cs typeface="Calibri" pitchFamily="34" charset="-120"/>
                        </a:rPr>
                        <a:t>Record on-the-job observation (Level 3)</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22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Level 3 (day 30): 9 of 11 supervisors apply the AI triage and clinical decision support routine daily.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07"/>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07-05 Record on-the-job observation (Level 3)">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UFT-07-05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5 · E2E-07 · ROOT / MASTER CHAIN</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Assessment-to-Evaluation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UFT-07-06
</a:t>
                      </a:r>
                      <a:pPr indent="0" marL="0">
                        <a:buNone/>
                      </a:pPr>
                      <a:r>
                        <a:rPr lang="en-US" sz="1000" b="1" dirty="0">
                          <a:solidFill>
                            <a:srgbClr val="3A3A3C"/>
                          </a:solidFill>
                          <a:latin typeface="Calibri" pitchFamily="34" charset="0"/>
                          <a:ea typeface="Calibri" pitchFamily="34" charset="-122"/>
                          <a:cs typeface="Calibri" pitchFamily="34" charset="-120"/>
                        </a:rPr>
                        <a:t>Compute skill progression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MP-09.6 </a:t>
                      </a:r>
                      <a:pPr indent="0" marL="0">
                        <a:buNone/>
                      </a:pPr>
                      <a:r>
                        <a:rPr lang="en-US" sz="1000" dirty="0">
                          <a:solidFill>
                            <a:srgbClr val="58595B"/>
                          </a:solidFill>
                          <a:latin typeface="Calibri" pitchFamily="34" charset="0"/>
                          <a:ea typeface="Calibri" pitchFamily="34" charset="-122"/>
                          <a:cs typeface="Calibri" pitchFamily="34" charset="-120"/>
                        </a:rPr>
                        <a:t>Compute skill progression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MP-10.3 </a:t>
                      </a:r>
                      <a:pPr indent="0" marL="0">
                        <a:buNone/>
                      </a:pPr>
                      <a:r>
                        <a:rPr lang="en-US" sz="1000" dirty="0">
                          <a:solidFill>
                            <a:srgbClr val="58595B"/>
                          </a:solidFill>
                          <a:latin typeface="Calibri" pitchFamily="34" charset="0"/>
                          <a:ea typeface="Calibri" pitchFamily="34" charset="-122"/>
                          <a:cs typeface="Calibri" pitchFamily="34" charset="-120"/>
                        </a:rPr>
                        <a:t>Refresh KPI computation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25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Skill progression: AI triage and clinical decision support from 1.8 to 2.7 (target 3).</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UFT-07-07
</a:t>
                      </a:r>
                      <a:pPr indent="0" marL="0">
                        <a:buNone/>
                      </a:pPr>
                      <a:r>
                        <a:rPr lang="en-US" sz="1000" b="1" dirty="0">
                          <a:solidFill>
                            <a:srgbClr val="3A3A3C"/>
                          </a:solidFill>
                          <a:latin typeface="Calibri" pitchFamily="34" charset="0"/>
                          <a:ea typeface="Calibri" pitchFamily="34" charset="-122"/>
                          <a:cs typeface="Calibri" pitchFamily="34" charset="-120"/>
                        </a:rPr>
                        <a:t>Review evaluation results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MP-09.7 </a:t>
                      </a:r>
                      <a:pPr indent="0" marL="0">
                        <a:buNone/>
                      </a:pPr>
                      <a:r>
                        <a:rPr lang="en-US" sz="1000" dirty="0">
                          <a:solidFill>
                            <a:srgbClr val="58595B"/>
                          </a:solidFill>
                          <a:latin typeface="Calibri" pitchFamily="34" charset="0"/>
                          <a:ea typeface="Calibri" pitchFamily="34" charset="-122"/>
                          <a:cs typeface="Calibri" pitchFamily="34" charset="-120"/>
                        </a:rPr>
                        <a:t>Review evaluation results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MP-20.5 </a:t>
                      </a:r>
                      <a:pPr indent="0" marL="0">
                        <a:buNone/>
                      </a:pPr>
                      <a:r>
                        <a:rPr lang="en-US" sz="1000" dirty="0">
                          <a:solidFill>
                            <a:srgbClr val="58595B"/>
                          </a:solidFill>
                          <a:latin typeface="Calibri" pitchFamily="34" charset="0"/>
                          <a:ea typeface="Calibri" pitchFamily="34" charset="-122"/>
                          <a:cs typeface="Calibri" pitchFamily="34" charset="-120"/>
                        </a:rPr>
                        <a:t>Run periodic quality review</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28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Review: module M3 below 70% pass rate → improvement action assigned to the designer.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UFT-07-08
</a:t>
                      </a:r>
                      <a:pPr indent="0" marL="0">
                        <a:buNone/>
                      </a:pPr>
                      <a:r>
                        <a:rPr lang="en-US" sz="1000" b="1" dirty="0">
                          <a:solidFill>
                            <a:srgbClr val="3A3A3C"/>
                          </a:solidFill>
                          <a:latin typeface="Calibri" pitchFamily="34" charset="0"/>
                          <a:ea typeface="Calibri" pitchFamily="34" charset="-122"/>
                          <a:cs typeface="Calibri" pitchFamily="34" charset="-120"/>
                        </a:rPr>
                        <a:t>Publish evaluation report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MP-10.4 </a:t>
                      </a:r>
                      <a:pPr indent="0" marL="0">
                        <a:buNone/>
                      </a:pPr>
                      <a:r>
                        <a:rPr lang="en-US" sz="1000" dirty="0">
                          <a:solidFill>
                            <a:srgbClr val="58595B"/>
                          </a:solidFill>
                          <a:latin typeface="Calibri" pitchFamily="34" charset="0"/>
                          <a:ea typeface="Calibri" pitchFamily="34" charset="-122"/>
                          <a:cs typeface="Calibri" pitchFamily="34" charset="-120"/>
                        </a:rPr>
                        <a:t>Export report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MP-10.6 </a:t>
                      </a:r>
                      <a:pPr indent="0" marL="0">
                        <a:buNone/>
                      </a:pPr>
                      <a:r>
                        <a:rPr lang="en-US" sz="1000" dirty="0">
                          <a:solidFill>
                            <a:srgbClr val="58595B"/>
                          </a:solidFill>
                          <a:latin typeface="Calibri" pitchFamily="34" charset="0"/>
                          <a:ea typeface="Calibri" pitchFamily="34" charset="-122"/>
                          <a:cs typeface="Calibri" pitchFamily="34" charset="-120"/>
                        </a:rPr>
                        <a:t>Share insight with stakeholders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MP-10.2 </a:t>
                      </a:r>
                      <a:pPr indent="0" marL="0">
                        <a:buNone/>
                      </a:pPr>
                      <a:r>
                        <a:rPr lang="en-US" sz="1000" dirty="0">
                          <a:solidFill>
                            <a:srgbClr val="58595B"/>
                          </a:solidFill>
                          <a:latin typeface="Calibri" pitchFamily="34" charset="0"/>
                          <a:ea typeface="Calibri" pitchFamily="34" charset="-122"/>
                          <a:cs typeface="Calibri" pitchFamily="34" charset="-120"/>
                        </a:rPr>
                        <a:t>Configure dashboard widgets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31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Export RPT-016 Kirkpatrick report (PDF) and share with the Steering Committee.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07"/>
          <p:cNvSpPr/>
          <p:nvPr/>
        </p:nvSpPr>
        <p:spPr>
          <a:xfrm>
            <a:off x="2513978" y="3291840"/>
            <a:ext cx="3750285" cy="2752344"/>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07">    </p:cNvPr>
          <p:cNvPicPr>
            <a:picLocks noChangeAspect="1"/>
          </p:cNvPicPr>
          <p:nvPr/>
        </p:nvPicPr>
        <p:blipFill>
          <a:blip r:embed="rId1"/>
          <a:stretch>
            <a:fillRect/>
          </a:stretch>
        </p:blipFill>
        <p:spPr>
          <a:xfrm>
            <a:off x="2568842" y="3346704"/>
            <a:ext cx="3640557" cy="2642616"/>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E2E-07 in CortexSkills: its tasks, owners and due dates, and the process card.</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 processes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MP-09 Assessment &amp; Evaluation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MP-10 Reporting &amp; Analytics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MP-20 Quality, Risk &amp; Continuous Improvement</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Feeds into</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E2E-08, E2E-21</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Supported by</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5 · E2E-08 · PARTITION OF E2E-07</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Learning-to-ROI</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Validate ROI and business impact</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Evaluation results available for a theme selected for an ROI study.</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Phillips ROI validated with finance and business impact report published.</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tasks · 12 steps
</a:t>
            </a:r>
            <a:pPr indent="0" marL="0">
              <a:buNone/>
            </a:pPr>
            <a:r>
              <a:rPr lang="en-US" sz="1100" dirty="0">
                <a:solidFill>
                  <a:srgbClr val="3A3A3C"/>
                </a:solidFill>
                <a:latin typeface="Calibri" pitchFamily="34" charset="0"/>
                <a:ea typeface="Calibri" pitchFamily="34" charset="-122"/>
                <a:cs typeface="Calibri" pitchFamily="34" charset="-120"/>
              </a:rPr>
              <a:t>20 days · 3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MP-09 Assessment &amp; Evaluation · </a:t>
            </a:r>
            <a:pPr indent="0" marL="0">
              <a:buNone/>
            </a:pPr>
            <a:r>
              <a:rPr lang="en-US" sz="1000" dirty="0">
                <a:solidFill>
                  <a:srgbClr val="58595B"/>
                </a:solidFill>
                <a:latin typeface="Calibri" pitchFamily="34" charset="0"/>
                <a:ea typeface="Calibri" pitchFamily="34" charset="-122"/>
                <a:cs typeface="Calibri" pitchFamily="34" charset="-120"/>
              </a:rPr>
              <a:t>MP-10 Reporting &amp; Analytics · </a:t>
            </a:r>
            <a:pPr indent="0" marL="0">
              <a:buNone/>
            </a:pPr>
            <a:r>
              <a:rPr lang="en-US" sz="1000" dirty="0">
                <a:solidFill>
                  <a:srgbClr val="58595B"/>
                </a:solidFill>
                <a:latin typeface="Calibri" pitchFamily="34" charset="0"/>
                <a:ea typeface="Calibri" pitchFamily="34" charset="-122"/>
                <a:cs typeface="Calibri" pitchFamily="34" charset="-120"/>
              </a:rPr>
              <a:t>MP-18 Financial &amp; Budget Management · </a:t>
            </a:r>
            <a:pPr indent="0" marL="0">
              <a:buNone/>
            </a:pPr>
            <a:r>
              <a:rPr lang="en-US" sz="1000" dirty="0">
                <a:solidFill>
                  <a:srgbClr val="58595B"/>
                </a:solidFill>
                <a:latin typeface="Calibri" pitchFamily="34" charset="0"/>
                <a:ea typeface="Calibri" pitchFamily="34" charset="-122"/>
                <a:cs typeface="Calibri" pitchFamily="34" charset="-120"/>
              </a:rPr>
              <a:t>MP-32 Learning ROI &amp; Business Impact Measurement</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UFT-08-01
</a:t>
                      </a:r>
                      <a:pPr indent="0" marL="0">
                        <a:buNone/>
                      </a:pPr>
                      <a:r>
                        <a:rPr lang="en-US" sz="1000" b="1" dirty="0">
                          <a:solidFill>
                            <a:srgbClr val="3A3A3C"/>
                          </a:solidFill>
                          <a:latin typeface="Calibri" pitchFamily="34" charset="0"/>
                          <a:ea typeface="Calibri" pitchFamily="34" charset="-122"/>
                          <a:cs typeface="Calibri" pitchFamily="34" charset="-120"/>
                        </a:rPr>
                        <a:t>Select theme for ROI study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MP-32.1 </a:t>
                      </a:r>
                      <a:pPr indent="0" marL="0">
                        <a:buNone/>
                      </a:pPr>
                      <a:r>
                        <a:rPr lang="en-US" sz="1000" dirty="0">
                          <a:solidFill>
                            <a:srgbClr val="58595B"/>
                          </a:solidFill>
                          <a:latin typeface="Calibri" pitchFamily="34" charset="0"/>
                          <a:ea typeface="Calibri" pitchFamily="34" charset="-122"/>
                          <a:cs typeface="Calibri" pitchFamily="34" charset="-120"/>
                        </a:rPr>
                        <a:t>Select theme for ROI study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10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ROI study on theme 'AI triage and clinical decision support' — population: 36 supervisors, 3 sites.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UFT-08-02
</a:t>
                      </a:r>
                      <a:pPr indent="0" marL="0">
                        <a:buNone/>
                      </a:pPr>
                      <a:r>
                        <a:rPr lang="en-US" sz="1000" b="1" dirty="0">
                          <a:solidFill>
                            <a:srgbClr val="3A3A3C"/>
                          </a:solidFill>
                          <a:latin typeface="Calibri" pitchFamily="34" charset="0"/>
                          <a:ea typeface="Calibri" pitchFamily="34" charset="-122"/>
                          <a:cs typeface="Calibri" pitchFamily="34" charset="-120"/>
                        </a:rPr>
                        <a:t>Define business indicators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MP-32.2 </a:t>
                      </a:r>
                      <a:pPr indent="0" marL="0">
                        <a:buNone/>
                      </a:pPr>
                      <a:r>
                        <a:rPr lang="en-US" sz="1000" dirty="0">
                          <a:solidFill>
                            <a:srgbClr val="58595B"/>
                          </a:solidFill>
                          <a:latin typeface="Calibri" pitchFamily="34" charset="0"/>
                          <a:ea typeface="Calibri" pitchFamily="34" charset="-122"/>
                          <a:cs typeface="Calibri" pitchFamily="34" charset="-120"/>
                        </a:rPr>
                        <a:t>Define business indicators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MP-10.1 </a:t>
                      </a:r>
                      <a:pPr indent="0" marL="0">
                        <a:buNone/>
                      </a:pPr>
                      <a:r>
                        <a:rPr lang="en-US" sz="1000" dirty="0">
                          <a:solidFill>
                            <a:srgbClr val="58595B"/>
                          </a:solidFill>
                          <a:latin typeface="Calibri" pitchFamily="34" charset="0"/>
                          <a:ea typeface="Calibri" pitchFamily="34" charset="-122"/>
                          <a:cs typeface="Calibri" pitchFamily="34" charset="-120"/>
                        </a:rPr>
                        <a:t>Define KPI set per audience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Indicators: rework rate, downtime minutes per shift, data re-entry hours.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UFT-08-03
</a:t>
                      </a:r>
                      <a:pPr indent="0" marL="0">
                        <a:buNone/>
                      </a:pPr>
                      <a:r>
                        <a:rPr lang="en-US" sz="1000" b="1" dirty="0">
                          <a:solidFill>
                            <a:srgbClr val="3A3A3C"/>
                          </a:solidFill>
                          <a:latin typeface="Calibri" pitchFamily="34" charset="0"/>
                          <a:ea typeface="Calibri" pitchFamily="34" charset="-122"/>
                          <a:cs typeface="Calibri" pitchFamily="34" charset="-120"/>
                        </a:rPr>
                        <a:t>Collect cost data</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MP-18.3 </a:t>
                      </a:r>
                      <a:pPr indent="0" marL="0">
                        <a:buNone/>
                      </a:pPr>
                      <a:r>
                        <a:rPr lang="en-US" sz="1000" dirty="0">
                          <a:solidFill>
                            <a:srgbClr val="58595B"/>
                          </a:solidFill>
                          <a:latin typeface="Calibri" pitchFamily="34" charset="0"/>
                          <a:ea typeface="Calibri" pitchFamily="34" charset="-122"/>
                          <a:cs typeface="Calibri" pitchFamily="34" charset="-120"/>
                        </a:rPr>
                        <a:t>Record committed and actual costs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MP-18.4 </a:t>
                      </a:r>
                      <a:pPr indent="0" marL="0">
                        <a:buNone/>
                      </a:pPr>
                      <a:r>
                        <a:rPr lang="en-US" sz="1000" dirty="0">
                          <a:solidFill>
                            <a:srgbClr val="58595B"/>
                          </a:solidFill>
                          <a:latin typeface="Calibri" pitchFamily="34" charset="0"/>
                          <a:ea typeface="Calibri" pitchFamily="34" charset="-122"/>
                          <a:cs typeface="Calibri" pitchFamily="34" charset="-120"/>
                        </a:rPr>
                        <a:t>Compare spend against budget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Kawtar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Costs: design 60,000 MAD; delivery 180,000 MAD; participants' time 95,000 MAD.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UFT-08-04
</a:t>
                      </a:r>
                      <a:pPr indent="0" marL="0">
                        <a:buNone/>
                      </a:pPr>
                      <a:r>
                        <a:rPr lang="en-US" sz="1000" b="1" dirty="0">
                          <a:solidFill>
                            <a:srgbClr val="3A3A3C"/>
                          </a:solidFill>
                          <a:latin typeface="Calibri" pitchFamily="34" charset="0"/>
                          <a:ea typeface="Calibri" pitchFamily="34" charset="-122"/>
                          <a:cs typeface="Calibri" pitchFamily="34" charset="-120"/>
                        </a:rPr>
                        <a:t>Isolate training effect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MP-32.3 </a:t>
                      </a:r>
                      <a:pPr indent="0" marL="0">
                        <a:buNone/>
                      </a:pPr>
                      <a:r>
                        <a:rPr lang="en-US" sz="1000" dirty="0">
                          <a:solidFill>
                            <a:srgbClr val="58595B"/>
                          </a:solidFill>
                          <a:latin typeface="Calibri" pitchFamily="34" charset="0"/>
                          <a:ea typeface="Calibri" pitchFamily="34" charset="-122"/>
                          <a:cs typeface="Calibri" pitchFamily="34" charset="-120"/>
                        </a:rPr>
                        <a:t>Isolate training effect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MP-09.6 </a:t>
                      </a:r>
                      <a:pPr indent="0" marL="0">
                        <a:buNone/>
                      </a:pPr>
                      <a:r>
                        <a:rPr lang="en-US" sz="1000" dirty="0">
                          <a:solidFill>
                            <a:srgbClr val="58595B"/>
                          </a:solidFill>
                          <a:latin typeface="Calibri" pitchFamily="34" charset="0"/>
                          <a:ea typeface="Calibri" pitchFamily="34" charset="-122"/>
                          <a:cs typeface="Calibri" pitchFamily="34" charset="-120"/>
                        </a:rPr>
                        <a:t>Compute skill progression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Control group: site B (not trained). Isolated benefit: 410,000 MAD per year.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UFT-08-05
</a:t>
                      </a:r>
                      <a:pPr indent="0" marL="0">
                        <a:buNone/>
                      </a:pPr>
                      <a:r>
                        <a:rPr lang="en-US" sz="1000" b="1" dirty="0">
                          <a:solidFill>
                            <a:srgbClr val="3A3A3C"/>
                          </a:solidFill>
                          <a:latin typeface="Calibri" pitchFamily="34" charset="0"/>
                          <a:ea typeface="Calibri" pitchFamily="34" charset="-122"/>
                          <a:cs typeface="Calibri" pitchFamily="34" charset="-120"/>
                        </a:rPr>
                        <a:t>Compute Phillips ROI</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MP-32.4 </a:t>
                      </a:r>
                      <a:pPr indent="0" marL="0">
                        <a:buNone/>
                      </a:pPr>
                      <a:r>
                        <a:rPr lang="en-US" sz="1000" dirty="0">
                          <a:solidFill>
                            <a:srgbClr val="58595B"/>
                          </a:solidFill>
                          <a:latin typeface="Calibri" pitchFamily="34" charset="0"/>
                          <a:ea typeface="Calibri" pitchFamily="34" charset="-122"/>
                          <a:cs typeface="Calibri" pitchFamily="34" charset="-120"/>
                        </a:rPr>
                        <a:t>Compute Phillips ROI</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22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ROI = (410,000 − 335,000) / 335,000 = 22%; benefit-cost ratio 1.22.</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UFT-08-06
</a:t>
                      </a:r>
                      <a:pPr indent="0" marL="0">
                        <a:buNone/>
                      </a:pPr>
                      <a:r>
                        <a:rPr lang="en-US" sz="1000" b="1" dirty="0">
                          <a:solidFill>
                            <a:srgbClr val="3A3A3C"/>
                          </a:solidFill>
                          <a:latin typeface="Calibri" pitchFamily="34" charset="0"/>
                          <a:ea typeface="Calibri" pitchFamily="34" charset="-122"/>
                          <a:cs typeface="Calibri" pitchFamily="34" charset="-120"/>
                        </a:rPr>
                        <a:t>Review ROI with finance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MP-32.5 </a:t>
                      </a:r>
                      <a:pPr indent="0" marL="0">
                        <a:buNone/>
                      </a:pPr>
                      <a:r>
                        <a:rPr lang="en-US" sz="1000" dirty="0">
                          <a:solidFill>
                            <a:srgbClr val="58595B"/>
                          </a:solidFill>
                          <a:latin typeface="Calibri" pitchFamily="34" charset="0"/>
                          <a:ea typeface="Calibri" pitchFamily="34" charset="-122"/>
                          <a:cs typeface="Calibri" pitchFamily="34" charset="-120"/>
                        </a:rPr>
                        <a:t>Review ROI with finance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Kawtar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25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Finance review: assumptions accepted; downtime valued at 180 MAD per minute.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08"/>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08-01 Select theme for ROI study">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UFT-08-01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5 · E2E-08 · PARTITION OF E2E-07</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Learning-to-ROI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UFT-08-07
</a:t>
                      </a:r>
                      <a:pPr indent="0" marL="0">
                        <a:buNone/>
                      </a:pPr>
                      <a:r>
                        <a:rPr lang="en-US" sz="1000" b="1" dirty="0">
                          <a:solidFill>
                            <a:srgbClr val="3A3A3C"/>
                          </a:solidFill>
                          <a:latin typeface="Calibri" pitchFamily="34" charset="0"/>
                          <a:ea typeface="Calibri" pitchFamily="34" charset="-122"/>
                          <a:cs typeface="Calibri" pitchFamily="34" charset="-120"/>
                        </a:rPr>
                        <a:t>Publish business impact report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MP-32.6 </a:t>
                      </a:r>
                      <a:pPr indent="0" marL="0">
                        <a:buNone/>
                      </a:pPr>
                      <a:r>
                        <a:rPr lang="en-US" sz="1000" dirty="0">
                          <a:solidFill>
                            <a:srgbClr val="58595B"/>
                          </a:solidFill>
                          <a:latin typeface="Calibri" pitchFamily="34" charset="0"/>
                          <a:ea typeface="Calibri" pitchFamily="34" charset="-122"/>
                          <a:cs typeface="Calibri" pitchFamily="34" charset="-120"/>
                        </a:rPr>
                        <a:t>Publish business impact report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MP-10.4 </a:t>
                      </a:r>
                      <a:pPr indent="0" marL="0">
                        <a:buNone/>
                      </a:pPr>
                      <a:r>
                        <a:rPr lang="en-US" sz="1000" dirty="0">
                          <a:solidFill>
                            <a:srgbClr val="58595B"/>
                          </a:solidFill>
                          <a:latin typeface="Calibri" pitchFamily="34" charset="0"/>
                          <a:ea typeface="Calibri" pitchFamily="34" charset="-122"/>
                          <a:cs typeface="Calibri" pitchFamily="34" charset="-120"/>
                        </a:rPr>
                        <a:t>Export report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MP-10.5 </a:t>
                      </a:r>
                      <a:pPr indent="0" marL="0">
                        <a:buNone/>
                      </a:pPr>
                      <a:r>
                        <a:rPr lang="en-US" sz="1000" dirty="0">
                          <a:solidFill>
                            <a:srgbClr val="58595B"/>
                          </a:solidFill>
                          <a:latin typeface="Calibri" pitchFamily="34" charset="0"/>
                          <a:ea typeface="Calibri" pitchFamily="34" charset="-122"/>
                          <a:cs typeface="Calibri" pitchFamily="34" charset="-120"/>
                        </a:rPr>
                        <a:t>Query data via AI Assistant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28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Publish RPT-012 ROI &amp; Business Impact Report to executive leadership.</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08"/>
          <p:cNvSpPr/>
          <p:nvPr/>
        </p:nvSpPr>
        <p:spPr>
          <a:xfrm>
            <a:off x="1877825" y="2368296"/>
            <a:ext cx="5022590" cy="3675888"/>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08">    </p:cNvPr>
          <p:cNvPicPr>
            <a:picLocks noChangeAspect="1"/>
          </p:cNvPicPr>
          <p:nvPr/>
        </p:nvPicPr>
        <p:blipFill>
          <a:blip r:embed="rId1"/>
          <a:stretch>
            <a:fillRect/>
          </a:stretch>
        </p:blipFill>
        <p:spPr>
          <a:xfrm>
            <a:off x="1932689" y="2423160"/>
            <a:ext cx="4912862" cy="3566160"/>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E2E-08 in CortexSkills: its tasks, owners and due dates, and the process card.</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 processes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MP-09 Assessment &amp; Evaluation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MP-10 Reporting &amp; Analytics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MP-18 Financial &amp; Budget Management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MP-32 Learning ROI &amp; Business Impact Measurement</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Feeds into</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E2E-21</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Supported by</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E2E-16</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5 · E2E-09 · ROOT / MASTER CHAIN</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Compliance-to-Certification</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Ensure compliant workforce with valid certifications</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New regulatory requirement or certification nearing expiry.</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Compliant workforce with valid certifications and an audit extract available.</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tasks · 11 steps
</a:t>
            </a:r>
            <a:pPr indent="0" marL="0">
              <a:buNone/>
            </a:pPr>
            <a:r>
              <a:rPr lang="en-US" sz="1100" dirty="0">
                <a:solidFill>
                  <a:srgbClr val="3A3A3C"/>
                </a:solidFill>
                <a:latin typeface="Calibri" pitchFamily="34" charset="0"/>
                <a:ea typeface="Calibri" pitchFamily="34" charset="-122"/>
                <a:cs typeface="Calibri" pitchFamily="34" charset="-120"/>
              </a:rPr>
              <a:t>20 days · 3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MP-14 Compliance &amp; Certification Management · </a:t>
            </a:r>
            <a:pPr indent="0" marL="0">
              <a:buNone/>
            </a:pPr>
            <a:r>
              <a:rPr lang="en-US" sz="1000" dirty="0">
                <a:solidFill>
                  <a:srgbClr val="58595B"/>
                </a:solidFill>
                <a:latin typeface="Calibri" pitchFamily="34" charset="0"/>
                <a:ea typeface="Calibri" pitchFamily="34" charset="-122"/>
                <a:cs typeface="Calibri" pitchFamily="34" charset="-120"/>
              </a:rPr>
              <a:t>MP-07 Learning Delivery &amp; Implementation · </a:t>
            </a:r>
            <a:pPr indent="0" marL="0">
              <a:buNone/>
            </a:pPr>
            <a:r>
              <a:rPr lang="en-US" sz="1000" dirty="0">
                <a:solidFill>
                  <a:srgbClr val="58595B"/>
                </a:solidFill>
                <a:latin typeface="Calibri" pitchFamily="34" charset="0"/>
                <a:ea typeface="Calibri" pitchFamily="34" charset="-122"/>
                <a:cs typeface="Calibri" pitchFamily="34" charset="-120"/>
              </a:rPr>
              <a:t>MP-09 Assessment &amp; Evaluation · </a:t>
            </a:r>
            <a:pPr indent="0" marL="0">
              <a:buNone/>
            </a:pPr>
            <a:r>
              <a:rPr lang="en-US" sz="1000" dirty="0">
                <a:solidFill>
                  <a:srgbClr val="58595B"/>
                </a:solidFill>
                <a:latin typeface="Calibri" pitchFamily="34" charset="0"/>
                <a:ea typeface="Calibri" pitchFamily="34" charset="-122"/>
                <a:cs typeface="Calibri" pitchFamily="34" charset="-120"/>
              </a:rPr>
              <a:t>MP-10 Reporting &amp; Analytics</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UFT-09-01
</a:t>
                      </a:r>
                      <a:pPr indent="0" marL="0">
                        <a:buNone/>
                      </a:pPr>
                      <a:r>
                        <a:rPr lang="en-US" sz="1000" b="1" dirty="0">
                          <a:solidFill>
                            <a:srgbClr val="3A3A3C"/>
                          </a:solidFill>
                          <a:latin typeface="Calibri" pitchFamily="34" charset="0"/>
                          <a:ea typeface="Calibri" pitchFamily="34" charset="-122"/>
                          <a:cs typeface="Calibri" pitchFamily="34" charset="-120"/>
                        </a:rPr>
                        <a:t>Register regulatory requirement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MP-14.1 </a:t>
                      </a:r>
                      <a:pPr indent="0" marL="0">
                        <a:buNone/>
                      </a:pPr>
                      <a:r>
                        <a:rPr lang="en-US" sz="1000" dirty="0">
                          <a:solidFill>
                            <a:srgbClr val="58595B"/>
                          </a:solidFill>
                          <a:latin typeface="Calibri" pitchFamily="34" charset="0"/>
                          <a:ea typeface="Calibri" pitchFamily="34" charset="-122"/>
                          <a:cs typeface="Calibri" pitchFamily="34" charset="-120"/>
                        </a:rPr>
                        <a:t>Register regulatory requirement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10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Requirement 'ISO 7101 awareness', every 24 months, source: ISO 7101 clause on competence.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UFT-09-02
</a:t>
                      </a:r>
                      <a:pPr indent="0" marL="0">
                        <a:buNone/>
                      </a:pPr>
                      <a:r>
                        <a:rPr lang="en-US" sz="1000" b="1" dirty="0">
                          <a:solidFill>
                            <a:srgbClr val="3A3A3C"/>
                          </a:solidFill>
                          <a:latin typeface="Calibri" pitchFamily="34" charset="0"/>
                          <a:ea typeface="Calibri" pitchFamily="34" charset="-122"/>
                          <a:cs typeface="Calibri" pitchFamily="34" charset="-120"/>
                        </a:rPr>
                        <a:t>Assign mandatory training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MP-14.2 </a:t>
                      </a:r>
                      <a:pPr indent="0" marL="0">
                        <a:buNone/>
                      </a:pPr>
                      <a:r>
                        <a:rPr lang="en-US" sz="1000" dirty="0">
                          <a:solidFill>
                            <a:srgbClr val="58595B"/>
                          </a:solidFill>
                          <a:latin typeface="Calibri" pitchFamily="34" charset="0"/>
                          <a:ea typeface="Calibri" pitchFamily="34" charset="-122"/>
                          <a:cs typeface="Calibri" pitchFamily="34" charset="-120"/>
                        </a:rPr>
                        <a:t>Assign mandatory training by position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Assign to positions: Clinical Care &amp; Nursing operator, Clinical Care &amp; Nursing supervisor, quality inspector.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UFT-09-03
</a:t>
                      </a:r>
                      <a:pPr indent="0" marL="0">
                        <a:buNone/>
                      </a:pPr>
                      <a:r>
                        <a:rPr lang="en-US" sz="1000" b="1" dirty="0">
                          <a:solidFill>
                            <a:srgbClr val="3A3A3C"/>
                          </a:solidFill>
                          <a:latin typeface="Calibri" pitchFamily="34" charset="0"/>
                          <a:ea typeface="Calibri" pitchFamily="34" charset="-122"/>
                          <a:cs typeface="Calibri" pitchFamily="34" charset="-120"/>
                        </a:rPr>
                        <a:t>Deliver mandatory sessions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MP-07.3 </a:t>
                      </a:r>
                      <a:pPr indent="0" marL="0">
                        <a:buNone/>
                      </a:pPr>
                      <a:r>
                        <a:rPr lang="en-US" sz="1000" dirty="0">
                          <a:solidFill>
                            <a:srgbClr val="58595B"/>
                          </a:solidFill>
                          <a:latin typeface="Calibri" pitchFamily="34" charset="0"/>
                          <a:ea typeface="Calibri" pitchFamily="34" charset="-122"/>
                          <a:cs typeface="Calibri" pitchFamily="34" charset="-120"/>
                        </a:rPr>
                        <a:t>Enroll learners into session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MP-07.5 </a:t>
                      </a:r>
                      <a:pPr indent="0" marL="0">
                        <a:buNone/>
                      </a:pPr>
                      <a:r>
                        <a:rPr lang="en-US" sz="1000" dirty="0">
                          <a:solidFill>
                            <a:srgbClr val="58595B"/>
                          </a:solidFill>
                          <a:latin typeface="Calibri" pitchFamily="34" charset="0"/>
                          <a:ea typeface="Calibri" pitchFamily="34" charset="-122"/>
                          <a:cs typeface="Calibri" pitchFamily="34" charset="-120"/>
                        </a:rPr>
                        <a:t>Record attendance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Enroll 24 employees in session 'ISO 7101 awareness'; attendance recorded.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UFT-09-04
</a:t>
                      </a:r>
                      <a:pPr indent="0" marL="0">
                        <a:buNone/>
                      </a:pPr>
                      <a:r>
                        <a:rPr lang="en-US" sz="1000" b="1" dirty="0">
                          <a:solidFill>
                            <a:srgbClr val="3A3A3C"/>
                          </a:solidFill>
                          <a:latin typeface="Calibri" pitchFamily="34" charset="0"/>
                          <a:ea typeface="Calibri" pitchFamily="34" charset="-122"/>
                          <a:cs typeface="Calibri" pitchFamily="34" charset="-120"/>
                        </a:rPr>
                        <a:t>Assess and certify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MP-09.4 </a:t>
                      </a:r>
                      <a:pPr indent="0" marL="0">
                        <a:buNone/>
                      </a:pPr>
                      <a:r>
                        <a:rPr lang="en-US" sz="1000" dirty="0">
                          <a:solidFill>
                            <a:srgbClr val="58595B"/>
                          </a:solidFill>
                          <a:latin typeface="Calibri" pitchFamily="34" charset="0"/>
                          <a:ea typeface="Calibri" pitchFamily="34" charset="-122"/>
                          <a:cs typeface="Calibri" pitchFamily="34" charset="-120"/>
                        </a:rPr>
                        <a:t>Record learning results (Level 2)</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MP-14.4 </a:t>
                      </a:r>
                      <a:pPr indent="0" marL="0">
                        <a:buNone/>
                      </a:pPr>
                      <a:r>
                        <a:rPr lang="en-US" sz="1000" dirty="0">
                          <a:solidFill>
                            <a:srgbClr val="58595B"/>
                          </a:solidFill>
                          <a:latin typeface="Calibri" pitchFamily="34" charset="0"/>
                          <a:ea typeface="Calibri" pitchFamily="34" charset="-122"/>
                          <a:cs typeface="Calibri" pitchFamily="34" charset="-120"/>
                        </a:rPr>
                        <a:t>Issue certificate on completion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Zineb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Result 86%; certificate 'ISO 7101 awareness' issued, valid until 2026+2.</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UFT-09-05
</a:t>
                      </a:r>
                      <a:pPr indent="0" marL="0">
                        <a:buNone/>
                      </a:pPr>
                      <a:r>
                        <a:rPr lang="en-US" sz="1000" b="1" dirty="0">
                          <a:solidFill>
                            <a:srgbClr val="3A3A3C"/>
                          </a:solidFill>
                          <a:latin typeface="Calibri" pitchFamily="34" charset="0"/>
                          <a:ea typeface="Calibri" pitchFamily="34" charset="-122"/>
                          <a:cs typeface="Calibri" pitchFamily="34" charset="-120"/>
                        </a:rPr>
                        <a:t>Compute certification validity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MP-14.3 </a:t>
                      </a:r>
                      <a:pPr indent="0" marL="0">
                        <a:buNone/>
                      </a:pPr>
                      <a:r>
                        <a:rPr lang="en-US" sz="1000" dirty="0">
                          <a:solidFill>
                            <a:srgbClr val="58595B"/>
                          </a:solidFill>
                          <a:latin typeface="Calibri" pitchFamily="34" charset="0"/>
                          <a:ea typeface="Calibri" pitchFamily="34" charset="-122"/>
                          <a:cs typeface="Calibri" pitchFamily="34" charset="-120"/>
                        </a:rPr>
                        <a:t>Compute certification validity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22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Validity: 212 valid, 9 expire within 60 days, 3 expired.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UFT-09-06
</a:t>
                      </a:r>
                      <a:pPr indent="0" marL="0">
                        <a:buNone/>
                      </a:pPr>
                      <a:r>
                        <a:rPr lang="en-US" sz="1000" b="1" dirty="0">
                          <a:solidFill>
                            <a:srgbClr val="3A3A3C"/>
                          </a:solidFill>
                          <a:latin typeface="Calibri" pitchFamily="34" charset="0"/>
                          <a:ea typeface="Calibri" pitchFamily="34" charset="-122"/>
                          <a:cs typeface="Calibri" pitchFamily="34" charset="-120"/>
                        </a:rPr>
                        <a:t>Manage renewals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MP-14.5 </a:t>
                      </a:r>
                      <a:pPr indent="0" marL="0">
                        <a:buNone/>
                      </a:pPr>
                      <a:r>
                        <a:rPr lang="en-US" sz="1000" dirty="0">
                          <a:solidFill>
                            <a:srgbClr val="58595B"/>
                          </a:solidFill>
                          <a:latin typeface="Calibri" pitchFamily="34" charset="0"/>
                          <a:ea typeface="Calibri" pitchFamily="34" charset="-122"/>
                          <a:cs typeface="Calibri" pitchFamily="34" charset="-120"/>
                        </a:rPr>
                        <a:t>Launch renewal enrollment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MP-14.6 </a:t>
                      </a:r>
                      <a:pPr indent="0" marL="0">
                        <a:buNone/>
                      </a:pPr>
                      <a:r>
                        <a:rPr lang="en-US" sz="1000" dirty="0">
                          <a:solidFill>
                            <a:srgbClr val="58595B"/>
                          </a:solidFill>
                          <a:latin typeface="Calibri" pitchFamily="34" charset="0"/>
                          <a:ea typeface="Calibri" pitchFamily="34" charset="-122"/>
                          <a:cs typeface="Calibri" pitchFamily="34" charset="-120"/>
                        </a:rPr>
                        <a:t>Confirm renewal completion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25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Launch renewal for the 12 employees; confirm 10 completions, 2 rescheduled.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09"/>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09-02 Assign mandatory training">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UFT-09-02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5 · E2E-09 · ROOT / MASTER CHAIN</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Compliance-to-Certification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UFT-09-07
</a:t>
                      </a:r>
                      <a:pPr indent="0" marL="0">
                        <a:buNone/>
                      </a:pPr>
                      <a:r>
                        <a:rPr lang="en-US" sz="1000" b="1" dirty="0">
                          <a:solidFill>
                            <a:srgbClr val="3A3A3C"/>
                          </a:solidFill>
                          <a:latin typeface="Calibri" pitchFamily="34" charset="0"/>
                          <a:ea typeface="Calibri" pitchFamily="34" charset="-122"/>
                          <a:cs typeface="Calibri" pitchFamily="34" charset="-120"/>
                        </a:rPr>
                        <a:t>Produce compliance audit extract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MP-14.7 </a:t>
                      </a:r>
                      <a:pPr indent="0" marL="0">
                        <a:buNone/>
                      </a:pPr>
                      <a:r>
                        <a:rPr lang="en-US" sz="1000" dirty="0">
                          <a:solidFill>
                            <a:srgbClr val="58595B"/>
                          </a:solidFill>
                          <a:latin typeface="Calibri" pitchFamily="34" charset="0"/>
                          <a:ea typeface="Calibri" pitchFamily="34" charset="-122"/>
                          <a:cs typeface="Calibri" pitchFamily="34" charset="-120"/>
                        </a:rPr>
                        <a:t>Produce compliance audit extract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MP-10.4 </a:t>
                      </a:r>
                      <a:pPr indent="0" marL="0">
                        <a:buNone/>
                      </a:pPr>
                      <a:r>
                        <a:rPr lang="en-US" sz="1000" dirty="0">
                          <a:solidFill>
                            <a:srgbClr val="58595B"/>
                          </a:solidFill>
                          <a:latin typeface="Calibri" pitchFamily="34" charset="0"/>
                          <a:ea typeface="Calibri" pitchFamily="34" charset="-122"/>
                          <a:cs typeface="Calibri" pitchFamily="34" charset="-120"/>
                        </a:rPr>
                        <a:t>Export report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28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Export compliance audit extract for ISO 7101 (XLSX) for the external auditor.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09"/>
          <p:cNvSpPr/>
          <p:nvPr/>
        </p:nvSpPr>
        <p:spPr>
          <a:xfrm>
            <a:off x="1770750" y="2212848"/>
            <a:ext cx="5236741" cy="3831336"/>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09">    </p:cNvPr>
          <p:cNvPicPr>
            <a:picLocks noChangeAspect="1"/>
          </p:cNvPicPr>
          <p:nvPr/>
        </p:nvPicPr>
        <p:blipFill>
          <a:blip r:embed="rId1"/>
          <a:stretch>
            <a:fillRect/>
          </a:stretch>
        </p:blipFill>
        <p:spPr>
          <a:xfrm>
            <a:off x="1825614" y="2267712"/>
            <a:ext cx="5127013" cy="3721608"/>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E2E-09 in CortexSkills: its tasks, owners and due dates, and the process card.</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 processes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MP-14 Compliance &amp; Certification Management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MP-07 Learning Delivery &amp; Implementation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MP-09 Assessment &amp; Evaluation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MP-10 Reporting &amp; Analytics</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Feeds into</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E2E-14</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Supported by</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5 · HCPR-E2E-01 · VERTICAL</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Healthcare Providers Compliance-to-Certification Readiness</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Keep Healthcare Providers regulated roles certified against ISO 7101.</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New ISO 7101 requirement or certification expiry.</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Sector compliance extract issued with every critical role certified.</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4 tasks · 8 steps
</a:t>
            </a:r>
            <a:pPr indent="0" marL="0">
              <a:buNone/>
            </a:pPr>
            <a:r>
              <a:rPr lang="en-US" sz="1100" dirty="0">
                <a:solidFill>
                  <a:srgbClr val="3A3A3C"/>
                </a:solidFill>
                <a:latin typeface="Calibri" pitchFamily="34" charset="0"/>
                <a:ea typeface="Calibri" pitchFamily="34" charset="-122"/>
                <a:cs typeface="Calibri" pitchFamily="34" charset="-120"/>
              </a:rPr>
              <a:t>11 days · 2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MP-01 Strategy &amp; Governance Alignment · </a:t>
            </a:r>
            <a:pPr indent="0" marL="0">
              <a:buNone/>
            </a:pPr>
            <a:r>
              <a:rPr lang="en-US" sz="1000" dirty="0">
                <a:solidFill>
                  <a:srgbClr val="58595B"/>
                </a:solidFill>
                <a:latin typeface="Calibri" pitchFamily="34" charset="0"/>
                <a:ea typeface="Calibri" pitchFamily="34" charset="-122"/>
                <a:cs typeface="Calibri" pitchFamily="34" charset="-120"/>
              </a:rPr>
              <a:t>MP-02 Skills &amp; Competency Management · </a:t>
            </a:r>
            <a:pPr indent="0" marL="0">
              <a:buNone/>
            </a:pPr>
            <a:r>
              <a:rPr lang="en-US" sz="1000" dirty="0">
                <a:solidFill>
                  <a:srgbClr val="58595B"/>
                </a:solidFill>
                <a:latin typeface="Calibri" pitchFamily="34" charset="0"/>
                <a:ea typeface="Calibri" pitchFamily="34" charset="-122"/>
                <a:cs typeface="Calibri" pitchFamily="34" charset="-120"/>
              </a:rPr>
              <a:t>MP-14 Compliance &amp; Certification Management · </a:t>
            </a:r>
            <a:pPr indent="0" marL="0">
              <a:buNone/>
            </a:pPr>
            <a:r>
              <a:rPr lang="en-US" sz="1000" dirty="0">
                <a:solidFill>
                  <a:srgbClr val="58595B"/>
                </a:solidFill>
                <a:latin typeface="Calibri" pitchFamily="34" charset="0"/>
                <a:ea typeface="Calibri" pitchFamily="34" charset="-122"/>
                <a:cs typeface="Calibri" pitchFamily="34" charset="-120"/>
              </a:rPr>
              <a:t>HCPR-MP-01 HCPR-MP-01</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UFT-HCPR-E1-01
</a:t>
                      </a:r>
                      <a:pPr indent="0" marL="0">
                        <a:buNone/>
                      </a:pPr>
                      <a:r>
                        <a:rPr lang="en-US" sz="1000" b="1" dirty="0">
                          <a:solidFill>
                            <a:srgbClr val="3A3A3C"/>
                          </a:solidFill>
                          <a:latin typeface="Calibri" pitchFamily="34" charset="0"/>
                          <a:ea typeface="Calibri" pitchFamily="34" charset="-122"/>
                          <a:cs typeface="Calibri" pitchFamily="34" charset="-120"/>
                        </a:rPr>
                        <a:t>Register ISO 7101 obligations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MP-01.1 </a:t>
                      </a:r>
                      <a:pPr indent="0" marL="0">
                        <a:buNone/>
                      </a:pPr>
                      <a:r>
                        <a:rPr lang="en-US" sz="1000" dirty="0">
                          <a:solidFill>
                            <a:srgbClr val="58595B"/>
                          </a:solidFill>
                          <a:latin typeface="Calibri" pitchFamily="34" charset="0"/>
                          <a:ea typeface="Calibri" pitchFamily="34" charset="-122"/>
                          <a:cs typeface="Calibri" pitchFamily="34" charset="-120"/>
                        </a:rPr>
                        <a:t>Record corporate strategic objectives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MP-14.1 </a:t>
                      </a:r>
                      <a:pPr indent="0" marL="0">
                        <a:buNone/>
                      </a:pPr>
                      <a:r>
                        <a:rPr lang="en-US" sz="1000" dirty="0">
                          <a:solidFill>
                            <a:srgbClr val="58595B"/>
                          </a:solidFill>
                          <a:latin typeface="Calibri" pitchFamily="34" charset="0"/>
                          <a:ea typeface="Calibri" pitchFamily="34" charset="-122"/>
                          <a:cs typeface="Calibri" pitchFamily="34" charset="-120"/>
                        </a:rPr>
                        <a:t>Register regulatory requirement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10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Obligation 'ISO 7101 training', every 12 months, owner Compliance Officer.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UFT-HCPR-E1-02
</a:t>
                      </a:r>
                      <a:pPr indent="0" marL="0">
                        <a:buNone/>
                      </a:pPr>
                      <a:r>
                        <a:rPr lang="en-US" sz="1000" b="1" dirty="0">
                          <a:solidFill>
                            <a:srgbClr val="3A3A3C"/>
                          </a:solidFill>
                          <a:latin typeface="Calibri" pitchFamily="34" charset="0"/>
                          <a:ea typeface="Calibri" pitchFamily="34" charset="-122"/>
                          <a:cs typeface="Calibri" pitchFamily="34" charset="-120"/>
                        </a:rPr>
                        <a:t>Link obligations to positions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MP-01.2 </a:t>
                      </a:r>
                      <a:pPr indent="0" marL="0">
                        <a:buNone/>
                      </a:pPr>
                      <a:r>
                        <a:rPr lang="en-US" sz="1000" dirty="0">
                          <a:solidFill>
                            <a:srgbClr val="58595B"/>
                          </a:solidFill>
                          <a:latin typeface="Calibri" pitchFamily="34" charset="0"/>
                          <a:ea typeface="Calibri" pitchFamily="34" charset="-122"/>
                          <a:cs typeface="Calibri" pitchFamily="34" charset="-120"/>
                        </a:rPr>
                        <a:t>Link objectives to functions and sites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MP-14.2 </a:t>
                      </a:r>
                      <a:pPr indent="0" marL="0">
                        <a:buNone/>
                      </a:pPr>
                      <a:r>
                        <a:rPr lang="en-US" sz="1000" dirty="0">
                          <a:solidFill>
                            <a:srgbClr val="58595B"/>
                          </a:solidFill>
                          <a:latin typeface="Calibri" pitchFamily="34" charset="0"/>
                          <a:ea typeface="Calibri" pitchFamily="34" charset="-122"/>
                          <a:cs typeface="Calibri" pitchFamily="34" charset="-120"/>
                        </a:rPr>
                        <a:t>Assign mandatory training by position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Linked to 5 Clinical Care &amp; Nursing positions (38 employees).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UFT-HCPR-E1-03
</a:t>
                      </a:r>
                      <a:pPr indent="0" marL="0">
                        <a:buNone/>
                      </a:pPr>
                      <a:r>
                        <a:rPr lang="en-US" sz="1000" b="1" dirty="0">
                          <a:solidFill>
                            <a:srgbClr val="3A3A3C"/>
                          </a:solidFill>
                          <a:latin typeface="Calibri" pitchFamily="34" charset="0"/>
                          <a:ea typeface="Calibri" pitchFamily="34" charset="-122"/>
                          <a:cs typeface="Calibri" pitchFamily="34" charset="-120"/>
                        </a:rPr>
                        <a:t>Track certification validity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MP-02.1 </a:t>
                      </a:r>
                      <a:pPr indent="0" marL="0">
                        <a:buNone/>
                      </a:pPr>
                      <a:r>
                        <a:rPr lang="en-US" sz="1000" dirty="0">
                          <a:solidFill>
                            <a:srgbClr val="58595B"/>
                          </a:solidFill>
                          <a:latin typeface="Calibri" pitchFamily="34" charset="0"/>
                          <a:ea typeface="Calibri" pitchFamily="34" charset="-122"/>
                          <a:cs typeface="Calibri" pitchFamily="34" charset="-120"/>
                        </a:rPr>
                        <a:t>Define competency families and levels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MP-14.3 </a:t>
                      </a:r>
                      <a:pPr indent="0" marL="0">
                        <a:buNone/>
                      </a:pPr>
                      <a:r>
                        <a:rPr lang="en-US" sz="1000" dirty="0">
                          <a:solidFill>
                            <a:srgbClr val="58595B"/>
                          </a:solidFill>
                          <a:latin typeface="Calibri" pitchFamily="34" charset="0"/>
                          <a:ea typeface="Calibri" pitchFamily="34" charset="-122"/>
                          <a:cs typeface="Calibri" pitchFamily="34" charset="-120"/>
                        </a:rPr>
                        <a:t>Compute certification validity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Validity: 33 valid, 5 expire within 60 days.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UFT-HCPR-E1-04
</a:t>
                      </a:r>
                      <a:pPr indent="0" marL="0">
                        <a:buNone/>
                      </a:pPr>
                      <a:r>
                        <a:rPr lang="en-US" sz="1000" b="1" dirty="0">
                          <a:solidFill>
                            <a:srgbClr val="3A3A3C"/>
                          </a:solidFill>
                          <a:latin typeface="Calibri" pitchFamily="34" charset="0"/>
                          <a:ea typeface="Calibri" pitchFamily="34" charset="-122"/>
                          <a:cs typeface="Calibri" pitchFamily="34" charset="-120"/>
                        </a:rPr>
                        <a:t>Issue sector compliance extract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MP-02.2 </a:t>
                      </a:r>
                      <a:pPr indent="0" marL="0">
                        <a:buNone/>
                      </a:pPr>
                      <a:r>
                        <a:rPr lang="en-US" sz="1000" dirty="0">
                          <a:solidFill>
                            <a:srgbClr val="58595B"/>
                          </a:solidFill>
                          <a:latin typeface="Calibri" pitchFamily="34" charset="0"/>
                          <a:ea typeface="Calibri" pitchFamily="34" charset="-122"/>
                          <a:cs typeface="Calibri" pitchFamily="34" charset="-120"/>
                        </a:rPr>
                        <a:t>Set target levels per position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MP-14.7 </a:t>
                      </a:r>
                      <a:pPr indent="0" marL="0">
                        <a:buNone/>
                      </a:pPr>
                      <a:r>
                        <a:rPr lang="en-US" sz="1000" dirty="0">
                          <a:solidFill>
                            <a:srgbClr val="58595B"/>
                          </a:solidFill>
                          <a:latin typeface="Calibri" pitchFamily="34" charset="0"/>
                          <a:ea typeface="Calibri" pitchFamily="34" charset="-122"/>
                          <a:cs typeface="Calibri" pitchFamily="34" charset="-120"/>
                        </a:rPr>
                        <a:t>Produce compliance audit extract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Aug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Extract issued for the ISO 7101 audit on 15 October.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HCPR-E2E-01"/>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HCPR-E1-01 Register ISO 7101 obligation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UFT-HCPR-E1-01 opened in CortexSkills: what to enter, its steps and its result.</a:t>
            </a:r>
            <a:endParaRPr lang="en-US" sz="1000" dirty="0"/>
          </a:p>
        </p:txBody>
      </p:sp>
      <p:sp>
        <p:nvSpPr>
          <p:cNvPr id="17"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2" name=""/>
        <p:cNvGrpSpPr/>
        <p:nvPr/>
      </p:nvGrpSpPr>
      <p:grpSpPr>
        <a:xfrm>
          <a:off x="0" y="0"/>
          <a:ext cx="0" cy="0"/>
          <a:chOff x="0" y="0"/>
          <a:chExt cx="0" cy="0"/>
        </a:xfrm>
      </p:grpSpPr>
      <p:sp>
        <p:nvSpPr>
          <p:cNvPr id="3" name="Text 0"/>
          <p:cNvSpPr txBox="1"/>
          <p:nvPr/>
        </p:nvSpPr>
        <p:spPr>
          <a:xfrm>
            <a:off x="457200" y="914400"/>
            <a:ext cx="2743200" cy="1280160"/>
          </a:xfrm>
          <a:prstGeom prst="rect">
            <a:avLst/>
          </a:prstGeom>
          <a:noFill/>
          <a:ln/>
        </p:spPr>
        <p:txBody>
          <a:bodyPr wrap="square" lIns="0" tIns="0" rIns="0" bIns="0" rtlCol="0" anchor="ctr"/>
          <a:lstStyle/>
          <a:p>
            <a:pPr indent="0" marL="0">
              <a:buNone/>
            </a:pPr>
            <a:r>
              <a:rPr lang="en-US" sz="8000" b="1" dirty="0">
                <a:solidFill>
                  <a:srgbClr val="F8931D"/>
                </a:solidFill>
                <a:latin typeface="Cambria" pitchFamily="34" charset="0"/>
                <a:ea typeface="Cambria" pitchFamily="34" charset="-122"/>
                <a:cs typeface="Cambria" pitchFamily="34" charset="-120"/>
              </a:rPr>
              <a:t>06</a:t>
            </a:r>
            <a:endParaRPr lang="en-US" sz="8000" dirty="0"/>
          </a:p>
        </p:txBody>
      </p:sp>
      <p:sp>
        <p:nvSpPr>
          <p:cNvPr id="4" name="Text 1"/>
          <p:cNvSpPr txBox="1"/>
          <p:nvPr/>
        </p:nvSpPr>
        <p:spPr>
          <a:xfrm>
            <a:off x="457200" y="2331720"/>
            <a:ext cx="5486400" cy="320040"/>
          </a:xfrm>
          <a:prstGeom prst="rect">
            <a:avLst/>
          </a:prstGeom>
          <a:noFill/>
          <a:ln/>
        </p:spPr>
        <p:txBody>
          <a:bodyPr wrap="square" lIns="0" tIns="0" rIns="0" bIns="0" rtlCol="0" anchor="ctr"/>
          <a:lstStyle/>
          <a:p>
            <a:pPr indent="0" marL="0">
              <a:buNone/>
            </a:pPr>
            <a:r>
              <a:rPr lang="en-US" sz="1300" b="1" spc="300" kern="0" dirty="0">
                <a:solidFill>
                  <a:srgbClr val="F8931D"/>
                </a:solidFill>
                <a:latin typeface="Calibri" pitchFamily="34" charset="0"/>
                <a:ea typeface="Calibri" pitchFamily="34" charset="-122"/>
                <a:cs typeface="Calibri" pitchFamily="34" charset="-120"/>
              </a:rPr>
              <a:t>PHASE 6</a:t>
            </a:r>
            <a:endParaRPr lang="en-US" sz="1300" dirty="0"/>
          </a:p>
        </p:txBody>
      </p:sp>
      <p:sp>
        <p:nvSpPr>
          <p:cNvPr id="5" name="Text 2"/>
          <p:cNvSpPr txBox="1"/>
          <p:nvPr/>
        </p:nvSpPr>
        <p:spPr>
          <a:xfrm>
            <a:off x="457200" y="2697480"/>
            <a:ext cx="5669280" cy="13716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Talent, knowledge &amp; continuous improvement</a:t>
            </a:r>
            <a:endParaRPr lang="en-US" sz="3600" dirty="0"/>
          </a:p>
        </p:txBody>
      </p:sp>
      <p:sp>
        <p:nvSpPr>
          <p:cNvPr id="6" name="Text 3"/>
          <p:cNvSpPr txBox="1"/>
          <p:nvPr/>
        </p:nvSpPr>
        <p:spPr>
          <a:xfrm>
            <a:off x="457200" y="4206240"/>
            <a:ext cx="5669280" cy="1097280"/>
          </a:xfrm>
          <a:prstGeom prst="rect">
            <a:avLst/>
          </a:prstGeom>
          <a:noFill/>
          <a:ln/>
        </p:spPr>
        <p:txBody>
          <a:bodyPr wrap="square" lIns="0" tIns="0" rIns="0" bIns="0" rtlCol="0" anchor="t"/>
          <a:lstStyle/>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4 processes · 30 tasks · 51 steps</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5 Sept 2026 – 28 Sept 2026</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Closed by G6 — Closure &amp; continuous improvement</a:t>
            </a:r>
            <a:endParaRPr lang="en-US" sz="1500" dirty="0"/>
          </a:p>
        </p:txBody>
      </p:sp>
      <p:sp>
        <p:nvSpPr>
          <p:cNvPr id="7" name="Text 4"/>
          <p:cNvSpPr txBox="1"/>
          <p:nvPr/>
        </p:nvSpPr>
        <p:spPr>
          <a:xfrm>
            <a:off x="6675120" y="1097280"/>
            <a:ext cx="5029200" cy="4754880"/>
          </a:xfrm>
          <a:prstGeom prst="rect">
            <a:avLst/>
          </a:prstGeom>
          <a:noFill/>
          <a:ln/>
        </p:spPr>
        <p:txBody>
          <a:bodyPr wrap="square" lIns="0" tIns="0" rIns="0" bIns="0" rtlCol="0" anchor="ctr"/>
          <a:lstStyle/>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E2E-10   Talent-to-Mobility</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E2E-11   Onboarding-to-Productivity</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E2E-12   Knowledge-Capture-to-Transfer</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E2E-31   Engagement-to-Roadmap</a:t>
            </a:r>
            <a:endParaRPr lang="en-US" sz="1500" dirty="0"/>
          </a:p>
        </p:txBody>
      </p:sp>
      <p:sp>
        <p:nvSpPr>
          <p:cNvPr id="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DBDBF"/>
                </a:solidFill>
                <a:latin typeface="Calibri"/>
                <a:ea typeface="Calibri"/>
                <a:cs typeface="Calibr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6 · E2E-10 · ROOT / MASTER CHAIN</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Talent-to-Mobility</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Enable internal mobility and career progression</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Internal opening published or annual career review.</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Internal move decided with a reskilling plan assigned.</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8 tasks · 18 steps
</a:t>
            </a:r>
            <a:pPr indent="0" marL="0">
              <a:buNone/>
            </a:pPr>
            <a:r>
              <a:rPr lang="en-US" sz="1100" dirty="0">
                <a:solidFill>
                  <a:srgbClr val="3A3A3C"/>
                </a:solidFill>
                <a:latin typeface="Calibri" pitchFamily="34" charset="0"/>
                <a:ea typeface="Calibri" pitchFamily="34" charset="-122"/>
                <a:cs typeface="Calibri" pitchFamily="34" charset="-120"/>
              </a:rPr>
              <a:t>23 days · 4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MP-13 Talent &amp; Career Development · </a:t>
            </a:r>
            <a:pPr indent="0" marL="0">
              <a:buNone/>
            </a:pPr>
            <a:r>
              <a:rPr lang="en-US" sz="1000" dirty="0">
                <a:solidFill>
                  <a:srgbClr val="58595B"/>
                </a:solidFill>
                <a:latin typeface="Calibri" pitchFamily="34" charset="0"/>
                <a:ea typeface="Calibri" pitchFamily="34" charset="-122"/>
                <a:cs typeface="Calibri" pitchFamily="34" charset="-120"/>
              </a:rPr>
              <a:t>MP-31 Skills-Based Talent Marketplace &amp; Internal Mobility · </a:t>
            </a:r>
            <a:pPr indent="0" marL="0">
              <a:buNone/>
            </a:pPr>
            <a:r>
              <a:rPr lang="en-US" sz="1000" dirty="0">
                <a:solidFill>
                  <a:srgbClr val="58595B"/>
                </a:solidFill>
                <a:latin typeface="Calibri" pitchFamily="34" charset="0"/>
                <a:ea typeface="Calibri" pitchFamily="34" charset="-122"/>
                <a:cs typeface="Calibri" pitchFamily="34" charset="-120"/>
              </a:rPr>
              <a:t>MP-02 Skills &amp; Competency Management · </a:t>
            </a:r>
            <a:pPr indent="0" marL="0">
              <a:buNone/>
            </a:pPr>
            <a:r>
              <a:rPr lang="en-US" sz="1000" dirty="0">
                <a:solidFill>
                  <a:srgbClr val="58595B"/>
                </a:solidFill>
                <a:latin typeface="Calibri" pitchFamily="34" charset="0"/>
                <a:ea typeface="Calibri" pitchFamily="34" charset="-122"/>
                <a:cs typeface="Calibri" pitchFamily="34" charset="-120"/>
              </a:rPr>
              <a:t>MP-08 Learner Experience &amp; Engagement</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UFT-10-01
</a:t>
                      </a:r>
                      <a:pPr indent="0" marL="0">
                        <a:buNone/>
                      </a:pPr>
                      <a:r>
                        <a:rPr lang="en-US" sz="1000" b="1" dirty="0">
                          <a:solidFill>
                            <a:srgbClr val="3A3A3C"/>
                          </a:solidFill>
                          <a:latin typeface="Calibri" pitchFamily="34" charset="0"/>
                          <a:ea typeface="Calibri" pitchFamily="34" charset="-122"/>
                          <a:cs typeface="Calibri" pitchFamily="34" charset="-120"/>
                        </a:rPr>
                        <a:t>Model career paths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MP-13.1 </a:t>
                      </a:r>
                      <a:pPr indent="0" marL="0">
                        <a:buNone/>
                      </a:pPr>
                      <a:r>
                        <a:rPr lang="en-US" sz="1000" dirty="0">
                          <a:solidFill>
                            <a:srgbClr val="58595B"/>
                          </a:solidFill>
                          <a:latin typeface="Calibri" pitchFamily="34" charset="0"/>
                          <a:ea typeface="Calibri" pitchFamily="34" charset="-122"/>
                          <a:cs typeface="Calibri" pitchFamily="34" charset="-120"/>
                        </a:rPr>
                        <a:t>Model career path</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MP-13.2 </a:t>
                      </a:r>
                      <a:pPr indent="0" marL="0">
                        <a:buNone/>
                      </a:pPr>
                      <a:r>
                        <a:rPr lang="en-US" sz="1000" dirty="0">
                          <a:solidFill>
                            <a:srgbClr val="58595B"/>
                          </a:solidFill>
                          <a:latin typeface="Calibri" pitchFamily="34" charset="0"/>
                          <a:ea typeface="Calibri" pitchFamily="34" charset="-122"/>
                          <a:cs typeface="Calibri" pitchFamily="34" charset="-120"/>
                        </a:rPr>
                        <a:t>Link path steps to competency targets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Mehdi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7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Career path: Clinical Care &amp; Nursing operator → team leader → supervisor, with competency targets per step.</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UFT-10-02
</a:t>
                      </a:r>
                      <a:pPr indent="0" marL="0">
                        <a:buNone/>
                      </a:pPr>
                      <a:r>
                        <a:rPr lang="en-US" sz="1000" b="1" dirty="0">
                          <a:solidFill>
                            <a:srgbClr val="3A3A3C"/>
                          </a:solidFill>
                          <a:latin typeface="Calibri" pitchFamily="34" charset="0"/>
                          <a:ea typeface="Calibri" pitchFamily="34" charset="-122"/>
                          <a:cs typeface="Calibri" pitchFamily="34" charset="-120"/>
                        </a:rPr>
                        <a:t>Publish internal opening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MP-31.1 </a:t>
                      </a:r>
                      <a:pPr indent="0" marL="0">
                        <a:buNone/>
                      </a:pPr>
                      <a:r>
                        <a:rPr lang="en-US" sz="1000" dirty="0">
                          <a:solidFill>
                            <a:srgbClr val="58595B"/>
                          </a:solidFill>
                          <a:latin typeface="Calibri" pitchFamily="34" charset="0"/>
                          <a:ea typeface="Calibri" pitchFamily="34" charset="-122"/>
                          <a:cs typeface="Calibri" pitchFamily="34" charset="-120"/>
                        </a:rPr>
                        <a:t>Publish internal opening</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MP-31.2 </a:t>
                      </a:r>
                      <a:pPr indent="0" marL="0">
                        <a:buNone/>
                      </a:pPr>
                      <a:r>
                        <a:rPr lang="en-US" sz="1000" dirty="0">
                          <a:solidFill>
                            <a:srgbClr val="58595B"/>
                          </a:solidFill>
                          <a:latin typeface="Calibri" pitchFamily="34" charset="0"/>
                          <a:ea typeface="Calibri" pitchFamily="34" charset="-122"/>
                          <a:cs typeface="Calibri" pitchFamily="34" charset="-120"/>
                        </a:rPr>
                        <a:t>Define required skills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10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Opening 'Clinical Care &amp; Nursing team leader', required skills: AI triage and clinical decision support level 3, leadership level 2.</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UFT-10-03
</a:t>
                      </a:r>
                      <a:pPr indent="0" marL="0">
                        <a:buNone/>
                      </a:pPr>
                      <a:r>
                        <a:rPr lang="en-US" sz="1000" b="1" dirty="0">
                          <a:solidFill>
                            <a:srgbClr val="3A3A3C"/>
                          </a:solidFill>
                          <a:latin typeface="Calibri" pitchFamily="34" charset="0"/>
                          <a:ea typeface="Calibri" pitchFamily="34" charset="-122"/>
                          <a:cs typeface="Calibri" pitchFamily="34" charset="-120"/>
                        </a:rPr>
                        <a:t>Match employees to opening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MP-31.3 </a:t>
                      </a:r>
                      <a:pPr indent="0" marL="0">
                        <a:buNone/>
                      </a:pPr>
                      <a:r>
                        <a:rPr lang="en-US" sz="1000" dirty="0">
                          <a:solidFill>
                            <a:srgbClr val="58595B"/>
                          </a:solidFill>
                          <a:latin typeface="Calibri" pitchFamily="34" charset="0"/>
                          <a:ea typeface="Calibri" pitchFamily="34" charset="-122"/>
                          <a:cs typeface="Calibri" pitchFamily="34" charset="-120"/>
                        </a:rPr>
                        <a:t>Match employees to opening</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MP-02.7 </a:t>
                      </a:r>
                      <a:pPr indent="0" marL="0">
                        <a:buNone/>
                      </a:pPr>
                      <a:r>
                        <a:rPr lang="en-US" sz="1000" dirty="0">
                          <a:solidFill>
                            <a:srgbClr val="58595B"/>
                          </a:solidFill>
                          <a:latin typeface="Calibri" pitchFamily="34" charset="0"/>
                          <a:ea typeface="Calibri" pitchFamily="34" charset="-122"/>
                          <a:cs typeface="Calibri" pitchFamily="34" charset="-120"/>
                        </a:rPr>
                        <a:t>Validate skills inventory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Review 6 AI matches; keep 4 candidates with match score above 75%.</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UFT-10-04
</a:t>
                      </a:r>
                      <a:pPr indent="0" marL="0">
                        <a:buNone/>
                      </a:pPr>
                      <a:r>
                        <a:rPr lang="en-US" sz="1000" b="1" dirty="0">
                          <a:solidFill>
                            <a:srgbClr val="3A3A3C"/>
                          </a:solidFill>
                          <a:latin typeface="Calibri" pitchFamily="34" charset="0"/>
                          <a:ea typeface="Calibri" pitchFamily="34" charset="-122"/>
                          <a:cs typeface="Calibri" pitchFamily="34" charset="-120"/>
                        </a:rPr>
                        <a:t>Apply to internal opening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MP-31.4 </a:t>
                      </a:r>
                      <a:pPr indent="0" marL="0">
                        <a:buNone/>
                      </a:pPr>
                      <a:r>
                        <a:rPr lang="en-US" sz="1000" dirty="0">
                          <a:solidFill>
                            <a:srgbClr val="58595B"/>
                          </a:solidFill>
                          <a:latin typeface="Calibri" pitchFamily="34" charset="0"/>
                          <a:ea typeface="Calibri" pitchFamily="34" charset="-122"/>
                          <a:cs typeface="Calibri" pitchFamily="34" charset="-120"/>
                        </a:rPr>
                        <a:t>Apply to internal opening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Sefrioui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Application with motivation note and consent of the current manager.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UFT-10-05
</a:t>
                      </a:r>
                      <a:pPr indent="0" marL="0">
                        <a:buNone/>
                      </a:pPr>
                      <a:r>
                        <a:rPr lang="en-US" sz="1000" b="1" dirty="0">
                          <a:solidFill>
                            <a:srgbClr val="3A3A3C"/>
                          </a:solidFill>
                          <a:latin typeface="Calibri" pitchFamily="34" charset="0"/>
                          <a:ea typeface="Calibri" pitchFamily="34" charset="-122"/>
                          <a:cs typeface="Calibri" pitchFamily="34" charset="-120"/>
                        </a:rPr>
                        <a:t>Shortlist candidates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MP-31.5 </a:t>
                      </a:r>
                      <a:pPr indent="0" marL="0">
                        <a:buNone/>
                      </a:pPr>
                      <a:r>
                        <a:rPr lang="en-US" sz="1000" dirty="0">
                          <a:solidFill>
                            <a:srgbClr val="58595B"/>
                          </a:solidFill>
                          <a:latin typeface="Calibri" pitchFamily="34" charset="0"/>
                          <a:ea typeface="Calibri" pitchFamily="34" charset="-122"/>
                          <a:cs typeface="Calibri" pitchFamily="34" charset="-120"/>
                        </a:rPr>
                        <a:t>Shortlist candidates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Shortlist: 2 candidates; interviews on 20 and 21 June.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10"/>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10-02 Publish internal opening">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UFT-10-02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6 · E2E-10 · ROOT / MASTER CHAIN</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Talent-to-Mobility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UFT-10-06
</a:t>
                      </a:r>
                      <a:pPr indent="0" marL="0">
                        <a:buNone/>
                      </a:pPr>
                      <a:r>
                        <a:rPr lang="en-US" sz="1000" b="1" dirty="0">
                          <a:solidFill>
                            <a:srgbClr val="3A3A3C"/>
                          </a:solidFill>
                          <a:latin typeface="Calibri" pitchFamily="34" charset="0"/>
                          <a:ea typeface="Calibri" pitchFamily="34" charset="-122"/>
                          <a:cs typeface="Calibri" pitchFamily="34" charset="-120"/>
                        </a:rPr>
                        <a:t>Plan individual development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MP-13.3 </a:t>
                      </a:r>
                      <a:pPr indent="0" marL="0">
                        <a:buNone/>
                      </a:pPr>
                      <a:r>
                        <a:rPr lang="en-US" sz="1000" dirty="0">
                          <a:solidFill>
                            <a:srgbClr val="58595B"/>
                          </a:solidFill>
                          <a:latin typeface="Calibri" pitchFamily="34" charset="0"/>
                          <a:ea typeface="Calibri" pitchFamily="34" charset="-122"/>
                          <a:cs typeface="Calibri" pitchFamily="34" charset="-120"/>
                        </a:rPr>
                        <a:t>Create individual development plan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MP-13.4 </a:t>
                      </a:r>
                      <a:pPr indent="0" marL="0">
                        <a:buNone/>
                      </a:pPr>
                      <a:r>
                        <a:rPr lang="en-US" sz="1000" dirty="0">
                          <a:solidFill>
                            <a:srgbClr val="58595B"/>
                          </a:solidFill>
                          <a:latin typeface="Calibri" pitchFamily="34" charset="0"/>
                          <a:ea typeface="Calibri" pitchFamily="34" charset="-122"/>
                          <a:cs typeface="Calibri" pitchFamily="34" charset="-120"/>
                        </a:rPr>
                        <a:t>Suggest development actions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MP-42.3 </a:t>
                      </a:r>
                      <a:pPr indent="0" marL="0">
                        <a:buNone/>
                      </a:pPr>
                      <a:r>
                        <a:rPr lang="en-US" sz="1000" dirty="0">
                          <a:solidFill>
                            <a:srgbClr val="58595B"/>
                          </a:solidFill>
                          <a:latin typeface="Calibri" pitchFamily="34" charset="0"/>
                          <a:ea typeface="Calibri" pitchFamily="34" charset="-122"/>
                          <a:cs typeface="Calibri" pitchFamily="34" charset="-120"/>
                        </a:rPr>
                        <a:t>Build leadership development plan</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+ 1 more steps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22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Development plan: 2 modules AI triage and clinical decision support, 1 leadership workshop, 3 months mentoring.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UFT-10-07
</a:t>
                      </a:r>
                      <a:pPr indent="0" marL="0">
                        <a:buNone/>
                      </a:pPr>
                      <a:r>
                        <a:rPr lang="en-US" sz="1000" b="1" dirty="0">
                          <a:solidFill>
                            <a:srgbClr val="3A3A3C"/>
                          </a:solidFill>
                          <a:latin typeface="Calibri" pitchFamily="34" charset="0"/>
                          <a:ea typeface="Calibri" pitchFamily="34" charset="-122"/>
                          <a:cs typeface="Calibri" pitchFamily="34" charset="-120"/>
                        </a:rPr>
                        <a:t>Assign reskilling plan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MP-31.6 </a:t>
                      </a:r>
                      <a:pPr indent="0" marL="0">
                        <a:buNone/>
                      </a:pPr>
                      <a:r>
                        <a:rPr lang="en-US" sz="1000" dirty="0">
                          <a:solidFill>
                            <a:srgbClr val="58595B"/>
                          </a:solidFill>
                          <a:latin typeface="Calibri" pitchFamily="34" charset="0"/>
                          <a:ea typeface="Calibri" pitchFamily="34" charset="-122"/>
                          <a:cs typeface="Calibri" pitchFamily="34" charset="-120"/>
                        </a:rPr>
                        <a:t>Assign reskilling plan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MP-08.1 </a:t>
                      </a:r>
                      <a:pPr indent="0" marL="0">
                        <a:buNone/>
                      </a:pPr>
                      <a:r>
                        <a:rPr lang="en-US" sz="1000" dirty="0">
                          <a:solidFill>
                            <a:srgbClr val="58595B"/>
                          </a:solidFill>
                          <a:latin typeface="Calibri" pitchFamily="34" charset="0"/>
                          <a:ea typeface="Calibri" pitchFamily="34" charset="-122"/>
                          <a:cs typeface="Calibri" pitchFamily="34" charset="-120"/>
                        </a:rPr>
                        <a:t>Generate personal learning plan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25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Assign reskilling path 'AI triage and clinical decision support for team leaders' to the selected candidate.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UFT-10-08
</a:t>
                      </a:r>
                      <a:pPr indent="0" marL="0">
                        <a:buNone/>
                      </a:pPr>
                      <a:r>
                        <a:rPr lang="en-US" sz="1000" b="1" dirty="0">
                          <a:solidFill>
                            <a:srgbClr val="3A3A3C"/>
                          </a:solidFill>
                          <a:latin typeface="Calibri" pitchFamily="34" charset="0"/>
                          <a:ea typeface="Calibri" pitchFamily="34" charset="-122"/>
                          <a:cs typeface="Calibri" pitchFamily="34" charset="-120"/>
                        </a:rPr>
                        <a:t>Review career and succession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MP-13.5 </a:t>
                      </a:r>
                      <a:pPr indent="0" marL="0">
                        <a:buNone/>
                      </a:pPr>
                      <a:r>
                        <a:rPr lang="en-US" sz="1000" dirty="0">
                          <a:solidFill>
                            <a:srgbClr val="58595B"/>
                          </a:solidFill>
                          <a:latin typeface="Calibri" pitchFamily="34" charset="0"/>
                          <a:ea typeface="Calibri" pitchFamily="34" charset="-122"/>
                          <a:cs typeface="Calibri" pitchFamily="34" charset="-120"/>
                        </a:rPr>
                        <a:t>Run career review</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MP-13.6 </a:t>
                      </a:r>
                      <a:pPr indent="0" marL="0">
                        <a:buNone/>
                      </a:pPr>
                      <a:r>
                        <a:rPr lang="en-US" sz="1000" dirty="0">
                          <a:solidFill>
                            <a:srgbClr val="58595B"/>
                          </a:solidFill>
                          <a:latin typeface="Calibri" pitchFamily="34" charset="0"/>
                          <a:ea typeface="Calibri" pitchFamily="34" charset="-122"/>
                          <a:cs typeface="Calibri" pitchFamily="34" charset="-120"/>
                        </a:rPr>
                        <a:t>Update succession readiness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MP-42.5 </a:t>
                      </a:r>
                      <a:pPr indent="0" marL="0">
                        <a:buNone/>
                      </a:pPr>
                      <a:r>
                        <a:rPr lang="en-US" sz="1000" dirty="0">
                          <a:solidFill>
                            <a:srgbClr val="58595B"/>
                          </a:solidFill>
                          <a:latin typeface="Calibri" pitchFamily="34" charset="0"/>
                          <a:ea typeface="Calibri" pitchFamily="34" charset="-122"/>
                          <a:cs typeface="Calibri" pitchFamily="34" charset="-120"/>
                        </a:rPr>
                        <a:t>Review leadership pipeline</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+ 1 more steps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Mehdi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28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Succession readiness updated: 2 ready now, 3 ready within 12 months.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10"/>
          <p:cNvSpPr/>
          <p:nvPr/>
        </p:nvSpPr>
        <p:spPr>
          <a:xfrm>
            <a:off x="3043055" y="4059936"/>
            <a:ext cx="2692130" cy="1984248"/>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10">    </p:cNvPr>
          <p:cNvPicPr>
            <a:picLocks noChangeAspect="1"/>
          </p:cNvPicPr>
          <p:nvPr/>
        </p:nvPicPr>
        <p:blipFill>
          <a:blip r:embed="rId1"/>
          <a:stretch>
            <a:fillRect/>
          </a:stretch>
        </p:blipFill>
        <p:spPr>
          <a:xfrm>
            <a:off x="3097919" y="4114800"/>
            <a:ext cx="2582402" cy="1874520"/>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E2E-10 in CortexSkills: its tasks, owners and due dates, and the process card.</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 processes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MP-13 Talent &amp; Career Development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MP-31 Skills-Based Talent Marketplace &amp; Internal Mobility</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MP-02 Skills &amp; Competency Management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MP-08 Learner Experience &amp; Engagement</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Feeds into</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E2E-11</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Supported by</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E2E-15</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6 · E2E-11 · ROOT / MASTER CHAIN</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Onboarding-to-Productivity</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Accelerate time-to-productivity</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New hire or internal mover confirmed.</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Employee productive within target time and onboarding closed.</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tasks · 11 steps
</a:t>
            </a:r>
            <a:pPr indent="0" marL="0">
              <a:buNone/>
            </a:pPr>
            <a:r>
              <a:rPr lang="en-US" sz="1100" dirty="0">
                <a:solidFill>
                  <a:srgbClr val="3A3A3C"/>
                </a:solidFill>
                <a:latin typeface="Calibri" pitchFamily="34" charset="0"/>
                <a:ea typeface="Calibri" pitchFamily="34" charset="-122"/>
                <a:cs typeface="Calibri" pitchFamily="34" charset="-120"/>
              </a:rPr>
              <a:t>20 days · 4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MP-35 Onboarding &amp; Rapid Upskilling · </a:t>
            </a:r>
            <a:pPr indent="0" marL="0">
              <a:buNone/>
            </a:pPr>
            <a:r>
              <a:rPr lang="en-US" sz="1000" dirty="0">
                <a:solidFill>
                  <a:srgbClr val="58595B"/>
                </a:solidFill>
                <a:latin typeface="Calibri" pitchFamily="34" charset="0"/>
                <a:ea typeface="Calibri" pitchFamily="34" charset="-122"/>
                <a:cs typeface="Calibri" pitchFamily="34" charset="-120"/>
              </a:rPr>
              <a:t>MP-07 Learning Delivery &amp; Implementation · </a:t>
            </a:r>
            <a:pPr indent="0" marL="0">
              <a:buNone/>
            </a:pPr>
            <a:r>
              <a:rPr lang="en-US" sz="1000" dirty="0">
                <a:solidFill>
                  <a:srgbClr val="58595B"/>
                </a:solidFill>
                <a:latin typeface="Calibri" pitchFamily="34" charset="0"/>
                <a:ea typeface="Calibri" pitchFamily="34" charset="-122"/>
                <a:cs typeface="Calibri" pitchFamily="34" charset="-120"/>
              </a:rPr>
              <a:t>MP-08 Learner Experience &amp; Engagement · </a:t>
            </a:r>
            <a:pPr indent="0" marL="0">
              <a:buNone/>
            </a:pPr>
            <a:r>
              <a:rPr lang="en-US" sz="1000" dirty="0">
                <a:solidFill>
                  <a:srgbClr val="58595B"/>
                </a:solidFill>
                <a:latin typeface="Calibri" pitchFamily="34" charset="0"/>
                <a:ea typeface="Calibri" pitchFamily="34" charset="-122"/>
                <a:cs typeface="Calibri" pitchFamily="34" charset="-120"/>
              </a:rPr>
              <a:t>MP-13 Talent &amp; Career Development</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UFT-11-01
</a:t>
                      </a:r>
                      <a:pPr indent="0" marL="0">
                        <a:buNone/>
                      </a:pPr>
                      <a:r>
                        <a:rPr lang="en-US" sz="1000" b="1" dirty="0">
                          <a:solidFill>
                            <a:srgbClr val="3A3A3C"/>
                          </a:solidFill>
                          <a:latin typeface="Calibri" pitchFamily="34" charset="0"/>
                          <a:ea typeface="Calibri" pitchFamily="34" charset="-122"/>
                          <a:cs typeface="Calibri" pitchFamily="34" charset="-120"/>
                        </a:rPr>
                        <a:t>Create onboarding record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MP-35.1 </a:t>
                      </a:r>
                      <a:pPr indent="0" marL="0">
                        <a:buNone/>
                      </a:pPr>
                      <a:r>
                        <a:rPr lang="en-US" sz="1000" dirty="0">
                          <a:solidFill>
                            <a:srgbClr val="58595B"/>
                          </a:solidFill>
                          <a:latin typeface="Calibri" pitchFamily="34" charset="0"/>
                          <a:ea typeface="Calibri" pitchFamily="34" charset="-122"/>
                          <a:cs typeface="Calibri" pitchFamily="34" charset="-120"/>
                        </a:rPr>
                        <a:t>Create onboarding record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7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Onboarding record for the new Clinical Care &amp; Nursing technician, start date 1 July, buddy assigned.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UFT-11-02
</a:t>
                      </a:r>
                      <a:pPr indent="0" marL="0">
                        <a:buNone/>
                      </a:pPr>
                      <a:r>
                        <a:rPr lang="en-US" sz="1000" b="1" dirty="0">
                          <a:solidFill>
                            <a:srgbClr val="3A3A3C"/>
                          </a:solidFill>
                          <a:latin typeface="Calibri" pitchFamily="34" charset="0"/>
                          <a:ea typeface="Calibri" pitchFamily="34" charset="-122"/>
                          <a:cs typeface="Calibri" pitchFamily="34" charset="-120"/>
                        </a:rPr>
                        <a:t>Generate 30-60-90 day path</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MP-35.2 </a:t>
                      </a:r>
                      <a:pPr indent="0" marL="0">
                        <a:buNone/>
                      </a:pPr>
                      <a:r>
                        <a:rPr lang="en-US" sz="1000" dirty="0">
                          <a:solidFill>
                            <a:srgbClr val="58595B"/>
                          </a:solidFill>
                          <a:latin typeface="Calibri" pitchFamily="34" charset="0"/>
                          <a:ea typeface="Calibri" pitchFamily="34" charset="-122"/>
                          <a:cs typeface="Calibri" pitchFamily="34" charset="-120"/>
                        </a:rPr>
                        <a:t>Generate 30-60-90 day path</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MP-08.1 </a:t>
                      </a:r>
                      <a:pPr indent="0" marL="0">
                        <a:buNone/>
                      </a:pPr>
                      <a:r>
                        <a:rPr lang="en-US" sz="1000" dirty="0">
                          <a:solidFill>
                            <a:srgbClr val="58595B"/>
                          </a:solidFill>
                          <a:latin typeface="Calibri" pitchFamily="34" charset="0"/>
                          <a:ea typeface="Calibri" pitchFamily="34" charset="-122"/>
                          <a:cs typeface="Calibri" pitchFamily="34" charset="-120"/>
                        </a:rPr>
                        <a:t>Generate personal learning plan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10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30-60-90 path: day 30 safety and ISO 7101; day 60 AI triage and clinical decision support; day 90 autonomy on shift.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UFT-11-03
</a:t>
                      </a:r>
                      <a:pPr indent="0" marL="0">
                        <a:buNone/>
                      </a:pPr>
                      <a:r>
                        <a:rPr lang="en-US" sz="1000" b="1" dirty="0">
                          <a:solidFill>
                            <a:srgbClr val="3A3A3C"/>
                          </a:solidFill>
                          <a:latin typeface="Calibri" pitchFamily="34" charset="0"/>
                          <a:ea typeface="Calibri" pitchFamily="34" charset="-122"/>
                          <a:cs typeface="Calibri" pitchFamily="34" charset="-120"/>
                        </a:rPr>
                        <a:t>Enroll in onboarding sessions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MP-07.3 </a:t>
                      </a:r>
                      <a:pPr indent="0" marL="0">
                        <a:buNone/>
                      </a:pPr>
                      <a:r>
                        <a:rPr lang="en-US" sz="1000" dirty="0">
                          <a:solidFill>
                            <a:srgbClr val="58595B"/>
                          </a:solidFill>
                          <a:latin typeface="Calibri" pitchFamily="34" charset="0"/>
                          <a:ea typeface="Calibri" pitchFamily="34" charset="-122"/>
                          <a:cs typeface="Calibri" pitchFamily="34" charset="-120"/>
                        </a:rPr>
                        <a:t>Enroll learners into session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MP-07.4 </a:t>
                      </a:r>
                      <a:pPr indent="0" marL="0">
                        <a:buNone/>
                      </a:pPr>
                      <a:r>
                        <a:rPr lang="en-US" sz="1000" dirty="0">
                          <a:solidFill>
                            <a:srgbClr val="58595B"/>
                          </a:solidFill>
                          <a:latin typeface="Calibri" pitchFamily="34" charset="0"/>
                          <a:ea typeface="Calibri" pitchFamily="34" charset="-122"/>
                          <a:cs typeface="Calibri" pitchFamily="34" charset="-120"/>
                        </a:rPr>
                        <a:t>Send convocations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Enroll in the induction session of 2 July; convocation sent.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UFT-11-04
</a:t>
                      </a:r>
                      <a:pPr indent="0" marL="0">
                        <a:buNone/>
                      </a:pPr>
                      <a:r>
                        <a:rPr lang="en-US" sz="1000" b="1" dirty="0">
                          <a:solidFill>
                            <a:srgbClr val="3A3A3C"/>
                          </a:solidFill>
                          <a:latin typeface="Calibri" pitchFamily="34" charset="0"/>
                          <a:ea typeface="Calibri" pitchFamily="34" charset="-122"/>
                          <a:cs typeface="Calibri" pitchFamily="34" charset="-120"/>
                        </a:rPr>
                        <a:t>Complete onboarding tasks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MP-35.3 </a:t>
                      </a:r>
                      <a:pPr indent="0" marL="0">
                        <a:buNone/>
                      </a:pPr>
                      <a:r>
                        <a:rPr lang="en-US" sz="1000" dirty="0">
                          <a:solidFill>
                            <a:srgbClr val="58595B"/>
                          </a:solidFill>
                          <a:latin typeface="Calibri" pitchFamily="34" charset="0"/>
                          <a:ea typeface="Calibri" pitchFamily="34" charset="-122"/>
                          <a:cs typeface="Calibri" pitchFamily="34" charset="-120"/>
                        </a:rPr>
                        <a:t>Complete onboarding tasks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Sefrioui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Tasks done: badge, IT account, safety tour, meeting with the team.</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UFT-11-05
</a:t>
                      </a:r>
                      <a:pPr indent="0" marL="0">
                        <a:buNone/>
                      </a:pPr>
                      <a:r>
                        <a:rPr lang="en-US" sz="1000" b="1" dirty="0">
                          <a:solidFill>
                            <a:srgbClr val="3A3A3C"/>
                          </a:solidFill>
                          <a:latin typeface="Calibri" pitchFamily="34" charset="0"/>
                          <a:ea typeface="Calibri" pitchFamily="34" charset="-122"/>
                          <a:cs typeface="Calibri" pitchFamily="34" charset="-120"/>
                        </a:rPr>
                        <a:t>Hold milestone check-ins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MP-35.4 </a:t>
                      </a:r>
                      <a:pPr indent="0" marL="0">
                        <a:buNone/>
                      </a:pPr>
                      <a:r>
                        <a:rPr lang="en-US" sz="1000" dirty="0">
                          <a:solidFill>
                            <a:srgbClr val="58595B"/>
                          </a:solidFill>
                          <a:latin typeface="Calibri" pitchFamily="34" charset="0"/>
                          <a:ea typeface="Calibri" pitchFamily="34" charset="-122"/>
                          <a:cs typeface="Calibri" pitchFamily="34" charset="-120"/>
                        </a:rPr>
                        <a:t>Hold milestone check-in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MP-21.3 </a:t>
                      </a:r>
                      <a:pPr indent="0" marL="0">
                        <a:buNone/>
                      </a:pPr>
                      <a:r>
                        <a:rPr lang="en-US" sz="1000" dirty="0">
                          <a:solidFill>
                            <a:srgbClr val="58595B"/>
                          </a:solidFill>
                          <a:latin typeface="Calibri" pitchFamily="34" charset="0"/>
                          <a:ea typeface="Calibri" pitchFamily="34" charset="-122"/>
                          <a:cs typeface="Calibri" pitchFamily="34" charset="-120"/>
                        </a:rPr>
                        <a:t>Schedule coaching sessions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Day-30 check-in: on track; coaching needed on AI triage and clinical decision support data entry.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UFT-11-06
</a:t>
                      </a:r>
                      <a:pPr indent="0" marL="0">
                        <a:buNone/>
                      </a:pPr>
                      <a:r>
                        <a:rPr lang="en-US" sz="1000" b="1" dirty="0">
                          <a:solidFill>
                            <a:srgbClr val="3A3A3C"/>
                          </a:solidFill>
                          <a:latin typeface="Calibri" pitchFamily="34" charset="0"/>
                          <a:ea typeface="Calibri" pitchFamily="34" charset="-122"/>
                          <a:cs typeface="Calibri" pitchFamily="34" charset="-120"/>
                        </a:rPr>
                        <a:t>Assess time to productivity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MP-35.5 </a:t>
                      </a:r>
                      <a:pPr indent="0" marL="0">
                        <a:buNone/>
                      </a:pPr>
                      <a:r>
                        <a:rPr lang="en-US" sz="1000" dirty="0">
                          <a:solidFill>
                            <a:srgbClr val="58595B"/>
                          </a:solidFill>
                          <a:latin typeface="Calibri" pitchFamily="34" charset="0"/>
                          <a:ea typeface="Calibri" pitchFamily="34" charset="-122"/>
                          <a:cs typeface="Calibri" pitchFamily="34" charset="-120"/>
                        </a:rPr>
                        <a:t>Assess time to productivity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22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Time to productivity: 74 days (target 90).</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11"/>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11-02 Generate 30-60-90 day path">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UFT-11-02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6 · E2E-11 · ROOT / MASTER CHAIN</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Onboarding-to-Productivity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UFT-11-07
</a:t>
                      </a:r>
                      <a:pPr indent="0" marL="0">
                        <a:buNone/>
                      </a:pPr>
                      <a:r>
                        <a:rPr lang="en-US" sz="1000" b="1" dirty="0">
                          <a:solidFill>
                            <a:srgbClr val="3A3A3C"/>
                          </a:solidFill>
                          <a:latin typeface="Calibri" pitchFamily="34" charset="0"/>
                          <a:ea typeface="Calibri" pitchFamily="34" charset="-122"/>
                          <a:cs typeface="Calibri" pitchFamily="34" charset="-120"/>
                        </a:rPr>
                        <a:t>Close onboarding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MP-35.6 </a:t>
                      </a:r>
                      <a:pPr indent="0" marL="0">
                        <a:buNone/>
                      </a:pPr>
                      <a:r>
                        <a:rPr lang="en-US" sz="1000" dirty="0">
                          <a:solidFill>
                            <a:srgbClr val="58595B"/>
                          </a:solidFill>
                          <a:latin typeface="Calibri" pitchFamily="34" charset="0"/>
                          <a:ea typeface="Calibri" pitchFamily="34" charset="-122"/>
                          <a:cs typeface="Calibri" pitchFamily="34" charset="-120"/>
                        </a:rPr>
                        <a:t>Close onboarding</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MP-13.3 </a:t>
                      </a:r>
                      <a:pPr indent="0" marL="0">
                        <a:buNone/>
                      </a:pPr>
                      <a:r>
                        <a:rPr lang="en-US" sz="1000" dirty="0">
                          <a:solidFill>
                            <a:srgbClr val="58595B"/>
                          </a:solidFill>
                          <a:latin typeface="Calibri" pitchFamily="34" charset="0"/>
                          <a:ea typeface="Calibri" pitchFamily="34" charset="-122"/>
                          <a:cs typeface="Calibri" pitchFamily="34" charset="-120"/>
                        </a:rPr>
                        <a:t>Create individual development plan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25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Close onboarding; link the individual development plan for year 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11"/>
          <p:cNvSpPr/>
          <p:nvPr/>
        </p:nvSpPr>
        <p:spPr>
          <a:xfrm>
            <a:off x="1877825" y="2368296"/>
            <a:ext cx="5022590" cy="3675888"/>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11">    </p:cNvPr>
          <p:cNvPicPr>
            <a:picLocks noChangeAspect="1"/>
          </p:cNvPicPr>
          <p:nvPr/>
        </p:nvPicPr>
        <p:blipFill>
          <a:blip r:embed="rId1"/>
          <a:stretch>
            <a:fillRect/>
          </a:stretch>
        </p:blipFill>
        <p:spPr>
          <a:xfrm>
            <a:off x="1932689" y="2423160"/>
            <a:ext cx="4912862" cy="3566160"/>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E2E-11 in CortexSkills: its tasks, owners and due dates, and the process card.</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 processes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MP-35 Onboarding &amp; Rapid Upskilling</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MP-07 Learning Delivery &amp; Implementation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MP-08 Learner Experience &amp; Engagement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MP-13 Talent &amp; Career Development</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Feeds into</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E2E-10</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Supported by</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E2E-17</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6 · E2E-12 · ROOT / MASTER CHAIN</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Knowledge-Capture-to-Transfer</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Capture and transfer institutional knowledge</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Critical expert identified as leaving, retiring or holding at-risk knowledge.</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Knowledge captured, published and transferred to a validated successor.</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tasks · 10 steps
</a:t>
            </a:r>
            <a:pPr indent="0" marL="0">
              <a:buNone/>
            </a:pPr>
            <a:r>
              <a:rPr lang="en-US" sz="1100" dirty="0">
                <a:solidFill>
                  <a:srgbClr val="3A3A3C"/>
                </a:solidFill>
                <a:latin typeface="Calibri" pitchFamily="34" charset="0"/>
                <a:ea typeface="Calibri" pitchFamily="34" charset="-122"/>
                <a:cs typeface="Calibri" pitchFamily="34" charset="-120"/>
              </a:rPr>
              <a:t>20 days · 4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MP-34 Expert Knowledge Capture &amp; Transfer · </a:t>
            </a:r>
            <a:pPr indent="0" marL="0">
              <a:buNone/>
            </a:pPr>
            <a:r>
              <a:rPr lang="en-US" sz="1000" dirty="0">
                <a:solidFill>
                  <a:srgbClr val="58595B"/>
                </a:solidFill>
                <a:latin typeface="Calibri" pitchFamily="34" charset="0"/>
                <a:ea typeface="Calibri" pitchFamily="34" charset="-122"/>
                <a:cs typeface="Calibri" pitchFamily="34" charset="-120"/>
              </a:rPr>
              <a:t>MP-12 Learning Culture &amp; Knowledge Management · </a:t>
            </a:r>
            <a:pPr indent="0" marL="0">
              <a:buNone/>
            </a:pPr>
            <a:r>
              <a:rPr lang="en-US" sz="1000" dirty="0">
                <a:solidFill>
                  <a:srgbClr val="58595B"/>
                </a:solidFill>
                <a:latin typeface="Calibri" pitchFamily="34" charset="0"/>
                <a:ea typeface="Calibri" pitchFamily="34" charset="-122"/>
                <a:cs typeface="Calibri" pitchFamily="34" charset="-120"/>
              </a:rPr>
              <a:t>MP-33 User-Generated Content &amp; Peer Knowledge Sharing · </a:t>
            </a:r>
            <a:pPr indent="0" marL="0">
              <a:buNone/>
            </a:pPr>
            <a:r>
              <a:rPr lang="en-US" sz="1000" dirty="0">
                <a:solidFill>
                  <a:srgbClr val="58595B"/>
                </a:solidFill>
                <a:latin typeface="Calibri" pitchFamily="34" charset="0"/>
                <a:ea typeface="Calibri" pitchFamily="34" charset="-122"/>
                <a:cs typeface="Calibri" pitchFamily="34" charset="-120"/>
              </a:rPr>
              <a:t>MP-06 Content &amp; Resource Management</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UFT-12-01
</a:t>
                      </a:r>
                      <a:pPr indent="0" marL="0">
                        <a:buNone/>
                      </a:pPr>
                      <a:r>
                        <a:rPr lang="en-US" sz="1000" b="1" dirty="0">
                          <a:solidFill>
                            <a:srgbClr val="3A3A3C"/>
                          </a:solidFill>
                          <a:latin typeface="Calibri" pitchFamily="34" charset="0"/>
                          <a:ea typeface="Calibri" pitchFamily="34" charset="-122"/>
                          <a:cs typeface="Calibri" pitchFamily="34" charset="-120"/>
                        </a:rPr>
                        <a:t>Identify critical experts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MP-34.1 </a:t>
                      </a:r>
                      <a:pPr indent="0" marL="0">
                        <a:buNone/>
                      </a:pPr>
                      <a:r>
                        <a:rPr lang="en-US" sz="1000" dirty="0">
                          <a:solidFill>
                            <a:srgbClr val="58595B"/>
                          </a:solidFill>
                          <a:latin typeface="Calibri" pitchFamily="34" charset="0"/>
                          <a:ea typeface="Calibri" pitchFamily="34" charset="-122"/>
                          <a:cs typeface="Calibri" pitchFamily="34" charset="-120"/>
                        </a:rPr>
                        <a:t>Identify critical experts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7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Critical expert: senior Clinical Care &amp; Nursing engineer retiring in 8 months; knowledge risk: high.</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UFT-12-02
</a:t>
                      </a:r>
                      <a:pPr indent="0" marL="0">
                        <a:buNone/>
                      </a:pPr>
                      <a:r>
                        <a:rPr lang="en-US" sz="1000" b="1" dirty="0">
                          <a:solidFill>
                            <a:srgbClr val="3A3A3C"/>
                          </a:solidFill>
                          <a:latin typeface="Calibri" pitchFamily="34" charset="0"/>
                          <a:ea typeface="Calibri" pitchFamily="34" charset="-122"/>
                          <a:cs typeface="Calibri" pitchFamily="34" charset="-120"/>
                        </a:rPr>
                        <a:t>Plan capture sessions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MP-34.2 </a:t>
                      </a:r>
                      <a:pPr indent="0" marL="0">
                        <a:buNone/>
                      </a:pPr>
                      <a:r>
                        <a:rPr lang="en-US" sz="1000" dirty="0">
                          <a:solidFill>
                            <a:srgbClr val="58595B"/>
                          </a:solidFill>
                          <a:latin typeface="Calibri" pitchFamily="34" charset="0"/>
                          <a:ea typeface="Calibri" pitchFamily="34" charset="-122"/>
                          <a:cs typeface="Calibri" pitchFamily="34" charset="-120"/>
                        </a:rPr>
                        <a:t>Plan capture sessions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Asmae Ziani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10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Capture plan: 4 sessions of 90 minutes on troubleshooting and ISO 7101 practices.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UFT-12-03
</a:t>
                      </a:r>
                      <a:pPr indent="0" marL="0">
                        <a:buNone/>
                      </a:pPr>
                      <a:r>
                        <a:rPr lang="en-US" sz="1000" b="1" dirty="0">
                          <a:solidFill>
                            <a:srgbClr val="3A3A3C"/>
                          </a:solidFill>
                          <a:latin typeface="Calibri" pitchFamily="34" charset="0"/>
                          <a:ea typeface="Calibri" pitchFamily="34" charset="-122"/>
                          <a:cs typeface="Calibri" pitchFamily="34" charset="-120"/>
                        </a:rPr>
                        <a:t>Record expert interview</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MP-34.3 </a:t>
                      </a:r>
                      <a:pPr indent="0" marL="0">
                        <a:buNone/>
                      </a:pPr>
                      <a:r>
                        <a:rPr lang="en-US" sz="1000" dirty="0">
                          <a:solidFill>
                            <a:srgbClr val="58595B"/>
                          </a:solidFill>
                          <a:latin typeface="Calibri" pitchFamily="34" charset="0"/>
                          <a:ea typeface="Calibri" pitchFamily="34" charset="-122"/>
                          <a:cs typeface="Calibri" pitchFamily="34" charset="-120"/>
                        </a:rPr>
                        <a:t>Record expert interview</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Asmae Ziani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Interview 1 recorded (82 minutes); transcript attached.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UFT-12-04
</a:t>
                      </a:r>
                      <a:pPr indent="0" marL="0">
                        <a:buNone/>
                      </a:pPr>
                      <a:r>
                        <a:rPr lang="en-US" sz="1000" b="1" dirty="0">
                          <a:solidFill>
                            <a:srgbClr val="3A3A3C"/>
                          </a:solidFill>
                          <a:latin typeface="Calibri" pitchFamily="34" charset="0"/>
                          <a:ea typeface="Calibri" pitchFamily="34" charset="-122"/>
                          <a:cs typeface="Calibri" pitchFamily="34" charset="-120"/>
                        </a:rPr>
                        <a:t>Structure knowledge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MP-34.4 </a:t>
                      </a:r>
                      <a:pPr indent="0" marL="0">
                        <a:buNone/>
                      </a:pPr>
                      <a:r>
                        <a:rPr lang="en-US" sz="1000" dirty="0">
                          <a:solidFill>
                            <a:srgbClr val="58595B"/>
                          </a:solidFill>
                          <a:latin typeface="Calibri" pitchFamily="34" charset="0"/>
                          <a:ea typeface="Calibri" pitchFamily="34" charset="-122"/>
                          <a:cs typeface="Calibri" pitchFamily="34" charset="-120"/>
                        </a:rPr>
                        <a:t>Structure knowledge from transcript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Asmae Ziani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Accept the AI structure: 5 failure modes, 12 checks, 3 decision rules; correct 2 technical terms.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UFT-12-05
</a:t>
                      </a:r>
                      <a:pPr indent="0" marL="0">
                        <a:buNone/>
                      </a:pPr>
                      <a:r>
                        <a:rPr lang="en-US" sz="1000" b="1" dirty="0">
                          <a:solidFill>
                            <a:srgbClr val="3A3A3C"/>
                          </a:solidFill>
                          <a:latin typeface="Calibri" pitchFamily="34" charset="0"/>
                          <a:ea typeface="Calibri" pitchFamily="34" charset="-122"/>
                          <a:cs typeface="Calibri" pitchFamily="34" charset="-120"/>
                        </a:rPr>
                        <a:t>Publish knowledge article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MP-12.1 </a:t>
                      </a:r>
                      <a:pPr indent="0" marL="0">
                        <a:buNone/>
                      </a:pPr>
                      <a:r>
                        <a:rPr lang="en-US" sz="1000" dirty="0">
                          <a:solidFill>
                            <a:srgbClr val="58595B"/>
                          </a:solidFill>
                          <a:latin typeface="Calibri" pitchFamily="34" charset="0"/>
                          <a:ea typeface="Calibri" pitchFamily="34" charset="-122"/>
                          <a:cs typeface="Calibri" pitchFamily="34" charset="-120"/>
                        </a:rPr>
                        <a:t>Publish knowledge article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MP-12.2 </a:t>
                      </a:r>
                      <a:pPr indent="0" marL="0">
                        <a:buNone/>
                      </a:pPr>
                      <a:r>
                        <a:rPr lang="en-US" sz="1000" dirty="0">
                          <a:solidFill>
                            <a:srgbClr val="58595B"/>
                          </a:solidFill>
                          <a:latin typeface="Calibri" pitchFamily="34" charset="0"/>
                          <a:ea typeface="Calibri" pitchFamily="34" charset="-122"/>
                          <a:cs typeface="Calibri" pitchFamily="34" charset="-120"/>
                        </a:rPr>
                        <a:t>Index article for retrieval</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MP-33.4 </a:t>
                      </a:r>
                      <a:pPr indent="0" marL="0">
                        <a:buNone/>
                      </a:pPr>
                      <a:r>
                        <a:rPr lang="en-US" sz="1000" dirty="0">
                          <a:solidFill>
                            <a:srgbClr val="58595B"/>
                          </a:solidFill>
                          <a:latin typeface="Calibri" pitchFamily="34" charset="0"/>
                          <a:ea typeface="Calibri" pitchFamily="34" charset="-122"/>
                          <a:cs typeface="Calibri" pitchFamily="34" charset="-120"/>
                        </a:rPr>
                        <a:t>Approve publication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Asmae Ziani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Publish article 'Troubleshooting guide — Clinical Care &amp; Nursing' in EN/FR/AR; indexed for search.</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UFT-12-06
</a:t>
                      </a:r>
                      <a:pPr indent="0" marL="0">
                        <a:buNone/>
                      </a:pPr>
                      <a:r>
                        <a:rPr lang="en-US" sz="1000" b="1" dirty="0">
                          <a:solidFill>
                            <a:srgbClr val="3A3A3C"/>
                          </a:solidFill>
                          <a:latin typeface="Calibri" pitchFamily="34" charset="0"/>
                          <a:ea typeface="Calibri" pitchFamily="34" charset="-122"/>
                          <a:cs typeface="Calibri" pitchFamily="34" charset="-120"/>
                        </a:rPr>
                        <a:t>Assign successor learning path</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MP-34.5 </a:t>
                      </a:r>
                      <a:pPr indent="0" marL="0">
                        <a:buNone/>
                      </a:pPr>
                      <a:r>
                        <a:rPr lang="en-US" sz="1000" dirty="0">
                          <a:solidFill>
                            <a:srgbClr val="58595B"/>
                          </a:solidFill>
                          <a:latin typeface="Calibri" pitchFamily="34" charset="0"/>
                          <a:ea typeface="Calibri" pitchFamily="34" charset="-122"/>
                          <a:cs typeface="Calibri" pitchFamily="34" charset="-120"/>
                        </a:rPr>
                        <a:t>Assign successor learning path</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MP-06.6 </a:t>
                      </a:r>
                      <a:pPr indent="0" marL="0">
                        <a:buNone/>
                      </a:pPr>
                      <a:r>
                        <a:rPr lang="en-US" sz="1000" dirty="0">
                          <a:solidFill>
                            <a:srgbClr val="58595B"/>
                          </a:solidFill>
                          <a:latin typeface="Calibri" pitchFamily="34" charset="0"/>
                          <a:ea typeface="Calibri" pitchFamily="34" charset="-122"/>
                          <a:cs typeface="Calibri" pitchFamily="34" charset="-120"/>
                        </a:rPr>
                        <a:t>Publish content to catalog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22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Assign the successor path: article + 3 shadowing sessions with the expert.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12"/>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12-01 Identify critical expert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UFT-12-01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6 · E2E-12 · ROOT / MASTER CHAIN</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Knowledge-Capture-to-Transfer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UFT-12-07
</a:t>
                      </a:r>
                      <a:pPr indent="0" marL="0">
                        <a:buNone/>
                      </a:pPr>
                      <a:r>
                        <a:rPr lang="en-US" sz="1000" b="1" dirty="0">
                          <a:solidFill>
                            <a:srgbClr val="3A3A3C"/>
                          </a:solidFill>
                          <a:latin typeface="Calibri" pitchFamily="34" charset="0"/>
                          <a:ea typeface="Calibri" pitchFamily="34" charset="-122"/>
                          <a:cs typeface="Calibri" pitchFamily="34" charset="-120"/>
                        </a:rPr>
                        <a:t>Validate transfer completion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MP-34.6 </a:t>
                      </a:r>
                      <a:pPr indent="0" marL="0">
                        <a:buNone/>
                      </a:pPr>
                      <a:r>
                        <a:rPr lang="en-US" sz="1000" dirty="0">
                          <a:solidFill>
                            <a:srgbClr val="58595B"/>
                          </a:solidFill>
                          <a:latin typeface="Calibri" pitchFamily="34" charset="0"/>
                          <a:ea typeface="Calibri" pitchFamily="34" charset="-122"/>
                          <a:cs typeface="Calibri" pitchFamily="34" charset="-120"/>
                        </a:rPr>
                        <a:t>Validate transfer completion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Hamza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25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Transfer validated: successor solved 4 of 5 test cases alone.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12"/>
          <p:cNvSpPr/>
          <p:nvPr/>
        </p:nvSpPr>
        <p:spPr>
          <a:xfrm>
            <a:off x="1770750" y="2212848"/>
            <a:ext cx="5236741" cy="3831336"/>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12">    </p:cNvPr>
          <p:cNvPicPr>
            <a:picLocks noChangeAspect="1"/>
          </p:cNvPicPr>
          <p:nvPr/>
        </p:nvPicPr>
        <p:blipFill>
          <a:blip r:embed="rId1"/>
          <a:stretch>
            <a:fillRect/>
          </a:stretch>
        </p:blipFill>
        <p:spPr>
          <a:xfrm>
            <a:off x="1825614" y="2267712"/>
            <a:ext cx="5127013" cy="3721608"/>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E2E-12 in CortexSkills: its tasks, owners and due dates, and the process card.</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 processes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MP-34 Expert Knowledge Capture &amp; Transfer</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MP-12 Learning Culture &amp; Knowledge Management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MP-33 User-Generated Content &amp; Peer Knowledge Sharing</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MP-06 Content &amp; Resource Management</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Feeds into</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E2E-13, E2E-06</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Supported by</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E2E-17</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6 · E2E-31 · ROOT (ROADMAP)</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Engagement-to-Roadmap</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Define post-engagement roadmap and continuous improvement</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Closure of the current training engineering engagement (E2E-19).</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Approved post-engagement roadmap with future missions and continuous improvement plan.</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8 tasks · 12 steps
</a:t>
            </a:r>
            <a:pPr indent="0" marL="0">
              <a:buNone/>
            </a:pPr>
            <a:r>
              <a:rPr lang="en-US" sz="1100" dirty="0">
                <a:solidFill>
                  <a:srgbClr val="3A3A3C"/>
                </a:solidFill>
                <a:latin typeface="Calibri" pitchFamily="34" charset="0"/>
                <a:ea typeface="Calibri" pitchFamily="34" charset="-122"/>
                <a:cs typeface="Calibri" pitchFamily="34" charset="-120"/>
              </a:rPr>
              <a:t>23 days · 5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MP-50 Post-Engagement Roadmap &amp; Continuous Improvement · </a:t>
            </a:r>
            <a:pPr indent="0" marL="0">
              <a:buNone/>
            </a:pPr>
            <a:r>
              <a:rPr lang="en-US" sz="1000" dirty="0">
                <a:solidFill>
                  <a:srgbClr val="58595B"/>
                </a:solidFill>
                <a:latin typeface="Calibri" pitchFamily="34" charset="0"/>
                <a:ea typeface="Calibri" pitchFamily="34" charset="-122"/>
                <a:cs typeface="Calibri" pitchFamily="34" charset="-120"/>
              </a:rPr>
              <a:t>MP-36 Consulting Engagement Management · </a:t>
            </a:r>
            <a:pPr indent="0" marL="0">
              <a:buNone/>
            </a:pPr>
            <a:r>
              <a:rPr lang="en-US" sz="1000" dirty="0">
                <a:solidFill>
                  <a:srgbClr val="58595B"/>
                </a:solidFill>
                <a:latin typeface="Calibri" pitchFamily="34" charset="0"/>
                <a:ea typeface="Calibri" pitchFamily="34" charset="-122"/>
                <a:cs typeface="Calibri" pitchFamily="34" charset="-120"/>
              </a:rPr>
              <a:t>MP-19 Change Management &amp; Adoption · </a:t>
            </a:r>
            <a:pPr indent="0" marL="0">
              <a:buNone/>
            </a:pPr>
            <a:r>
              <a:rPr lang="en-US" sz="1000" dirty="0">
                <a:solidFill>
                  <a:srgbClr val="58595B"/>
                </a:solidFill>
                <a:latin typeface="Calibri" pitchFamily="34" charset="0"/>
                <a:ea typeface="Calibri" pitchFamily="34" charset="-122"/>
                <a:cs typeface="Calibri" pitchFamily="34" charset="-120"/>
              </a:rPr>
              <a:t>MP-12 Learning Culture &amp; Knowledge Management · </a:t>
            </a:r>
            <a:pPr indent="0" marL="0">
              <a:buNone/>
            </a:pPr>
            <a:r>
              <a:rPr lang="en-US" sz="1000" dirty="0">
                <a:solidFill>
                  <a:srgbClr val="58595B"/>
                </a:solidFill>
                <a:latin typeface="Calibri" pitchFamily="34" charset="0"/>
                <a:ea typeface="Calibri" pitchFamily="34" charset="-122"/>
                <a:cs typeface="Calibri" pitchFamily="34" charset="-120"/>
              </a:rPr>
              <a:t>MP-16 Data, AI &amp; Integration Governance</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UFT-31-01
</a:t>
                      </a:r>
                      <a:pPr indent="0" marL="0">
                        <a:buNone/>
                      </a:pPr>
                      <a:r>
                        <a:rPr lang="en-US" sz="1000" b="1" dirty="0">
                          <a:solidFill>
                            <a:srgbClr val="3A3A3C"/>
                          </a:solidFill>
                          <a:latin typeface="Calibri" pitchFamily="34" charset="0"/>
                          <a:ea typeface="Calibri" pitchFamily="34" charset="-122"/>
                          <a:cs typeface="Calibri" pitchFamily="34" charset="-120"/>
                        </a:rPr>
                        <a:t>Consolidate engagement findings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MP-50.1 </a:t>
                      </a:r>
                      <a:pPr indent="0" marL="0">
                        <a:buNone/>
                      </a:pPr>
                      <a:r>
                        <a:rPr lang="en-US" sz="1000" dirty="0">
                          <a:solidFill>
                            <a:srgbClr val="58595B"/>
                          </a:solidFill>
                          <a:latin typeface="Calibri" pitchFamily="34" charset="0"/>
                          <a:ea typeface="Calibri" pitchFamily="34" charset="-122"/>
                          <a:cs typeface="Calibri" pitchFamily="34" charset="-120"/>
                        </a:rPr>
                        <a:t>Consolidate engagement findings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7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Findings: 6 deliverables, 3 lessons learned, 2 open topics (IS, org design).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UFT-31-02
</a:t>
                      </a:r>
                      <a:pPr indent="0" marL="0">
                        <a:buNone/>
                      </a:pPr>
                      <a:r>
                        <a:rPr lang="en-US" sz="1000" b="1" dirty="0">
                          <a:solidFill>
                            <a:srgbClr val="3A3A3C"/>
                          </a:solidFill>
                          <a:latin typeface="Calibri" pitchFamily="34" charset="0"/>
                          <a:ea typeface="Calibri" pitchFamily="34" charset="-122"/>
                          <a:cs typeface="Calibri" pitchFamily="34" charset="-120"/>
                        </a:rPr>
                        <a:t>Define future perspectives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MP-50.2 </a:t>
                      </a:r>
                      <a:pPr indent="0" marL="0">
                        <a:buNone/>
                      </a:pPr>
                      <a:r>
                        <a:rPr lang="en-US" sz="1000" dirty="0">
                          <a:solidFill>
                            <a:srgbClr val="58595B"/>
                          </a:solidFill>
                          <a:latin typeface="Calibri" pitchFamily="34" charset="0"/>
                          <a:ea typeface="Calibri" pitchFamily="34" charset="-122"/>
                          <a:cs typeface="Calibri" pitchFamily="34" charset="-120"/>
                        </a:rPr>
                        <a:t>Define future perspectives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10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Perspectives: AI bed and staff capacity planning programme, second wave for OP level.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UFT-31-03
</a:t>
                      </a:r>
                      <a:pPr indent="0" marL="0">
                        <a:buNone/>
                      </a:pPr>
                      <a:r>
                        <a:rPr lang="en-US" sz="1000" b="1" dirty="0">
                          <a:solidFill>
                            <a:srgbClr val="3A3A3C"/>
                          </a:solidFill>
                          <a:latin typeface="Calibri" pitchFamily="34" charset="0"/>
                          <a:ea typeface="Calibri" pitchFamily="34" charset="-122"/>
                          <a:cs typeface="Calibri" pitchFamily="34" charset="-120"/>
                        </a:rPr>
                        <a:t>Plan One-to-One coaching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MP-50.3 </a:t>
                      </a:r>
                      <a:pPr indent="0" marL="0">
                        <a:buNone/>
                      </a:pPr>
                      <a:r>
                        <a:rPr lang="en-US" sz="1000" dirty="0">
                          <a:solidFill>
                            <a:srgbClr val="58595B"/>
                          </a:solidFill>
                          <a:latin typeface="Calibri" pitchFamily="34" charset="0"/>
                          <a:ea typeface="Calibri" pitchFamily="34" charset="-122"/>
                          <a:cs typeface="Calibri" pitchFamily="34" charset="-120"/>
                        </a:rPr>
                        <a:t>Plan One-to-One coaching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Amine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One-to-One coaching: 6 managers, 6 sessions each over 6 months.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UFT-31-04
</a:t>
                      </a:r>
                      <a:pPr indent="0" marL="0">
                        <a:buNone/>
                      </a:pPr>
                      <a:r>
                        <a:rPr lang="en-US" sz="1000" b="1" dirty="0">
                          <a:solidFill>
                            <a:srgbClr val="3A3A3C"/>
                          </a:solidFill>
                          <a:latin typeface="Calibri" pitchFamily="34" charset="0"/>
                          <a:ea typeface="Calibri" pitchFamily="34" charset="-122"/>
                          <a:cs typeface="Calibri" pitchFamily="34" charset="-120"/>
                        </a:rPr>
                        <a:t>Plan organizational optimization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MP-50.4 </a:t>
                      </a:r>
                      <a:pPr indent="0" marL="0">
                        <a:buNone/>
                      </a:pPr>
                      <a:r>
                        <a:rPr lang="en-US" sz="1000" dirty="0">
                          <a:solidFill>
                            <a:srgbClr val="58595B"/>
                          </a:solidFill>
                          <a:latin typeface="Calibri" pitchFamily="34" charset="0"/>
                          <a:ea typeface="Calibri" pitchFamily="34" charset="-122"/>
                          <a:cs typeface="Calibri" pitchFamily="34" charset="-120"/>
                        </a:rPr>
                        <a:t>Plan organizational optimization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Mehdi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Organizational optimization: merge 2 planning cells; update 11 descriptions.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UFT-31-05
</a:t>
                      </a:r>
                      <a:pPr indent="0" marL="0">
                        <a:buNone/>
                      </a:pPr>
                      <a:r>
                        <a:rPr lang="en-US" sz="1000" b="1" dirty="0">
                          <a:solidFill>
                            <a:srgbClr val="3A3A3C"/>
                          </a:solidFill>
                          <a:latin typeface="Calibri" pitchFamily="34" charset="0"/>
                          <a:ea typeface="Calibri" pitchFamily="34" charset="-122"/>
                          <a:cs typeface="Calibri" pitchFamily="34" charset="-120"/>
                        </a:rPr>
                        <a:t>Plan IS rehabilitation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MP-50.5 </a:t>
                      </a:r>
                      <a:pPr indent="0" marL="0">
                        <a:buNone/>
                      </a:pPr>
                      <a:r>
                        <a:rPr lang="en-US" sz="1000" dirty="0">
                          <a:solidFill>
                            <a:srgbClr val="58595B"/>
                          </a:solidFill>
                          <a:latin typeface="Calibri" pitchFamily="34" charset="0"/>
                          <a:ea typeface="Calibri" pitchFamily="34" charset="-122"/>
                          <a:cs typeface="Calibri" pitchFamily="34" charset="-120"/>
                        </a:rPr>
                        <a:t>Plan IS rehabilitation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Omar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IS rehabilitation: connect HRIS and training platform; retire 2 spreadsheets.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UFT-31-06
</a:t>
                      </a:r>
                      <a:pPr indent="0" marL="0">
                        <a:buNone/>
                      </a:pPr>
                      <a:r>
                        <a:rPr lang="en-US" sz="1000" b="1" dirty="0">
                          <a:solidFill>
                            <a:srgbClr val="3A3A3C"/>
                          </a:solidFill>
                          <a:latin typeface="Calibri" pitchFamily="34" charset="0"/>
                          <a:ea typeface="Calibri" pitchFamily="34" charset="-122"/>
                          <a:cs typeface="Calibri" pitchFamily="34" charset="-120"/>
                        </a:rPr>
                        <a:t>Define KPIs and dashboards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MP-50.6 </a:t>
                      </a:r>
                      <a:pPr indent="0" marL="0">
                        <a:buNone/>
                      </a:pPr>
                      <a:r>
                        <a:rPr lang="en-US" sz="1000" dirty="0">
                          <a:solidFill>
                            <a:srgbClr val="58595B"/>
                          </a:solidFill>
                          <a:latin typeface="Calibri" pitchFamily="34" charset="0"/>
                          <a:ea typeface="Calibri" pitchFamily="34" charset="-122"/>
                          <a:cs typeface="Calibri" pitchFamily="34" charset="-120"/>
                        </a:rPr>
                        <a:t>Define KPIs and dashboards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22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KPIs: training coverage, time to competency, ROI per theme; monthly dashboard.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31"/>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31-02 Define future perspective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UFT-31-02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6 · E2E-31 · ROOT (ROADMAP)</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Engagement-to-Roadmap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UFT-31-07
</a:t>
                      </a:r>
                      <a:pPr indent="0" marL="0">
                        <a:buNone/>
                      </a:pPr>
                      <a:r>
                        <a:rPr lang="en-US" sz="1000" b="1" dirty="0">
                          <a:solidFill>
                            <a:srgbClr val="3A3A3C"/>
                          </a:solidFill>
                          <a:latin typeface="Calibri" pitchFamily="34" charset="0"/>
                          <a:ea typeface="Calibri" pitchFamily="34" charset="-122"/>
                          <a:cs typeface="Calibri" pitchFamily="34" charset="-120"/>
                        </a:rPr>
                        <a:t>Prioritize future missions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MP-50.7 </a:t>
                      </a:r>
                      <a:pPr indent="0" marL="0">
                        <a:buNone/>
                      </a:pPr>
                      <a:r>
                        <a:rPr lang="en-US" sz="1000" dirty="0">
                          <a:solidFill>
                            <a:srgbClr val="58595B"/>
                          </a:solidFill>
                          <a:latin typeface="Calibri" pitchFamily="34" charset="0"/>
                          <a:ea typeface="Calibri" pitchFamily="34" charset="-122"/>
                          <a:cs typeface="Calibri" pitchFamily="34" charset="-120"/>
                        </a:rPr>
                        <a:t>Prioritize future missions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MP-50.8 </a:t>
                      </a:r>
                      <a:pPr indent="0" marL="0">
                        <a:buNone/>
                      </a:pPr>
                      <a:r>
                        <a:rPr lang="en-US" sz="1000" dirty="0">
                          <a:solidFill>
                            <a:srgbClr val="58595B"/>
                          </a:solidFill>
                          <a:latin typeface="Calibri" pitchFamily="34" charset="0"/>
                          <a:ea typeface="Calibri" pitchFamily="34" charset="-122"/>
                          <a:cs typeface="Calibri" pitchFamily="34" charset="-120"/>
                        </a:rPr>
                        <a:t>Validate roadmap with leadership</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25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Priority missions: 1 IS rehabilitation, 2 coaching, 3 org optimization.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UFT-31-08
</a:t>
                      </a:r>
                      <a:pPr indent="0" marL="0">
                        <a:buNone/>
                      </a:pPr>
                      <a:r>
                        <a:rPr lang="en-US" sz="1000" b="1" dirty="0">
                          <a:solidFill>
                            <a:srgbClr val="3A3A3C"/>
                          </a:solidFill>
                          <a:latin typeface="Calibri" pitchFamily="34" charset="0"/>
                          <a:ea typeface="Calibri" pitchFamily="34" charset="-122"/>
                          <a:cs typeface="Calibri" pitchFamily="34" charset="-120"/>
                        </a:rPr>
                        <a:t>Publish roadmap</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MP-50.9 </a:t>
                      </a:r>
                      <a:pPr indent="0" marL="0">
                        <a:buNone/>
                      </a:pPr>
                      <a:r>
                        <a:rPr lang="en-US" sz="1000" dirty="0">
                          <a:solidFill>
                            <a:srgbClr val="58595B"/>
                          </a:solidFill>
                          <a:latin typeface="Calibri" pitchFamily="34" charset="0"/>
                          <a:ea typeface="Calibri" pitchFamily="34" charset="-122"/>
                          <a:cs typeface="Calibri" pitchFamily="34" charset="-120"/>
                        </a:rPr>
                        <a:t>Publish post-engagement roadmap</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MP-50.10 </a:t>
                      </a:r>
                      <a:pPr indent="0" marL="0">
                        <a:buNone/>
                      </a:pPr>
                      <a:r>
                        <a:rPr lang="en-US" sz="1000" dirty="0">
                          <a:solidFill>
                            <a:srgbClr val="58595B"/>
                          </a:solidFill>
                          <a:latin typeface="Calibri" pitchFamily="34" charset="0"/>
                          <a:ea typeface="Calibri" pitchFamily="34" charset="-122"/>
                          <a:cs typeface="Calibri" pitchFamily="34" charset="-120"/>
                        </a:rPr>
                        <a:t>Track roadmap execution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MP-50.11 </a:t>
                      </a:r>
                      <a:pPr indent="0" marL="0">
                        <a:buNone/>
                      </a:pPr>
                      <a:r>
                        <a:rPr lang="en-US" sz="1000" dirty="0">
                          <a:solidFill>
                            <a:srgbClr val="58595B"/>
                          </a:solidFill>
                          <a:latin typeface="Calibri" pitchFamily="34" charset="0"/>
                          <a:ea typeface="Calibri" pitchFamily="34" charset="-122"/>
                          <a:cs typeface="Calibri" pitchFamily="34" charset="-120"/>
                        </a:rPr>
                        <a:t>Improve roadmap continuously</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+ 1 more steps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28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Publish RPT-010 Post-Engagement Roadmap to the executive committee.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6" name="frame run_E2E-31"/>
          <p:cNvSpPr/>
          <p:nvPr/>
        </p:nvSpPr>
        <p:spPr>
          <a:xfrm>
            <a:off x="2356514" y="3063240"/>
            <a:ext cx="4065212" cy="2980944"/>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31">    </p:cNvPr>
          <p:cNvPicPr>
            <a:picLocks noChangeAspect="1"/>
          </p:cNvPicPr>
          <p:nvPr/>
        </p:nvPicPr>
        <p:blipFill>
          <a:blip r:embed="rId1"/>
          <a:stretch>
            <a:fillRect/>
          </a:stretch>
        </p:blipFill>
        <p:spPr>
          <a:xfrm>
            <a:off x="2411378" y="3118104"/>
            <a:ext cx="3955484" cy="2871216"/>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E2E-31 in CortexSkills: its tasks, owners and due dates, and the process card.</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 processes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MP-50 Post-Engagement Roadmap &amp; Continuous Improvement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MP-36 Consulting Engagement Management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MP-19 Change Management &amp; Adoption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MP-12 Learning Culture &amp; Knowledge Management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MP-16 Data, AI &amp; Integration Governance</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Feeds into</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E2E-17, E2E-18</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Supported by</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2" name=""/>
        <p:cNvGrpSpPr/>
        <p:nvPr/>
      </p:nvGrpSpPr>
      <p:grpSpPr>
        <a:xfrm>
          <a:off x="0" y="0"/>
          <a:ext cx="0" cy="0"/>
          <a:chOff x="0" y="0"/>
          <a:chExt cx="0" cy="0"/>
        </a:xfrm>
      </p:grpSpPr>
      <p:sp>
        <p:nvSpPr>
          <p:cNvPr id="3" name="Text 0"/>
          <p:cNvSpPr txBox="1"/>
          <p:nvPr/>
        </p:nvSpPr>
        <p:spPr>
          <a:xfrm>
            <a:off x="457200" y="914400"/>
            <a:ext cx="2743200" cy="1280160"/>
          </a:xfrm>
          <a:prstGeom prst="rect">
            <a:avLst/>
          </a:prstGeom>
          <a:noFill/>
          <a:ln/>
        </p:spPr>
        <p:txBody>
          <a:bodyPr wrap="square" lIns="0" tIns="0" rIns="0" bIns="0" rtlCol="0" anchor="ctr"/>
          <a:lstStyle/>
          <a:p>
            <a:pPr indent="0" marL="0">
              <a:buNone/>
            </a:pPr>
            <a:r>
              <a:rPr lang="en-US" sz="8000" b="1" dirty="0">
                <a:solidFill>
                  <a:srgbClr val="F8931D"/>
                </a:solidFill>
                <a:latin typeface="Cambria" pitchFamily="34" charset="0"/>
                <a:ea typeface="Cambria" pitchFamily="34" charset="-122"/>
                <a:cs typeface="Cambria" pitchFamily="34" charset="-120"/>
              </a:rPr>
              <a:t>00</a:t>
            </a:r>
            <a:endParaRPr lang="en-US" sz="8000" dirty="0"/>
          </a:p>
        </p:txBody>
      </p:sp>
      <p:sp>
        <p:nvSpPr>
          <p:cNvPr id="4" name="Text 1"/>
          <p:cNvSpPr txBox="1"/>
          <p:nvPr/>
        </p:nvSpPr>
        <p:spPr>
          <a:xfrm>
            <a:off x="457200" y="2331720"/>
            <a:ext cx="5486400" cy="320040"/>
          </a:xfrm>
          <a:prstGeom prst="rect">
            <a:avLst/>
          </a:prstGeom>
          <a:noFill/>
          <a:ln/>
        </p:spPr>
        <p:txBody>
          <a:bodyPr wrap="square" lIns="0" tIns="0" rIns="0" bIns="0" rtlCol="0" anchor="ctr"/>
          <a:lstStyle/>
          <a:p>
            <a:pPr indent="0" marL="0">
              <a:buNone/>
            </a:pPr>
            <a:r>
              <a:rPr lang="en-US" sz="1300" b="1" spc="300" kern="0" dirty="0">
                <a:solidFill>
                  <a:srgbClr val="F8931D"/>
                </a:solidFill>
                <a:latin typeface="Calibri" pitchFamily="34" charset="0"/>
                <a:ea typeface="Calibri" pitchFamily="34" charset="-122"/>
                <a:cs typeface="Calibri" pitchFamily="34" charset="-120"/>
              </a:rPr>
              <a:t>PHASE 0</a:t>
            </a:r>
            <a:endParaRPr lang="en-US" sz="1300" dirty="0"/>
          </a:p>
        </p:txBody>
      </p:sp>
      <p:sp>
        <p:nvSpPr>
          <p:cNvPr id="5" name="Text 2"/>
          <p:cNvSpPr txBox="1"/>
          <p:nvPr/>
        </p:nvSpPr>
        <p:spPr>
          <a:xfrm>
            <a:off x="457200" y="2697480"/>
            <a:ext cx="5669280" cy="13716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Enablers (run across all phases)</a:t>
            </a:r>
            <a:endParaRPr lang="en-US" sz="3600" dirty="0"/>
          </a:p>
        </p:txBody>
      </p:sp>
      <p:sp>
        <p:nvSpPr>
          <p:cNvPr id="6" name="Text 3"/>
          <p:cNvSpPr txBox="1"/>
          <p:nvPr/>
        </p:nvSpPr>
        <p:spPr>
          <a:xfrm>
            <a:off x="457200" y="4206240"/>
            <a:ext cx="5669280" cy="1097280"/>
          </a:xfrm>
          <a:prstGeom prst="rect">
            <a:avLst/>
          </a:prstGeom>
          <a:noFill/>
          <a:ln/>
        </p:spPr>
        <p:txBody>
          <a:bodyPr wrap="square" lIns="0" tIns="0" rIns="0" bIns="0" rtlCol="0" anchor="t"/>
          <a:lstStyle/>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3 processes · 21 tasks · 34 steps</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18 Apr 2026 – 31 Jul 2026</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Runs across all phases</a:t>
            </a:r>
            <a:endParaRPr lang="en-US" sz="1500" dirty="0"/>
          </a:p>
        </p:txBody>
      </p:sp>
      <p:sp>
        <p:nvSpPr>
          <p:cNvPr id="7" name="Text 4"/>
          <p:cNvSpPr txBox="1"/>
          <p:nvPr/>
        </p:nvSpPr>
        <p:spPr>
          <a:xfrm>
            <a:off x="6675120" y="1097280"/>
            <a:ext cx="5029200" cy="4754880"/>
          </a:xfrm>
          <a:prstGeom prst="rect">
            <a:avLst/>
          </a:prstGeom>
          <a:noFill/>
          <a:ln/>
        </p:spPr>
        <p:txBody>
          <a:bodyPr wrap="square" lIns="0" tIns="0" rIns="0" bIns="0" rtlCol="0" anchor="ctr"/>
          <a:lstStyle/>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E2E-15   Data-AI-Integration</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E2E-17   Change-to-Adoption</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E2E-18   Quality-Risk-Improvement</a:t>
            </a:r>
            <a:endParaRPr lang="en-US" sz="1500" dirty="0"/>
          </a:p>
        </p:txBody>
      </p:sp>
      <p:sp>
        <p:nvSpPr>
          <p:cNvPr id="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DBDBF"/>
                </a:solidFill>
                <a:latin typeface="Calibri"/>
                <a:ea typeface="Calibri"/>
                <a:cs typeface="Calibri"/>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0 · E2E-15 · ROOT / ENABLER</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Data-AI-Integration</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Govern data, AI, integrations</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New integration, data source or AI use case to govern.</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Integrations, data and AI governed with health, retention and usage reviewed.</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tasks · 11 steps
</a:t>
            </a:r>
            <a:pPr indent="0" marL="0">
              <a:buNone/>
            </a:pPr>
            <a:r>
              <a:rPr lang="en-US" sz="1100" dirty="0">
                <a:solidFill>
                  <a:srgbClr val="3A3A3C"/>
                </a:solidFill>
                <a:latin typeface="Calibri" pitchFamily="34" charset="0"/>
                <a:ea typeface="Calibri" pitchFamily="34" charset="-122"/>
                <a:cs typeface="Calibri" pitchFamily="34" charset="-120"/>
              </a:rPr>
              <a:t>20 days · 3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MP-16 Data, AI &amp; Integration Governance · </a:t>
            </a:r>
            <a:pPr indent="0" marL="0">
              <a:buNone/>
            </a:pPr>
            <a:r>
              <a:rPr lang="en-US" sz="1000" dirty="0">
                <a:solidFill>
                  <a:srgbClr val="58595B"/>
                </a:solidFill>
                <a:latin typeface="Calibri" pitchFamily="34" charset="0"/>
                <a:ea typeface="Calibri" pitchFamily="34" charset="-122"/>
                <a:cs typeface="Calibri" pitchFamily="34" charset="-120"/>
              </a:rPr>
              <a:t>MP-17 Identity, Access &amp; Security Management · </a:t>
            </a:r>
            <a:pPr indent="0" marL="0">
              <a:buNone/>
            </a:pPr>
            <a:r>
              <a:rPr lang="en-US" sz="1000" dirty="0">
                <a:solidFill>
                  <a:srgbClr val="58595B"/>
                </a:solidFill>
                <a:latin typeface="Calibri" pitchFamily="34" charset="0"/>
                <a:ea typeface="Calibri" pitchFamily="34" charset="-122"/>
                <a:cs typeface="Calibri" pitchFamily="34" charset="-120"/>
              </a:rPr>
              <a:t>MP-10 Reporting &amp; Analytics · </a:t>
            </a:r>
            <a:pPr indent="0" marL="0">
              <a:buNone/>
            </a:pPr>
            <a:r>
              <a:rPr lang="en-US" sz="1000" dirty="0">
                <a:solidFill>
                  <a:srgbClr val="58595B"/>
                </a:solidFill>
                <a:latin typeface="Calibri" pitchFamily="34" charset="0"/>
                <a:ea typeface="Calibri" pitchFamily="34" charset="-122"/>
                <a:cs typeface="Calibri" pitchFamily="34" charset="-120"/>
              </a:rPr>
              <a:t>MP-24 AI-Powered Personalization &amp; Adaptive Learning · </a:t>
            </a:r>
            <a:pPr indent="0" marL="0">
              <a:buNone/>
            </a:pPr>
            <a:r>
              <a:rPr lang="en-US" sz="1000" dirty="0">
                <a:solidFill>
                  <a:srgbClr val="58595B"/>
                </a:solidFill>
                <a:latin typeface="Calibri" pitchFamily="34" charset="0"/>
                <a:ea typeface="Calibri" pitchFamily="34" charset="-122"/>
                <a:cs typeface="Calibri" pitchFamily="34" charset="-120"/>
              </a:rPr>
              <a:t>MP-28 Predictive Learning Analytics &amp; Intelligence</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UFT-15-01
</a:t>
                      </a:r>
                      <a:pPr indent="0" marL="0">
                        <a:buNone/>
                      </a:pPr>
                      <a:r>
                        <a:rPr lang="en-US" sz="1000" b="1" dirty="0">
                          <a:solidFill>
                            <a:srgbClr val="3A3A3C"/>
                          </a:solidFill>
                          <a:latin typeface="Calibri" pitchFamily="34" charset="0"/>
                          <a:ea typeface="Calibri" pitchFamily="34" charset="-122"/>
                          <a:cs typeface="Calibri" pitchFamily="34" charset="-120"/>
                        </a:rPr>
                        <a:t>Register external integration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MP-16.1 </a:t>
                      </a:r>
                      <a:pPr indent="0" marL="0">
                        <a:buNone/>
                      </a:pPr>
                      <a:r>
                        <a:rPr lang="en-US" sz="1000" dirty="0">
                          <a:solidFill>
                            <a:srgbClr val="58595B"/>
                          </a:solidFill>
                          <a:latin typeface="Calibri" pitchFamily="34" charset="0"/>
                          <a:ea typeface="Calibri" pitchFamily="34" charset="-122"/>
                          <a:cs typeface="Calibri" pitchFamily="34" charset="-120"/>
                        </a:rPr>
                        <a:t>Register external integration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Loubna Mansouri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20 Apr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Register integration 'HRIS — Workday' (INT-HR-01); credential reference stored encrypted.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UFT-15-02
</a:t>
                      </a:r>
                      <a:pPr indent="0" marL="0">
                        <a:buNone/>
                      </a:pPr>
                      <a:r>
                        <a:rPr lang="en-US" sz="1000" b="1" dirty="0">
                          <a:solidFill>
                            <a:srgbClr val="3A3A3C"/>
                          </a:solidFill>
                          <a:latin typeface="Calibri" pitchFamily="34" charset="0"/>
                          <a:ea typeface="Calibri" pitchFamily="34" charset="-122"/>
                          <a:cs typeface="Calibri" pitchFamily="34" charset="-120"/>
                        </a:rPr>
                        <a:t>Map fields and check health</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MP-16.2 </a:t>
                      </a:r>
                      <a:pPr indent="0" marL="0">
                        <a:buNone/>
                      </a:pPr>
                      <a:r>
                        <a:rPr lang="en-US" sz="1000" dirty="0">
                          <a:solidFill>
                            <a:srgbClr val="58595B"/>
                          </a:solidFill>
                          <a:latin typeface="Calibri" pitchFamily="34" charset="0"/>
                          <a:ea typeface="Calibri" pitchFamily="34" charset="-122"/>
                          <a:cs typeface="Calibri" pitchFamily="34" charset="-120"/>
                        </a:rPr>
                        <a:t>Map integration fields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MP-16.3 </a:t>
                      </a:r>
                      <a:pPr indent="0" marL="0">
                        <a:buNone/>
                      </a:pPr>
                      <a:r>
                        <a:rPr lang="en-US" sz="1000" dirty="0">
                          <a:solidFill>
                            <a:srgbClr val="58595B"/>
                          </a:solidFill>
                          <a:latin typeface="Calibri" pitchFamily="34" charset="0"/>
                          <a:ea typeface="Calibri" pitchFamily="34" charset="-122"/>
                          <a:cs typeface="Calibri" pitchFamily="34" charset="-120"/>
                        </a:rPr>
                        <a:t>Check integration health</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Omar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23 Apr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Map fields: employee_id → matricule; position → poste. Health check: success.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UFT-15-03
</a:t>
                      </a:r>
                      <a:pPr indent="0" marL="0">
                        <a:buNone/>
                      </a:pPr>
                      <a:r>
                        <a:rPr lang="en-US" sz="1000" b="1" dirty="0">
                          <a:solidFill>
                            <a:srgbClr val="3A3A3C"/>
                          </a:solidFill>
                          <a:latin typeface="Calibri" pitchFamily="34" charset="0"/>
                          <a:ea typeface="Calibri" pitchFamily="34" charset="-122"/>
                          <a:cs typeface="Calibri" pitchFamily="34" charset="-120"/>
                        </a:rPr>
                        <a:t>Run HRIS synchronisation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MP-16.4 </a:t>
                      </a:r>
                      <a:pPr indent="0" marL="0">
                        <a:buNone/>
                      </a:pPr>
                      <a:r>
                        <a:rPr lang="en-US" sz="1000" dirty="0">
                          <a:solidFill>
                            <a:srgbClr val="58595B"/>
                          </a:solidFill>
                          <a:latin typeface="Calibri" pitchFamily="34" charset="0"/>
                          <a:ea typeface="Calibri" pitchFamily="34" charset="-122"/>
                          <a:cs typeface="Calibri" pitchFamily="34" charset="-120"/>
                        </a:rPr>
                        <a:t>Run HRIS synchronisation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MP-16.5 </a:t>
                      </a:r>
                      <a:pPr indent="0" marL="0">
                        <a:buNone/>
                      </a:pPr>
                      <a:r>
                        <a:rPr lang="en-US" sz="1000" dirty="0">
                          <a:solidFill>
                            <a:srgbClr val="58595B"/>
                          </a:solidFill>
                          <a:latin typeface="Calibri" pitchFamily="34" charset="0"/>
                          <a:ea typeface="Calibri" pitchFamily="34" charset="-122"/>
                          <a:cs typeface="Calibri" pitchFamily="34" charset="-120"/>
                        </a:rPr>
                        <a:t>Review synchronisation rejections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Omar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26 Apr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Sync run: 1,204 records updated, 3 rejected (missing position) — corrected.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UFT-15-04
</a:t>
                      </a:r>
                      <a:pPr indent="0" marL="0">
                        <a:buNone/>
                      </a:pPr>
                      <a:r>
                        <a:rPr lang="en-US" sz="1000" b="1" dirty="0">
                          <a:solidFill>
                            <a:srgbClr val="3A3A3C"/>
                          </a:solidFill>
                          <a:latin typeface="Calibri" pitchFamily="34" charset="0"/>
                          <a:ea typeface="Calibri" pitchFamily="34" charset="-122"/>
                          <a:cs typeface="Calibri" pitchFamily="34" charset="-120"/>
                        </a:rPr>
                        <a:t>Set data retention rule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MP-16.6 </a:t>
                      </a:r>
                      <a:pPr indent="0" marL="0">
                        <a:buNone/>
                      </a:pPr>
                      <a:r>
                        <a:rPr lang="en-US" sz="1000" dirty="0">
                          <a:solidFill>
                            <a:srgbClr val="58595B"/>
                          </a:solidFill>
                          <a:latin typeface="Calibri" pitchFamily="34" charset="0"/>
                          <a:ea typeface="Calibri" pitchFamily="34" charset="-122"/>
                          <a:cs typeface="Calibri" pitchFamily="34" charset="-120"/>
                        </a:rPr>
                        <a:t>Set data retention rule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29 Apr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Retention: questionnaire responses 3 years; training records 10 years.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UFT-15-05
</a:t>
                      </a:r>
                      <a:pPr indent="0" marL="0">
                        <a:buNone/>
                      </a:pPr>
                      <a:r>
                        <a:rPr lang="en-US" sz="1000" b="1" dirty="0">
                          <a:solidFill>
                            <a:srgbClr val="3A3A3C"/>
                          </a:solidFill>
                          <a:latin typeface="Calibri" pitchFamily="34" charset="0"/>
                          <a:ea typeface="Calibri" pitchFamily="34" charset="-122"/>
                          <a:cs typeface="Calibri" pitchFamily="34" charset="-120"/>
                        </a:rPr>
                        <a:t>Maintain AI use case register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MP-16.7 </a:t>
                      </a:r>
                      <a:pPr indent="0" marL="0">
                        <a:buNone/>
                      </a:pPr>
                      <a:r>
                        <a:rPr lang="en-US" sz="1000" dirty="0">
                          <a:solidFill>
                            <a:srgbClr val="58595B"/>
                          </a:solidFill>
                          <a:latin typeface="Calibri" pitchFamily="34" charset="0"/>
                          <a:ea typeface="Calibri" pitchFamily="34" charset="-122"/>
                          <a:cs typeface="Calibri" pitchFamily="34" charset="-120"/>
                        </a:rPr>
                        <a:t>Maintain AI use case register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Loubna Mansouri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Add custom use case 'Shift-report summarizer' (Assistive), version 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UFT-15-06
</a:t>
                      </a:r>
                      <a:pPr indent="0" marL="0">
                        <a:buNone/>
                      </a:pPr>
                      <a:r>
                        <a:rPr lang="en-US" sz="1000" b="1" dirty="0">
                          <a:solidFill>
                            <a:srgbClr val="3A3A3C"/>
                          </a:solidFill>
                          <a:latin typeface="Calibri" pitchFamily="34" charset="0"/>
                          <a:ea typeface="Calibri" pitchFamily="34" charset="-122"/>
                          <a:cs typeface="Calibri" pitchFamily="34" charset="-120"/>
                        </a:rPr>
                        <a:t>Set AI activation per scope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MP-16.8 </a:t>
                      </a:r>
                      <a:pPr indent="0" marL="0">
                        <a:buNone/>
                      </a:pPr>
                      <a:r>
                        <a:rPr lang="en-US" sz="1000" dirty="0">
                          <a:solidFill>
                            <a:srgbClr val="58595B"/>
                          </a:solidFill>
                          <a:latin typeface="Calibri" pitchFamily="34" charset="0"/>
                          <a:ea typeface="Calibri" pitchFamily="34" charset="-122"/>
                          <a:cs typeface="Calibri" pitchFamily="34" charset="-120"/>
                        </a:rPr>
                        <a:t>Set AI activation per scope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MP-24.1 </a:t>
                      </a:r>
                      <a:pPr indent="0" marL="0">
                        <a:buNone/>
                      </a:pPr>
                      <a:r>
                        <a:rPr lang="en-US" sz="1000" dirty="0">
                          <a:solidFill>
                            <a:srgbClr val="58595B"/>
                          </a:solidFill>
                          <a:latin typeface="Calibri" pitchFamily="34" charset="0"/>
                          <a:ea typeface="Calibri" pitchFamily="34" charset="-122"/>
                          <a:cs typeface="Calibri" pitchFamily="34" charset="-120"/>
                        </a:rPr>
                        <a:t>Enable personalization per scope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Loubna Mansouri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Activate AIUC-35 and AIUC-36 for the organization; override Off for pilot project B.</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15"/>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15-01 Register external integration">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UFT-15-01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0 · E2E-15 · ROOT / ENABLER</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Data-AI-Integration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UFT-15-07
</a:t>
                      </a:r>
                      <a:pPr indent="0" marL="0">
                        <a:buNone/>
                      </a:pPr>
                      <a:r>
                        <a:rPr lang="en-US" sz="1000" b="1" dirty="0">
                          <a:solidFill>
                            <a:srgbClr val="3A3A3C"/>
                          </a:solidFill>
                          <a:latin typeface="Calibri" pitchFamily="34" charset="0"/>
                          <a:ea typeface="Calibri" pitchFamily="34" charset="-122"/>
                          <a:cs typeface="Calibri" pitchFamily="34" charset="-120"/>
                        </a:rPr>
                        <a:t>Review AI usage log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MP-16.9 </a:t>
                      </a:r>
                      <a:pPr indent="0" marL="0">
                        <a:buNone/>
                      </a:pPr>
                      <a:r>
                        <a:rPr lang="en-US" sz="1000" dirty="0">
                          <a:solidFill>
                            <a:srgbClr val="58595B"/>
                          </a:solidFill>
                          <a:latin typeface="Calibri" pitchFamily="34" charset="0"/>
                          <a:ea typeface="Calibri" pitchFamily="34" charset="-122"/>
                          <a:cs typeface="Calibri" pitchFamily="34" charset="-120"/>
                        </a:rPr>
                        <a:t>Review AI usage log</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MP-28.2 </a:t>
                      </a:r>
                      <a:pPr indent="0" marL="0">
                        <a:buNone/>
                      </a:pPr>
                      <a:r>
                        <a:rPr lang="en-US" sz="1000" dirty="0">
                          <a:solidFill>
                            <a:srgbClr val="58595B"/>
                          </a:solidFill>
                          <a:latin typeface="Calibri" pitchFamily="34" charset="0"/>
                          <a:ea typeface="Calibri" pitchFamily="34" charset="-122"/>
                          <a:cs typeface="Calibri" pitchFamily="34" charset="-120"/>
                        </a:rPr>
                        <a:t>Validate dataset quality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Omar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8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Usage review: 412 suggestions — 71% accepted, 20% edited, 9% rejected.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15"/>
          <p:cNvSpPr/>
          <p:nvPr/>
        </p:nvSpPr>
        <p:spPr>
          <a:xfrm>
            <a:off x="1770750" y="2212848"/>
            <a:ext cx="5236741" cy="3831336"/>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15">    </p:cNvPr>
          <p:cNvPicPr>
            <a:picLocks noChangeAspect="1"/>
          </p:cNvPicPr>
          <p:nvPr/>
        </p:nvPicPr>
        <p:blipFill>
          <a:blip r:embed="rId1"/>
          <a:stretch>
            <a:fillRect/>
          </a:stretch>
        </p:blipFill>
        <p:spPr>
          <a:xfrm>
            <a:off x="1825614" y="2267712"/>
            <a:ext cx="5127013" cy="3721608"/>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E2E-15 in CortexSkills: its tasks, owners and due dates, and the process card.</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 processes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MP-16 Data, AI &amp; Integration Governance</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MP-17 Identity, Access &amp; Security Management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MP-10 Reporting &amp; Analytics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MP-24 AI-Powered Personalization &amp; Adaptive Learning</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MP-28 Predictive Learning Analytics &amp; Intelligence</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Feeds into</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All E2E processes</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Supported by</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0 · E2E-17 · ROOT / ENABLER</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Change-to-Adoption</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Drive sustained adoption and culture change</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Approved plan or new platform capability requiring adoption.</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Sustained adoption reached with low-adoption groups reinforced.</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tasks · 11 steps
</a:t>
            </a:r>
            <a:pPr indent="0" marL="0">
              <a:buNone/>
            </a:pPr>
            <a:r>
              <a:rPr lang="en-US" sz="1100" dirty="0">
                <a:solidFill>
                  <a:srgbClr val="3A3A3C"/>
                </a:solidFill>
                <a:latin typeface="Calibri" pitchFamily="34" charset="0"/>
                <a:ea typeface="Calibri" pitchFamily="34" charset="-122"/>
                <a:cs typeface="Calibri" pitchFamily="34" charset="-120"/>
              </a:rPr>
              <a:t>20 days · 3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MP-19 Change Management &amp; Adoption · </a:t>
            </a:r>
            <a:pPr indent="0" marL="0">
              <a:buNone/>
            </a:pPr>
            <a:r>
              <a:rPr lang="en-US" sz="1000" dirty="0">
                <a:solidFill>
                  <a:srgbClr val="58595B"/>
                </a:solidFill>
                <a:latin typeface="Calibri" pitchFamily="34" charset="0"/>
                <a:ea typeface="Calibri" pitchFamily="34" charset="-122"/>
                <a:cs typeface="Calibri" pitchFamily="34" charset="-120"/>
              </a:rPr>
              <a:t>MP-12 Learning Culture &amp; Knowledge Management · </a:t>
            </a:r>
            <a:pPr indent="0" marL="0">
              <a:buNone/>
            </a:pPr>
            <a:r>
              <a:rPr lang="en-US" sz="1000" dirty="0">
                <a:solidFill>
                  <a:srgbClr val="58595B"/>
                </a:solidFill>
                <a:latin typeface="Calibri" pitchFamily="34" charset="0"/>
                <a:ea typeface="Calibri" pitchFamily="34" charset="-122"/>
                <a:cs typeface="Calibri" pitchFamily="34" charset="-120"/>
              </a:rPr>
              <a:t>MP-08 Learner Experience &amp; Engagement · </a:t>
            </a:r>
            <a:pPr indent="0" marL="0">
              <a:buNone/>
            </a:pPr>
            <a:r>
              <a:rPr lang="en-US" sz="1000" dirty="0">
                <a:solidFill>
                  <a:srgbClr val="58595B"/>
                </a:solidFill>
                <a:latin typeface="Calibri" pitchFamily="34" charset="0"/>
                <a:ea typeface="Calibri" pitchFamily="34" charset="-122"/>
                <a:cs typeface="Calibri" pitchFamily="34" charset="-120"/>
              </a:rPr>
              <a:t>MP-26 Social &amp; Collaborative Learning Networks</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UFT-17-01
</a:t>
                      </a:r>
                      <a:pPr indent="0" marL="0">
                        <a:buNone/>
                      </a:pPr>
                      <a:r>
                        <a:rPr lang="en-US" sz="1000" b="1" dirty="0">
                          <a:solidFill>
                            <a:srgbClr val="3A3A3C"/>
                          </a:solidFill>
                          <a:latin typeface="Calibri" pitchFamily="34" charset="0"/>
                          <a:ea typeface="Calibri" pitchFamily="34" charset="-122"/>
                          <a:cs typeface="Calibri" pitchFamily="34" charset="-120"/>
                        </a:rPr>
                        <a:t>Assess change impact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MP-19.1 </a:t>
                      </a:r>
                      <a:pPr indent="0" marL="0">
                        <a:buNone/>
                      </a:pPr>
                      <a:r>
                        <a:rPr lang="en-US" sz="1000" dirty="0">
                          <a:solidFill>
                            <a:srgbClr val="58595B"/>
                          </a:solidFill>
                          <a:latin typeface="Calibri" pitchFamily="34" charset="0"/>
                          <a:ea typeface="Calibri" pitchFamily="34" charset="-122"/>
                          <a:cs typeface="Calibri" pitchFamily="34" charset="-120"/>
                        </a:rPr>
                        <a:t>Assess change impact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Fassi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Impact: Clinical Care &amp; Nursing supervisors high, operators medium, support functions low.</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UFT-17-02
</a:t>
                      </a:r>
                      <a:pPr indent="0" marL="0">
                        <a:buNone/>
                      </a:pPr>
                      <a:r>
                        <a:rPr lang="en-US" sz="1000" b="1" dirty="0">
                          <a:solidFill>
                            <a:srgbClr val="3A3A3C"/>
                          </a:solidFill>
                          <a:latin typeface="Calibri" pitchFamily="34" charset="0"/>
                          <a:ea typeface="Calibri" pitchFamily="34" charset="-122"/>
                          <a:cs typeface="Calibri" pitchFamily="34" charset="-120"/>
                        </a:rPr>
                        <a:t>Build adoption plan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MP-19.2 </a:t>
                      </a:r>
                      <a:pPr indent="0" marL="0">
                        <a:buNone/>
                      </a:pPr>
                      <a:r>
                        <a:rPr lang="en-US" sz="1000" dirty="0">
                          <a:solidFill>
                            <a:srgbClr val="58595B"/>
                          </a:solidFill>
                          <a:latin typeface="Calibri" pitchFamily="34" charset="0"/>
                          <a:ea typeface="Calibri" pitchFamily="34" charset="-122"/>
                          <a:cs typeface="Calibri" pitchFamily="34" charset="-120"/>
                        </a:rPr>
                        <a:t>Build adoption plan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Fassi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Adoption plan: sponsor message, 6 champions, weekly 15-minute huddles for 8 weeks.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UFT-17-03
</a:t>
                      </a:r>
                      <a:pPr indent="0" marL="0">
                        <a:buNone/>
                      </a:pPr>
                      <a:r>
                        <a:rPr lang="en-US" sz="1000" b="1" dirty="0">
                          <a:solidFill>
                            <a:srgbClr val="3A3A3C"/>
                          </a:solidFill>
                          <a:latin typeface="Calibri" pitchFamily="34" charset="0"/>
                          <a:ea typeface="Calibri" pitchFamily="34" charset="-122"/>
                          <a:cs typeface="Calibri" pitchFamily="34" charset="-120"/>
                        </a:rPr>
                        <a:t>Launch communication campaign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MP-19.3 </a:t>
                      </a:r>
                      <a:pPr indent="0" marL="0">
                        <a:buNone/>
                      </a:pPr>
                      <a:r>
                        <a:rPr lang="en-US" sz="1000" dirty="0">
                          <a:solidFill>
                            <a:srgbClr val="58595B"/>
                          </a:solidFill>
                          <a:latin typeface="Calibri" pitchFamily="34" charset="0"/>
                          <a:ea typeface="Calibri" pitchFamily="34" charset="-122"/>
                          <a:cs typeface="Calibri" pitchFamily="34" charset="-120"/>
                        </a:rPr>
                        <a:t>Launch communication campaign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Fassi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Campaign 'AI triage and clinical decision support — why it matters' on e-mail, intranet and screens.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UFT-17-04
</a:t>
                      </a:r>
                      <a:pPr indent="0" marL="0">
                        <a:buNone/>
                      </a:pPr>
                      <a:r>
                        <a:rPr lang="en-US" sz="1000" b="1" dirty="0">
                          <a:solidFill>
                            <a:srgbClr val="3A3A3C"/>
                          </a:solidFill>
                          <a:latin typeface="Calibri" pitchFamily="34" charset="0"/>
                          <a:ea typeface="Calibri" pitchFamily="34" charset="-122"/>
                          <a:cs typeface="Calibri" pitchFamily="34" charset="-120"/>
                        </a:rPr>
                        <a:t>Open community space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MP-12.3 </a:t>
                      </a:r>
                      <a:pPr indent="0" marL="0">
                        <a:buNone/>
                      </a:pPr>
                      <a:r>
                        <a:rPr lang="en-US" sz="1000" dirty="0">
                          <a:solidFill>
                            <a:srgbClr val="58595B"/>
                          </a:solidFill>
                          <a:latin typeface="Calibri" pitchFamily="34" charset="0"/>
                          <a:ea typeface="Calibri" pitchFamily="34" charset="-122"/>
                          <a:cs typeface="Calibri" pitchFamily="34" charset="-120"/>
                        </a:rPr>
                        <a:t>Create community space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MP-12.4 </a:t>
                      </a:r>
                      <a:pPr indent="0" marL="0">
                        <a:buNone/>
                      </a:pPr>
                      <a:r>
                        <a:rPr lang="en-US" sz="1000" dirty="0">
                          <a:solidFill>
                            <a:srgbClr val="58595B"/>
                          </a:solidFill>
                          <a:latin typeface="Calibri" pitchFamily="34" charset="0"/>
                          <a:ea typeface="Calibri" pitchFamily="34" charset="-122"/>
                          <a:cs typeface="Calibri" pitchFamily="34" charset="-120"/>
                        </a:rPr>
                        <a:t>Moderate community posts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MP-26.1 </a:t>
                      </a:r>
                      <a:pPr indent="0" marL="0">
                        <a:buNone/>
                      </a:pPr>
                      <a:r>
                        <a:rPr lang="en-US" sz="1000" dirty="0">
                          <a:solidFill>
                            <a:srgbClr val="58595B"/>
                          </a:solidFill>
                          <a:latin typeface="Calibri" pitchFamily="34" charset="0"/>
                          <a:ea typeface="Calibri" pitchFamily="34" charset="-122"/>
                          <a:cs typeface="Calibri" pitchFamily="34" charset="-120"/>
                        </a:rPr>
                        <a:t>Create learning cohort group</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Asmae Ziani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22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Community space 'AI triage and clinical decision support Q&amp;A' opened; moderation rules published.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UFT-17-05
</a:t>
                      </a:r>
                      <a:pPr indent="0" marL="0">
                        <a:buNone/>
                      </a:pPr>
                      <a:r>
                        <a:rPr lang="en-US" sz="1000" b="1" dirty="0">
                          <a:solidFill>
                            <a:srgbClr val="3A3A3C"/>
                          </a:solidFill>
                          <a:latin typeface="Calibri" pitchFamily="34" charset="0"/>
                          <a:ea typeface="Calibri" pitchFamily="34" charset="-122"/>
                          <a:cs typeface="Calibri" pitchFamily="34" charset="-120"/>
                        </a:rPr>
                        <a:t>Track adoption usage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MP-19.4 </a:t>
                      </a:r>
                      <a:pPr indent="0" marL="0">
                        <a:buNone/>
                      </a:pPr>
                      <a:r>
                        <a:rPr lang="en-US" sz="1000" dirty="0">
                          <a:solidFill>
                            <a:srgbClr val="58595B"/>
                          </a:solidFill>
                          <a:latin typeface="Calibri" pitchFamily="34" charset="0"/>
                          <a:ea typeface="Calibri" pitchFamily="34" charset="-122"/>
                          <a:cs typeface="Calibri" pitchFamily="34" charset="-120"/>
                        </a:rPr>
                        <a:t>Track adoption usage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MP-08.5 </a:t>
                      </a:r>
                      <a:pPr indent="0" marL="0">
                        <a:buNone/>
                      </a:pPr>
                      <a:r>
                        <a:rPr lang="en-US" sz="1000" dirty="0">
                          <a:solidFill>
                            <a:srgbClr val="58595B"/>
                          </a:solidFill>
                          <a:latin typeface="Calibri" pitchFamily="34" charset="0"/>
                          <a:ea typeface="Calibri" pitchFamily="34" charset="-122"/>
                          <a:cs typeface="Calibri" pitchFamily="34" charset="-120"/>
                        </a:rPr>
                        <a:t>Monitor engagement indicators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25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Weekly active users: 64% of the target population.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UFT-17-06
</a:t>
                      </a:r>
                      <a:pPr indent="0" marL="0">
                        <a:buNone/>
                      </a:pPr>
                      <a:r>
                        <a:rPr lang="en-US" sz="1000" b="1" dirty="0">
                          <a:solidFill>
                            <a:srgbClr val="3A3A3C"/>
                          </a:solidFill>
                          <a:latin typeface="Calibri" pitchFamily="34" charset="0"/>
                          <a:ea typeface="Calibri" pitchFamily="34" charset="-122"/>
                          <a:cs typeface="Calibri" pitchFamily="34" charset="-120"/>
                        </a:rPr>
                        <a:t>Identify low-adoption groups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MP-19.5 </a:t>
                      </a:r>
                      <a:pPr indent="0" marL="0">
                        <a:buNone/>
                      </a:pPr>
                      <a:r>
                        <a:rPr lang="en-US" sz="1000" dirty="0">
                          <a:solidFill>
                            <a:srgbClr val="58595B"/>
                          </a:solidFill>
                          <a:latin typeface="Calibri" pitchFamily="34" charset="0"/>
                          <a:ea typeface="Calibri" pitchFamily="34" charset="-122"/>
                          <a:cs typeface="Calibri" pitchFamily="34" charset="-120"/>
                        </a:rPr>
                        <a:t>Identify low-adoption groups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Fassi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28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Low adoption confirmed for night shift (31%); one group rejected as false positive.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17"/>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17-03 Launch communication campaign">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UFT-17-03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0 · E2E-17 · ROOT / ENABLER</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Change-to-Adoption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UFT-17-07
</a:t>
                      </a:r>
                      <a:pPr indent="0" marL="0">
                        <a:buNone/>
                      </a:pPr>
                      <a:r>
                        <a:rPr lang="en-US" sz="1000" b="1" dirty="0">
                          <a:solidFill>
                            <a:srgbClr val="3A3A3C"/>
                          </a:solidFill>
                          <a:latin typeface="Calibri" pitchFamily="34" charset="0"/>
                          <a:ea typeface="Calibri" pitchFamily="34" charset="-122"/>
                          <a:cs typeface="Calibri" pitchFamily="34" charset="-120"/>
                        </a:rPr>
                        <a:t>Run reinforcement actions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MP-19.6 </a:t>
                      </a:r>
                      <a:pPr indent="0" marL="0">
                        <a:buNone/>
                      </a:pPr>
                      <a:r>
                        <a:rPr lang="en-US" sz="1000" dirty="0">
                          <a:solidFill>
                            <a:srgbClr val="58595B"/>
                          </a:solidFill>
                          <a:latin typeface="Calibri" pitchFamily="34" charset="0"/>
                          <a:ea typeface="Calibri" pitchFamily="34" charset="-122"/>
                          <a:cs typeface="Calibri" pitchFamily="34" charset="-120"/>
                        </a:rPr>
                        <a:t>Run reinforcement actions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MP-08.6 </a:t>
                      </a:r>
                      <a:pPr indent="0" marL="0">
                        <a:buNone/>
                      </a:pPr>
                      <a:r>
                        <a:rPr lang="en-US" sz="1000" dirty="0">
                          <a:solidFill>
                            <a:srgbClr val="58595B"/>
                          </a:solidFill>
                          <a:latin typeface="Calibri" pitchFamily="34" charset="0"/>
                          <a:ea typeface="Calibri" pitchFamily="34" charset="-122"/>
                          <a:cs typeface="Calibri" pitchFamily="34" charset="-120"/>
                        </a:rPr>
                        <a:t>Trigger re-engagement nudge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Fassi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31 Jul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Reinforcement: night-shift coaching sessions; adoption reached 58% after 4 weeks.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17"/>
          <p:cNvSpPr/>
          <p:nvPr/>
        </p:nvSpPr>
        <p:spPr>
          <a:xfrm>
            <a:off x="1877825" y="2368296"/>
            <a:ext cx="5022590" cy="3675888"/>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17">    </p:cNvPr>
          <p:cNvPicPr>
            <a:picLocks noChangeAspect="1"/>
          </p:cNvPicPr>
          <p:nvPr/>
        </p:nvPicPr>
        <p:blipFill>
          <a:blip r:embed="rId1"/>
          <a:stretch>
            <a:fillRect/>
          </a:stretch>
        </p:blipFill>
        <p:spPr>
          <a:xfrm>
            <a:off x="1932689" y="2423160"/>
            <a:ext cx="4912862" cy="3566160"/>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E2E-17 in CortexSkills: its tasks, owners and due dates, and the process card.</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 processes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MP-19 Change Management &amp; Adoption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MP-12 Learning Culture &amp; Knowledge Management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MP-08 Learner Experience &amp; Engagement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MP-26 Social &amp; Collaborative Learning Networks</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Feeds into</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E2E-01, E2E-05, E2E-06</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Supported by</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E2E-15</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0 · E2E-18 · ROOT / ENABLER</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Quality-Risk-Improvement</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Improve processes and mitigate risk</a:t>
            </a:r>
            <a:endParaRPr lang="en-US" sz="1400" dirty="0"/>
          </a:p>
        </p:txBody>
      </p:sp>
      <p:sp>
        <p:nvSpPr>
          <p:cNvPr id="6" name="Trigge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TRIGGER
</a:t>
            </a:r>
            <a:pPr indent="0" marL="0">
              <a:buNone/>
            </a:pPr>
            <a:r>
              <a:rPr lang="en-US" sz="1000" dirty="0">
                <a:solidFill>
                  <a:srgbClr val="3A3A3C"/>
                </a:solidFill>
                <a:latin typeface="Calibri" pitchFamily="34" charset="0"/>
                <a:ea typeface="Calibri" pitchFamily="34" charset="-122"/>
                <a:cs typeface="Calibri" pitchFamily="34" charset="-120"/>
              </a:rPr>
              <a:t>Risk logged, periodic quality review due or control test scheduled.</a:t>
            </a:r>
            <a:endParaRPr lang="en-US" sz="1000" dirty="0"/>
          </a:p>
        </p:txBody>
      </p:sp>
      <p:sp>
        <p:nvSpPr>
          <p:cNvPr id="8" name="End state"/>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END STATE
</a:t>
            </a:r>
            <a:pPr indent="0" marL="0">
              <a:buNone/>
            </a:pPr>
            <a:r>
              <a:rPr lang="en-US" sz="1000" dirty="0">
                <a:solidFill>
                  <a:srgbClr val="3A3A3C"/>
                </a:solidFill>
                <a:latin typeface="Calibri" pitchFamily="34" charset="0"/>
                <a:ea typeface="Calibri" pitchFamily="34" charset="-122"/>
                <a:cs typeface="Calibri" pitchFamily="34" charset="-120"/>
              </a:rPr>
              <a:t>Risks mitigated, actions evaluated by a different person, controls rated.</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tasks · 12 steps
</a:t>
            </a:r>
            <a:pPr indent="0" marL="0">
              <a:buNone/>
            </a:pPr>
            <a:r>
              <a:rPr lang="en-US" sz="1100" dirty="0">
                <a:solidFill>
                  <a:srgbClr val="3A3A3C"/>
                </a:solidFill>
                <a:latin typeface="Calibri" pitchFamily="34" charset="0"/>
                <a:ea typeface="Calibri" pitchFamily="34" charset="-122"/>
                <a:cs typeface="Calibri" pitchFamily="34" charset="-120"/>
              </a:rPr>
              <a:t>20 days · 2 owners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 processes: </a:t>
            </a:r>
            <a:pPr indent="0" marL="0">
              <a:buNone/>
            </a:pPr>
            <a:r>
              <a:rPr lang="en-US" sz="1000" dirty="0">
                <a:solidFill>
                  <a:srgbClr val="58595B"/>
                </a:solidFill>
                <a:latin typeface="Calibri" pitchFamily="34" charset="0"/>
                <a:ea typeface="Calibri" pitchFamily="34" charset="-122"/>
                <a:cs typeface="Calibri" pitchFamily="34" charset="-120"/>
              </a:rPr>
              <a:t>MP-20 Quality, Risk &amp; Continuous Improvement · </a:t>
            </a:r>
            <a:pPr indent="0" marL="0">
              <a:buNone/>
            </a:pPr>
            <a:r>
              <a:rPr lang="en-US" sz="1000" dirty="0">
                <a:solidFill>
                  <a:srgbClr val="58595B"/>
                </a:solidFill>
                <a:latin typeface="Calibri" pitchFamily="34" charset="0"/>
                <a:ea typeface="Calibri" pitchFamily="34" charset="-122"/>
                <a:cs typeface="Calibri" pitchFamily="34" charset="-120"/>
              </a:rPr>
              <a:t>MP-16 Data, AI &amp; Integration Governance · </a:t>
            </a:r>
            <a:pPr indent="0" marL="0">
              <a:buNone/>
            </a:pPr>
            <a:r>
              <a:rPr lang="en-US" sz="1000" dirty="0">
                <a:solidFill>
                  <a:srgbClr val="58595B"/>
                </a:solidFill>
                <a:latin typeface="Calibri" pitchFamily="34" charset="0"/>
                <a:ea typeface="Calibri" pitchFamily="34" charset="-122"/>
                <a:cs typeface="Calibri" pitchFamily="34" charset="-120"/>
              </a:rPr>
              <a:t>MP-17 Identity, Access &amp; Security Management · </a:t>
            </a:r>
            <a:pPr indent="0" marL="0">
              <a:buNone/>
            </a:pPr>
            <a:r>
              <a:rPr lang="en-US" sz="1000" dirty="0">
                <a:solidFill>
                  <a:srgbClr val="58595B"/>
                </a:solidFill>
                <a:latin typeface="Calibri" pitchFamily="34" charset="0"/>
                <a:ea typeface="Calibri" pitchFamily="34" charset="-122"/>
                <a:cs typeface="Calibri" pitchFamily="34" charset="-120"/>
              </a:rPr>
              <a:t>MP-09 Assessment &amp; Evaluation</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UFT-18-01
</a:t>
                      </a:r>
                      <a:pPr indent="0" marL="0">
                        <a:buNone/>
                      </a:pPr>
                      <a:r>
                        <a:rPr lang="en-US" sz="1000" b="1" dirty="0">
                          <a:solidFill>
                            <a:srgbClr val="3A3A3C"/>
                          </a:solidFill>
                          <a:latin typeface="Calibri" pitchFamily="34" charset="0"/>
                          <a:ea typeface="Calibri" pitchFamily="34" charset="-122"/>
                          <a:cs typeface="Calibri" pitchFamily="34" charset="-120"/>
                        </a:rPr>
                        <a:t>Log risk or opportunity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MP-20.1 </a:t>
                      </a:r>
                      <a:pPr indent="0" marL="0">
                        <a:buNone/>
                      </a:pPr>
                      <a:r>
                        <a:rPr lang="en-US" sz="1000" dirty="0">
                          <a:solidFill>
                            <a:srgbClr val="58595B"/>
                          </a:solidFill>
                          <a:latin typeface="Calibri" pitchFamily="34" charset="0"/>
                          <a:ea typeface="Calibri" pitchFamily="34" charset="-122"/>
                          <a:cs typeface="Calibri" pitchFamily="34" charset="-120"/>
                        </a:rPr>
                        <a:t>Log risk or opportunity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Soukaina Bennani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20 Apr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Risk 'Trainers unavailable in Q3': likelihood 3, impact 4, score 12.</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UFT-18-02
</a:t>
                      </a:r>
                      <a:pPr indent="0" marL="0">
                        <a:buNone/>
                      </a:pPr>
                      <a:r>
                        <a:rPr lang="en-US" sz="1000" b="1" dirty="0">
                          <a:solidFill>
                            <a:srgbClr val="3A3A3C"/>
                          </a:solidFill>
                          <a:latin typeface="Calibri" pitchFamily="34" charset="0"/>
                          <a:ea typeface="Calibri" pitchFamily="34" charset="-122"/>
                          <a:cs typeface="Calibri" pitchFamily="34" charset="-120"/>
                        </a:rPr>
                        <a:t>Assign mitigation action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MP-20.2 </a:t>
                      </a:r>
                      <a:pPr indent="0" marL="0">
                        <a:buNone/>
                      </a:pPr>
                      <a:r>
                        <a:rPr lang="en-US" sz="1000" dirty="0">
                          <a:solidFill>
                            <a:srgbClr val="58595B"/>
                          </a:solidFill>
                          <a:latin typeface="Calibri" pitchFamily="34" charset="0"/>
                          <a:ea typeface="Calibri" pitchFamily="34" charset="-122"/>
                          <a:cs typeface="Calibri" pitchFamily="34" charset="-120"/>
                        </a:rPr>
                        <a:t>Assign mitigation action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Soukaina Bennani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23 Apr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Action: contract a second vendor; owner Purchasing Officer; evaluator Quality Manager.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UFT-18-03
</a:t>
                      </a:r>
                      <a:pPr indent="0" marL="0">
                        <a:buNone/>
                      </a:pPr>
                      <a:r>
                        <a:rPr lang="en-US" sz="1000" b="1" dirty="0">
                          <a:solidFill>
                            <a:srgbClr val="3A3A3C"/>
                          </a:solidFill>
                          <a:latin typeface="Calibri" pitchFamily="34" charset="0"/>
                          <a:ea typeface="Calibri" pitchFamily="34" charset="-122"/>
                          <a:cs typeface="Calibri" pitchFamily="34" charset="-120"/>
                        </a:rPr>
                        <a:t>Execute improvement action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MP-20.3 </a:t>
                      </a:r>
                      <a:pPr indent="0" marL="0">
                        <a:buNone/>
                      </a:pPr>
                      <a:r>
                        <a:rPr lang="en-US" sz="1000" dirty="0">
                          <a:solidFill>
                            <a:srgbClr val="58595B"/>
                          </a:solidFill>
                          <a:latin typeface="Calibri" pitchFamily="34" charset="0"/>
                          <a:ea typeface="Calibri" pitchFamily="34" charset="-122"/>
                          <a:cs typeface="Calibri" pitchFamily="34" charset="-120"/>
                        </a:rPr>
                        <a:t>Execute improvement action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Soukaina Bennani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26 Apr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Action done: framework contract signed with vendor B; evidence attached.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UFT-18-04
</a:t>
                      </a:r>
                      <a:pPr indent="0" marL="0">
                        <a:buNone/>
                      </a:pPr>
                      <a:r>
                        <a:rPr lang="en-US" sz="1000" b="1" dirty="0">
                          <a:solidFill>
                            <a:srgbClr val="3A3A3C"/>
                          </a:solidFill>
                          <a:latin typeface="Calibri" pitchFamily="34" charset="0"/>
                          <a:ea typeface="Calibri" pitchFamily="34" charset="-122"/>
                          <a:cs typeface="Calibri" pitchFamily="34" charset="-120"/>
                        </a:rPr>
                        <a:t>Evaluate action effectiveness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MP-20.4 </a:t>
                      </a:r>
                      <a:pPr indent="0" marL="0">
                        <a:buNone/>
                      </a:pPr>
                      <a:r>
                        <a:rPr lang="en-US" sz="1000" dirty="0">
                          <a:solidFill>
                            <a:srgbClr val="58595B"/>
                          </a:solidFill>
                          <a:latin typeface="Calibri" pitchFamily="34" charset="0"/>
                          <a:ea typeface="Calibri" pitchFamily="34" charset="-122"/>
                          <a:cs typeface="Calibri" pitchFamily="34" charset="-120"/>
                        </a:rPr>
                        <a:t>Evaluate action effectiveness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Soukaina Bennani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29 Apr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Verdict: effective. The evaluator is a different user from the owner.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UFT-18-05
</a:t>
                      </a:r>
                      <a:pPr indent="0" marL="0">
                        <a:buNone/>
                      </a:pPr>
                      <a:r>
                        <a:rPr lang="en-US" sz="1000" b="1" dirty="0">
                          <a:solidFill>
                            <a:srgbClr val="3A3A3C"/>
                          </a:solidFill>
                          <a:latin typeface="Calibri" pitchFamily="34" charset="0"/>
                          <a:ea typeface="Calibri" pitchFamily="34" charset="-122"/>
                          <a:cs typeface="Calibri" pitchFamily="34" charset="-120"/>
                        </a:rPr>
                        <a:t>Review access and security</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MP-17.4 </a:t>
                      </a:r>
                      <a:pPr indent="0" marL="0">
                        <a:buNone/>
                      </a:pPr>
                      <a:r>
                        <a:rPr lang="en-US" sz="1000" dirty="0">
                          <a:solidFill>
                            <a:srgbClr val="58595B"/>
                          </a:solidFill>
                          <a:latin typeface="Calibri" pitchFamily="34" charset="0"/>
                          <a:ea typeface="Calibri" pitchFamily="34" charset="-122"/>
                          <a:cs typeface="Calibri" pitchFamily="34" charset="-120"/>
                        </a:rPr>
                        <a:t>Review access violation log</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MP-17.6 </a:t>
                      </a:r>
                      <a:pPr indent="0" marL="0">
                        <a:buNone/>
                      </a:pPr>
                      <a:r>
                        <a:rPr lang="en-US" sz="1000" dirty="0">
                          <a:solidFill>
                            <a:srgbClr val="58595B"/>
                          </a:solidFill>
                          <a:latin typeface="Calibri" pitchFamily="34" charset="0"/>
                          <a:ea typeface="Calibri" pitchFamily="34" charset="-122"/>
                          <a:cs typeface="Calibri" pitchFamily="34" charset="-120"/>
                        </a:rPr>
                        <a:t>Enforce login rate limit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MP-17.2 </a:t>
                      </a:r>
                      <a:pPr indent="0" marL="0">
                        <a:buNone/>
                      </a:pPr>
                      <a:r>
                        <a:rPr lang="en-US" sz="1000" dirty="0">
                          <a:solidFill>
                            <a:srgbClr val="58595B"/>
                          </a:solidFill>
                          <a:latin typeface="Calibri" pitchFamily="34" charset="0"/>
                          <a:ea typeface="Calibri" pitchFamily="34" charset="-122"/>
                          <a:cs typeface="Calibri" pitchFamily="34" charset="-120"/>
                        </a:rPr>
                        <a:t>Assign roles to user</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+ 2 more steps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Omar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Access review: 2 dormant accounts disabled; 0 cross-tenant attempts.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UFT-18-06
</a:t>
                      </a:r>
                      <a:pPr indent="0" marL="0">
                        <a:buNone/>
                      </a:pPr>
                      <a:r>
                        <a:rPr lang="en-US" sz="1000" b="1" dirty="0">
                          <a:solidFill>
                            <a:srgbClr val="3A3A3C"/>
                          </a:solidFill>
                          <a:latin typeface="Calibri" pitchFamily="34" charset="0"/>
                          <a:ea typeface="Calibri" pitchFamily="34" charset="-122"/>
                          <a:cs typeface="Calibri" pitchFamily="34" charset="-120"/>
                        </a:rPr>
                        <a:t>Run periodic quality review</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MP-20.5 </a:t>
                      </a:r>
                      <a:pPr indent="0" marL="0">
                        <a:buNone/>
                      </a:pPr>
                      <a:r>
                        <a:rPr lang="en-US" sz="1000" dirty="0">
                          <a:solidFill>
                            <a:srgbClr val="58595B"/>
                          </a:solidFill>
                          <a:latin typeface="Calibri" pitchFamily="34" charset="0"/>
                          <a:ea typeface="Calibri" pitchFamily="34" charset="-122"/>
                          <a:cs typeface="Calibri" pitchFamily="34" charset="-120"/>
                        </a:rPr>
                        <a:t>Run periodic quality review</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MP-09.7 </a:t>
                      </a:r>
                      <a:pPr indent="0" marL="0">
                        <a:buNone/>
                      </a:pPr>
                      <a:r>
                        <a:rPr lang="en-US" sz="1000" dirty="0">
                          <a:solidFill>
                            <a:srgbClr val="58595B"/>
                          </a:solidFill>
                          <a:latin typeface="Calibri" pitchFamily="34" charset="0"/>
                          <a:ea typeface="Calibri" pitchFamily="34" charset="-122"/>
                          <a:cs typeface="Calibri" pitchFamily="34" charset="-120"/>
                        </a:rPr>
                        <a:t>Review evaluation results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Soukaina Bennani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Quality review minutes: 3 KPIs red, 2 actions opened, next review in 30 days.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18"/>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18-02 Assign mitigation action">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UFT-18-02 opened in CortexSkills: what to enter, its steps and its result.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Continued on the next slide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0 · E2E-18 · ROOT / ENABLER</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Quality-Risk-Improvement (continued)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Steps executed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done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was entered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UFT-18-07
</a:t>
                      </a:r>
                      <a:pPr indent="0" marL="0">
                        <a:buNone/>
                      </a:pPr>
                      <a:r>
                        <a:rPr lang="en-US" sz="1000" b="1" dirty="0">
                          <a:solidFill>
                            <a:srgbClr val="3A3A3C"/>
                          </a:solidFill>
                          <a:latin typeface="Calibri" pitchFamily="34" charset="0"/>
                          <a:ea typeface="Calibri" pitchFamily="34" charset="-122"/>
                          <a:cs typeface="Calibri" pitchFamily="34" charset="-120"/>
                        </a:rPr>
                        <a:t>Update control effectiveness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MP-20.6 </a:t>
                      </a:r>
                      <a:pPr indent="0" marL="0">
                        <a:buNone/>
                      </a:pPr>
                      <a:r>
                        <a:rPr lang="en-US" sz="1000" dirty="0">
                          <a:solidFill>
                            <a:srgbClr val="58595B"/>
                          </a:solidFill>
                          <a:latin typeface="Calibri" pitchFamily="34" charset="0"/>
                          <a:ea typeface="Calibri" pitchFamily="34" charset="-122"/>
                          <a:cs typeface="Calibri" pitchFamily="34" charset="-120"/>
                        </a:rPr>
                        <a:t>Update control effectiveness rating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Soukaina Bennani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8 May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Control CTRL-002 effectiveness: Effective; CTRL-031: Partially effective.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18"/>
          <p:cNvSpPr/>
          <p:nvPr/>
        </p:nvSpPr>
        <p:spPr>
          <a:xfrm>
            <a:off x="1770750" y="2212848"/>
            <a:ext cx="5236741" cy="3831336"/>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18">    </p:cNvPr>
          <p:cNvPicPr>
            <a:picLocks noChangeAspect="1"/>
          </p:cNvPicPr>
          <p:nvPr/>
        </p:nvPicPr>
        <p:blipFill>
          <a:blip r:embed="rId1"/>
          <a:stretch>
            <a:fillRect/>
          </a:stretch>
        </p:blipFill>
        <p:spPr>
          <a:xfrm>
            <a:off x="1825614" y="2267712"/>
            <a:ext cx="5127013" cy="3721608"/>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The page of E2E-18 in CortexSkills: its tasks, owners and due dates, and the process card.</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 processes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MP-20 Quality, Risk &amp; Continuous Improvement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MP-16 Data, AI &amp; Integration Governance</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MP-17 Identity, Access &amp; Security Management</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MP-09 Assessment &amp; Evaluation</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Feeds into</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E2E-03, E2E-07, E2E-09</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Supported by</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RESULTS</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What the run produced, in figures</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Each figure is the value entered or computed at the step shown under it</a:t>
            </a:r>
            <a:endParaRPr lang="en-US" sz="1400" dirty="0"/>
          </a:p>
        </p:txBody>
      </p:sp>
      <p:sp>
        <p:nvSpPr>
          <p:cNvPr id="6" name="kpi questionnaire responses consolidated"/>
          <p:cNvSpPr/>
          <p:nvPr/>
        </p:nvSpPr>
        <p:spPr>
          <a:xfrm>
            <a:off x="457200" y="1783080"/>
            <a:ext cx="3611880" cy="1143000"/>
          </a:xfrm>
          <a:prstGeom prst="roundRect">
            <a:avLst>
              <a:gd name="adj" fmla="val 6400"/>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640080" y="1892808"/>
            <a:ext cx="3246120" cy="566928"/>
          </a:xfrm>
          <a:prstGeom prst="rect">
            <a:avLst/>
          </a:prstGeom>
          <a:noFill/>
          <a:ln/>
        </p:spPr>
        <p:txBody>
          <a:bodyPr wrap="square" lIns="0" tIns="0" rIns="0" bIns="0" rtlCol="0" anchor="ctr"/>
          <a:lstStyle/>
          <a:p>
            <a:pPr indent="0" marL="0">
              <a:buNone/>
            </a:pPr>
            <a:r>
              <a:rPr lang="en-US" sz="3200" b="1" dirty="0">
                <a:solidFill>
                  <a:srgbClr val="E07B00"/>
                </a:solidFill>
                <a:latin typeface="Cambria" pitchFamily="34" charset="0"/>
                <a:ea typeface="Cambria" pitchFamily="34" charset="-122"/>
                <a:cs typeface="Cambria" pitchFamily="34" charset="-120"/>
              </a:rPr>
              <a:t>187</a:t>
            </a:r>
            <a:endParaRPr lang="en-US" sz="3200" dirty="0"/>
          </a:p>
        </p:txBody>
      </p:sp>
      <p:sp>
        <p:nvSpPr>
          <p:cNvPr id="8" name="Text 5"/>
          <p:cNvSpPr txBox="1"/>
          <p:nvPr/>
        </p:nvSpPr>
        <p:spPr>
          <a:xfrm>
            <a:off x="640080" y="2459736"/>
            <a:ext cx="3246120" cy="384048"/>
          </a:xfrm>
          <a:prstGeom prst="rect">
            <a:avLst/>
          </a:prstGeom>
          <a:noFill/>
          <a:ln/>
        </p:spPr>
        <p:txBody>
          <a:bodyPr wrap="square" lIns="0" tIns="0" rIns="0" bIns="0" rtlCol="0" anchor="t"/>
          <a:lstStyle/>
          <a:p>
            <a:pPr indent="0" marL="0">
              <a:buNone/>
            </a:pPr>
            <a:r>
              <a:rPr lang="en-US" sz="1200" dirty="0">
                <a:solidFill>
                  <a:srgbClr val="58595B"/>
                </a:solidFill>
                <a:latin typeface="Calibri" pitchFamily="34" charset="0"/>
                <a:ea typeface="Calibri" pitchFamily="34" charset="-122"/>
                <a:cs typeface="Calibri" pitchFamily="34" charset="-120"/>
              </a:rPr>
              <a:t>questionnaire responses consolidated</a:t>
            </a:r>
            <a:endParaRPr lang="en-US" sz="1200" dirty="0"/>
          </a:p>
        </p:txBody>
      </p:sp>
      <p:sp>
        <p:nvSpPr>
          <p:cNvPr id="9" name="Text 6"/>
          <p:cNvSpPr txBox="1"/>
          <p:nvPr/>
        </p:nvSpPr>
        <p:spPr>
          <a:xfrm>
            <a:off x="640080" y="2990088"/>
            <a:ext cx="3200400" cy="274320"/>
          </a:xfrm>
          <a:prstGeom prst="rect">
            <a:avLst/>
          </a:prstGeom>
          <a:noFill/>
          <a:ln/>
        </p:spPr>
        <p:txBody>
          <a:bodyPr wrap="square" lIns="0" tIns="0" rIns="0" bIns="0" rtlCol="0" anchor="ctr"/>
          <a:lstStyle/>
          <a:p>
            <a:pPr indent="0" marL="0">
              <a:buNone/>
            </a:pPr>
            <a:r>
              <a:rPr lang="en-US" sz="1000" i="1" dirty="0">
                <a:solidFill>
                  <a:srgbClr val="808184"/>
                </a:solidFill>
                <a:latin typeface="Calibri" pitchFamily="34" charset="0"/>
                <a:ea typeface="Calibri" pitchFamily="34" charset="-122"/>
                <a:cs typeface="Calibri" pitchFamily="34" charset="-120"/>
              </a:rPr>
              <a:t>UFT-03-06</a:t>
            </a:r>
            <a:endParaRPr lang="en-US" sz="1000" dirty="0"/>
          </a:p>
        </p:txBody>
      </p:sp>
      <p:sp>
        <p:nvSpPr>
          <p:cNvPr id="10" name="kpi themes built from 23 validated needs"/>
          <p:cNvSpPr/>
          <p:nvPr/>
        </p:nvSpPr>
        <p:spPr>
          <a:xfrm>
            <a:off x="4251960" y="1783080"/>
            <a:ext cx="3611880" cy="1143000"/>
          </a:xfrm>
          <a:prstGeom prst="roundRect">
            <a:avLst>
              <a:gd name="adj" fmla="val 6400"/>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4434840" y="1892808"/>
            <a:ext cx="3246120" cy="566928"/>
          </a:xfrm>
          <a:prstGeom prst="rect">
            <a:avLst/>
          </a:prstGeom>
          <a:noFill/>
          <a:ln/>
        </p:spPr>
        <p:txBody>
          <a:bodyPr wrap="square" lIns="0" tIns="0" rIns="0" bIns="0" rtlCol="0" anchor="ctr"/>
          <a:lstStyle/>
          <a:p>
            <a:pPr indent="0" marL="0">
              <a:buNone/>
            </a:pPr>
            <a:r>
              <a:rPr lang="en-US" sz="3200" b="1" dirty="0">
                <a:solidFill>
                  <a:srgbClr val="E07B00"/>
                </a:solidFill>
                <a:latin typeface="Cambria" pitchFamily="34" charset="0"/>
                <a:ea typeface="Cambria" pitchFamily="34" charset="-122"/>
                <a:cs typeface="Cambria" pitchFamily="34" charset="-120"/>
              </a:rPr>
              <a:t>6</a:t>
            </a:r>
            <a:endParaRPr lang="en-US" sz="3200" dirty="0"/>
          </a:p>
        </p:txBody>
      </p:sp>
      <p:sp>
        <p:nvSpPr>
          <p:cNvPr id="12" name="Text 9"/>
          <p:cNvSpPr txBox="1"/>
          <p:nvPr/>
        </p:nvSpPr>
        <p:spPr>
          <a:xfrm>
            <a:off x="4434840" y="2459736"/>
            <a:ext cx="3246120" cy="384048"/>
          </a:xfrm>
          <a:prstGeom prst="rect">
            <a:avLst/>
          </a:prstGeom>
          <a:noFill/>
          <a:ln/>
        </p:spPr>
        <p:txBody>
          <a:bodyPr wrap="square" lIns="0" tIns="0" rIns="0" bIns="0" rtlCol="0" anchor="t"/>
          <a:lstStyle/>
          <a:p>
            <a:pPr indent="0" marL="0">
              <a:buNone/>
            </a:pPr>
            <a:r>
              <a:rPr lang="en-US" sz="1200" dirty="0">
                <a:solidFill>
                  <a:srgbClr val="58595B"/>
                </a:solidFill>
                <a:latin typeface="Calibri" pitchFamily="34" charset="0"/>
                <a:ea typeface="Calibri" pitchFamily="34" charset="-122"/>
                <a:cs typeface="Calibri" pitchFamily="34" charset="-120"/>
              </a:rPr>
              <a:t>themes built from 23 validated needs</a:t>
            </a:r>
            <a:endParaRPr lang="en-US" sz="1200" dirty="0"/>
          </a:p>
        </p:txBody>
      </p:sp>
      <p:sp>
        <p:nvSpPr>
          <p:cNvPr id="13" name="Text 10"/>
          <p:cNvSpPr txBox="1"/>
          <p:nvPr/>
        </p:nvSpPr>
        <p:spPr>
          <a:xfrm>
            <a:off x="4434840" y="2990088"/>
            <a:ext cx="3200400" cy="274320"/>
          </a:xfrm>
          <a:prstGeom prst="rect">
            <a:avLst/>
          </a:prstGeom>
          <a:noFill/>
          <a:ln/>
        </p:spPr>
        <p:txBody>
          <a:bodyPr wrap="square" lIns="0" tIns="0" rIns="0" bIns="0" rtlCol="0" anchor="ctr"/>
          <a:lstStyle/>
          <a:p>
            <a:pPr indent="0" marL="0">
              <a:buNone/>
            </a:pPr>
            <a:r>
              <a:rPr lang="en-US" sz="1000" i="1" dirty="0">
                <a:solidFill>
                  <a:srgbClr val="808184"/>
                </a:solidFill>
                <a:latin typeface="Calibri" pitchFamily="34" charset="0"/>
                <a:ea typeface="Calibri" pitchFamily="34" charset="-122"/>
                <a:cs typeface="Calibri" pitchFamily="34" charset="-120"/>
              </a:rPr>
              <a:t>UFT-03-05</a:t>
            </a:r>
            <a:endParaRPr lang="en-US" sz="1000" dirty="0"/>
          </a:p>
        </p:txBody>
      </p:sp>
      <p:sp>
        <p:nvSpPr>
          <p:cNvPr id="14" name="kpi MAD net L&amp;D budget approved"/>
          <p:cNvSpPr/>
          <p:nvPr/>
        </p:nvSpPr>
        <p:spPr>
          <a:xfrm>
            <a:off x="8046720" y="1783080"/>
            <a:ext cx="3611880" cy="1143000"/>
          </a:xfrm>
          <a:prstGeom prst="roundRect">
            <a:avLst>
              <a:gd name="adj" fmla="val 6400"/>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5" name="Text 12"/>
          <p:cNvSpPr txBox="1"/>
          <p:nvPr/>
        </p:nvSpPr>
        <p:spPr>
          <a:xfrm>
            <a:off x="8229600" y="1892808"/>
            <a:ext cx="3246120" cy="566928"/>
          </a:xfrm>
          <a:prstGeom prst="rect">
            <a:avLst/>
          </a:prstGeom>
          <a:noFill/>
          <a:ln/>
        </p:spPr>
        <p:txBody>
          <a:bodyPr wrap="square" lIns="0" tIns="0" rIns="0" bIns="0" rtlCol="0" anchor="ctr"/>
          <a:lstStyle/>
          <a:p>
            <a:pPr indent="0" marL="0">
              <a:buNone/>
            </a:pPr>
            <a:r>
              <a:rPr lang="en-US" sz="3200" b="1" dirty="0">
                <a:solidFill>
                  <a:srgbClr val="E07B00"/>
                </a:solidFill>
                <a:latin typeface="Cambria" pitchFamily="34" charset="0"/>
                <a:ea typeface="Cambria" pitchFamily="34" charset="-122"/>
                <a:cs typeface="Cambria" pitchFamily="34" charset="-120"/>
              </a:rPr>
              <a:t>1.33 M</a:t>
            </a:r>
            <a:endParaRPr lang="en-US" sz="3200" dirty="0"/>
          </a:p>
        </p:txBody>
      </p:sp>
      <p:sp>
        <p:nvSpPr>
          <p:cNvPr id="16" name="Text 13"/>
          <p:cNvSpPr txBox="1"/>
          <p:nvPr/>
        </p:nvSpPr>
        <p:spPr>
          <a:xfrm>
            <a:off x="8229600" y="2459736"/>
            <a:ext cx="3246120" cy="384048"/>
          </a:xfrm>
          <a:prstGeom prst="rect">
            <a:avLst/>
          </a:prstGeom>
          <a:noFill/>
          <a:ln/>
        </p:spPr>
        <p:txBody>
          <a:bodyPr wrap="square" lIns="0" tIns="0" rIns="0" bIns="0" rtlCol="0" anchor="t"/>
          <a:lstStyle/>
          <a:p>
            <a:pPr indent="0" marL="0">
              <a:buNone/>
            </a:pPr>
            <a:r>
              <a:rPr lang="en-US" sz="1200" dirty="0">
                <a:solidFill>
                  <a:srgbClr val="58595B"/>
                </a:solidFill>
                <a:latin typeface="Calibri" pitchFamily="34" charset="0"/>
                <a:ea typeface="Calibri" pitchFamily="34" charset="-122"/>
                <a:cs typeface="Calibri" pitchFamily="34" charset="-120"/>
              </a:rPr>
              <a:t>MAD net L&amp;D budget approved</a:t>
            </a:r>
            <a:endParaRPr lang="en-US" sz="1200" dirty="0"/>
          </a:p>
        </p:txBody>
      </p:sp>
      <p:sp>
        <p:nvSpPr>
          <p:cNvPr id="17" name="Text 14"/>
          <p:cNvSpPr txBox="1"/>
          <p:nvPr/>
        </p:nvSpPr>
        <p:spPr>
          <a:xfrm>
            <a:off x="8229600" y="2990088"/>
            <a:ext cx="3200400" cy="274320"/>
          </a:xfrm>
          <a:prstGeom prst="rect">
            <a:avLst/>
          </a:prstGeom>
          <a:noFill/>
          <a:ln/>
        </p:spPr>
        <p:txBody>
          <a:bodyPr wrap="square" lIns="0" tIns="0" rIns="0" bIns="0" rtlCol="0" anchor="ctr"/>
          <a:lstStyle/>
          <a:p>
            <a:pPr indent="0" marL="0">
              <a:buNone/>
            </a:pPr>
            <a:r>
              <a:rPr lang="en-US" sz="1000" i="1" dirty="0">
                <a:solidFill>
                  <a:srgbClr val="808184"/>
                </a:solidFill>
                <a:latin typeface="Calibri" pitchFamily="34" charset="0"/>
                <a:ea typeface="Calibri" pitchFamily="34" charset="-122"/>
                <a:cs typeface="Calibri" pitchFamily="34" charset="-120"/>
              </a:rPr>
              <a:t>UFT-01-05</a:t>
            </a:r>
            <a:endParaRPr lang="en-US" sz="1000" dirty="0"/>
          </a:p>
        </p:txBody>
      </p:sp>
      <p:sp>
        <p:nvSpPr>
          <p:cNvPr id="18" name="kpi test score, 48 % to 81 % (level 2)"/>
          <p:cNvSpPr/>
          <p:nvPr/>
        </p:nvSpPr>
        <p:spPr>
          <a:xfrm>
            <a:off x="457200" y="3931920"/>
            <a:ext cx="3611880" cy="1143000"/>
          </a:xfrm>
          <a:prstGeom prst="roundRect">
            <a:avLst>
              <a:gd name="adj" fmla="val 6400"/>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9" name="Text 16"/>
          <p:cNvSpPr txBox="1"/>
          <p:nvPr/>
        </p:nvSpPr>
        <p:spPr>
          <a:xfrm>
            <a:off x="640080" y="4041648"/>
            <a:ext cx="3246120" cy="566928"/>
          </a:xfrm>
          <a:prstGeom prst="rect">
            <a:avLst/>
          </a:prstGeom>
          <a:noFill/>
          <a:ln/>
        </p:spPr>
        <p:txBody>
          <a:bodyPr wrap="square" lIns="0" tIns="0" rIns="0" bIns="0" rtlCol="0" anchor="ctr"/>
          <a:lstStyle/>
          <a:p>
            <a:pPr indent="0" marL="0">
              <a:buNone/>
            </a:pPr>
            <a:r>
              <a:rPr lang="en-US" sz="3200" b="1" dirty="0">
                <a:solidFill>
                  <a:srgbClr val="E07B00"/>
                </a:solidFill>
                <a:latin typeface="Cambria" pitchFamily="34" charset="0"/>
                <a:ea typeface="Cambria" pitchFamily="34" charset="-122"/>
                <a:cs typeface="Cambria" pitchFamily="34" charset="-120"/>
              </a:rPr>
              <a:t>+33 pts</a:t>
            </a:r>
            <a:endParaRPr lang="en-US" sz="3200" dirty="0"/>
          </a:p>
        </p:txBody>
      </p:sp>
      <p:sp>
        <p:nvSpPr>
          <p:cNvPr id="20" name="Text 17"/>
          <p:cNvSpPr txBox="1"/>
          <p:nvPr/>
        </p:nvSpPr>
        <p:spPr>
          <a:xfrm>
            <a:off x="640080" y="4608576"/>
            <a:ext cx="3246120" cy="384048"/>
          </a:xfrm>
          <a:prstGeom prst="rect">
            <a:avLst/>
          </a:prstGeom>
          <a:noFill/>
          <a:ln/>
        </p:spPr>
        <p:txBody>
          <a:bodyPr wrap="square" lIns="0" tIns="0" rIns="0" bIns="0" rtlCol="0" anchor="t"/>
          <a:lstStyle/>
          <a:p>
            <a:pPr indent="0" marL="0">
              <a:buNone/>
            </a:pPr>
            <a:r>
              <a:rPr lang="en-US" sz="1200" dirty="0">
                <a:solidFill>
                  <a:srgbClr val="58595B"/>
                </a:solidFill>
                <a:latin typeface="Calibri" pitchFamily="34" charset="0"/>
                <a:ea typeface="Calibri" pitchFamily="34" charset="-122"/>
                <a:cs typeface="Calibri" pitchFamily="34" charset="-120"/>
              </a:rPr>
              <a:t>test score, 48 % to 81 % (level 2)</a:t>
            </a:r>
            <a:endParaRPr lang="en-US" sz="1200" dirty="0"/>
          </a:p>
        </p:txBody>
      </p:sp>
      <p:sp>
        <p:nvSpPr>
          <p:cNvPr id="21" name="Text 18"/>
          <p:cNvSpPr txBox="1"/>
          <p:nvPr/>
        </p:nvSpPr>
        <p:spPr>
          <a:xfrm>
            <a:off x="640080" y="5138928"/>
            <a:ext cx="3200400" cy="274320"/>
          </a:xfrm>
          <a:prstGeom prst="rect">
            <a:avLst/>
          </a:prstGeom>
          <a:noFill/>
          <a:ln/>
        </p:spPr>
        <p:txBody>
          <a:bodyPr wrap="square" lIns="0" tIns="0" rIns="0" bIns="0" rtlCol="0" anchor="ctr"/>
          <a:lstStyle/>
          <a:p>
            <a:pPr indent="0" marL="0">
              <a:buNone/>
            </a:pPr>
            <a:r>
              <a:rPr lang="en-US" sz="1000" i="1" dirty="0">
                <a:solidFill>
                  <a:srgbClr val="808184"/>
                </a:solidFill>
                <a:latin typeface="Calibri" pitchFamily="34" charset="0"/>
                <a:ea typeface="Calibri" pitchFamily="34" charset="-122"/>
                <a:cs typeface="Calibri" pitchFamily="34" charset="-120"/>
              </a:rPr>
              <a:t>UFT-07-04</a:t>
            </a:r>
            <a:endParaRPr lang="en-US" sz="1000" dirty="0"/>
          </a:p>
        </p:txBody>
      </p:sp>
      <p:sp>
        <p:nvSpPr>
          <p:cNvPr id="22" name="kpi supervisors apply the routine at day 30"/>
          <p:cNvSpPr/>
          <p:nvPr/>
        </p:nvSpPr>
        <p:spPr>
          <a:xfrm>
            <a:off x="4251960" y="3931920"/>
            <a:ext cx="3611880" cy="1143000"/>
          </a:xfrm>
          <a:prstGeom prst="roundRect">
            <a:avLst>
              <a:gd name="adj" fmla="val 6400"/>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23" name="Text 20"/>
          <p:cNvSpPr txBox="1"/>
          <p:nvPr/>
        </p:nvSpPr>
        <p:spPr>
          <a:xfrm>
            <a:off x="4434840" y="4041648"/>
            <a:ext cx="3246120" cy="566928"/>
          </a:xfrm>
          <a:prstGeom prst="rect">
            <a:avLst/>
          </a:prstGeom>
          <a:noFill/>
          <a:ln/>
        </p:spPr>
        <p:txBody>
          <a:bodyPr wrap="square" lIns="0" tIns="0" rIns="0" bIns="0" rtlCol="0" anchor="ctr"/>
          <a:lstStyle/>
          <a:p>
            <a:pPr indent="0" marL="0">
              <a:buNone/>
            </a:pPr>
            <a:r>
              <a:rPr lang="en-US" sz="3200" b="1" dirty="0">
                <a:solidFill>
                  <a:srgbClr val="E07B00"/>
                </a:solidFill>
                <a:latin typeface="Cambria" pitchFamily="34" charset="0"/>
                <a:ea typeface="Cambria" pitchFamily="34" charset="-122"/>
                <a:cs typeface="Cambria" pitchFamily="34" charset="-120"/>
              </a:rPr>
              <a:t>9 / 11</a:t>
            </a:r>
            <a:endParaRPr lang="en-US" sz="3200" dirty="0"/>
          </a:p>
        </p:txBody>
      </p:sp>
      <p:sp>
        <p:nvSpPr>
          <p:cNvPr id="24" name="Text 21"/>
          <p:cNvSpPr txBox="1"/>
          <p:nvPr/>
        </p:nvSpPr>
        <p:spPr>
          <a:xfrm>
            <a:off x="4434840" y="4608576"/>
            <a:ext cx="3246120" cy="384048"/>
          </a:xfrm>
          <a:prstGeom prst="rect">
            <a:avLst/>
          </a:prstGeom>
          <a:noFill/>
          <a:ln/>
        </p:spPr>
        <p:txBody>
          <a:bodyPr wrap="square" lIns="0" tIns="0" rIns="0" bIns="0" rtlCol="0" anchor="t"/>
          <a:lstStyle/>
          <a:p>
            <a:pPr indent="0" marL="0">
              <a:buNone/>
            </a:pPr>
            <a:r>
              <a:rPr lang="en-US" sz="1200" dirty="0">
                <a:solidFill>
                  <a:srgbClr val="58595B"/>
                </a:solidFill>
                <a:latin typeface="Calibri" pitchFamily="34" charset="0"/>
                <a:ea typeface="Calibri" pitchFamily="34" charset="-122"/>
                <a:cs typeface="Calibri" pitchFamily="34" charset="-120"/>
              </a:rPr>
              <a:t>supervisors apply the routine at day 30</a:t>
            </a:r>
            <a:endParaRPr lang="en-US" sz="1200" dirty="0"/>
          </a:p>
        </p:txBody>
      </p:sp>
      <p:sp>
        <p:nvSpPr>
          <p:cNvPr id="25" name="Text 22"/>
          <p:cNvSpPr txBox="1"/>
          <p:nvPr/>
        </p:nvSpPr>
        <p:spPr>
          <a:xfrm>
            <a:off x="4434840" y="5138928"/>
            <a:ext cx="3200400" cy="274320"/>
          </a:xfrm>
          <a:prstGeom prst="rect">
            <a:avLst/>
          </a:prstGeom>
          <a:noFill/>
          <a:ln/>
        </p:spPr>
        <p:txBody>
          <a:bodyPr wrap="square" lIns="0" tIns="0" rIns="0" bIns="0" rtlCol="0" anchor="ctr"/>
          <a:lstStyle/>
          <a:p>
            <a:pPr indent="0" marL="0">
              <a:buNone/>
            </a:pPr>
            <a:r>
              <a:rPr lang="en-US" sz="1000" i="1" dirty="0">
                <a:solidFill>
                  <a:srgbClr val="808184"/>
                </a:solidFill>
                <a:latin typeface="Calibri" pitchFamily="34" charset="0"/>
                <a:ea typeface="Calibri" pitchFamily="34" charset="-122"/>
                <a:cs typeface="Calibri" pitchFamily="34" charset="-120"/>
              </a:rPr>
              <a:t>UFT-07-05</a:t>
            </a:r>
            <a:endParaRPr lang="en-US" sz="1000" dirty="0"/>
          </a:p>
        </p:txBody>
      </p:sp>
      <p:sp>
        <p:nvSpPr>
          <p:cNvPr id="26" name="kpi ROI, benefit-cost ratio 1.22"/>
          <p:cNvSpPr/>
          <p:nvPr/>
        </p:nvSpPr>
        <p:spPr>
          <a:xfrm>
            <a:off x="8046720" y="3931920"/>
            <a:ext cx="3611880" cy="1143000"/>
          </a:xfrm>
          <a:prstGeom prst="roundRect">
            <a:avLst>
              <a:gd name="adj" fmla="val 6400"/>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27" name="Text 24"/>
          <p:cNvSpPr txBox="1"/>
          <p:nvPr/>
        </p:nvSpPr>
        <p:spPr>
          <a:xfrm>
            <a:off x="8229600" y="4041648"/>
            <a:ext cx="3246120" cy="566928"/>
          </a:xfrm>
          <a:prstGeom prst="rect">
            <a:avLst/>
          </a:prstGeom>
          <a:noFill/>
          <a:ln/>
        </p:spPr>
        <p:txBody>
          <a:bodyPr wrap="square" lIns="0" tIns="0" rIns="0" bIns="0" rtlCol="0" anchor="ctr"/>
          <a:lstStyle/>
          <a:p>
            <a:pPr indent="0" marL="0">
              <a:buNone/>
            </a:pPr>
            <a:r>
              <a:rPr lang="en-US" sz="3200" b="1" dirty="0">
                <a:solidFill>
                  <a:srgbClr val="E07B00"/>
                </a:solidFill>
                <a:latin typeface="Cambria" pitchFamily="34" charset="0"/>
                <a:ea typeface="Cambria" pitchFamily="34" charset="-122"/>
                <a:cs typeface="Cambria" pitchFamily="34" charset="-120"/>
              </a:rPr>
              <a:t>22 %</a:t>
            </a:r>
            <a:endParaRPr lang="en-US" sz="3200" dirty="0"/>
          </a:p>
        </p:txBody>
      </p:sp>
      <p:sp>
        <p:nvSpPr>
          <p:cNvPr id="28" name="Text 25"/>
          <p:cNvSpPr txBox="1"/>
          <p:nvPr/>
        </p:nvSpPr>
        <p:spPr>
          <a:xfrm>
            <a:off x="8229600" y="4608576"/>
            <a:ext cx="3246120" cy="384048"/>
          </a:xfrm>
          <a:prstGeom prst="rect">
            <a:avLst/>
          </a:prstGeom>
          <a:noFill/>
          <a:ln/>
        </p:spPr>
        <p:txBody>
          <a:bodyPr wrap="square" lIns="0" tIns="0" rIns="0" bIns="0" rtlCol="0" anchor="t"/>
          <a:lstStyle/>
          <a:p>
            <a:pPr indent="0" marL="0">
              <a:buNone/>
            </a:pPr>
            <a:r>
              <a:rPr lang="en-US" sz="1200" dirty="0">
                <a:solidFill>
                  <a:srgbClr val="58595B"/>
                </a:solidFill>
                <a:latin typeface="Calibri" pitchFamily="34" charset="0"/>
                <a:ea typeface="Calibri" pitchFamily="34" charset="-122"/>
                <a:cs typeface="Calibri" pitchFamily="34" charset="-120"/>
              </a:rPr>
              <a:t>ROI, benefit-cost ratio 1.22</a:t>
            </a:r>
            <a:endParaRPr lang="en-US" sz="1200" dirty="0"/>
          </a:p>
        </p:txBody>
      </p:sp>
      <p:sp>
        <p:nvSpPr>
          <p:cNvPr id="29" name="Text 26"/>
          <p:cNvSpPr txBox="1"/>
          <p:nvPr/>
        </p:nvSpPr>
        <p:spPr>
          <a:xfrm>
            <a:off x="8229600" y="5138928"/>
            <a:ext cx="3200400" cy="274320"/>
          </a:xfrm>
          <a:prstGeom prst="rect">
            <a:avLst/>
          </a:prstGeom>
          <a:noFill/>
          <a:ln/>
        </p:spPr>
        <p:txBody>
          <a:bodyPr wrap="square" lIns="0" tIns="0" rIns="0" bIns="0" rtlCol="0" anchor="ctr"/>
          <a:lstStyle/>
          <a:p>
            <a:pPr indent="0" marL="0">
              <a:buNone/>
            </a:pPr>
            <a:r>
              <a:rPr lang="en-US" sz="1000" i="1" dirty="0">
                <a:solidFill>
                  <a:srgbClr val="808184"/>
                </a:solidFill>
                <a:latin typeface="Calibri" pitchFamily="34" charset="0"/>
                <a:ea typeface="Calibri" pitchFamily="34" charset="-122"/>
                <a:cs typeface="Calibri" pitchFamily="34" charset="-120"/>
              </a:rPr>
              <a:t>UFT-08-05</a:t>
            </a:r>
            <a:endParaRPr lang="en-US" sz="1000" dirty="0"/>
          </a:p>
        </p:txBody>
      </p:sp>
      <p:sp>
        <p:nvSpPr>
          <p:cNvPr id="30"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RESULTS</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Training measured at every Kirkpatrick level</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Session S-01, AI triage and clinical decision support for supervisors</a:t>
            </a:r>
            <a:endParaRPr lang="en-US" sz="1400" dirty="0"/>
          </a:p>
        </p:txBody>
      </p:sp>
      <p:graphicFrame>
        <p:nvGraphicFramePr>
          <p:cNvPr id="6" name="Chart 0" descr=""/>
          <p:cNvGraphicFramePr/>
          <p:nvPr/>
        </p:nvGraphicFramePr>
        <p:xfrm>
          <a:off x="457200" y="1783080"/>
          <a:ext cx="6766560" cy="416052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457200" y="5989320"/>
            <a:ext cx="676656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Satisfaction 4.3/5 shown as 86 %; 9 of 11 participants shown as 82 %. Source: tasks UFT-07-03 to UFT-07-05.</a:t>
            </a:r>
            <a:endParaRPr lang="en-US" sz="1000" dirty="0"/>
          </a:p>
        </p:txBody>
      </p:sp>
      <p:sp>
        <p:nvSpPr>
          <p:cNvPr id="8" name="badge smile"/>
          <p:cNvSpPr/>
          <p:nvPr/>
        </p:nvSpPr>
        <p:spPr>
          <a:xfrm>
            <a:off x="7589520" y="1783080"/>
            <a:ext cx="475488" cy="475488"/>
          </a:xfrm>
          <a:prstGeom prst="ellipse">
            <a:avLst/>
          </a:prstGeom>
          <a:solidFill>
            <a:srgbClr val="58595B"/>
          </a:solidFill>
          <a:ln w="12700">
            <a:solidFill>
              <a:srgbClr val="58595B"/>
            </a:solidFill>
            <a:prstDash val="solid"/>
          </a:ln>
        </p:spPr>
      </p:sp>
      <p:pic>
        <p:nvPicPr>
          <p:cNvPr id="9" name="Image 0" descr="smile">    </p:cNvPr>
          <p:cNvPicPr>
            <a:picLocks noChangeAspect="1"/>
          </p:cNvPicPr>
          <p:nvPr/>
        </p:nvPicPr>
        <p:blipFill>
          <a:blip r:embed="rId2"/>
          <a:stretch>
            <a:fillRect/>
          </a:stretch>
        </p:blipFill>
        <p:spPr>
          <a:xfrm>
            <a:off x="7698882" y="1892442"/>
            <a:ext cx="256764" cy="256764"/>
          </a:xfrm>
          <a:prstGeom prst="rect">
            <a:avLst/>
          </a:prstGeom>
        </p:spPr>
      </p:pic>
      <p:sp>
        <p:nvSpPr>
          <p:cNvPr id="10" name="Text 5"/>
          <p:cNvSpPr txBox="1"/>
          <p:nvPr/>
        </p:nvSpPr>
        <p:spPr>
          <a:xfrm>
            <a:off x="8183880" y="1746504"/>
            <a:ext cx="3566160" cy="987552"/>
          </a:xfrm>
          <a:prstGeom prst="rect">
            <a:avLst/>
          </a:prstGeom>
          <a:noFill/>
          <a:ln/>
        </p:spPr>
        <p:txBody>
          <a:bodyPr wrap="square" lIns="0" tIns="0" rIns="0" bIns="0" rtlCol="0" anchor="t"/>
          <a:lstStyle/>
          <a:p>
            <a:pPr indent="0" marL="0">
              <a:buNone/>
            </a:pPr>
            <a:r>
              <a:rPr lang="en-US" sz="1300" b="1" dirty="0">
                <a:solidFill>
                  <a:srgbClr val="3A3A3C"/>
                </a:solidFill>
                <a:latin typeface="Calibri" pitchFamily="34" charset="0"/>
                <a:ea typeface="Calibri" pitchFamily="34" charset="-122"/>
                <a:cs typeface="Calibri" pitchFamily="34" charset="-120"/>
              </a:rPr>
              <a:t>Level 1 — Reaction
</a:t>
            </a:r>
            <a:pPr indent="0" marL="0">
              <a:buNone/>
            </a:pPr>
            <a:r>
              <a:rPr lang="en-US" sz="1100" dirty="0">
                <a:solidFill>
                  <a:srgbClr val="58595B"/>
                </a:solidFill>
                <a:latin typeface="Calibri" pitchFamily="34" charset="0"/>
                <a:ea typeface="Calibri" pitchFamily="34" charset="-122"/>
                <a:cs typeface="Calibri" pitchFamily="34" charset="-120"/>
              </a:rPr>
              <a:t>Reaction survey S-01: 11 responses, satisfaction 4.3/5.</a:t>
            </a:r>
            <a:endParaRPr lang="en-US" sz="1100" dirty="0"/>
          </a:p>
        </p:txBody>
      </p:sp>
      <p:sp>
        <p:nvSpPr>
          <p:cNvPr id="11" name="badge brain"/>
          <p:cNvSpPr/>
          <p:nvPr/>
        </p:nvSpPr>
        <p:spPr>
          <a:xfrm>
            <a:off x="7589520" y="2852928"/>
            <a:ext cx="475488" cy="475488"/>
          </a:xfrm>
          <a:prstGeom prst="ellipse">
            <a:avLst/>
          </a:prstGeom>
          <a:solidFill>
            <a:srgbClr val="58595B"/>
          </a:solidFill>
          <a:ln w="12700">
            <a:solidFill>
              <a:srgbClr val="58595B"/>
            </a:solidFill>
            <a:prstDash val="solid"/>
          </a:ln>
        </p:spPr>
      </p:sp>
      <p:pic>
        <p:nvPicPr>
          <p:cNvPr id="12" name="Image 1" descr="brain">    </p:cNvPr>
          <p:cNvPicPr>
            <a:picLocks noChangeAspect="1"/>
          </p:cNvPicPr>
          <p:nvPr/>
        </p:nvPicPr>
        <p:blipFill>
          <a:blip r:embed="rId3"/>
          <a:stretch>
            <a:fillRect/>
          </a:stretch>
        </p:blipFill>
        <p:spPr>
          <a:xfrm>
            <a:off x="7698882" y="2962290"/>
            <a:ext cx="256764" cy="256764"/>
          </a:xfrm>
          <a:prstGeom prst="rect">
            <a:avLst/>
          </a:prstGeom>
        </p:spPr>
      </p:pic>
      <p:sp>
        <p:nvSpPr>
          <p:cNvPr id="13" name="Text 7"/>
          <p:cNvSpPr txBox="1"/>
          <p:nvPr/>
        </p:nvSpPr>
        <p:spPr>
          <a:xfrm>
            <a:off x="8183880" y="2816352"/>
            <a:ext cx="3566160" cy="987552"/>
          </a:xfrm>
          <a:prstGeom prst="rect">
            <a:avLst/>
          </a:prstGeom>
          <a:noFill/>
          <a:ln/>
        </p:spPr>
        <p:txBody>
          <a:bodyPr wrap="square" lIns="0" tIns="0" rIns="0" bIns="0" rtlCol="0" anchor="t"/>
          <a:lstStyle/>
          <a:p>
            <a:pPr indent="0" marL="0">
              <a:buNone/>
            </a:pPr>
            <a:r>
              <a:rPr lang="en-US" sz="1300" b="1" dirty="0">
                <a:solidFill>
                  <a:srgbClr val="3A3A3C"/>
                </a:solidFill>
                <a:latin typeface="Calibri" pitchFamily="34" charset="0"/>
                <a:ea typeface="Calibri" pitchFamily="34" charset="-122"/>
                <a:cs typeface="Calibri" pitchFamily="34" charset="-120"/>
              </a:rPr>
              <a:t>Level 2 — Learning
</a:t>
            </a:r>
            <a:pPr indent="0" marL="0">
              <a:buNone/>
            </a:pPr>
            <a:r>
              <a:rPr lang="en-US" sz="1100" dirty="0">
                <a:solidFill>
                  <a:srgbClr val="58595B"/>
                </a:solidFill>
                <a:latin typeface="Calibri" pitchFamily="34" charset="0"/>
                <a:ea typeface="Calibri" pitchFamily="34" charset="-122"/>
                <a:cs typeface="Calibri" pitchFamily="34" charset="-120"/>
              </a:rPr>
              <a:t>Level 2: average pre-test 48%, post-test 81% (+33 points).</a:t>
            </a:r>
            <a:endParaRPr lang="en-US" sz="1100" dirty="0"/>
          </a:p>
        </p:txBody>
      </p:sp>
      <p:sp>
        <p:nvSpPr>
          <p:cNvPr id="14" name="badge activity"/>
          <p:cNvSpPr/>
          <p:nvPr/>
        </p:nvSpPr>
        <p:spPr>
          <a:xfrm>
            <a:off x="7589520" y="3922776"/>
            <a:ext cx="475488" cy="475488"/>
          </a:xfrm>
          <a:prstGeom prst="ellipse">
            <a:avLst/>
          </a:prstGeom>
          <a:solidFill>
            <a:srgbClr val="58595B"/>
          </a:solidFill>
          <a:ln w="12700">
            <a:solidFill>
              <a:srgbClr val="58595B"/>
            </a:solidFill>
            <a:prstDash val="solid"/>
          </a:ln>
        </p:spPr>
      </p:sp>
      <p:pic>
        <p:nvPicPr>
          <p:cNvPr id="15" name="Image 2" descr="activity">    </p:cNvPr>
          <p:cNvPicPr>
            <a:picLocks noChangeAspect="1"/>
          </p:cNvPicPr>
          <p:nvPr/>
        </p:nvPicPr>
        <p:blipFill>
          <a:blip r:embed="rId4"/>
          <a:stretch>
            <a:fillRect/>
          </a:stretch>
        </p:blipFill>
        <p:spPr>
          <a:xfrm>
            <a:off x="7698882" y="4032138"/>
            <a:ext cx="256764" cy="256764"/>
          </a:xfrm>
          <a:prstGeom prst="rect">
            <a:avLst/>
          </a:prstGeom>
        </p:spPr>
      </p:pic>
      <p:sp>
        <p:nvSpPr>
          <p:cNvPr id="16" name="Text 9"/>
          <p:cNvSpPr txBox="1"/>
          <p:nvPr/>
        </p:nvSpPr>
        <p:spPr>
          <a:xfrm>
            <a:off x="8183880" y="3886200"/>
            <a:ext cx="3566160" cy="987552"/>
          </a:xfrm>
          <a:prstGeom prst="rect">
            <a:avLst/>
          </a:prstGeom>
          <a:noFill/>
          <a:ln/>
        </p:spPr>
        <p:txBody>
          <a:bodyPr wrap="square" lIns="0" tIns="0" rIns="0" bIns="0" rtlCol="0" anchor="t"/>
          <a:lstStyle/>
          <a:p>
            <a:pPr indent="0" marL="0">
              <a:buNone/>
            </a:pPr>
            <a:r>
              <a:rPr lang="en-US" sz="1300" b="1" dirty="0">
                <a:solidFill>
                  <a:srgbClr val="3A3A3C"/>
                </a:solidFill>
                <a:latin typeface="Calibri" pitchFamily="34" charset="0"/>
                <a:ea typeface="Calibri" pitchFamily="34" charset="-122"/>
                <a:cs typeface="Calibri" pitchFamily="34" charset="-120"/>
              </a:rPr>
              <a:t>Level 3 — Behaviour
</a:t>
            </a:r>
            <a:pPr indent="0" marL="0">
              <a:buNone/>
            </a:pPr>
            <a:r>
              <a:rPr lang="en-US" sz="1100" dirty="0">
                <a:solidFill>
                  <a:srgbClr val="58595B"/>
                </a:solidFill>
                <a:latin typeface="Calibri" pitchFamily="34" charset="0"/>
                <a:ea typeface="Calibri" pitchFamily="34" charset="-122"/>
                <a:cs typeface="Calibri" pitchFamily="34" charset="-120"/>
              </a:rPr>
              <a:t>Level 3 (day 30): 9 of 11 supervisors apply the AI triage and clinical decision support routine daily.</a:t>
            </a:r>
            <a:endParaRPr lang="en-US" sz="1100" dirty="0"/>
          </a:p>
        </p:txBody>
      </p:sp>
      <p:sp>
        <p:nvSpPr>
          <p:cNvPr id="17" name="badge coins"/>
          <p:cNvSpPr/>
          <p:nvPr/>
        </p:nvSpPr>
        <p:spPr>
          <a:xfrm>
            <a:off x="7589520" y="4992624"/>
            <a:ext cx="475488" cy="475488"/>
          </a:xfrm>
          <a:prstGeom prst="ellipse">
            <a:avLst/>
          </a:prstGeom>
          <a:solidFill>
            <a:srgbClr val="F8931D"/>
          </a:solidFill>
          <a:ln w="12700">
            <a:solidFill>
              <a:srgbClr val="F8931D"/>
            </a:solidFill>
            <a:prstDash val="solid"/>
          </a:ln>
        </p:spPr>
      </p:sp>
      <p:pic>
        <p:nvPicPr>
          <p:cNvPr id="18" name="Image 3" descr="coins">    </p:cNvPr>
          <p:cNvPicPr>
            <a:picLocks noChangeAspect="1"/>
          </p:cNvPicPr>
          <p:nvPr/>
        </p:nvPicPr>
        <p:blipFill>
          <a:blip r:embed="rId5"/>
          <a:stretch>
            <a:fillRect/>
          </a:stretch>
        </p:blipFill>
        <p:spPr>
          <a:xfrm>
            <a:off x="7698882" y="5101986"/>
            <a:ext cx="256764" cy="256764"/>
          </a:xfrm>
          <a:prstGeom prst="rect">
            <a:avLst/>
          </a:prstGeom>
        </p:spPr>
      </p:pic>
      <p:sp>
        <p:nvSpPr>
          <p:cNvPr id="19" name="Text 11"/>
          <p:cNvSpPr txBox="1"/>
          <p:nvPr/>
        </p:nvSpPr>
        <p:spPr>
          <a:xfrm>
            <a:off x="8183880" y="4956048"/>
            <a:ext cx="3566160" cy="987552"/>
          </a:xfrm>
          <a:prstGeom prst="rect">
            <a:avLst/>
          </a:prstGeom>
          <a:noFill/>
          <a:ln/>
        </p:spPr>
        <p:txBody>
          <a:bodyPr wrap="square" lIns="0" tIns="0" rIns="0" bIns="0" rtlCol="0" anchor="t"/>
          <a:lstStyle/>
          <a:p>
            <a:pPr indent="0" marL="0">
              <a:buNone/>
            </a:pPr>
            <a:r>
              <a:rPr lang="en-US" sz="1300" b="1" dirty="0">
                <a:solidFill>
                  <a:srgbClr val="3A3A3C"/>
                </a:solidFill>
                <a:latin typeface="Calibri" pitchFamily="34" charset="0"/>
                <a:ea typeface="Calibri" pitchFamily="34" charset="-122"/>
                <a:cs typeface="Calibri" pitchFamily="34" charset="-120"/>
              </a:rPr>
              <a:t>Level 4 — ROI
</a:t>
            </a:r>
            <a:pPr indent="0" marL="0">
              <a:buNone/>
            </a:pPr>
            <a:r>
              <a:rPr lang="en-US" sz="1100" dirty="0">
                <a:solidFill>
                  <a:srgbClr val="58595B"/>
                </a:solidFill>
                <a:latin typeface="Calibri" pitchFamily="34" charset="0"/>
                <a:ea typeface="Calibri" pitchFamily="34" charset="-122"/>
                <a:cs typeface="Calibri" pitchFamily="34" charset="-120"/>
              </a:rPr>
              <a:t>ROI = (410,000 − 335,000) / 335,000 = 22%; benefit-cost ratio 1.22.</a:t>
            </a:r>
            <a:endParaRPr lang="en-US" sz="1100" dirty="0"/>
          </a:p>
        </p:txBody>
      </p:sp>
      <p:sp>
        <p:nvSpPr>
          <p:cNvPr id="20"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RESULTS</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Every KPI of the project on target</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61 of 61 KPIs green — the first ten</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6309360" cy="914400"/>
        </p:xfrm>
        <a:graphic>
          <a:graphicData uri="http://schemas.openxmlformats.org/drawingml/2006/table">
            <a:tbl>
              <a:tblPr/>
              <a:tblGrid>
                <a:gridCol w="822960"/>
                <a:gridCol w="2834640"/>
                <a:gridCol w="731520"/>
                <a:gridCol w="731520"/>
                <a:gridCol w="1188720"/>
              </a:tblGrid>
              <a:tr h="36576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KPI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Value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Target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Status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365760">
                <a:tc>
                  <a:txBody>
                    <a:bodyPr/>
                    <a:lstStyle/>
                    <a:p>
                      <a:pPr indent="0" marL="0">
                        <a:buNone/>
                      </a:pPr>
                      <a:r>
                        <a:rPr lang="en-US" sz="1100" b="1" dirty="0">
                          <a:solidFill>
                            <a:srgbClr val="3A3A3C"/>
                          </a:solidFill>
                          <a:latin typeface="Calibri" pitchFamily="34" charset="0"/>
                          <a:ea typeface="Calibri" pitchFamily="34" charset="-122"/>
                          <a:cs typeface="Calibri" pitchFamily="34" charset="-120"/>
                        </a:rPr>
                        <a:t>KPI-001</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100" dirty="0">
                          <a:solidFill>
                            <a:srgbClr val="58595B"/>
                          </a:solidFill>
                          <a:latin typeface="Calibri" pitchFamily="34" charset="0"/>
                          <a:ea typeface="Calibri" pitchFamily="34" charset="-122"/>
                          <a:cs typeface="Calibri" pitchFamily="34" charset="-120"/>
                        </a:rPr>
                        <a:t>Strategic objective coverage</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108</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3A3A3C"/>
                          </a:solidFill>
                          <a:latin typeface="Calibri" pitchFamily="34" charset="0"/>
                          <a:ea typeface="Calibri" pitchFamily="34" charset="-122"/>
                          <a:cs typeface="Calibri" pitchFamily="34" charset="-120"/>
                        </a:rPr>
                        <a:t>On target</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D9EAD3"/>
                    </a:solidFill>
                  </a:tcPr>
                </a:tc>
              </a:tr>
              <a:tr h="365760">
                <a:tc>
                  <a:txBody>
                    <a:bodyPr/>
                    <a:lstStyle/>
                    <a:p>
                      <a:pPr indent="0" marL="0">
                        <a:buNone/>
                      </a:pPr>
                      <a:r>
                        <a:rPr lang="en-US" sz="1100" b="1" dirty="0">
                          <a:solidFill>
                            <a:srgbClr val="3A3A3C"/>
                          </a:solidFill>
                          <a:latin typeface="Calibri" pitchFamily="34" charset="0"/>
                          <a:ea typeface="Calibri" pitchFamily="34" charset="-122"/>
                          <a:cs typeface="Calibri" pitchFamily="34" charset="-120"/>
                        </a:rPr>
                        <a:t>KPI-002</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100" dirty="0">
                          <a:solidFill>
                            <a:srgbClr val="58595B"/>
                          </a:solidFill>
                          <a:latin typeface="Calibri" pitchFamily="34" charset="0"/>
                          <a:ea typeface="Calibri" pitchFamily="34" charset="-122"/>
                          <a:cs typeface="Calibri" pitchFamily="34" charset="-120"/>
                        </a:rPr>
                        <a:t>Skills inventory validation rate</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102.6</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95</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ctr" indent="0" marL="0">
                        <a:buNone/>
                      </a:pPr>
                      <a:r>
                        <a:rPr lang="en-US" sz="1100" b="1" dirty="0">
                          <a:solidFill>
                            <a:srgbClr val="3A3A3C"/>
                          </a:solidFill>
                          <a:latin typeface="Calibri" pitchFamily="34" charset="0"/>
                          <a:ea typeface="Calibri" pitchFamily="34" charset="-122"/>
                          <a:cs typeface="Calibri" pitchFamily="34" charset="-120"/>
                        </a:rPr>
                        <a:t>On target</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D9EAD3"/>
                    </a:solidFill>
                  </a:tcPr>
                </a:tc>
              </a:tr>
              <a:tr h="365760">
                <a:tc>
                  <a:txBody>
                    <a:bodyPr/>
                    <a:lstStyle/>
                    <a:p>
                      <a:pPr indent="0" marL="0">
                        <a:buNone/>
                      </a:pPr>
                      <a:r>
                        <a:rPr lang="en-US" sz="1100" b="1" dirty="0">
                          <a:solidFill>
                            <a:srgbClr val="3A3A3C"/>
                          </a:solidFill>
                          <a:latin typeface="Calibri" pitchFamily="34" charset="0"/>
                          <a:ea typeface="Calibri" pitchFamily="34" charset="-122"/>
                          <a:cs typeface="Calibri" pitchFamily="34" charset="-120"/>
                        </a:rPr>
                        <a:t>KPI-003</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100" dirty="0">
                          <a:solidFill>
                            <a:srgbClr val="58595B"/>
                          </a:solidFill>
                          <a:latin typeface="Calibri" pitchFamily="34" charset="0"/>
                          <a:ea typeface="Calibri" pitchFamily="34" charset="-122"/>
                          <a:cs typeface="Calibri" pitchFamily="34" charset="-120"/>
                        </a:rPr>
                        <a:t>Critical gap rate</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8.2</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3A3A3C"/>
                          </a:solidFill>
                          <a:latin typeface="Calibri" pitchFamily="34" charset="0"/>
                          <a:ea typeface="Calibri" pitchFamily="34" charset="-122"/>
                          <a:cs typeface="Calibri" pitchFamily="34" charset="-120"/>
                        </a:rPr>
                        <a:t>On target</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D9EAD3"/>
                    </a:solidFill>
                  </a:tcPr>
                </a:tc>
              </a:tr>
              <a:tr h="365760">
                <a:tc>
                  <a:txBody>
                    <a:bodyPr/>
                    <a:lstStyle/>
                    <a:p>
                      <a:pPr indent="0" marL="0">
                        <a:buNone/>
                      </a:pPr>
                      <a:r>
                        <a:rPr lang="en-US" sz="1100" b="1" dirty="0">
                          <a:solidFill>
                            <a:srgbClr val="3A3A3C"/>
                          </a:solidFill>
                          <a:latin typeface="Calibri" pitchFamily="34" charset="0"/>
                          <a:ea typeface="Calibri" pitchFamily="34" charset="-122"/>
                          <a:cs typeface="Calibri" pitchFamily="34" charset="-120"/>
                        </a:rPr>
                        <a:t>KPI-004</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100" dirty="0">
                          <a:solidFill>
                            <a:srgbClr val="58595B"/>
                          </a:solidFill>
                          <a:latin typeface="Calibri" pitchFamily="34" charset="0"/>
                          <a:ea typeface="Calibri" pitchFamily="34" charset="-122"/>
                          <a:cs typeface="Calibri" pitchFamily="34" charset="-120"/>
                        </a:rPr>
                        <a:t>Training Engineering Report cycle time</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24.6</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ctr" indent="0" marL="0">
                        <a:buNone/>
                      </a:pPr>
                      <a:r>
                        <a:rPr lang="en-US" sz="1100" b="1" dirty="0">
                          <a:solidFill>
                            <a:srgbClr val="3A3A3C"/>
                          </a:solidFill>
                          <a:latin typeface="Calibri" pitchFamily="34" charset="0"/>
                          <a:ea typeface="Calibri" pitchFamily="34" charset="-122"/>
                          <a:cs typeface="Calibri" pitchFamily="34" charset="-120"/>
                        </a:rPr>
                        <a:t>On target</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D9EAD3"/>
                    </a:solidFill>
                  </a:tcPr>
                </a:tc>
              </a:tr>
              <a:tr h="365760">
                <a:tc>
                  <a:txBody>
                    <a:bodyPr/>
                    <a:lstStyle/>
                    <a:p>
                      <a:pPr indent="0" marL="0">
                        <a:buNone/>
                      </a:pPr>
                      <a:r>
                        <a:rPr lang="en-US" sz="1100" b="1" dirty="0">
                          <a:solidFill>
                            <a:srgbClr val="3A3A3C"/>
                          </a:solidFill>
                          <a:latin typeface="Calibri" pitchFamily="34" charset="0"/>
                          <a:ea typeface="Calibri" pitchFamily="34" charset="-122"/>
                          <a:cs typeface="Calibri" pitchFamily="34" charset="-120"/>
                        </a:rPr>
                        <a:t>KPI-005</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100" dirty="0">
                          <a:solidFill>
                            <a:srgbClr val="58595B"/>
                          </a:solidFill>
                          <a:latin typeface="Calibri" pitchFamily="34" charset="0"/>
                          <a:ea typeface="Calibri" pitchFamily="34" charset="-122"/>
                          <a:cs typeface="Calibri" pitchFamily="34" charset="-120"/>
                        </a:rPr>
                        <a:t>Design approval lead time</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16.4</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3A3A3C"/>
                          </a:solidFill>
                          <a:latin typeface="Calibri" pitchFamily="34" charset="0"/>
                          <a:ea typeface="Calibri" pitchFamily="34" charset="-122"/>
                          <a:cs typeface="Calibri" pitchFamily="34" charset="-120"/>
                        </a:rPr>
                        <a:t>On target</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D9EAD3"/>
                    </a:solidFill>
                  </a:tcPr>
                </a:tc>
              </a:tr>
              <a:tr h="365760">
                <a:tc>
                  <a:txBody>
                    <a:bodyPr/>
                    <a:lstStyle/>
                    <a:p>
                      <a:pPr indent="0" marL="0">
                        <a:buNone/>
                      </a:pPr>
                      <a:r>
                        <a:rPr lang="en-US" sz="1100" b="1" dirty="0">
                          <a:solidFill>
                            <a:srgbClr val="3A3A3C"/>
                          </a:solidFill>
                          <a:latin typeface="Calibri" pitchFamily="34" charset="0"/>
                          <a:ea typeface="Calibri" pitchFamily="34" charset="-122"/>
                          <a:cs typeface="Calibri" pitchFamily="34" charset="-120"/>
                        </a:rPr>
                        <a:t>KPI-006</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100" dirty="0">
                          <a:solidFill>
                            <a:srgbClr val="58595B"/>
                          </a:solidFill>
                          <a:latin typeface="Calibri" pitchFamily="34" charset="0"/>
                          <a:ea typeface="Calibri" pitchFamily="34" charset="-122"/>
                          <a:cs typeface="Calibri" pitchFamily="34" charset="-120"/>
                        </a:rPr>
                        <a:t>License Compliance %</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108</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ctr" indent="0" marL="0">
                        <a:buNone/>
                      </a:pPr>
                      <a:r>
                        <a:rPr lang="en-US" sz="1100" b="1" dirty="0">
                          <a:solidFill>
                            <a:srgbClr val="3A3A3C"/>
                          </a:solidFill>
                          <a:latin typeface="Calibri" pitchFamily="34" charset="0"/>
                          <a:ea typeface="Calibri" pitchFamily="34" charset="-122"/>
                          <a:cs typeface="Calibri" pitchFamily="34" charset="-120"/>
                        </a:rPr>
                        <a:t>On target</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D9EAD3"/>
                    </a:solidFill>
                  </a:tcPr>
                </a:tc>
              </a:tr>
              <a:tr h="365760">
                <a:tc>
                  <a:txBody>
                    <a:bodyPr/>
                    <a:lstStyle/>
                    <a:p>
                      <a:pPr indent="0" marL="0">
                        <a:buNone/>
                      </a:pPr>
                      <a:r>
                        <a:rPr lang="en-US" sz="1100" b="1" dirty="0">
                          <a:solidFill>
                            <a:srgbClr val="3A3A3C"/>
                          </a:solidFill>
                          <a:latin typeface="Calibri" pitchFamily="34" charset="0"/>
                          <a:ea typeface="Calibri" pitchFamily="34" charset="-122"/>
                          <a:cs typeface="Calibri" pitchFamily="34" charset="-120"/>
                        </a:rPr>
                        <a:t>KPI-007</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100" dirty="0">
                          <a:solidFill>
                            <a:srgbClr val="58595B"/>
                          </a:solidFill>
                          <a:latin typeface="Calibri" pitchFamily="34" charset="0"/>
                          <a:ea typeface="Calibri" pitchFamily="34" charset="-122"/>
                          <a:cs typeface="Calibri" pitchFamily="34" charset="-120"/>
                        </a:rPr>
                        <a:t>Content publication lead time</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12.3</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3A3A3C"/>
                          </a:solidFill>
                          <a:latin typeface="Calibri" pitchFamily="34" charset="0"/>
                          <a:ea typeface="Calibri" pitchFamily="34" charset="-122"/>
                          <a:cs typeface="Calibri" pitchFamily="34" charset="-120"/>
                        </a:rPr>
                        <a:t>On target</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D9EAD3"/>
                    </a:solidFill>
                  </a:tcPr>
                </a:tc>
              </a:tr>
              <a:tr h="365760">
                <a:tc>
                  <a:txBody>
                    <a:bodyPr/>
                    <a:lstStyle/>
                    <a:p>
                      <a:pPr indent="0" marL="0">
                        <a:buNone/>
                      </a:pPr>
                      <a:r>
                        <a:rPr lang="en-US" sz="1100" b="1" dirty="0">
                          <a:solidFill>
                            <a:srgbClr val="3A3A3C"/>
                          </a:solidFill>
                          <a:latin typeface="Calibri" pitchFamily="34" charset="0"/>
                          <a:ea typeface="Calibri" pitchFamily="34" charset="-122"/>
                          <a:cs typeface="Calibri" pitchFamily="34" charset="-120"/>
                        </a:rPr>
                        <a:t>KPI-008</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100" dirty="0">
                          <a:solidFill>
                            <a:srgbClr val="58595B"/>
                          </a:solidFill>
                          <a:latin typeface="Calibri" pitchFamily="34" charset="0"/>
                          <a:ea typeface="Calibri" pitchFamily="34" charset="-122"/>
                          <a:cs typeface="Calibri" pitchFamily="34" charset="-120"/>
                        </a:rPr>
                        <a:t>Session fill rate</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91.8</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85</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ctr" indent="0" marL="0">
                        <a:buNone/>
                      </a:pPr>
                      <a:r>
                        <a:rPr lang="en-US" sz="1100" b="1" dirty="0">
                          <a:solidFill>
                            <a:srgbClr val="3A3A3C"/>
                          </a:solidFill>
                          <a:latin typeface="Calibri" pitchFamily="34" charset="0"/>
                          <a:ea typeface="Calibri" pitchFamily="34" charset="-122"/>
                          <a:cs typeface="Calibri" pitchFamily="34" charset="-120"/>
                        </a:rPr>
                        <a:t>On target</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D9EAD3"/>
                    </a:solidFill>
                  </a:tcPr>
                </a:tc>
              </a:tr>
              <a:tr h="365760">
                <a:tc>
                  <a:txBody>
                    <a:bodyPr/>
                    <a:lstStyle/>
                    <a:p>
                      <a:pPr indent="0" marL="0">
                        <a:buNone/>
                      </a:pPr>
                      <a:r>
                        <a:rPr lang="en-US" sz="1100" b="1" dirty="0">
                          <a:solidFill>
                            <a:srgbClr val="3A3A3C"/>
                          </a:solidFill>
                          <a:latin typeface="Calibri" pitchFamily="34" charset="0"/>
                          <a:ea typeface="Calibri" pitchFamily="34" charset="-122"/>
                          <a:cs typeface="Calibri" pitchFamily="34" charset="-120"/>
                        </a:rPr>
                        <a:t>KPI-009</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100" dirty="0">
                          <a:solidFill>
                            <a:srgbClr val="58595B"/>
                          </a:solidFill>
                          <a:latin typeface="Calibri" pitchFamily="34" charset="0"/>
                          <a:ea typeface="Calibri" pitchFamily="34" charset="-122"/>
                          <a:cs typeface="Calibri" pitchFamily="34" charset="-120"/>
                        </a:rPr>
                        <a:t>Plan realization rate</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97.2</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90</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3A3A3C"/>
                          </a:solidFill>
                          <a:latin typeface="Calibri" pitchFamily="34" charset="0"/>
                          <a:ea typeface="Calibri" pitchFamily="34" charset="-122"/>
                          <a:cs typeface="Calibri" pitchFamily="34" charset="-120"/>
                        </a:rPr>
                        <a:t>On target</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D9EAD3"/>
                    </a:solidFill>
                  </a:tcPr>
                </a:tc>
              </a:tr>
              <a:tr h="365760">
                <a:tc>
                  <a:txBody>
                    <a:bodyPr/>
                    <a:lstStyle/>
                    <a:p>
                      <a:pPr indent="0" marL="0">
                        <a:buNone/>
                      </a:pPr>
                      <a:r>
                        <a:rPr lang="en-US" sz="1100" b="1" dirty="0">
                          <a:solidFill>
                            <a:srgbClr val="3A3A3C"/>
                          </a:solidFill>
                          <a:latin typeface="Calibri" pitchFamily="34" charset="0"/>
                          <a:ea typeface="Calibri" pitchFamily="34" charset="-122"/>
                          <a:cs typeface="Calibri" pitchFamily="34" charset="-120"/>
                        </a:rPr>
                        <a:t>KPI-010</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100" dirty="0">
                          <a:solidFill>
                            <a:srgbClr val="58595B"/>
                          </a:solidFill>
                          <a:latin typeface="Calibri" pitchFamily="34" charset="0"/>
                          <a:ea typeface="Calibri" pitchFamily="34" charset="-122"/>
                          <a:cs typeface="Calibri" pitchFamily="34" charset="-120"/>
                        </a:rPr>
                        <a:t>Learner completion rate</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86.4</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ctr" indent="0" marL="0">
                        <a:buNone/>
                      </a:pPr>
                      <a:r>
                        <a:rPr lang="en-US" sz="1100" b="1" dirty="0">
                          <a:solidFill>
                            <a:srgbClr val="3A3A3C"/>
                          </a:solidFill>
                          <a:latin typeface="Calibri" pitchFamily="34" charset="0"/>
                          <a:ea typeface="Calibri" pitchFamily="34" charset="-122"/>
                          <a:cs typeface="Calibri" pitchFamily="34" charset="-120"/>
                        </a:rPr>
                        <a:t>On target</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D9EAD3"/>
                    </a:solidFill>
                  </a:tcPr>
                </a:tc>
              </a:tr>
            </a:tbl>
          </a:graphicData>
        </a:graphic>
      </p:graphicFrame>
      <p:sp>
        <p:nvSpPr>
          <p:cNvPr id="7" name="frame 14_kpis"/>
          <p:cNvSpPr/>
          <p:nvPr/>
        </p:nvSpPr>
        <p:spPr>
          <a:xfrm>
            <a:off x="6986016" y="1728216"/>
            <a:ext cx="4800600" cy="351474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8" name="Image 0" descr="14_kpis">    </p:cNvPr>
          <p:cNvPicPr>
            <a:picLocks noChangeAspect="1"/>
          </p:cNvPicPr>
          <p:nvPr/>
        </p:nvPicPr>
        <p:blipFill>
          <a:blip r:embed="rId1"/>
          <a:stretch>
            <a:fillRect/>
          </a:stretch>
        </p:blipFill>
        <p:spPr>
          <a:xfrm>
            <a:off x="7040880" y="1783080"/>
            <a:ext cx="4690872" cy="3405021"/>
          </a:xfrm>
          <a:prstGeom prst="rect">
            <a:avLst/>
          </a:prstGeom>
        </p:spPr>
      </p:pic>
      <p:sp>
        <p:nvSpPr>
          <p:cNvPr id="9" name="Text 4"/>
          <p:cNvSpPr txBox="1"/>
          <p:nvPr/>
        </p:nvSpPr>
        <p:spPr>
          <a:xfrm>
            <a:off x="7040880" y="5279541"/>
            <a:ext cx="469087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KPI page of the project in CortexSkills.</a:t>
            </a:r>
            <a:endParaRPr lang="en-US" sz="1000" dirty="0"/>
          </a:p>
        </p:txBody>
      </p:sp>
      <p:sp>
        <p:nvSpPr>
          <p:cNvPr id="10"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DELIVERABLES</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The questionnaire campaign</a:t>
            </a:r>
            <a:endParaRPr lang="en-US" sz="2800" dirty="0"/>
          </a:p>
        </p:txBody>
      </p:sp>
      <p:sp>
        <p:nvSpPr>
          <p:cNvPr id="5" name="frame 10_questionnaires"/>
          <p:cNvSpPr/>
          <p:nvPr/>
        </p:nvSpPr>
        <p:spPr>
          <a:xfrm>
            <a:off x="3047805" y="1362456"/>
            <a:ext cx="6093342" cy="4453128"/>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6" name="Image 0" descr="10_questionnaires">    </p:cNvPr>
          <p:cNvPicPr>
            <a:picLocks noChangeAspect="1"/>
          </p:cNvPicPr>
          <p:nvPr/>
        </p:nvPicPr>
        <p:blipFill>
          <a:blip r:embed="rId1"/>
          <a:stretch>
            <a:fillRect/>
          </a:stretch>
        </p:blipFill>
        <p:spPr>
          <a:xfrm>
            <a:off x="3102669" y="1417320"/>
            <a:ext cx="5983614" cy="4343400"/>
          </a:xfrm>
          <a:prstGeom prst="rect">
            <a:avLst/>
          </a:prstGeom>
        </p:spPr>
      </p:pic>
      <p:sp>
        <p:nvSpPr>
          <p:cNvPr id="7" name="Text 3"/>
          <p:cNvSpPr txBox="1"/>
          <p:nvPr/>
        </p:nvSpPr>
        <p:spPr>
          <a:xfrm>
            <a:off x="3102669" y="5870448"/>
            <a:ext cx="5983614"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Campaign with three forms (top management, management, staff), channels, response rate and completeness.</a:t>
            </a:r>
            <a:endParaRPr lang="en-US" sz="1000" dirty="0"/>
          </a:p>
        </p:txBody>
      </p:sp>
      <p:sp>
        <p:nvSpPr>
          <p:cNvPr id="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DELIVERABLES</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The 2026 training plan</a:t>
            </a:r>
            <a:endParaRPr lang="en-US" sz="2800" dirty="0"/>
          </a:p>
        </p:txBody>
      </p:sp>
      <p:sp>
        <p:nvSpPr>
          <p:cNvPr id="5" name="frame 11_training_plan"/>
          <p:cNvSpPr/>
          <p:nvPr/>
        </p:nvSpPr>
        <p:spPr>
          <a:xfrm>
            <a:off x="3047805" y="1362456"/>
            <a:ext cx="6093342" cy="4453128"/>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6" name="Image 0" descr="11_training_plan">    </p:cNvPr>
          <p:cNvPicPr>
            <a:picLocks noChangeAspect="1"/>
          </p:cNvPicPr>
          <p:nvPr/>
        </p:nvPicPr>
        <p:blipFill>
          <a:blip r:embed="rId1"/>
          <a:stretch>
            <a:fillRect/>
          </a:stretch>
        </p:blipFill>
        <p:spPr>
          <a:xfrm>
            <a:off x="3102669" y="1417320"/>
            <a:ext cx="5983614" cy="4343400"/>
          </a:xfrm>
          <a:prstGeom prst="rect">
            <a:avLst/>
          </a:prstGeom>
        </p:spPr>
      </p:pic>
      <p:sp>
        <p:nvSpPr>
          <p:cNvPr id="7" name="Text 3"/>
          <p:cNvSpPr txBox="1"/>
          <p:nvPr/>
        </p:nvSpPr>
        <p:spPr>
          <a:xfrm>
            <a:off x="3102669" y="5870448"/>
            <a:ext cx="5983614"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Programmes, trainings, half-day agendas and the golden rules checked on every training.</a:t>
            </a:r>
            <a:endParaRPr lang="en-US" sz="1000" dirty="0"/>
          </a:p>
        </p:txBody>
      </p:sp>
      <p:sp>
        <p:nvSpPr>
          <p:cNvPr id="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DELIVERABLES</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37 documents published, versioned and approved</a:t>
            </a:r>
            <a:endParaRPr lang="en-US" sz="2800" dirty="0"/>
          </a:p>
        </p:txBody>
      </p:sp>
      <p:sp>
        <p:nvSpPr>
          <p:cNvPr id="5" name="frame 12_documents"/>
          <p:cNvSpPr/>
          <p:nvPr/>
        </p:nvSpPr>
        <p:spPr>
          <a:xfrm>
            <a:off x="3047805" y="1362456"/>
            <a:ext cx="6093342" cy="4453128"/>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6" name="Image 0" descr="12_documents">    </p:cNvPr>
          <p:cNvPicPr>
            <a:picLocks noChangeAspect="1"/>
          </p:cNvPicPr>
          <p:nvPr/>
        </p:nvPicPr>
        <p:blipFill>
          <a:blip r:embed="rId1"/>
          <a:stretch>
            <a:fillRect/>
          </a:stretch>
        </p:blipFill>
        <p:spPr>
          <a:xfrm>
            <a:off x="3102669" y="1417320"/>
            <a:ext cx="5983614" cy="4343400"/>
          </a:xfrm>
          <a:prstGeom prst="rect">
            <a:avLst/>
          </a:prstGeom>
        </p:spPr>
      </p:pic>
      <p:sp>
        <p:nvSpPr>
          <p:cNvPr id="7" name="Text 3"/>
          <p:cNvSpPr txBox="1"/>
          <p:nvPr/>
        </p:nvSpPr>
        <p:spPr>
          <a:xfrm>
            <a:off x="3102669" y="5870448"/>
            <a:ext cx="5983614"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Training Engineering Report, training plan, audit, ROI report and the other documents, each with an author, an approver and a review date.</a:t>
            </a:r>
            <a:endParaRPr lang="en-US" sz="1000" dirty="0"/>
          </a:p>
        </p:txBody>
      </p:sp>
      <p:sp>
        <p:nvSpPr>
          <p:cNvPr id="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DELIVERABLES</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Standard reports, ready to export</a:t>
            </a:r>
            <a:endParaRPr lang="en-US" sz="2800" dirty="0"/>
          </a:p>
        </p:txBody>
      </p:sp>
      <p:sp>
        <p:nvSpPr>
          <p:cNvPr id="5" name="frame 13_reports"/>
          <p:cNvSpPr/>
          <p:nvPr/>
        </p:nvSpPr>
        <p:spPr>
          <a:xfrm>
            <a:off x="3047805" y="1362456"/>
            <a:ext cx="6093342" cy="4453128"/>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6" name="Image 0" descr="13_reports">    </p:cNvPr>
          <p:cNvPicPr>
            <a:picLocks noChangeAspect="1"/>
          </p:cNvPicPr>
          <p:nvPr/>
        </p:nvPicPr>
        <p:blipFill>
          <a:blip r:embed="rId1"/>
          <a:stretch>
            <a:fillRect/>
          </a:stretch>
        </p:blipFill>
        <p:spPr>
          <a:xfrm>
            <a:off x="3102669" y="1417320"/>
            <a:ext cx="5983614" cy="4343400"/>
          </a:xfrm>
          <a:prstGeom prst="rect">
            <a:avLst/>
          </a:prstGeom>
        </p:spPr>
      </p:pic>
      <p:sp>
        <p:nvSpPr>
          <p:cNvPr id="7" name="Text 3"/>
          <p:cNvSpPr txBox="1"/>
          <p:nvPr/>
        </p:nvSpPr>
        <p:spPr>
          <a:xfrm>
            <a:off x="3102669" y="5870448"/>
            <a:ext cx="5983614"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34 standard reports, previewed and downloaded as PDF, Excel or Word.</a:t>
            </a:r>
            <a:endParaRPr lang="en-US" sz="1000" dirty="0"/>
          </a:p>
        </p:txBody>
      </p:sp>
      <p:sp>
        <p:nvSpPr>
          <p:cNvPr id="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NEXT STEPS</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Proposed path for your clinics</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Durations are indicative and set with you during the scoping workshop</a:t>
            </a:r>
            <a:endParaRPr lang="en-US" sz="1400" dirty="0"/>
          </a:p>
        </p:txBody>
      </p:sp>
      <p:sp>
        <p:nvSpPr>
          <p:cNvPr id="6" name="step 0"/>
          <p:cNvSpPr/>
          <p:nvPr/>
        </p:nvSpPr>
        <p:spPr>
          <a:xfrm>
            <a:off x="457200" y="1783080"/>
            <a:ext cx="3611880" cy="3291840"/>
          </a:xfrm>
          <a:prstGeom prst="roundRect">
            <a:avLst>
              <a:gd name="adj" fmla="val 2222"/>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731520" y="1965960"/>
            <a:ext cx="914400" cy="731520"/>
          </a:xfrm>
          <a:prstGeom prst="rect">
            <a:avLst/>
          </a:prstGeom>
          <a:noFill/>
          <a:ln/>
        </p:spPr>
        <p:txBody>
          <a:bodyPr wrap="square" lIns="0" tIns="0" rIns="0" bIns="0" rtlCol="0" anchor="ctr"/>
          <a:lstStyle/>
          <a:p>
            <a:pPr indent="0" marL="0">
              <a:buNone/>
            </a:pPr>
            <a:r>
              <a:rPr lang="en-US" sz="4400" b="1" dirty="0">
                <a:solidFill>
                  <a:srgbClr val="E07B00"/>
                </a:solidFill>
                <a:latin typeface="Cambria" pitchFamily="34" charset="0"/>
                <a:ea typeface="Cambria" pitchFamily="34" charset="-122"/>
                <a:cs typeface="Cambria" pitchFamily="34" charset="-120"/>
              </a:rPr>
              <a:t>1</a:t>
            </a:r>
            <a:endParaRPr lang="en-US" sz="4400" dirty="0"/>
          </a:p>
        </p:txBody>
      </p:sp>
      <p:sp>
        <p:nvSpPr>
          <p:cNvPr id="8" name="badge calendar-check"/>
          <p:cNvSpPr/>
          <p:nvPr/>
        </p:nvSpPr>
        <p:spPr>
          <a:xfrm>
            <a:off x="3200400" y="2057400"/>
            <a:ext cx="566928" cy="566928"/>
          </a:xfrm>
          <a:prstGeom prst="ellipse">
            <a:avLst/>
          </a:prstGeom>
          <a:solidFill>
            <a:srgbClr val="58595B"/>
          </a:solidFill>
          <a:ln w="12700">
            <a:solidFill>
              <a:srgbClr val="58595B"/>
            </a:solidFill>
            <a:prstDash val="solid"/>
          </a:ln>
        </p:spPr>
      </p:sp>
      <p:pic>
        <p:nvPicPr>
          <p:cNvPr id="9" name="Image 0" descr="calendar-check">    </p:cNvPr>
          <p:cNvPicPr>
            <a:picLocks noChangeAspect="1"/>
          </p:cNvPicPr>
          <p:nvPr/>
        </p:nvPicPr>
        <p:blipFill>
          <a:blip r:embed="rId1"/>
          <a:stretch>
            <a:fillRect/>
          </a:stretch>
        </p:blipFill>
        <p:spPr>
          <a:xfrm>
            <a:off x="3330793" y="2187793"/>
            <a:ext cx="306141" cy="306141"/>
          </a:xfrm>
          <a:prstGeom prst="rect">
            <a:avLst/>
          </a:prstGeom>
        </p:spPr>
      </p:pic>
      <p:sp>
        <p:nvSpPr>
          <p:cNvPr id="10" name="Text 6"/>
          <p:cNvSpPr txBox="1"/>
          <p:nvPr/>
        </p:nvSpPr>
        <p:spPr>
          <a:xfrm>
            <a:off x="731520" y="2834640"/>
            <a:ext cx="3108960" cy="457200"/>
          </a:xfrm>
          <a:prstGeom prst="rect">
            <a:avLst/>
          </a:prstGeom>
          <a:noFill/>
          <a:ln/>
        </p:spPr>
        <p:txBody>
          <a:bodyPr wrap="square" lIns="0" tIns="0" rIns="0" bIns="0" rtlCol="0" anchor="ctr"/>
          <a:lstStyle/>
          <a:p>
            <a:pPr indent="0" marL="0">
              <a:buNone/>
            </a:pPr>
            <a:r>
              <a:rPr lang="en-US" sz="1800" b="1" dirty="0">
                <a:solidFill>
                  <a:srgbClr val="3A3A3C"/>
                </a:solidFill>
                <a:latin typeface="Cambria" pitchFamily="34" charset="0"/>
                <a:ea typeface="Cambria" pitchFamily="34" charset="-122"/>
                <a:cs typeface="Cambria" pitchFamily="34" charset="-120"/>
              </a:rPr>
              <a:t>Scoping workshop</a:t>
            </a:r>
            <a:endParaRPr lang="en-US" sz="1800" dirty="0"/>
          </a:p>
        </p:txBody>
      </p:sp>
      <p:sp>
        <p:nvSpPr>
          <p:cNvPr id="11" name="Text 7"/>
          <p:cNvSpPr txBox="1"/>
          <p:nvPr/>
        </p:nvSpPr>
        <p:spPr>
          <a:xfrm>
            <a:off x="731520" y="3337560"/>
            <a:ext cx="3108960" cy="155448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Half a day: sites, functions, decision levels, focus and stakeholders — Phase 1 in the application.</a:t>
            </a:r>
            <a:endParaRPr lang="en-US" sz="1400" dirty="0"/>
          </a:p>
        </p:txBody>
      </p:sp>
      <p:sp>
        <p:nvSpPr>
          <p:cNvPr id="12" name="step 1"/>
          <p:cNvSpPr/>
          <p:nvPr/>
        </p:nvSpPr>
        <p:spPr>
          <a:xfrm>
            <a:off x="4251960" y="1783080"/>
            <a:ext cx="3611880" cy="3291840"/>
          </a:xfrm>
          <a:prstGeom prst="roundRect">
            <a:avLst>
              <a:gd name="adj" fmla="val 2222"/>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3" name="Text 9"/>
          <p:cNvSpPr txBox="1"/>
          <p:nvPr/>
        </p:nvSpPr>
        <p:spPr>
          <a:xfrm>
            <a:off x="4526280" y="1965960"/>
            <a:ext cx="914400" cy="731520"/>
          </a:xfrm>
          <a:prstGeom prst="rect">
            <a:avLst/>
          </a:prstGeom>
          <a:noFill/>
          <a:ln/>
        </p:spPr>
        <p:txBody>
          <a:bodyPr wrap="square" lIns="0" tIns="0" rIns="0" bIns="0" rtlCol="0" anchor="ctr"/>
          <a:lstStyle/>
          <a:p>
            <a:pPr indent="0" marL="0">
              <a:buNone/>
            </a:pPr>
            <a:r>
              <a:rPr lang="en-US" sz="4400" b="1" dirty="0">
                <a:solidFill>
                  <a:srgbClr val="E07B00"/>
                </a:solidFill>
                <a:latin typeface="Cambria" pitchFamily="34" charset="0"/>
                <a:ea typeface="Cambria" pitchFamily="34" charset="-122"/>
                <a:cs typeface="Cambria" pitchFamily="34" charset="-120"/>
              </a:rPr>
              <a:t>2</a:t>
            </a:r>
            <a:endParaRPr lang="en-US" sz="4400" dirty="0"/>
          </a:p>
        </p:txBody>
      </p:sp>
      <p:sp>
        <p:nvSpPr>
          <p:cNvPr id="14" name="badge hospital"/>
          <p:cNvSpPr/>
          <p:nvPr/>
        </p:nvSpPr>
        <p:spPr>
          <a:xfrm>
            <a:off x="6995160" y="2057400"/>
            <a:ext cx="566928" cy="566928"/>
          </a:xfrm>
          <a:prstGeom prst="ellipse">
            <a:avLst/>
          </a:prstGeom>
          <a:solidFill>
            <a:srgbClr val="F8931D"/>
          </a:solidFill>
          <a:ln w="12700">
            <a:solidFill>
              <a:srgbClr val="F8931D"/>
            </a:solidFill>
            <a:prstDash val="solid"/>
          </a:ln>
        </p:spPr>
      </p:sp>
      <p:pic>
        <p:nvPicPr>
          <p:cNvPr id="15" name="Image 1" descr="hospital">    </p:cNvPr>
          <p:cNvPicPr>
            <a:picLocks noChangeAspect="1"/>
          </p:cNvPicPr>
          <p:nvPr/>
        </p:nvPicPr>
        <p:blipFill>
          <a:blip r:embed="rId2"/>
          <a:stretch>
            <a:fillRect/>
          </a:stretch>
        </p:blipFill>
        <p:spPr>
          <a:xfrm>
            <a:off x="7125553" y="2187793"/>
            <a:ext cx="306141" cy="306141"/>
          </a:xfrm>
          <a:prstGeom prst="rect">
            <a:avLst/>
          </a:prstGeom>
        </p:spPr>
      </p:pic>
      <p:sp>
        <p:nvSpPr>
          <p:cNvPr id="16" name="Text 11"/>
          <p:cNvSpPr txBox="1"/>
          <p:nvPr/>
        </p:nvSpPr>
        <p:spPr>
          <a:xfrm>
            <a:off x="4526280" y="2834640"/>
            <a:ext cx="3108960" cy="457200"/>
          </a:xfrm>
          <a:prstGeom prst="rect">
            <a:avLst/>
          </a:prstGeom>
          <a:noFill/>
          <a:ln/>
        </p:spPr>
        <p:txBody>
          <a:bodyPr wrap="square" lIns="0" tIns="0" rIns="0" bIns="0" rtlCol="0" anchor="ctr"/>
          <a:lstStyle/>
          <a:p>
            <a:pPr indent="0" marL="0">
              <a:buNone/>
            </a:pPr>
            <a:r>
              <a:rPr lang="en-US" sz="1800" b="1" dirty="0">
                <a:solidFill>
                  <a:srgbClr val="3A3A3C"/>
                </a:solidFill>
                <a:latin typeface="Cambria" pitchFamily="34" charset="0"/>
                <a:ea typeface="Cambria" pitchFamily="34" charset="-122"/>
                <a:cs typeface="Cambria" pitchFamily="34" charset="-120"/>
              </a:rPr>
              <a:t>Pilot on one clinic</a:t>
            </a:r>
            <a:endParaRPr lang="en-US" sz="1800" dirty="0"/>
          </a:p>
        </p:txBody>
      </p:sp>
      <p:sp>
        <p:nvSpPr>
          <p:cNvPr id="17" name="Text 12"/>
          <p:cNvSpPr txBox="1"/>
          <p:nvPr/>
        </p:nvSpPr>
        <p:spPr>
          <a:xfrm>
            <a:off x="4526280" y="3337560"/>
            <a:ext cx="3108960" cy="155448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Questionnaires, diagnosis and Training Engineering Report on your data — Phases 1 to 3.</a:t>
            </a:r>
            <a:endParaRPr lang="en-US" sz="1400" dirty="0"/>
          </a:p>
        </p:txBody>
      </p:sp>
      <p:sp>
        <p:nvSpPr>
          <p:cNvPr id="18" name="step 2"/>
          <p:cNvSpPr/>
          <p:nvPr/>
        </p:nvSpPr>
        <p:spPr>
          <a:xfrm>
            <a:off x="8046720" y="1783080"/>
            <a:ext cx="3611880" cy="3291840"/>
          </a:xfrm>
          <a:prstGeom prst="roundRect">
            <a:avLst>
              <a:gd name="adj" fmla="val 2222"/>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9" name="Text 14"/>
          <p:cNvSpPr txBox="1"/>
          <p:nvPr/>
        </p:nvSpPr>
        <p:spPr>
          <a:xfrm>
            <a:off x="8321040" y="1965960"/>
            <a:ext cx="914400" cy="731520"/>
          </a:xfrm>
          <a:prstGeom prst="rect">
            <a:avLst/>
          </a:prstGeom>
          <a:noFill/>
          <a:ln/>
        </p:spPr>
        <p:txBody>
          <a:bodyPr wrap="square" lIns="0" tIns="0" rIns="0" bIns="0" rtlCol="0" anchor="ctr"/>
          <a:lstStyle/>
          <a:p>
            <a:pPr indent="0" marL="0">
              <a:buNone/>
            </a:pPr>
            <a:r>
              <a:rPr lang="en-US" sz="4400" b="1" dirty="0">
                <a:solidFill>
                  <a:srgbClr val="E07B00"/>
                </a:solidFill>
                <a:latin typeface="Cambria" pitchFamily="34" charset="0"/>
                <a:ea typeface="Cambria" pitchFamily="34" charset="-122"/>
                <a:cs typeface="Cambria" pitchFamily="34" charset="-120"/>
              </a:rPr>
              <a:t>3</a:t>
            </a:r>
            <a:endParaRPr lang="en-US" sz="4400" dirty="0"/>
          </a:p>
        </p:txBody>
      </p:sp>
      <p:sp>
        <p:nvSpPr>
          <p:cNvPr id="20" name="badge network"/>
          <p:cNvSpPr/>
          <p:nvPr/>
        </p:nvSpPr>
        <p:spPr>
          <a:xfrm>
            <a:off x="10789920" y="2057400"/>
            <a:ext cx="566928" cy="566928"/>
          </a:xfrm>
          <a:prstGeom prst="ellipse">
            <a:avLst/>
          </a:prstGeom>
          <a:solidFill>
            <a:srgbClr val="58595B"/>
          </a:solidFill>
          <a:ln w="12700">
            <a:solidFill>
              <a:srgbClr val="58595B"/>
            </a:solidFill>
            <a:prstDash val="solid"/>
          </a:ln>
        </p:spPr>
      </p:sp>
      <p:pic>
        <p:nvPicPr>
          <p:cNvPr id="21" name="Image 2" descr="network">    </p:cNvPr>
          <p:cNvPicPr>
            <a:picLocks noChangeAspect="1"/>
          </p:cNvPicPr>
          <p:nvPr/>
        </p:nvPicPr>
        <p:blipFill>
          <a:blip r:embed="rId3"/>
          <a:stretch>
            <a:fillRect/>
          </a:stretch>
        </p:blipFill>
        <p:spPr>
          <a:xfrm>
            <a:off x="10920313" y="2187793"/>
            <a:ext cx="306141" cy="306141"/>
          </a:xfrm>
          <a:prstGeom prst="rect">
            <a:avLst/>
          </a:prstGeom>
        </p:spPr>
      </p:pic>
      <p:sp>
        <p:nvSpPr>
          <p:cNvPr id="22" name="Text 16"/>
          <p:cNvSpPr txBox="1"/>
          <p:nvPr/>
        </p:nvSpPr>
        <p:spPr>
          <a:xfrm>
            <a:off x="8321040" y="2834640"/>
            <a:ext cx="3108960" cy="457200"/>
          </a:xfrm>
          <a:prstGeom prst="rect">
            <a:avLst/>
          </a:prstGeom>
          <a:noFill/>
          <a:ln/>
        </p:spPr>
        <p:txBody>
          <a:bodyPr wrap="square" lIns="0" tIns="0" rIns="0" bIns="0" rtlCol="0" anchor="ctr"/>
          <a:lstStyle/>
          <a:p>
            <a:pPr indent="0" marL="0">
              <a:buNone/>
            </a:pPr>
            <a:r>
              <a:rPr lang="en-US" sz="1800" b="1" dirty="0">
                <a:solidFill>
                  <a:srgbClr val="3A3A3C"/>
                </a:solidFill>
                <a:latin typeface="Cambria" pitchFamily="34" charset="0"/>
                <a:ea typeface="Cambria" pitchFamily="34" charset="-122"/>
                <a:cs typeface="Cambria" pitchFamily="34" charset="-120"/>
              </a:rPr>
              <a:t>Deployment to all clinics</a:t>
            </a:r>
            <a:endParaRPr lang="en-US" sz="1800" dirty="0"/>
          </a:p>
        </p:txBody>
      </p:sp>
      <p:sp>
        <p:nvSpPr>
          <p:cNvPr id="23" name="Text 17"/>
          <p:cNvSpPr txBox="1"/>
          <p:nvPr/>
        </p:nvSpPr>
        <p:spPr>
          <a:xfrm>
            <a:off x="8321040" y="3337560"/>
            <a:ext cx="3108960" cy="155448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Delivery, evaluation up to ROI and continuous improvement — Phases 4 to 6.</a:t>
            </a:r>
            <a:endParaRPr lang="en-US" sz="1400" dirty="0"/>
          </a:p>
        </p:txBody>
      </p:sp>
      <p:sp>
        <p:nvSpPr>
          <p:cNvPr id="24" name="deployment"/>
          <p:cNvSpPr/>
          <p:nvPr/>
        </p:nvSpPr>
        <p:spPr>
          <a:xfrm>
            <a:off x="457200" y="5303520"/>
            <a:ext cx="11274552" cy="777240"/>
          </a:xfrm>
          <a:prstGeom prst="roundRect">
            <a:avLst>
              <a:gd name="adj" fmla="val 9412"/>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25" name="Text 19"/>
          <p:cNvSpPr txBox="1"/>
          <p:nvPr/>
        </p:nvSpPr>
        <p:spPr>
          <a:xfrm>
            <a:off x="731520" y="5349240"/>
            <a:ext cx="10789920" cy="685800"/>
          </a:xfrm>
          <a:prstGeom prst="rect">
            <a:avLst/>
          </a:prstGeom>
          <a:noFill/>
          <a:ln/>
        </p:spPr>
        <p:txBody>
          <a:bodyPr wrap="square" lIns="0" tIns="0" rIns="0" bIns="0" rtlCol="0" anchor="ctr"/>
          <a:lstStyle/>
          <a:p>
            <a:pPr indent="0" marL="0">
              <a:buNone/>
            </a:pPr>
            <a:r>
              <a:rPr lang="en-US" sz="1400" dirty="0">
                <a:solidFill>
                  <a:srgbClr val="3A3A3C"/>
                </a:solidFill>
                <a:latin typeface="Calibri" pitchFamily="34" charset="0"/>
                <a:ea typeface="Calibri" pitchFamily="34" charset="-122"/>
                <a:cs typeface="Calibri" pitchFamily="34" charset="-120"/>
              </a:rPr>
              <a:t>Deployment on your private cloud or on site, under a licence; interface and documents in French, English and Arabic.</a:t>
            </a:r>
            <a:endParaRPr lang="en-US" sz="1400" dirty="0"/>
          </a:p>
        </p:txBody>
      </p:sp>
      <p:sp>
        <p:nvSpPr>
          <p:cNvPr id="26"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2" name=""/>
        <p:cNvGrpSpPr/>
        <p:nvPr/>
      </p:nvGrpSpPr>
      <p:grpSpPr>
        <a:xfrm>
          <a:off x="0" y="0"/>
          <a:ext cx="0" cy="0"/>
          <a:chOff x="0" y="0"/>
          <a:chExt cx="0" cy="0"/>
        </a:xfrm>
      </p:grpSpPr>
      <p:sp>
        <p:nvSpPr>
          <p:cNvPr id="3" name="Text 0"/>
          <p:cNvSpPr txBox="1"/>
          <p:nvPr/>
        </p:nvSpPr>
        <p:spPr>
          <a:xfrm>
            <a:off x="457200" y="2103120"/>
            <a:ext cx="7315200" cy="10972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4" name="Text 1"/>
          <p:cNvSpPr txBox="1"/>
          <p:nvPr/>
        </p:nvSpPr>
        <p:spPr>
          <a:xfrm>
            <a:off x="457200" y="3291840"/>
            <a:ext cx="9144000" cy="457200"/>
          </a:xfrm>
          <a:prstGeom prst="rect">
            <a:avLst/>
          </a:prstGeom>
          <a:noFill/>
          <a:ln/>
        </p:spPr>
        <p:txBody>
          <a:bodyPr wrap="square" lIns="0" tIns="0" rIns="0" bIns="0" rtlCol="0" anchor="ctr"/>
          <a:lstStyle/>
          <a:p>
            <a:pPr indent="0" marL="0">
              <a:buNone/>
            </a:pPr>
            <a:r>
              <a:rPr lang="en-US" sz="1800" dirty="0">
                <a:solidFill>
                  <a:srgbClr val="F8931D"/>
                </a:solidFill>
                <a:latin typeface="Calibri" pitchFamily="34" charset="0"/>
                <a:ea typeface="Calibri" pitchFamily="34" charset="-122"/>
                <a:cs typeface="Calibri" pitchFamily="34" charset="-120"/>
              </a:rPr>
              <a:t>POWERACT Consulting · CortexSkills, training engineering for healthcare</a:t>
            </a:r>
            <a:endParaRPr lang="en-US" sz="1800" dirty="0"/>
          </a:p>
        </p:txBody>
      </p:sp>
      <p:sp>
        <p:nvSpPr>
          <p:cNvPr id="5" name="Text 2"/>
          <p:cNvSpPr txBox="1"/>
          <p:nvPr/>
        </p:nvSpPr>
        <p:spPr>
          <a:xfrm>
            <a:off x="457200" y="3931920"/>
            <a:ext cx="9144000" cy="457200"/>
          </a:xfrm>
          <a:prstGeom prst="rect">
            <a:avLst/>
          </a:prstGeom>
          <a:noFill/>
          <a:ln/>
        </p:spPr>
        <p:txBody>
          <a:bodyPr wrap="square" lIns="0" tIns="0" rIns="0" bIns="0" rtlCol="0" anchor="ctr"/>
          <a:lstStyle/>
          <a:p>
            <a:pPr indent="0" marL="0">
              <a:buNone/>
            </a:pPr>
            <a:r>
              <a:rPr lang="en-US" sz="1600" dirty="0">
                <a:solidFill>
                  <a:srgbClr val="D6D6D8"/>
                </a:solidFill>
                <a:latin typeface="Calibri" pitchFamily="34" charset="0"/>
                <a:ea typeface="Calibri" pitchFamily="34" charset="-122"/>
                <a:cs typeface="Calibri" pitchFamily="34" charset="-120"/>
              </a:rPr>
              <a:t>Questions and discussion</a:t>
            </a:r>
            <a:endParaRPr lang="en-US" sz="1600" dirty="0"/>
          </a:p>
        </p:txBody>
      </p:sp>
      <p:sp>
        <p:nvSpPr>
          <p:cNvPr id="6"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DBDBF"/>
                </a:solidFill>
                <a:latin typeface="Calibri"/>
                <a:ea typeface="Calibri"/>
                <a:cs typeface="Calibri"/>
              </a:defRPr>
            </a:lvl1pPr>
          </a:lstStyle>
          <a:p>
            <a:pPr algn="r"/>
            <a:fld id="{F7021451-1387-4CA6-816F-3879F97B5CBC}" type="slidenum">
              <a:rPr b="0" lang="en-US"/>
              <a:t>92</a:t>
            </a:fld>
            <a:endParaRPr lang="en-US"/>
          </a:p>
        </p:txBody>
      </p:sp>
    </p:spTree>
  </p:cSld>
  <p:clrMapOvr>
    <a:masterClrMapping/>
  </p:clrMapOvr>
</p:sld>
</file>

<file path=ppt/theme/theme1.xml><?xml version="1.0" encoding="utf-8"?>
<a:theme xmlns:a="http://schemas.openxmlformats.org/drawingml/2006/main" name="POWERACT">
  <a:themeElements>
    <a:clrScheme name="POWERACT">
      <a:dk1>
        <a:srgbClr val="3A3A3C"/>
      </a:dk1>
      <a:lt1>
        <a:srgbClr val="FFFFFF"/>
      </a:lt1>
      <a:dk2>
        <a:srgbClr val="58595B"/>
      </a:dk2>
      <a:lt2>
        <a:srgbClr val="F2F2F3"/>
      </a:lt2>
      <a:accent1>
        <a:srgbClr val="F8931D"/>
      </a:accent1>
      <a:accent2>
        <a:srgbClr val="E07B00"/>
      </a:accent2>
      <a:accent3>
        <a:srgbClr val="808184"/>
      </a:accent3>
      <a:accent4>
        <a:srgbClr val="3A6EA5"/>
      </a:accent4>
      <a:accent5>
        <a:srgbClr val="5AA469"/>
      </a:accent5>
      <a:accent6>
        <a:srgbClr val="FDEEDA"/>
      </a:accent6>
      <a:hlink>
        <a:srgbClr val="E07B00"/>
      </a:hlink>
      <a:folHlink>
        <a:srgbClr val="58595B"/>
      </a:folHlink>
    </a:clrScheme>
    <a:fontScheme name="POWERAC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92</Slides>
  <Notes>92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92</vt:i4>
      </vt:variant>
    </vt:vector>
  </HeadingPairs>
  <TitlesOfParts>
    <vt:vector size="9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vector>
  </TitlesOfParts>
  <Company>POWERACT Consulting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Private clinic group case study — CortexSkills</dc:title>
  <dc:subject>PptxGenJS Presentation</dc:subject>
  <dc:creator>POWERACT Consulting</dc:creator>
  <cp:lastModifiedBy>POWERACT Consulting</cp:lastModifiedBy>
  <cp:revision>1</cp:revision>
  <dcterms:created xsi:type="dcterms:W3CDTF">2026-10-16T10:54:50Z</dcterms:created>
  <dcterms:modified xsi:type="dcterms:W3CDTF">2026-10-16T10:54:50Z</dcterms:modified>
</cp:coreProperties>
</file>
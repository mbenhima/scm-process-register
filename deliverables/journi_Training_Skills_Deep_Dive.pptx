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graduation-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Skills Development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Digital Skills Upskilling Program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5800" y="3520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digital-skills program with no go-live of its own — the only archetype where training is the entire content of every phase, not a supporting track.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971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57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43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543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Is, and How to Use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the Plant Digital Skills Upskilling Program — journi's Training &amp; Skills Development archetype case — from tenant setup through skills sustainment, a standalone digital-literacy program with no system rollout of its own to anchor 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Bouregreg Group tenant as every other archetype in this series. A reader with the tenant already set up skips straight to CM Project creation.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A NOTE ON FIDELITY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journi's Real Source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011680"/>
          </a:xfrm>
          <a:prstGeom prst="roundRect">
            <a:avLst>
              <a:gd name="adj" fmla="val 227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journi module, field, and role named here is verified against journi's real source. This is journi's own stated case with no alerts in its real record — not because the program is trivial, but because none of journi's 9 live alert conditions are built around a standalone skills program with no go-live of its own.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CODES USED THROUGHOUT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= Executive Sponsor · CM = Change Manager · PM = Program/Project Manager · FPO = Functional Process Owner · ITL = IT/Technical Lead · SUP = Supervisor · EU = End 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guide in this series treats training as a track running alongside some other program's own milestones. This case has no surrounding program — the schedule is the curriculum's own, built around what it actually takes for 620 plant-floor staff to acquire, apply, and retain a durable digital skill.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Case, in 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 staff, plant floor, Kenitra and Settat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weeks (guide numbering, org-calendar W16–58)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Bouregreg Group builds a standalone digital-literacy and systems-skills program for 620 plant-floor staff without prior systems training, split across Kenitra and Settat, over 43 weeks — deliberately staggered a month behind the ERP program's own Train phase.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Proves, Concretely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curriculum drafted and refined through M16, a pilot cohort's validation before full two-plant deployment, a competency-verification record distinct from mere attendance, and a sustainment record showing skill retention measured, not assumed, months after delivery closed.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for This Archetype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ADKAR blocks dominate equally, in sequence. Reinforcement is engineered by two dedicated phases — Practical Application and On-the-Job Coaching — the only archetype in the series to build reinforcement deliberately rather than leave it to chance.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Index, Read for This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 climbs steadily and predictably: Awareness and Knowledge move first, Ability climbs sharply once hands-on delivery begins, and Reinforcement is the slowest-moving block by design, closing only after Practical Application and On-the-Job Coaching have both run their full course.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Tenant, and Reading Paths by Role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tenant journi's Master User Guide builds, under the existing Bouregreg Manufacturing Maroc Organization — no new Organization needed.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PATHS, BY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running this program day to day: Part 2 once, then Part 4 in full.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Program/Project Manager: Part 4's PM Track column and the Master WBS &amp; Gantt.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Sponsor: Part 1, then Part 4's phase-opening narratives.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Admin or Org Admin: Part 3.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RACSI Team for This Program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RACSI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Fouad Belghazi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— VP Manufacturing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Houda Amrani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Tarik Benjelloun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Program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Leila Ouahbi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&amp; Development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Younes Berrada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Learning-systems and AI-drafting-tool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Karima Semlali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Kenitra Plant Floor 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Idrissi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Settat Plant Floor 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CM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219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13055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 — Hierarchy, create the Plant Digital Skills Upskilling Program CM Project under the existing Bouregreg Manufacturing Maroc Organization.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95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11810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Change type: Training &amp; Skills Development. Target population: "Plant-floor staff without prior systems training, Kenitra and Settat (620)." Business driver: "A skills gap identified independently of the ERP program, accelerated once the ERP program made it visible."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9709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05656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Lewin opens at Unfreeze — a standalone skills program with no go-live of its own to align 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846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9320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17 — WBS &amp; Gantt, load the TPL-TSD-7 phase template: Skills Gap Diagnosis, Curriculum Design, Training Delivery, Competency Verification, Practical Application, On-the-Job Coaching, Skills Sustainment.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for This Program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CHTR-01 Sponsorship / Leadership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Fouad Belghazi (ES)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CHTR-03 Communication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Houda Amrani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communication 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CHTR-08 Pulse / Interview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Houda Amrani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 + ad 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C7A6B"/>
            </a:solidFill>
            <a:prstDash val="solid"/>
          </a:ln>
        </p:spPr>
      </p:sp>
      <p:pic>
        <p:nvPicPr>
          <p:cNvPr id="5" name="Image 0" descr="/home/user/scm-process-register/docs-src/type-decks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20370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tenant confirmed (Bouregreg Group, existing Organization)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C7A6B"/>
            </a:solidFill>
            <a:prstDash val="solid"/>
          </a:ln>
        </p:spPr>
      </p:sp>
      <p:pic>
        <p:nvPicPr>
          <p:cNvPr id="8" name="Image 1" descr="/home/user/scm-process-register/docs-src/type-decks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706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700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program team accounts created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C7A6B"/>
            </a:solidFill>
            <a:prstDash val="solid"/>
          </a:ln>
        </p:spPr>
      </p:sp>
      <p:pic>
        <p:nvPicPr>
          <p:cNvPr id="11" name="Image 2" descr="/home/user/scm-process-register/docs-src/type-decks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3375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2369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Project created, Lewin opened at Unfreeze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496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C7A6B"/>
            </a:solidFill>
            <a:prstDash val="solid"/>
          </a:ln>
        </p:spPr>
      </p:sp>
      <p:pic>
        <p:nvPicPr>
          <p:cNvPr id="14" name="Image 3" descr="/home/user/scm-process-register/docs-src/type-decks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9044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8039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TPL-TSD-7 phase template loaded on M17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4165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C7A6B"/>
            </a:solidFill>
            <a:prstDash val="solid"/>
          </a:ln>
        </p:spPr>
      </p:sp>
      <p:pic>
        <p:nvPicPr>
          <p:cNvPr id="17" name="Image 4" descr="/home/user/scm-process-register/docs-src/type-decks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47141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370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Charters reviewed and accountable owners confirmed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WEEK-BY-WEEK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Phases, In Order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566928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Skills Gap Diagnosis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2697480" cy="566928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Curriculum Design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2697480" cy="566928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Training Delivery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697480" cy="566928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Competency Verification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3627120" cy="566928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Practical Application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67200" y="2798064"/>
            <a:ext cx="3627120" cy="566928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431292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On-the-Job Coaching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85760" y="2798064"/>
            <a:ext cx="3627120" cy="566928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803148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Skills Sustainment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program length: 43 weeks (guide numbering, org-calendar W16–58). Every phase below is walked in detail across the next slides — normal flow first, then six exceptions in full operational detail.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 Diagnosis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exactly what digital and systems skills gap exists across plant-floor staff at Kenitra and Settat, independent of any specific system rollout.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SKILLS GAP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Kickoff; Lewin opens at Unfreeze.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assessment begins at Kenitra.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Gate: Go.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SKILLS GAP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Plant-floor skills survey: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exactly which digital and systems skills 620 staff currently lack.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curriculum with AI-assisted drafting via M16 — the archetype that most exercises this module.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CURRICULUM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curriculum drafting begins for Module 1.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Train-the-trainer session for the delivery team.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Gate: Go.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CURRICULUM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Knowledge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→ 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→ 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curriculum drafting: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usable module content quickly without a dedicated instructional-design team.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Delivery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13–29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the curriculum, first to a pilot cohort, then in full across both plants — staggered a month behind the ERP program's own Train phase.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TRAINING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cohort delivery begins, Kenitra.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cohort validation complete.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deployment complete; Phase Gate: Go.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TRAINING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1B2E2B">
                <a:alpha val="1.8000000000000002e+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 → 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Pilot-then-refine, staggered wave deployment: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curriculum before committing both plants' full population to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Verification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23–31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delivered training actually produced usable skill — a hands-on test, not attendance.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COMPETENCY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 verification begins, Kenitra wave 1.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refresher sessions for identified gaps.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Gate: Go — 100% certification confirmed.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COMPETENCY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1B2E2B">
                <a:alpha val="1.8000000000000003e+7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1B2E2B">
                <a:alpha val="1.8000000000000004e+8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1B2E2B">
                <a:alpha val="1.8000000000000005e+8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1B2E2B">
                <a:alpha val="1.8000000000000007e+9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competency test: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actual usable skill, not just attendance.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29–35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verified skill into real day-to-day use — the first of two dedicated reinforcement phases built deliberately, not left to chance.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PRACTICAL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system-use monitoring, Kenitra.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 points identified from floor observation.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Gate: Go.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PRACTICAL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1B2E2B">
                <a:alpha val="1.8000000000000008e+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1B2E2B">
                <a:alpha val="1.800000000000001e+10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→ 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1B2E2B">
                <a:alpha val="1.800000000000001e+10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1B2E2B">
                <a:alpha val="1.800000000000001e+11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→ 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monitoring: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verified skill is actually used daily on the floor.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On-the-Job Coaching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31–39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in the skill through supervisor-led coaching — the second dedicated reinforcement phase.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ON-THE-JOB COACHING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Supervisors trained as on-the-job coaches.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observations consolidated across both plants.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Gate: Go.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ON-THE-JOB COACHING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1B2E2B">
                <a:alpha val="1.800000000000001e+11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1B2E2B">
                <a:alpha val="1.800000000000001e+1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1B2E2B">
                <a:alpha val="1.800000000000001e+1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1B2E2B">
                <a:alpha val="1.800000000000001e+1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Supervisor-led coaching rounds: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 skill through direct floor supervision, not just self-practice.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Sustainment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35–43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skill holds without active coaching — the program's actual close, and the milestone Lewin's Refreeze anchors 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SKILLS SUSTAINMENT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sustainment check, Kenitra — regression risk Low.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sustainment check, both plants — regression risk Low.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Refreeze confirmed; program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SKILLS SUSTAINMENT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1B2E2B">
                <a:alpha val="1.800000000000001e+1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→ Refreeze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1B2E2B">
                <a:alpha val="1.800000000000001e+1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1B2E2B">
                <a:alpha val="1.8000000000000009e+1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1B2E2B">
                <a:alpha val="1.800000000000001e+1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Two-checkpoint sustainment tracking: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skill holds without active coaching, not just immediately after it ends.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Across the Four Frameworks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1737360"/>
                <a:gridCol w="1737360"/>
                <a:gridCol w="15544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Gap Diagnosis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6–15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→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→ 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→ 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13–29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→ 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 → 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23–31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29–35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→ 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→ 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On-the-Job Coaching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31–39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Sustainment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35–43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→ Refreeze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Techniques and Tools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2377440"/>
                <a:gridCol w="3291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Gap Diagnosis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Plant-floor skills survey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 exactly which digital and systems skills 620 staff currently lack.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On-site observation checklist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6–15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curriculum drafting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usable module content quickly without a dedicated instructional-design team.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M16 (AI Use Case Library)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Delivery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13–29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Pilot-then-refine, staggered wave deployment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the curriculum before committing both plants' full population to it.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 (Training)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 Verification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23–31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competency test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actual usable skill, not just attendance.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 (Training) — competency record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Application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29–35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use monitoring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 verified skill is actually used daily on the floor.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M21 (Field Notes)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On-the-Job Coaching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31–39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Supervisor-led coaching rounds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in the skill through direct floor supervision, not just self-practice.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 (Training)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Sustainment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35–43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Two-checkpoint sustainment tracking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 skill holds without active coaching, not just immediately after it ends.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(Sustainment)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SIX EXCEPTIONS, IN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Realistic Contingencies — None of Which Actually Occurred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SKILLS GAP DIAGNOSIS, WEEKS 1–7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Skills-Gap Assessment Misses a Real Gap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plant-floor assessment undercounts a specific skill gap because observation and interview don't surface a gap that only appears under real operating pressure. This did not occur.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surfaces later, during Training Delivery, as unexpectedly slow module completion.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require reopening Phase 1's findings and adding a module segment mid-curriculum.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Re-assess with a more targeted method (hands-on task simulation); add a bridging module; re-verify the affected skill.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skills-gap record; an added curriculum module.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PM, FPO · A = CM · C = ITL · S = SUP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CURRICULUM DESIGN, WEEKS 9–12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Curriculum Content Is Technically Inaccurate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M16's AI-assisted drafting produces module content that is fluent but technically wrong for Bouregreg Group's specific systems configuration. This did not occur.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during Phase 2 catches a factual error in drafted content.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if caught during review; more disruptive if it reaches pilot delivery.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human-review step validating systems-configuration accuracy; issue a correction session if needed.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module; a strengthened review step.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ITL, FPO · A = CM · C = PM · S = SUP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TRAINING DELIVERY, WEEKS 15–23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 Reveals the Curriculum Doesn't Work As Designed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cohort's feedback shows the curriculum's pacing or sequencing doesn't work for plant-floor learners — not a content error, a design one. This did not occur.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feedback or competency results showing a design-traceable difficulty pattern.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delay full deployment by however long a redesign takes — the cost the pilot exists to absorb.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affected portion; re-pilot with a small group before full deployment.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redesigned, re-piloted curriculum portion.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FPO, PM · A = CM · C = ITL · S = SUP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COMPETENCY VERIFICATION, WEEKS 25–29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Verification Reveals Widespread Certification Failure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of one wave's staff fail the hands-on competency test — a systemic, not individual, problem. This did not occur.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verification pass rate well below the near-100% target.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pause the affected wave's gate while delivery or test-design is diagnosed.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delivery vs. test-validity failure; re-deliver or redesign accordingly; re-verify only the affected wave.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 record; a corrected delivery or test; a re-verified wave.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PM, FPO · A = CM · C = ITL · S = SUP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· PRACTICAL APPLICATION, WEEKS 29–35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 Reveals the Skill Doesn't Transfer to Real Conditions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pass competency verification in a controlled setting but struggle under real plant-floor conditions — a transfer gap distinct from a competency gap. This did not occur.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observation showing verified-competent staff defaulting to old methods under pressure.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extend Practical Application's monitoring period and pull forward coaching content.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specific real-condition factors; adjust job aids; begin targeted coaching earlier for the affected group.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transfer-gap diagnosis; condition-specific job aids.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SUP · A = CM · C = FPO · S = PM · I = ES, ITL,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· SKILLS SUSTAINMENT, WEEKS 37–41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 Check Reveals Skill Decay Months Later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sustainment checkpoint finds skill use has genuinely decayed — staff quietly reverted to old methods once active coaching stopped. This did not occur; both checkpoints logged regression risk as Low.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sustainment checkpoint logging regression risk as Medium or High.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delay program closure while a refresher-coaching cycle runs and a second check confirms it held.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targeted refresher cycle; identify and address the specific root cause of decay; re-run the sustainment check.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refresher-coaching record; a confirmed clean sustainment check before closure.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SUP · A = ES · C = FPO, PM · S = ITL · I =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Training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this archetype's entire content, not a supporting track — every phase in this program exists to move the population through the ADKAR arc itself, using specific, checkable compliance-adjacent behaviors verified through hands-on testing.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Fouad Belghazi (Sponsor), plant leadership  ·  Weeks 1–16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a Standalone Skills Program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 program with no go-live of its own still needs sustained sponsorship to hold through 43 weeks.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Sustainment Checkpoint as Real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read the two sustainment checks as accountable evidence, not a closeout formality.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Karima Semlali, Mustapha Idrissi (Supervisors), delivery team  ·  Weeks 14–39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Train-the-Trainer, Digital Skills Program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Preparing the delivery team to teach the finalized curriculum consistently across both plants.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the New Skill On the Floor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Observation-based coaching rounds rather than informal check-ins.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(Frontline)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All 620 plant-floor staff  ·  Weeks 15–29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Systems Navigation Basics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digital-systems navigation for staff without prior systems training.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Digital Data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Practical, checkable data-entry steps on the systems staff use daily.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Digital Work Instructions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and following digital work instructions in place of paper-based ones.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Curriculum Is Shaped This 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1B2E2B">
                <a:alpha val="1.800000000000001e+1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in this archetype is not a separate curriculum but a full course catalog by tier — the one deliverable in this series meant to outlive the program, since training itself already carried the full narrative in every phase above.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journi Modules Dominate This Archetype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305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(Training)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213055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heaviest use of any archetype — the entire program's content runs through this module.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1693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 (AI Use Case Library)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916936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curriculum drafting — the archetype that most exercises this module.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(ADKAR Engine)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703320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blocks tracked in sequence, from Awareness through Reinforcement.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97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(Sustainment)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4489704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clean checkpoints, spaced apart, before the program closes Refreeze.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760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 (WBS &amp; Gantt)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5276088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TPL-TSD-7 template — the only archetype where every phase is itself training content.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0624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M21 (Field Notes)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606247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Floor-observation friction points and coaching outcomes, logged directly.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C7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Case Proves By Not Firing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ALERT FIRES IN THIS PROGRAM'S REAL RECORD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not manufactured — a clean record reported as a clean record.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77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279392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none of journi's 9 live alerts are built around a standalone skills program with no go-live and no resistance log of its own.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About This Archetype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curriculum drafted and refined through M16, a pilot cohort's validation before full two-plant deployment, a competency-verification record distinct from mere attendance, and a sustainment record showing skill retention measured, not assumed, months after delivery closed.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ADKAR blocks dominate equally, in sequence. Reinforcement is engineered by two dedicated phases — Practical Application and On-the-Job Coaching — the only archetype in the series to build reinforcement deliberately rather than leave it to chance.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none of journi's 9 live alerts are built around a standalone skills program with no go-live and no resistance log of its own.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Training &amp; Skills Development (Plant Digital Skills Upskilling Program)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116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graduation-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9260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Skills Development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3657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Digital Skills Upskilling Program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2026-09-05T17:35:01Z</dcterms:created>
  <dcterms:modified xsi:type="dcterms:W3CDTF">2026-09-05T17:35:01Z</dcterms:modified>
</cp:coreProperties>
</file>
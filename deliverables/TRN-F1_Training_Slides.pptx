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572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TRN-F1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659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journi Platform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Delivery Pack — Instructional Slides, Facilitator Guide &amp; Quiz Bank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34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956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4434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4956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4434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4956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4434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4956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434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956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Academy · Prepared for POWERACT Consulting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~70% of transformations fail on the human side and how ADKAR, Kotter, Lewin and Bridges/Kübler-Ross address it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journi's tenant hierarchy (Group / Organization / Project) and role-based access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Organizational Breakdown Structure (OBS) and the Macro Process / SIPOC / RACSI registry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Assistive / Augmented AI governance model and why Autonomous AI is out of scope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92024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77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Change Managers, HR Business Partners, PMO members, People Managers — no prior journi experience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383280"/>
            <a:ext cx="54864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35295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AT A GLANCE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8404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  </a:t>
            </a:r>
            <a:pPr indent="0" marL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Management, Why journi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206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  </a:t>
            </a:r>
            <a:pPr indent="0" marL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Backbone &amp; Governed AI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5720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AM  </a:t>
            </a:r>
            <a:pPr indent="0" marL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Program Layer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9377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PM  </a:t>
            </a:r>
            <a:pPr indent="0" marL="0"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Dashboards &amp; the Field Notebook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6667"/>
            </a:avLst>
          </a:prstGeom>
          <a:solidFill>
            <a:srgbClr val="1542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this is the entry training for the Foundation level. Golden rule: every half-day pairs one quiz with one workshop.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Management, Why journi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 content · 15 min quiz (QZ-F1-1) · 90 min workshop (WS-F1-1)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· SESSION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Side of Transformation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642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transformations are estimated to fall short primarily because of the human side of change, not the technical build — the widely-cited benchmark this training opens with.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root causes: no visible sponsorship, communication that stops after kickoff, resistance that is never surfaced, and no reinforcement plan once go-live passes.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teaches four frameworks side by side — each answers a different question about the same change: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40680" cy="1207008"/>
          </a:xfrm>
          <a:prstGeom prst="roundRect">
            <a:avLst>
              <a:gd name="adj" fmla="val 3788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3989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(Prosci)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individual ready?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7997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Desire → Knowledge → Ability → Reinforcement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3611880"/>
            <a:ext cx="5440680" cy="1207008"/>
          </a:xfrm>
          <a:prstGeom prst="roundRect">
            <a:avLst>
              <a:gd name="adj" fmla="val 3788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373989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Kotter's 8-Step Model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0690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organization moving in the right sequence?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37997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urgency to anchoring the change in culture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46904"/>
            <a:ext cx="5440680" cy="1207008"/>
          </a:xfrm>
          <a:prstGeom prst="roundRect">
            <a:avLst>
              <a:gd name="adj" fmla="val 3788"/>
            </a:avLst>
          </a:prstGeom>
          <a:solidFill>
            <a:srgbClr val="EA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07492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Lewin's Change Model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0410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macro-state is the initiative in?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715000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 → Refreeze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4946904"/>
            <a:ext cx="5440680" cy="1207008"/>
          </a:xfrm>
          <a:prstGeom prst="roundRect">
            <a:avLst>
              <a:gd name="adj" fmla="val 3788"/>
            </a:avLst>
          </a:prstGeom>
          <a:solidFill>
            <a:srgbClr val="EAF2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507492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&amp; Kübler-Ross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40410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emotional arc?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715000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 → New Beginning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· SESSION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tenant hierarchy has four levels: Group → Organization → Project, with a Change Management Project always linked to a Main Project.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switcher in the top bar moves you between Group, Organization and Project scope — what you can see and do is always filtered by this scope plus your RBAC role.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Sidebar's modules are ordered around the change lifecycle: process backbone first, then charters and initiative registration, then planning, then readiness, then sustainment.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journi's UI is fully multilingual (English / French / Arabic). An Organization sets a Default Language; an individual user's own language preference takes precedence over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as a live projected walkthrough in the seeded Atlas Industrial Group demo tenant. Have participants follow along on their own laptop rather than just watching.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· FORMATIVE CHECK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QZ-F1-1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600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definitions + platform navigation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8076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77824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" y="3794760"/>
            <a:ext cx="108356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77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THIS QUIZ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79392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8-question set and answer key: Quiz Bank tab of the TRN-F1 Excel workbook.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only — no pass mark. It checks whether the concept landed before the workshop applies it.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aloud or project it; do not distribute the answer key beforehand.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any missed items in under 2 minutes before moving into the workshop.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" name="Image 0" descr="/home/user/scm-process-register/docs-src/training-pack-trn-f1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12064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· HANDS-ON WORKSHOP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WS-F1-1  </a:t>
            </a:r>
            <a:pPr indent="0" marL="0"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Tenant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1051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correct 4-level tenant hierarchy for a new client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 Organization's default language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NEEDED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journi demo environment with "Reset Demo Data" run beforehand; the manufacturing-client scenario brief (1-pager); each participant logged in with a Change Manager or Org Admin seed account.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508760"/>
            <a:ext cx="5623560" cy="4709160"/>
          </a:xfrm>
          <a:prstGeom prst="roundRect">
            <a:avLst>
              <a:gd name="adj" fmla="val 971"/>
            </a:avLst>
          </a:prstGeom>
          <a:solidFill>
            <a:srgbClr val="EAF2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STEPS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19933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Group and an Organization for a new manufacturing client scenario.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862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Main Project and a linked Change Management Project.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73075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Organization's Default Language and explain the precedence rule to a neighbor.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461772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5994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M2 user list and identify each seeded role's scope.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5532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pair to explain, in their own words, why the CM Project is linked to the Main Project rather than standing alone.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Backbone &amp; Governed AI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 content · 15 min quiz (QZ-F1-2) · 90 min workshop (WS-F1-2)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· SESSION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Processes, SIPOC &amp; RACSI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ships a seeded Macro Process Catalog of 10 Macro Processes — the reusable building blocks of the organization's operating model.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SIPOC diagram documents a process boundary before change impact is mapped: Suppliers, Inputs, Process, Outputs, Customers.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(E2E) process chain is an ordered sequence of Macro Processes representing one full business process, registered in the E2E Process Registry.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RACSI grid assigns Responsible, Accountable, Consulted, Support and Informed roles at each step of a process — the backbone that later modules (OBS, stakeholder mapping) plug into.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real RACSI grid from the seeded scenario and cold-call participants to identify who is "Accountable" vs. "Responsible" on two different rows — this is the single most commonly confused pair of role codes.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· SESSION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and the AI Use Case Library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Breakdown Structure (OBS) is a resourcing and reporting roster for the process backbone — distinct from the RBAC user list, which controls platform login and permissions.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Use Case Library catalogs every governed AI capability across journi, each tagged with a tier and a human checkpoint.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tier: the AI only suggests; a human must explicitly accept, edit, or reject the suggestion before anything is saved.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tier: the AI plays a larger role in producing content or a recommendation, but still inside a defined, governed human checkpoint.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tier is explicitly out of scope in journi — no AI use case is allowed to act without a human checkpoint.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this distinction early: it recurs in every later module. A quick memory hook — 'Assistive suggests, Augmented drafts, Autonomous decides — and journi never ships the third one.'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· FORMATIVE CHECK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QZ-F1-2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600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role codes + AI tier definitions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8076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77824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" y="3794760"/>
            <a:ext cx="108356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77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THIS QUIZ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79392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8-question set and answer key: Quiz Bank tab of the TRN-F1 Excel workbook.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only — no pass mark. It checks whether the concept landed before the workshop applies it.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aloud or project it; do not distribute the answer key beforehand.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any missed items in under 2 minutes before moving into the workshop.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" name="Image 0" descr="/home/user/scm-process-register/docs-src/training-pack-trn-f1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12064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· HANDS-ON WORKSHOP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WS-F1-2  </a:t>
            </a:r>
            <a:pPr indent="0" marL="0"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Process Backbone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1051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OBS roster and trace it into other modules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classify AI use cases by tier and checkpoint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NEEDED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demo tenant as the morning workshop, now populated from WS-F1-1; a printed or projected AI Use Case Library excerpt (3 entries) for the classification exercise.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508760"/>
            <a:ext cx="5623560" cy="4709160"/>
          </a:xfrm>
          <a:prstGeom prst="roundRect">
            <a:avLst>
              <a:gd name="adj" fmla="val 971"/>
            </a:avLst>
          </a:prstGeom>
          <a:solidFill>
            <a:srgbClr val="EAF2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STEPS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19933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4-role OBS roster with a reporting chain for the scenario project.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862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End-to-End process chain through its ordered Macro Processes.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73075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AI Use Case Library entries and classify tier + human checkpoint for each.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461772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5994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module each of the 3 use cases plugs into.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5532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the room on the 3 AI use case classifications before revealing the answers — disagreement here is the most useful teaching moment of the day.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Program Layer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min content · 15 min quiz (QZ-F1-3) · 90 min workshop (WS-F1-3)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· SESSION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Registry &amp; CM Charters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Initiative Registry records program-level metadata for every Change Management program: its Lewin macro-state, the justified-change pattern, and the Composite Readiness Index.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 Charter Registry holds 8 charters, each mapped to specific charter-actions with a compliance log.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Foundation level, the goal is to read an existing charter fluently — not yet author or edit one; charter authorship is a Practitioner-level skill (TRN-P1).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the phrase 'justified-change pattern' — every macro-state change in journi requires a written justification, which is a governance habit worth calling out explicitly here.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· SESSION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WBS, Gantt &amp; Phase Gates at a Glance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Breakdown Structure (WBS) spans three tracks: PM, CM, and Framework — so the project plan, the change plan, and the framework milestones stay visible together.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Gantt view compares baseline (planned) dates against actual dates; a mismatch surfaces as a schedule gap.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Gate is a governed checkpoint: a Joint Decision Record captures whether the program proceeds, holds, or escalates.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Accountable role on a Phase Gate decision must be independent of either input's author — this is what makes the decision defensible later.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Gantt view with one deliberately late task to demonstrate a schedule gap live, then walk straight into the linked Phase Gate to show the two are connected.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C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· FORMATIVE CHECK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QZ-F1-3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600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layer terms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8076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77824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" y="3794760"/>
            <a:ext cx="108356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77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THIS QUIZ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79392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8-question set and answer key: Quiz Bank tab of the TRN-F1 Excel workbook.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only — no pass mark. It checks whether the concept landed before the workshop applies it.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aloud or project it; do not distribute the answer key beforehand.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any missed items in under 2 minutes before moving into the workshop.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" name="Image 0" descr="/home/user/scm-process-register/docs-src/training-pack-trn-f1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12064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· HANDS-ON WORKSHOP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WS-F1-3  </a:t>
            </a:r>
            <a:pPr indent="0" marL="0"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Program's Status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1051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Initiative Registry entry and its linked CM Charter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WBS Gantt view and the current Phase Gate state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NEEDED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seeded program record from Day 1 (or a facilitator-provided backup record); no new setup required.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508760"/>
            <a:ext cx="5623560" cy="4709160"/>
          </a:xfrm>
          <a:prstGeom prst="roundRect">
            <a:avLst>
              <a:gd name="adj" fmla="val 971"/>
            </a:avLst>
          </a:prstGeom>
          <a:solidFill>
            <a:srgbClr val="EAF2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STEPS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19933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seeded Initiative Registry entry and its CM Charter; identify the Lewin macro-state and the top charter action.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862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linked WBS/Gantt view and identify 2 tasks with a schedule gap.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73075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current Phase Gate status and who owns the next decision.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461772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5994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program's health in 3 bullet points, as if briefing a manager who has 60 seconds.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5532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2 participants read their 3-bullet summaries aloud — compare how differently the same data can be framed, and agree on what 'good' looks like.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Dashboards &amp; the Field Notebook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content · 15 min quiz (QZ-F1-4) · 90 min workshop (WS-F1-4)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· SESSION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Analytics Dashboard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ADKAR heatmap visualizes readiness across the 5 ADKAR blocks for a cohort or project — colour intensity flags where the barrier sits.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curve tracks the trend of usage/adoption over time, not a single point-in-time number.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Foundation level, the dashboard is reference-only: read it to inform a conversation, do not edit the underlying data 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a project whose ADKAR heatmap has a clearly weak block and ask participants to name it before you point it out — this builds the reading habit faster than lecturing it.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· SESSION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384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406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 are a lightweight practitioner scratchpad — for an observation that doesn't yet belong in a structured module.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a substitute for a structured record: a Risk Register entry, a charter compliance log, or a Phase Gate decision all carry scoring, ownership and workflow that a Field Note lacks.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 are available in the same EN/FR/AR multilingual UI as the rest of journi.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8308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EA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NOTE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concrete contrast: 'I noticed the sponsor seemed disengaged in today's meeting' is a Field Note. 'Sponsor visibility risk, likelihood 3/5, impact 4/5, owner: PMO' is a Risk Register entry. Same observation, different destination.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C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circl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· FORMATIVE CHECK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QZ-F1-4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600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reading + Field Notes scope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8076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237744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778240" y="24871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77824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5800" y="3794760"/>
            <a:ext cx="108356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977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THIS QUIZ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79392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8-question set and answer key: Quiz Bank tab of the TRN-F1 Excel workbook.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only — no pass mark. It checks whether the concept landed before the workshop applies it.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aloud or project it; do not distribute the answer key beforehand.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any missed items in under 2 minutes before moving into the workshop.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" name="Image 0" descr="/home/user/scm-process-register/docs-src/training-pack-trn-f1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12064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· HANDS-ON WORKSHOP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WS-F1-4  </a:t>
            </a:r>
            <a:pPr indent="0" marL="0">
              <a:buNone/>
            </a:pPr>
            <a:r>
              <a:rPr lang="en-US" sz="2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Dashboard, Log a Field Note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10512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project's Metrics &amp; Analytics Dashboard without editing it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properly-scoped Field Note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NEEDED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seeded project used throughout the training; no additional setup.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508760"/>
            <a:ext cx="5623560" cy="4709160"/>
          </a:xfrm>
          <a:prstGeom prst="roundRect">
            <a:avLst>
              <a:gd name="adj" fmla="val 971"/>
            </a:avLst>
          </a:prstGeom>
          <a:solidFill>
            <a:srgbClr val="EAF2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STEPS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19933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Metrics &amp; Analytics Dashboard for the seeded project and identify the ADKAR heatmap's weakest block.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88036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862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adoption curve's current trend.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74904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73075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Field Note capturing an observation from the review (not a structured record).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4617720"/>
            <a:ext cx="365760" cy="365760"/>
          </a:xfrm>
          <a:prstGeom prst="ellipse">
            <a:avLst/>
          </a:prstGeom>
          <a:solidFill>
            <a:srgbClr val="1F64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5994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writing, why that observation belongs in Field Notes and not the Risk Register.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553212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day by asking each participant to name the one journi screen they feel least confident navigating — capture it for a 10-minute recap at the start of TRN-F2.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clipboard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2237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EXM-F1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109960" cy="1188720"/>
          </a:xfrm>
          <a:prstGeom prst="roundRect">
            <a:avLst>
              <a:gd name="adj" fmla="val 3846"/>
            </a:avLst>
          </a:prstGeom>
          <a:solidFill>
            <a:srgbClr val="1D4F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SHORT-ANSWER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4290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730752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all 4 half-day quizzes: framework definitions, RACSI + AI tiers, program-layer terms, dashboard reading + Field Notes scope.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short-answer questions ask participants to justify a governance decision in writing (e.g. why a Phase Gate needs an independent Accountable role).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retake is available after a 48-hour review period.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EXM-F1 is one of three training exams required before the Foundation Level Exam (EXM-LVL-F).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Training Pack — journi Academy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4884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raining-pack-trn-f1/assets/flag-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22576"/>
            <a:ext cx="429768" cy="4297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063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TRN-F2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Emotional Readiness — ADKAR and the Human Journey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Academy — Foundation Level  ·  POWERACT Consulting  · 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2026-09-01T11:32:13Z</dcterms:created>
  <dcterms:modified xsi:type="dcterms:W3CDTF">2026-09-01T11:32:13Z</dcterms:modified>
</cp:coreProperties>
</file>
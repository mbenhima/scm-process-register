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423A"/>
        </a:solidFill>
      </p:bgPr>
    </p:bg>
    <p:spTree>
      <p:nvGrpSpPr>
        <p:cNvPr id="1" name=""/>
        <p:cNvGrpSpPr/>
        <p:nvPr/>
      </p:nvGrpSpPr>
      <p:grpSpPr>
        <a:xfrm>
          <a:off x="0" y="0"/>
          <a:ext cx="0" cy="0"/>
          <a:chOff x="0" y="0"/>
          <a:chExt cx="0" cy="0"/>
        </a:xfrm>
      </p:grpSpPr>
      <p:sp>
        <p:nvSpPr>
          <p:cNvPr id="2" name="Shape 0"/>
          <p:cNvSpPr/>
          <p:nvPr/>
        </p:nvSpPr>
        <p:spPr>
          <a:xfrm>
            <a:off x="685800" y="640080"/>
            <a:ext cx="777240" cy="777240"/>
          </a:xfrm>
          <a:prstGeom prst="ellipse">
            <a:avLst/>
          </a:prstGeom>
          <a:solidFill>
            <a:srgbClr val="C2661C"/>
          </a:solidFill>
          <a:ln/>
        </p:spPr>
      </p:sp>
      <p:pic>
        <p:nvPicPr>
          <p:cNvPr id="3" name="Image 0" descr="/home/user/scm-process-register/docs-src/transformation-types-deck/assets/cubes.png">    </p:cNvPr>
          <p:cNvPicPr>
            <a:picLocks noChangeAspect="1"/>
          </p:cNvPicPr>
          <p:nvPr/>
        </p:nvPicPr>
        <p:blipFill>
          <a:blip r:embed="rId1"/>
          <a:stretch>
            <a:fillRect/>
          </a:stretch>
        </p:blipFill>
        <p:spPr>
          <a:xfrm>
            <a:off x="850392" y="804672"/>
            <a:ext cx="448056" cy="448056"/>
          </a:xfrm>
          <a:prstGeom prst="rect">
            <a:avLst/>
          </a:prstGeom>
        </p:spPr>
      </p:pic>
      <p:sp>
        <p:nvSpPr>
          <p:cNvPr id="4" name="Text 1"/>
          <p:cNvSpPr/>
          <p:nvPr/>
        </p:nvSpPr>
        <p:spPr>
          <a:xfrm>
            <a:off x="640080" y="2011680"/>
            <a:ext cx="10698480" cy="1005840"/>
          </a:xfrm>
          <a:prstGeom prst="rect">
            <a:avLst/>
          </a:prstGeom>
          <a:noFill/>
          <a:ln/>
        </p:spPr>
        <p:txBody>
          <a:bodyPr wrap="square" rtlCol="0" anchor="ctr"/>
          <a:lstStyle/>
          <a:p>
            <a:pPr indent="0" marL="0">
              <a:buNone/>
            </a:pPr>
            <a:r>
              <a:rPr lang="en-US" sz="4200" b="1" dirty="0">
                <a:solidFill>
                  <a:srgbClr val="FFFFFF"/>
                </a:solidFill>
                <a:latin typeface="Calibri" pitchFamily="34" charset="0"/>
                <a:ea typeface="Calibri" pitchFamily="34" charset="-122"/>
                <a:cs typeface="Calibri" pitchFamily="34" charset="-120"/>
              </a:rPr>
              <a:t>journi's 8 Transformation Types</a:t>
            </a:r>
            <a:endParaRPr lang="en-US" sz="4200" dirty="0"/>
          </a:p>
        </p:txBody>
      </p:sp>
      <p:sp>
        <p:nvSpPr>
          <p:cNvPr id="5" name="Text 2"/>
          <p:cNvSpPr/>
          <p:nvPr/>
        </p:nvSpPr>
        <p:spPr>
          <a:xfrm>
            <a:off x="685800" y="2926080"/>
            <a:ext cx="10058400" cy="502920"/>
          </a:xfrm>
          <a:prstGeom prst="rect">
            <a:avLst/>
          </a:prstGeom>
          <a:noFill/>
          <a:ln/>
        </p:spPr>
        <p:txBody>
          <a:bodyPr wrap="square" rtlCol="0" anchor="ctr"/>
          <a:lstStyle/>
          <a:p>
            <a:pPr indent="0" marL="0">
              <a:buNone/>
            </a:pPr>
            <a:r>
              <a:rPr lang="en-US" sz="1900" i="1" dirty="0">
                <a:solidFill>
                  <a:srgbClr val="B8D4CE"/>
                </a:solidFill>
                <a:latin typeface="Calibri" pitchFamily="34" charset="0"/>
                <a:ea typeface="Calibri" pitchFamily="34" charset="-122"/>
                <a:cs typeface="Calibri" pitchFamily="34" charset="-120"/>
              </a:rPr>
              <a:t>How journi implements each archetype, end to end</a:t>
            </a:r>
            <a:endParaRPr lang="en-US" sz="1900" dirty="0"/>
          </a:p>
        </p:txBody>
      </p:sp>
      <p:sp>
        <p:nvSpPr>
          <p:cNvPr id="6" name="Text 3"/>
          <p:cNvSpPr/>
          <p:nvPr/>
        </p:nvSpPr>
        <p:spPr>
          <a:xfrm>
            <a:off x="685800" y="3520440"/>
            <a:ext cx="10058400" cy="594360"/>
          </a:xfrm>
          <a:prstGeom prst="rect">
            <a:avLst/>
          </a:prstGeom>
          <a:noFill/>
          <a:ln/>
        </p:spPr>
        <p:txBody>
          <a:bodyPr wrap="square" rtlCol="0" anchor="ctr"/>
          <a:lstStyle/>
          <a:p>
            <a:pPr indent="0" marL="0">
              <a:lnSpc>
                <a:spcPct val="120000"/>
              </a:lnSpc>
              <a:buNone/>
            </a:pPr>
            <a:r>
              <a:rPr lang="en-US" sz="1350" dirty="0">
                <a:solidFill>
                  <a:srgbClr val="9FC2BC"/>
                </a:solidFill>
                <a:latin typeface="Calibri" pitchFamily="34" charset="0"/>
                <a:ea typeface="Calibri" pitchFamily="34" charset="-122"/>
                <a:cs typeface="Calibri" pitchFamily="34" charset="-120"/>
              </a:rPr>
              <a:t>ERP · Cultural / Values · BPR · Automation · QMS · Operating Model · Compliance · Training &amp; Skills — one manufacturing tenant, Bouregreg Group</a:t>
            </a:r>
            <a:endParaRPr lang="en-US" sz="1350" dirty="0"/>
          </a:p>
        </p:txBody>
      </p:sp>
      <p:sp>
        <p:nvSpPr>
          <p:cNvPr id="7" name="Text 4"/>
          <p:cNvSpPr/>
          <p:nvPr/>
        </p:nvSpPr>
        <p:spPr>
          <a:xfrm>
            <a:off x="685800" y="4480560"/>
            <a:ext cx="2194560" cy="685800"/>
          </a:xfrm>
          <a:prstGeom prst="rect">
            <a:avLst/>
          </a:prstGeom>
          <a:noFill/>
          <a:ln/>
        </p:spPr>
        <p:txBody>
          <a:bodyPr wrap="square" rtlCol="0" anchor="ctr"/>
          <a:lstStyle/>
          <a:p>
            <a:pPr indent="0" marL="0">
              <a:buNone/>
            </a:pPr>
            <a:r>
              <a:rPr lang="en-US" sz="3000" b="1" dirty="0">
                <a:solidFill>
                  <a:srgbClr val="C2661C"/>
                </a:solidFill>
                <a:latin typeface="Calibri" pitchFamily="34" charset="0"/>
                <a:ea typeface="Calibri" pitchFamily="34" charset="-122"/>
                <a:cs typeface="Calibri" pitchFamily="34" charset="-120"/>
              </a:rPr>
              <a:t>8</a:t>
            </a:r>
            <a:endParaRPr lang="en-US" sz="3000" dirty="0"/>
          </a:p>
        </p:txBody>
      </p:sp>
      <p:sp>
        <p:nvSpPr>
          <p:cNvPr id="8" name="Text 5"/>
          <p:cNvSpPr/>
          <p:nvPr/>
        </p:nvSpPr>
        <p:spPr>
          <a:xfrm>
            <a:off x="685800" y="5102352"/>
            <a:ext cx="2194560" cy="274320"/>
          </a:xfrm>
          <a:prstGeom prst="rect">
            <a:avLst/>
          </a:prstGeom>
          <a:noFill/>
          <a:ln/>
        </p:spPr>
        <p:txBody>
          <a:bodyPr wrap="square" rtlCol="0" anchor="ctr"/>
          <a:lstStyle/>
          <a:p>
            <a:pPr indent="0" marL="0">
              <a:buNone/>
            </a:pPr>
            <a:r>
              <a:rPr lang="en-US" sz="1000" b="1" spc="100" kern="0" dirty="0">
                <a:solidFill>
                  <a:srgbClr val="9FC2BC"/>
                </a:solidFill>
                <a:latin typeface="Calibri" pitchFamily="34" charset="0"/>
                <a:ea typeface="Calibri" pitchFamily="34" charset="-122"/>
                <a:cs typeface="Calibri" pitchFamily="34" charset="-120"/>
              </a:rPr>
              <a:t>ARCHETYPES</a:t>
            </a:r>
            <a:endParaRPr lang="en-US" sz="1000" dirty="0"/>
          </a:p>
        </p:txBody>
      </p:sp>
      <p:sp>
        <p:nvSpPr>
          <p:cNvPr id="9" name="Text 6"/>
          <p:cNvSpPr/>
          <p:nvPr/>
        </p:nvSpPr>
        <p:spPr>
          <a:xfrm>
            <a:off x="2971800" y="4480560"/>
            <a:ext cx="2194560" cy="685800"/>
          </a:xfrm>
          <a:prstGeom prst="rect">
            <a:avLst/>
          </a:prstGeom>
          <a:noFill/>
          <a:ln/>
        </p:spPr>
        <p:txBody>
          <a:bodyPr wrap="square" rtlCol="0" anchor="ctr"/>
          <a:lstStyle/>
          <a:p>
            <a:pPr indent="0" marL="0">
              <a:buNone/>
            </a:pPr>
            <a:r>
              <a:rPr lang="en-US" sz="3000" b="1" dirty="0">
                <a:solidFill>
                  <a:srgbClr val="C2661C"/>
                </a:solidFill>
                <a:latin typeface="Calibri" pitchFamily="34" charset="0"/>
                <a:ea typeface="Calibri" pitchFamily="34" charset="-122"/>
                <a:cs typeface="Calibri" pitchFamily="34" charset="-120"/>
              </a:rPr>
              <a:t>9</a:t>
            </a:r>
            <a:endParaRPr lang="en-US" sz="3000" dirty="0"/>
          </a:p>
        </p:txBody>
      </p:sp>
      <p:sp>
        <p:nvSpPr>
          <p:cNvPr id="10" name="Text 7"/>
          <p:cNvSpPr/>
          <p:nvPr/>
        </p:nvSpPr>
        <p:spPr>
          <a:xfrm>
            <a:off x="2971800" y="5102352"/>
            <a:ext cx="2194560" cy="274320"/>
          </a:xfrm>
          <a:prstGeom prst="rect">
            <a:avLst/>
          </a:prstGeom>
          <a:noFill/>
          <a:ln/>
        </p:spPr>
        <p:txBody>
          <a:bodyPr wrap="square" rtlCol="0" anchor="ctr"/>
          <a:lstStyle/>
          <a:p>
            <a:pPr indent="0" marL="0">
              <a:buNone/>
            </a:pPr>
            <a:r>
              <a:rPr lang="en-US" sz="1000" b="1" spc="100" kern="0" dirty="0">
                <a:solidFill>
                  <a:srgbClr val="9FC2BC"/>
                </a:solidFill>
                <a:latin typeface="Calibri" pitchFamily="34" charset="0"/>
                <a:ea typeface="Calibri" pitchFamily="34" charset="-122"/>
                <a:cs typeface="Calibri" pitchFamily="34" charset="-120"/>
              </a:rPr>
              <a:t>LIVE ALERTS</a:t>
            </a:r>
            <a:endParaRPr lang="en-US" sz="1000" dirty="0"/>
          </a:p>
        </p:txBody>
      </p:sp>
      <p:sp>
        <p:nvSpPr>
          <p:cNvPr id="11" name="Text 8"/>
          <p:cNvSpPr/>
          <p:nvPr/>
        </p:nvSpPr>
        <p:spPr>
          <a:xfrm>
            <a:off x="5257800" y="4480560"/>
            <a:ext cx="2194560" cy="685800"/>
          </a:xfrm>
          <a:prstGeom prst="rect">
            <a:avLst/>
          </a:prstGeom>
          <a:noFill/>
          <a:ln/>
        </p:spPr>
        <p:txBody>
          <a:bodyPr wrap="square" rtlCol="0" anchor="ctr"/>
          <a:lstStyle/>
          <a:p>
            <a:pPr indent="0" marL="0">
              <a:buNone/>
            </a:pPr>
            <a:r>
              <a:rPr lang="en-US" sz="3000" b="1" dirty="0">
                <a:solidFill>
                  <a:srgbClr val="C2661C"/>
                </a:solidFill>
                <a:latin typeface="Calibri" pitchFamily="34" charset="0"/>
                <a:ea typeface="Calibri" pitchFamily="34" charset="-122"/>
                <a:cs typeface="Calibri" pitchFamily="34" charset="-120"/>
              </a:rPr>
              <a:t>21</a:t>
            </a:r>
            <a:endParaRPr lang="en-US" sz="3000" dirty="0"/>
          </a:p>
        </p:txBody>
      </p:sp>
      <p:sp>
        <p:nvSpPr>
          <p:cNvPr id="12" name="Text 9"/>
          <p:cNvSpPr/>
          <p:nvPr/>
        </p:nvSpPr>
        <p:spPr>
          <a:xfrm>
            <a:off x="5257800" y="5102352"/>
            <a:ext cx="2194560" cy="274320"/>
          </a:xfrm>
          <a:prstGeom prst="rect">
            <a:avLst/>
          </a:prstGeom>
          <a:noFill/>
          <a:ln/>
        </p:spPr>
        <p:txBody>
          <a:bodyPr wrap="square" rtlCol="0" anchor="ctr"/>
          <a:lstStyle/>
          <a:p>
            <a:pPr indent="0" marL="0">
              <a:buNone/>
            </a:pPr>
            <a:r>
              <a:rPr lang="en-US" sz="1000" b="1" spc="100" kern="0" dirty="0">
                <a:solidFill>
                  <a:srgbClr val="9FC2BC"/>
                </a:solidFill>
                <a:latin typeface="Calibri" pitchFamily="34" charset="0"/>
                <a:ea typeface="Calibri" pitchFamily="34" charset="-122"/>
                <a:cs typeface="Calibri" pitchFamily="34" charset="-120"/>
              </a:rPr>
              <a:t>JOURNI MODULES</a:t>
            </a:r>
            <a:endParaRPr lang="en-US" sz="1000" dirty="0"/>
          </a:p>
        </p:txBody>
      </p:sp>
      <p:sp>
        <p:nvSpPr>
          <p:cNvPr id="13" name="Text 10"/>
          <p:cNvSpPr/>
          <p:nvPr/>
        </p:nvSpPr>
        <p:spPr>
          <a:xfrm>
            <a:off x="7543800" y="4480560"/>
            <a:ext cx="2194560" cy="685800"/>
          </a:xfrm>
          <a:prstGeom prst="rect">
            <a:avLst/>
          </a:prstGeom>
          <a:noFill/>
          <a:ln/>
        </p:spPr>
        <p:txBody>
          <a:bodyPr wrap="square" rtlCol="0" anchor="ctr"/>
          <a:lstStyle/>
          <a:p>
            <a:pPr indent="0" marL="0">
              <a:buNone/>
            </a:pPr>
            <a:r>
              <a:rPr lang="en-US" sz="3000" b="1" dirty="0">
                <a:solidFill>
                  <a:srgbClr val="C2661C"/>
                </a:solidFill>
                <a:latin typeface="Calibri" pitchFamily="34" charset="0"/>
                <a:ea typeface="Calibri" pitchFamily="34" charset="-122"/>
                <a:cs typeface="Calibri" pitchFamily="34" charset="-120"/>
              </a:rPr>
              <a:t>1</a:t>
            </a:r>
            <a:endParaRPr lang="en-US" sz="3000" dirty="0"/>
          </a:p>
        </p:txBody>
      </p:sp>
      <p:sp>
        <p:nvSpPr>
          <p:cNvPr id="14" name="Text 11"/>
          <p:cNvSpPr/>
          <p:nvPr/>
        </p:nvSpPr>
        <p:spPr>
          <a:xfrm>
            <a:off x="7543800" y="5102352"/>
            <a:ext cx="2194560" cy="274320"/>
          </a:xfrm>
          <a:prstGeom prst="rect">
            <a:avLst/>
          </a:prstGeom>
          <a:noFill/>
          <a:ln/>
        </p:spPr>
        <p:txBody>
          <a:bodyPr wrap="square" rtlCol="0" anchor="ctr"/>
          <a:lstStyle/>
          <a:p>
            <a:pPr indent="0" marL="0">
              <a:buNone/>
            </a:pPr>
            <a:r>
              <a:rPr lang="en-US" sz="1000" b="1" spc="100" kern="0" dirty="0">
                <a:solidFill>
                  <a:srgbClr val="9FC2BC"/>
                </a:solidFill>
                <a:latin typeface="Calibri" pitchFamily="34" charset="0"/>
                <a:ea typeface="Calibri" pitchFamily="34" charset="-122"/>
                <a:cs typeface="Calibri" pitchFamily="34" charset="-120"/>
              </a:rPr>
              <a:t>SHARED TENANT</a:t>
            </a:r>
            <a:endParaRPr lang="en-US" sz="1000" dirty="0"/>
          </a:p>
        </p:txBody>
      </p:sp>
      <p:sp>
        <p:nvSpPr>
          <p:cNvPr id="15" name="Text 12"/>
          <p:cNvSpPr/>
          <p:nvPr/>
        </p:nvSpPr>
        <p:spPr>
          <a:xfrm>
            <a:off x="685800" y="6263640"/>
            <a:ext cx="9144000" cy="365760"/>
          </a:xfrm>
          <a:prstGeom prst="rect">
            <a:avLst/>
          </a:prstGeom>
          <a:noFill/>
          <a:ln/>
        </p:spPr>
        <p:txBody>
          <a:bodyPr wrap="square" rtlCol="0" anchor="ctr"/>
          <a:lstStyle/>
          <a:p>
            <a:pPr indent="0" marL="0">
              <a:buNone/>
            </a:pPr>
            <a:r>
              <a:rPr lang="en-US" sz="1150" dirty="0">
                <a:solidFill>
                  <a:srgbClr val="7FA39A"/>
                </a:solidFill>
                <a:latin typeface="Calibri" pitchFamily="34" charset="0"/>
                <a:ea typeface="Calibri" pitchFamily="34" charset="-122"/>
                <a:cs typeface="Calibri" pitchFamily="34" charset="-120"/>
              </a:rPr>
              <a:t>Manufacturing Sector · Bouregreg Group Scenario Library · Confidential</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ONE TENANT, EIGHT KINDS OF CHANGE</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200" b="1" dirty="0">
                <a:solidFill>
                  <a:srgbClr val="15423A"/>
                </a:solidFill>
                <a:latin typeface="Calibri" pitchFamily="34" charset="0"/>
                <a:ea typeface="Calibri" pitchFamily="34" charset="-122"/>
                <a:cs typeface="Calibri" pitchFamily="34" charset="-120"/>
              </a:rPr>
              <a:t>journi's data model makes this the natural way to show "more than one kind of change"</a:t>
            </a:r>
            <a:endParaRPr lang="en-US" sz="2200" dirty="0"/>
          </a:p>
        </p:txBody>
      </p:sp>
      <p:sp>
        <p:nvSpPr>
          <p:cNvPr id="4" name="Text 2"/>
          <p:cNvSpPr/>
          <p:nvPr/>
        </p:nvSpPr>
        <p:spPr>
          <a:xfrm>
            <a:off x="548640" y="1417320"/>
            <a:ext cx="11064240" cy="457200"/>
          </a:xfrm>
          <a:prstGeom prst="rect">
            <a:avLst/>
          </a:prstGeom>
          <a:noFill/>
          <a:ln/>
        </p:spPr>
        <p:txBody>
          <a:bodyPr wrap="square" rtlCol="0" anchor="t"/>
          <a:lstStyle/>
          <a:p>
            <a:pPr indent="0" marL="0">
              <a:lnSpc>
                <a:spcPct val="115000"/>
              </a:lnSpc>
              <a:buNone/>
            </a:pPr>
            <a:r>
              <a:rPr lang="en-US" sz="1200" dirty="0">
                <a:solidFill>
                  <a:srgbClr val="5C6D68"/>
                </a:solidFill>
                <a:latin typeface="Calibri" pitchFamily="34" charset="0"/>
                <a:ea typeface="Calibri" pitchFamily="34" charset="-122"/>
                <a:cs typeface="Calibri" pitchFamily="34" charset="-120"/>
              </a:rPr>
              <a:t>Bouregreg Group's single tenant holds one Organization, under which every Change Management Project runs — several CM Projects share one Stakeholder Map, one Codebook, and one Permission Matrix, while each keeps its own Lewin phase, ADKAR scores, resistance log, and sustainment record.</a:t>
            </a:r>
            <a:endParaRPr lang="en-US" sz="1200" dirty="0"/>
          </a:p>
        </p:txBody>
      </p:sp>
      <p:sp>
        <p:nvSpPr>
          <p:cNvPr id="5" name="Text 3"/>
          <p:cNvSpPr/>
          <p:nvPr/>
        </p:nvSpPr>
        <p:spPr>
          <a:xfrm>
            <a:off x="548640" y="2331720"/>
            <a:ext cx="11064240" cy="3291840"/>
          </a:xfrm>
          <a:prstGeom prst="rect">
            <a:avLst/>
          </a:prstGeom>
          <a:noFill/>
          <a:ln/>
        </p:spPr>
        <p:txBody>
          <a:bodyPr wrap="square" rtlCol="0" anchor="t"/>
          <a:lstStyle/>
          <a:p>
            <a:pPr indent="0" marL="0">
              <a:lnSpc>
                <a:spcPct val="135000"/>
              </a:lnSpc>
              <a:spcAft>
                <a:spcPts val="800"/>
              </a:spcAft>
              <a:buNone/>
            </a:pPr>
            <a:r>
              <a:rPr lang="en-US" sz="1300" b="1" dirty="0">
                <a:solidFill>
                  <a:srgbClr val="1F6459"/>
                </a:solidFill>
                <a:latin typeface="Calibri" pitchFamily="34" charset="0"/>
                <a:ea typeface="Calibri" pitchFamily="34" charset="-122"/>
                <a:cs typeface="Calibri" pitchFamily="34" charset="-120"/>
              </a:rPr>
              <a:t>›  </a:t>
            </a:r>
            <a:pPr indent="0" marL="0">
              <a:lnSpc>
                <a:spcPct val="135000"/>
              </a:lnSpc>
              <a:spcAft>
                <a:spcPts val="800"/>
              </a:spcAft>
              <a:buNone/>
            </a:pPr>
            <a:r>
              <a:rPr lang="en-US" sz="1300" dirty="0">
                <a:solidFill>
                  <a:srgbClr val="16221F"/>
                </a:solidFill>
                <a:latin typeface="Calibri" pitchFamily="34" charset="0"/>
                <a:ea typeface="Calibri" pitchFamily="34" charset="-122"/>
                <a:cs typeface="Calibri" pitchFamily="34" charset="-120"/>
              </a:rPr>
              <a:t>Every one of the 8 archetypes below runs on a Phase Template with a registered End-to-End lifecycle behind it — not an ad-hoc project structure invented per case.</a:t>
            </a:r>
            <a:endParaRPr lang="en-US" sz="1300" dirty="0"/>
          </a:p>
          <a:p>
            <a:pPr indent="0" marL="0">
              <a:lnSpc>
                <a:spcPct val="135000"/>
              </a:lnSpc>
              <a:spcAft>
                <a:spcPts val="800"/>
              </a:spcAft>
              <a:buNone/>
            </a:pPr>
            <a:r>
              <a:rPr lang="en-US" sz="1300" b="1" dirty="0">
                <a:solidFill>
                  <a:srgbClr val="1F6459"/>
                </a:solidFill>
                <a:latin typeface="Calibri" pitchFamily="34" charset="0"/>
                <a:ea typeface="Calibri" pitchFamily="34" charset="-122"/>
                <a:cs typeface="Calibri" pitchFamily="34" charset="-120"/>
              </a:rPr>
              <a:t>›  </a:t>
            </a:r>
            <a:pPr indent="0" marL="0">
              <a:lnSpc>
                <a:spcPct val="135000"/>
              </a:lnSpc>
              <a:spcAft>
                <a:spcPts val="800"/>
              </a:spcAft>
              <a:buNone/>
            </a:pPr>
            <a:r>
              <a:rPr lang="en-US" sz="1300" dirty="0">
                <a:solidFill>
                  <a:srgbClr val="16221F"/>
                </a:solidFill>
                <a:latin typeface="Calibri" pitchFamily="34" charset="0"/>
                <a:ea typeface="Calibri" pitchFamily="34" charset="-122"/>
                <a:cs typeface="Calibri" pitchFamily="34" charset="-120"/>
              </a:rPr>
              <a:t>Two of journi's live alerts — Change Saturation (ALT-008) and Communication Overload (ALT-011) — only fire when several of these projects target the same population at once, which is exactly what running all 8 concurrently under one Organization makes real.</a:t>
            </a:r>
            <a:endParaRPr lang="en-US" sz="1300" dirty="0"/>
          </a:p>
          <a:p>
            <a:pPr indent="0" marL="0">
              <a:lnSpc>
                <a:spcPct val="135000"/>
              </a:lnSpc>
              <a:spcAft>
                <a:spcPts val="800"/>
              </a:spcAft>
              <a:buNone/>
            </a:pPr>
            <a:r>
              <a:rPr lang="en-US" sz="1300" b="1" dirty="0">
                <a:solidFill>
                  <a:srgbClr val="1F6459"/>
                </a:solidFill>
                <a:latin typeface="Calibri" pitchFamily="34" charset="0"/>
                <a:ea typeface="Calibri" pitchFamily="34" charset="-122"/>
                <a:cs typeface="Calibri" pitchFamily="34" charset="-120"/>
              </a:rPr>
              <a:t>›  </a:t>
            </a:r>
            <a:pPr indent="0" marL="0">
              <a:lnSpc>
                <a:spcPct val="135000"/>
              </a:lnSpc>
              <a:spcAft>
                <a:spcPts val="800"/>
              </a:spcAft>
              <a:buNone/>
            </a:pPr>
            <a:r>
              <a:rPr lang="en-US" sz="1300" dirty="0">
                <a:solidFill>
                  <a:srgbClr val="16221F"/>
                </a:solidFill>
                <a:latin typeface="Calibri" pitchFamily="34" charset="0"/>
                <a:ea typeface="Calibri" pitchFamily="34" charset="-122"/>
                <a:cs typeface="Calibri" pitchFamily="34" charset="-120"/>
              </a:rPr>
              <a:t>A ninth case in the same library, Settat Plant Consolidation &amp; Restructuring, runs on journi's 4 generic core chains instead, since no dedicated lifecycle exists for Restructuring — this guide states that gap plainly rather than imply otherwise.</a:t>
            </a:r>
            <a:endParaRPr lang="en-US" sz="1300" dirty="0"/>
          </a:p>
        </p:txBody>
      </p:sp>
      <p:sp>
        <p:nvSpPr>
          <p:cNvPr id="6" name="Text 4"/>
          <p:cNvSpPr/>
          <p:nvPr/>
        </p:nvSpPr>
        <p:spPr>
          <a:xfrm>
            <a:off x="548640" y="6528816"/>
            <a:ext cx="73152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The 8 Transformation Types</a:t>
            </a:r>
            <a:endParaRPr lang="en-US" sz="900" dirty="0"/>
          </a:p>
        </p:txBody>
      </p:sp>
      <p:sp>
        <p:nvSpPr>
          <p:cNvPr id="7" name="Text 5"/>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01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THE 8 TYPES, AT A GLANCE</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400" b="1" dirty="0">
                <a:solidFill>
                  <a:srgbClr val="15423A"/>
                </a:solidFill>
                <a:latin typeface="Calibri" pitchFamily="34" charset="0"/>
                <a:ea typeface="Calibri" pitchFamily="34" charset="-122"/>
                <a:cs typeface="Calibri" pitchFamily="34" charset="-120"/>
              </a:rPr>
              <a:t>Every archetype journi implements with a dedicated lifecycle</a:t>
            </a:r>
            <a:endParaRPr lang="en-US" sz="2400" dirty="0"/>
          </a:p>
        </p:txBody>
      </p:sp>
      <p:sp>
        <p:nvSpPr>
          <p:cNvPr id="4" name="Shape 2"/>
          <p:cNvSpPr/>
          <p:nvPr/>
        </p:nvSpPr>
        <p:spPr>
          <a:xfrm>
            <a:off x="548640" y="1965960"/>
            <a:ext cx="2670048" cy="1965960"/>
          </a:xfrm>
          <a:prstGeom prst="roundRect">
            <a:avLst>
              <a:gd name="adj" fmla="val 2326"/>
            </a:avLst>
          </a:prstGeom>
          <a:solidFill>
            <a:srgbClr val="EAF2EF"/>
          </a:solidFill>
          <a:ln/>
          <a:effectLst>
            <a:outerShdw sx="100000" sy="100000" kx="0" ky="0" algn="bl" rotWithShape="0" blurRad="101600" dist="38100" dir="5400000">
              <a:srgbClr val="1B2E2B">
                <a:alpha val="18000"/>
              </a:srgbClr>
            </a:outerShdw>
          </a:effectLst>
        </p:spPr>
      </p:sp>
      <p:sp>
        <p:nvSpPr>
          <p:cNvPr id="5" name="Shape 3"/>
          <p:cNvSpPr/>
          <p:nvPr/>
        </p:nvSpPr>
        <p:spPr>
          <a:xfrm>
            <a:off x="1600200" y="2148840"/>
            <a:ext cx="566928" cy="566928"/>
          </a:xfrm>
          <a:prstGeom prst="ellipse">
            <a:avLst/>
          </a:prstGeom>
          <a:solidFill>
            <a:srgbClr val="2E5F8A"/>
          </a:solidFill>
          <a:ln/>
        </p:spPr>
      </p:sp>
      <p:pic>
        <p:nvPicPr>
          <p:cNvPr id="6" name="Image 0" descr="/home/user/scm-process-register/docs-src/transformation-types-deck/assets/server.png">    </p:cNvPr>
          <p:cNvPicPr>
            <a:picLocks noChangeAspect="1"/>
          </p:cNvPicPr>
          <p:nvPr/>
        </p:nvPicPr>
        <p:blipFill>
          <a:blip r:embed="rId1"/>
          <a:stretch>
            <a:fillRect/>
          </a:stretch>
        </p:blipFill>
        <p:spPr>
          <a:xfrm>
            <a:off x="1728216" y="2276856"/>
            <a:ext cx="310896" cy="310896"/>
          </a:xfrm>
          <a:prstGeom prst="rect">
            <a:avLst/>
          </a:prstGeom>
        </p:spPr>
      </p:pic>
      <p:sp>
        <p:nvSpPr>
          <p:cNvPr id="7" name="Text 4"/>
          <p:cNvSpPr/>
          <p:nvPr/>
        </p:nvSpPr>
        <p:spPr>
          <a:xfrm>
            <a:off x="658368" y="2834640"/>
            <a:ext cx="2450592" cy="548640"/>
          </a:xfrm>
          <a:prstGeom prst="rect">
            <a:avLst/>
          </a:prstGeom>
          <a:noFill/>
          <a:ln/>
        </p:spPr>
        <p:txBody>
          <a:bodyPr wrap="square" rtlCol="0" anchor="t"/>
          <a:lstStyle/>
          <a:p>
            <a:pPr algn="ctr" indent="0" marL="0">
              <a:lnSpc>
                <a:spcPct val="105000"/>
              </a:lnSpc>
              <a:buNone/>
            </a:pPr>
            <a:r>
              <a:rPr lang="en-US" sz="1150" b="1" dirty="0">
                <a:solidFill>
                  <a:srgbClr val="15423A"/>
                </a:solidFill>
                <a:latin typeface="Calibri" pitchFamily="34" charset="0"/>
                <a:ea typeface="Calibri" pitchFamily="34" charset="-122"/>
                <a:cs typeface="Calibri" pitchFamily="34" charset="-120"/>
              </a:rPr>
              <a:t>ERP Implementation</a:t>
            </a:r>
            <a:endParaRPr lang="en-US" sz="1150" dirty="0"/>
          </a:p>
        </p:txBody>
      </p:sp>
      <p:sp>
        <p:nvSpPr>
          <p:cNvPr id="8" name="Text 5"/>
          <p:cNvSpPr/>
          <p:nvPr/>
        </p:nvSpPr>
        <p:spPr>
          <a:xfrm>
            <a:off x="658368" y="3474720"/>
            <a:ext cx="2450592" cy="274320"/>
          </a:xfrm>
          <a:prstGeom prst="rect">
            <a:avLst/>
          </a:prstGeom>
          <a:noFill/>
          <a:ln/>
        </p:spPr>
        <p:txBody>
          <a:bodyPr wrap="square" rtlCol="0" anchor="ctr"/>
          <a:lstStyle/>
          <a:p>
            <a:pPr algn="ctr" indent="0" marL="0">
              <a:buNone/>
            </a:pPr>
            <a:r>
              <a:rPr lang="en-US" sz="900" b="1" dirty="0">
                <a:solidFill>
                  <a:srgbClr val="5C6D68"/>
                </a:solidFill>
                <a:latin typeface="Calibri" pitchFamily="34" charset="0"/>
                <a:ea typeface="Calibri" pitchFamily="34" charset="-122"/>
                <a:cs typeface="Calibri" pitchFamily="34" charset="-120"/>
              </a:rPr>
              <a:t>TPL-ERP-8</a:t>
            </a:r>
            <a:endParaRPr lang="en-US" sz="900" dirty="0"/>
          </a:p>
        </p:txBody>
      </p:sp>
      <p:sp>
        <p:nvSpPr>
          <p:cNvPr id="9" name="Shape 6"/>
          <p:cNvSpPr/>
          <p:nvPr/>
        </p:nvSpPr>
        <p:spPr>
          <a:xfrm>
            <a:off x="3346704" y="1965960"/>
            <a:ext cx="2670048" cy="1965960"/>
          </a:xfrm>
          <a:prstGeom prst="roundRect">
            <a:avLst>
              <a:gd name="adj" fmla="val 2326"/>
            </a:avLst>
          </a:prstGeom>
          <a:solidFill>
            <a:srgbClr val="EAF2EF"/>
          </a:solidFill>
          <a:ln/>
          <a:effectLst>
            <a:outerShdw sx="100000" sy="100000" kx="0" ky="0" algn="bl" rotWithShape="0" blurRad="1290320000" dist="483870000" dir="324000000000">
              <a:srgbClr val="1B2E2B">
                <a:alpha val="1800000000"/>
              </a:srgbClr>
            </a:outerShdw>
          </a:effectLst>
        </p:spPr>
      </p:sp>
      <p:sp>
        <p:nvSpPr>
          <p:cNvPr id="10" name="Shape 7"/>
          <p:cNvSpPr/>
          <p:nvPr/>
        </p:nvSpPr>
        <p:spPr>
          <a:xfrm>
            <a:off x="4398264" y="2148840"/>
            <a:ext cx="566928" cy="566928"/>
          </a:xfrm>
          <a:prstGeom prst="ellipse">
            <a:avLst/>
          </a:prstGeom>
          <a:solidFill>
            <a:srgbClr val="B4463B"/>
          </a:solidFill>
          <a:ln/>
        </p:spPr>
      </p:sp>
      <p:pic>
        <p:nvPicPr>
          <p:cNvPr id="11" name="Image 1" descr="/home/user/scm-process-register/docs-src/transformation-types-deck/assets/route.png">    </p:cNvPr>
          <p:cNvPicPr>
            <a:picLocks noChangeAspect="1"/>
          </p:cNvPicPr>
          <p:nvPr/>
        </p:nvPicPr>
        <p:blipFill>
          <a:blip r:embed="rId2"/>
          <a:stretch>
            <a:fillRect/>
          </a:stretch>
        </p:blipFill>
        <p:spPr>
          <a:xfrm>
            <a:off x="4526280" y="2276856"/>
            <a:ext cx="310896" cy="310896"/>
          </a:xfrm>
          <a:prstGeom prst="rect">
            <a:avLst/>
          </a:prstGeom>
        </p:spPr>
      </p:pic>
      <p:sp>
        <p:nvSpPr>
          <p:cNvPr id="12" name="Text 8"/>
          <p:cNvSpPr/>
          <p:nvPr/>
        </p:nvSpPr>
        <p:spPr>
          <a:xfrm>
            <a:off x="3456432" y="2834640"/>
            <a:ext cx="2450592" cy="548640"/>
          </a:xfrm>
          <a:prstGeom prst="rect">
            <a:avLst/>
          </a:prstGeom>
          <a:noFill/>
          <a:ln/>
        </p:spPr>
        <p:txBody>
          <a:bodyPr wrap="square" rtlCol="0" anchor="t"/>
          <a:lstStyle/>
          <a:p>
            <a:pPr algn="ctr" indent="0" marL="0">
              <a:lnSpc>
                <a:spcPct val="105000"/>
              </a:lnSpc>
              <a:buNone/>
            </a:pPr>
            <a:r>
              <a:rPr lang="en-US" sz="1150" b="1" dirty="0">
                <a:solidFill>
                  <a:srgbClr val="15423A"/>
                </a:solidFill>
                <a:latin typeface="Calibri" pitchFamily="34" charset="0"/>
                <a:ea typeface="Calibri" pitchFamily="34" charset="-122"/>
                <a:cs typeface="Calibri" pitchFamily="34" charset="-120"/>
              </a:rPr>
              <a:t>Business Process Redesign</a:t>
            </a:r>
            <a:endParaRPr lang="en-US" sz="1150" dirty="0"/>
          </a:p>
        </p:txBody>
      </p:sp>
      <p:sp>
        <p:nvSpPr>
          <p:cNvPr id="13" name="Text 9"/>
          <p:cNvSpPr/>
          <p:nvPr/>
        </p:nvSpPr>
        <p:spPr>
          <a:xfrm>
            <a:off x="3456432" y="3474720"/>
            <a:ext cx="2450592" cy="274320"/>
          </a:xfrm>
          <a:prstGeom prst="rect">
            <a:avLst/>
          </a:prstGeom>
          <a:noFill/>
          <a:ln/>
        </p:spPr>
        <p:txBody>
          <a:bodyPr wrap="square" rtlCol="0" anchor="ctr"/>
          <a:lstStyle/>
          <a:p>
            <a:pPr algn="ctr" indent="0" marL="0">
              <a:buNone/>
            </a:pPr>
            <a:r>
              <a:rPr lang="en-US" sz="900" b="1" dirty="0">
                <a:solidFill>
                  <a:srgbClr val="5C6D68"/>
                </a:solidFill>
                <a:latin typeface="Calibri" pitchFamily="34" charset="0"/>
                <a:ea typeface="Calibri" pitchFamily="34" charset="-122"/>
                <a:cs typeface="Calibri" pitchFamily="34" charset="-120"/>
              </a:rPr>
              <a:t>TPL-BPR-7</a:t>
            </a:r>
            <a:endParaRPr lang="en-US" sz="900" dirty="0"/>
          </a:p>
        </p:txBody>
      </p:sp>
      <p:sp>
        <p:nvSpPr>
          <p:cNvPr id="14" name="Shape 10"/>
          <p:cNvSpPr/>
          <p:nvPr/>
        </p:nvSpPr>
        <p:spPr>
          <a:xfrm>
            <a:off x="6144768" y="1965960"/>
            <a:ext cx="2670048" cy="1965960"/>
          </a:xfrm>
          <a:prstGeom prst="roundRect">
            <a:avLst>
              <a:gd name="adj" fmla="val 2326"/>
            </a:avLst>
          </a:prstGeom>
          <a:solidFill>
            <a:srgbClr val="EAF2EF"/>
          </a:solidFill>
          <a:ln/>
          <a:effectLst>
            <a:outerShdw sx="100000" sy="100000" kx="0" ky="0" algn="bl" rotWithShape="0" blurRad="16387064000000" dist="6145149000000" dir="19440000000000000">
              <a:srgbClr val="1B2E2B">
                <a:alpha val="180000000000000"/>
              </a:srgbClr>
            </a:outerShdw>
          </a:effectLst>
        </p:spPr>
      </p:sp>
      <p:sp>
        <p:nvSpPr>
          <p:cNvPr id="15" name="Shape 11"/>
          <p:cNvSpPr/>
          <p:nvPr/>
        </p:nvSpPr>
        <p:spPr>
          <a:xfrm>
            <a:off x="7196328" y="2148840"/>
            <a:ext cx="566928" cy="566928"/>
          </a:xfrm>
          <a:prstGeom prst="ellipse">
            <a:avLst/>
          </a:prstGeom>
          <a:solidFill>
            <a:srgbClr val="1F6459"/>
          </a:solidFill>
          <a:ln/>
        </p:spPr>
      </p:sp>
      <p:pic>
        <p:nvPicPr>
          <p:cNvPr id="16" name="Image 2" descr="/home/user/scm-process-register/docs-src/transformation-types-deck/assets/robot.png">    </p:cNvPr>
          <p:cNvPicPr>
            <a:picLocks noChangeAspect="1"/>
          </p:cNvPicPr>
          <p:nvPr/>
        </p:nvPicPr>
        <p:blipFill>
          <a:blip r:embed="rId3"/>
          <a:stretch>
            <a:fillRect/>
          </a:stretch>
        </p:blipFill>
        <p:spPr>
          <a:xfrm>
            <a:off x="7324344" y="2276856"/>
            <a:ext cx="310896" cy="310896"/>
          </a:xfrm>
          <a:prstGeom prst="rect">
            <a:avLst/>
          </a:prstGeom>
        </p:spPr>
      </p:pic>
      <p:sp>
        <p:nvSpPr>
          <p:cNvPr id="17" name="Text 12"/>
          <p:cNvSpPr/>
          <p:nvPr/>
        </p:nvSpPr>
        <p:spPr>
          <a:xfrm>
            <a:off x="6254496" y="2834640"/>
            <a:ext cx="2450592" cy="548640"/>
          </a:xfrm>
          <a:prstGeom prst="rect">
            <a:avLst/>
          </a:prstGeom>
          <a:noFill/>
          <a:ln/>
        </p:spPr>
        <p:txBody>
          <a:bodyPr wrap="square" rtlCol="0" anchor="t"/>
          <a:lstStyle/>
          <a:p>
            <a:pPr algn="ctr" indent="0" marL="0">
              <a:lnSpc>
                <a:spcPct val="105000"/>
              </a:lnSpc>
              <a:buNone/>
            </a:pPr>
            <a:r>
              <a:rPr lang="en-US" sz="1150" b="1" dirty="0">
                <a:solidFill>
                  <a:srgbClr val="15423A"/>
                </a:solidFill>
                <a:latin typeface="Calibri" pitchFamily="34" charset="0"/>
                <a:ea typeface="Calibri" pitchFamily="34" charset="-122"/>
                <a:cs typeface="Calibri" pitchFamily="34" charset="-120"/>
              </a:rPr>
              <a:t>Business Process Automation</a:t>
            </a:r>
            <a:endParaRPr lang="en-US" sz="1150" dirty="0"/>
          </a:p>
        </p:txBody>
      </p:sp>
      <p:sp>
        <p:nvSpPr>
          <p:cNvPr id="18" name="Text 13"/>
          <p:cNvSpPr/>
          <p:nvPr/>
        </p:nvSpPr>
        <p:spPr>
          <a:xfrm>
            <a:off x="6254496" y="3474720"/>
            <a:ext cx="2450592" cy="274320"/>
          </a:xfrm>
          <a:prstGeom prst="rect">
            <a:avLst/>
          </a:prstGeom>
          <a:noFill/>
          <a:ln/>
        </p:spPr>
        <p:txBody>
          <a:bodyPr wrap="square" rtlCol="0" anchor="ctr"/>
          <a:lstStyle/>
          <a:p>
            <a:pPr algn="ctr" indent="0" marL="0">
              <a:buNone/>
            </a:pPr>
            <a:r>
              <a:rPr lang="en-US" sz="900" b="1" dirty="0">
                <a:solidFill>
                  <a:srgbClr val="5C6D68"/>
                </a:solidFill>
                <a:latin typeface="Calibri" pitchFamily="34" charset="0"/>
                <a:ea typeface="Calibri" pitchFamily="34" charset="-122"/>
                <a:cs typeface="Calibri" pitchFamily="34" charset="-120"/>
              </a:rPr>
              <a:t>TPL-BPA-7</a:t>
            </a:r>
            <a:endParaRPr lang="en-US" sz="900" dirty="0"/>
          </a:p>
        </p:txBody>
      </p:sp>
      <p:sp>
        <p:nvSpPr>
          <p:cNvPr id="19" name="Shape 14"/>
          <p:cNvSpPr/>
          <p:nvPr/>
        </p:nvSpPr>
        <p:spPr>
          <a:xfrm>
            <a:off x="8942832" y="1965960"/>
            <a:ext cx="2670048" cy="1965960"/>
          </a:xfrm>
          <a:prstGeom prst="roundRect">
            <a:avLst>
              <a:gd name="adj" fmla="val 2326"/>
            </a:avLst>
          </a:prstGeom>
          <a:solidFill>
            <a:srgbClr val="EAF2EF"/>
          </a:solidFill>
          <a:ln/>
          <a:effectLst>
            <a:outerShdw sx="100000" sy="100000" kx="0" ky="0" algn="bl" rotWithShape="0" blurRad="208115712800000000" dist="78043392300000000" dir="1.1664e+21">
              <a:srgbClr val="1B2E2B">
                <a:alpha val="18000000000000000000"/>
              </a:srgbClr>
            </a:outerShdw>
          </a:effectLst>
        </p:spPr>
      </p:sp>
      <p:sp>
        <p:nvSpPr>
          <p:cNvPr id="20" name="Shape 15"/>
          <p:cNvSpPr/>
          <p:nvPr/>
        </p:nvSpPr>
        <p:spPr>
          <a:xfrm>
            <a:off x="9994392" y="2148840"/>
            <a:ext cx="566928" cy="566928"/>
          </a:xfrm>
          <a:prstGeom prst="ellipse">
            <a:avLst/>
          </a:prstGeom>
          <a:solidFill>
            <a:srgbClr val="C2661C"/>
          </a:solidFill>
          <a:ln/>
        </p:spPr>
      </p:sp>
      <p:pic>
        <p:nvPicPr>
          <p:cNvPr id="21" name="Image 3" descr="/home/user/scm-process-register/docs-src/transformation-types-deck/assets/certificate.png">    </p:cNvPr>
          <p:cNvPicPr>
            <a:picLocks noChangeAspect="1"/>
          </p:cNvPicPr>
          <p:nvPr/>
        </p:nvPicPr>
        <p:blipFill>
          <a:blip r:embed="rId4"/>
          <a:stretch>
            <a:fillRect/>
          </a:stretch>
        </p:blipFill>
        <p:spPr>
          <a:xfrm>
            <a:off x="10122408" y="2276856"/>
            <a:ext cx="310896" cy="310896"/>
          </a:xfrm>
          <a:prstGeom prst="rect">
            <a:avLst/>
          </a:prstGeom>
        </p:spPr>
      </p:pic>
      <p:sp>
        <p:nvSpPr>
          <p:cNvPr id="22" name="Text 16"/>
          <p:cNvSpPr/>
          <p:nvPr/>
        </p:nvSpPr>
        <p:spPr>
          <a:xfrm>
            <a:off x="9052560" y="2834640"/>
            <a:ext cx="2450592" cy="548640"/>
          </a:xfrm>
          <a:prstGeom prst="rect">
            <a:avLst/>
          </a:prstGeom>
          <a:noFill/>
          <a:ln/>
        </p:spPr>
        <p:txBody>
          <a:bodyPr wrap="square" rtlCol="0" anchor="t"/>
          <a:lstStyle/>
          <a:p>
            <a:pPr algn="ctr" indent="0" marL="0">
              <a:lnSpc>
                <a:spcPct val="105000"/>
              </a:lnSpc>
              <a:buNone/>
            </a:pPr>
            <a:r>
              <a:rPr lang="en-US" sz="1150" b="1" dirty="0">
                <a:solidFill>
                  <a:srgbClr val="15423A"/>
                </a:solidFill>
                <a:latin typeface="Calibri" pitchFamily="34" charset="0"/>
                <a:ea typeface="Calibri" pitchFamily="34" charset="-122"/>
                <a:cs typeface="Calibri" pitchFamily="34" charset="-120"/>
              </a:rPr>
              <a:t>Integrated Management System</a:t>
            </a:r>
            <a:endParaRPr lang="en-US" sz="1150" dirty="0"/>
          </a:p>
        </p:txBody>
      </p:sp>
      <p:sp>
        <p:nvSpPr>
          <p:cNvPr id="23" name="Text 17"/>
          <p:cNvSpPr/>
          <p:nvPr/>
        </p:nvSpPr>
        <p:spPr>
          <a:xfrm>
            <a:off x="9052560" y="3474720"/>
            <a:ext cx="2450592" cy="274320"/>
          </a:xfrm>
          <a:prstGeom prst="rect">
            <a:avLst/>
          </a:prstGeom>
          <a:noFill/>
          <a:ln/>
        </p:spPr>
        <p:txBody>
          <a:bodyPr wrap="square" rtlCol="0" anchor="ctr"/>
          <a:lstStyle/>
          <a:p>
            <a:pPr algn="ctr" indent="0" marL="0">
              <a:buNone/>
            </a:pPr>
            <a:r>
              <a:rPr lang="en-US" sz="900" b="1" dirty="0">
                <a:solidFill>
                  <a:srgbClr val="5C6D68"/>
                </a:solidFill>
                <a:latin typeface="Calibri" pitchFamily="34" charset="0"/>
                <a:ea typeface="Calibri" pitchFamily="34" charset="-122"/>
                <a:cs typeface="Calibri" pitchFamily="34" charset="-120"/>
              </a:rPr>
              <a:t>TPL-IMS-7</a:t>
            </a:r>
            <a:endParaRPr lang="en-US" sz="900" dirty="0"/>
          </a:p>
        </p:txBody>
      </p:sp>
      <p:sp>
        <p:nvSpPr>
          <p:cNvPr id="24" name="Shape 18"/>
          <p:cNvSpPr/>
          <p:nvPr/>
        </p:nvSpPr>
        <p:spPr>
          <a:xfrm>
            <a:off x="548640" y="4096512"/>
            <a:ext cx="2670048" cy="1965960"/>
          </a:xfrm>
          <a:prstGeom prst="roundRect">
            <a:avLst>
              <a:gd name="adj" fmla="val 2326"/>
            </a:avLst>
          </a:prstGeom>
          <a:solidFill>
            <a:srgbClr val="EAF2EF"/>
          </a:solidFill>
          <a:ln/>
          <a:effectLst>
            <a:outerShdw sx="100000" sy="100000" kx="0" ky="0" algn="bl" rotWithShape="0" blurRad="2.64306955256e+21" dist="991151082210000000000" dir="6.9984e+25">
              <a:srgbClr val="1B2E2B">
                <a:alpha val="1.8e+24"/>
              </a:srgbClr>
            </a:outerShdw>
          </a:effectLst>
        </p:spPr>
      </p:sp>
      <p:sp>
        <p:nvSpPr>
          <p:cNvPr id="25" name="Shape 19"/>
          <p:cNvSpPr/>
          <p:nvPr/>
        </p:nvSpPr>
        <p:spPr>
          <a:xfrm>
            <a:off x="1600200" y="4279392"/>
            <a:ext cx="566928" cy="566928"/>
          </a:xfrm>
          <a:prstGeom prst="ellipse">
            <a:avLst/>
          </a:prstGeom>
          <a:solidFill>
            <a:srgbClr val="6B4C8A"/>
          </a:solidFill>
          <a:ln/>
        </p:spPr>
      </p:sp>
      <p:pic>
        <p:nvPicPr>
          <p:cNvPr id="26" name="Image 4" descr="/home/user/scm-process-register/docs-src/transformation-types-deck/assets/people-group.png">    </p:cNvPr>
          <p:cNvPicPr>
            <a:picLocks noChangeAspect="1"/>
          </p:cNvPicPr>
          <p:nvPr/>
        </p:nvPicPr>
        <p:blipFill>
          <a:blip r:embed="rId5"/>
          <a:stretch>
            <a:fillRect/>
          </a:stretch>
        </p:blipFill>
        <p:spPr>
          <a:xfrm>
            <a:off x="1728216" y="4407408"/>
            <a:ext cx="310896" cy="310896"/>
          </a:xfrm>
          <a:prstGeom prst="rect">
            <a:avLst/>
          </a:prstGeom>
        </p:spPr>
      </p:pic>
      <p:sp>
        <p:nvSpPr>
          <p:cNvPr id="27" name="Text 20"/>
          <p:cNvSpPr/>
          <p:nvPr/>
        </p:nvSpPr>
        <p:spPr>
          <a:xfrm>
            <a:off x="658368" y="4965192"/>
            <a:ext cx="2450592" cy="548640"/>
          </a:xfrm>
          <a:prstGeom prst="rect">
            <a:avLst/>
          </a:prstGeom>
          <a:noFill/>
          <a:ln/>
        </p:spPr>
        <p:txBody>
          <a:bodyPr wrap="square" rtlCol="0" anchor="t"/>
          <a:lstStyle/>
          <a:p>
            <a:pPr algn="ctr" indent="0" marL="0">
              <a:lnSpc>
                <a:spcPct val="105000"/>
              </a:lnSpc>
              <a:buNone/>
            </a:pPr>
            <a:r>
              <a:rPr lang="en-US" sz="1150" b="1" dirty="0">
                <a:solidFill>
                  <a:srgbClr val="15423A"/>
                </a:solidFill>
                <a:latin typeface="Calibri" pitchFamily="34" charset="0"/>
                <a:ea typeface="Calibri" pitchFamily="34" charset="-122"/>
                <a:cs typeface="Calibri" pitchFamily="34" charset="-120"/>
              </a:rPr>
              <a:t>Cultural / Values Transformation</a:t>
            </a:r>
            <a:endParaRPr lang="en-US" sz="1150" dirty="0"/>
          </a:p>
        </p:txBody>
      </p:sp>
      <p:sp>
        <p:nvSpPr>
          <p:cNvPr id="28" name="Text 21"/>
          <p:cNvSpPr/>
          <p:nvPr/>
        </p:nvSpPr>
        <p:spPr>
          <a:xfrm>
            <a:off x="658368" y="5605272"/>
            <a:ext cx="2450592" cy="274320"/>
          </a:xfrm>
          <a:prstGeom prst="rect">
            <a:avLst/>
          </a:prstGeom>
          <a:noFill/>
          <a:ln/>
        </p:spPr>
        <p:txBody>
          <a:bodyPr wrap="square" rtlCol="0" anchor="ctr"/>
          <a:lstStyle/>
          <a:p>
            <a:pPr algn="ctr" indent="0" marL="0">
              <a:buNone/>
            </a:pPr>
            <a:r>
              <a:rPr lang="en-US" sz="900" b="1" dirty="0">
                <a:solidFill>
                  <a:srgbClr val="5C6D68"/>
                </a:solidFill>
                <a:latin typeface="Calibri" pitchFamily="34" charset="0"/>
                <a:ea typeface="Calibri" pitchFamily="34" charset="-122"/>
                <a:cs typeface="Calibri" pitchFamily="34" charset="-120"/>
              </a:rPr>
              <a:t>TPL-CULT-7</a:t>
            </a:r>
            <a:endParaRPr lang="en-US" sz="900" dirty="0"/>
          </a:p>
        </p:txBody>
      </p:sp>
      <p:sp>
        <p:nvSpPr>
          <p:cNvPr id="29" name="Shape 22"/>
          <p:cNvSpPr/>
          <p:nvPr/>
        </p:nvSpPr>
        <p:spPr>
          <a:xfrm>
            <a:off x="3346704" y="4096512"/>
            <a:ext cx="2670048" cy="1965960"/>
          </a:xfrm>
          <a:prstGeom prst="roundRect">
            <a:avLst>
              <a:gd name="adj" fmla="val 2326"/>
            </a:avLst>
          </a:prstGeom>
          <a:solidFill>
            <a:srgbClr val="EAF2EF"/>
          </a:solidFill>
          <a:ln/>
          <a:effectLst>
            <a:outerShdw sx="100000" sy="100000" kx="0" ky="0" algn="bl" rotWithShape="0" blurRad="3.3566983317512e+25" dist="1.2587618744067e+25" dir="4.19904e+30">
              <a:srgbClr val="1B2E2B">
                <a:alpha val="1.8e+29"/>
              </a:srgbClr>
            </a:outerShdw>
          </a:effectLst>
        </p:spPr>
      </p:sp>
      <p:sp>
        <p:nvSpPr>
          <p:cNvPr id="30" name="Shape 23"/>
          <p:cNvSpPr/>
          <p:nvPr/>
        </p:nvSpPr>
        <p:spPr>
          <a:xfrm>
            <a:off x="4398264" y="4279392"/>
            <a:ext cx="566928" cy="566928"/>
          </a:xfrm>
          <a:prstGeom prst="ellipse">
            <a:avLst/>
          </a:prstGeom>
          <a:solidFill>
            <a:srgbClr val="2E5F8A"/>
          </a:solidFill>
          <a:ln/>
        </p:spPr>
      </p:sp>
      <p:pic>
        <p:nvPicPr>
          <p:cNvPr id="31" name="Image 5" descr="/home/user/scm-process-register/docs-src/transformation-types-deck/assets/sitemap.png">    </p:cNvPr>
          <p:cNvPicPr>
            <a:picLocks noChangeAspect="1"/>
          </p:cNvPicPr>
          <p:nvPr/>
        </p:nvPicPr>
        <p:blipFill>
          <a:blip r:embed="rId6"/>
          <a:stretch>
            <a:fillRect/>
          </a:stretch>
        </p:blipFill>
        <p:spPr>
          <a:xfrm>
            <a:off x="4526280" y="4407408"/>
            <a:ext cx="310896" cy="310896"/>
          </a:xfrm>
          <a:prstGeom prst="rect">
            <a:avLst/>
          </a:prstGeom>
        </p:spPr>
      </p:pic>
      <p:sp>
        <p:nvSpPr>
          <p:cNvPr id="32" name="Text 24"/>
          <p:cNvSpPr/>
          <p:nvPr/>
        </p:nvSpPr>
        <p:spPr>
          <a:xfrm>
            <a:off x="3456432" y="4965192"/>
            <a:ext cx="2450592" cy="548640"/>
          </a:xfrm>
          <a:prstGeom prst="rect">
            <a:avLst/>
          </a:prstGeom>
          <a:noFill/>
          <a:ln/>
        </p:spPr>
        <p:txBody>
          <a:bodyPr wrap="square" rtlCol="0" anchor="t"/>
          <a:lstStyle/>
          <a:p>
            <a:pPr algn="ctr" indent="0" marL="0">
              <a:lnSpc>
                <a:spcPct val="105000"/>
              </a:lnSpc>
              <a:buNone/>
            </a:pPr>
            <a:r>
              <a:rPr lang="en-US" sz="1150" b="1" dirty="0">
                <a:solidFill>
                  <a:srgbClr val="15423A"/>
                </a:solidFill>
                <a:latin typeface="Calibri" pitchFamily="34" charset="0"/>
                <a:ea typeface="Calibri" pitchFamily="34" charset="-122"/>
                <a:cs typeface="Calibri" pitchFamily="34" charset="-120"/>
              </a:rPr>
              <a:t>Operating Model Redesign</a:t>
            </a:r>
            <a:endParaRPr lang="en-US" sz="1150" dirty="0"/>
          </a:p>
        </p:txBody>
      </p:sp>
      <p:sp>
        <p:nvSpPr>
          <p:cNvPr id="33" name="Text 25"/>
          <p:cNvSpPr/>
          <p:nvPr/>
        </p:nvSpPr>
        <p:spPr>
          <a:xfrm>
            <a:off x="3456432" y="5605272"/>
            <a:ext cx="2450592" cy="274320"/>
          </a:xfrm>
          <a:prstGeom prst="rect">
            <a:avLst/>
          </a:prstGeom>
          <a:noFill/>
          <a:ln/>
        </p:spPr>
        <p:txBody>
          <a:bodyPr wrap="square" rtlCol="0" anchor="ctr"/>
          <a:lstStyle/>
          <a:p>
            <a:pPr algn="ctr" indent="0" marL="0">
              <a:buNone/>
            </a:pPr>
            <a:r>
              <a:rPr lang="en-US" sz="900" b="1" dirty="0">
                <a:solidFill>
                  <a:srgbClr val="5C6D68"/>
                </a:solidFill>
                <a:latin typeface="Calibri" pitchFamily="34" charset="0"/>
                <a:ea typeface="Calibri" pitchFamily="34" charset="-122"/>
                <a:cs typeface="Calibri" pitchFamily="34" charset="-120"/>
              </a:rPr>
              <a:t>TPL-OM-7</a:t>
            </a:r>
            <a:endParaRPr lang="en-US" sz="900" dirty="0"/>
          </a:p>
        </p:txBody>
      </p:sp>
      <p:sp>
        <p:nvSpPr>
          <p:cNvPr id="34" name="Shape 26"/>
          <p:cNvSpPr/>
          <p:nvPr/>
        </p:nvSpPr>
        <p:spPr>
          <a:xfrm>
            <a:off x="6144768" y="4096512"/>
            <a:ext cx="2670048" cy="1965960"/>
          </a:xfrm>
          <a:prstGeom prst="roundRect">
            <a:avLst>
              <a:gd name="adj" fmla="val 2326"/>
            </a:avLst>
          </a:prstGeom>
          <a:solidFill>
            <a:srgbClr val="EAF2EF"/>
          </a:solidFill>
          <a:ln/>
          <a:effectLst>
            <a:outerShdw sx="100000" sy="100000" kx="0" ky="0" algn="bl" rotWithShape="0" blurRad="4.2630068813240236e+29" dist="1.598627580496509e+29" dir="2.519424e+35">
              <a:srgbClr val="1B2E2B">
                <a:alpha val="1.7999999999999998e+34"/>
              </a:srgbClr>
            </a:outerShdw>
          </a:effectLst>
        </p:spPr>
      </p:sp>
      <p:sp>
        <p:nvSpPr>
          <p:cNvPr id="35" name="Shape 27"/>
          <p:cNvSpPr/>
          <p:nvPr/>
        </p:nvSpPr>
        <p:spPr>
          <a:xfrm>
            <a:off x="7196328" y="4279392"/>
            <a:ext cx="566928" cy="566928"/>
          </a:xfrm>
          <a:prstGeom prst="ellipse">
            <a:avLst/>
          </a:prstGeom>
          <a:solidFill>
            <a:srgbClr val="16221F"/>
          </a:solidFill>
          <a:ln/>
        </p:spPr>
      </p:sp>
      <p:pic>
        <p:nvPicPr>
          <p:cNvPr id="36" name="Image 6" descr="/home/user/scm-process-register/docs-src/transformation-types-deck/assets/gavel.png">    </p:cNvPr>
          <p:cNvPicPr>
            <a:picLocks noChangeAspect="1"/>
          </p:cNvPicPr>
          <p:nvPr/>
        </p:nvPicPr>
        <p:blipFill>
          <a:blip r:embed="rId7"/>
          <a:stretch>
            <a:fillRect/>
          </a:stretch>
        </p:blipFill>
        <p:spPr>
          <a:xfrm>
            <a:off x="7324344" y="4407408"/>
            <a:ext cx="310896" cy="310896"/>
          </a:xfrm>
          <a:prstGeom prst="rect">
            <a:avLst/>
          </a:prstGeom>
        </p:spPr>
      </p:pic>
      <p:sp>
        <p:nvSpPr>
          <p:cNvPr id="37" name="Text 28"/>
          <p:cNvSpPr/>
          <p:nvPr/>
        </p:nvSpPr>
        <p:spPr>
          <a:xfrm>
            <a:off x="6254496" y="4965192"/>
            <a:ext cx="2450592" cy="548640"/>
          </a:xfrm>
          <a:prstGeom prst="rect">
            <a:avLst/>
          </a:prstGeom>
          <a:noFill/>
          <a:ln/>
        </p:spPr>
        <p:txBody>
          <a:bodyPr wrap="square" rtlCol="0" anchor="t"/>
          <a:lstStyle/>
          <a:p>
            <a:pPr algn="ctr" indent="0" marL="0">
              <a:lnSpc>
                <a:spcPct val="105000"/>
              </a:lnSpc>
              <a:buNone/>
            </a:pPr>
            <a:r>
              <a:rPr lang="en-US" sz="1150" b="1" dirty="0">
                <a:solidFill>
                  <a:srgbClr val="15423A"/>
                </a:solidFill>
                <a:latin typeface="Calibri" pitchFamily="34" charset="0"/>
                <a:ea typeface="Calibri" pitchFamily="34" charset="-122"/>
                <a:cs typeface="Calibri" pitchFamily="34" charset="-120"/>
              </a:rPr>
              <a:t>Compliance-Driven Change</a:t>
            </a:r>
            <a:endParaRPr lang="en-US" sz="1150" dirty="0"/>
          </a:p>
        </p:txBody>
      </p:sp>
      <p:sp>
        <p:nvSpPr>
          <p:cNvPr id="38" name="Text 29"/>
          <p:cNvSpPr/>
          <p:nvPr/>
        </p:nvSpPr>
        <p:spPr>
          <a:xfrm>
            <a:off x="6254496" y="5605272"/>
            <a:ext cx="2450592" cy="274320"/>
          </a:xfrm>
          <a:prstGeom prst="rect">
            <a:avLst/>
          </a:prstGeom>
          <a:noFill/>
          <a:ln/>
        </p:spPr>
        <p:txBody>
          <a:bodyPr wrap="square" rtlCol="0" anchor="ctr"/>
          <a:lstStyle/>
          <a:p>
            <a:pPr algn="ctr" indent="0" marL="0">
              <a:buNone/>
            </a:pPr>
            <a:r>
              <a:rPr lang="en-US" sz="900" b="1" dirty="0">
                <a:solidFill>
                  <a:srgbClr val="5C6D68"/>
                </a:solidFill>
                <a:latin typeface="Calibri" pitchFamily="34" charset="0"/>
                <a:ea typeface="Calibri" pitchFamily="34" charset="-122"/>
                <a:cs typeface="Calibri" pitchFamily="34" charset="-120"/>
              </a:rPr>
              <a:t>TPL-COMP-7</a:t>
            </a:r>
            <a:endParaRPr lang="en-US" sz="900" dirty="0"/>
          </a:p>
        </p:txBody>
      </p:sp>
      <p:sp>
        <p:nvSpPr>
          <p:cNvPr id="39" name="Shape 30"/>
          <p:cNvSpPr/>
          <p:nvPr/>
        </p:nvSpPr>
        <p:spPr>
          <a:xfrm>
            <a:off x="8942832" y="4096512"/>
            <a:ext cx="2670048" cy="1965960"/>
          </a:xfrm>
          <a:prstGeom prst="roundRect">
            <a:avLst>
              <a:gd name="adj" fmla="val 2326"/>
            </a:avLst>
          </a:prstGeom>
          <a:solidFill>
            <a:srgbClr val="EAF2EF"/>
          </a:solidFill>
          <a:ln/>
          <a:effectLst>
            <a:outerShdw sx="100000" sy="100000" kx="0" ky="0" algn="bl" rotWithShape="0" blurRad="5.41401873928151e+33" dist="2.0302570272305663e+33" dir="1.5116544e+40">
              <a:srgbClr val="1B2E2B">
                <a:alpha val="1.8e+39"/>
              </a:srgbClr>
            </a:outerShdw>
          </a:effectLst>
        </p:spPr>
      </p:sp>
      <p:sp>
        <p:nvSpPr>
          <p:cNvPr id="40" name="Shape 31"/>
          <p:cNvSpPr/>
          <p:nvPr/>
        </p:nvSpPr>
        <p:spPr>
          <a:xfrm>
            <a:off x="9994392" y="4279392"/>
            <a:ext cx="566928" cy="566928"/>
          </a:xfrm>
          <a:prstGeom prst="ellipse">
            <a:avLst/>
          </a:prstGeom>
          <a:solidFill>
            <a:srgbClr val="2C7A6B"/>
          </a:solidFill>
          <a:ln/>
        </p:spPr>
      </p:sp>
      <p:pic>
        <p:nvPicPr>
          <p:cNvPr id="41" name="Image 7" descr="/home/user/scm-process-register/docs-src/transformation-types-deck/assets/graduation-cap.png">    </p:cNvPr>
          <p:cNvPicPr>
            <a:picLocks noChangeAspect="1"/>
          </p:cNvPicPr>
          <p:nvPr/>
        </p:nvPicPr>
        <p:blipFill>
          <a:blip r:embed="rId8"/>
          <a:stretch>
            <a:fillRect/>
          </a:stretch>
        </p:blipFill>
        <p:spPr>
          <a:xfrm>
            <a:off x="10122408" y="4407408"/>
            <a:ext cx="310896" cy="310896"/>
          </a:xfrm>
          <a:prstGeom prst="rect">
            <a:avLst/>
          </a:prstGeom>
        </p:spPr>
      </p:pic>
      <p:sp>
        <p:nvSpPr>
          <p:cNvPr id="42" name="Text 32"/>
          <p:cNvSpPr/>
          <p:nvPr/>
        </p:nvSpPr>
        <p:spPr>
          <a:xfrm>
            <a:off x="9052560" y="4965192"/>
            <a:ext cx="2450592" cy="548640"/>
          </a:xfrm>
          <a:prstGeom prst="rect">
            <a:avLst/>
          </a:prstGeom>
          <a:noFill/>
          <a:ln/>
        </p:spPr>
        <p:txBody>
          <a:bodyPr wrap="square" rtlCol="0" anchor="t"/>
          <a:lstStyle/>
          <a:p>
            <a:pPr algn="ctr" indent="0" marL="0">
              <a:lnSpc>
                <a:spcPct val="105000"/>
              </a:lnSpc>
              <a:buNone/>
            </a:pPr>
            <a:r>
              <a:rPr lang="en-US" sz="1150" b="1" dirty="0">
                <a:solidFill>
                  <a:srgbClr val="15423A"/>
                </a:solidFill>
                <a:latin typeface="Calibri" pitchFamily="34" charset="0"/>
                <a:ea typeface="Calibri" pitchFamily="34" charset="-122"/>
                <a:cs typeface="Calibri" pitchFamily="34" charset="-120"/>
              </a:rPr>
              <a:t>Training &amp; Skills Development</a:t>
            </a:r>
            <a:endParaRPr lang="en-US" sz="1150" dirty="0"/>
          </a:p>
        </p:txBody>
      </p:sp>
      <p:sp>
        <p:nvSpPr>
          <p:cNvPr id="43" name="Text 33"/>
          <p:cNvSpPr/>
          <p:nvPr/>
        </p:nvSpPr>
        <p:spPr>
          <a:xfrm>
            <a:off x="9052560" y="5605272"/>
            <a:ext cx="2450592" cy="274320"/>
          </a:xfrm>
          <a:prstGeom prst="rect">
            <a:avLst/>
          </a:prstGeom>
          <a:noFill/>
          <a:ln/>
        </p:spPr>
        <p:txBody>
          <a:bodyPr wrap="square" rtlCol="0" anchor="ctr"/>
          <a:lstStyle/>
          <a:p>
            <a:pPr algn="ctr" indent="0" marL="0">
              <a:buNone/>
            </a:pPr>
            <a:r>
              <a:rPr lang="en-US" sz="900" b="1" dirty="0">
                <a:solidFill>
                  <a:srgbClr val="5C6D68"/>
                </a:solidFill>
                <a:latin typeface="Calibri" pitchFamily="34" charset="0"/>
                <a:ea typeface="Calibri" pitchFamily="34" charset="-122"/>
                <a:cs typeface="Calibri" pitchFamily="34" charset="-120"/>
              </a:rPr>
              <a:t>TPL-TSD-7</a:t>
            </a:r>
            <a:endParaRPr lang="en-US" sz="900" dirty="0"/>
          </a:p>
        </p:txBody>
      </p:sp>
      <p:sp>
        <p:nvSpPr>
          <p:cNvPr id="44" name="Text 34"/>
          <p:cNvSpPr/>
          <p:nvPr/>
        </p:nvSpPr>
        <p:spPr>
          <a:xfrm>
            <a:off x="548640" y="6528816"/>
            <a:ext cx="73152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The 8 Transformation Types</a:t>
            </a:r>
            <a:endParaRPr lang="en-US" sz="900" dirty="0"/>
          </a:p>
        </p:txBody>
      </p:sp>
      <p:sp>
        <p:nvSpPr>
          <p:cNvPr id="45" name="Text 35"/>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E5F8A"/>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indent="0" marL="0">
              <a:buNone/>
            </a:pPr>
            <a:r>
              <a:rPr lang="en-US" sz="1250" b="1" spc="200" kern="0" dirty="0">
                <a:solidFill>
                  <a:srgbClr val="FFFFFF"/>
                </a:solidFill>
                <a:latin typeface="Calibri" pitchFamily="34" charset="0"/>
                <a:ea typeface="Calibri" pitchFamily="34" charset="-122"/>
                <a:cs typeface="Calibri" pitchFamily="34" charset="-120"/>
              </a:rPr>
              <a:t>TRANSFORMATION TYPE 1 OF 8</a:t>
            </a:r>
            <a:endParaRPr lang="en-US" sz="1250" dirty="0"/>
          </a:p>
        </p:txBody>
      </p:sp>
      <p:sp>
        <p:nvSpPr>
          <p:cNvPr id="3" name="Shape 1"/>
          <p:cNvSpPr/>
          <p:nvPr/>
        </p:nvSpPr>
        <p:spPr>
          <a:xfrm>
            <a:off x="548640" y="868680"/>
            <a:ext cx="868680" cy="868680"/>
          </a:xfrm>
          <a:prstGeom prst="ellipse">
            <a:avLst/>
          </a:prstGeom>
          <a:solidFill>
            <a:srgbClr val="FFFFFF"/>
          </a:solidFill>
          <a:ln/>
        </p:spPr>
      </p:sp>
      <p:pic>
        <p:nvPicPr>
          <p:cNvPr id="4" name="Image 0" descr="/home/user/scm-process-register/docs-src/transformation-types-deck/assets/server.png">    </p:cNvPr>
          <p:cNvPicPr>
            <a:picLocks noChangeAspect="1"/>
          </p:cNvPicPr>
          <p:nvPr/>
        </p:nvPicPr>
        <p:blipFill>
          <a:blip r:embed="rId1"/>
          <a:stretch>
            <a:fillRect/>
          </a:stretch>
        </p:blipFill>
        <p:spPr>
          <a:xfrm>
            <a:off x="731520" y="1051560"/>
            <a:ext cx="502920" cy="502920"/>
          </a:xfrm>
          <a:prstGeom prst="rect">
            <a:avLst/>
          </a:prstGeom>
        </p:spPr>
      </p:pic>
      <p:sp>
        <p:nvSpPr>
          <p:cNvPr id="5" name="Text 2"/>
          <p:cNvSpPr/>
          <p:nvPr/>
        </p:nvSpPr>
        <p:spPr>
          <a:xfrm>
            <a:off x="1691640" y="868680"/>
            <a:ext cx="9144000" cy="86868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ERP Implementation</a:t>
            </a:r>
            <a:endParaRPr lang="en-US" sz="3200" dirty="0"/>
          </a:p>
        </p:txBody>
      </p:sp>
      <p:sp>
        <p:nvSpPr>
          <p:cNvPr id="6" name="Text 3"/>
          <p:cNvSpPr/>
          <p:nvPr/>
        </p:nvSpPr>
        <p:spPr>
          <a:xfrm>
            <a:off x="548640" y="1965960"/>
            <a:ext cx="11064240" cy="868680"/>
          </a:xfrm>
          <a:prstGeom prst="rect">
            <a:avLst/>
          </a:prstGeom>
          <a:noFill/>
          <a:ln/>
        </p:spPr>
        <p:txBody>
          <a:bodyPr wrap="square" rtlCol="0" anchor="ctr"/>
          <a:lstStyle/>
          <a:p>
            <a:pPr indent="0" marL="0">
              <a:lnSpc>
                <a:spcPct val="130000"/>
              </a:lnSpc>
              <a:buNone/>
            </a:pPr>
            <a:r>
              <a:rPr lang="en-US" sz="1550" i="1" dirty="0">
                <a:solidFill>
                  <a:srgbClr val="F0F0F0"/>
                </a:solidFill>
                <a:latin typeface="Calibri" pitchFamily="34" charset="0"/>
                <a:ea typeface="Calibri" pitchFamily="34" charset="-122"/>
                <a:cs typeface="Calibri" pitchFamily="34" charset="-120"/>
              </a:rPr>
              <a:t>A full system cutover across every site at once — the only archetype where all four frameworks matter equally, all the time.</a:t>
            </a:r>
            <a:endParaRPr lang="en-US" sz="1550" dirty="0"/>
          </a:p>
        </p:txBody>
      </p:sp>
      <p:sp>
        <p:nvSpPr>
          <p:cNvPr id="7" name="Shape 4"/>
          <p:cNvSpPr/>
          <p:nvPr/>
        </p:nvSpPr>
        <p:spPr>
          <a:xfrm>
            <a:off x="548640" y="3063240"/>
            <a:ext cx="5349240" cy="2651760"/>
          </a:xfrm>
          <a:prstGeom prst="roundRect">
            <a:avLst>
              <a:gd name="adj" fmla="val 1724"/>
            </a:avLst>
          </a:prstGeom>
          <a:solidFill>
            <a:srgbClr val="FFFFFF"/>
          </a:solidFill>
          <a:ln/>
        </p:spPr>
      </p:sp>
      <p:sp>
        <p:nvSpPr>
          <p:cNvPr id="8" name="Text 5"/>
          <p:cNvSpPr/>
          <p:nvPr/>
        </p:nvSpPr>
        <p:spPr>
          <a:xfrm>
            <a:off x="777240" y="3200400"/>
            <a:ext cx="4846320" cy="274320"/>
          </a:xfrm>
          <a:prstGeom prst="rect">
            <a:avLst/>
          </a:prstGeom>
          <a:noFill/>
          <a:ln/>
        </p:spPr>
        <p:txBody>
          <a:bodyPr wrap="square" rtlCol="0" anchor="ctr"/>
          <a:lstStyle/>
          <a:p>
            <a:pPr indent="0" marL="0">
              <a:buNone/>
            </a:pPr>
            <a:r>
              <a:rPr lang="en-US" sz="1050" b="1" spc="100" kern="0" dirty="0">
                <a:solidFill>
                  <a:srgbClr val="2E5F8A"/>
                </a:solidFill>
                <a:latin typeface="Calibri" pitchFamily="34" charset="0"/>
                <a:ea typeface="Calibri" pitchFamily="34" charset="-122"/>
                <a:cs typeface="Calibri" pitchFamily="34" charset="-120"/>
              </a:rPr>
              <a:t>BUSINESS DRIVER</a:t>
            </a:r>
            <a:endParaRPr lang="en-US" sz="1050" dirty="0"/>
          </a:p>
        </p:txBody>
      </p:sp>
      <p:sp>
        <p:nvSpPr>
          <p:cNvPr id="9" name="Text 6"/>
          <p:cNvSpPr/>
          <p:nvPr/>
        </p:nvSpPr>
        <p:spPr>
          <a:xfrm>
            <a:off x="777240" y="3520440"/>
            <a:ext cx="4846320" cy="1097280"/>
          </a:xfrm>
          <a:prstGeom prst="rect">
            <a:avLst/>
          </a:prstGeom>
          <a:noFill/>
          <a:ln/>
        </p:spPr>
        <p:txBody>
          <a:bodyPr wrap="square" rtlCol="0" anchor="ctr"/>
          <a:lstStyle/>
          <a:p>
            <a:pPr indent="0" marL="0">
              <a:lnSpc>
                <a:spcPct val="125000"/>
              </a:lnSpc>
              <a:buNone/>
            </a:pPr>
            <a:r>
              <a:rPr lang="en-US" sz="1200" dirty="0">
                <a:solidFill>
                  <a:srgbClr val="16221F"/>
                </a:solidFill>
                <a:latin typeface="Calibri" pitchFamily="34" charset="0"/>
                <a:ea typeface="Calibri" pitchFamily="34" charset="-122"/>
                <a:cs typeface="Calibri" pitchFamily="34" charset="-120"/>
              </a:rPr>
              <a:t>Replacing fragmented, manual, or legacy tooling with one integrated system of record across every site and function.</a:t>
            </a:r>
            <a:endParaRPr lang="en-US" sz="1200" dirty="0"/>
          </a:p>
        </p:txBody>
      </p:sp>
      <p:sp>
        <p:nvSpPr>
          <p:cNvPr id="10" name="Text 7"/>
          <p:cNvSpPr/>
          <p:nvPr/>
        </p:nvSpPr>
        <p:spPr>
          <a:xfrm>
            <a:off x="777240" y="4709160"/>
            <a:ext cx="4846320" cy="274320"/>
          </a:xfrm>
          <a:prstGeom prst="rect">
            <a:avLst/>
          </a:prstGeom>
          <a:noFill/>
          <a:ln/>
        </p:spPr>
        <p:txBody>
          <a:bodyPr wrap="square" rtlCol="0" anchor="ctr"/>
          <a:lstStyle/>
          <a:p>
            <a:pPr indent="0" marL="0">
              <a:buNone/>
            </a:pPr>
            <a:r>
              <a:rPr lang="en-US" sz="1050" b="1" spc="100" kern="0" dirty="0">
                <a:solidFill>
                  <a:srgbClr val="2E5F8A"/>
                </a:solidFill>
                <a:latin typeface="Calibri" pitchFamily="34" charset="0"/>
                <a:ea typeface="Calibri" pitchFamily="34" charset="-122"/>
                <a:cs typeface="Calibri" pitchFamily="34" charset="-120"/>
              </a:rPr>
              <a:t>TARGET POPULATION PATTERN</a:t>
            </a:r>
            <a:endParaRPr lang="en-US" sz="1050" dirty="0"/>
          </a:p>
        </p:txBody>
      </p:sp>
      <p:sp>
        <p:nvSpPr>
          <p:cNvPr id="11" name="Text 8"/>
          <p:cNvSpPr/>
          <p:nvPr/>
        </p:nvSpPr>
        <p:spPr>
          <a:xfrm>
            <a:off x="777240" y="5029200"/>
            <a:ext cx="4846320" cy="640080"/>
          </a:xfrm>
          <a:prstGeom prst="rect">
            <a:avLst/>
          </a:prstGeom>
          <a:noFill/>
          <a:ln/>
        </p:spPr>
        <p:txBody>
          <a:bodyPr wrap="square" rtlCol="0" anchor="ctr"/>
          <a:lstStyle/>
          <a:p>
            <a:pPr indent="0" marL="0">
              <a:lnSpc>
                <a:spcPct val="120000"/>
              </a:lnSpc>
              <a:buNone/>
            </a:pPr>
            <a:r>
              <a:rPr lang="en-US" sz="1150" dirty="0">
                <a:solidFill>
                  <a:srgbClr val="16221F"/>
                </a:solidFill>
                <a:latin typeface="Calibri" pitchFamily="34" charset="0"/>
                <a:ea typeface="Calibri" pitchFamily="34" charset="-122"/>
                <a:cs typeface="Calibri" pitchFamily="34" charset="-120"/>
              </a:rPr>
              <a:t>The broadest population of any archetype — every user of the system being replaced, across every site.</a:t>
            </a:r>
            <a:endParaRPr lang="en-US" sz="1150" dirty="0"/>
          </a:p>
        </p:txBody>
      </p:sp>
      <p:sp>
        <p:nvSpPr>
          <p:cNvPr id="12" name="Shape 9"/>
          <p:cNvSpPr/>
          <p:nvPr/>
        </p:nvSpPr>
        <p:spPr>
          <a:xfrm>
            <a:off x="6080760" y="3063240"/>
            <a:ext cx="5532120" cy="2651760"/>
          </a:xfrm>
          <a:prstGeom prst="roundRect">
            <a:avLst>
              <a:gd name="adj" fmla="val 1724"/>
            </a:avLst>
          </a:prstGeom>
          <a:solidFill>
            <a:srgbClr val="FFFFFF"/>
          </a:solidFill>
          <a:ln/>
        </p:spPr>
      </p:sp>
      <p:sp>
        <p:nvSpPr>
          <p:cNvPr id="13" name="Text 10"/>
          <p:cNvSpPr/>
          <p:nvPr/>
        </p:nvSpPr>
        <p:spPr>
          <a:xfrm>
            <a:off x="6309360" y="3200400"/>
            <a:ext cx="5074920" cy="274320"/>
          </a:xfrm>
          <a:prstGeom prst="rect">
            <a:avLst/>
          </a:prstGeom>
          <a:noFill/>
          <a:ln/>
        </p:spPr>
        <p:txBody>
          <a:bodyPr wrap="square" rtlCol="0" anchor="ctr"/>
          <a:lstStyle/>
          <a:p>
            <a:pPr indent="0" marL="0">
              <a:buNone/>
            </a:pPr>
            <a:r>
              <a:rPr lang="en-US" sz="1050" b="1" spc="100" kern="0" dirty="0">
                <a:solidFill>
                  <a:srgbClr val="2E5F8A"/>
                </a:solidFill>
                <a:latin typeface="Calibri" pitchFamily="34" charset="0"/>
                <a:ea typeface="Calibri" pitchFamily="34" charset="-122"/>
                <a:cs typeface="Calibri" pitchFamily="34" charset="-120"/>
              </a:rPr>
              <a:t>PHASE TEMPLATE</a:t>
            </a:r>
            <a:endParaRPr lang="en-US" sz="1050" dirty="0"/>
          </a:p>
        </p:txBody>
      </p:sp>
      <p:sp>
        <p:nvSpPr>
          <p:cNvPr id="14" name="Text 11"/>
          <p:cNvSpPr/>
          <p:nvPr/>
        </p:nvSpPr>
        <p:spPr>
          <a:xfrm>
            <a:off x="6309360" y="3520440"/>
            <a:ext cx="5074920" cy="365760"/>
          </a:xfrm>
          <a:prstGeom prst="rect">
            <a:avLst/>
          </a:prstGeom>
          <a:noFill/>
          <a:ln/>
        </p:spPr>
        <p:txBody>
          <a:bodyPr wrap="square" rtlCol="0" anchor="ctr"/>
          <a:lstStyle/>
          <a:p>
            <a:pPr indent="0" marL="0">
              <a:buNone/>
            </a:pPr>
            <a:r>
              <a:rPr lang="en-US" sz="1300" b="1" dirty="0">
                <a:solidFill>
                  <a:srgbClr val="16221F"/>
                </a:solidFill>
                <a:latin typeface="Calibri" pitchFamily="34" charset="0"/>
                <a:ea typeface="Calibri" pitchFamily="34" charset="-122"/>
                <a:cs typeface="Calibri" pitchFamily="34" charset="-120"/>
              </a:rPr>
              <a:t>TPL-ERP-8 — 8 phases</a:t>
            </a:r>
            <a:endParaRPr lang="en-US" sz="1300" dirty="0"/>
          </a:p>
        </p:txBody>
      </p:sp>
      <p:sp>
        <p:nvSpPr>
          <p:cNvPr id="15" name="Text 12"/>
          <p:cNvSpPr/>
          <p:nvPr/>
        </p:nvSpPr>
        <p:spPr>
          <a:xfrm>
            <a:off x="6309360" y="3977640"/>
            <a:ext cx="5074920" cy="274320"/>
          </a:xfrm>
          <a:prstGeom prst="rect">
            <a:avLst/>
          </a:prstGeom>
          <a:noFill/>
          <a:ln/>
        </p:spPr>
        <p:txBody>
          <a:bodyPr wrap="square" rtlCol="0" anchor="ctr"/>
          <a:lstStyle/>
          <a:p>
            <a:pPr indent="0" marL="0">
              <a:buNone/>
            </a:pPr>
            <a:r>
              <a:rPr lang="en-US" sz="1080" dirty="0">
                <a:solidFill>
                  <a:srgbClr val="16221F"/>
                </a:solidFill>
                <a:latin typeface="Calibri" pitchFamily="34" charset="0"/>
                <a:ea typeface="Calibri" pitchFamily="34" charset="-122"/>
                <a:cs typeface="Calibri" pitchFamily="34" charset="-120"/>
              </a:rPr>
              <a:t>1. Discovery</a:t>
            </a:r>
            <a:endParaRPr lang="en-US" sz="1080" dirty="0"/>
          </a:p>
        </p:txBody>
      </p:sp>
      <p:sp>
        <p:nvSpPr>
          <p:cNvPr id="16" name="Text 13"/>
          <p:cNvSpPr/>
          <p:nvPr/>
        </p:nvSpPr>
        <p:spPr>
          <a:xfrm>
            <a:off x="6309360" y="4270248"/>
            <a:ext cx="5074920" cy="274320"/>
          </a:xfrm>
          <a:prstGeom prst="rect">
            <a:avLst/>
          </a:prstGeom>
          <a:noFill/>
          <a:ln/>
        </p:spPr>
        <p:txBody>
          <a:bodyPr wrap="square" rtlCol="0" anchor="ctr"/>
          <a:lstStyle/>
          <a:p>
            <a:pPr indent="0" marL="0">
              <a:buNone/>
            </a:pPr>
            <a:r>
              <a:rPr lang="en-US" sz="1080" dirty="0">
                <a:solidFill>
                  <a:srgbClr val="16221F"/>
                </a:solidFill>
                <a:latin typeface="Calibri" pitchFamily="34" charset="0"/>
                <a:ea typeface="Calibri" pitchFamily="34" charset="-122"/>
                <a:cs typeface="Calibri" pitchFamily="34" charset="-120"/>
              </a:rPr>
              <a:t>2. Design</a:t>
            </a:r>
            <a:endParaRPr lang="en-US" sz="1080" dirty="0"/>
          </a:p>
        </p:txBody>
      </p:sp>
      <p:sp>
        <p:nvSpPr>
          <p:cNvPr id="17" name="Text 14"/>
          <p:cNvSpPr/>
          <p:nvPr/>
        </p:nvSpPr>
        <p:spPr>
          <a:xfrm>
            <a:off x="6309360" y="4562856"/>
            <a:ext cx="5074920" cy="274320"/>
          </a:xfrm>
          <a:prstGeom prst="rect">
            <a:avLst/>
          </a:prstGeom>
          <a:noFill/>
          <a:ln/>
        </p:spPr>
        <p:txBody>
          <a:bodyPr wrap="square" rtlCol="0" anchor="ctr"/>
          <a:lstStyle/>
          <a:p>
            <a:pPr indent="0" marL="0">
              <a:buNone/>
            </a:pPr>
            <a:r>
              <a:rPr lang="en-US" sz="1080" dirty="0">
                <a:solidFill>
                  <a:srgbClr val="16221F"/>
                </a:solidFill>
                <a:latin typeface="Calibri" pitchFamily="34" charset="0"/>
                <a:ea typeface="Calibri" pitchFamily="34" charset="-122"/>
                <a:cs typeface="Calibri" pitchFamily="34" charset="-120"/>
              </a:rPr>
              <a:t>3. Build</a:t>
            </a:r>
            <a:endParaRPr lang="en-US" sz="1080" dirty="0"/>
          </a:p>
        </p:txBody>
      </p:sp>
      <p:sp>
        <p:nvSpPr>
          <p:cNvPr id="18" name="Text 15"/>
          <p:cNvSpPr/>
          <p:nvPr/>
        </p:nvSpPr>
        <p:spPr>
          <a:xfrm>
            <a:off x="6309360" y="4855464"/>
            <a:ext cx="5074920" cy="274320"/>
          </a:xfrm>
          <a:prstGeom prst="rect">
            <a:avLst/>
          </a:prstGeom>
          <a:noFill/>
          <a:ln/>
        </p:spPr>
        <p:txBody>
          <a:bodyPr wrap="square" rtlCol="0" anchor="ctr"/>
          <a:lstStyle/>
          <a:p>
            <a:pPr indent="0" marL="0">
              <a:buNone/>
            </a:pPr>
            <a:r>
              <a:rPr lang="en-US" sz="1080" dirty="0">
                <a:solidFill>
                  <a:srgbClr val="16221F"/>
                </a:solidFill>
                <a:latin typeface="Calibri" pitchFamily="34" charset="0"/>
                <a:ea typeface="Calibri" pitchFamily="34" charset="-122"/>
                <a:cs typeface="Calibri" pitchFamily="34" charset="-120"/>
              </a:rPr>
              <a:t>4. Test</a:t>
            </a:r>
            <a:endParaRPr lang="en-US" sz="1080" dirty="0"/>
          </a:p>
        </p:txBody>
      </p:sp>
      <p:sp>
        <p:nvSpPr>
          <p:cNvPr id="19" name="Text 16"/>
          <p:cNvSpPr/>
          <p:nvPr/>
        </p:nvSpPr>
        <p:spPr>
          <a:xfrm>
            <a:off x="6309360" y="5193792"/>
            <a:ext cx="5074920" cy="274320"/>
          </a:xfrm>
          <a:prstGeom prst="rect">
            <a:avLst/>
          </a:prstGeom>
          <a:noFill/>
          <a:ln/>
        </p:spPr>
        <p:txBody>
          <a:bodyPr wrap="square" rtlCol="0" anchor="ctr"/>
          <a:lstStyle/>
          <a:p>
            <a:pPr indent="0" marL="0">
              <a:buNone/>
            </a:pPr>
            <a:r>
              <a:rPr lang="en-US" sz="1000" i="1" dirty="0">
                <a:solidFill>
                  <a:srgbClr val="5C6D68"/>
                </a:solidFill>
                <a:latin typeface="Calibri" pitchFamily="34" charset="0"/>
                <a:ea typeface="Calibri" pitchFamily="34" charset="-122"/>
                <a:cs typeface="Calibri" pitchFamily="34" charset="-120"/>
              </a:rPr>
              <a:t>… 4 more (next slide)</a:t>
            </a:r>
            <a:endParaRPr lang="en-US" sz="1000" dirty="0"/>
          </a:p>
        </p:txBody>
      </p:sp>
      <p:sp>
        <p:nvSpPr>
          <p:cNvPr id="20" name="Text 17"/>
          <p:cNvSpPr/>
          <p:nvPr/>
        </p:nvSpPr>
        <p:spPr>
          <a:xfrm>
            <a:off x="548640" y="6528816"/>
            <a:ext cx="7315200" cy="274320"/>
          </a:xfrm>
          <a:prstGeom prst="rect">
            <a:avLst/>
          </a:prstGeom>
          <a:noFill/>
          <a:ln/>
        </p:spPr>
        <p:txBody>
          <a:bodyPr wrap="square" rtlCol="0" anchor="ctr"/>
          <a:lstStyle/>
          <a:p>
            <a:pPr algn="l" indent="0" marL="0">
              <a:buNone/>
            </a:pPr>
            <a:r>
              <a:rPr lang="en-US" sz="900" dirty="0">
                <a:solidFill>
                  <a:srgbClr val="CFE3DD"/>
                </a:solidFill>
                <a:latin typeface="Calibri" pitchFamily="34" charset="0"/>
                <a:ea typeface="Calibri" pitchFamily="34" charset="-122"/>
                <a:cs typeface="Calibri" pitchFamily="34" charset="-120"/>
              </a:rPr>
              <a:t>journi — The 8 Transformation Types</a:t>
            </a:r>
            <a:endParaRPr lang="en-US" sz="900" dirty="0"/>
          </a:p>
        </p:txBody>
      </p:sp>
      <p:sp>
        <p:nvSpPr>
          <p:cNvPr id="21" name="Text 18"/>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CFE3DD"/>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ERP · JOURNI PHASE TEMPLATE</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200" b="1" dirty="0">
                <a:solidFill>
                  <a:srgbClr val="2E5F8A"/>
                </a:solidFill>
                <a:latin typeface="Calibri" pitchFamily="34" charset="0"/>
                <a:ea typeface="Calibri" pitchFamily="34" charset="-122"/>
                <a:cs typeface="Calibri" pitchFamily="34" charset="-120"/>
              </a:rPr>
              <a:t>TPL-ERP-8: 8 Phases, In Order</a:t>
            </a:r>
            <a:endParaRPr lang="en-US" sz="2200" dirty="0"/>
          </a:p>
        </p:txBody>
      </p:sp>
      <p:sp>
        <p:nvSpPr>
          <p:cNvPr id="4" name="Shape 2"/>
          <p:cNvSpPr/>
          <p:nvPr/>
        </p:nvSpPr>
        <p:spPr>
          <a:xfrm>
            <a:off x="548640" y="2103120"/>
            <a:ext cx="2697480" cy="566928"/>
          </a:xfrm>
          <a:prstGeom prst="chevron">
            <a:avLst/>
          </a:prstGeom>
          <a:solidFill>
            <a:srgbClr val="2E5F8A"/>
          </a:solidFill>
          <a:ln/>
        </p:spPr>
      </p:sp>
      <p:sp>
        <p:nvSpPr>
          <p:cNvPr id="5" name="Text 3"/>
          <p:cNvSpPr/>
          <p:nvPr/>
        </p:nvSpPr>
        <p:spPr>
          <a:xfrm>
            <a:off x="594360" y="2103120"/>
            <a:ext cx="260604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Discovery</a:t>
            </a:r>
            <a:endParaRPr lang="en-US" sz="950" dirty="0"/>
          </a:p>
        </p:txBody>
      </p:sp>
      <p:sp>
        <p:nvSpPr>
          <p:cNvPr id="6" name="Shape 4"/>
          <p:cNvSpPr/>
          <p:nvPr/>
        </p:nvSpPr>
        <p:spPr>
          <a:xfrm>
            <a:off x="3337560" y="2103120"/>
            <a:ext cx="2697480" cy="566928"/>
          </a:xfrm>
          <a:prstGeom prst="chevron">
            <a:avLst/>
          </a:prstGeom>
          <a:solidFill>
            <a:srgbClr val="2E5F8A"/>
          </a:solidFill>
          <a:ln/>
        </p:spPr>
      </p:sp>
      <p:sp>
        <p:nvSpPr>
          <p:cNvPr id="7" name="Text 5"/>
          <p:cNvSpPr/>
          <p:nvPr/>
        </p:nvSpPr>
        <p:spPr>
          <a:xfrm>
            <a:off x="3383280" y="2103120"/>
            <a:ext cx="260604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Design</a:t>
            </a:r>
            <a:endParaRPr lang="en-US" sz="950" dirty="0"/>
          </a:p>
        </p:txBody>
      </p:sp>
      <p:sp>
        <p:nvSpPr>
          <p:cNvPr id="8" name="Shape 6"/>
          <p:cNvSpPr/>
          <p:nvPr/>
        </p:nvSpPr>
        <p:spPr>
          <a:xfrm>
            <a:off x="6126480" y="2103120"/>
            <a:ext cx="2697480" cy="566928"/>
          </a:xfrm>
          <a:prstGeom prst="chevron">
            <a:avLst/>
          </a:prstGeom>
          <a:solidFill>
            <a:srgbClr val="2E5F8A"/>
          </a:solidFill>
          <a:ln/>
        </p:spPr>
      </p:sp>
      <p:sp>
        <p:nvSpPr>
          <p:cNvPr id="9" name="Text 7"/>
          <p:cNvSpPr/>
          <p:nvPr/>
        </p:nvSpPr>
        <p:spPr>
          <a:xfrm>
            <a:off x="6172200" y="2103120"/>
            <a:ext cx="260604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Build</a:t>
            </a:r>
            <a:endParaRPr lang="en-US" sz="950" dirty="0"/>
          </a:p>
        </p:txBody>
      </p:sp>
      <p:sp>
        <p:nvSpPr>
          <p:cNvPr id="10" name="Shape 8"/>
          <p:cNvSpPr/>
          <p:nvPr/>
        </p:nvSpPr>
        <p:spPr>
          <a:xfrm>
            <a:off x="8915400" y="2103120"/>
            <a:ext cx="2697480" cy="566928"/>
          </a:xfrm>
          <a:prstGeom prst="chevron">
            <a:avLst/>
          </a:prstGeom>
          <a:solidFill>
            <a:srgbClr val="2E5F8A"/>
          </a:solidFill>
          <a:ln/>
        </p:spPr>
      </p:sp>
      <p:sp>
        <p:nvSpPr>
          <p:cNvPr id="11" name="Text 9"/>
          <p:cNvSpPr/>
          <p:nvPr/>
        </p:nvSpPr>
        <p:spPr>
          <a:xfrm>
            <a:off x="8961120" y="2103120"/>
            <a:ext cx="260604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4. Test</a:t>
            </a:r>
            <a:endParaRPr lang="en-US" sz="950" dirty="0"/>
          </a:p>
        </p:txBody>
      </p:sp>
      <p:sp>
        <p:nvSpPr>
          <p:cNvPr id="12" name="Shape 10"/>
          <p:cNvSpPr/>
          <p:nvPr/>
        </p:nvSpPr>
        <p:spPr>
          <a:xfrm>
            <a:off x="548640" y="2798064"/>
            <a:ext cx="2697480" cy="566928"/>
          </a:xfrm>
          <a:prstGeom prst="chevron">
            <a:avLst/>
          </a:prstGeom>
          <a:solidFill>
            <a:srgbClr val="2E5F8A"/>
          </a:solidFill>
          <a:ln/>
        </p:spPr>
      </p:sp>
      <p:sp>
        <p:nvSpPr>
          <p:cNvPr id="13" name="Text 11"/>
          <p:cNvSpPr/>
          <p:nvPr/>
        </p:nvSpPr>
        <p:spPr>
          <a:xfrm>
            <a:off x="594360" y="2798064"/>
            <a:ext cx="260604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5. Train</a:t>
            </a:r>
            <a:endParaRPr lang="en-US" sz="950" dirty="0"/>
          </a:p>
        </p:txBody>
      </p:sp>
      <p:sp>
        <p:nvSpPr>
          <p:cNvPr id="14" name="Shape 12"/>
          <p:cNvSpPr/>
          <p:nvPr/>
        </p:nvSpPr>
        <p:spPr>
          <a:xfrm>
            <a:off x="3337560" y="2798064"/>
            <a:ext cx="2697480" cy="566928"/>
          </a:xfrm>
          <a:prstGeom prst="chevron">
            <a:avLst/>
          </a:prstGeom>
          <a:solidFill>
            <a:srgbClr val="2E5F8A"/>
          </a:solidFill>
          <a:ln/>
        </p:spPr>
      </p:sp>
      <p:sp>
        <p:nvSpPr>
          <p:cNvPr id="15" name="Text 13"/>
          <p:cNvSpPr/>
          <p:nvPr/>
        </p:nvSpPr>
        <p:spPr>
          <a:xfrm>
            <a:off x="3383280" y="2798064"/>
            <a:ext cx="260604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6. Deploy</a:t>
            </a:r>
            <a:endParaRPr lang="en-US" sz="950" dirty="0"/>
          </a:p>
        </p:txBody>
      </p:sp>
      <p:sp>
        <p:nvSpPr>
          <p:cNvPr id="16" name="Shape 14"/>
          <p:cNvSpPr/>
          <p:nvPr/>
        </p:nvSpPr>
        <p:spPr>
          <a:xfrm>
            <a:off x="6126480" y="2798064"/>
            <a:ext cx="2697480" cy="566928"/>
          </a:xfrm>
          <a:prstGeom prst="chevron">
            <a:avLst/>
          </a:prstGeom>
          <a:solidFill>
            <a:srgbClr val="2E5F8A"/>
          </a:solidFill>
          <a:ln/>
        </p:spPr>
      </p:sp>
      <p:sp>
        <p:nvSpPr>
          <p:cNvPr id="17" name="Text 15"/>
          <p:cNvSpPr/>
          <p:nvPr/>
        </p:nvSpPr>
        <p:spPr>
          <a:xfrm>
            <a:off x="6172200" y="2798064"/>
            <a:ext cx="260604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7. Hypercare</a:t>
            </a:r>
            <a:endParaRPr lang="en-US" sz="950" dirty="0"/>
          </a:p>
        </p:txBody>
      </p:sp>
      <p:sp>
        <p:nvSpPr>
          <p:cNvPr id="18" name="Shape 16"/>
          <p:cNvSpPr/>
          <p:nvPr/>
        </p:nvSpPr>
        <p:spPr>
          <a:xfrm>
            <a:off x="8915400" y="2798064"/>
            <a:ext cx="2697480" cy="566928"/>
          </a:xfrm>
          <a:prstGeom prst="chevron">
            <a:avLst/>
          </a:prstGeom>
          <a:solidFill>
            <a:srgbClr val="2E5F8A"/>
          </a:solidFill>
          <a:ln/>
        </p:spPr>
      </p:sp>
      <p:sp>
        <p:nvSpPr>
          <p:cNvPr id="19" name="Text 17"/>
          <p:cNvSpPr/>
          <p:nvPr/>
        </p:nvSpPr>
        <p:spPr>
          <a:xfrm>
            <a:off x="8961120" y="2798064"/>
            <a:ext cx="260604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8. Sustain</a:t>
            </a:r>
            <a:endParaRPr lang="en-US" sz="950" dirty="0"/>
          </a:p>
        </p:txBody>
      </p:sp>
      <p:sp>
        <p:nvSpPr>
          <p:cNvPr id="20" name="Text 18"/>
          <p:cNvSpPr/>
          <p:nvPr/>
        </p:nvSpPr>
        <p:spPr>
          <a:xfrm>
            <a:off x="548640" y="3950208"/>
            <a:ext cx="11064240" cy="2194560"/>
          </a:xfrm>
          <a:prstGeom prst="rect">
            <a:avLst/>
          </a:prstGeom>
          <a:noFill/>
          <a:ln/>
        </p:spPr>
        <p:txBody>
          <a:bodyPr wrap="square" rtlCol="0" anchor="ctr"/>
          <a:lstStyle/>
          <a:p>
            <a:pPr indent="0" marL="0">
              <a:lnSpc>
                <a:spcPct val="130000"/>
              </a:lnSpc>
              <a:buNone/>
            </a:pPr>
            <a:r>
              <a:rPr lang="en-US" sz="1300" dirty="0">
                <a:solidFill>
                  <a:srgbClr val="16221F"/>
                </a:solidFill>
                <a:latin typeface="Calibri" pitchFamily="34" charset="0"/>
                <a:ea typeface="Calibri" pitchFamily="34" charset="-122"/>
                <a:cs typeface="Calibri" pitchFamily="34" charset="-120"/>
              </a:rPr>
              <a:t>ADKAR + Lewin dominate equally. A system cutover needs organizational readiness (Lewin's Change → Refreeze) and individual capability (ADKAR's Knowledge/Ability) at the same time — neither alone is sufficient, and this is the only archetype where that is true throughout, not just at one phase.</a:t>
            </a:r>
            <a:endParaRPr lang="en-US" sz="1300" dirty="0"/>
          </a:p>
        </p:txBody>
      </p:sp>
      <p:sp>
        <p:nvSpPr>
          <p:cNvPr id="21" name="Text 19"/>
          <p:cNvSpPr/>
          <p:nvPr/>
        </p:nvSpPr>
        <p:spPr>
          <a:xfrm>
            <a:off x="548640" y="3630168"/>
            <a:ext cx="11064240" cy="274320"/>
          </a:xfrm>
          <a:prstGeom prst="rect">
            <a:avLst/>
          </a:prstGeom>
          <a:noFill/>
          <a:ln/>
        </p:spPr>
        <p:txBody>
          <a:bodyPr wrap="square" rtlCol="0" anchor="ctr"/>
          <a:lstStyle/>
          <a:p>
            <a:pPr indent="0" marL="0">
              <a:buNone/>
            </a:pPr>
            <a:r>
              <a:rPr lang="en-US" sz="1050" b="1" spc="100" kern="0" dirty="0">
                <a:solidFill>
                  <a:srgbClr val="C2661C"/>
                </a:solidFill>
                <a:latin typeface="Calibri" pitchFamily="34" charset="0"/>
                <a:ea typeface="Calibri" pitchFamily="34" charset="-122"/>
                <a:cs typeface="Calibri" pitchFamily="34" charset="-120"/>
              </a:rPr>
              <a:t>FRAMEWORK WEIGHTING FOR THIS ARCHETYPE</a:t>
            </a:r>
            <a:endParaRPr lang="en-US" sz="1050" dirty="0"/>
          </a:p>
        </p:txBody>
      </p:sp>
      <p:sp>
        <p:nvSpPr>
          <p:cNvPr id="22" name="Text 20"/>
          <p:cNvSpPr/>
          <p:nvPr/>
        </p:nvSpPr>
        <p:spPr>
          <a:xfrm>
            <a:off x="548640" y="6528816"/>
            <a:ext cx="73152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The 8 Transformation Types</a:t>
            </a:r>
            <a:endParaRPr lang="en-US" sz="900" dirty="0"/>
          </a:p>
        </p:txBody>
      </p:sp>
      <p:sp>
        <p:nvSpPr>
          <p:cNvPr id="23" name="Text 21"/>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ERP · TENANT SETUP</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500" b="1" dirty="0">
                <a:solidFill>
                  <a:srgbClr val="2E5F8A"/>
                </a:solidFill>
                <a:latin typeface="Calibri" pitchFamily="34" charset="0"/>
                <a:ea typeface="Calibri" pitchFamily="34" charset="-122"/>
                <a:cs typeface="Calibri" pitchFamily="34" charset="-120"/>
              </a:rPr>
              <a:t>The RACSI Team for This Case</a:t>
            </a:r>
            <a:endParaRPr lang="en-US" sz="2500" dirty="0"/>
          </a:p>
        </p:txBody>
      </p:sp>
      <p:sp>
        <p:nvSpPr>
          <p:cNvPr id="4" name="Text 2"/>
          <p:cNvSpPr/>
          <p:nvPr/>
        </p:nvSpPr>
        <p:spPr>
          <a:xfrm>
            <a:off x="548640" y="1417320"/>
            <a:ext cx="11064240" cy="457200"/>
          </a:xfrm>
          <a:prstGeom prst="rect">
            <a:avLst/>
          </a:prstGeom>
          <a:noFill/>
          <a:ln/>
        </p:spPr>
        <p:txBody>
          <a:bodyPr wrap="square" rtlCol="0" anchor="t"/>
          <a:lstStyle/>
          <a:p>
            <a:pPr indent="0" marL="0">
              <a:lnSpc>
                <a:spcPct val="115000"/>
              </a:lnSpc>
              <a:buNone/>
            </a:pPr>
            <a:r>
              <a:rPr lang="en-US" sz="1200" dirty="0">
                <a:solidFill>
                  <a:srgbClr val="5C6D68"/>
                </a:solidFill>
                <a:latin typeface="Calibri" pitchFamily="34" charset="0"/>
                <a:ea typeface="Calibri" pitchFamily="34" charset="-122"/>
                <a:cs typeface="Calibri" pitchFamily="34" charset="-120"/>
              </a:rPr>
              <a:t>journi's 7-code RACSI role taxonomy (ES/CM/PM/FPO/ITL/SUP/EU), assigned to real, named accounts for this program.</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11064240" cy="914400"/>
        </p:xfrm>
        <a:graphic>
          <a:graphicData uri="http://schemas.openxmlformats.org/drawingml/2006/table">
            <a:tbl>
              <a:tblPr/>
              <a:tblGrid>
                <a:gridCol w="3108960"/>
                <a:gridCol w="1645920"/>
                <a:gridCol w="6309360"/>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Name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2E5F8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RACSI Code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2E5F8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Role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2E5F8A"/>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CFO, Bouregreg Group</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ES</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Sponsor</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Driss El Amrani</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CM</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Change Manager — owns day-to-day program execution</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Ghita Bennis</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PM</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Practitioner / Contributor — PM-track coordination</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Houda Zerouali</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FPO</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People Manager</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Reda Loukili</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EU</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Employee</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bl>
          </a:graphicData>
        </a:graphic>
      </p:graphicFrame>
      <p:sp>
        <p:nvSpPr>
          <p:cNvPr id="6" name="Text 3"/>
          <p:cNvSpPr/>
          <p:nvPr/>
        </p:nvSpPr>
        <p:spPr>
          <a:xfrm>
            <a:off x="548640" y="6528816"/>
            <a:ext cx="73152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The 8 Transformation Types</a:t>
            </a:r>
            <a:endParaRPr lang="en-US" sz="900" dirty="0"/>
          </a:p>
        </p:txBody>
      </p:sp>
      <p:sp>
        <p:nvSpPr>
          <p:cNvPr id="7" name="Text 4"/>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ERP · JOURNI MODULES</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400" b="1" dirty="0">
                <a:solidFill>
                  <a:srgbClr val="2E5F8A"/>
                </a:solidFill>
                <a:latin typeface="Calibri" pitchFamily="34" charset="0"/>
                <a:ea typeface="Calibri" pitchFamily="34" charset="-122"/>
                <a:cs typeface="Calibri" pitchFamily="34" charset="-120"/>
              </a:rPr>
              <a:t>Which modules dominate this archetype</a:t>
            </a:r>
            <a:endParaRPr lang="en-US" sz="2400" dirty="0"/>
          </a:p>
        </p:txBody>
      </p:sp>
      <p:sp>
        <p:nvSpPr>
          <p:cNvPr id="4" name="Shape 2"/>
          <p:cNvSpPr/>
          <p:nvPr/>
        </p:nvSpPr>
        <p:spPr>
          <a:xfrm>
            <a:off x="548640" y="2057400"/>
            <a:ext cx="11064240" cy="932688"/>
          </a:xfrm>
          <a:prstGeom prst="roundRect">
            <a:avLst>
              <a:gd name="adj" fmla="val 4902"/>
            </a:avLst>
          </a:prstGeom>
          <a:solidFill>
            <a:srgbClr val="EAF2EF"/>
          </a:solidFill>
          <a:ln/>
        </p:spPr>
      </p:sp>
      <p:sp>
        <p:nvSpPr>
          <p:cNvPr id="5" name="Text 3"/>
          <p:cNvSpPr/>
          <p:nvPr/>
        </p:nvSpPr>
        <p:spPr>
          <a:xfrm>
            <a:off x="777240" y="2167128"/>
            <a:ext cx="3200400" cy="713232"/>
          </a:xfrm>
          <a:prstGeom prst="rect">
            <a:avLst/>
          </a:prstGeom>
          <a:noFill/>
          <a:ln/>
        </p:spPr>
        <p:txBody>
          <a:bodyPr wrap="square" rtlCol="0" anchor="ctr"/>
          <a:lstStyle/>
          <a:p>
            <a:pPr indent="0" marL="0">
              <a:lnSpc>
                <a:spcPct val="110000"/>
              </a:lnSpc>
              <a:buNone/>
            </a:pPr>
            <a:r>
              <a:rPr lang="en-US" sz="1300" b="1" dirty="0">
                <a:solidFill>
                  <a:srgbClr val="2E5F8A"/>
                </a:solidFill>
                <a:latin typeface="Calibri" pitchFamily="34" charset="0"/>
                <a:ea typeface="Calibri" pitchFamily="34" charset="-122"/>
                <a:cs typeface="Calibri" pitchFamily="34" charset="-120"/>
              </a:rPr>
              <a:t>M17 (WBS &amp; Gantt)</a:t>
            </a:r>
            <a:endParaRPr lang="en-US" sz="1300" dirty="0"/>
          </a:p>
        </p:txBody>
      </p:sp>
      <p:sp>
        <p:nvSpPr>
          <p:cNvPr id="6" name="Text 4"/>
          <p:cNvSpPr/>
          <p:nvPr/>
        </p:nvSpPr>
        <p:spPr>
          <a:xfrm>
            <a:off x="4069080" y="2167128"/>
            <a:ext cx="7360920" cy="713232"/>
          </a:xfrm>
          <a:prstGeom prst="rect">
            <a:avLst/>
          </a:prstGeom>
          <a:noFill/>
          <a:ln/>
        </p:spPr>
        <p:txBody>
          <a:bodyPr wrap="square" rtlCol="0" anchor="ctr"/>
          <a:lstStyle/>
          <a:p>
            <a:pPr indent="0" marL="0">
              <a:lnSpc>
                <a:spcPct val="120000"/>
              </a:lnSpc>
              <a:buNone/>
            </a:pPr>
            <a:r>
              <a:rPr lang="en-US" sz="1180" dirty="0">
                <a:solidFill>
                  <a:srgbClr val="16221F"/>
                </a:solidFill>
                <a:latin typeface="Calibri" pitchFamily="34" charset="0"/>
                <a:ea typeface="Calibri" pitchFamily="34" charset="-122"/>
                <a:cs typeface="Calibri" pitchFamily="34" charset="-120"/>
              </a:rPr>
              <a:t>The 8-phase TPL-ERP-8 template, the longest and most detailed schedule of any archetype.</a:t>
            </a:r>
            <a:endParaRPr lang="en-US" sz="1180" dirty="0"/>
          </a:p>
        </p:txBody>
      </p:sp>
      <p:sp>
        <p:nvSpPr>
          <p:cNvPr id="7" name="Shape 5"/>
          <p:cNvSpPr/>
          <p:nvPr/>
        </p:nvSpPr>
        <p:spPr>
          <a:xfrm>
            <a:off x="548640" y="3099816"/>
            <a:ext cx="11064240" cy="932688"/>
          </a:xfrm>
          <a:prstGeom prst="roundRect">
            <a:avLst>
              <a:gd name="adj" fmla="val 4902"/>
            </a:avLst>
          </a:prstGeom>
          <a:solidFill>
            <a:srgbClr val="EAF2EF"/>
          </a:solidFill>
          <a:ln/>
        </p:spPr>
      </p:sp>
      <p:sp>
        <p:nvSpPr>
          <p:cNvPr id="8" name="Text 6"/>
          <p:cNvSpPr/>
          <p:nvPr/>
        </p:nvSpPr>
        <p:spPr>
          <a:xfrm>
            <a:off x="777240" y="3209544"/>
            <a:ext cx="3200400" cy="713232"/>
          </a:xfrm>
          <a:prstGeom prst="rect">
            <a:avLst/>
          </a:prstGeom>
          <a:noFill/>
          <a:ln/>
        </p:spPr>
        <p:txBody>
          <a:bodyPr wrap="square" rtlCol="0" anchor="ctr"/>
          <a:lstStyle/>
          <a:p>
            <a:pPr indent="0" marL="0">
              <a:lnSpc>
                <a:spcPct val="110000"/>
              </a:lnSpc>
              <a:buNone/>
            </a:pPr>
            <a:r>
              <a:rPr lang="en-US" sz="1300" b="1" dirty="0">
                <a:solidFill>
                  <a:srgbClr val="2E5F8A"/>
                </a:solidFill>
                <a:latin typeface="Calibri" pitchFamily="34" charset="0"/>
                <a:ea typeface="Calibri" pitchFamily="34" charset="-122"/>
                <a:cs typeface="Calibri" pitchFamily="34" charset="-120"/>
              </a:rPr>
              <a:t>M5 (ADKAR Engine)</a:t>
            </a:r>
            <a:endParaRPr lang="en-US" sz="1300" dirty="0"/>
          </a:p>
        </p:txBody>
      </p:sp>
      <p:sp>
        <p:nvSpPr>
          <p:cNvPr id="9" name="Text 7"/>
          <p:cNvSpPr/>
          <p:nvPr/>
        </p:nvSpPr>
        <p:spPr>
          <a:xfrm>
            <a:off x="4069080" y="3209544"/>
            <a:ext cx="7360920" cy="713232"/>
          </a:xfrm>
          <a:prstGeom prst="rect">
            <a:avLst/>
          </a:prstGeom>
          <a:noFill/>
          <a:ln/>
        </p:spPr>
        <p:txBody>
          <a:bodyPr wrap="square" rtlCol="0" anchor="ctr"/>
          <a:lstStyle/>
          <a:p>
            <a:pPr indent="0" marL="0">
              <a:lnSpc>
                <a:spcPct val="120000"/>
              </a:lnSpc>
              <a:buNone/>
            </a:pPr>
            <a:r>
              <a:rPr lang="en-US" sz="1180" dirty="0">
                <a:solidFill>
                  <a:srgbClr val="16221F"/>
                </a:solidFill>
                <a:latin typeface="Calibri" pitchFamily="34" charset="0"/>
                <a:ea typeface="Calibri" pitchFamily="34" charset="-122"/>
                <a:cs typeface="Calibri" pitchFamily="34" charset="-120"/>
              </a:rPr>
              <a:t>Scored per site/cohort — the direct input to catching site-level divergence (Exception E6).</a:t>
            </a:r>
            <a:endParaRPr lang="en-US" sz="1180" dirty="0"/>
          </a:p>
        </p:txBody>
      </p:sp>
      <p:sp>
        <p:nvSpPr>
          <p:cNvPr id="10" name="Shape 8"/>
          <p:cNvSpPr/>
          <p:nvPr/>
        </p:nvSpPr>
        <p:spPr>
          <a:xfrm>
            <a:off x="548640" y="4142232"/>
            <a:ext cx="11064240" cy="932688"/>
          </a:xfrm>
          <a:prstGeom prst="roundRect">
            <a:avLst>
              <a:gd name="adj" fmla="val 4902"/>
            </a:avLst>
          </a:prstGeom>
          <a:solidFill>
            <a:srgbClr val="EAF2EF"/>
          </a:solidFill>
          <a:ln/>
        </p:spPr>
      </p:sp>
      <p:sp>
        <p:nvSpPr>
          <p:cNvPr id="11" name="Text 9"/>
          <p:cNvSpPr/>
          <p:nvPr/>
        </p:nvSpPr>
        <p:spPr>
          <a:xfrm>
            <a:off x="777240" y="4251960"/>
            <a:ext cx="3200400" cy="713232"/>
          </a:xfrm>
          <a:prstGeom prst="rect">
            <a:avLst/>
          </a:prstGeom>
          <a:noFill/>
          <a:ln/>
        </p:spPr>
        <p:txBody>
          <a:bodyPr wrap="square" rtlCol="0" anchor="ctr"/>
          <a:lstStyle/>
          <a:p>
            <a:pPr indent="0" marL="0">
              <a:lnSpc>
                <a:spcPct val="110000"/>
              </a:lnSpc>
              <a:buNone/>
            </a:pPr>
            <a:r>
              <a:rPr lang="en-US" sz="1300" b="1" dirty="0">
                <a:solidFill>
                  <a:srgbClr val="2E5F8A"/>
                </a:solidFill>
                <a:latin typeface="Calibri" pitchFamily="34" charset="0"/>
                <a:ea typeface="Calibri" pitchFamily="34" charset="-122"/>
                <a:cs typeface="Calibri" pitchFamily="34" charset="-120"/>
              </a:rPr>
              <a:t>M9 (Training)</a:t>
            </a:r>
            <a:endParaRPr lang="en-US" sz="1300" dirty="0"/>
          </a:p>
        </p:txBody>
      </p:sp>
      <p:sp>
        <p:nvSpPr>
          <p:cNvPr id="12" name="Text 10"/>
          <p:cNvSpPr/>
          <p:nvPr/>
        </p:nvSpPr>
        <p:spPr>
          <a:xfrm>
            <a:off x="4069080" y="4251960"/>
            <a:ext cx="7360920" cy="713232"/>
          </a:xfrm>
          <a:prstGeom prst="rect">
            <a:avLst/>
          </a:prstGeom>
          <a:noFill/>
          <a:ln/>
        </p:spPr>
        <p:txBody>
          <a:bodyPr wrap="square" rtlCol="0" anchor="ctr"/>
          <a:lstStyle/>
          <a:p>
            <a:pPr indent="0" marL="0">
              <a:lnSpc>
                <a:spcPct val="120000"/>
              </a:lnSpc>
              <a:buNone/>
            </a:pPr>
            <a:r>
              <a:rPr lang="en-US" sz="1180" dirty="0">
                <a:solidFill>
                  <a:srgbClr val="16221F"/>
                </a:solidFill>
                <a:latin typeface="Calibri" pitchFamily="34" charset="0"/>
                <a:ea typeface="Calibri" pitchFamily="34" charset="-122"/>
                <a:cs typeface="Calibri" pitchFamily="34" charset="-120"/>
              </a:rPr>
              <a:t>The Train phase's entire content — job aids, sandbox environments, per-site delivery waves.</a:t>
            </a:r>
            <a:endParaRPr lang="en-US" sz="1180" dirty="0"/>
          </a:p>
        </p:txBody>
      </p:sp>
      <p:sp>
        <p:nvSpPr>
          <p:cNvPr id="13" name="Shape 11"/>
          <p:cNvSpPr/>
          <p:nvPr/>
        </p:nvSpPr>
        <p:spPr>
          <a:xfrm>
            <a:off x="548640" y="5184648"/>
            <a:ext cx="11064240" cy="932688"/>
          </a:xfrm>
          <a:prstGeom prst="roundRect">
            <a:avLst>
              <a:gd name="adj" fmla="val 4902"/>
            </a:avLst>
          </a:prstGeom>
          <a:solidFill>
            <a:srgbClr val="EAF2EF"/>
          </a:solidFill>
          <a:ln/>
        </p:spPr>
      </p:sp>
      <p:sp>
        <p:nvSpPr>
          <p:cNvPr id="14" name="Text 12"/>
          <p:cNvSpPr/>
          <p:nvPr/>
        </p:nvSpPr>
        <p:spPr>
          <a:xfrm>
            <a:off x="777240" y="5294376"/>
            <a:ext cx="3200400" cy="713232"/>
          </a:xfrm>
          <a:prstGeom prst="rect">
            <a:avLst/>
          </a:prstGeom>
          <a:noFill/>
          <a:ln/>
        </p:spPr>
        <p:txBody>
          <a:bodyPr wrap="square" rtlCol="0" anchor="ctr"/>
          <a:lstStyle/>
          <a:p>
            <a:pPr indent="0" marL="0">
              <a:lnSpc>
                <a:spcPct val="110000"/>
              </a:lnSpc>
              <a:buNone/>
            </a:pPr>
            <a:r>
              <a:rPr lang="en-US" sz="1300" b="1" dirty="0">
                <a:solidFill>
                  <a:srgbClr val="2E5F8A"/>
                </a:solidFill>
                <a:latin typeface="Calibri" pitchFamily="34" charset="0"/>
                <a:ea typeface="Calibri" pitchFamily="34" charset="-122"/>
                <a:cs typeface="Calibri" pitchFamily="34" charset="-120"/>
              </a:rPr>
              <a:t>M12 (Sustainment)</a:t>
            </a:r>
            <a:endParaRPr lang="en-US" sz="1300" dirty="0"/>
          </a:p>
        </p:txBody>
      </p:sp>
      <p:sp>
        <p:nvSpPr>
          <p:cNvPr id="15" name="Text 13"/>
          <p:cNvSpPr/>
          <p:nvPr/>
        </p:nvSpPr>
        <p:spPr>
          <a:xfrm>
            <a:off x="4069080" y="5294376"/>
            <a:ext cx="7360920" cy="713232"/>
          </a:xfrm>
          <a:prstGeom prst="rect">
            <a:avLst/>
          </a:prstGeom>
          <a:noFill/>
          <a:ln/>
        </p:spPr>
        <p:txBody>
          <a:bodyPr wrap="square" rtlCol="0" anchor="ctr"/>
          <a:lstStyle/>
          <a:p>
            <a:pPr indent="0" marL="0">
              <a:lnSpc>
                <a:spcPct val="120000"/>
              </a:lnSpc>
              <a:buNone/>
            </a:pPr>
            <a:r>
              <a:rPr lang="en-US" sz="1180" dirty="0">
                <a:solidFill>
                  <a:srgbClr val="16221F"/>
                </a:solidFill>
                <a:latin typeface="Calibri" pitchFamily="34" charset="0"/>
                <a:ea typeface="Calibri" pitchFamily="34" charset="-122"/>
                <a:cs typeface="Calibri" pitchFamily="34" charset="-120"/>
              </a:rPr>
              <a:t>The Hypercare-to-Sustain handoff — the checkpoint that actually justifies closing Lewin at Refreeze.</a:t>
            </a:r>
            <a:endParaRPr lang="en-US" sz="1180" dirty="0"/>
          </a:p>
        </p:txBody>
      </p:sp>
      <p:sp>
        <p:nvSpPr>
          <p:cNvPr id="16" name="Text 14"/>
          <p:cNvSpPr/>
          <p:nvPr/>
        </p:nvSpPr>
        <p:spPr>
          <a:xfrm>
            <a:off x="548640" y="6528816"/>
            <a:ext cx="73152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The 8 Transformation Types</a:t>
            </a:r>
            <a:endParaRPr lang="en-US" sz="900" dirty="0"/>
          </a:p>
        </p:txBody>
      </p:sp>
      <p:sp>
        <p:nvSpPr>
          <p:cNvPr id="17" name="Text 15"/>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ERP · REAL SCENARIO</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100" b="1" dirty="0">
                <a:solidFill>
                  <a:srgbClr val="2E5F8A"/>
                </a:solidFill>
                <a:latin typeface="Calibri" pitchFamily="34" charset="0"/>
                <a:ea typeface="Calibri" pitchFamily="34" charset="-122"/>
                <a:cs typeface="Calibri" pitchFamily="34" charset="-120"/>
              </a:rPr>
              <a:t>Bouregreg ERP Adoption Program</a:t>
            </a:r>
            <a:endParaRPr lang="en-US" sz="2100" dirty="0"/>
          </a:p>
        </p:txBody>
      </p:sp>
      <p:sp>
        <p:nvSpPr>
          <p:cNvPr id="4" name="Text 2"/>
          <p:cNvSpPr/>
          <p:nvPr/>
        </p:nvSpPr>
        <p:spPr>
          <a:xfrm>
            <a:off x="548640" y="1417320"/>
            <a:ext cx="11064240" cy="457200"/>
          </a:xfrm>
          <a:prstGeom prst="rect">
            <a:avLst/>
          </a:prstGeom>
          <a:noFill/>
          <a:ln/>
        </p:spPr>
        <p:txBody>
          <a:bodyPr wrap="square" rtlCol="0" anchor="t"/>
          <a:lstStyle/>
          <a:p>
            <a:pPr indent="0" marL="0">
              <a:lnSpc>
                <a:spcPct val="115000"/>
              </a:lnSpc>
              <a:buNone/>
            </a:pPr>
            <a:r>
              <a:rPr lang="en-US" sz="1200" dirty="0">
                <a:solidFill>
                  <a:srgbClr val="5C6D68"/>
                </a:solidFill>
                <a:latin typeface="Calibri" pitchFamily="34" charset="0"/>
                <a:ea typeface="Calibri" pitchFamily="34" charset="-122"/>
                <a:cs typeface="Calibri" pitchFamily="34" charset="-120"/>
              </a:rPr>
              <a:t>3,400 staff, all sites (Casablanca, Kenitra, Settat)  ·  W1–64</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11064240" cy="914400"/>
        </p:xfrm>
        <a:graphic>
          <a:graphicData uri="http://schemas.openxmlformats.org/drawingml/2006/table">
            <a:tbl>
              <a:tblPr/>
              <a:tblGrid>
                <a:gridCol w="1463040"/>
                <a:gridCol w="9601200"/>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Week</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2E5F8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Milestone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2E5F8A"/>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W1</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Discovery opens; Lewin opens at Unfreeze.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W28</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Test phase; Casablanca finance cohort fires ALT-001 (Divergence Pattern Detected).</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W36–39</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Train phase; site-level Composite Readiness Index disaggregation (Exception E6).</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W48</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Deploy — go-live across all three sites.</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W60+</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Hypercare exits clean; Sustain phase confirms adoption holds.</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bl>
          </a:graphicData>
        </a:graphic>
      </p:graphicFrame>
      <p:sp>
        <p:nvSpPr>
          <p:cNvPr id="6" name="Text 3"/>
          <p:cNvSpPr/>
          <p:nvPr/>
        </p:nvSpPr>
        <p:spPr>
          <a:xfrm>
            <a:off x="548640" y="6528816"/>
            <a:ext cx="73152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The 8 Transformation Types</a:t>
            </a:r>
            <a:endParaRPr lang="en-US" sz="900" dirty="0"/>
          </a:p>
        </p:txBody>
      </p:sp>
      <p:sp>
        <p:nvSpPr>
          <p:cNvPr id="7" name="Text 4"/>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E5F8A"/>
        </a:solidFill>
      </p:bgPr>
    </p:bg>
    <p:spTree>
      <p:nvGrpSpPr>
        <p:cNvPr id="1" name=""/>
        <p:cNvGrpSpPr/>
        <p:nvPr/>
      </p:nvGrpSpPr>
      <p:grpSpPr>
        <a:xfrm>
          <a:off x="0" y="0"/>
          <a:ext cx="0" cy="0"/>
          <a:chOff x="0" y="0"/>
          <a:chExt cx="0" cy="0"/>
        </a:xfrm>
      </p:grpSpPr>
      <p:sp>
        <p:nvSpPr>
          <p:cNvPr id="2" name="Text 0"/>
          <p:cNvSpPr/>
          <p:nvPr/>
        </p:nvSpPr>
        <p:spPr>
          <a:xfrm>
            <a:off x="548640" y="457200"/>
            <a:ext cx="10058400" cy="320040"/>
          </a:xfrm>
          <a:prstGeom prst="rect">
            <a:avLst/>
          </a:prstGeom>
          <a:noFill/>
          <a:ln/>
        </p:spPr>
        <p:txBody>
          <a:bodyPr wrap="square" rtlCol="0" anchor="ctr"/>
          <a:lstStyle/>
          <a:p>
            <a:pPr indent="0" marL="0">
              <a:buNone/>
            </a:pPr>
            <a:r>
              <a:rPr lang="en-US" sz="1250" b="1" spc="200" kern="0" dirty="0">
                <a:solidFill>
                  <a:srgbClr val="FFFFFF"/>
                </a:solidFill>
                <a:latin typeface="Calibri" pitchFamily="34" charset="0"/>
                <a:ea typeface="Calibri" pitchFamily="34" charset="-122"/>
                <a:cs typeface="Calibri" pitchFamily="34" charset="-120"/>
              </a:rPr>
              <a:t>ERP · ALERTS &amp; PROOF</a:t>
            </a:r>
            <a:endParaRPr lang="en-US" sz="1250" dirty="0"/>
          </a:p>
        </p:txBody>
      </p:sp>
      <p:sp>
        <p:nvSpPr>
          <p:cNvPr id="3" name="Text 1"/>
          <p:cNvSpPr/>
          <p:nvPr/>
        </p:nvSpPr>
        <p:spPr>
          <a:xfrm>
            <a:off x="548640" y="804672"/>
            <a:ext cx="10972800" cy="6858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What This Case Fires</a:t>
            </a:r>
            <a:endParaRPr lang="en-US" sz="2600" dirty="0"/>
          </a:p>
        </p:txBody>
      </p:sp>
      <p:sp>
        <p:nvSpPr>
          <p:cNvPr id="4" name="Shape 2"/>
          <p:cNvSpPr/>
          <p:nvPr/>
        </p:nvSpPr>
        <p:spPr>
          <a:xfrm>
            <a:off x="548640" y="1737360"/>
            <a:ext cx="11064240" cy="1463040"/>
          </a:xfrm>
          <a:prstGeom prst="roundRect">
            <a:avLst>
              <a:gd name="adj" fmla="val 3125"/>
            </a:avLst>
          </a:prstGeom>
          <a:solidFill>
            <a:srgbClr val="FFFFFF"/>
          </a:solidFill>
          <a:ln/>
        </p:spPr>
      </p:sp>
      <p:sp>
        <p:nvSpPr>
          <p:cNvPr id="5" name="Text 3"/>
          <p:cNvSpPr/>
          <p:nvPr/>
        </p:nvSpPr>
        <p:spPr>
          <a:xfrm>
            <a:off x="777240" y="1874520"/>
            <a:ext cx="10607040" cy="274320"/>
          </a:xfrm>
          <a:prstGeom prst="rect">
            <a:avLst/>
          </a:prstGeom>
          <a:noFill/>
          <a:ln/>
        </p:spPr>
        <p:txBody>
          <a:bodyPr wrap="square" rtlCol="0" anchor="ctr"/>
          <a:lstStyle/>
          <a:p>
            <a:pPr indent="0" marL="0">
              <a:buNone/>
            </a:pPr>
            <a:r>
              <a:rPr lang="en-US" sz="1050" b="1" spc="100" kern="0" dirty="0">
                <a:solidFill>
                  <a:srgbClr val="2E5F8A"/>
                </a:solidFill>
                <a:latin typeface="Calibri" pitchFamily="34" charset="0"/>
                <a:ea typeface="Calibri" pitchFamily="34" charset="-122"/>
                <a:cs typeface="Calibri" pitchFamily="34" charset="-120"/>
              </a:rPr>
              <a:t>ALERTS THIS CASE EXERCISES</a:t>
            </a:r>
            <a:endParaRPr lang="en-US" sz="1050" dirty="0"/>
          </a:p>
        </p:txBody>
      </p:sp>
      <p:sp>
        <p:nvSpPr>
          <p:cNvPr id="6" name="Text 4"/>
          <p:cNvSpPr/>
          <p:nvPr/>
        </p:nvSpPr>
        <p:spPr>
          <a:xfrm>
            <a:off x="777240" y="2176272"/>
            <a:ext cx="10607040" cy="914400"/>
          </a:xfrm>
          <a:prstGeom prst="rect">
            <a:avLst/>
          </a:prstGeom>
          <a:noFill/>
          <a:ln/>
        </p:spPr>
        <p:txBody>
          <a:bodyPr wrap="square" rtlCol="0" anchor="ctr"/>
          <a:lstStyle/>
          <a:p>
            <a:pPr indent="0" marL="0">
              <a:lnSpc>
                <a:spcPct val="125000"/>
              </a:lnSpc>
              <a:buNone/>
            </a:pPr>
            <a:r>
              <a:rPr lang="en-US" sz="1350" b="1" dirty="0">
                <a:solidFill>
                  <a:srgbClr val="16221F"/>
                </a:solidFill>
                <a:latin typeface="Calibri" pitchFamily="34" charset="0"/>
                <a:ea typeface="Calibri" pitchFamily="34" charset="-122"/>
                <a:cs typeface="Calibri" pitchFamily="34" charset="-120"/>
              </a:rPr>
              <a:t>ALT-001 (Divergence Pattern Detected)   ·   ALT-009 (Phase Gate No-Go/Conditional, if any gate closes non-Go)</a:t>
            </a:r>
            <a:endParaRPr lang="en-US" sz="1350" dirty="0"/>
          </a:p>
        </p:txBody>
      </p:sp>
      <p:sp>
        <p:nvSpPr>
          <p:cNvPr id="7" name="Shape 5"/>
          <p:cNvSpPr/>
          <p:nvPr/>
        </p:nvSpPr>
        <p:spPr>
          <a:xfrm>
            <a:off x="548640" y="3383280"/>
            <a:ext cx="11064240" cy="1417320"/>
          </a:xfrm>
          <a:prstGeom prst="roundRect">
            <a:avLst>
              <a:gd name="adj" fmla="val 3226"/>
            </a:avLst>
          </a:prstGeom>
          <a:solidFill>
            <a:srgbClr val="FFFFFF"/>
          </a:solidFill>
          <a:ln/>
        </p:spPr>
      </p:sp>
      <p:sp>
        <p:nvSpPr>
          <p:cNvPr id="8" name="Text 6"/>
          <p:cNvSpPr/>
          <p:nvPr/>
        </p:nvSpPr>
        <p:spPr>
          <a:xfrm>
            <a:off x="777240" y="3520440"/>
            <a:ext cx="10607040" cy="274320"/>
          </a:xfrm>
          <a:prstGeom prst="rect">
            <a:avLst/>
          </a:prstGeom>
          <a:noFill/>
          <a:ln/>
        </p:spPr>
        <p:txBody>
          <a:bodyPr wrap="square" rtlCol="0" anchor="ctr"/>
          <a:lstStyle/>
          <a:p>
            <a:pPr indent="0" marL="0">
              <a:buNone/>
            </a:pPr>
            <a:r>
              <a:rPr lang="en-US" sz="1050" b="1" spc="100" kern="0" dirty="0">
                <a:solidFill>
                  <a:srgbClr val="2E5F8A"/>
                </a:solidFill>
                <a:latin typeface="Calibri" pitchFamily="34" charset="0"/>
                <a:ea typeface="Calibri" pitchFamily="34" charset="-122"/>
                <a:cs typeface="Calibri" pitchFamily="34" charset="-120"/>
              </a:rPr>
              <a:t>WHY</a:t>
            </a:r>
            <a:endParaRPr lang="en-US" sz="1050" dirty="0"/>
          </a:p>
        </p:txBody>
      </p:sp>
      <p:sp>
        <p:nvSpPr>
          <p:cNvPr id="9" name="Text 7"/>
          <p:cNvSpPr/>
          <p:nvPr/>
        </p:nvSpPr>
        <p:spPr>
          <a:xfrm>
            <a:off x="777240" y="3822192"/>
            <a:ext cx="10607040" cy="914400"/>
          </a:xfrm>
          <a:prstGeom prst="rect">
            <a:avLst/>
          </a:prstGeom>
          <a:noFill/>
          <a:ln/>
        </p:spPr>
        <p:txBody>
          <a:bodyPr wrap="square" rtlCol="0" anchor="ctr"/>
          <a:lstStyle/>
          <a:p>
            <a:pPr indent="0" marL="0">
              <a:lnSpc>
                <a:spcPct val="125000"/>
              </a:lnSpc>
              <a:buNone/>
            </a:pPr>
            <a:r>
              <a:rPr lang="en-US" sz="1250" dirty="0">
                <a:solidFill>
                  <a:srgbClr val="16221F"/>
                </a:solidFill>
                <a:latin typeface="Calibri" pitchFamily="34" charset="0"/>
                <a:ea typeface="Calibri" pitchFamily="34" charset="-122"/>
                <a:cs typeface="Calibri" pitchFamily="34" charset="-120"/>
              </a:rPr>
              <a:t>The throughline case — the one most likely to exercise a Knowledge/Ability-vs-Bridges divergence, given its scale and duration.</a:t>
            </a:r>
            <a:endParaRPr lang="en-US" sz="1250" dirty="0"/>
          </a:p>
        </p:txBody>
      </p:sp>
      <p:sp>
        <p:nvSpPr>
          <p:cNvPr id="10" name="Shape 8"/>
          <p:cNvSpPr/>
          <p:nvPr/>
        </p:nvSpPr>
        <p:spPr>
          <a:xfrm>
            <a:off x="548640" y="4983480"/>
            <a:ext cx="11064240" cy="1417320"/>
          </a:xfrm>
          <a:prstGeom prst="roundRect">
            <a:avLst>
              <a:gd name="adj" fmla="val 3226"/>
            </a:avLst>
          </a:prstGeom>
          <a:solidFill>
            <a:srgbClr val="FFFFFF"/>
          </a:solidFill>
          <a:ln/>
        </p:spPr>
      </p:sp>
      <p:sp>
        <p:nvSpPr>
          <p:cNvPr id="11" name="Text 9"/>
          <p:cNvSpPr/>
          <p:nvPr/>
        </p:nvSpPr>
        <p:spPr>
          <a:xfrm>
            <a:off x="777240" y="5120640"/>
            <a:ext cx="10607040" cy="274320"/>
          </a:xfrm>
          <a:prstGeom prst="rect">
            <a:avLst/>
          </a:prstGeom>
          <a:noFill/>
          <a:ln/>
        </p:spPr>
        <p:txBody>
          <a:bodyPr wrap="square" rtlCol="0" anchor="ctr"/>
          <a:lstStyle/>
          <a:p>
            <a:pPr indent="0" marL="0">
              <a:buNone/>
            </a:pPr>
            <a:r>
              <a:rPr lang="en-US" sz="1050" b="1" spc="100" kern="0" dirty="0">
                <a:solidFill>
                  <a:srgbClr val="2E5F8A"/>
                </a:solidFill>
                <a:latin typeface="Calibri" pitchFamily="34" charset="0"/>
                <a:ea typeface="Calibri" pitchFamily="34" charset="-122"/>
                <a:cs typeface="Calibri" pitchFamily="34" charset="-120"/>
              </a:rPr>
              <a:t>WHAT THIS GUIDE PROVES, CONCRETELY</a:t>
            </a:r>
            <a:endParaRPr lang="en-US" sz="1050" dirty="0"/>
          </a:p>
        </p:txBody>
      </p:sp>
      <p:sp>
        <p:nvSpPr>
          <p:cNvPr id="12" name="Text 10"/>
          <p:cNvSpPr/>
          <p:nvPr/>
        </p:nvSpPr>
        <p:spPr>
          <a:xfrm>
            <a:off x="777240" y="5422392"/>
            <a:ext cx="10607040" cy="914400"/>
          </a:xfrm>
          <a:prstGeom prst="rect">
            <a:avLst/>
          </a:prstGeom>
          <a:noFill/>
          <a:ln/>
        </p:spPr>
        <p:txBody>
          <a:bodyPr wrap="square" rtlCol="0" anchor="ctr"/>
          <a:lstStyle/>
          <a:p>
            <a:pPr indent="0" marL="0">
              <a:lnSpc>
                <a:spcPct val="120000"/>
              </a:lnSpc>
              <a:buNone/>
            </a:pPr>
            <a:r>
              <a:rPr lang="en-US" sz="1200" i="1" dirty="0">
                <a:solidFill>
                  <a:srgbClr val="16221F"/>
                </a:solidFill>
                <a:latin typeface="Calibri" pitchFamily="34" charset="0"/>
                <a:ea typeface="Calibri" pitchFamily="34" charset="-122"/>
                <a:cs typeface="Calibri" pitchFamily="34" charset="-120"/>
              </a:rPr>
              <a:t>A real Divergence Pattern catch before go-live, a real cross-site CRI disaggregation, and a Refreeze closed only once Sustain's own evidence supports it.</a:t>
            </a:r>
            <a:endParaRPr lang="en-US" sz="1200" dirty="0"/>
          </a:p>
        </p:txBody>
      </p:sp>
      <p:sp>
        <p:nvSpPr>
          <p:cNvPr id="13" name="Text 11"/>
          <p:cNvSpPr/>
          <p:nvPr/>
        </p:nvSpPr>
        <p:spPr>
          <a:xfrm>
            <a:off x="548640" y="6528816"/>
            <a:ext cx="7315200" cy="274320"/>
          </a:xfrm>
          <a:prstGeom prst="rect">
            <a:avLst/>
          </a:prstGeom>
          <a:noFill/>
          <a:ln/>
        </p:spPr>
        <p:txBody>
          <a:bodyPr wrap="square" rtlCol="0" anchor="ctr"/>
          <a:lstStyle/>
          <a:p>
            <a:pPr algn="l" indent="0" marL="0">
              <a:buNone/>
            </a:pPr>
            <a:r>
              <a:rPr lang="en-US" sz="900" dirty="0">
                <a:solidFill>
                  <a:srgbClr val="CFE3DD"/>
                </a:solidFill>
                <a:latin typeface="Calibri" pitchFamily="34" charset="0"/>
                <a:ea typeface="Calibri" pitchFamily="34" charset="-122"/>
                <a:cs typeface="Calibri" pitchFamily="34" charset="-120"/>
              </a:rPr>
              <a:t>journi — The 8 Transformation Types</a:t>
            </a:r>
            <a:endParaRPr lang="en-US" sz="900" dirty="0"/>
          </a:p>
        </p:txBody>
      </p:sp>
      <p:sp>
        <p:nvSpPr>
          <p:cNvPr id="14" name="Text 12"/>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CFE3DD"/>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B4463B"/>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indent="0" marL="0">
              <a:buNone/>
            </a:pPr>
            <a:r>
              <a:rPr lang="en-US" sz="1250" b="1" spc="200" kern="0" dirty="0">
                <a:solidFill>
                  <a:srgbClr val="FFFFFF"/>
                </a:solidFill>
                <a:latin typeface="Calibri" pitchFamily="34" charset="0"/>
                <a:ea typeface="Calibri" pitchFamily="34" charset="-122"/>
                <a:cs typeface="Calibri" pitchFamily="34" charset="-120"/>
              </a:rPr>
              <a:t>TRANSFORMATION TYPE 2 OF 8</a:t>
            </a:r>
            <a:endParaRPr lang="en-US" sz="1250" dirty="0"/>
          </a:p>
        </p:txBody>
      </p:sp>
      <p:sp>
        <p:nvSpPr>
          <p:cNvPr id="3" name="Shape 1"/>
          <p:cNvSpPr/>
          <p:nvPr/>
        </p:nvSpPr>
        <p:spPr>
          <a:xfrm>
            <a:off x="548640" y="868680"/>
            <a:ext cx="868680" cy="868680"/>
          </a:xfrm>
          <a:prstGeom prst="ellipse">
            <a:avLst/>
          </a:prstGeom>
          <a:solidFill>
            <a:srgbClr val="FFFFFF"/>
          </a:solidFill>
          <a:ln/>
        </p:spPr>
      </p:sp>
      <p:pic>
        <p:nvPicPr>
          <p:cNvPr id="4" name="Image 0" descr="/home/user/scm-process-register/docs-src/transformation-types-deck/assets/route.png">    </p:cNvPr>
          <p:cNvPicPr>
            <a:picLocks noChangeAspect="1"/>
          </p:cNvPicPr>
          <p:nvPr/>
        </p:nvPicPr>
        <p:blipFill>
          <a:blip r:embed="rId1"/>
          <a:stretch>
            <a:fillRect/>
          </a:stretch>
        </p:blipFill>
        <p:spPr>
          <a:xfrm>
            <a:off x="731520" y="1051560"/>
            <a:ext cx="502920" cy="502920"/>
          </a:xfrm>
          <a:prstGeom prst="rect">
            <a:avLst/>
          </a:prstGeom>
        </p:spPr>
      </p:pic>
      <p:sp>
        <p:nvSpPr>
          <p:cNvPr id="5" name="Text 2"/>
          <p:cNvSpPr/>
          <p:nvPr/>
        </p:nvSpPr>
        <p:spPr>
          <a:xfrm>
            <a:off x="1691640" y="868680"/>
            <a:ext cx="9144000" cy="86868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Business Process Redesign</a:t>
            </a:r>
            <a:endParaRPr lang="en-US" sz="3200" dirty="0"/>
          </a:p>
        </p:txBody>
      </p:sp>
      <p:sp>
        <p:nvSpPr>
          <p:cNvPr id="6" name="Text 3"/>
          <p:cNvSpPr/>
          <p:nvPr/>
        </p:nvSpPr>
        <p:spPr>
          <a:xfrm>
            <a:off x="548640" y="1965960"/>
            <a:ext cx="11064240" cy="868680"/>
          </a:xfrm>
          <a:prstGeom prst="rect">
            <a:avLst/>
          </a:prstGeom>
          <a:noFill/>
          <a:ln/>
        </p:spPr>
        <p:txBody>
          <a:bodyPr wrap="square" rtlCol="0" anchor="ctr"/>
          <a:lstStyle/>
          <a:p>
            <a:pPr indent="0" marL="0">
              <a:lnSpc>
                <a:spcPct val="130000"/>
              </a:lnSpc>
              <a:buNone/>
            </a:pPr>
            <a:r>
              <a:rPr lang="en-US" sz="1550" i="1" dirty="0">
                <a:solidFill>
                  <a:srgbClr val="F0F0F0"/>
                </a:solidFill>
                <a:latin typeface="Calibri" pitchFamily="34" charset="0"/>
                <a:ea typeface="Calibri" pitchFamily="34" charset="-122"/>
                <a:cs typeface="Calibri" pitchFamily="34" charset="-120"/>
              </a:rPr>
              <a:t>Redesigning a process independent of any system change — where staff who privately own today's workarounds resist a redesign that makes those workarounds obsolete.</a:t>
            </a:r>
            <a:endParaRPr lang="en-US" sz="1550" dirty="0"/>
          </a:p>
        </p:txBody>
      </p:sp>
      <p:sp>
        <p:nvSpPr>
          <p:cNvPr id="7" name="Shape 4"/>
          <p:cNvSpPr/>
          <p:nvPr/>
        </p:nvSpPr>
        <p:spPr>
          <a:xfrm>
            <a:off x="548640" y="3063240"/>
            <a:ext cx="5349240" cy="2651760"/>
          </a:xfrm>
          <a:prstGeom prst="roundRect">
            <a:avLst>
              <a:gd name="adj" fmla="val 1724"/>
            </a:avLst>
          </a:prstGeom>
          <a:solidFill>
            <a:srgbClr val="FFFFFF"/>
          </a:solidFill>
          <a:ln/>
        </p:spPr>
      </p:sp>
      <p:sp>
        <p:nvSpPr>
          <p:cNvPr id="8" name="Text 5"/>
          <p:cNvSpPr/>
          <p:nvPr/>
        </p:nvSpPr>
        <p:spPr>
          <a:xfrm>
            <a:off x="777240" y="3200400"/>
            <a:ext cx="4846320" cy="274320"/>
          </a:xfrm>
          <a:prstGeom prst="rect">
            <a:avLst/>
          </a:prstGeom>
          <a:noFill/>
          <a:ln/>
        </p:spPr>
        <p:txBody>
          <a:bodyPr wrap="square" rtlCol="0" anchor="ctr"/>
          <a:lstStyle/>
          <a:p>
            <a:pPr indent="0" marL="0">
              <a:buNone/>
            </a:pPr>
            <a:r>
              <a:rPr lang="en-US" sz="1050" b="1" spc="100" kern="0" dirty="0">
                <a:solidFill>
                  <a:srgbClr val="B4463B"/>
                </a:solidFill>
                <a:latin typeface="Calibri" pitchFamily="34" charset="0"/>
                <a:ea typeface="Calibri" pitchFamily="34" charset="-122"/>
                <a:cs typeface="Calibri" pitchFamily="34" charset="-120"/>
              </a:rPr>
              <a:t>BUSINESS DRIVER</a:t>
            </a:r>
            <a:endParaRPr lang="en-US" sz="1050" dirty="0"/>
          </a:p>
        </p:txBody>
      </p:sp>
      <p:sp>
        <p:nvSpPr>
          <p:cNvPr id="9" name="Text 6"/>
          <p:cNvSpPr/>
          <p:nvPr/>
        </p:nvSpPr>
        <p:spPr>
          <a:xfrm>
            <a:off x="777240" y="3520440"/>
            <a:ext cx="4846320" cy="1097280"/>
          </a:xfrm>
          <a:prstGeom prst="rect">
            <a:avLst/>
          </a:prstGeom>
          <a:noFill/>
          <a:ln/>
        </p:spPr>
        <p:txBody>
          <a:bodyPr wrap="square" rtlCol="0" anchor="ctr"/>
          <a:lstStyle/>
          <a:p>
            <a:pPr indent="0" marL="0">
              <a:lnSpc>
                <a:spcPct val="125000"/>
              </a:lnSpc>
              <a:buNone/>
            </a:pPr>
            <a:r>
              <a:rPr lang="en-US" sz="1200" dirty="0">
                <a:solidFill>
                  <a:srgbClr val="16221F"/>
                </a:solidFill>
                <a:latin typeface="Calibri" pitchFamily="34" charset="0"/>
                <a:ea typeface="Calibri" pitchFamily="34" charset="-122"/>
                <a:cs typeface="Calibri" pitchFamily="34" charset="-120"/>
              </a:rPr>
              <a:t>A process that works, technically, but costs the organization real time or money by design — not a tooling problem.</a:t>
            </a:r>
            <a:endParaRPr lang="en-US" sz="1200" dirty="0"/>
          </a:p>
        </p:txBody>
      </p:sp>
      <p:sp>
        <p:nvSpPr>
          <p:cNvPr id="10" name="Text 7"/>
          <p:cNvSpPr/>
          <p:nvPr/>
        </p:nvSpPr>
        <p:spPr>
          <a:xfrm>
            <a:off x="777240" y="4709160"/>
            <a:ext cx="4846320" cy="274320"/>
          </a:xfrm>
          <a:prstGeom prst="rect">
            <a:avLst/>
          </a:prstGeom>
          <a:noFill/>
          <a:ln/>
        </p:spPr>
        <p:txBody>
          <a:bodyPr wrap="square" rtlCol="0" anchor="ctr"/>
          <a:lstStyle/>
          <a:p>
            <a:pPr indent="0" marL="0">
              <a:buNone/>
            </a:pPr>
            <a:r>
              <a:rPr lang="en-US" sz="1050" b="1" spc="100" kern="0" dirty="0">
                <a:solidFill>
                  <a:srgbClr val="B4463B"/>
                </a:solidFill>
                <a:latin typeface="Calibri" pitchFamily="34" charset="0"/>
                <a:ea typeface="Calibri" pitchFamily="34" charset="-122"/>
                <a:cs typeface="Calibri" pitchFamily="34" charset="-120"/>
              </a:rPr>
              <a:t>TARGET POPULATION PATTERN</a:t>
            </a:r>
            <a:endParaRPr lang="en-US" sz="1050" dirty="0"/>
          </a:p>
        </p:txBody>
      </p:sp>
      <p:sp>
        <p:nvSpPr>
          <p:cNvPr id="11" name="Text 8"/>
          <p:cNvSpPr/>
          <p:nvPr/>
        </p:nvSpPr>
        <p:spPr>
          <a:xfrm>
            <a:off x="777240" y="5029200"/>
            <a:ext cx="4846320" cy="640080"/>
          </a:xfrm>
          <a:prstGeom prst="rect">
            <a:avLst/>
          </a:prstGeom>
          <a:noFill/>
          <a:ln/>
        </p:spPr>
        <p:txBody>
          <a:bodyPr wrap="square" rtlCol="0" anchor="ctr"/>
          <a:lstStyle/>
          <a:p>
            <a:pPr indent="0" marL="0">
              <a:lnSpc>
                <a:spcPct val="120000"/>
              </a:lnSpc>
              <a:buNone/>
            </a:pPr>
            <a:r>
              <a:rPr lang="en-US" sz="1150" dirty="0">
                <a:solidFill>
                  <a:srgbClr val="16221F"/>
                </a:solidFill>
                <a:latin typeface="Calibri" pitchFamily="34" charset="0"/>
                <a:ea typeface="Calibri" pitchFamily="34" charset="-122"/>
                <a:cs typeface="Calibri" pitchFamily="34" charset="-120"/>
              </a:rPr>
              <a:t>A single function or process family, typically 100-200 staff — narrower than ERP, but often the most emotionally invested population in the library.</a:t>
            </a:r>
            <a:endParaRPr lang="en-US" sz="1150" dirty="0"/>
          </a:p>
        </p:txBody>
      </p:sp>
      <p:sp>
        <p:nvSpPr>
          <p:cNvPr id="12" name="Shape 9"/>
          <p:cNvSpPr/>
          <p:nvPr/>
        </p:nvSpPr>
        <p:spPr>
          <a:xfrm>
            <a:off x="6080760" y="3063240"/>
            <a:ext cx="5532120" cy="2651760"/>
          </a:xfrm>
          <a:prstGeom prst="roundRect">
            <a:avLst>
              <a:gd name="adj" fmla="val 1724"/>
            </a:avLst>
          </a:prstGeom>
          <a:solidFill>
            <a:srgbClr val="FFFFFF"/>
          </a:solidFill>
          <a:ln/>
        </p:spPr>
      </p:sp>
      <p:sp>
        <p:nvSpPr>
          <p:cNvPr id="13" name="Text 10"/>
          <p:cNvSpPr/>
          <p:nvPr/>
        </p:nvSpPr>
        <p:spPr>
          <a:xfrm>
            <a:off x="6309360" y="3200400"/>
            <a:ext cx="5074920" cy="274320"/>
          </a:xfrm>
          <a:prstGeom prst="rect">
            <a:avLst/>
          </a:prstGeom>
          <a:noFill/>
          <a:ln/>
        </p:spPr>
        <p:txBody>
          <a:bodyPr wrap="square" rtlCol="0" anchor="ctr"/>
          <a:lstStyle/>
          <a:p>
            <a:pPr indent="0" marL="0">
              <a:buNone/>
            </a:pPr>
            <a:r>
              <a:rPr lang="en-US" sz="1050" b="1" spc="100" kern="0" dirty="0">
                <a:solidFill>
                  <a:srgbClr val="B4463B"/>
                </a:solidFill>
                <a:latin typeface="Calibri" pitchFamily="34" charset="0"/>
                <a:ea typeface="Calibri" pitchFamily="34" charset="-122"/>
                <a:cs typeface="Calibri" pitchFamily="34" charset="-120"/>
              </a:rPr>
              <a:t>PHASE TEMPLATE</a:t>
            </a:r>
            <a:endParaRPr lang="en-US" sz="1050" dirty="0"/>
          </a:p>
        </p:txBody>
      </p:sp>
      <p:sp>
        <p:nvSpPr>
          <p:cNvPr id="14" name="Text 11"/>
          <p:cNvSpPr/>
          <p:nvPr/>
        </p:nvSpPr>
        <p:spPr>
          <a:xfrm>
            <a:off x="6309360" y="3520440"/>
            <a:ext cx="5074920" cy="365760"/>
          </a:xfrm>
          <a:prstGeom prst="rect">
            <a:avLst/>
          </a:prstGeom>
          <a:noFill/>
          <a:ln/>
        </p:spPr>
        <p:txBody>
          <a:bodyPr wrap="square" rtlCol="0" anchor="ctr"/>
          <a:lstStyle/>
          <a:p>
            <a:pPr indent="0" marL="0">
              <a:buNone/>
            </a:pPr>
            <a:r>
              <a:rPr lang="en-US" sz="1300" b="1" dirty="0">
                <a:solidFill>
                  <a:srgbClr val="16221F"/>
                </a:solidFill>
                <a:latin typeface="Calibri" pitchFamily="34" charset="0"/>
                <a:ea typeface="Calibri" pitchFamily="34" charset="-122"/>
                <a:cs typeface="Calibri" pitchFamily="34" charset="-120"/>
              </a:rPr>
              <a:t>TPL-BPR-7 — 7 phases</a:t>
            </a:r>
            <a:endParaRPr lang="en-US" sz="1300" dirty="0"/>
          </a:p>
        </p:txBody>
      </p:sp>
      <p:sp>
        <p:nvSpPr>
          <p:cNvPr id="15" name="Text 12"/>
          <p:cNvSpPr/>
          <p:nvPr/>
        </p:nvSpPr>
        <p:spPr>
          <a:xfrm>
            <a:off x="6309360" y="3977640"/>
            <a:ext cx="5074920" cy="274320"/>
          </a:xfrm>
          <a:prstGeom prst="rect">
            <a:avLst/>
          </a:prstGeom>
          <a:noFill/>
          <a:ln/>
        </p:spPr>
        <p:txBody>
          <a:bodyPr wrap="square" rtlCol="0" anchor="ctr"/>
          <a:lstStyle/>
          <a:p>
            <a:pPr indent="0" marL="0">
              <a:buNone/>
            </a:pPr>
            <a:r>
              <a:rPr lang="en-US" sz="1080" dirty="0">
                <a:solidFill>
                  <a:srgbClr val="16221F"/>
                </a:solidFill>
                <a:latin typeface="Calibri" pitchFamily="34" charset="0"/>
                <a:ea typeface="Calibri" pitchFamily="34" charset="-122"/>
                <a:cs typeface="Calibri" pitchFamily="34" charset="-120"/>
              </a:rPr>
              <a:t>1. Intake &amp; Diagnosis</a:t>
            </a:r>
            <a:endParaRPr lang="en-US" sz="1080" dirty="0"/>
          </a:p>
        </p:txBody>
      </p:sp>
      <p:sp>
        <p:nvSpPr>
          <p:cNvPr id="16" name="Text 13"/>
          <p:cNvSpPr/>
          <p:nvPr/>
        </p:nvSpPr>
        <p:spPr>
          <a:xfrm>
            <a:off x="6309360" y="4270248"/>
            <a:ext cx="5074920" cy="274320"/>
          </a:xfrm>
          <a:prstGeom prst="rect">
            <a:avLst/>
          </a:prstGeom>
          <a:noFill/>
          <a:ln/>
        </p:spPr>
        <p:txBody>
          <a:bodyPr wrap="square" rtlCol="0" anchor="ctr"/>
          <a:lstStyle/>
          <a:p>
            <a:pPr indent="0" marL="0">
              <a:buNone/>
            </a:pPr>
            <a:r>
              <a:rPr lang="en-US" sz="1080" dirty="0">
                <a:solidFill>
                  <a:srgbClr val="16221F"/>
                </a:solidFill>
                <a:latin typeface="Calibri" pitchFamily="34" charset="0"/>
                <a:ea typeface="Calibri" pitchFamily="34" charset="-122"/>
                <a:cs typeface="Calibri" pitchFamily="34" charset="-120"/>
              </a:rPr>
              <a:t>2. Clean-Slate Design</a:t>
            </a:r>
            <a:endParaRPr lang="en-US" sz="1080" dirty="0"/>
          </a:p>
        </p:txBody>
      </p:sp>
      <p:sp>
        <p:nvSpPr>
          <p:cNvPr id="17" name="Text 14"/>
          <p:cNvSpPr/>
          <p:nvPr/>
        </p:nvSpPr>
        <p:spPr>
          <a:xfrm>
            <a:off x="6309360" y="4562856"/>
            <a:ext cx="5074920" cy="274320"/>
          </a:xfrm>
          <a:prstGeom prst="rect">
            <a:avLst/>
          </a:prstGeom>
          <a:noFill/>
          <a:ln/>
        </p:spPr>
        <p:txBody>
          <a:bodyPr wrap="square" rtlCol="0" anchor="ctr"/>
          <a:lstStyle/>
          <a:p>
            <a:pPr indent="0" marL="0">
              <a:buNone/>
            </a:pPr>
            <a:r>
              <a:rPr lang="en-US" sz="1080" dirty="0">
                <a:solidFill>
                  <a:srgbClr val="16221F"/>
                </a:solidFill>
                <a:latin typeface="Calibri" pitchFamily="34" charset="0"/>
                <a:ea typeface="Calibri" pitchFamily="34" charset="-122"/>
                <a:cs typeface="Calibri" pitchFamily="34" charset="-120"/>
              </a:rPr>
              <a:t>3. Build</a:t>
            </a:r>
            <a:endParaRPr lang="en-US" sz="1080" dirty="0"/>
          </a:p>
        </p:txBody>
      </p:sp>
      <p:sp>
        <p:nvSpPr>
          <p:cNvPr id="18" name="Text 15"/>
          <p:cNvSpPr/>
          <p:nvPr/>
        </p:nvSpPr>
        <p:spPr>
          <a:xfrm>
            <a:off x="6309360" y="4855464"/>
            <a:ext cx="5074920" cy="274320"/>
          </a:xfrm>
          <a:prstGeom prst="rect">
            <a:avLst/>
          </a:prstGeom>
          <a:noFill/>
          <a:ln/>
        </p:spPr>
        <p:txBody>
          <a:bodyPr wrap="square" rtlCol="0" anchor="ctr"/>
          <a:lstStyle/>
          <a:p>
            <a:pPr indent="0" marL="0">
              <a:buNone/>
            </a:pPr>
            <a:r>
              <a:rPr lang="en-US" sz="1080" dirty="0">
                <a:solidFill>
                  <a:srgbClr val="16221F"/>
                </a:solidFill>
                <a:latin typeface="Calibri" pitchFamily="34" charset="0"/>
                <a:ea typeface="Calibri" pitchFamily="34" charset="-122"/>
                <a:cs typeface="Calibri" pitchFamily="34" charset="-120"/>
              </a:rPr>
              <a:t>4. Pilot</a:t>
            </a:r>
            <a:endParaRPr lang="en-US" sz="1080" dirty="0"/>
          </a:p>
        </p:txBody>
      </p:sp>
      <p:sp>
        <p:nvSpPr>
          <p:cNvPr id="19" name="Text 16"/>
          <p:cNvSpPr/>
          <p:nvPr/>
        </p:nvSpPr>
        <p:spPr>
          <a:xfrm>
            <a:off x="6309360" y="5193792"/>
            <a:ext cx="5074920" cy="274320"/>
          </a:xfrm>
          <a:prstGeom prst="rect">
            <a:avLst/>
          </a:prstGeom>
          <a:noFill/>
          <a:ln/>
        </p:spPr>
        <p:txBody>
          <a:bodyPr wrap="square" rtlCol="0" anchor="ctr"/>
          <a:lstStyle/>
          <a:p>
            <a:pPr indent="0" marL="0">
              <a:buNone/>
            </a:pPr>
            <a:r>
              <a:rPr lang="en-US" sz="1000" i="1" dirty="0">
                <a:solidFill>
                  <a:srgbClr val="5C6D68"/>
                </a:solidFill>
                <a:latin typeface="Calibri" pitchFamily="34" charset="0"/>
                <a:ea typeface="Calibri" pitchFamily="34" charset="-122"/>
                <a:cs typeface="Calibri" pitchFamily="34" charset="-120"/>
              </a:rPr>
              <a:t>… 3 more (next slide)</a:t>
            </a:r>
            <a:endParaRPr lang="en-US" sz="1000" dirty="0"/>
          </a:p>
        </p:txBody>
      </p:sp>
      <p:sp>
        <p:nvSpPr>
          <p:cNvPr id="20" name="Text 17"/>
          <p:cNvSpPr/>
          <p:nvPr/>
        </p:nvSpPr>
        <p:spPr>
          <a:xfrm>
            <a:off x="548640" y="6528816"/>
            <a:ext cx="7315200" cy="274320"/>
          </a:xfrm>
          <a:prstGeom prst="rect">
            <a:avLst/>
          </a:prstGeom>
          <a:noFill/>
          <a:ln/>
        </p:spPr>
        <p:txBody>
          <a:bodyPr wrap="square" rtlCol="0" anchor="ctr"/>
          <a:lstStyle/>
          <a:p>
            <a:pPr algn="l" indent="0" marL="0">
              <a:buNone/>
            </a:pPr>
            <a:r>
              <a:rPr lang="en-US" sz="900" dirty="0">
                <a:solidFill>
                  <a:srgbClr val="CFE3DD"/>
                </a:solidFill>
                <a:latin typeface="Calibri" pitchFamily="34" charset="0"/>
                <a:ea typeface="Calibri" pitchFamily="34" charset="-122"/>
                <a:cs typeface="Calibri" pitchFamily="34" charset="-120"/>
              </a:rPr>
              <a:t>journi — The 8 Transformation Types</a:t>
            </a:r>
            <a:endParaRPr lang="en-US" sz="900" dirty="0"/>
          </a:p>
        </p:txBody>
      </p:sp>
      <p:sp>
        <p:nvSpPr>
          <p:cNvPr id="21" name="Text 18"/>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CFE3DD"/>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BPR · JOURNI PHASE TEMPLATE</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200" b="1" dirty="0">
                <a:solidFill>
                  <a:srgbClr val="B4463B"/>
                </a:solidFill>
                <a:latin typeface="Calibri" pitchFamily="34" charset="0"/>
                <a:ea typeface="Calibri" pitchFamily="34" charset="-122"/>
                <a:cs typeface="Calibri" pitchFamily="34" charset="-120"/>
              </a:rPr>
              <a:t>TPL-BPR-7: 7 Phases, In Order</a:t>
            </a:r>
            <a:endParaRPr lang="en-US" sz="2200" dirty="0"/>
          </a:p>
        </p:txBody>
      </p:sp>
      <p:sp>
        <p:nvSpPr>
          <p:cNvPr id="4" name="Shape 2"/>
          <p:cNvSpPr/>
          <p:nvPr/>
        </p:nvSpPr>
        <p:spPr>
          <a:xfrm>
            <a:off x="548640" y="2103120"/>
            <a:ext cx="2697480" cy="566928"/>
          </a:xfrm>
          <a:prstGeom prst="chevron">
            <a:avLst/>
          </a:prstGeom>
          <a:solidFill>
            <a:srgbClr val="B4463B"/>
          </a:solidFill>
          <a:ln/>
        </p:spPr>
      </p:sp>
      <p:sp>
        <p:nvSpPr>
          <p:cNvPr id="5" name="Text 3"/>
          <p:cNvSpPr/>
          <p:nvPr/>
        </p:nvSpPr>
        <p:spPr>
          <a:xfrm>
            <a:off x="594360" y="2103120"/>
            <a:ext cx="260604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Intake &amp; Diagnosis</a:t>
            </a:r>
            <a:endParaRPr lang="en-US" sz="950" dirty="0"/>
          </a:p>
        </p:txBody>
      </p:sp>
      <p:sp>
        <p:nvSpPr>
          <p:cNvPr id="6" name="Shape 4"/>
          <p:cNvSpPr/>
          <p:nvPr/>
        </p:nvSpPr>
        <p:spPr>
          <a:xfrm>
            <a:off x="3337560" y="2103120"/>
            <a:ext cx="2697480" cy="566928"/>
          </a:xfrm>
          <a:prstGeom prst="chevron">
            <a:avLst/>
          </a:prstGeom>
          <a:solidFill>
            <a:srgbClr val="B4463B"/>
          </a:solidFill>
          <a:ln/>
        </p:spPr>
      </p:sp>
      <p:sp>
        <p:nvSpPr>
          <p:cNvPr id="7" name="Text 5"/>
          <p:cNvSpPr/>
          <p:nvPr/>
        </p:nvSpPr>
        <p:spPr>
          <a:xfrm>
            <a:off x="3383280" y="2103120"/>
            <a:ext cx="260604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Clean-Slate Design</a:t>
            </a:r>
            <a:endParaRPr lang="en-US" sz="950" dirty="0"/>
          </a:p>
        </p:txBody>
      </p:sp>
      <p:sp>
        <p:nvSpPr>
          <p:cNvPr id="8" name="Shape 6"/>
          <p:cNvSpPr/>
          <p:nvPr/>
        </p:nvSpPr>
        <p:spPr>
          <a:xfrm>
            <a:off x="6126480" y="2103120"/>
            <a:ext cx="2697480" cy="566928"/>
          </a:xfrm>
          <a:prstGeom prst="chevron">
            <a:avLst/>
          </a:prstGeom>
          <a:solidFill>
            <a:srgbClr val="B4463B"/>
          </a:solidFill>
          <a:ln/>
        </p:spPr>
      </p:sp>
      <p:sp>
        <p:nvSpPr>
          <p:cNvPr id="9" name="Text 7"/>
          <p:cNvSpPr/>
          <p:nvPr/>
        </p:nvSpPr>
        <p:spPr>
          <a:xfrm>
            <a:off x="6172200" y="2103120"/>
            <a:ext cx="260604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Build</a:t>
            </a:r>
            <a:endParaRPr lang="en-US" sz="950" dirty="0"/>
          </a:p>
        </p:txBody>
      </p:sp>
      <p:sp>
        <p:nvSpPr>
          <p:cNvPr id="10" name="Shape 8"/>
          <p:cNvSpPr/>
          <p:nvPr/>
        </p:nvSpPr>
        <p:spPr>
          <a:xfrm>
            <a:off x="8915400" y="2103120"/>
            <a:ext cx="2697480" cy="566928"/>
          </a:xfrm>
          <a:prstGeom prst="chevron">
            <a:avLst/>
          </a:prstGeom>
          <a:solidFill>
            <a:srgbClr val="B4463B"/>
          </a:solidFill>
          <a:ln/>
        </p:spPr>
      </p:sp>
      <p:sp>
        <p:nvSpPr>
          <p:cNvPr id="11" name="Text 9"/>
          <p:cNvSpPr/>
          <p:nvPr/>
        </p:nvSpPr>
        <p:spPr>
          <a:xfrm>
            <a:off x="8961120" y="2103120"/>
            <a:ext cx="260604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4. Pilot</a:t>
            </a:r>
            <a:endParaRPr lang="en-US" sz="950" dirty="0"/>
          </a:p>
        </p:txBody>
      </p:sp>
      <p:sp>
        <p:nvSpPr>
          <p:cNvPr id="12" name="Shape 10"/>
          <p:cNvSpPr/>
          <p:nvPr/>
        </p:nvSpPr>
        <p:spPr>
          <a:xfrm>
            <a:off x="548640" y="2798064"/>
            <a:ext cx="3627120" cy="566928"/>
          </a:xfrm>
          <a:prstGeom prst="chevron">
            <a:avLst/>
          </a:prstGeom>
          <a:solidFill>
            <a:srgbClr val="B4463B"/>
          </a:solidFill>
          <a:ln/>
        </p:spPr>
      </p:sp>
      <p:sp>
        <p:nvSpPr>
          <p:cNvPr id="13" name="Text 11"/>
          <p:cNvSpPr/>
          <p:nvPr/>
        </p:nvSpPr>
        <p:spPr>
          <a:xfrm>
            <a:off x="594360" y="2798064"/>
            <a:ext cx="353568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5. Rollout</a:t>
            </a:r>
            <a:endParaRPr lang="en-US" sz="950" dirty="0"/>
          </a:p>
        </p:txBody>
      </p:sp>
      <p:sp>
        <p:nvSpPr>
          <p:cNvPr id="14" name="Shape 12"/>
          <p:cNvSpPr/>
          <p:nvPr/>
        </p:nvSpPr>
        <p:spPr>
          <a:xfrm>
            <a:off x="4267200" y="2798064"/>
            <a:ext cx="3627120" cy="566928"/>
          </a:xfrm>
          <a:prstGeom prst="chevron">
            <a:avLst/>
          </a:prstGeom>
          <a:solidFill>
            <a:srgbClr val="B4463B"/>
          </a:solidFill>
          <a:ln/>
        </p:spPr>
      </p:sp>
      <p:sp>
        <p:nvSpPr>
          <p:cNvPr id="15" name="Text 13"/>
          <p:cNvSpPr/>
          <p:nvPr/>
        </p:nvSpPr>
        <p:spPr>
          <a:xfrm>
            <a:off x="4312920" y="2798064"/>
            <a:ext cx="353568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6. Stabilization</a:t>
            </a:r>
            <a:endParaRPr lang="en-US" sz="950" dirty="0"/>
          </a:p>
        </p:txBody>
      </p:sp>
      <p:sp>
        <p:nvSpPr>
          <p:cNvPr id="16" name="Shape 14"/>
          <p:cNvSpPr/>
          <p:nvPr/>
        </p:nvSpPr>
        <p:spPr>
          <a:xfrm>
            <a:off x="7985760" y="2798064"/>
            <a:ext cx="3627120" cy="566928"/>
          </a:xfrm>
          <a:prstGeom prst="chevron">
            <a:avLst/>
          </a:prstGeom>
          <a:solidFill>
            <a:srgbClr val="B4463B"/>
          </a:solidFill>
          <a:ln/>
        </p:spPr>
      </p:sp>
      <p:sp>
        <p:nvSpPr>
          <p:cNvPr id="17" name="Text 15"/>
          <p:cNvSpPr/>
          <p:nvPr/>
        </p:nvSpPr>
        <p:spPr>
          <a:xfrm>
            <a:off x="8031480" y="2798064"/>
            <a:ext cx="353568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7. Sustainment</a:t>
            </a:r>
            <a:endParaRPr lang="en-US" sz="950" dirty="0"/>
          </a:p>
        </p:txBody>
      </p:sp>
      <p:sp>
        <p:nvSpPr>
          <p:cNvPr id="18" name="Text 16"/>
          <p:cNvSpPr/>
          <p:nvPr/>
        </p:nvSpPr>
        <p:spPr>
          <a:xfrm>
            <a:off x="548640" y="3950208"/>
            <a:ext cx="11064240" cy="2194560"/>
          </a:xfrm>
          <a:prstGeom prst="rect">
            <a:avLst/>
          </a:prstGeom>
          <a:noFill/>
          <a:ln/>
        </p:spPr>
        <p:txBody>
          <a:bodyPr wrap="square" rtlCol="0" anchor="ctr"/>
          <a:lstStyle/>
          <a:p>
            <a:pPr indent="0" marL="0">
              <a:lnSpc>
                <a:spcPct val="130000"/>
              </a:lnSpc>
              <a:buNone/>
            </a:pPr>
            <a:r>
              <a:rPr lang="en-US" sz="1300" dirty="0">
                <a:solidFill>
                  <a:srgbClr val="16221F"/>
                </a:solidFill>
                <a:latin typeface="Calibri" pitchFamily="34" charset="0"/>
                <a:ea typeface="Calibri" pitchFamily="34" charset="-122"/>
                <a:cs typeface="Calibri" pitchFamily="34" charset="-120"/>
              </a:rPr>
              <a:t>Kübler-Ross dominates. Staff who built and privately own today's manual workarounds resist a redesign that makes those workarounds obsolete — the Resistance/Anger stage, and the Resistance Log it feeds, is this archetype's central risk, more than any specific skill gap.</a:t>
            </a:r>
            <a:endParaRPr lang="en-US" sz="1300" dirty="0"/>
          </a:p>
        </p:txBody>
      </p:sp>
      <p:sp>
        <p:nvSpPr>
          <p:cNvPr id="19" name="Text 17"/>
          <p:cNvSpPr/>
          <p:nvPr/>
        </p:nvSpPr>
        <p:spPr>
          <a:xfrm>
            <a:off x="548640" y="3630168"/>
            <a:ext cx="11064240" cy="274320"/>
          </a:xfrm>
          <a:prstGeom prst="rect">
            <a:avLst/>
          </a:prstGeom>
          <a:noFill/>
          <a:ln/>
        </p:spPr>
        <p:txBody>
          <a:bodyPr wrap="square" rtlCol="0" anchor="ctr"/>
          <a:lstStyle/>
          <a:p>
            <a:pPr indent="0" marL="0">
              <a:buNone/>
            </a:pPr>
            <a:r>
              <a:rPr lang="en-US" sz="1050" b="1" spc="100" kern="0" dirty="0">
                <a:solidFill>
                  <a:srgbClr val="C2661C"/>
                </a:solidFill>
                <a:latin typeface="Calibri" pitchFamily="34" charset="0"/>
                <a:ea typeface="Calibri" pitchFamily="34" charset="-122"/>
                <a:cs typeface="Calibri" pitchFamily="34" charset="-120"/>
              </a:rPr>
              <a:t>FRAMEWORK WEIGHTING FOR THIS ARCHETYPE</a:t>
            </a:r>
            <a:endParaRPr lang="en-US" sz="1050" dirty="0"/>
          </a:p>
        </p:txBody>
      </p:sp>
      <p:sp>
        <p:nvSpPr>
          <p:cNvPr id="20" name="Text 18"/>
          <p:cNvSpPr/>
          <p:nvPr/>
        </p:nvSpPr>
        <p:spPr>
          <a:xfrm>
            <a:off x="548640" y="6528816"/>
            <a:ext cx="73152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The 8 Transformation Types</a:t>
            </a:r>
            <a:endParaRPr lang="en-US" sz="900" dirty="0"/>
          </a:p>
        </p:txBody>
      </p:sp>
      <p:sp>
        <p:nvSpPr>
          <p:cNvPr id="21" name="Text 19"/>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BPR · TENANT SETUP</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500" b="1" dirty="0">
                <a:solidFill>
                  <a:srgbClr val="B4463B"/>
                </a:solidFill>
                <a:latin typeface="Calibri" pitchFamily="34" charset="0"/>
                <a:ea typeface="Calibri" pitchFamily="34" charset="-122"/>
                <a:cs typeface="Calibri" pitchFamily="34" charset="-120"/>
              </a:rPr>
              <a:t>The RACSI Team for This Case</a:t>
            </a:r>
            <a:endParaRPr lang="en-US" sz="2500" dirty="0"/>
          </a:p>
        </p:txBody>
      </p:sp>
      <p:sp>
        <p:nvSpPr>
          <p:cNvPr id="4" name="Text 2"/>
          <p:cNvSpPr/>
          <p:nvPr/>
        </p:nvSpPr>
        <p:spPr>
          <a:xfrm>
            <a:off x="548640" y="1417320"/>
            <a:ext cx="11064240" cy="457200"/>
          </a:xfrm>
          <a:prstGeom prst="rect">
            <a:avLst/>
          </a:prstGeom>
          <a:noFill/>
          <a:ln/>
        </p:spPr>
        <p:txBody>
          <a:bodyPr wrap="square" rtlCol="0" anchor="t"/>
          <a:lstStyle/>
          <a:p>
            <a:pPr indent="0" marL="0">
              <a:lnSpc>
                <a:spcPct val="115000"/>
              </a:lnSpc>
              <a:buNone/>
            </a:pPr>
            <a:r>
              <a:rPr lang="en-US" sz="1200" dirty="0">
                <a:solidFill>
                  <a:srgbClr val="5C6D68"/>
                </a:solidFill>
                <a:latin typeface="Calibri" pitchFamily="34" charset="0"/>
                <a:ea typeface="Calibri" pitchFamily="34" charset="-122"/>
                <a:cs typeface="Calibri" pitchFamily="34" charset="-120"/>
              </a:rPr>
              <a:t>journi's 7-code RACSI role taxonomy (ES/CM/PM/FPO/ITL/SUP/EU), assigned to real, named accounts for this program.</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11064240" cy="914400"/>
        </p:xfrm>
        <a:graphic>
          <a:graphicData uri="http://schemas.openxmlformats.org/drawingml/2006/table">
            <a:tbl>
              <a:tblPr/>
              <a:tblGrid>
                <a:gridCol w="3108960"/>
                <a:gridCol w="1645920"/>
                <a:gridCol w="6309360"/>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Name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B4463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RACSI Code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B4463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Role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B4463B"/>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Karim Zniber</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ES</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Sponsor — VP Finance</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Imane Berrada</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CM</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Change Manager</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Othmane Rifai</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PM</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Program Manager</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Salwa Tazi</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FPO</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Functional Process Owner</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Karim Alami</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ITL</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IT/Technical Lead</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Amina Sebti</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SUP</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Supervisor</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bl>
          </a:graphicData>
        </a:graphic>
      </p:graphicFrame>
      <p:sp>
        <p:nvSpPr>
          <p:cNvPr id="6" name="Text 3"/>
          <p:cNvSpPr/>
          <p:nvPr/>
        </p:nvSpPr>
        <p:spPr>
          <a:xfrm>
            <a:off x="548640" y="6528816"/>
            <a:ext cx="73152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The 8 Transformation Types</a:t>
            </a:r>
            <a:endParaRPr lang="en-US" sz="900" dirty="0"/>
          </a:p>
        </p:txBody>
      </p:sp>
      <p:sp>
        <p:nvSpPr>
          <p:cNvPr id="7" name="Text 4"/>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BPR · JOURNI MODULES</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400" b="1" dirty="0">
                <a:solidFill>
                  <a:srgbClr val="B4463B"/>
                </a:solidFill>
                <a:latin typeface="Calibri" pitchFamily="34" charset="0"/>
                <a:ea typeface="Calibri" pitchFamily="34" charset="-122"/>
                <a:cs typeface="Calibri" pitchFamily="34" charset="-120"/>
              </a:rPr>
              <a:t>Which modules dominate this archetype</a:t>
            </a:r>
            <a:endParaRPr lang="en-US" sz="2400" dirty="0"/>
          </a:p>
        </p:txBody>
      </p:sp>
      <p:sp>
        <p:nvSpPr>
          <p:cNvPr id="4" name="Shape 2"/>
          <p:cNvSpPr/>
          <p:nvPr/>
        </p:nvSpPr>
        <p:spPr>
          <a:xfrm>
            <a:off x="548640" y="2057400"/>
            <a:ext cx="11064240" cy="932688"/>
          </a:xfrm>
          <a:prstGeom prst="roundRect">
            <a:avLst>
              <a:gd name="adj" fmla="val 4902"/>
            </a:avLst>
          </a:prstGeom>
          <a:solidFill>
            <a:srgbClr val="EAF2EF"/>
          </a:solidFill>
          <a:ln/>
        </p:spPr>
      </p:sp>
      <p:sp>
        <p:nvSpPr>
          <p:cNvPr id="5" name="Text 3"/>
          <p:cNvSpPr/>
          <p:nvPr/>
        </p:nvSpPr>
        <p:spPr>
          <a:xfrm>
            <a:off x="777240" y="2167128"/>
            <a:ext cx="3200400" cy="713232"/>
          </a:xfrm>
          <a:prstGeom prst="rect">
            <a:avLst/>
          </a:prstGeom>
          <a:noFill/>
          <a:ln/>
        </p:spPr>
        <p:txBody>
          <a:bodyPr wrap="square" rtlCol="0" anchor="ctr"/>
          <a:lstStyle/>
          <a:p>
            <a:pPr indent="0" marL="0">
              <a:lnSpc>
                <a:spcPct val="110000"/>
              </a:lnSpc>
              <a:buNone/>
            </a:pPr>
            <a:r>
              <a:rPr lang="en-US" sz="1300" b="1" dirty="0">
                <a:solidFill>
                  <a:srgbClr val="B4463B"/>
                </a:solidFill>
                <a:latin typeface="Calibri" pitchFamily="34" charset="0"/>
                <a:ea typeface="Calibri" pitchFamily="34" charset="-122"/>
                <a:cs typeface="Calibri" pitchFamily="34" charset="-120"/>
              </a:rPr>
              <a:t>M10 (Resistance Log)</a:t>
            </a:r>
            <a:endParaRPr lang="en-US" sz="1300" dirty="0"/>
          </a:p>
        </p:txBody>
      </p:sp>
      <p:sp>
        <p:nvSpPr>
          <p:cNvPr id="6" name="Text 4"/>
          <p:cNvSpPr/>
          <p:nvPr/>
        </p:nvSpPr>
        <p:spPr>
          <a:xfrm>
            <a:off x="4069080" y="2167128"/>
            <a:ext cx="7360920" cy="713232"/>
          </a:xfrm>
          <a:prstGeom prst="rect">
            <a:avLst/>
          </a:prstGeom>
          <a:noFill/>
          <a:ln/>
        </p:spPr>
        <p:txBody>
          <a:bodyPr wrap="square" rtlCol="0" anchor="ctr"/>
          <a:lstStyle/>
          <a:p>
            <a:pPr indent="0" marL="0">
              <a:lnSpc>
                <a:spcPct val="120000"/>
              </a:lnSpc>
              <a:buNone/>
            </a:pPr>
            <a:r>
              <a:rPr lang="en-US" sz="1180" dirty="0">
                <a:solidFill>
                  <a:srgbClr val="16221F"/>
                </a:solidFill>
                <a:latin typeface="Calibri" pitchFamily="34" charset="0"/>
                <a:ea typeface="Calibri" pitchFamily="34" charset="-122"/>
                <a:cs typeface="Calibri" pitchFamily="34" charset="-120"/>
              </a:rPr>
              <a:t>The archetype's most-watched module — 3+ open entries fires ALT-004.</a:t>
            </a:r>
            <a:endParaRPr lang="en-US" sz="1180" dirty="0"/>
          </a:p>
        </p:txBody>
      </p:sp>
      <p:sp>
        <p:nvSpPr>
          <p:cNvPr id="7" name="Shape 5"/>
          <p:cNvSpPr/>
          <p:nvPr/>
        </p:nvSpPr>
        <p:spPr>
          <a:xfrm>
            <a:off x="548640" y="3099816"/>
            <a:ext cx="11064240" cy="932688"/>
          </a:xfrm>
          <a:prstGeom prst="roundRect">
            <a:avLst>
              <a:gd name="adj" fmla="val 4902"/>
            </a:avLst>
          </a:prstGeom>
          <a:solidFill>
            <a:srgbClr val="EAF2EF"/>
          </a:solidFill>
          <a:ln/>
        </p:spPr>
      </p:sp>
      <p:sp>
        <p:nvSpPr>
          <p:cNvPr id="8" name="Text 6"/>
          <p:cNvSpPr/>
          <p:nvPr/>
        </p:nvSpPr>
        <p:spPr>
          <a:xfrm>
            <a:off x="777240" y="3209544"/>
            <a:ext cx="3200400" cy="713232"/>
          </a:xfrm>
          <a:prstGeom prst="rect">
            <a:avLst/>
          </a:prstGeom>
          <a:noFill/>
          <a:ln/>
        </p:spPr>
        <p:txBody>
          <a:bodyPr wrap="square" rtlCol="0" anchor="ctr"/>
          <a:lstStyle/>
          <a:p>
            <a:pPr indent="0" marL="0">
              <a:lnSpc>
                <a:spcPct val="110000"/>
              </a:lnSpc>
              <a:buNone/>
            </a:pPr>
            <a:r>
              <a:rPr lang="en-US" sz="1300" b="1" dirty="0">
                <a:solidFill>
                  <a:srgbClr val="B4463B"/>
                </a:solidFill>
                <a:latin typeface="Calibri" pitchFamily="34" charset="0"/>
                <a:ea typeface="Calibri" pitchFamily="34" charset="-122"/>
                <a:cs typeface="Calibri" pitchFamily="34" charset="-120"/>
              </a:rPr>
              <a:t>M4 (Stakeholder Mapping)</a:t>
            </a:r>
            <a:endParaRPr lang="en-US" sz="1300" dirty="0"/>
          </a:p>
        </p:txBody>
      </p:sp>
      <p:sp>
        <p:nvSpPr>
          <p:cNvPr id="9" name="Text 7"/>
          <p:cNvSpPr/>
          <p:nvPr/>
        </p:nvSpPr>
        <p:spPr>
          <a:xfrm>
            <a:off x="4069080" y="3209544"/>
            <a:ext cx="7360920" cy="713232"/>
          </a:xfrm>
          <a:prstGeom prst="rect">
            <a:avLst/>
          </a:prstGeom>
          <a:noFill/>
          <a:ln/>
        </p:spPr>
        <p:txBody>
          <a:bodyPr wrap="square" rtlCol="0" anchor="ctr"/>
          <a:lstStyle/>
          <a:p>
            <a:pPr indent="0" marL="0">
              <a:lnSpc>
                <a:spcPct val="120000"/>
              </a:lnSpc>
              <a:buNone/>
            </a:pPr>
            <a:r>
              <a:rPr lang="en-US" sz="1180" dirty="0">
                <a:solidFill>
                  <a:srgbClr val="16221F"/>
                </a:solidFill>
                <a:latin typeface="Calibri" pitchFamily="34" charset="0"/>
                <a:ea typeface="Calibri" pitchFamily="34" charset="-122"/>
                <a:cs typeface="Calibri" pitchFamily="34" charset="-120"/>
              </a:rPr>
              <a:t>Identifies exactly whose workaround is being redesigned away, by name.</a:t>
            </a:r>
            <a:endParaRPr lang="en-US" sz="1180" dirty="0"/>
          </a:p>
        </p:txBody>
      </p:sp>
      <p:sp>
        <p:nvSpPr>
          <p:cNvPr id="10" name="Shape 8"/>
          <p:cNvSpPr/>
          <p:nvPr/>
        </p:nvSpPr>
        <p:spPr>
          <a:xfrm>
            <a:off x="548640" y="4142232"/>
            <a:ext cx="11064240" cy="932688"/>
          </a:xfrm>
          <a:prstGeom prst="roundRect">
            <a:avLst>
              <a:gd name="adj" fmla="val 4902"/>
            </a:avLst>
          </a:prstGeom>
          <a:solidFill>
            <a:srgbClr val="EAF2EF"/>
          </a:solidFill>
          <a:ln/>
        </p:spPr>
      </p:sp>
      <p:sp>
        <p:nvSpPr>
          <p:cNvPr id="11" name="Text 9"/>
          <p:cNvSpPr/>
          <p:nvPr/>
        </p:nvSpPr>
        <p:spPr>
          <a:xfrm>
            <a:off x="777240" y="4251960"/>
            <a:ext cx="3200400" cy="713232"/>
          </a:xfrm>
          <a:prstGeom prst="rect">
            <a:avLst/>
          </a:prstGeom>
          <a:noFill/>
          <a:ln/>
        </p:spPr>
        <p:txBody>
          <a:bodyPr wrap="square" rtlCol="0" anchor="ctr"/>
          <a:lstStyle/>
          <a:p>
            <a:pPr indent="0" marL="0">
              <a:lnSpc>
                <a:spcPct val="110000"/>
              </a:lnSpc>
              <a:buNone/>
            </a:pPr>
            <a:r>
              <a:rPr lang="en-US" sz="1300" b="1" dirty="0">
                <a:solidFill>
                  <a:srgbClr val="B4463B"/>
                </a:solidFill>
                <a:latin typeface="Calibri" pitchFamily="34" charset="0"/>
                <a:ea typeface="Calibri" pitchFamily="34" charset="-122"/>
                <a:cs typeface="Calibri" pitchFamily="34" charset="-120"/>
              </a:rPr>
              <a:t>M17 (WBS &amp; Gantt)</a:t>
            </a:r>
            <a:endParaRPr lang="en-US" sz="1300" dirty="0"/>
          </a:p>
        </p:txBody>
      </p:sp>
      <p:sp>
        <p:nvSpPr>
          <p:cNvPr id="12" name="Text 10"/>
          <p:cNvSpPr/>
          <p:nvPr/>
        </p:nvSpPr>
        <p:spPr>
          <a:xfrm>
            <a:off x="4069080" y="4251960"/>
            <a:ext cx="7360920" cy="713232"/>
          </a:xfrm>
          <a:prstGeom prst="rect">
            <a:avLst/>
          </a:prstGeom>
          <a:noFill/>
          <a:ln/>
        </p:spPr>
        <p:txBody>
          <a:bodyPr wrap="square" rtlCol="0" anchor="ctr"/>
          <a:lstStyle/>
          <a:p>
            <a:pPr indent="0" marL="0">
              <a:lnSpc>
                <a:spcPct val="120000"/>
              </a:lnSpc>
              <a:buNone/>
            </a:pPr>
            <a:r>
              <a:rPr lang="en-US" sz="1180" dirty="0">
                <a:solidFill>
                  <a:srgbClr val="16221F"/>
                </a:solidFill>
                <a:latin typeface="Calibri" pitchFamily="34" charset="0"/>
                <a:ea typeface="Calibri" pitchFamily="34" charset="-122"/>
                <a:cs typeface="Calibri" pitchFamily="34" charset="-120"/>
              </a:rPr>
              <a:t>The TPL-BPR-7 template — Clean-Slate Design is this archetype's defining phase.</a:t>
            </a:r>
            <a:endParaRPr lang="en-US" sz="1180" dirty="0"/>
          </a:p>
        </p:txBody>
      </p:sp>
      <p:sp>
        <p:nvSpPr>
          <p:cNvPr id="13" name="Shape 11"/>
          <p:cNvSpPr/>
          <p:nvPr/>
        </p:nvSpPr>
        <p:spPr>
          <a:xfrm>
            <a:off x="548640" y="5184648"/>
            <a:ext cx="11064240" cy="932688"/>
          </a:xfrm>
          <a:prstGeom prst="roundRect">
            <a:avLst>
              <a:gd name="adj" fmla="val 4902"/>
            </a:avLst>
          </a:prstGeom>
          <a:solidFill>
            <a:srgbClr val="EAF2EF"/>
          </a:solidFill>
          <a:ln/>
        </p:spPr>
      </p:sp>
      <p:sp>
        <p:nvSpPr>
          <p:cNvPr id="14" name="Text 12"/>
          <p:cNvSpPr/>
          <p:nvPr/>
        </p:nvSpPr>
        <p:spPr>
          <a:xfrm>
            <a:off x="777240" y="5294376"/>
            <a:ext cx="3200400" cy="713232"/>
          </a:xfrm>
          <a:prstGeom prst="rect">
            <a:avLst/>
          </a:prstGeom>
          <a:noFill/>
          <a:ln/>
        </p:spPr>
        <p:txBody>
          <a:bodyPr wrap="square" rtlCol="0" anchor="ctr"/>
          <a:lstStyle/>
          <a:p>
            <a:pPr indent="0" marL="0">
              <a:lnSpc>
                <a:spcPct val="110000"/>
              </a:lnSpc>
              <a:buNone/>
            </a:pPr>
            <a:r>
              <a:rPr lang="en-US" sz="1300" b="1" dirty="0">
                <a:solidFill>
                  <a:srgbClr val="B4463B"/>
                </a:solidFill>
                <a:latin typeface="Calibri" pitchFamily="34" charset="0"/>
                <a:ea typeface="Calibri" pitchFamily="34" charset="-122"/>
                <a:cs typeface="Calibri" pitchFamily="34" charset="-120"/>
              </a:rPr>
              <a:t>M21 (Field Notes)</a:t>
            </a:r>
            <a:endParaRPr lang="en-US" sz="1300" dirty="0"/>
          </a:p>
        </p:txBody>
      </p:sp>
      <p:sp>
        <p:nvSpPr>
          <p:cNvPr id="15" name="Text 13"/>
          <p:cNvSpPr/>
          <p:nvPr/>
        </p:nvSpPr>
        <p:spPr>
          <a:xfrm>
            <a:off x="4069080" y="5294376"/>
            <a:ext cx="7360920" cy="713232"/>
          </a:xfrm>
          <a:prstGeom prst="rect">
            <a:avLst/>
          </a:prstGeom>
          <a:noFill/>
          <a:ln/>
        </p:spPr>
        <p:txBody>
          <a:bodyPr wrap="square" rtlCol="0" anchor="ctr"/>
          <a:lstStyle/>
          <a:p>
            <a:pPr indent="0" marL="0">
              <a:lnSpc>
                <a:spcPct val="120000"/>
              </a:lnSpc>
              <a:buNone/>
            </a:pPr>
            <a:r>
              <a:rPr lang="en-US" sz="1180" dirty="0">
                <a:solidFill>
                  <a:srgbClr val="16221F"/>
                </a:solidFill>
                <a:latin typeface="Calibri" pitchFamily="34" charset="0"/>
                <a:ea typeface="Calibri" pitchFamily="34" charset="-122"/>
                <a:cs typeface="Calibri" pitchFamily="34" charset="-120"/>
              </a:rPr>
              <a:t>Captures the specific, named fear behind a resistance entry, not just its existence.</a:t>
            </a:r>
            <a:endParaRPr lang="en-US" sz="1180" dirty="0"/>
          </a:p>
        </p:txBody>
      </p:sp>
      <p:sp>
        <p:nvSpPr>
          <p:cNvPr id="16" name="Text 14"/>
          <p:cNvSpPr/>
          <p:nvPr/>
        </p:nvSpPr>
        <p:spPr>
          <a:xfrm>
            <a:off x="548640" y="6528816"/>
            <a:ext cx="73152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The 8 Transformation Types</a:t>
            </a:r>
            <a:endParaRPr lang="en-US" sz="900" dirty="0"/>
          </a:p>
        </p:txBody>
      </p:sp>
      <p:sp>
        <p:nvSpPr>
          <p:cNvPr id="17" name="Text 15"/>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BPR · REAL SCENARIO</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100" b="1" dirty="0">
                <a:solidFill>
                  <a:srgbClr val="B4463B"/>
                </a:solidFill>
                <a:latin typeface="Calibri" pitchFamily="34" charset="0"/>
                <a:ea typeface="Calibri" pitchFamily="34" charset="-122"/>
                <a:cs typeface="Calibri" pitchFamily="34" charset="-120"/>
              </a:rPr>
              <a:t>Order-to-Cash Process Redesign</a:t>
            </a:r>
            <a:endParaRPr lang="en-US" sz="2100" dirty="0"/>
          </a:p>
        </p:txBody>
      </p:sp>
      <p:sp>
        <p:nvSpPr>
          <p:cNvPr id="4" name="Text 2"/>
          <p:cNvSpPr/>
          <p:nvPr/>
        </p:nvSpPr>
        <p:spPr>
          <a:xfrm>
            <a:off x="548640" y="1417320"/>
            <a:ext cx="11064240" cy="457200"/>
          </a:xfrm>
          <a:prstGeom prst="rect">
            <a:avLst/>
          </a:prstGeom>
          <a:noFill/>
          <a:ln/>
        </p:spPr>
        <p:txBody>
          <a:bodyPr wrap="square" rtlCol="0" anchor="t"/>
          <a:lstStyle/>
          <a:p>
            <a:pPr indent="0" marL="0">
              <a:lnSpc>
                <a:spcPct val="115000"/>
              </a:lnSpc>
              <a:buNone/>
            </a:pPr>
            <a:r>
              <a:rPr lang="en-US" sz="1200" dirty="0">
                <a:solidFill>
                  <a:srgbClr val="5C6D68"/>
                </a:solidFill>
                <a:latin typeface="Calibri" pitchFamily="34" charset="0"/>
                <a:ea typeface="Calibri" pitchFamily="34" charset="-122"/>
                <a:cs typeface="Calibri" pitchFamily="34" charset="-120"/>
              </a:rPr>
              <a:t>140 staff, Casablanca finance  ·  50 weeks (guide numbering)</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11064240" cy="914400"/>
        </p:xfrm>
        <a:graphic>
          <a:graphicData uri="http://schemas.openxmlformats.org/drawingml/2006/table">
            <a:tbl>
              <a:tblPr/>
              <a:tblGrid>
                <a:gridCol w="1463040"/>
                <a:gridCol w="9601200"/>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Week</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B4463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Milestone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B4463B"/>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Wk 1</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Intake &amp; Diagnosis opens, run alongside the ERP program's own Discovery.</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Wk 10</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Clean-Slate Design signed off.</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Wk 20–24</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Pilot on a single process step; third resistance entry lands, firing ALT-004.</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Wk 34</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Organization-wide rollout.</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Wk 50</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Sustainment handoff.</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bl>
          </a:graphicData>
        </a:graphic>
      </p:graphicFrame>
      <p:sp>
        <p:nvSpPr>
          <p:cNvPr id="6" name="Text 3"/>
          <p:cNvSpPr/>
          <p:nvPr/>
        </p:nvSpPr>
        <p:spPr>
          <a:xfrm>
            <a:off x="548640" y="6528816"/>
            <a:ext cx="73152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The 8 Transformation Types</a:t>
            </a:r>
            <a:endParaRPr lang="en-US" sz="900" dirty="0"/>
          </a:p>
        </p:txBody>
      </p:sp>
      <p:sp>
        <p:nvSpPr>
          <p:cNvPr id="7" name="Text 4"/>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B4463B"/>
        </a:solidFill>
      </p:bgPr>
    </p:bg>
    <p:spTree>
      <p:nvGrpSpPr>
        <p:cNvPr id="1" name=""/>
        <p:cNvGrpSpPr/>
        <p:nvPr/>
      </p:nvGrpSpPr>
      <p:grpSpPr>
        <a:xfrm>
          <a:off x="0" y="0"/>
          <a:ext cx="0" cy="0"/>
          <a:chOff x="0" y="0"/>
          <a:chExt cx="0" cy="0"/>
        </a:xfrm>
      </p:grpSpPr>
      <p:sp>
        <p:nvSpPr>
          <p:cNvPr id="2" name="Text 0"/>
          <p:cNvSpPr/>
          <p:nvPr/>
        </p:nvSpPr>
        <p:spPr>
          <a:xfrm>
            <a:off x="548640" y="457200"/>
            <a:ext cx="10058400" cy="320040"/>
          </a:xfrm>
          <a:prstGeom prst="rect">
            <a:avLst/>
          </a:prstGeom>
          <a:noFill/>
          <a:ln/>
        </p:spPr>
        <p:txBody>
          <a:bodyPr wrap="square" rtlCol="0" anchor="ctr"/>
          <a:lstStyle/>
          <a:p>
            <a:pPr indent="0" marL="0">
              <a:buNone/>
            </a:pPr>
            <a:r>
              <a:rPr lang="en-US" sz="1250" b="1" spc="200" kern="0" dirty="0">
                <a:solidFill>
                  <a:srgbClr val="FFFFFF"/>
                </a:solidFill>
                <a:latin typeface="Calibri" pitchFamily="34" charset="0"/>
                <a:ea typeface="Calibri" pitchFamily="34" charset="-122"/>
                <a:cs typeface="Calibri" pitchFamily="34" charset="-120"/>
              </a:rPr>
              <a:t>BPR · ALERTS &amp; PROOF</a:t>
            </a:r>
            <a:endParaRPr lang="en-US" sz="1250" dirty="0"/>
          </a:p>
        </p:txBody>
      </p:sp>
      <p:sp>
        <p:nvSpPr>
          <p:cNvPr id="3" name="Text 1"/>
          <p:cNvSpPr/>
          <p:nvPr/>
        </p:nvSpPr>
        <p:spPr>
          <a:xfrm>
            <a:off x="548640" y="804672"/>
            <a:ext cx="10972800" cy="6858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What This Case Fires</a:t>
            </a:r>
            <a:endParaRPr lang="en-US" sz="2600" dirty="0"/>
          </a:p>
        </p:txBody>
      </p:sp>
      <p:sp>
        <p:nvSpPr>
          <p:cNvPr id="4" name="Shape 2"/>
          <p:cNvSpPr/>
          <p:nvPr/>
        </p:nvSpPr>
        <p:spPr>
          <a:xfrm>
            <a:off x="548640" y="1737360"/>
            <a:ext cx="11064240" cy="1463040"/>
          </a:xfrm>
          <a:prstGeom prst="roundRect">
            <a:avLst>
              <a:gd name="adj" fmla="val 3125"/>
            </a:avLst>
          </a:prstGeom>
          <a:solidFill>
            <a:srgbClr val="FFFFFF"/>
          </a:solidFill>
          <a:ln/>
        </p:spPr>
      </p:sp>
      <p:sp>
        <p:nvSpPr>
          <p:cNvPr id="5" name="Text 3"/>
          <p:cNvSpPr/>
          <p:nvPr/>
        </p:nvSpPr>
        <p:spPr>
          <a:xfrm>
            <a:off x="777240" y="1874520"/>
            <a:ext cx="10607040" cy="274320"/>
          </a:xfrm>
          <a:prstGeom prst="rect">
            <a:avLst/>
          </a:prstGeom>
          <a:noFill/>
          <a:ln/>
        </p:spPr>
        <p:txBody>
          <a:bodyPr wrap="square" rtlCol="0" anchor="ctr"/>
          <a:lstStyle/>
          <a:p>
            <a:pPr indent="0" marL="0">
              <a:buNone/>
            </a:pPr>
            <a:r>
              <a:rPr lang="en-US" sz="1050" b="1" spc="100" kern="0" dirty="0">
                <a:solidFill>
                  <a:srgbClr val="B4463B"/>
                </a:solidFill>
                <a:latin typeface="Calibri" pitchFamily="34" charset="0"/>
                <a:ea typeface="Calibri" pitchFamily="34" charset="-122"/>
                <a:cs typeface="Calibri" pitchFamily="34" charset="-120"/>
              </a:rPr>
              <a:t>ALERTS THIS CASE EXERCISES</a:t>
            </a:r>
            <a:endParaRPr lang="en-US" sz="1050" dirty="0"/>
          </a:p>
        </p:txBody>
      </p:sp>
      <p:sp>
        <p:nvSpPr>
          <p:cNvPr id="6" name="Text 4"/>
          <p:cNvSpPr/>
          <p:nvPr/>
        </p:nvSpPr>
        <p:spPr>
          <a:xfrm>
            <a:off x="777240" y="2176272"/>
            <a:ext cx="10607040" cy="914400"/>
          </a:xfrm>
          <a:prstGeom prst="rect">
            <a:avLst/>
          </a:prstGeom>
          <a:noFill/>
          <a:ln/>
        </p:spPr>
        <p:txBody>
          <a:bodyPr wrap="square" rtlCol="0" anchor="ctr"/>
          <a:lstStyle/>
          <a:p>
            <a:pPr indent="0" marL="0">
              <a:lnSpc>
                <a:spcPct val="125000"/>
              </a:lnSpc>
              <a:buNone/>
            </a:pPr>
            <a:r>
              <a:rPr lang="en-US" sz="1350" b="1" dirty="0">
                <a:solidFill>
                  <a:srgbClr val="16221F"/>
                </a:solidFill>
                <a:latin typeface="Calibri" pitchFamily="34" charset="0"/>
                <a:ea typeface="Calibri" pitchFamily="34" charset="-122"/>
                <a:cs typeface="Calibri" pitchFamily="34" charset="-120"/>
              </a:rPr>
              <a:t>ALT-004 (Resistance Escalation Threshold Breached)</a:t>
            </a:r>
            <a:endParaRPr lang="en-US" sz="1350" dirty="0"/>
          </a:p>
        </p:txBody>
      </p:sp>
      <p:sp>
        <p:nvSpPr>
          <p:cNvPr id="7" name="Shape 5"/>
          <p:cNvSpPr/>
          <p:nvPr/>
        </p:nvSpPr>
        <p:spPr>
          <a:xfrm>
            <a:off x="548640" y="3383280"/>
            <a:ext cx="11064240" cy="1417320"/>
          </a:xfrm>
          <a:prstGeom prst="roundRect">
            <a:avLst>
              <a:gd name="adj" fmla="val 3226"/>
            </a:avLst>
          </a:prstGeom>
          <a:solidFill>
            <a:srgbClr val="FFFFFF"/>
          </a:solidFill>
          <a:ln/>
        </p:spPr>
      </p:sp>
      <p:sp>
        <p:nvSpPr>
          <p:cNvPr id="8" name="Text 6"/>
          <p:cNvSpPr/>
          <p:nvPr/>
        </p:nvSpPr>
        <p:spPr>
          <a:xfrm>
            <a:off x="777240" y="3520440"/>
            <a:ext cx="10607040" cy="274320"/>
          </a:xfrm>
          <a:prstGeom prst="rect">
            <a:avLst/>
          </a:prstGeom>
          <a:noFill/>
          <a:ln/>
        </p:spPr>
        <p:txBody>
          <a:bodyPr wrap="square" rtlCol="0" anchor="ctr"/>
          <a:lstStyle/>
          <a:p>
            <a:pPr indent="0" marL="0">
              <a:buNone/>
            </a:pPr>
            <a:r>
              <a:rPr lang="en-US" sz="1050" b="1" spc="100" kern="0" dirty="0">
                <a:solidFill>
                  <a:srgbClr val="B4463B"/>
                </a:solidFill>
                <a:latin typeface="Calibri" pitchFamily="34" charset="0"/>
                <a:ea typeface="Calibri" pitchFamily="34" charset="-122"/>
                <a:cs typeface="Calibri" pitchFamily="34" charset="-120"/>
              </a:rPr>
              <a:t>WHY</a:t>
            </a:r>
            <a:endParaRPr lang="en-US" sz="1050" dirty="0"/>
          </a:p>
        </p:txBody>
      </p:sp>
      <p:sp>
        <p:nvSpPr>
          <p:cNvPr id="9" name="Text 7"/>
          <p:cNvSpPr/>
          <p:nvPr/>
        </p:nvSpPr>
        <p:spPr>
          <a:xfrm>
            <a:off x="777240" y="3822192"/>
            <a:ext cx="10607040" cy="914400"/>
          </a:xfrm>
          <a:prstGeom prst="rect">
            <a:avLst/>
          </a:prstGeom>
          <a:noFill/>
          <a:ln/>
        </p:spPr>
        <p:txBody>
          <a:bodyPr wrap="square" rtlCol="0" anchor="ctr"/>
          <a:lstStyle/>
          <a:p>
            <a:pPr indent="0" marL="0">
              <a:lnSpc>
                <a:spcPct val="125000"/>
              </a:lnSpc>
              <a:buNone/>
            </a:pPr>
            <a:r>
              <a:rPr lang="en-US" sz="1250" dirty="0">
                <a:solidFill>
                  <a:srgbClr val="16221F"/>
                </a:solidFill>
                <a:latin typeface="Calibri" pitchFamily="34" charset="0"/>
                <a:ea typeface="Calibri" pitchFamily="34" charset="-122"/>
                <a:cs typeface="Calibri" pitchFamily="34" charset="-120"/>
              </a:rPr>
              <a:t>Built deliberately to cross the resistance-escalation threshold — the defining alert of this archetype.</a:t>
            </a:r>
            <a:endParaRPr lang="en-US" sz="1250" dirty="0"/>
          </a:p>
        </p:txBody>
      </p:sp>
      <p:sp>
        <p:nvSpPr>
          <p:cNvPr id="10" name="Shape 8"/>
          <p:cNvSpPr/>
          <p:nvPr/>
        </p:nvSpPr>
        <p:spPr>
          <a:xfrm>
            <a:off x="548640" y="4983480"/>
            <a:ext cx="11064240" cy="1417320"/>
          </a:xfrm>
          <a:prstGeom prst="roundRect">
            <a:avLst>
              <a:gd name="adj" fmla="val 3226"/>
            </a:avLst>
          </a:prstGeom>
          <a:solidFill>
            <a:srgbClr val="FFFFFF"/>
          </a:solidFill>
          <a:ln/>
        </p:spPr>
      </p:sp>
      <p:sp>
        <p:nvSpPr>
          <p:cNvPr id="11" name="Text 9"/>
          <p:cNvSpPr/>
          <p:nvPr/>
        </p:nvSpPr>
        <p:spPr>
          <a:xfrm>
            <a:off x="777240" y="5120640"/>
            <a:ext cx="10607040" cy="274320"/>
          </a:xfrm>
          <a:prstGeom prst="rect">
            <a:avLst/>
          </a:prstGeom>
          <a:noFill/>
          <a:ln/>
        </p:spPr>
        <p:txBody>
          <a:bodyPr wrap="square" rtlCol="0" anchor="ctr"/>
          <a:lstStyle/>
          <a:p>
            <a:pPr indent="0" marL="0">
              <a:buNone/>
            </a:pPr>
            <a:r>
              <a:rPr lang="en-US" sz="1050" b="1" spc="100" kern="0" dirty="0">
                <a:solidFill>
                  <a:srgbClr val="B4463B"/>
                </a:solidFill>
                <a:latin typeface="Calibri" pitchFamily="34" charset="0"/>
                <a:ea typeface="Calibri" pitchFamily="34" charset="-122"/>
                <a:cs typeface="Calibri" pitchFamily="34" charset="-120"/>
              </a:rPr>
              <a:t>WHAT THIS GUIDE PROVES, CONCRETELY</a:t>
            </a:r>
            <a:endParaRPr lang="en-US" sz="1050" dirty="0"/>
          </a:p>
        </p:txBody>
      </p:sp>
      <p:sp>
        <p:nvSpPr>
          <p:cNvPr id="12" name="Text 10"/>
          <p:cNvSpPr/>
          <p:nvPr/>
        </p:nvSpPr>
        <p:spPr>
          <a:xfrm>
            <a:off x="777240" y="5422392"/>
            <a:ext cx="10607040" cy="914400"/>
          </a:xfrm>
          <a:prstGeom prst="rect">
            <a:avLst/>
          </a:prstGeom>
          <a:noFill/>
          <a:ln/>
        </p:spPr>
        <p:txBody>
          <a:bodyPr wrap="square" rtlCol="0" anchor="ctr"/>
          <a:lstStyle/>
          <a:p>
            <a:pPr indent="0" marL="0">
              <a:lnSpc>
                <a:spcPct val="120000"/>
              </a:lnSpc>
              <a:buNone/>
            </a:pPr>
            <a:r>
              <a:rPr lang="en-US" sz="1200" i="1" dirty="0">
                <a:solidFill>
                  <a:srgbClr val="16221F"/>
                </a:solidFill>
                <a:latin typeface="Calibri" pitchFamily="34" charset="0"/>
                <a:ea typeface="Calibri" pitchFamily="34" charset="-122"/>
                <a:cs typeface="Calibri" pitchFamily="34" charset="-120"/>
              </a:rPr>
              <a:t>A real ALT-004 firing, resolved through a co-designed accuracy safeguard the resisting staff themselves helped define — not overridden from above.</a:t>
            </a:r>
            <a:endParaRPr lang="en-US" sz="1200" dirty="0"/>
          </a:p>
        </p:txBody>
      </p:sp>
      <p:sp>
        <p:nvSpPr>
          <p:cNvPr id="13" name="Text 11"/>
          <p:cNvSpPr/>
          <p:nvPr/>
        </p:nvSpPr>
        <p:spPr>
          <a:xfrm>
            <a:off x="548640" y="6528816"/>
            <a:ext cx="7315200" cy="274320"/>
          </a:xfrm>
          <a:prstGeom prst="rect">
            <a:avLst/>
          </a:prstGeom>
          <a:noFill/>
          <a:ln/>
        </p:spPr>
        <p:txBody>
          <a:bodyPr wrap="square" rtlCol="0" anchor="ctr"/>
          <a:lstStyle/>
          <a:p>
            <a:pPr algn="l" indent="0" marL="0">
              <a:buNone/>
            </a:pPr>
            <a:r>
              <a:rPr lang="en-US" sz="900" dirty="0">
                <a:solidFill>
                  <a:srgbClr val="CFE3DD"/>
                </a:solidFill>
                <a:latin typeface="Calibri" pitchFamily="34" charset="0"/>
                <a:ea typeface="Calibri" pitchFamily="34" charset="-122"/>
                <a:cs typeface="Calibri" pitchFamily="34" charset="-120"/>
              </a:rPr>
              <a:t>journi — The 8 Transformation Types</a:t>
            </a:r>
            <a:endParaRPr lang="en-US" sz="900" dirty="0"/>
          </a:p>
        </p:txBody>
      </p:sp>
      <p:sp>
        <p:nvSpPr>
          <p:cNvPr id="14" name="Text 12"/>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CFE3DD"/>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F6459"/>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indent="0" marL="0">
              <a:buNone/>
            </a:pPr>
            <a:r>
              <a:rPr lang="en-US" sz="1250" b="1" spc="200" kern="0" dirty="0">
                <a:solidFill>
                  <a:srgbClr val="FFFFFF"/>
                </a:solidFill>
                <a:latin typeface="Calibri" pitchFamily="34" charset="0"/>
                <a:ea typeface="Calibri" pitchFamily="34" charset="-122"/>
                <a:cs typeface="Calibri" pitchFamily="34" charset="-120"/>
              </a:rPr>
              <a:t>TRANSFORMATION TYPE 3 OF 8</a:t>
            </a:r>
            <a:endParaRPr lang="en-US" sz="1250" dirty="0"/>
          </a:p>
        </p:txBody>
      </p:sp>
      <p:sp>
        <p:nvSpPr>
          <p:cNvPr id="3" name="Shape 1"/>
          <p:cNvSpPr/>
          <p:nvPr/>
        </p:nvSpPr>
        <p:spPr>
          <a:xfrm>
            <a:off x="548640" y="868680"/>
            <a:ext cx="868680" cy="868680"/>
          </a:xfrm>
          <a:prstGeom prst="ellipse">
            <a:avLst/>
          </a:prstGeom>
          <a:solidFill>
            <a:srgbClr val="FFFFFF"/>
          </a:solidFill>
          <a:ln/>
        </p:spPr>
      </p:sp>
      <p:pic>
        <p:nvPicPr>
          <p:cNvPr id="4" name="Image 0" descr="/home/user/scm-process-register/docs-src/transformation-types-deck/assets/robot.png">    </p:cNvPr>
          <p:cNvPicPr>
            <a:picLocks noChangeAspect="1"/>
          </p:cNvPicPr>
          <p:nvPr/>
        </p:nvPicPr>
        <p:blipFill>
          <a:blip r:embed="rId1"/>
          <a:stretch>
            <a:fillRect/>
          </a:stretch>
        </p:blipFill>
        <p:spPr>
          <a:xfrm>
            <a:off x="731520" y="1051560"/>
            <a:ext cx="502920" cy="502920"/>
          </a:xfrm>
          <a:prstGeom prst="rect">
            <a:avLst/>
          </a:prstGeom>
        </p:spPr>
      </p:pic>
      <p:sp>
        <p:nvSpPr>
          <p:cNvPr id="5" name="Text 2"/>
          <p:cNvSpPr/>
          <p:nvPr/>
        </p:nvSpPr>
        <p:spPr>
          <a:xfrm>
            <a:off x="1691640" y="868680"/>
            <a:ext cx="9144000" cy="86868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Business Process Automation</a:t>
            </a:r>
            <a:endParaRPr lang="en-US" sz="3200" dirty="0"/>
          </a:p>
        </p:txBody>
      </p:sp>
      <p:sp>
        <p:nvSpPr>
          <p:cNvPr id="6" name="Text 3"/>
          <p:cNvSpPr/>
          <p:nvPr/>
        </p:nvSpPr>
        <p:spPr>
          <a:xfrm>
            <a:off x="548640" y="1965960"/>
            <a:ext cx="11064240" cy="868680"/>
          </a:xfrm>
          <a:prstGeom prst="rect">
            <a:avLst/>
          </a:prstGeom>
          <a:noFill/>
          <a:ln/>
        </p:spPr>
        <p:txBody>
          <a:bodyPr wrap="square" rtlCol="0" anchor="ctr"/>
          <a:lstStyle/>
          <a:p>
            <a:pPr indent="0" marL="0">
              <a:lnSpc>
                <a:spcPct val="130000"/>
              </a:lnSpc>
              <a:buNone/>
            </a:pPr>
            <a:r>
              <a:rPr lang="en-US" sz="1550" i="1" dirty="0">
                <a:solidFill>
                  <a:srgbClr val="F0F0F0"/>
                </a:solidFill>
                <a:latin typeface="Calibri" pitchFamily="34" charset="0"/>
                <a:ea typeface="Calibri" pitchFamily="34" charset="-122"/>
                <a:cs typeface="Calibri" pitchFamily="34" charset="-120"/>
              </a:rPr>
              <a:t>A narrow, well-scoped RPA project with no judgment calls — journi's deliberate low-resistance, fast-moving contrast case.</a:t>
            </a:r>
            <a:endParaRPr lang="en-US" sz="1550" dirty="0"/>
          </a:p>
        </p:txBody>
      </p:sp>
      <p:sp>
        <p:nvSpPr>
          <p:cNvPr id="7" name="Shape 4"/>
          <p:cNvSpPr/>
          <p:nvPr/>
        </p:nvSpPr>
        <p:spPr>
          <a:xfrm>
            <a:off x="548640" y="3063240"/>
            <a:ext cx="5349240" cy="2651760"/>
          </a:xfrm>
          <a:prstGeom prst="roundRect">
            <a:avLst>
              <a:gd name="adj" fmla="val 1724"/>
            </a:avLst>
          </a:prstGeom>
          <a:solidFill>
            <a:srgbClr val="FFFFFF"/>
          </a:solidFill>
          <a:ln/>
        </p:spPr>
      </p:sp>
      <p:sp>
        <p:nvSpPr>
          <p:cNvPr id="8" name="Text 5"/>
          <p:cNvSpPr/>
          <p:nvPr/>
        </p:nvSpPr>
        <p:spPr>
          <a:xfrm>
            <a:off x="777240" y="3200400"/>
            <a:ext cx="4846320" cy="274320"/>
          </a:xfrm>
          <a:prstGeom prst="rect">
            <a:avLst/>
          </a:prstGeom>
          <a:noFill/>
          <a:ln/>
        </p:spPr>
        <p:txBody>
          <a:bodyPr wrap="square" rtlCol="0" anchor="ctr"/>
          <a:lstStyle/>
          <a:p>
            <a:pPr indent="0" marL="0">
              <a:buNone/>
            </a:pPr>
            <a:r>
              <a:rPr lang="en-US" sz="1050" b="1" spc="100" kern="0" dirty="0">
                <a:solidFill>
                  <a:srgbClr val="1F6459"/>
                </a:solidFill>
                <a:latin typeface="Calibri" pitchFamily="34" charset="0"/>
                <a:ea typeface="Calibri" pitchFamily="34" charset="-122"/>
                <a:cs typeface="Calibri" pitchFamily="34" charset="-120"/>
              </a:rPr>
              <a:t>BUSINESS DRIVER</a:t>
            </a:r>
            <a:endParaRPr lang="en-US" sz="1050" dirty="0"/>
          </a:p>
        </p:txBody>
      </p:sp>
      <p:sp>
        <p:nvSpPr>
          <p:cNvPr id="9" name="Text 6"/>
          <p:cNvSpPr/>
          <p:nvPr/>
        </p:nvSpPr>
        <p:spPr>
          <a:xfrm>
            <a:off x="777240" y="3520440"/>
            <a:ext cx="4846320" cy="1097280"/>
          </a:xfrm>
          <a:prstGeom prst="rect">
            <a:avLst/>
          </a:prstGeom>
          <a:noFill/>
          <a:ln/>
        </p:spPr>
        <p:txBody>
          <a:bodyPr wrap="square" rtlCol="0" anchor="ctr"/>
          <a:lstStyle/>
          <a:p>
            <a:pPr indent="0" marL="0">
              <a:lnSpc>
                <a:spcPct val="125000"/>
              </a:lnSpc>
              <a:buNone/>
            </a:pPr>
            <a:r>
              <a:rPr lang="en-US" sz="1200" dirty="0">
                <a:solidFill>
                  <a:srgbClr val="16221F"/>
                </a:solidFill>
                <a:latin typeface="Calibri" pitchFamily="34" charset="0"/>
                <a:ea typeface="Calibri" pitchFamily="34" charset="-122"/>
                <a:cs typeface="Calibri" pitchFamily="34" charset="-120"/>
              </a:rPr>
              <a:t>A repetitive task with no judgment calls involved — a strong automation candidate by nature, not a cultural or process problem.</a:t>
            </a:r>
            <a:endParaRPr lang="en-US" sz="1200" dirty="0"/>
          </a:p>
        </p:txBody>
      </p:sp>
      <p:sp>
        <p:nvSpPr>
          <p:cNvPr id="10" name="Text 7"/>
          <p:cNvSpPr/>
          <p:nvPr/>
        </p:nvSpPr>
        <p:spPr>
          <a:xfrm>
            <a:off x="777240" y="4709160"/>
            <a:ext cx="4846320" cy="274320"/>
          </a:xfrm>
          <a:prstGeom prst="rect">
            <a:avLst/>
          </a:prstGeom>
          <a:noFill/>
          <a:ln/>
        </p:spPr>
        <p:txBody>
          <a:bodyPr wrap="square" rtlCol="0" anchor="ctr"/>
          <a:lstStyle/>
          <a:p>
            <a:pPr indent="0" marL="0">
              <a:buNone/>
            </a:pPr>
            <a:r>
              <a:rPr lang="en-US" sz="1050" b="1" spc="100" kern="0" dirty="0">
                <a:solidFill>
                  <a:srgbClr val="1F6459"/>
                </a:solidFill>
                <a:latin typeface="Calibri" pitchFamily="34" charset="0"/>
                <a:ea typeface="Calibri" pitchFamily="34" charset="-122"/>
                <a:cs typeface="Calibri" pitchFamily="34" charset="-120"/>
              </a:rPr>
              <a:t>TARGET POPULATION PATTERN</a:t>
            </a:r>
            <a:endParaRPr lang="en-US" sz="1050" dirty="0"/>
          </a:p>
        </p:txBody>
      </p:sp>
      <p:sp>
        <p:nvSpPr>
          <p:cNvPr id="11" name="Text 8"/>
          <p:cNvSpPr/>
          <p:nvPr/>
        </p:nvSpPr>
        <p:spPr>
          <a:xfrm>
            <a:off x="777240" y="5029200"/>
            <a:ext cx="4846320" cy="640080"/>
          </a:xfrm>
          <a:prstGeom prst="rect">
            <a:avLst/>
          </a:prstGeom>
          <a:noFill/>
          <a:ln/>
        </p:spPr>
        <p:txBody>
          <a:bodyPr wrap="square" rtlCol="0" anchor="ctr"/>
          <a:lstStyle/>
          <a:p>
            <a:pPr indent="0" marL="0">
              <a:lnSpc>
                <a:spcPct val="120000"/>
              </a:lnSpc>
              <a:buNone/>
            </a:pPr>
            <a:r>
              <a:rPr lang="en-US" sz="1150" dirty="0">
                <a:solidFill>
                  <a:srgbClr val="16221F"/>
                </a:solidFill>
                <a:latin typeface="Calibri" pitchFamily="34" charset="0"/>
                <a:ea typeface="Calibri" pitchFamily="34" charset="-122"/>
                <a:cs typeface="Calibri" pitchFamily="34" charset="-120"/>
              </a:rPr>
              <a:t>The narrowest population of any archetype — a single team, often under 20 staff, already bought into the change.</a:t>
            </a:r>
            <a:endParaRPr lang="en-US" sz="1150" dirty="0"/>
          </a:p>
        </p:txBody>
      </p:sp>
      <p:sp>
        <p:nvSpPr>
          <p:cNvPr id="12" name="Shape 9"/>
          <p:cNvSpPr/>
          <p:nvPr/>
        </p:nvSpPr>
        <p:spPr>
          <a:xfrm>
            <a:off x="6080760" y="3063240"/>
            <a:ext cx="5532120" cy="2651760"/>
          </a:xfrm>
          <a:prstGeom prst="roundRect">
            <a:avLst>
              <a:gd name="adj" fmla="val 1724"/>
            </a:avLst>
          </a:prstGeom>
          <a:solidFill>
            <a:srgbClr val="FFFFFF"/>
          </a:solidFill>
          <a:ln/>
        </p:spPr>
      </p:sp>
      <p:sp>
        <p:nvSpPr>
          <p:cNvPr id="13" name="Text 10"/>
          <p:cNvSpPr/>
          <p:nvPr/>
        </p:nvSpPr>
        <p:spPr>
          <a:xfrm>
            <a:off x="6309360" y="3200400"/>
            <a:ext cx="5074920" cy="274320"/>
          </a:xfrm>
          <a:prstGeom prst="rect">
            <a:avLst/>
          </a:prstGeom>
          <a:noFill/>
          <a:ln/>
        </p:spPr>
        <p:txBody>
          <a:bodyPr wrap="square" rtlCol="0" anchor="ctr"/>
          <a:lstStyle/>
          <a:p>
            <a:pPr indent="0" marL="0">
              <a:buNone/>
            </a:pPr>
            <a:r>
              <a:rPr lang="en-US" sz="1050" b="1" spc="100" kern="0" dirty="0">
                <a:solidFill>
                  <a:srgbClr val="1F6459"/>
                </a:solidFill>
                <a:latin typeface="Calibri" pitchFamily="34" charset="0"/>
                <a:ea typeface="Calibri" pitchFamily="34" charset="-122"/>
                <a:cs typeface="Calibri" pitchFamily="34" charset="-120"/>
              </a:rPr>
              <a:t>PHASE TEMPLATE</a:t>
            </a:r>
            <a:endParaRPr lang="en-US" sz="1050" dirty="0"/>
          </a:p>
        </p:txBody>
      </p:sp>
      <p:sp>
        <p:nvSpPr>
          <p:cNvPr id="14" name="Text 11"/>
          <p:cNvSpPr/>
          <p:nvPr/>
        </p:nvSpPr>
        <p:spPr>
          <a:xfrm>
            <a:off x="6309360" y="3520440"/>
            <a:ext cx="5074920" cy="365760"/>
          </a:xfrm>
          <a:prstGeom prst="rect">
            <a:avLst/>
          </a:prstGeom>
          <a:noFill/>
          <a:ln/>
        </p:spPr>
        <p:txBody>
          <a:bodyPr wrap="square" rtlCol="0" anchor="ctr"/>
          <a:lstStyle/>
          <a:p>
            <a:pPr indent="0" marL="0">
              <a:buNone/>
            </a:pPr>
            <a:r>
              <a:rPr lang="en-US" sz="1300" b="1" dirty="0">
                <a:solidFill>
                  <a:srgbClr val="16221F"/>
                </a:solidFill>
                <a:latin typeface="Calibri" pitchFamily="34" charset="0"/>
                <a:ea typeface="Calibri" pitchFamily="34" charset="-122"/>
                <a:cs typeface="Calibri" pitchFamily="34" charset="-120"/>
              </a:rPr>
              <a:t>TPL-BPA-7 — 7 phases</a:t>
            </a:r>
            <a:endParaRPr lang="en-US" sz="1300" dirty="0"/>
          </a:p>
        </p:txBody>
      </p:sp>
      <p:sp>
        <p:nvSpPr>
          <p:cNvPr id="15" name="Text 12"/>
          <p:cNvSpPr/>
          <p:nvPr/>
        </p:nvSpPr>
        <p:spPr>
          <a:xfrm>
            <a:off x="6309360" y="3977640"/>
            <a:ext cx="5074920" cy="274320"/>
          </a:xfrm>
          <a:prstGeom prst="rect">
            <a:avLst/>
          </a:prstGeom>
          <a:noFill/>
          <a:ln/>
        </p:spPr>
        <p:txBody>
          <a:bodyPr wrap="square" rtlCol="0" anchor="ctr"/>
          <a:lstStyle/>
          <a:p>
            <a:pPr indent="0" marL="0">
              <a:buNone/>
            </a:pPr>
            <a:r>
              <a:rPr lang="en-US" sz="1080" dirty="0">
                <a:solidFill>
                  <a:srgbClr val="16221F"/>
                </a:solidFill>
                <a:latin typeface="Calibri" pitchFamily="34" charset="0"/>
                <a:ea typeface="Calibri" pitchFamily="34" charset="-122"/>
                <a:cs typeface="Calibri" pitchFamily="34" charset="-120"/>
              </a:rPr>
              <a:t>1. Automation-Opportunity Assessment</a:t>
            </a:r>
            <a:endParaRPr lang="en-US" sz="1080" dirty="0"/>
          </a:p>
        </p:txBody>
      </p:sp>
      <p:sp>
        <p:nvSpPr>
          <p:cNvPr id="16" name="Text 13"/>
          <p:cNvSpPr/>
          <p:nvPr/>
        </p:nvSpPr>
        <p:spPr>
          <a:xfrm>
            <a:off x="6309360" y="4270248"/>
            <a:ext cx="5074920" cy="274320"/>
          </a:xfrm>
          <a:prstGeom prst="rect">
            <a:avLst/>
          </a:prstGeom>
          <a:noFill/>
          <a:ln/>
        </p:spPr>
        <p:txBody>
          <a:bodyPr wrap="square" rtlCol="0" anchor="ctr"/>
          <a:lstStyle/>
          <a:p>
            <a:pPr indent="0" marL="0">
              <a:buNone/>
            </a:pPr>
            <a:r>
              <a:rPr lang="en-US" sz="1080" dirty="0">
                <a:solidFill>
                  <a:srgbClr val="16221F"/>
                </a:solidFill>
                <a:latin typeface="Calibri" pitchFamily="34" charset="0"/>
                <a:ea typeface="Calibri" pitchFamily="34" charset="-122"/>
                <a:cs typeface="Calibri" pitchFamily="34" charset="-120"/>
              </a:rPr>
              <a:t>2. Architecture Design</a:t>
            </a:r>
            <a:endParaRPr lang="en-US" sz="1080" dirty="0"/>
          </a:p>
        </p:txBody>
      </p:sp>
      <p:sp>
        <p:nvSpPr>
          <p:cNvPr id="17" name="Text 14"/>
          <p:cNvSpPr/>
          <p:nvPr/>
        </p:nvSpPr>
        <p:spPr>
          <a:xfrm>
            <a:off x="6309360" y="4562856"/>
            <a:ext cx="5074920" cy="274320"/>
          </a:xfrm>
          <a:prstGeom prst="rect">
            <a:avLst/>
          </a:prstGeom>
          <a:noFill/>
          <a:ln/>
        </p:spPr>
        <p:txBody>
          <a:bodyPr wrap="square" rtlCol="0" anchor="ctr"/>
          <a:lstStyle/>
          <a:p>
            <a:pPr indent="0" marL="0">
              <a:buNone/>
            </a:pPr>
            <a:r>
              <a:rPr lang="en-US" sz="1080" dirty="0">
                <a:solidFill>
                  <a:srgbClr val="16221F"/>
                </a:solidFill>
                <a:latin typeface="Calibri" pitchFamily="34" charset="0"/>
                <a:ea typeface="Calibri" pitchFamily="34" charset="-122"/>
                <a:cs typeface="Calibri" pitchFamily="34" charset="-120"/>
              </a:rPr>
              <a:t>3. Build</a:t>
            </a:r>
            <a:endParaRPr lang="en-US" sz="1080" dirty="0"/>
          </a:p>
        </p:txBody>
      </p:sp>
      <p:sp>
        <p:nvSpPr>
          <p:cNvPr id="18" name="Text 15"/>
          <p:cNvSpPr/>
          <p:nvPr/>
        </p:nvSpPr>
        <p:spPr>
          <a:xfrm>
            <a:off x="6309360" y="4855464"/>
            <a:ext cx="5074920" cy="274320"/>
          </a:xfrm>
          <a:prstGeom prst="rect">
            <a:avLst/>
          </a:prstGeom>
          <a:noFill/>
          <a:ln/>
        </p:spPr>
        <p:txBody>
          <a:bodyPr wrap="square" rtlCol="0" anchor="ctr"/>
          <a:lstStyle/>
          <a:p>
            <a:pPr indent="0" marL="0">
              <a:buNone/>
            </a:pPr>
            <a:r>
              <a:rPr lang="en-US" sz="1080" dirty="0">
                <a:solidFill>
                  <a:srgbClr val="16221F"/>
                </a:solidFill>
                <a:latin typeface="Calibri" pitchFamily="34" charset="0"/>
                <a:ea typeface="Calibri" pitchFamily="34" charset="-122"/>
                <a:cs typeface="Calibri" pitchFamily="34" charset="-120"/>
              </a:rPr>
              <a:t>4. UAT &amp; Shadow-Mode</a:t>
            </a:r>
            <a:endParaRPr lang="en-US" sz="1080" dirty="0"/>
          </a:p>
        </p:txBody>
      </p:sp>
      <p:sp>
        <p:nvSpPr>
          <p:cNvPr id="19" name="Text 16"/>
          <p:cNvSpPr/>
          <p:nvPr/>
        </p:nvSpPr>
        <p:spPr>
          <a:xfrm>
            <a:off x="6309360" y="5193792"/>
            <a:ext cx="5074920" cy="274320"/>
          </a:xfrm>
          <a:prstGeom prst="rect">
            <a:avLst/>
          </a:prstGeom>
          <a:noFill/>
          <a:ln/>
        </p:spPr>
        <p:txBody>
          <a:bodyPr wrap="square" rtlCol="0" anchor="ctr"/>
          <a:lstStyle/>
          <a:p>
            <a:pPr indent="0" marL="0">
              <a:buNone/>
            </a:pPr>
            <a:r>
              <a:rPr lang="en-US" sz="1000" i="1" dirty="0">
                <a:solidFill>
                  <a:srgbClr val="5C6D68"/>
                </a:solidFill>
                <a:latin typeface="Calibri" pitchFamily="34" charset="0"/>
                <a:ea typeface="Calibri" pitchFamily="34" charset="-122"/>
                <a:cs typeface="Calibri" pitchFamily="34" charset="-120"/>
              </a:rPr>
              <a:t>… 3 more (next slide)</a:t>
            </a:r>
            <a:endParaRPr lang="en-US" sz="1000" dirty="0"/>
          </a:p>
        </p:txBody>
      </p:sp>
      <p:sp>
        <p:nvSpPr>
          <p:cNvPr id="20" name="Text 17"/>
          <p:cNvSpPr/>
          <p:nvPr/>
        </p:nvSpPr>
        <p:spPr>
          <a:xfrm>
            <a:off x="548640" y="6528816"/>
            <a:ext cx="7315200" cy="274320"/>
          </a:xfrm>
          <a:prstGeom prst="rect">
            <a:avLst/>
          </a:prstGeom>
          <a:noFill/>
          <a:ln/>
        </p:spPr>
        <p:txBody>
          <a:bodyPr wrap="square" rtlCol="0" anchor="ctr"/>
          <a:lstStyle/>
          <a:p>
            <a:pPr algn="l" indent="0" marL="0">
              <a:buNone/>
            </a:pPr>
            <a:r>
              <a:rPr lang="en-US" sz="900" dirty="0">
                <a:solidFill>
                  <a:srgbClr val="CFE3DD"/>
                </a:solidFill>
                <a:latin typeface="Calibri" pitchFamily="34" charset="0"/>
                <a:ea typeface="Calibri" pitchFamily="34" charset="-122"/>
                <a:cs typeface="Calibri" pitchFamily="34" charset="-120"/>
              </a:rPr>
              <a:t>journi — The 8 Transformation Types</a:t>
            </a:r>
            <a:endParaRPr lang="en-US" sz="900" dirty="0"/>
          </a:p>
        </p:txBody>
      </p:sp>
      <p:sp>
        <p:nvSpPr>
          <p:cNvPr id="21" name="Text 18"/>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CFE3DD"/>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AUTOMATION · JOURNI PHASE TEMPLATE</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200" b="1" dirty="0">
                <a:solidFill>
                  <a:srgbClr val="1F6459"/>
                </a:solidFill>
                <a:latin typeface="Calibri" pitchFamily="34" charset="0"/>
                <a:ea typeface="Calibri" pitchFamily="34" charset="-122"/>
                <a:cs typeface="Calibri" pitchFamily="34" charset="-120"/>
              </a:rPr>
              <a:t>TPL-BPA-7: 7 Phases, In Order</a:t>
            </a:r>
            <a:endParaRPr lang="en-US" sz="2200" dirty="0"/>
          </a:p>
        </p:txBody>
      </p:sp>
      <p:sp>
        <p:nvSpPr>
          <p:cNvPr id="4" name="Shape 2"/>
          <p:cNvSpPr/>
          <p:nvPr/>
        </p:nvSpPr>
        <p:spPr>
          <a:xfrm>
            <a:off x="548640" y="2103120"/>
            <a:ext cx="2697480" cy="566928"/>
          </a:xfrm>
          <a:prstGeom prst="chevron">
            <a:avLst/>
          </a:prstGeom>
          <a:solidFill>
            <a:srgbClr val="1F6459"/>
          </a:solidFill>
          <a:ln/>
        </p:spPr>
      </p:sp>
      <p:sp>
        <p:nvSpPr>
          <p:cNvPr id="5" name="Text 3"/>
          <p:cNvSpPr/>
          <p:nvPr/>
        </p:nvSpPr>
        <p:spPr>
          <a:xfrm>
            <a:off x="594360" y="2103120"/>
            <a:ext cx="260604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Automation-Opportunity Assessment</a:t>
            </a:r>
            <a:endParaRPr lang="en-US" sz="950" dirty="0"/>
          </a:p>
        </p:txBody>
      </p:sp>
      <p:sp>
        <p:nvSpPr>
          <p:cNvPr id="6" name="Shape 4"/>
          <p:cNvSpPr/>
          <p:nvPr/>
        </p:nvSpPr>
        <p:spPr>
          <a:xfrm>
            <a:off x="3337560" y="2103120"/>
            <a:ext cx="2697480" cy="566928"/>
          </a:xfrm>
          <a:prstGeom prst="chevron">
            <a:avLst/>
          </a:prstGeom>
          <a:solidFill>
            <a:srgbClr val="1F6459"/>
          </a:solidFill>
          <a:ln/>
        </p:spPr>
      </p:sp>
      <p:sp>
        <p:nvSpPr>
          <p:cNvPr id="7" name="Text 5"/>
          <p:cNvSpPr/>
          <p:nvPr/>
        </p:nvSpPr>
        <p:spPr>
          <a:xfrm>
            <a:off x="3383280" y="2103120"/>
            <a:ext cx="260604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Architecture Design</a:t>
            </a:r>
            <a:endParaRPr lang="en-US" sz="950" dirty="0"/>
          </a:p>
        </p:txBody>
      </p:sp>
      <p:sp>
        <p:nvSpPr>
          <p:cNvPr id="8" name="Shape 6"/>
          <p:cNvSpPr/>
          <p:nvPr/>
        </p:nvSpPr>
        <p:spPr>
          <a:xfrm>
            <a:off x="6126480" y="2103120"/>
            <a:ext cx="2697480" cy="566928"/>
          </a:xfrm>
          <a:prstGeom prst="chevron">
            <a:avLst/>
          </a:prstGeom>
          <a:solidFill>
            <a:srgbClr val="1F6459"/>
          </a:solidFill>
          <a:ln/>
        </p:spPr>
      </p:sp>
      <p:sp>
        <p:nvSpPr>
          <p:cNvPr id="9" name="Text 7"/>
          <p:cNvSpPr/>
          <p:nvPr/>
        </p:nvSpPr>
        <p:spPr>
          <a:xfrm>
            <a:off x="6172200" y="2103120"/>
            <a:ext cx="260604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Build</a:t>
            </a:r>
            <a:endParaRPr lang="en-US" sz="950" dirty="0"/>
          </a:p>
        </p:txBody>
      </p:sp>
      <p:sp>
        <p:nvSpPr>
          <p:cNvPr id="10" name="Shape 8"/>
          <p:cNvSpPr/>
          <p:nvPr/>
        </p:nvSpPr>
        <p:spPr>
          <a:xfrm>
            <a:off x="8915400" y="2103120"/>
            <a:ext cx="2697480" cy="566928"/>
          </a:xfrm>
          <a:prstGeom prst="chevron">
            <a:avLst/>
          </a:prstGeom>
          <a:solidFill>
            <a:srgbClr val="1F6459"/>
          </a:solidFill>
          <a:ln/>
        </p:spPr>
      </p:sp>
      <p:sp>
        <p:nvSpPr>
          <p:cNvPr id="11" name="Text 9"/>
          <p:cNvSpPr/>
          <p:nvPr/>
        </p:nvSpPr>
        <p:spPr>
          <a:xfrm>
            <a:off x="8961120" y="2103120"/>
            <a:ext cx="260604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4. UAT &amp; Shadow-Mode</a:t>
            </a:r>
            <a:endParaRPr lang="en-US" sz="950" dirty="0"/>
          </a:p>
        </p:txBody>
      </p:sp>
      <p:sp>
        <p:nvSpPr>
          <p:cNvPr id="12" name="Shape 10"/>
          <p:cNvSpPr/>
          <p:nvPr/>
        </p:nvSpPr>
        <p:spPr>
          <a:xfrm>
            <a:off x="548640" y="2798064"/>
            <a:ext cx="3627120" cy="566928"/>
          </a:xfrm>
          <a:prstGeom prst="chevron">
            <a:avLst/>
          </a:prstGeom>
          <a:solidFill>
            <a:srgbClr val="1F6459"/>
          </a:solidFill>
          <a:ln/>
        </p:spPr>
      </p:sp>
      <p:sp>
        <p:nvSpPr>
          <p:cNvPr id="13" name="Text 11"/>
          <p:cNvSpPr/>
          <p:nvPr/>
        </p:nvSpPr>
        <p:spPr>
          <a:xfrm>
            <a:off x="594360" y="2798064"/>
            <a:ext cx="353568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5. Production Go-Live</a:t>
            </a:r>
            <a:endParaRPr lang="en-US" sz="950" dirty="0"/>
          </a:p>
        </p:txBody>
      </p:sp>
      <p:sp>
        <p:nvSpPr>
          <p:cNvPr id="14" name="Shape 12"/>
          <p:cNvSpPr/>
          <p:nvPr/>
        </p:nvSpPr>
        <p:spPr>
          <a:xfrm>
            <a:off x="4267200" y="2798064"/>
            <a:ext cx="3627120" cy="566928"/>
          </a:xfrm>
          <a:prstGeom prst="chevron">
            <a:avLst/>
          </a:prstGeom>
          <a:solidFill>
            <a:srgbClr val="1F6459"/>
          </a:solidFill>
          <a:ln/>
        </p:spPr>
      </p:sp>
      <p:sp>
        <p:nvSpPr>
          <p:cNvPr id="15" name="Text 13"/>
          <p:cNvSpPr/>
          <p:nvPr/>
        </p:nvSpPr>
        <p:spPr>
          <a:xfrm>
            <a:off x="4312920" y="2798064"/>
            <a:ext cx="353568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6. Exception Tuning</a:t>
            </a:r>
            <a:endParaRPr lang="en-US" sz="950" dirty="0"/>
          </a:p>
        </p:txBody>
      </p:sp>
      <p:sp>
        <p:nvSpPr>
          <p:cNvPr id="16" name="Shape 14"/>
          <p:cNvSpPr/>
          <p:nvPr/>
        </p:nvSpPr>
        <p:spPr>
          <a:xfrm>
            <a:off x="7985760" y="2798064"/>
            <a:ext cx="3627120" cy="566928"/>
          </a:xfrm>
          <a:prstGeom prst="chevron">
            <a:avLst/>
          </a:prstGeom>
          <a:solidFill>
            <a:srgbClr val="1F6459"/>
          </a:solidFill>
          <a:ln/>
        </p:spPr>
      </p:sp>
      <p:sp>
        <p:nvSpPr>
          <p:cNvPr id="17" name="Text 15"/>
          <p:cNvSpPr/>
          <p:nvPr/>
        </p:nvSpPr>
        <p:spPr>
          <a:xfrm>
            <a:off x="8031480" y="2798064"/>
            <a:ext cx="353568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7. CoE Handover</a:t>
            </a:r>
            <a:endParaRPr lang="en-US" sz="950" dirty="0"/>
          </a:p>
        </p:txBody>
      </p:sp>
      <p:sp>
        <p:nvSpPr>
          <p:cNvPr id="18" name="Text 16"/>
          <p:cNvSpPr/>
          <p:nvPr/>
        </p:nvSpPr>
        <p:spPr>
          <a:xfrm>
            <a:off x="548640" y="3950208"/>
            <a:ext cx="11064240" cy="2194560"/>
          </a:xfrm>
          <a:prstGeom prst="rect">
            <a:avLst/>
          </a:prstGeom>
          <a:noFill/>
          <a:ln/>
        </p:spPr>
        <p:txBody>
          <a:bodyPr wrap="square" rtlCol="0" anchor="ctr"/>
          <a:lstStyle/>
          <a:p>
            <a:pPr indent="0" marL="0">
              <a:lnSpc>
                <a:spcPct val="130000"/>
              </a:lnSpc>
              <a:buNone/>
            </a:pPr>
            <a:r>
              <a:rPr lang="en-US" sz="1300" dirty="0">
                <a:solidFill>
                  <a:srgbClr val="16221F"/>
                </a:solidFill>
                <a:latin typeface="Calibri" pitchFamily="34" charset="0"/>
                <a:ea typeface="Calibri" pitchFamily="34" charset="-122"/>
                <a:cs typeface="Calibri" pitchFamily="34" charset="-120"/>
              </a:rPr>
              <a:t>All four frameworks read favorably from the start, by design. This is journi's deliberate contrast case: a narrow scope, an already-bought-in team, and a visibly active Sponsor mean no framework carries unusual risk — the point being that not every program needs a recovery playbook.</a:t>
            </a:r>
            <a:endParaRPr lang="en-US" sz="1300" dirty="0"/>
          </a:p>
        </p:txBody>
      </p:sp>
      <p:sp>
        <p:nvSpPr>
          <p:cNvPr id="19" name="Text 17"/>
          <p:cNvSpPr/>
          <p:nvPr/>
        </p:nvSpPr>
        <p:spPr>
          <a:xfrm>
            <a:off x="548640" y="3630168"/>
            <a:ext cx="11064240" cy="274320"/>
          </a:xfrm>
          <a:prstGeom prst="rect">
            <a:avLst/>
          </a:prstGeom>
          <a:noFill/>
          <a:ln/>
        </p:spPr>
        <p:txBody>
          <a:bodyPr wrap="square" rtlCol="0" anchor="ctr"/>
          <a:lstStyle/>
          <a:p>
            <a:pPr indent="0" marL="0">
              <a:buNone/>
            </a:pPr>
            <a:r>
              <a:rPr lang="en-US" sz="1050" b="1" spc="100" kern="0" dirty="0">
                <a:solidFill>
                  <a:srgbClr val="C2661C"/>
                </a:solidFill>
                <a:latin typeface="Calibri" pitchFamily="34" charset="0"/>
                <a:ea typeface="Calibri" pitchFamily="34" charset="-122"/>
                <a:cs typeface="Calibri" pitchFamily="34" charset="-120"/>
              </a:rPr>
              <a:t>FRAMEWORK WEIGHTING FOR THIS ARCHETYPE</a:t>
            </a:r>
            <a:endParaRPr lang="en-US" sz="1050" dirty="0"/>
          </a:p>
        </p:txBody>
      </p:sp>
      <p:sp>
        <p:nvSpPr>
          <p:cNvPr id="20" name="Text 18"/>
          <p:cNvSpPr/>
          <p:nvPr/>
        </p:nvSpPr>
        <p:spPr>
          <a:xfrm>
            <a:off x="548640" y="6528816"/>
            <a:ext cx="73152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The 8 Transformation Types</a:t>
            </a:r>
            <a:endParaRPr lang="en-US" sz="900" dirty="0"/>
          </a:p>
        </p:txBody>
      </p:sp>
      <p:sp>
        <p:nvSpPr>
          <p:cNvPr id="21" name="Text 19"/>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AUTOMATION · TENANT SETUP</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500" b="1" dirty="0">
                <a:solidFill>
                  <a:srgbClr val="1F6459"/>
                </a:solidFill>
                <a:latin typeface="Calibri" pitchFamily="34" charset="0"/>
                <a:ea typeface="Calibri" pitchFamily="34" charset="-122"/>
                <a:cs typeface="Calibri" pitchFamily="34" charset="-120"/>
              </a:rPr>
              <a:t>The RACSI Team for This Case</a:t>
            </a:r>
            <a:endParaRPr lang="en-US" sz="2500" dirty="0"/>
          </a:p>
        </p:txBody>
      </p:sp>
      <p:sp>
        <p:nvSpPr>
          <p:cNvPr id="4" name="Text 2"/>
          <p:cNvSpPr/>
          <p:nvPr/>
        </p:nvSpPr>
        <p:spPr>
          <a:xfrm>
            <a:off x="548640" y="1417320"/>
            <a:ext cx="11064240" cy="457200"/>
          </a:xfrm>
          <a:prstGeom prst="rect">
            <a:avLst/>
          </a:prstGeom>
          <a:noFill/>
          <a:ln/>
        </p:spPr>
        <p:txBody>
          <a:bodyPr wrap="square" rtlCol="0" anchor="t"/>
          <a:lstStyle/>
          <a:p>
            <a:pPr indent="0" marL="0">
              <a:lnSpc>
                <a:spcPct val="115000"/>
              </a:lnSpc>
              <a:buNone/>
            </a:pPr>
            <a:r>
              <a:rPr lang="en-US" sz="1200" dirty="0">
                <a:solidFill>
                  <a:srgbClr val="5C6D68"/>
                </a:solidFill>
                <a:latin typeface="Calibri" pitchFamily="34" charset="0"/>
                <a:ea typeface="Calibri" pitchFamily="34" charset="-122"/>
                <a:cs typeface="Calibri" pitchFamily="34" charset="-120"/>
              </a:rPr>
              <a:t>journi's 7-code RACSI role taxonomy (ES/CM/PM/FPO/ITL/SUP/EU), assigned to real, named accounts for this program.</a:t>
            </a:r>
            <a:endParaRPr lang="en-US" sz="1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11064240" cy="914400"/>
        </p:xfrm>
        <a:graphic>
          <a:graphicData uri="http://schemas.openxmlformats.org/drawingml/2006/table">
            <a:tbl>
              <a:tblPr/>
              <a:tblGrid>
                <a:gridCol w="3108960"/>
                <a:gridCol w="1645920"/>
                <a:gridCol w="6309360"/>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Name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F64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RACSI Code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F64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Role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F6459"/>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Hakim Berrada</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ES</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Sponsor</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Salma Ouazzani</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CM</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Change Manager</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Amine Sqalli</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PM</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Program Manager</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Yassine Kabbaj</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ITL</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IT/Technical Lead</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Nawal Fassi</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FPO, SUP</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Functional Process Owner and Supervisor, combined</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bl>
          </a:graphicData>
        </a:graphic>
      </p:graphicFrame>
      <p:sp>
        <p:nvSpPr>
          <p:cNvPr id="6" name="Text 3"/>
          <p:cNvSpPr/>
          <p:nvPr/>
        </p:nvSpPr>
        <p:spPr>
          <a:xfrm>
            <a:off x="548640" y="6528816"/>
            <a:ext cx="73152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The 8 Transformation Types</a:t>
            </a:r>
            <a:endParaRPr lang="en-US" sz="900" dirty="0"/>
          </a:p>
        </p:txBody>
      </p:sp>
      <p:sp>
        <p:nvSpPr>
          <p:cNvPr id="7" name="Text 4"/>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AUTOMATION · JOURNI MODULES</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400" b="1" dirty="0">
                <a:solidFill>
                  <a:srgbClr val="1F6459"/>
                </a:solidFill>
                <a:latin typeface="Calibri" pitchFamily="34" charset="0"/>
                <a:ea typeface="Calibri" pitchFamily="34" charset="-122"/>
                <a:cs typeface="Calibri" pitchFamily="34" charset="-120"/>
              </a:rPr>
              <a:t>Which modules dominate this archetype</a:t>
            </a:r>
            <a:endParaRPr lang="en-US" sz="2400" dirty="0"/>
          </a:p>
        </p:txBody>
      </p:sp>
      <p:sp>
        <p:nvSpPr>
          <p:cNvPr id="4" name="Shape 2"/>
          <p:cNvSpPr/>
          <p:nvPr/>
        </p:nvSpPr>
        <p:spPr>
          <a:xfrm>
            <a:off x="548640" y="2057400"/>
            <a:ext cx="11064240" cy="932688"/>
          </a:xfrm>
          <a:prstGeom prst="roundRect">
            <a:avLst>
              <a:gd name="adj" fmla="val 4902"/>
            </a:avLst>
          </a:prstGeom>
          <a:solidFill>
            <a:srgbClr val="EAF2EF"/>
          </a:solidFill>
          <a:ln/>
        </p:spPr>
      </p:sp>
      <p:sp>
        <p:nvSpPr>
          <p:cNvPr id="5" name="Text 3"/>
          <p:cNvSpPr/>
          <p:nvPr/>
        </p:nvSpPr>
        <p:spPr>
          <a:xfrm>
            <a:off x="777240" y="2167128"/>
            <a:ext cx="3200400" cy="713232"/>
          </a:xfrm>
          <a:prstGeom prst="rect">
            <a:avLst/>
          </a:prstGeom>
          <a:noFill/>
          <a:ln/>
        </p:spPr>
        <p:txBody>
          <a:bodyPr wrap="square" rtlCol="0" anchor="ctr"/>
          <a:lstStyle/>
          <a:p>
            <a:pPr indent="0" marL="0">
              <a:lnSpc>
                <a:spcPct val="110000"/>
              </a:lnSpc>
              <a:buNone/>
            </a:pPr>
            <a:r>
              <a:rPr lang="en-US" sz="1300" b="1" dirty="0">
                <a:solidFill>
                  <a:srgbClr val="1F6459"/>
                </a:solidFill>
                <a:latin typeface="Calibri" pitchFamily="34" charset="0"/>
                <a:ea typeface="Calibri" pitchFamily="34" charset="-122"/>
                <a:cs typeface="Calibri" pitchFamily="34" charset="-120"/>
              </a:rPr>
              <a:t>M17 (WBS &amp; Gantt)</a:t>
            </a:r>
            <a:endParaRPr lang="en-US" sz="1300" dirty="0"/>
          </a:p>
        </p:txBody>
      </p:sp>
      <p:sp>
        <p:nvSpPr>
          <p:cNvPr id="6" name="Text 4"/>
          <p:cNvSpPr/>
          <p:nvPr/>
        </p:nvSpPr>
        <p:spPr>
          <a:xfrm>
            <a:off x="4069080" y="2167128"/>
            <a:ext cx="7360920" cy="713232"/>
          </a:xfrm>
          <a:prstGeom prst="rect">
            <a:avLst/>
          </a:prstGeom>
          <a:noFill/>
          <a:ln/>
        </p:spPr>
        <p:txBody>
          <a:bodyPr wrap="square" rtlCol="0" anchor="ctr"/>
          <a:lstStyle/>
          <a:p>
            <a:pPr indent="0" marL="0">
              <a:lnSpc>
                <a:spcPct val="120000"/>
              </a:lnSpc>
              <a:buNone/>
            </a:pPr>
            <a:r>
              <a:rPr lang="en-US" sz="1180" dirty="0">
                <a:solidFill>
                  <a:srgbClr val="16221F"/>
                </a:solidFill>
                <a:latin typeface="Calibri" pitchFamily="34" charset="0"/>
                <a:ea typeface="Calibri" pitchFamily="34" charset="-122"/>
                <a:cs typeface="Calibri" pitchFamily="34" charset="-120"/>
              </a:rPr>
              <a:t>The shortest phase template in the library — closed in as few as 18-19 weeks.</a:t>
            </a:r>
            <a:endParaRPr lang="en-US" sz="1180" dirty="0"/>
          </a:p>
        </p:txBody>
      </p:sp>
      <p:sp>
        <p:nvSpPr>
          <p:cNvPr id="7" name="Shape 5"/>
          <p:cNvSpPr/>
          <p:nvPr/>
        </p:nvSpPr>
        <p:spPr>
          <a:xfrm>
            <a:off x="548640" y="3099816"/>
            <a:ext cx="11064240" cy="932688"/>
          </a:xfrm>
          <a:prstGeom prst="roundRect">
            <a:avLst>
              <a:gd name="adj" fmla="val 4902"/>
            </a:avLst>
          </a:prstGeom>
          <a:solidFill>
            <a:srgbClr val="EAF2EF"/>
          </a:solidFill>
          <a:ln/>
        </p:spPr>
      </p:sp>
      <p:sp>
        <p:nvSpPr>
          <p:cNvPr id="8" name="Text 6"/>
          <p:cNvSpPr/>
          <p:nvPr/>
        </p:nvSpPr>
        <p:spPr>
          <a:xfrm>
            <a:off x="777240" y="3209544"/>
            <a:ext cx="3200400" cy="713232"/>
          </a:xfrm>
          <a:prstGeom prst="rect">
            <a:avLst/>
          </a:prstGeom>
          <a:noFill/>
          <a:ln/>
        </p:spPr>
        <p:txBody>
          <a:bodyPr wrap="square" rtlCol="0" anchor="ctr"/>
          <a:lstStyle/>
          <a:p>
            <a:pPr indent="0" marL="0">
              <a:lnSpc>
                <a:spcPct val="110000"/>
              </a:lnSpc>
              <a:buNone/>
            </a:pPr>
            <a:r>
              <a:rPr lang="en-US" sz="1300" b="1" dirty="0">
                <a:solidFill>
                  <a:srgbClr val="1F6459"/>
                </a:solidFill>
                <a:latin typeface="Calibri" pitchFamily="34" charset="0"/>
                <a:ea typeface="Calibri" pitchFamily="34" charset="-122"/>
                <a:cs typeface="Calibri" pitchFamily="34" charset="-120"/>
              </a:rPr>
              <a:t>M5 (ADKAR Engine)</a:t>
            </a:r>
            <a:endParaRPr lang="en-US" sz="1300" dirty="0"/>
          </a:p>
        </p:txBody>
      </p:sp>
      <p:sp>
        <p:nvSpPr>
          <p:cNvPr id="9" name="Text 7"/>
          <p:cNvSpPr/>
          <p:nvPr/>
        </p:nvSpPr>
        <p:spPr>
          <a:xfrm>
            <a:off x="4069080" y="3209544"/>
            <a:ext cx="7360920" cy="713232"/>
          </a:xfrm>
          <a:prstGeom prst="rect">
            <a:avLst/>
          </a:prstGeom>
          <a:noFill/>
          <a:ln/>
        </p:spPr>
        <p:txBody>
          <a:bodyPr wrap="square" rtlCol="0" anchor="ctr"/>
          <a:lstStyle/>
          <a:p>
            <a:pPr indent="0" marL="0">
              <a:lnSpc>
                <a:spcPct val="120000"/>
              </a:lnSpc>
              <a:buNone/>
            </a:pPr>
            <a:r>
              <a:rPr lang="en-US" sz="1180" dirty="0">
                <a:solidFill>
                  <a:srgbClr val="16221F"/>
                </a:solidFill>
                <a:latin typeface="Calibri" pitchFamily="34" charset="0"/>
                <a:ea typeface="Calibri" pitchFamily="34" charset="-122"/>
                <a:cs typeface="Calibri" pitchFamily="34" charset="-120"/>
              </a:rPr>
              <a:t>A light-touch score, since the team starts already bought in.</a:t>
            </a:r>
            <a:endParaRPr lang="en-US" sz="1180" dirty="0"/>
          </a:p>
        </p:txBody>
      </p:sp>
      <p:sp>
        <p:nvSpPr>
          <p:cNvPr id="10" name="Shape 8"/>
          <p:cNvSpPr/>
          <p:nvPr/>
        </p:nvSpPr>
        <p:spPr>
          <a:xfrm>
            <a:off x="548640" y="4142232"/>
            <a:ext cx="11064240" cy="932688"/>
          </a:xfrm>
          <a:prstGeom prst="roundRect">
            <a:avLst>
              <a:gd name="adj" fmla="val 4902"/>
            </a:avLst>
          </a:prstGeom>
          <a:solidFill>
            <a:srgbClr val="EAF2EF"/>
          </a:solidFill>
          <a:ln/>
        </p:spPr>
      </p:sp>
      <p:sp>
        <p:nvSpPr>
          <p:cNvPr id="11" name="Text 9"/>
          <p:cNvSpPr/>
          <p:nvPr/>
        </p:nvSpPr>
        <p:spPr>
          <a:xfrm>
            <a:off x="777240" y="4251960"/>
            <a:ext cx="3200400" cy="713232"/>
          </a:xfrm>
          <a:prstGeom prst="rect">
            <a:avLst/>
          </a:prstGeom>
          <a:noFill/>
          <a:ln/>
        </p:spPr>
        <p:txBody>
          <a:bodyPr wrap="square" rtlCol="0" anchor="ctr"/>
          <a:lstStyle/>
          <a:p>
            <a:pPr indent="0" marL="0">
              <a:lnSpc>
                <a:spcPct val="110000"/>
              </a:lnSpc>
              <a:buNone/>
            </a:pPr>
            <a:r>
              <a:rPr lang="en-US" sz="1300" b="1" dirty="0">
                <a:solidFill>
                  <a:srgbClr val="1F6459"/>
                </a:solidFill>
                <a:latin typeface="Calibri" pitchFamily="34" charset="0"/>
                <a:ea typeface="Calibri" pitchFamily="34" charset="-122"/>
                <a:cs typeface="Calibri" pitchFamily="34" charset="-120"/>
              </a:rPr>
              <a:t>M7 (Sponsor &amp; Coalition)</a:t>
            </a:r>
            <a:endParaRPr lang="en-US" sz="1300" dirty="0"/>
          </a:p>
        </p:txBody>
      </p:sp>
      <p:sp>
        <p:nvSpPr>
          <p:cNvPr id="12" name="Text 10"/>
          <p:cNvSpPr/>
          <p:nvPr/>
        </p:nvSpPr>
        <p:spPr>
          <a:xfrm>
            <a:off x="4069080" y="4251960"/>
            <a:ext cx="7360920" cy="713232"/>
          </a:xfrm>
          <a:prstGeom prst="rect">
            <a:avLst/>
          </a:prstGeom>
          <a:noFill/>
          <a:ln/>
        </p:spPr>
        <p:txBody>
          <a:bodyPr wrap="square" rtlCol="0" anchor="ctr"/>
          <a:lstStyle/>
          <a:p>
            <a:pPr indent="0" marL="0">
              <a:lnSpc>
                <a:spcPct val="120000"/>
              </a:lnSpc>
              <a:buNone/>
            </a:pPr>
            <a:r>
              <a:rPr lang="en-US" sz="1180" dirty="0">
                <a:solidFill>
                  <a:srgbClr val="16221F"/>
                </a:solidFill>
                <a:latin typeface="Calibri" pitchFamily="34" charset="0"/>
                <a:ea typeface="Calibri" pitchFamily="34" charset="-122"/>
                <a:cs typeface="Calibri" pitchFamily="34" charset="-120"/>
              </a:rPr>
              <a:t>A visibly active Sponsor from day one — the opposite pattern of the Cultural case.</a:t>
            </a:r>
            <a:endParaRPr lang="en-US" sz="1180" dirty="0"/>
          </a:p>
        </p:txBody>
      </p:sp>
      <p:sp>
        <p:nvSpPr>
          <p:cNvPr id="13" name="Shape 11"/>
          <p:cNvSpPr/>
          <p:nvPr/>
        </p:nvSpPr>
        <p:spPr>
          <a:xfrm>
            <a:off x="548640" y="5184648"/>
            <a:ext cx="11064240" cy="932688"/>
          </a:xfrm>
          <a:prstGeom prst="roundRect">
            <a:avLst>
              <a:gd name="adj" fmla="val 4902"/>
            </a:avLst>
          </a:prstGeom>
          <a:solidFill>
            <a:srgbClr val="EAF2EF"/>
          </a:solidFill>
          <a:ln/>
        </p:spPr>
      </p:sp>
      <p:sp>
        <p:nvSpPr>
          <p:cNvPr id="14" name="Text 12"/>
          <p:cNvSpPr/>
          <p:nvPr/>
        </p:nvSpPr>
        <p:spPr>
          <a:xfrm>
            <a:off x="777240" y="5294376"/>
            <a:ext cx="3200400" cy="713232"/>
          </a:xfrm>
          <a:prstGeom prst="rect">
            <a:avLst/>
          </a:prstGeom>
          <a:noFill/>
          <a:ln/>
        </p:spPr>
        <p:txBody>
          <a:bodyPr wrap="square" rtlCol="0" anchor="ctr"/>
          <a:lstStyle/>
          <a:p>
            <a:pPr indent="0" marL="0">
              <a:lnSpc>
                <a:spcPct val="110000"/>
              </a:lnSpc>
              <a:buNone/>
            </a:pPr>
            <a:r>
              <a:rPr lang="en-US" sz="1300" b="1" dirty="0">
                <a:solidFill>
                  <a:srgbClr val="1F6459"/>
                </a:solidFill>
                <a:latin typeface="Calibri" pitchFamily="34" charset="0"/>
                <a:ea typeface="Calibri" pitchFamily="34" charset="-122"/>
                <a:cs typeface="Calibri" pitchFamily="34" charset="-120"/>
              </a:rPr>
              <a:t>M21 (Field Notes)</a:t>
            </a:r>
            <a:endParaRPr lang="en-US" sz="1300" dirty="0"/>
          </a:p>
        </p:txBody>
      </p:sp>
      <p:sp>
        <p:nvSpPr>
          <p:cNvPr id="15" name="Text 13"/>
          <p:cNvSpPr/>
          <p:nvPr/>
        </p:nvSpPr>
        <p:spPr>
          <a:xfrm>
            <a:off x="4069080" y="5294376"/>
            <a:ext cx="7360920" cy="713232"/>
          </a:xfrm>
          <a:prstGeom prst="rect">
            <a:avLst/>
          </a:prstGeom>
          <a:noFill/>
          <a:ln/>
        </p:spPr>
        <p:txBody>
          <a:bodyPr wrap="square" rtlCol="0" anchor="ctr"/>
          <a:lstStyle/>
          <a:p>
            <a:pPr indent="0" marL="0">
              <a:lnSpc>
                <a:spcPct val="120000"/>
              </a:lnSpc>
              <a:buNone/>
            </a:pPr>
            <a:r>
              <a:rPr lang="en-US" sz="1180" dirty="0">
                <a:solidFill>
                  <a:srgbClr val="16221F"/>
                </a:solidFill>
                <a:latin typeface="Calibri" pitchFamily="34" charset="0"/>
                <a:ea typeface="Calibri" pitchFamily="34" charset="-122"/>
                <a:cs typeface="Calibri" pitchFamily="34" charset="-120"/>
              </a:rPr>
              <a:t>Routine logging — this archetype's data is notable for how little it needs to escalate.</a:t>
            </a:r>
            <a:endParaRPr lang="en-US" sz="1180" dirty="0"/>
          </a:p>
        </p:txBody>
      </p:sp>
      <p:sp>
        <p:nvSpPr>
          <p:cNvPr id="16" name="Text 14"/>
          <p:cNvSpPr/>
          <p:nvPr/>
        </p:nvSpPr>
        <p:spPr>
          <a:xfrm>
            <a:off x="548640" y="6528816"/>
            <a:ext cx="73152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The 8 Transformation Types</a:t>
            </a:r>
            <a:endParaRPr lang="en-US" sz="900" dirty="0"/>
          </a:p>
        </p:txBody>
      </p:sp>
      <p:sp>
        <p:nvSpPr>
          <p:cNvPr id="17" name="Text 15"/>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AUTOMATION · REAL SCENARIO</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100" b="1" dirty="0">
                <a:solidFill>
                  <a:srgbClr val="1F6459"/>
                </a:solidFill>
                <a:latin typeface="Calibri" pitchFamily="34" charset="0"/>
                <a:ea typeface="Calibri" pitchFamily="34" charset="-122"/>
                <a:cs typeface="Calibri" pitchFamily="34" charset="-120"/>
              </a:rPr>
              <a:t>Kenitra Invoice-Matching Automation</a:t>
            </a:r>
            <a:endParaRPr lang="en-US" sz="2100" dirty="0"/>
          </a:p>
        </p:txBody>
      </p:sp>
      <p:sp>
        <p:nvSpPr>
          <p:cNvPr id="4" name="Text 2"/>
          <p:cNvSpPr/>
          <p:nvPr/>
        </p:nvSpPr>
        <p:spPr>
          <a:xfrm>
            <a:off x="548640" y="1417320"/>
            <a:ext cx="11064240" cy="457200"/>
          </a:xfrm>
          <a:prstGeom prst="rect">
            <a:avLst/>
          </a:prstGeom>
          <a:noFill/>
          <a:ln/>
        </p:spPr>
        <p:txBody>
          <a:bodyPr wrap="square" rtlCol="0" anchor="t"/>
          <a:lstStyle/>
          <a:p>
            <a:pPr indent="0" marL="0">
              <a:lnSpc>
                <a:spcPct val="115000"/>
              </a:lnSpc>
              <a:buNone/>
            </a:pPr>
            <a:r>
              <a:rPr lang="en-US" sz="1200" dirty="0">
                <a:solidFill>
                  <a:srgbClr val="5C6D68"/>
                </a:solidFill>
                <a:latin typeface="Calibri" pitchFamily="34" charset="0"/>
                <a:ea typeface="Calibri" pitchFamily="34" charset="-122"/>
                <a:cs typeface="Calibri" pitchFamily="34" charset="-120"/>
              </a:rPr>
              <a:t>18 staff, Kenitra accounts payable  ·  19 weeks (guide numbering)</a:t>
            </a:r>
            <a:endParaRPr lang="en-US" sz="1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11064240" cy="914400"/>
        </p:xfrm>
        <a:graphic>
          <a:graphicData uri="http://schemas.openxmlformats.org/drawingml/2006/table">
            <a:tbl>
              <a:tblPr/>
              <a:tblGrid>
                <a:gridCol w="1463040"/>
                <a:gridCol w="9601200"/>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Week</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F64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Milestone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F6459"/>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Wk 1</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Opportunity assessment; already-bought-in team confirmed.</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Wk 5</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Architecture design.</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Wk 10</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Build complete.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Wk 13–14</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UAT and shadow-mode — the bot runs alongside the manual process for two weeks.</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Wk 16</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Production go-live.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Wk 19</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CoE handover — closed without any of journi's 9 live alerts firing.</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bl>
          </a:graphicData>
        </a:graphic>
      </p:graphicFrame>
      <p:sp>
        <p:nvSpPr>
          <p:cNvPr id="6" name="Text 3"/>
          <p:cNvSpPr/>
          <p:nvPr/>
        </p:nvSpPr>
        <p:spPr>
          <a:xfrm>
            <a:off x="548640" y="6528816"/>
            <a:ext cx="73152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The 8 Transformation Types</a:t>
            </a:r>
            <a:endParaRPr lang="en-US" sz="900" dirty="0"/>
          </a:p>
        </p:txBody>
      </p:sp>
      <p:sp>
        <p:nvSpPr>
          <p:cNvPr id="7" name="Text 4"/>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F6459"/>
        </a:solidFill>
      </p:bgPr>
    </p:bg>
    <p:spTree>
      <p:nvGrpSpPr>
        <p:cNvPr id="1" name=""/>
        <p:cNvGrpSpPr/>
        <p:nvPr/>
      </p:nvGrpSpPr>
      <p:grpSpPr>
        <a:xfrm>
          <a:off x="0" y="0"/>
          <a:ext cx="0" cy="0"/>
          <a:chOff x="0" y="0"/>
          <a:chExt cx="0" cy="0"/>
        </a:xfrm>
      </p:grpSpPr>
      <p:sp>
        <p:nvSpPr>
          <p:cNvPr id="2" name="Text 0"/>
          <p:cNvSpPr/>
          <p:nvPr/>
        </p:nvSpPr>
        <p:spPr>
          <a:xfrm>
            <a:off x="548640" y="457200"/>
            <a:ext cx="10058400" cy="320040"/>
          </a:xfrm>
          <a:prstGeom prst="rect">
            <a:avLst/>
          </a:prstGeom>
          <a:noFill/>
          <a:ln/>
        </p:spPr>
        <p:txBody>
          <a:bodyPr wrap="square" rtlCol="0" anchor="ctr"/>
          <a:lstStyle/>
          <a:p>
            <a:pPr indent="0" marL="0">
              <a:buNone/>
            </a:pPr>
            <a:r>
              <a:rPr lang="en-US" sz="1250" b="1" spc="200" kern="0" dirty="0">
                <a:solidFill>
                  <a:srgbClr val="FFFFFF"/>
                </a:solidFill>
                <a:latin typeface="Calibri" pitchFamily="34" charset="0"/>
                <a:ea typeface="Calibri" pitchFamily="34" charset="-122"/>
                <a:cs typeface="Calibri" pitchFamily="34" charset="-120"/>
              </a:rPr>
              <a:t>AUTOMATION · ALERTS &amp; PROOF</a:t>
            </a:r>
            <a:endParaRPr lang="en-US" sz="1250" dirty="0"/>
          </a:p>
        </p:txBody>
      </p:sp>
      <p:sp>
        <p:nvSpPr>
          <p:cNvPr id="3" name="Text 1"/>
          <p:cNvSpPr/>
          <p:nvPr/>
        </p:nvSpPr>
        <p:spPr>
          <a:xfrm>
            <a:off x="548640" y="804672"/>
            <a:ext cx="10972800" cy="6858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What This Case Proves By Not Firing</a:t>
            </a:r>
            <a:endParaRPr lang="en-US" sz="2600" dirty="0"/>
          </a:p>
        </p:txBody>
      </p:sp>
      <p:sp>
        <p:nvSpPr>
          <p:cNvPr id="4" name="Shape 2"/>
          <p:cNvSpPr/>
          <p:nvPr/>
        </p:nvSpPr>
        <p:spPr>
          <a:xfrm>
            <a:off x="548640" y="1737360"/>
            <a:ext cx="11064240" cy="1463040"/>
          </a:xfrm>
          <a:prstGeom prst="roundRect">
            <a:avLst>
              <a:gd name="adj" fmla="val 3125"/>
            </a:avLst>
          </a:prstGeom>
          <a:solidFill>
            <a:srgbClr val="FFFFFF"/>
          </a:solidFill>
          <a:ln/>
        </p:spPr>
      </p:sp>
      <p:sp>
        <p:nvSpPr>
          <p:cNvPr id="5" name="Text 3"/>
          <p:cNvSpPr/>
          <p:nvPr/>
        </p:nvSpPr>
        <p:spPr>
          <a:xfrm>
            <a:off x="777240" y="1874520"/>
            <a:ext cx="10607040" cy="274320"/>
          </a:xfrm>
          <a:prstGeom prst="rect">
            <a:avLst/>
          </a:prstGeom>
          <a:noFill/>
          <a:ln/>
        </p:spPr>
        <p:txBody>
          <a:bodyPr wrap="square" rtlCol="0" anchor="ctr"/>
          <a:lstStyle/>
          <a:p>
            <a:pPr indent="0" marL="0">
              <a:buNone/>
            </a:pPr>
            <a:r>
              <a:rPr lang="en-US" sz="1050" b="1" spc="100" kern="0" dirty="0">
                <a:solidFill>
                  <a:srgbClr val="1F6459"/>
                </a:solidFill>
                <a:latin typeface="Calibri" pitchFamily="34" charset="0"/>
                <a:ea typeface="Calibri" pitchFamily="34" charset="-122"/>
                <a:cs typeface="Calibri" pitchFamily="34" charset="-120"/>
              </a:rPr>
              <a:t>NO LIVE ALERT FIRES IN THIS PROGRAM'S REAL RECORD</a:t>
            </a:r>
            <a:endParaRPr lang="en-US" sz="1050" dirty="0"/>
          </a:p>
        </p:txBody>
      </p:sp>
      <p:sp>
        <p:nvSpPr>
          <p:cNvPr id="6" name="Text 4"/>
          <p:cNvSpPr/>
          <p:nvPr/>
        </p:nvSpPr>
        <p:spPr>
          <a:xfrm>
            <a:off x="777240" y="2176272"/>
            <a:ext cx="10607040" cy="914400"/>
          </a:xfrm>
          <a:prstGeom prst="rect">
            <a:avLst/>
          </a:prstGeom>
          <a:noFill/>
          <a:ln/>
        </p:spPr>
        <p:txBody>
          <a:bodyPr wrap="square" rtlCol="0" anchor="ctr"/>
          <a:lstStyle/>
          <a:p>
            <a:pPr indent="0" marL="0">
              <a:lnSpc>
                <a:spcPct val="125000"/>
              </a:lnSpc>
              <a:buNone/>
            </a:pPr>
            <a:r>
              <a:rPr lang="en-US" sz="1350" b="1" dirty="0">
                <a:solidFill>
                  <a:srgbClr val="16221F"/>
                </a:solidFill>
                <a:latin typeface="Calibri" pitchFamily="34" charset="0"/>
                <a:ea typeface="Calibri" pitchFamily="34" charset="-122"/>
                <a:cs typeface="Calibri" pitchFamily="34" charset="-120"/>
              </a:rPr>
              <a:t>Stated plainly, not manufactured — a clean record reported as a clean record.</a:t>
            </a:r>
            <a:endParaRPr lang="en-US" sz="1350" dirty="0"/>
          </a:p>
        </p:txBody>
      </p:sp>
      <p:sp>
        <p:nvSpPr>
          <p:cNvPr id="7" name="Shape 5"/>
          <p:cNvSpPr/>
          <p:nvPr/>
        </p:nvSpPr>
        <p:spPr>
          <a:xfrm>
            <a:off x="548640" y="3383280"/>
            <a:ext cx="11064240" cy="1417320"/>
          </a:xfrm>
          <a:prstGeom prst="roundRect">
            <a:avLst>
              <a:gd name="adj" fmla="val 3226"/>
            </a:avLst>
          </a:prstGeom>
          <a:solidFill>
            <a:srgbClr val="FFFFFF"/>
          </a:solidFill>
          <a:ln/>
        </p:spPr>
      </p:sp>
      <p:sp>
        <p:nvSpPr>
          <p:cNvPr id="8" name="Text 6"/>
          <p:cNvSpPr/>
          <p:nvPr/>
        </p:nvSpPr>
        <p:spPr>
          <a:xfrm>
            <a:off x="777240" y="3520440"/>
            <a:ext cx="10607040" cy="274320"/>
          </a:xfrm>
          <a:prstGeom prst="rect">
            <a:avLst/>
          </a:prstGeom>
          <a:noFill/>
          <a:ln/>
        </p:spPr>
        <p:txBody>
          <a:bodyPr wrap="square" rtlCol="0" anchor="ctr"/>
          <a:lstStyle/>
          <a:p>
            <a:pPr indent="0" marL="0">
              <a:buNone/>
            </a:pPr>
            <a:r>
              <a:rPr lang="en-US" sz="1050" b="1" spc="100" kern="0" dirty="0">
                <a:solidFill>
                  <a:srgbClr val="1F6459"/>
                </a:solidFill>
                <a:latin typeface="Calibri" pitchFamily="34" charset="0"/>
                <a:ea typeface="Calibri" pitchFamily="34" charset="-122"/>
                <a:cs typeface="Calibri" pitchFamily="34" charset="-120"/>
              </a:rPr>
              <a:t>WHY</a:t>
            </a:r>
            <a:endParaRPr lang="en-US" sz="1050" dirty="0"/>
          </a:p>
        </p:txBody>
      </p:sp>
      <p:sp>
        <p:nvSpPr>
          <p:cNvPr id="9" name="Text 7"/>
          <p:cNvSpPr/>
          <p:nvPr/>
        </p:nvSpPr>
        <p:spPr>
          <a:xfrm>
            <a:off x="777240" y="3822192"/>
            <a:ext cx="10607040" cy="914400"/>
          </a:xfrm>
          <a:prstGeom prst="rect">
            <a:avLst/>
          </a:prstGeom>
          <a:noFill/>
          <a:ln/>
        </p:spPr>
        <p:txBody>
          <a:bodyPr wrap="square" rtlCol="0" anchor="ctr"/>
          <a:lstStyle/>
          <a:p>
            <a:pPr indent="0" marL="0">
              <a:lnSpc>
                <a:spcPct val="125000"/>
              </a:lnSpc>
              <a:buNone/>
            </a:pPr>
            <a:r>
              <a:rPr lang="en-US" sz="1250" dirty="0">
                <a:solidFill>
                  <a:srgbClr val="16221F"/>
                </a:solidFill>
                <a:latin typeface="Calibri" pitchFamily="34" charset="0"/>
                <a:ea typeface="Calibri" pitchFamily="34" charset="-122"/>
                <a:cs typeface="Calibri" pitchFamily="34" charset="-120"/>
              </a:rPr>
              <a:t>None. Closed by design without any of journi's 9 live alerts firing — the clean-close contrast case that proves not every program needs a recovery playbook.</a:t>
            </a:r>
            <a:endParaRPr lang="en-US" sz="1250" dirty="0"/>
          </a:p>
        </p:txBody>
      </p:sp>
      <p:sp>
        <p:nvSpPr>
          <p:cNvPr id="10" name="Shape 8"/>
          <p:cNvSpPr/>
          <p:nvPr/>
        </p:nvSpPr>
        <p:spPr>
          <a:xfrm>
            <a:off x="548640" y="4983480"/>
            <a:ext cx="11064240" cy="1417320"/>
          </a:xfrm>
          <a:prstGeom prst="roundRect">
            <a:avLst>
              <a:gd name="adj" fmla="val 3226"/>
            </a:avLst>
          </a:prstGeom>
          <a:solidFill>
            <a:srgbClr val="FFFFFF"/>
          </a:solidFill>
          <a:ln/>
        </p:spPr>
      </p:sp>
      <p:sp>
        <p:nvSpPr>
          <p:cNvPr id="11" name="Text 9"/>
          <p:cNvSpPr/>
          <p:nvPr/>
        </p:nvSpPr>
        <p:spPr>
          <a:xfrm>
            <a:off x="777240" y="5120640"/>
            <a:ext cx="10607040" cy="274320"/>
          </a:xfrm>
          <a:prstGeom prst="rect">
            <a:avLst/>
          </a:prstGeom>
          <a:noFill/>
          <a:ln/>
        </p:spPr>
        <p:txBody>
          <a:bodyPr wrap="square" rtlCol="0" anchor="ctr"/>
          <a:lstStyle/>
          <a:p>
            <a:pPr indent="0" marL="0">
              <a:buNone/>
            </a:pPr>
            <a:r>
              <a:rPr lang="en-US" sz="1050" b="1" spc="100" kern="0" dirty="0">
                <a:solidFill>
                  <a:srgbClr val="1F6459"/>
                </a:solidFill>
                <a:latin typeface="Calibri" pitchFamily="34" charset="0"/>
                <a:ea typeface="Calibri" pitchFamily="34" charset="-122"/>
                <a:cs typeface="Calibri" pitchFamily="34" charset="-120"/>
              </a:rPr>
              <a:t>WHAT THIS GUIDE PROVES, CONCRETELY</a:t>
            </a:r>
            <a:endParaRPr lang="en-US" sz="1050" dirty="0"/>
          </a:p>
        </p:txBody>
      </p:sp>
      <p:sp>
        <p:nvSpPr>
          <p:cNvPr id="12" name="Text 10"/>
          <p:cNvSpPr/>
          <p:nvPr/>
        </p:nvSpPr>
        <p:spPr>
          <a:xfrm>
            <a:off x="777240" y="5422392"/>
            <a:ext cx="10607040" cy="914400"/>
          </a:xfrm>
          <a:prstGeom prst="rect">
            <a:avLst/>
          </a:prstGeom>
          <a:noFill/>
          <a:ln/>
        </p:spPr>
        <p:txBody>
          <a:bodyPr wrap="square" rtlCol="0" anchor="ctr"/>
          <a:lstStyle/>
          <a:p>
            <a:pPr indent="0" marL="0">
              <a:lnSpc>
                <a:spcPct val="120000"/>
              </a:lnSpc>
              <a:buNone/>
            </a:pPr>
            <a:r>
              <a:rPr lang="en-US" sz="1200" i="1" dirty="0">
                <a:solidFill>
                  <a:srgbClr val="16221F"/>
                </a:solidFill>
                <a:latin typeface="Calibri" pitchFamily="34" charset="0"/>
                <a:ea typeface="Calibri" pitchFamily="34" charset="-122"/>
                <a:cs typeface="Calibri" pitchFamily="34" charset="-120"/>
              </a:rPr>
              <a:t>A clean-close record stated plainly, without a manufactured crisis — the deliberate contrast to every other case in the library.</a:t>
            </a:r>
            <a:endParaRPr lang="en-US" sz="1200" dirty="0"/>
          </a:p>
        </p:txBody>
      </p:sp>
      <p:sp>
        <p:nvSpPr>
          <p:cNvPr id="13" name="Text 11"/>
          <p:cNvSpPr/>
          <p:nvPr/>
        </p:nvSpPr>
        <p:spPr>
          <a:xfrm>
            <a:off x="548640" y="6528816"/>
            <a:ext cx="7315200" cy="274320"/>
          </a:xfrm>
          <a:prstGeom prst="rect">
            <a:avLst/>
          </a:prstGeom>
          <a:noFill/>
          <a:ln/>
        </p:spPr>
        <p:txBody>
          <a:bodyPr wrap="square" rtlCol="0" anchor="ctr"/>
          <a:lstStyle/>
          <a:p>
            <a:pPr algn="l" indent="0" marL="0">
              <a:buNone/>
            </a:pPr>
            <a:r>
              <a:rPr lang="en-US" sz="900" dirty="0">
                <a:solidFill>
                  <a:srgbClr val="CFE3DD"/>
                </a:solidFill>
                <a:latin typeface="Calibri" pitchFamily="34" charset="0"/>
                <a:ea typeface="Calibri" pitchFamily="34" charset="-122"/>
                <a:cs typeface="Calibri" pitchFamily="34" charset="-120"/>
              </a:rPr>
              <a:t>journi — The 8 Transformation Types</a:t>
            </a:r>
            <a:endParaRPr lang="en-US" sz="900" dirty="0"/>
          </a:p>
        </p:txBody>
      </p:sp>
      <p:sp>
        <p:nvSpPr>
          <p:cNvPr id="14" name="Text 12"/>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CFE3DD"/>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C2661C"/>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indent="0" marL="0">
              <a:buNone/>
            </a:pPr>
            <a:r>
              <a:rPr lang="en-US" sz="1250" b="1" spc="200" kern="0" dirty="0">
                <a:solidFill>
                  <a:srgbClr val="FFFFFF"/>
                </a:solidFill>
                <a:latin typeface="Calibri" pitchFamily="34" charset="0"/>
                <a:ea typeface="Calibri" pitchFamily="34" charset="-122"/>
                <a:cs typeface="Calibri" pitchFamily="34" charset="-120"/>
              </a:rPr>
              <a:t>TRANSFORMATION TYPE 4 OF 8</a:t>
            </a:r>
            <a:endParaRPr lang="en-US" sz="1250" dirty="0"/>
          </a:p>
        </p:txBody>
      </p:sp>
      <p:sp>
        <p:nvSpPr>
          <p:cNvPr id="3" name="Shape 1"/>
          <p:cNvSpPr/>
          <p:nvPr/>
        </p:nvSpPr>
        <p:spPr>
          <a:xfrm>
            <a:off x="548640" y="868680"/>
            <a:ext cx="868680" cy="868680"/>
          </a:xfrm>
          <a:prstGeom prst="ellipse">
            <a:avLst/>
          </a:prstGeom>
          <a:solidFill>
            <a:srgbClr val="FFFFFF"/>
          </a:solidFill>
          <a:ln/>
        </p:spPr>
      </p:sp>
      <p:pic>
        <p:nvPicPr>
          <p:cNvPr id="4" name="Image 0" descr="/home/user/scm-process-register/docs-src/transformation-types-deck/assets/certificate.png">    </p:cNvPr>
          <p:cNvPicPr>
            <a:picLocks noChangeAspect="1"/>
          </p:cNvPicPr>
          <p:nvPr/>
        </p:nvPicPr>
        <p:blipFill>
          <a:blip r:embed="rId1"/>
          <a:stretch>
            <a:fillRect/>
          </a:stretch>
        </p:blipFill>
        <p:spPr>
          <a:xfrm>
            <a:off x="731520" y="1051560"/>
            <a:ext cx="502920" cy="502920"/>
          </a:xfrm>
          <a:prstGeom prst="rect">
            <a:avLst/>
          </a:prstGeom>
        </p:spPr>
      </p:pic>
      <p:sp>
        <p:nvSpPr>
          <p:cNvPr id="5" name="Text 2"/>
          <p:cNvSpPr/>
          <p:nvPr/>
        </p:nvSpPr>
        <p:spPr>
          <a:xfrm>
            <a:off x="1691640" y="868680"/>
            <a:ext cx="9144000" cy="86868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Integrated Management System</a:t>
            </a:r>
            <a:endParaRPr lang="en-US" sz="3200" dirty="0"/>
          </a:p>
        </p:txBody>
      </p:sp>
      <p:sp>
        <p:nvSpPr>
          <p:cNvPr id="6" name="Text 3"/>
          <p:cNvSpPr/>
          <p:nvPr/>
        </p:nvSpPr>
        <p:spPr>
          <a:xfrm>
            <a:off x="548640" y="1965960"/>
            <a:ext cx="11064240" cy="868680"/>
          </a:xfrm>
          <a:prstGeom prst="rect">
            <a:avLst/>
          </a:prstGeom>
          <a:noFill/>
          <a:ln/>
        </p:spPr>
        <p:txBody>
          <a:bodyPr wrap="square" rtlCol="0" anchor="ctr"/>
          <a:lstStyle/>
          <a:p>
            <a:pPr indent="0" marL="0">
              <a:lnSpc>
                <a:spcPct val="130000"/>
              </a:lnSpc>
              <a:buNone/>
            </a:pPr>
            <a:r>
              <a:rPr lang="en-US" sz="1550" i="1" dirty="0">
                <a:solidFill>
                  <a:srgbClr val="F0F0F0"/>
                </a:solidFill>
                <a:latin typeface="Calibri" pitchFamily="34" charset="0"/>
                <a:ea typeface="Calibri" pitchFamily="34" charset="-122"/>
                <a:cs typeface="Calibri" pitchFamily="34" charset="-120"/>
              </a:rPr>
              <a:t>Pursuing ISO 9001/14001 certification on one management system rather than two — sponsored alone, without a guiding coalition.</a:t>
            </a:r>
            <a:endParaRPr lang="en-US" sz="1550" dirty="0"/>
          </a:p>
        </p:txBody>
      </p:sp>
      <p:sp>
        <p:nvSpPr>
          <p:cNvPr id="7" name="Shape 4"/>
          <p:cNvSpPr/>
          <p:nvPr/>
        </p:nvSpPr>
        <p:spPr>
          <a:xfrm>
            <a:off x="548640" y="3063240"/>
            <a:ext cx="5349240" cy="2651760"/>
          </a:xfrm>
          <a:prstGeom prst="roundRect">
            <a:avLst>
              <a:gd name="adj" fmla="val 1724"/>
            </a:avLst>
          </a:prstGeom>
          <a:solidFill>
            <a:srgbClr val="FFFFFF"/>
          </a:solidFill>
          <a:ln/>
        </p:spPr>
      </p:sp>
      <p:sp>
        <p:nvSpPr>
          <p:cNvPr id="8" name="Text 5"/>
          <p:cNvSpPr/>
          <p:nvPr/>
        </p:nvSpPr>
        <p:spPr>
          <a:xfrm>
            <a:off x="777240" y="3200400"/>
            <a:ext cx="4846320" cy="274320"/>
          </a:xfrm>
          <a:prstGeom prst="rect">
            <a:avLst/>
          </a:prstGeom>
          <a:noFill/>
          <a:ln/>
        </p:spPr>
        <p:txBody>
          <a:bodyPr wrap="square" rtlCol="0" anchor="ctr"/>
          <a:lstStyle/>
          <a:p>
            <a:pPr indent="0" marL="0">
              <a:buNone/>
            </a:pPr>
            <a:r>
              <a:rPr lang="en-US" sz="1050" b="1" spc="100" kern="0" dirty="0">
                <a:solidFill>
                  <a:srgbClr val="C2661C"/>
                </a:solidFill>
                <a:latin typeface="Calibri" pitchFamily="34" charset="0"/>
                <a:ea typeface="Calibri" pitchFamily="34" charset="-122"/>
                <a:cs typeface="Calibri" pitchFamily="34" charset="-120"/>
              </a:rPr>
              <a:t>BUSINESS DRIVER</a:t>
            </a:r>
            <a:endParaRPr lang="en-US" sz="1050" dirty="0"/>
          </a:p>
        </p:txBody>
      </p:sp>
      <p:sp>
        <p:nvSpPr>
          <p:cNvPr id="9" name="Text 6"/>
          <p:cNvSpPr/>
          <p:nvPr/>
        </p:nvSpPr>
        <p:spPr>
          <a:xfrm>
            <a:off x="777240" y="3520440"/>
            <a:ext cx="4846320" cy="1097280"/>
          </a:xfrm>
          <a:prstGeom prst="rect">
            <a:avLst/>
          </a:prstGeom>
          <a:noFill/>
          <a:ln/>
        </p:spPr>
        <p:txBody>
          <a:bodyPr wrap="square" rtlCol="0" anchor="ctr"/>
          <a:lstStyle/>
          <a:p>
            <a:pPr indent="0" marL="0">
              <a:lnSpc>
                <a:spcPct val="125000"/>
              </a:lnSpc>
              <a:buNone/>
            </a:pPr>
            <a:r>
              <a:rPr lang="en-US" sz="1200" dirty="0">
                <a:solidFill>
                  <a:srgbClr val="16221F"/>
                </a:solidFill>
                <a:latin typeface="Calibri" pitchFamily="34" charset="0"/>
                <a:ea typeface="Calibri" pitchFamily="34" charset="-122"/>
                <a:cs typeface="Calibri" pitchFamily="34" charset="-120"/>
              </a:rPr>
              <a:t>A customer contract now requires certified quality management; a parallel certification is bundled in for efficiency.</a:t>
            </a:r>
            <a:endParaRPr lang="en-US" sz="1200" dirty="0"/>
          </a:p>
        </p:txBody>
      </p:sp>
      <p:sp>
        <p:nvSpPr>
          <p:cNvPr id="10" name="Text 7"/>
          <p:cNvSpPr/>
          <p:nvPr/>
        </p:nvSpPr>
        <p:spPr>
          <a:xfrm>
            <a:off x="777240" y="4709160"/>
            <a:ext cx="4846320" cy="274320"/>
          </a:xfrm>
          <a:prstGeom prst="rect">
            <a:avLst/>
          </a:prstGeom>
          <a:noFill/>
          <a:ln/>
        </p:spPr>
        <p:txBody>
          <a:bodyPr wrap="square" rtlCol="0" anchor="ctr"/>
          <a:lstStyle/>
          <a:p>
            <a:pPr indent="0" marL="0">
              <a:buNone/>
            </a:pPr>
            <a:r>
              <a:rPr lang="en-US" sz="1050" b="1" spc="100" kern="0" dirty="0">
                <a:solidFill>
                  <a:srgbClr val="C2661C"/>
                </a:solidFill>
                <a:latin typeface="Calibri" pitchFamily="34" charset="0"/>
                <a:ea typeface="Calibri" pitchFamily="34" charset="-122"/>
                <a:cs typeface="Calibri" pitchFamily="34" charset="-120"/>
              </a:rPr>
              <a:t>TARGET POPULATION PATTERN</a:t>
            </a:r>
            <a:endParaRPr lang="en-US" sz="1050" dirty="0"/>
          </a:p>
        </p:txBody>
      </p:sp>
      <p:sp>
        <p:nvSpPr>
          <p:cNvPr id="11" name="Text 8"/>
          <p:cNvSpPr/>
          <p:nvPr/>
        </p:nvSpPr>
        <p:spPr>
          <a:xfrm>
            <a:off x="777240" y="5029200"/>
            <a:ext cx="4846320" cy="640080"/>
          </a:xfrm>
          <a:prstGeom prst="rect">
            <a:avLst/>
          </a:prstGeom>
          <a:noFill/>
          <a:ln/>
        </p:spPr>
        <p:txBody>
          <a:bodyPr wrap="square" rtlCol="0" anchor="ctr"/>
          <a:lstStyle/>
          <a:p>
            <a:pPr indent="0" marL="0">
              <a:lnSpc>
                <a:spcPct val="120000"/>
              </a:lnSpc>
              <a:buNone/>
            </a:pPr>
            <a:r>
              <a:rPr lang="en-US" sz="1150" dirty="0">
                <a:solidFill>
                  <a:srgbClr val="16221F"/>
                </a:solidFill>
                <a:latin typeface="Calibri" pitchFamily="34" charset="0"/>
                <a:ea typeface="Calibri" pitchFamily="34" charset="-122"/>
                <a:cs typeface="Calibri" pitchFamily="34" charset="-120"/>
              </a:rPr>
              <a:t>A plant's operations and quality function together — often 300-500 staff, spanning shop floor and back office.</a:t>
            </a:r>
            <a:endParaRPr lang="en-US" sz="1150" dirty="0"/>
          </a:p>
        </p:txBody>
      </p:sp>
      <p:sp>
        <p:nvSpPr>
          <p:cNvPr id="12" name="Shape 9"/>
          <p:cNvSpPr/>
          <p:nvPr/>
        </p:nvSpPr>
        <p:spPr>
          <a:xfrm>
            <a:off x="6080760" y="3063240"/>
            <a:ext cx="5532120" cy="2651760"/>
          </a:xfrm>
          <a:prstGeom prst="roundRect">
            <a:avLst>
              <a:gd name="adj" fmla="val 1724"/>
            </a:avLst>
          </a:prstGeom>
          <a:solidFill>
            <a:srgbClr val="FFFFFF"/>
          </a:solidFill>
          <a:ln/>
        </p:spPr>
      </p:sp>
      <p:sp>
        <p:nvSpPr>
          <p:cNvPr id="13" name="Text 10"/>
          <p:cNvSpPr/>
          <p:nvPr/>
        </p:nvSpPr>
        <p:spPr>
          <a:xfrm>
            <a:off x="6309360" y="3200400"/>
            <a:ext cx="5074920" cy="274320"/>
          </a:xfrm>
          <a:prstGeom prst="rect">
            <a:avLst/>
          </a:prstGeom>
          <a:noFill/>
          <a:ln/>
        </p:spPr>
        <p:txBody>
          <a:bodyPr wrap="square" rtlCol="0" anchor="ctr"/>
          <a:lstStyle/>
          <a:p>
            <a:pPr indent="0" marL="0">
              <a:buNone/>
            </a:pPr>
            <a:r>
              <a:rPr lang="en-US" sz="1050" b="1" spc="100" kern="0" dirty="0">
                <a:solidFill>
                  <a:srgbClr val="C2661C"/>
                </a:solidFill>
                <a:latin typeface="Calibri" pitchFamily="34" charset="0"/>
                <a:ea typeface="Calibri" pitchFamily="34" charset="-122"/>
                <a:cs typeface="Calibri" pitchFamily="34" charset="-120"/>
              </a:rPr>
              <a:t>PHASE TEMPLATE</a:t>
            </a:r>
            <a:endParaRPr lang="en-US" sz="1050" dirty="0"/>
          </a:p>
        </p:txBody>
      </p:sp>
      <p:sp>
        <p:nvSpPr>
          <p:cNvPr id="14" name="Text 11"/>
          <p:cNvSpPr/>
          <p:nvPr/>
        </p:nvSpPr>
        <p:spPr>
          <a:xfrm>
            <a:off x="6309360" y="3520440"/>
            <a:ext cx="5074920" cy="365760"/>
          </a:xfrm>
          <a:prstGeom prst="rect">
            <a:avLst/>
          </a:prstGeom>
          <a:noFill/>
          <a:ln/>
        </p:spPr>
        <p:txBody>
          <a:bodyPr wrap="square" rtlCol="0" anchor="ctr"/>
          <a:lstStyle/>
          <a:p>
            <a:pPr indent="0" marL="0">
              <a:buNone/>
            </a:pPr>
            <a:r>
              <a:rPr lang="en-US" sz="1300" b="1" dirty="0">
                <a:solidFill>
                  <a:srgbClr val="16221F"/>
                </a:solidFill>
                <a:latin typeface="Calibri" pitchFamily="34" charset="0"/>
                <a:ea typeface="Calibri" pitchFamily="34" charset="-122"/>
                <a:cs typeface="Calibri" pitchFamily="34" charset="-120"/>
              </a:rPr>
              <a:t>TPL-IMS-7 — 7 phases</a:t>
            </a:r>
            <a:endParaRPr lang="en-US" sz="1300" dirty="0"/>
          </a:p>
        </p:txBody>
      </p:sp>
      <p:sp>
        <p:nvSpPr>
          <p:cNvPr id="15" name="Text 12"/>
          <p:cNvSpPr/>
          <p:nvPr/>
        </p:nvSpPr>
        <p:spPr>
          <a:xfrm>
            <a:off x="6309360" y="3977640"/>
            <a:ext cx="5074920" cy="274320"/>
          </a:xfrm>
          <a:prstGeom prst="rect">
            <a:avLst/>
          </a:prstGeom>
          <a:noFill/>
          <a:ln/>
        </p:spPr>
        <p:txBody>
          <a:bodyPr wrap="square" rtlCol="0" anchor="ctr"/>
          <a:lstStyle/>
          <a:p>
            <a:pPr indent="0" marL="0">
              <a:buNone/>
            </a:pPr>
            <a:r>
              <a:rPr lang="en-US" sz="1080" dirty="0">
                <a:solidFill>
                  <a:srgbClr val="16221F"/>
                </a:solidFill>
                <a:latin typeface="Calibri" pitchFamily="34" charset="0"/>
                <a:ea typeface="Calibri" pitchFamily="34" charset="-122"/>
                <a:cs typeface="Calibri" pitchFamily="34" charset="-120"/>
              </a:rPr>
              <a:t>1. Intake &amp; Diagnosis</a:t>
            </a:r>
            <a:endParaRPr lang="en-US" sz="1080" dirty="0"/>
          </a:p>
        </p:txBody>
      </p:sp>
      <p:sp>
        <p:nvSpPr>
          <p:cNvPr id="16" name="Text 13"/>
          <p:cNvSpPr/>
          <p:nvPr/>
        </p:nvSpPr>
        <p:spPr>
          <a:xfrm>
            <a:off x="6309360" y="4270248"/>
            <a:ext cx="5074920" cy="274320"/>
          </a:xfrm>
          <a:prstGeom prst="rect">
            <a:avLst/>
          </a:prstGeom>
          <a:noFill/>
          <a:ln/>
        </p:spPr>
        <p:txBody>
          <a:bodyPr wrap="square" rtlCol="0" anchor="ctr"/>
          <a:lstStyle/>
          <a:p>
            <a:pPr indent="0" marL="0">
              <a:buNone/>
            </a:pPr>
            <a:r>
              <a:rPr lang="en-US" sz="1080" dirty="0">
                <a:solidFill>
                  <a:srgbClr val="16221F"/>
                </a:solidFill>
                <a:latin typeface="Calibri" pitchFamily="34" charset="0"/>
                <a:ea typeface="Calibri" pitchFamily="34" charset="-122"/>
                <a:cs typeface="Calibri" pitchFamily="34" charset="-120"/>
              </a:rPr>
              <a:t>2. Design</a:t>
            </a:r>
            <a:endParaRPr lang="en-US" sz="1080" dirty="0"/>
          </a:p>
        </p:txBody>
      </p:sp>
      <p:sp>
        <p:nvSpPr>
          <p:cNvPr id="17" name="Text 14"/>
          <p:cNvSpPr/>
          <p:nvPr/>
        </p:nvSpPr>
        <p:spPr>
          <a:xfrm>
            <a:off x="6309360" y="4562856"/>
            <a:ext cx="5074920" cy="274320"/>
          </a:xfrm>
          <a:prstGeom prst="rect">
            <a:avLst/>
          </a:prstGeom>
          <a:noFill/>
          <a:ln/>
        </p:spPr>
        <p:txBody>
          <a:bodyPr wrap="square" rtlCol="0" anchor="ctr"/>
          <a:lstStyle/>
          <a:p>
            <a:pPr indent="0" marL="0">
              <a:buNone/>
            </a:pPr>
            <a:r>
              <a:rPr lang="en-US" sz="1080" dirty="0">
                <a:solidFill>
                  <a:srgbClr val="16221F"/>
                </a:solidFill>
                <a:latin typeface="Calibri" pitchFamily="34" charset="0"/>
                <a:ea typeface="Calibri" pitchFamily="34" charset="-122"/>
                <a:cs typeface="Calibri" pitchFamily="34" charset="-120"/>
              </a:rPr>
              <a:t>3. Implementation</a:t>
            </a:r>
            <a:endParaRPr lang="en-US" sz="1080" dirty="0"/>
          </a:p>
        </p:txBody>
      </p:sp>
      <p:sp>
        <p:nvSpPr>
          <p:cNvPr id="18" name="Text 15"/>
          <p:cNvSpPr/>
          <p:nvPr/>
        </p:nvSpPr>
        <p:spPr>
          <a:xfrm>
            <a:off x="6309360" y="4855464"/>
            <a:ext cx="5074920" cy="274320"/>
          </a:xfrm>
          <a:prstGeom prst="rect">
            <a:avLst/>
          </a:prstGeom>
          <a:noFill/>
          <a:ln/>
        </p:spPr>
        <p:txBody>
          <a:bodyPr wrap="square" rtlCol="0" anchor="ctr"/>
          <a:lstStyle/>
          <a:p>
            <a:pPr indent="0" marL="0">
              <a:buNone/>
            </a:pPr>
            <a:r>
              <a:rPr lang="en-US" sz="1080" dirty="0">
                <a:solidFill>
                  <a:srgbClr val="16221F"/>
                </a:solidFill>
                <a:latin typeface="Calibri" pitchFamily="34" charset="0"/>
                <a:ea typeface="Calibri" pitchFamily="34" charset="-122"/>
                <a:cs typeface="Calibri" pitchFamily="34" charset="-120"/>
              </a:rPr>
              <a:t>4. Mock-up Audit</a:t>
            </a:r>
            <a:endParaRPr lang="en-US" sz="1080" dirty="0"/>
          </a:p>
        </p:txBody>
      </p:sp>
      <p:sp>
        <p:nvSpPr>
          <p:cNvPr id="19" name="Text 16"/>
          <p:cNvSpPr/>
          <p:nvPr/>
        </p:nvSpPr>
        <p:spPr>
          <a:xfrm>
            <a:off x="6309360" y="5193792"/>
            <a:ext cx="5074920" cy="274320"/>
          </a:xfrm>
          <a:prstGeom prst="rect">
            <a:avLst/>
          </a:prstGeom>
          <a:noFill/>
          <a:ln/>
        </p:spPr>
        <p:txBody>
          <a:bodyPr wrap="square" rtlCol="0" anchor="ctr"/>
          <a:lstStyle/>
          <a:p>
            <a:pPr indent="0" marL="0">
              <a:buNone/>
            </a:pPr>
            <a:r>
              <a:rPr lang="en-US" sz="1000" i="1" dirty="0">
                <a:solidFill>
                  <a:srgbClr val="5C6D68"/>
                </a:solidFill>
                <a:latin typeface="Calibri" pitchFamily="34" charset="0"/>
                <a:ea typeface="Calibri" pitchFamily="34" charset="-122"/>
                <a:cs typeface="Calibri" pitchFamily="34" charset="-120"/>
              </a:rPr>
              <a:t>… 3 more (next slide)</a:t>
            </a:r>
            <a:endParaRPr lang="en-US" sz="1000" dirty="0"/>
          </a:p>
        </p:txBody>
      </p:sp>
      <p:sp>
        <p:nvSpPr>
          <p:cNvPr id="20" name="Text 17"/>
          <p:cNvSpPr/>
          <p:nvPr/>
        </p:nvSpPr>
        <p:spPr>
          <a:xfrm>
            <a:off x="548640" y="6528816"/>
            <a:ext cx="7315200" cy="274320"/>
          </a:xfrm>
          <a:prstGeom prst="rect">
            <a:avLst/>
          </a:prstGeom>
          <a:noFill/>
          <a:ln/>
        </p:spPr>
        <p:txBody>
          <a:bodyPr wrap="square" rtlCol="0" anchor="ctr"/>
          <a:lstStyle/>
          <a:p>
            <a:pPr algn="l" indent="0" marL="0">
              <a:buNone/>
            </a:pPr>
            <a:r>
              <a:rPr lang="en-US" sz="900" dirty="0">
                <a:solidFill>
                  <a:srgbClr val="CFE3DD"/>
                </a:solidFill>
                <a:latin typeface="Calibri" pitchFamily="34" charset="0"/>
                <a:ea typeface="Calibri" pitchFamily="34" charset="-122"/>
                <a:cs typeface="Calibri" pitchFamily="34" charset="-120"/>
              </a:rPr>
              <a:t>journi — The 8 Transformation Types</a:t>
            </a:r>
            <a:endParaRPr lang="en-US" sz="900" dirty="0"/>
          </a:p>
        </p:txBody>
      </p:sp>
      <p:sp>
        <p:nvSpPr>
          <p:cNvPr id="21" name="Text 18"/>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CFE3DD"/>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QMS · JOURNI PHASE TEMPLATE</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200" b="1" dirty="0">
                <a:solidFill>
                  <a:srgbClr val="C2661C"/>
                </a:solidFill>
                <a:latin typeface="Calibri" pitchFamily="34" charset="0"/>
                <a:ea typeface="Calibri" pitchFamily="34" charset="-122"/>
                <a:cs typeface="Calibri" pitchFamily="34" charset="-120"/>
              </a:rPr>
              <a:t>TPL-IMS-7: 7 Phases, In Order</a:t>
            </a:r>
            <a:endParaRPr lang="en-US" sz="2200" dirty="0"/>
          </a:p>
        </p:txBody>
      </p:sp>
      <p:sp>
        <p:nvSpPr>
          <p:cNvPr id="4" name="Shape 2"/>
          <p:cNvSpPr/>
          <p:nvPr/>
        </p:nvSpPr>
        <p:spPr>
          <a:xfrm>
            <a:off x="548640" y="2103120"/>
            <a:ext cx="2697480" cy="566928"/>
          </a:xfrm>
          <a:prstGeom prst="chevron">
            <a:avLst/>
          </a:prstGeom>
          <a:solidFill>
            <a:srgbClr val="C2661C"/>
          </a:solidFill>
          <a:ln/>
        </p:spPr>
      </p:sp>
      <p:sp>
        <p:nvSpPr>
          <p:cNvPr id="5" name="Text 3"/>
          <p:cNvSpPr/>
          <p:nvPr/>
        </p:nvSpPr>
        <p:spPr>
          <a:xfrm>
            <a:off x="594360" y="2103120"/>
            <a:ext cx="260604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Intake &amp; Diagnosis</a:t>
            </a:r>
            <a:endParaRPr lang="en-US" sz="950" dirty="0"/>
          </a:p>
        </p:txBody>
      </p:sp>
      <p:sp>
        <p:nvSpPr>
          <p:cNvPr id="6" name="Shape 4"/>
          <p:cNvSpPr/>
          <p:nvPr/>
        </p:nvSpPr>
        <p:spPr>
          <a:xfrm>
            <a:off x="3337560" y="2103120"/>
            <a:ext cx="2697480" cy="566928"/>
          </a:xfrm>
          <a:prstGeom prst="chevron">
            <a:avLst/>
          </a:prstGeom>
          <a:solidFill>
            <a:srgbClr val="C2661C"/>
          </a:solidFill>
          <a:ln/>
        </p:spPr>
      </p:sp>
      <p:sp>
        <p:nvSpPr>
          <p:cNvPr id="7" name="Text 5"/>
          <p:cNvSpPr/>
          <p:nvPr/>
        </p:nvSpPr>
        <p:spPr>
          <a:xfrm>
            <a:off x="3383280" y="2103120"/>
            <a:ext cx="260604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Design</a:t>
            </a:r>
            <a:endParaRPr lang="en-US" sz="950" dirty="0"/>
          </a:p>
        </p:txBody>
      </p:sp>
      <p:sp>
        <p:nvSpPr>
          <p:cNvPr id="8" name="Shape 6"/>
          <p:cNvSpPr/>
          <p:nvPr/>
        </p:nvSpPr>
        <p:spPr>
          <a:xfrm>
            <a:off x="6126480" y="2103120"/>
            <a:ext cx="2697480" cy="566928"/>
          </a:xfrm>
          <a:prstGeom prst="chevron">
            <a:avLst/>
          </a:prstGeom>
          <a:solidFill>
            <a:srgbClr val="C2661C"/>
          </a:solidFill>
          <a:ln/>
        </p:spPr>
      </p:sp>
      <p:sp>
        <p:nvSpPr>
          <p:cNvPr id="9" name="Text 7"/>
          <p:cNvSpPr/>
          <p:nvPr/>
        </p:nvSpPr>
        <p:spPr>
          <a:xfrm>
            <a:off x="6172200" y="2103120"/>
            <a:ext cx="260604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Implementation</a:t>
            </a:r>
            <a:endParaRPr lang="en-US" sz="950" dirty="0"/>
          </a:p>
        </p:txBody>
      </p:sp>
      <p:sp>
        <p:nvSpPr>
          <p:cNvPr id="10" name="Shape 8"/>
          <p:cNvSpPr/>
          <p:nvPr/>
        </p:nvSpPr>
        <p:spPr>
          <a:xfrm>
            <a:off x="8915400" y="2103120"/>
            <a:ext cx="2697480" cy="566928"/>
          </a:xfrm>
          <a:prstGeom prst="chevron">
            <a:avLst/>
          </a:prstGeom>
          <a:solidFill>
            <a:srgbClr val="C2661C"/>
          </a:solidFill>
          <a:ln/>
        </p:spPr>
      </p:sp>
      <p:sp>
        <p:nvSpPr>
          <p:cNvPr id="11" name="Text 9"/>
          <p:cNvSpPr/>
          <p:nvPr/>
        </p:nvSpPr>
        <p:spPr>
          <a:xfrm>
            <a:off x="8961120" y="2103120"/>
            <a:ext cx="260604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4. Mock-up Audit</a:t>
            </a:r>
            <a:endParaRPr lang="en-US" sz="950" dirty="0"/>
          </a:p>
        </p:txBody>
      </p:sp>
      <p:sp>
        <p:nvSpPr>
          <p:cNvPr id="12" name="Shape 10"/>
          <p:cNvSpPr/>
          <p:nvPr/>
        </p:nvSpPr>
        <p:spPr>
          <a:xfrm>
            <a:off x="548640" y="2798064"/>
            <a:ext cx="3627120" cy="566928"/>
          </a:xfrm>
          <a:prstGeom prst="chevron">
            <a:avLst/>
          </a:prstGeom>
          <a:solidFill>
            <a:srgbClr val="C2661C"/>
          </a:solidFill>
          <a:ln/>
        </p:spPr>
      </p:sp>
      <p:sp>
        <p:nvSpPr>
          <p:cNvPr id="13" name="Text 11"/>
          <p:cNvSpPr/>
          <p:nvPr/>
        </p:nvSpPr>
        <p:spPr>
          <a:xfrm>
            <a:off x="594360" y="2798064"/>
            <a:ext cx="353568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5. Certifying Audit</a:t>
            </a:r>
            <a:endParaRPr lang="en-US" sz="950" dirty="0"/>
          </a:p>
        </p:txBody>
      </p:sp>
      <p:sp>
        <p:nvSpPr>
          <p:cNvPr id="14" name="Shape 12"/>
          <p:cNvSpPr/>
          <p:nvPr/>
        </p:nvSpPr>
        <p:spPr>
          <a:xfrm>
            <a:off x="4267200" y="2798064"/>
            <a:ext cx="3627120" cy="566928"/>
          </a:xfrm>
          <a:prstGeom prst="chevron">
            <a:avLst/>
          </a:prstGeom>
          <a:solidFill>
            <a:srgbClr val="C2661C"/>
          </a:solidFill>
          <a:ln/>
        </p:spPr>
      </p:sp>
      <p:sp>
        <p:nvSpPr>
          <p:cNvPr id="15" name="Text 13"/>
          <p:cNvSpPr/>
          <p:nvPr/>
        </p:nvSpPr>
        <p:spPr>
          <a:xfrm>
            <a:off x="4312920" y="2798064"/>
            <a:ext cx="353568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6. Surveillance Prep</a:t>
            </a:r>
            <a:endParaRPr lang="en-US" sz="950" dirty="0"/>
          </a:p>
        </p:txBody>
      </p:sp>
      <p:sp>
        <p:nvSpPr>
          <p:cNvPr id="16" name="Shape 14"/>
          <p:cNvSpPr/>
          <p:nvPr/>
        </p:nvSpPr>
        <p:spPr>
          <a:xfrm>
            <a:off x="7985760" y="2798064"/>
            <a:ext cx="3627120" cy="566928"/>
          </a:xfrm>
          <a:prstGeom prst="chevron">
            <a:avLst/>
          </a:prstGeom>
          <a:solidFill>
            <a:srgbClr val="C2661C"/>
          </a:solidFill>
          <a:ln/>
        </p:spPr>
      </p:sp>
      <p:sp>
        <p:nvSpPr>
          <p:cNvPr id="17" name="Text 15"/>
          <p:cNvSpPr/>
          <p:nvPr/>
        </p:nvSpPr>
        <p:spPr>
          <a:xfrm>
            <a:off x="8031480" y="2798064"/>
            <a:ext cx="353568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7. Ongoing Surveillance</a:t>
            </a:r>
            <a:endParaRPr lang="en-US" sz="950" dirty="0"/>
          </a:p>
        </p:txBody>
      </p:sp>
      <p:sp>
        <p:nvSpPr>
          <p:cNvPr id="18" name="Text 16"/>
          <p:cNvSpPr/>
          <p:nvPr/>
        </p:nvSpPr>
        <p:spPr>
          <a:xfrm>
            <a:off x="548640" y="3950208"/>
            <a:ext cx="11064240" cy="2194560"/>
          </a:xfrm>
          <a:prstGeom prst="rect">
            <a:avLst/>
          </a:prstGeom>
          <a:noFill/>
          <a:ln/>
        </p:spPr>
        <p:txBody>
          <a:bodyPr wrap="square" rtlCol="0" anchor="ctr"/>
          <a:lstStyle/>
          <a:p>
            <a:pPr indent="0" marL="0">
              <a:lnSpc>
                <a:spcPct val="130000"/>
              </a:lnSpc>
              <a:buNone/>
            </a:pPr>
            <a:r>
              <a:rPr lang="en-US" sz="1300" dirty="0">
                <a:solidFill>
                  <a:srgbClr val="16221F"/>
                </a:solidFill>
                <a:latin typeface="Calibri" pitchFamily="34" charset="0"/>
                <a:ea typeface="Calibri" pitchFamily="34" charset="-122"/>
                <a:cs typeface="Calibri" pitchFamily="34" charset="-120"/>
              </a:rPr>
              <a:t>Lewin never fully closes. Ongoing Surveillance is the longest single-phase tail in the library by design — certification surveillance never formally ends, so Refreeze is the one Lewin stage this archetype treats as a standing state, not a destination.</a:t>
            </a:r>
            <a:endParaRPr lang="en-US" sz="1300" dirty="0"/>
          </a:p>
        </p:txBody>
      </p:sp>
      <p:sp>
        <p:nvSpPr>
          <p:cNvPr id="19" name="Text 17"/>
          <p:cNvSpPr/>
          <p:nvPr/>
        </p:nvSpPr>
        <p:spPr>
          <a:xfrm>
            <a:off x="548640" y="3630168"/>
            <a:ext cx="11064240" cy="274320"/>
          </a:xfrm>
          <a:prstGeom prst="rect">
            <a:avLst/>
          </a:prstGeom>
          <a:noFill/>
          <a:ln/>
        </p:spPr>
        <p:txBody>
          <a:bodyPr wrap="square" rtlCol="0" anchor="ctr"/>
          <a:lstStyle/>
          <a:p>
            <a:pPr indent="0" marL="0">
              <a:buNone/>
            </a:pPr>
            <a:r>
              <a:rPr lang="en-US" sz="1050" b="1" spc="100" kern="0" dirty="0">
                <a:solidFill>
                  <a:srgbClr val="C2661C"/>
                </a:solidFill>
                <a:latin typeface="Calibri" pitchFamily="34" charset="0"/>
                <a:ea typeface="Calibri" pitchFamily="34" charset="-122"/>
                <a:cs typeface="Calibri" pitchFamily="34" charset="-120"/>
              </a:rPr>
              <a:t>FRAMEWORK WEIGHTING FOR THIS ARCHETYPE</a:t>
            </a:r>
            <a:endParaRPr lang="en-US" sz="1050" dirty="0"/>
          </a:p>
        </p:txBody>
      </p:sp>
      <p:sp>
        <p:nvSpPr>
          <p:cNvPr id="20" name="Text 18"/>
          <p:cNvSpPr/>
          <p:nvPr/>
        </p:nvSpPr>
        <p:spPr>
          <a:xfrm>
            <a:off x="548640" y="6528816"/>
            <a:ext cx="73152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The 8 Transformation Types</a:t>
            </a:r>
            <a:endParaRPr lang="en-US" sz="900" dirty="0"/>
          </a:p>
        </p:txBody>
      </p:sp>
      <p:sp>
        <p:nvSpPr>
          <p:cNvPr id="21" name="Text 19"/>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QMS · TENANT SETUP</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500" b="1" dirty="0">
                <a:solidFill>
                  <a:srgbClr val="C2661C"/>
                </a:solidFill>
                <a:latin typeface="Calibri" pitchFamily="34" charset="0"/>
                <a:ea typeface="Calibri" pitchFamily="34" charset="-122"/>
                <a:cs typeface="Calibri" pitchFamily="34" charset="-120"/>
              </a:rPr>
              <a:t>The RACSI Team for This Case</a:t>
            </a:r>
            <a:endParaRPr lang="en-US" sz="2500" dirty="0"/>
          </a:p>
        </p:txBody>
      </p:sp>
      <p:sp>
        <p:nvSpPr>
          <p:cNvPr id="4" name="Text 2"/>
          <p:cNvSpPr/>
          <p:nvPr/>
        </p:nvSpPr>
        <p:spPr>
          <a:xfrm>
            <a:off x="548640" y="1417320"/>
            <a:ext cx="11064240" cy="457200"/>
          </a:xfrm>
          <a:prstGeom prst="rect">
            <a:avLst/>
          </a:prstGeom>
          <a:noFill/>
          <a:ln/>
        </p:spPr>
        <p:txBody>
          <a:bodyPr wrap="square" rtlCol="0" anchor="t"/>
          <a:lstStyle/>
          <a:p>
            <a:pPr indent="0" marL="0">
              <a:lnSpc>
                <a:spcPct val="115000"/>
              </a:lnSpc>
              <a:buNone/>
            </a:pPr>
            <a:r>
              <a:rPr lang="en-US" sz="1200" dirty="0">
                <a:solidFill>
                  <a:srgbClr val="5C6D68"/>
                </a:solidFill>
                <a:latin typeface="Calibri" pitchFamily="34" charset="0"/>
                <a:ea typeface="Calibri" pitchFamily="34" charset="-122"/>
                <a:cs typeface="Calibri" pitchFamily="34" charset="-120"/>
              </a:rPr>
              <a:t>journi's 7-code RACSI role taxonomy (ES/CM/PM/FPO/ITL/SUP/EU), assigned to real, named accounts for this program.</a:t>
            </a:r>
            <a:endParaRPr lang="en-US" sz="12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11064240" cy="914400"/>
        </p:xfrm>
        <a:graphic>
          <a:graphicData uri="http://schemas.openxmlformats.org/drawingml/2006/table">
            <a:tbl>
              <a:tblPr/>
              <a:tblGrid>
                <a:gridCol w="3108960"/>
                <a:gridCol w="1645920"/>
                <a:gridCol w="6309360"/>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Name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C2661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RACSI Code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C2661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Role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C2661C"/>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Nadia Fassi</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ES</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Sponsor — Quality Manager</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Rania Bensouda</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CM</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Change Manager</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Samir Chraibi</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PM</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Program Manager</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Mehdi Ouahbi</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FPO</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Functional Process Owner</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Yasmine Kadiri</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ITL</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IT/Technical Lead</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Aziz Berrada</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SUP</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Supervisor</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bl>
          </a:graphicData>
        </a:graphic>
      </p:graphicFrame>
      <p:sp>
        <p:nvSpPr>
          <p:cNvPr id="6" name="Text 3"/>
          <p:cNvSpPr/>
          <p:nvPr/>
        </p:nvSpPr>
        <p:spPr>
          <a:xfrm>
            <a:off x="548640" y="6528816"/>
            <a:ext cx="73152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The 8 Transformation Types</a:t>
            </a:r>
            <a:endParaRPr lang="en-US" sz="900" dirty="0"/>
          </a:p>
        </p:txBody>
      </p:sp>
      <p:sp>
        <p:nvSpPr>
          <p:cNvPr id="7" name="Text 4"/>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QMS · JOURNI MODULES</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400" b="1" dirty="0">
                <a:solidFill>
                  <a:srgbClr val="C2661C"/>
                </a:solidFill>
                <a:latin typeface="Calibri" pitchFamily="34" charset="0"/>
                <a:ea typeface="Calibri" pitchFamily="34" charset="-122"/>
                <a:cs typeface="Calibri" pitchFamily="34" charset="-120"/>
              </a:rPr>
              <a:t>Which modules dominate this archetype</a:t>
            </a:r>
            <a:endParaRPr lang="en-US" sz="2400" dirty="0"/>
          </a:p>
        </p:txBody>
      </p:sp>
      <p:sp>
        <p:nvSpPr>
          <p:cNvPr id="4" name="Shape 2"/>
          <p:cNvSpPr/>
          <p:nvPr/>
        </p:nvSpPr>
        <p:spPr>
          <a:xfrm>
            <a:off x="548640" y="2057400"/>
            <a:ext cx="11064240" cy="932688"/>
          </a:xfrm>
          <a:prstGeom prst="roundRect">
            <a:avLst>
              <a:gd name="adj" fmla="val 4902"/>
            </a:avLst>
          </a:prstGeom>
          <a:solidFill>
            <a:srgbClr val="EAF2EF"/>
          </a:solidFill>
          <a:ln/>
        </p:spPr>
      </p:sp>
      <p:sp>
        <p:nvSpPr>
          <p:cNvPr id="5" name="Text 3"/>
          <p:cNvSpPr/>
          <p:nvPr/>
        </p:nvSpPr>
        <p:spPr>
          <a:xfrm>
            <a:off x="777240" y="2167128"/>
            <a:ext cx="3200400" cy="713232"/>
          </a:xfrm>
          <a:prstGeom prst="rect">
            <a:avLst/>
          </a:prstGeom>
          <a:noFill/>
          <a:ln/>
        </p:spPr>
        <p:txBody>
          <a:bodyPr wrap="square" rtlCol="0" anchor="ctr"/>
          <a:lstStyle/>
          <a:p>
            <a:pPr indent="0" marL="0">
              <a:lnSpc>
                <a:spcPct val="110000"/>
              </a:lnSpc>
              <a:buNone/>
            </a:pPr>
            <a:r>
              <a:rPr lang="en-US" sz="1300" b="1" dirty="0">
                <a:solidFill>
                  <a:srgbClr val="C2661C"/>
                </a:solidFill>
                <a:latin typeface="Calibri" pitchFamily="34" charset="0"/>
                <a:ea typeface="Calibri" pitchFamily="34" charset="-122"/>
                <a:cs typeface="Calibri" pitchFamily="34" charset="-120"/>
              </a:rPr>
              <a:t>M7 (Sponsor &amp; Coalition)</a:t>
            </a:r>
            <a:endParaRPr lang="en-US" sz="1300" dirty="0"/>
          </a:p>
        </p:txBody>
      </p:sp>
      <p:sp>
        <p:nvSpPr>
          <p:cNvPr id="6" name="Text 4"/>
          <p:cNvSpPr/>
          <p:nvPr/>
        </p:nvSpPr>
        <p:spPr>
          <a:xfrm>
            <a:off x="4069080" y="2167128"/>
            <a:ext cx="7360920" cy="713232"/>
          </a:xfrm>
          <a:prstGeom prst="rect">
            <a:avLst/>
          </a:prstGeom>
          <a:noFill/>
          <a:ln/>
        </p:spPr>
        <p:txBody>
          <a:bodyPr wrap="square" rtlCol="0" anchor="ctr"/>
          <a:lstStyle/>
          <a:p>
            <a:pPr indent="0" marL="0">
              <a:lnSpc>
                <a:spcPct val="120000"/>
              </a:lnSpc>
              <a:buNone/>
            </a:pPr>
            <a:r>
              <a:rPr lang="en-US" sz="1180" dirty="0">
                <a:solidFill>
                  <a:srgbClr val="16221F"/>
                </a:solidFill>
                <a:latin typeface="Calibri" pitchFamily="34" charset="0"/>
                <a:ea typeface="Calibri" pitchFamily="34" charset="-122"/>
                <a:cs typeface="Calibri" pitchFamily="34" charset="-120"/>
              </a:rPr>
              <a:t>The archetype's central risk — fewer than 2 coalition members fires ALT-010.</a:t>
            </a:r>
            <a:endParaRPr lang="en-US" sz="1180" dirty="0"/>
          </a:p>
        </p:txBody>
      </p:sp>
      <p:sp>
        <p:nvSpPr>
          <p:cNvPr id="7" name="Shape 5"/>
          <p:cNvSpPr/>
          <p:nvPr/>
        </p:nvSpPr>
        <p:spPr>
          <a:xfrm>
            <a:off x="548640" y="3099816"/>
            <a:ext cx="11064240" cy="932688"/>
          </a:xfrm>
          <a:prstGeom prst="roundRect">
            <a:avLst>
              <a:gd name="adj" fmla="val 4902"/>
            </a:avLst>
          </a:prstGeom>
          <a:solidFill>
            <a:srgbClr val="EAF2EF"/>
          </a:solidFill>
          <a:ln/>
        </p:spPr>
      </p:sp>
      <p:sp>
        <p:nvSpPr>
          <p:cNvPr id="8" name="Text 6"/>
          <p:cNvSpPr/>
          <p:nvPr/>
        </p:nvSpPr>
        <p:spPr>
          <a:xfrm>
            <a:off x="777240" y="3209544"/>
            <a:ext cx="3200400" cy="713232"/>
          </a:xfrm>
          <a:prstGeom prst="rect">
            <a:avLst/>
          </a:prstGeom>
          <a:noFill/>
          <a:ln/>
        </p:spPr>
        <p:txBody>
          <a:bodyPr wrap="square" rtlCol="0" anchor="ctr"/>
          <a:lstStyle/>
          <a:p>
            <a:pPr indent="0" marL="0">
              <a:lnSpc>
                <a:spcPct val="110000"/>
              </a:lnSpc>
              <a:buNone/>
            </a:pPr>
            <a:r>
              <a:rPr lang="en-US" sz="1300" b="1" dirty="0">
                <a:solidFill>
                  <a:srgbClr val="C2661C"/>
                </a:solidFill>
                <a:latin typeface="Calibri" pitchFamily="34" charset="0"/>
                <a:ea typeface="Calibri" pitchFamily="34" charset="-122"/>
                <a:cs typeface="Calibri" pitchFamily="34" charset="-120"/>
              </a:rPr>
              <a:t>M17 (WBS &amp; Gantt)</a:t>
            </a:r>
            <a:endParaRPr lang="en-US" sz="1300" dirty="0"/>
          </a:p>
        </p:txBody>
      </p:sp>
      <p:sp>
        <p:nvSpPr>
          <p:cNvPr id="9" name="Text 7"/>
          <p:cNvSpPr/>
          <p:nvPr/>
        </p:nvSpPr>
        <p:spPr>
          <a:xfrm>
            <a:off x="4069080" y="3209544"/>
            <a:ext cx="7360920" cy="713232"/>
          </a:xfrm>
          <a:prstGeom prst="rect">
            <a:avLst/>
          </a:prstGeom>
          <a:noFill/>
          <a:ln/>
        </p:spPr>
        <p:txBody>
          <a:bodyPr wrap="square" rtlCol="0" anchor="ctr"/>
          <a:lstStyle/>
          <a:p>
            <a:pPr indent="0" marL="0">
              <a:lnSpc>
                <a:spcPct val="120000"/>
              </a:lnSpc>
              <a:buNone/>
            </a:pPr>
            <a:r>
              <a:rPr lang="en-US" sz="1180" dirty="0">
                <a:solidFill>
                  <a:srgbClr val="16221F"/>
                </a:solidFill>
                <a:latin typeface="Calibri" pitchFamily="34" charset="0"/>
                <a:ea typeface="Calibri" pitchFamily="34" charset="-122"/>
                <a:cs typeface="Calibri" pitchFamily="34" charset="-120"/>
              </a:rPr>
              <a:t>The TPL-IMS-7 template — Mock-up and Certifying Audit are external-facing gates.</a:t>
            </a:r>
            <a:endParaRPr lang="en-US" sz="1180" dirty="0"/>
          </a:p>
        </p:txBody>
      </p:sp>
      <p:sp>
        <p:nvSpPr>
          <p:cNvPr id="10" name="Shape 8"/>
          <p:cNvSpPr/>
          <p:nvPr/>
        </p:nvSpPr>
        <p:spPr>
          <a:xfrm>
            <a:off x="548640" y="4142232"/>
            <a:ext cx="11064240" cy="932688"/>
          </a:xfrm>
          <a:prstGeom prst="roundRect">
            <a:avLst>
              <a:gd name="adj" fmla="val 4902"/>
            </a:avLst>
          </a:prstGeom>
          <a:solidFill>
            <a:srgbClr val="EAF2EF"/>
          </a:solidFill>
          <a:ln/>
        </p:spPr>
      </p:sp>
      <p:sp>
        <p:nvSpPr>
          <p:cNvPr id="11" name="Text 9"/>
          <p:cNvSpPr/>
          <p:nvPr/>
        </p:nvSpPr>
        <p:spPr>
          <a:xfrm>
            <a:off x="777240" y="4251960"/>
            <a:ext cx="3200400" cy="713232"/>
          </a:xfrm>
          <a:prstGeom prst="rect">
            <a:avLst/>
          </a:prstGeom>
          <a:noFill/>
          <a:ln/>
        </p:spPr>
        <p:txBody>
          <a:bodyPr wrap="square" rtlCol="0" anchor="ctr"/>
          <a:lstStyle/>
          <a:p>
            <a:pPr indent="0" marL="0">
              <a:lnSpc>
                <a:spcPct val="110000"/>
              </a:lnSpc>
              <a:buNone/>
            </a:pPr>
            <a:r>
              <a:rPr lang="en-US" sz="1300" b="1" dirty="0">
                <a:solidFill>
                  <a:srgbClr val="C2661C"/>
                </a:solidFill>
                <a:latin typeface="Calibri" pitchFamily="34" charset="0"/>
                <a:ea typeface="Calibri" pitchFamily="34" charset="-122"/>
                <a:cs typeface="Calibri" pitchFamily="34" charset="-120"/>
              </a:rPr>
              <a:t>M12 (Sustainment)</a:t>
            </a:r>
            <a:endParaRPr lang="en-US" sz="1300" dirty="0"/>
          </a:p>
        </p:txBody>
      </p:sp>
      <p:sp>
        <p:nvSpPr>
          <p:cNvPr id="12" name="Text 10"/>
          <p:cNvSpPr/>
          <p:nvPr/>
        </p:nvSpPr>
        <p:spPr>
          <a:xfrm>
            <a:off x="4069080" y="4251960"/>
            <a:ext cx="7360920" cy="713232"/>
          </a:xfrm>
          <a:prstGeom prst="rect">
            <a:avLst/>
          </a:prstGeom>
          <a:noFill/>
          <a:ln/>
        </p:spPr>
        <p:txBody>
          <a:bodyPr wrap="square" rtlCol="0" anchor="ctr"/>
          <a:lstStyle/>
          <a:p>
            <a:pPr indent="0" marL="0">
              <a:lnSpc>
                <a:spcPct val="120000"/>
              </a:lnSpc>
              <a:buNone/>
            </a:pPr>
            <a:r>
              <a:rPr lang="en-US" sz="1180" dirty="0">
                <a:solidFill>
                  <a:srgbClr val="16221F"/>
                </a:solidFill>
                <a:latin typeface="Calibri" pitchFamily="34" charset="0"/>
                <a:ea typeface="Calibri" pitchFamily="34" charset="-122"/>
                <a:cs typeface="Calibri" pitchFamily="34" charset="-120"/>
              </a:rPr>
              <a:t>Ongoing Surveillance checkpoints, run indefinitely past program close.</a:t>
            </a:r>
            <a:endParaRPr lang="en-US" sz="1180" dirty="0"/>
          </a:p>
        </p:txBody>
      </p:sp>
      <p:sp>
        <p:nvSpPr>
          <p:cNvPr id="13" name="Shape 11"/>
          <p:cNvSpPr/>
          <p:nvPr/>
        </p:nvSpPr>
        <p:spPr>
          <a:xfrm>
            <a:off x="548640" y="5184648"/>
            <a:ext cx="11064240" cy="932688"/>
          </a:xfrm>
          <a:prstGeom prst="roundRect">
            <a:avLst>
              <a:gd name="adj" fmla="val 4902"/>
            </a:avLst>
          </a:prstGeom>
          <a:solidFill>
            <a:srgbClr val="EAF2EF"/>
          </a:solidFill>
          <a:ln/>
        </p:spPr>
      </p:sp>
      <p:sp>
        <p:nvSpPr>
          <p:cNvPr id="14" name="Text 12"/>
          <p:cNvSpPr/>
          <p:nvPr/>
        </p:nvSpPr>
        <p:spPr>
          <a:xfrm>
            <a:off x="777240" y="5294376"/>
            <a:ext cx="3200400" cy="713232"/>
          </a:xfrm>
          <a:prstGeom prst="rect">
            <a:avLst/>
          </a:prstGeom>
          <a:noFill/>
          <a:ln/>
        </p:spPr>
        <p:txBody>
          <a:bodyPr wrap="square" rtlCol="0" anchor="ctr"/>
          <a:lstStyle/>
          <a:p>
            <a:pPr indent="0" marL="0">
              <a:lnSpc>
                <a:spcPct val="110000"/>
              </a:lnSpc>
              <a:buNone/>
            </a:pPr>
            <a:r>
              <a:rPr lang="en-US" sz="1300" b="1" dirty="0">
                <a:solidFill>
                  <a:srgbClr val="C2661C"/>
                </a:solidFill>
                <a:latin typeface="Calibri" pitchFamily="34" charset="0"/>
                <a:ea typeface="Calibri" pitchFamily="34" charset="-122"/>
                <a:cs typeface="Calibri" pitchFamily="34" charset="-120"/>
              </a:rPr>
              <a:t>M19 (Charter Registry)</a:t>
            </a:r>
            <a:endParaRPr lang="en-US" sz="1300" dirty="0"/>
          </a:p>
        </p:txBody>
      </p:sp>
      <p:sp>
        <p:nvSpPr>
          <p:cNvPr id="15" name="Text 13"/>
          <p:cNvSpPr/>
          <p:nvPr/>
        </p:nvSpPr>
        <p:spPr>
          <a:xfrm>
            <a:off x="4069080" y="5294376"/>
            <a:ext cx="7360920" cy="713232"/>
          </a:xfrm>
          <a:prstGeom prst="rect">
            <a:avLst/>
          </a:prstGeom>
          <a:noFill/>
          <a:ln/>
        </p:spPr>
        <p:txBody>
          <a:bodyPr wrap="square" rtlCol="0" anchor="ctr"/>
          <a:lstStyle/>
          <a:p>
            <a:pPr indent="0" marL="0">
              <a:lnSpc>
                <a:spcPct val="120000"/>
              </a:lnSpc>
              <a:buNone/>
            </a:pPr>
            <a:r>
              <a:rPr lang="en-US" sz="1180" dirty="0">
                <a:solidFill>
                  <a:srgbClr val="16221F"/>
                </a:solidFill>
                <a:latin typeface="Calibri" pitchFamily="34" charset="0"/>
                <a:ea typeface="Calibri" pitchFamily="34" charset="-122"/>
                <a:cs typeface="Calibri" pitchFamily="34" charset="-120"/>
              </a:rPr>
              <a:t>Formal charters carry unusual weight given the external audit stakes.</a:t>
            </a:r>
            <a:endParaRPr lang="en-US" sz="1180" dirty="0"/>
          </a:p>
        </p:txBody>
      </p:sp>
      <p:sp>
        <p:nvSpPr>
          <p:cNvPr id="16" name="Text 14"/>
          <p:cNvSpPr/>
          <p:nvPr/>
        </p:nvSpPr>
        <p:spPr>
          <a:xfrm>
            <a:off x="548640" y="6528816"/>
            <a:ext cx="73152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The 8 Transformation Types</a:t>
            </a:r>
            <a:endParaRPr lang="en-US" sz="900" dirty="0"/>
          </a:p>
        </p:txBody>
      </p:sp>
      <p:sp>
        <p:nvSpPr>
          <p:cNvPr id="17" name="Text 15"/>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QMS · REAL SCENARIO</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100" b="1" dirty="0">
                <a:solidFill>
                  <a:srgbClr val="C2661C"/>
                </a:solidFill>
                <a:latin typeface="Calibri" pitchFamily="34" charset="0"/>
                <a:ea typeface="Calibri" pitchFamily="34" charset="-122"/>
                <a:cs typeface="Calibri" pitchFamily="34" charset="-120"/>
              </a:rPr>
              <a:t>ISO 9001/14001 Integrated Management System</a:t>
            </a:r>
            <a:endParaRPr lang="en-US" sz="2100" dirty="0"/>
          </a:p>
        </p:txBody>
      </p:sp>
      <p:sp>
        <p:nvSpPr>
          <p:cNvPr id="4" name="Text 2"/>
          <p:cNvSpPr/>
          <p:nvPr/>
        </p:nvSpPr>
        <p:spPr>
          <a:xfrm>
            <a:off x="548640" y="1417320"/>
            <a:ext cx="11064240" cy="457200"/>
          </a:xfrm>
          <a:prstGeom prst="rect">
            <a:avLst/>
          </a:prstGeom>
          <a:noFill/>
          <a:ln/>
        </p:spPr>
        <p:txBody>
          <a:bodyPr wrap="square" rtlCol="0" anchor="t"/>
          <a:lstStyle/>
          <a:p>
            <a:pPr indent="0" marL="0">
              <a:lnSpc>
                <a:spcPct val="115000"/>
              </a:lnSpc>
              <a:buNone/>
            </a:pPr>
            <a:r>
              <a:rPr lang="en-US" sz="1200" dirty="0">
                <a:solidFill>
                  <a:srgbClr val="5C6D68"/>
                </a:solidFill>
                <a:latin typeface="Calibri" pitchFamily="34" charset="0"/>
                <a:ea typeface="Calibri" pitchFamily="34" charset="-122"/>
                <a:cs typeface="Calibri" pitchFamily="34" charset="-120"/>
              </a:rPr>
              <a:t>410 staff, Settat plant operations + quality  ·  60 weeks (guide numbering)</a:t>
            </a:r>
            <a:endParaRPr lang="en-US" sz="12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11064240" cy="914400"/>
        </p:xfrm>
        <a:graphic>
          <a:graphicData uri="http://schemas.openxmlformats.org/drawingml/2006/table">
            <a:tbl>
              <a:tblPr/>
              <a:tblGrid>
                <a:gridCol w="1463040"/>
                <a:gridCol w="9601200"/>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Week</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C2661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Milestone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C2661C"/>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Wk 1</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Intake &amp; diagnosis, started alongside the ERP program's own kickoff.</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Wk 12</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Design.</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Wk 26</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Implementation; the Quality Manager's coalition gap is logged and ALT-010 fires.</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Wk 38</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Mock-up audit.</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Wk 46</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Certifying audit — passes clean.</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Wk 50+</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Surveillance prep, then ongoing surveillance — never formally closes.</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bl>
          </a:graphicData>
        </a:graphic>
      </p:graphicFrame>
      <p:sp>
        <p:nvSpPr>
          <p:cNvPr id="6" name="Text 3"/>
          <p:cNvSpPr/>
          <p:nvPr/>
        </p:nvSpPr>
        <p:spPr>
          <a:xfrm>
            <a:off x="548640" y="6528816"/>
            <a:ext cx="73152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The 8 Transformation Types</a:t>
            </a:r>
            <a:endParaRPr lang="en-US" sz="900" dirty="0"/>
          </a:p>
        </p:txBody>
      </p:sp>
      <p:sp>
        <p:nvSpPr>
          <p:cNvPr id="7" name="Text 4"/>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C2661C"/>
        </a:solidFill>
      </p:bgPr>
    </p:bg>
    <p:spTree>
      <p:nvGrpSpPr>
        <p:cNvPr id="1" name=""/>
        <p:cNvGrpSpPr/>
        <p:nvPr/>
      </p:nvGrpSpPr>
      <p:grpSpPr>
        <a:xfrm>
          <a:off x="0" y="0"/>
          <a:ext cx="0" cy="0"/>
          <a:chOff x="0" y="0"/>
          <a:chExt cx="0" cy="0"/>
        </a:xfrm>
      </p:grpSpPr>
      <p:sp>
        <p:nvSpPr>
          <p:cNvPr id="2" name="Text 0"/>
          <p:cNvSpPr/>
          <p:nvPr/>
        </p:nvSpPr>
        <p:spPr>
          <a:xfrm>
            <a:off x="548640" y="457200"/>
            <a:ext cx="10058400" cy="320040"/>
          </a:xfrm>
          <a:prstGeom prst="rect">
            <a:avLst/>
          </a:prstGeom>
          <a:noFill/>
          <a:ln/>
        </p:spPr>
        <p:txBody>
          <a:bodyPr wrap="square" rtlCol="0" anchor="ctr"/>
          <a:lstStyle/>
          <a:p>
            <a:pPr indent="0" marL="0">
              <a:buNone/>
            </a:pPr>
            <a:r>
              <a:rPr lang="en-US" sz="1250" b="1" spc="200" kern="0" dirty="0">
                <a:solidFill>
                  <a:srgbClr val="FFFFFF"/>
                </a:solidFill>
                <a:latin typeface="Calibri" pitchFamily="34" charset="0"/>
                <a:ea typeface="Calibri" pitchFamily="34" charset="-122"/>
                <a:cs typeface="Calibri" pitchFamily="34" charset="-120"/>
              </a:rPr>
              <a:t>QMS · ALERTS &amp; PROOF</a:t>
            </a:r>
            <a:endParaRPr lang="en-US" sz="1250" dirty="0"/>
          </a:p>
        </p:txBody>
      </p:sp>
      <p:sp>
        <p:nvSpPr>
          <p:cNvPr id="3" name="Text 1"/>
          <p:cNvSpPr/>
          <p:nvPr/>
        </p:nvSpPr>
        <p:spPr>
          <a:xfrm>
            <a:off x="548640" y="804672"/>
            <a:ext cx="10972800" cy="6858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What This Case Fires</a:t>
            </a:r>
            <a:endParaRPr lang="en-US" sz="2600" dirty="0"/>
          </a:p>
        </p:txBody>
      </p:sp>
      <p:sp>
        <p:nvSpPr>
          <p:cNvPr id="4" name="Shape 2"/>
          <p:cNvSpPr/>
          <p:nvPr/>
        </p:nvSpPr>
        <p:spPr>
          <a:xfrm>
            <a:off x="548640" y="1737360"/>
            <a:ext cx="11064240" cy="1463040"/>
          </a:xfrm>
          <a:prstGeom prst="roundRect">
            <a:avLst>
              <a:gd name="adj" fmla="val 3125"/>
            </a:avLst>
          </a:prstGeom>
          <a:solidFill>
            <a:srgbClr val="FFFFFF"/>
          </a:solidFill>
          <a:ln/>
        </p:spPr>
      </p:sp>
      <p:sp>
        <p:nvSpPr>
          <p:cNvPr id="5" name="Text 3"/>
          <p:cNvSpPr/>
          <p:nvPr/>
        </p:nvSpPr>
        <p:spPr>
          <a:xfrm>
            <a:off x="777240" y="1874520"/>
            <a:ext cx="10607040" cy="274320"/>
          </a:xfrm>
          <a:prstGeom prst="rect">
            <a:avLst/>
          </a:prstGeom>
          <a:noFill/>
          <a:ln/>
        </p:spPr>
        <p:txBody>
          <a:bodyPr wrap="square" rtlCol="0" anchor="ctr"/>
          <a:lstStyle/>
          <a:p>
            <a:pPr indent="0" marL="0">
              <a:buNone/>
            </a:pPr>
            <a:r>
              <a:rPr lang="en-US" sz="1050" b="1" spc="100" kern="0" dirty="0">
                <a:solidFill>
                  <a:srgbClr val="C2661C"/>
                </a:solidFill>
                <a:latin typeface="Calibri" pitchFamily="34" charset="0"/>
                <a:ea typeface="Calibri" pitchFamily="34" charset="-122"/>
                <a:cs typeface="Calibri" pitchFamily="34" charset="-120"/>
              </a:rPr>
              <a:t>ALERTS THIS CASE EXERCISES</a:t>
            </a:r>
            <a:endParaRPr lang="en-US" sz="1050" dirty="0"/>
          </a:p>
        </p:txBody>
      </p:sp>
      <p:sp>
        <p:nvSpPr>
          <p:cNvPr id="6" name="Text 4"/>
          <p:cNvSpPr/>
          <p:nvPr/>
        </p:nvSpPr>
        <p:spPr>
          <a:xfrm>
            <a:off x="777240" y="2176272"/>
            <a:ext cx="10607040" cy="914400"/>
          </a:xfrm>
          <a:prstGeom prst="rect">
            <a:avLst/>
          </a:prstGeom>
          <a:noFill/>
          <a:ln/>
        </p:spPr>
        <p:txBody>
          <a:bodyPr wrap="square" rtlCol="0" anchor="ctr"/>
          <a:lstStyle/>
          <a:p>
            <a:pPr indent="0" marL="0">
              <a:lnSpc>
                <a:spcPct val="125000"/>
              </a:lnSpc>
              <a:buNone/>
            </a:pPr>
            <a:r>
              <a:rPr lang="en-US" sz="1350" b="1" dirty="0">
                <a:solidFill>
                  <a:srgbClr val="16221F"/>
                </a:solidFill>
                <a:latin typeface="Calibri" pitchFamily="34" charset="0"/>
                <a:ea typeface="Calibri" pitchFamily="34" charset="-122"/>
                <a:cs typeface="Calibri" pitchFamily="34" charset="-120"/>
              </a:rPr>
              <a:t>ALT-010 (Guiding Coalition Gap)</a:t>
            </a:r>
            <a:endParaRPr lang="en-US" sz="1350" dirty="0"/>
          </a:p>
        </p:txBody>
      </p:sp>
      <p:sp>
        <p:nvSpPr>
          <p:cNvPr id="7" name="Shape 5"/>
          <p:cNvSpPr/>
          <p:nvPr/>
        </p:nvSpPr>
        <p:spPr>
          <a:xfrm>
            <a:off x="548640" y="3383280"/>
            <a:ext cx="11064240" cy="1417320"/>
          </a:xfrm>
          <a:prstGeom prst="roundRect">
            <a:avLst>
              <a:gd name="adj" fmla="val 3226"/>
            </a:avLst>
          </a:prstGeom>
          <a:solidFill>
            <a:srgbClr val="FFFFFF"/>
          </a:solidFill>
          <a:ln/>
        </p:spPr>
      </p:sp>
      <p:sp>
        <p:nvSpPr>
          <p:cNvPr id="8" name="Text 6"/>
          <p:cNvSpPr/>
          <p:nvPr/>
        </p:nvSpPr>
        <p:spPr>
          <a:xfrm>
            <a:off x="777240" y="3520440"/>
            <a:ext cx="10607040" cy="274320"/>
          </a:xfrm>
          <a:prstGeom prst="rect">
            <a:avLst/>
          </a:prstGeom>
          <a:noFill/>
          <a:ln/>
        </p:spPr>
        <p:txBody>
          <a:bodyPr wrap="square" rtlCol="0" anchor="ctr"/>
          <a:lstStyle/>
          <a:p>
            <a:pPr indent="0" marL="0">
              <a:buNone/>
            </a:pPr>
            <a:r>
              <a:rPr lang="en-US" sz="1050" b="1" spc="100" kern="0" dirty="0">
                <a:solidFill>
                  <a:srgbClr val="C2661C"/>
                </a:solidFill>
                <a:latin typeface="Calibri" pitchFamily="34" charset="0"/>
                <a:ea typeface="Calibri" pitchFamily="34" charset="-122"/>
                <a:cs typeface="Calibri" pitchFamily="34" charset="-120"/>
              </a:rPr>
              <a:t>WHY</a:t>
            </a:r>
            <a:endParaRPr lang="en-US" sz="1050" dirty="0"/>
          </a:p>
        </p:txBody>
      </p:sp>
      <p:sp>
        <p:nvSpPr>
          <p:cNvPr id="9" name="Text 7"/>
          <p:cNvSpPr/>
          <p:nvPr/>
        </p:nvSpPr>
        <p:spPr>
          <a:xfrm>
            <a:off x="777240" y="3822192"/>
            <a:ext cx="10607040" cy="914400"/>
          </a:xfrm>
          <a:prstGeom prst="rect">
            <a:avLst/>
          </a:prstGeom>
          <a:noFill/>
          <a:ln/>
        </p:spPr>
        <p:txBody>
          <a:bodyPr wrap="square" rtlCol="0" anchor="ctr"/>
          <a:lstStyle/>
          <a:p>
            <a:pPr indent="0" marL="0">
              <a:lnSpc>
                <a:spcPct val="125000"/>
              </a:lnSpc>
              <a:buNone/>
            </a:pPr>
            <a:r>
              <a:rPr lang="en-US" sz="1250" dirty="0">
                <a:solidFill>
                  <a:srgbClr val="16221F"/>
                </a:solidFill>
                <a:latin typeface="Calibri" pitchFamily="34" charset="0"/>
                <a:ea typeface="Calibri" pitchFamily="34" charset="-122"/>
                <a:cs typeface="Calibri" pitchFamily="34" charset="-120"/>
              </a:rPr>
              <a:t>Built specifically because a Quality Manager sponsoring alone, without a broader coalition, is a realistic single-sponsor failure mode.</a:t>
            </a:r>
            <a:endParaRPr lang="en-US" sz="1250" dirty="0"/>
          </a:p>
        </p:txBody>
      </p:sp>
      <p:sp>
        <p:nvSpPr>
          <p:cNvPr id="10" name="Shape 8"/>
          <p:cNvSpPr/>
          <p:nvPr/>
        </p:nvSpPr>
        <p:spPr>
          <a:xfrm>
            <a:off x="548640" y="4983480"/>
            <a:ext cx="11064240" cy="1417320"/>
          </a:xfrm>
          <a:prstGeom prst="roundRect">
            <a:avLst>
              <a:gd name="adj" fmla="val 3226"/>
            </a:avLst>
          </a:prstGeom>
          <a:solidFill>
            <a:srgbClr val="FFFFFF"/>
          </a:solidFill>
          <a:ln/>
        </p:spPr>
      </p:sp>
      <p:sp>
        <p:nvSpPr>
          <p:cNvPr id="11" name="Text 9"/>
          <p:cNvSpPr/>
          <p:nvPr/>
        </p:nvSpPr>
        <p:spPr>
          <a:xfrm>
            <a:off x="777240" y="5120640"/>
            <a:ext cx="10607040" cy="274320"/>
          </a:xfrm>
          <a:prstGeom prst="rect">
            <a:avLst/>
          </a:prstGeom>
          <a:noFill/>
          <a:ln/>
        </p:spPr>
        <p:txBody>
          <a:bodyPr wrap="square" rtlCol="0" anchor="ctr"/>
          <a:lstStyle/>
          <a:p>
            <a:pPr indent="0" marL="0">
              <a:buNone/>
            </a:pPr>
            <a:r>
              <a:rPr lang="en-US" sz="1050" b="1" spc="100" kern="0" dirty="0">
                <a:solidFill>
                  <a:srgbClr val="C2661C"/>
                </a:solidFill>
                <a:latin typeface="Calibri" pitchFamily="34" charset="0"/>
                <a:ea typeface="Calibri" pitchFamily="34" charset="-122"/>
                <a:cs typeface="Calibri" pitchFamily="34" charset="-120"/>
              </a:rPr>
              <a:t>WHAT THIS GUIDE PROVES, CONCRETELY</a:t>
            </a:r>
            <a:endParaRPr lang="en-US" sz="1050" dirty="0"/>
          </a:p>
        </p:txBody>
      </p:sp>
      <p:sp>
        <p:nvSpPr>
          <p:cNvPr id="12" name="Text 10"/>
          <p:cNvSpPr/>
          <p:nvPr/>
        </p:nvSpPr>
        <p:spPr>
          <a:xfrm>
            <a:off x="777240" y="5422392"/>
            <a:ext cx="10607040" cy="914400"/>
          </a:xfrm>
          <a:prstGeom prst="rect">
            <a:avLst/>
          </a:prstGeom>
          <a:noFill/>
          <a:ln/>
        </p:spPr>
        <p:txBody>
          <a:bodyPr wrap="square" rtlCol="0" anchor="ctr"/>
          <a:lstStyle/>
          <a:p>
            <a:pPr indent="0" marL="0">
              <a:lnSpc>
                <a:spcPct val="120000"/>
              </a:lnSpc>
              <a:buNone/>
            </a:pPr>
            <a:r>
              <a:rPr lang="en-US" sz="1200" i="1" dirty="0">
                <a:solidFill>
                  <a:srgbClr val="16221F"/>
                </a:solidFill>
                <a:latin typeface="Calibri" pitchFamily="34" charset="0"/>
                <a:ea typeface="Calibri" pitchFamily="34" charset="-122"/>
                <a:cs typeface="Calibri" pitchFamily="34" charset="-120"/>
              </a:rPr>
              <a:t>A real ALT-010 firing, resolved by recruiting a Procurement Director and HR Business Partner as genuine coalition members — not just a wider distribution list.</a:t>
            </a:r>
            <a:endParaRPr lang="en-US" sz="1200" dirty="0"/>
          </a:p>
        </p:txBody>
      </p:sp>
      <p:sp>
        <p:nvSpPr>
          <p:cNvPr id="13" name="Text 11"/>
          <p:cNvSpPr/>
          <p:nvPr/>
        </p:nvSpPr>
        <p:spPr>
          <a:xfrm>
            <a:off x="548640" y="6528816"/>
            <a:ext cx="7315200" cy="274320"/>
          </a:xfrm>
          <a:prstGeom prst="rect">
            <a:avLst/>
          </a:prstGeom>
          <a:noFill/>
          <a:ln/>
        </p:spPr>
        <p:txBody>
          <a:bodyPr wrap="square" rtlCol="0" anchor="ctr"/>
          <a:lstStyle/>
          <a:p>
            <a:pPr algn="l" indent="0" marL="0">
              <a:buNone/>
            </a:pPr>
            <a:r>
              <a:rPr lang="en-US" sz="900" dirty="0">
                <a:solidFill>
                  <a:srgbClr val="CFE3DD"/>
                </a:solidFill>
                <a:latin typeface="Calibri" pitchFamily="34" charset="0"/>
                <a:ea typeface="Calibri" pitchFamily="34" charset="-122"/>
                <a:cs typeface="Calibri" pitchFamily="34" charset="-120"/>
              </a:rPr>
              <a:t>journi — The 8 Transformation Types</a:t>
            </a:r>
            <a:endParaRPr lang="en-US" sz="900" dirty="0"/>
          </a:p>
        </p:txBody>
      </p:sp>
      <p:sp>
        <p:nvSpPr>
          <p:cNvPr id="14" name="Text 12"/>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CFE3DD"/>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6B4C8A"/>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indent="0" marL="0">
              <a:buNone/>
            </a:pPr>
            <a:r>
              <a:rPr lang="en-US" sz="1250" b="1" spc="200" kern="0" dirty="0">
                <a:solidFill>
                  <a:srgbClr val="FFFFFF"/>
                </a:solidFill>
                <a:latin typeface="Calibri" pitchFamily="34" charset="0"/>
                <a:ea typeface="Calibri" pitchFamily="34" charset="-122"/>
                <a:cs typeface="Calibri" pitchFamily="34" charset="-120"/>
              </a:rPr>
              <a:t>TRANSFORMATION TYPE 5 OF 8</a:t>
            </a:r>
            <a:endParaRPr lang="en-US" sz="1250" dirty="0"/>
          </a:p>
        </p:txBody>
      </p:sp>
      <p:sp>
        <p:nvSpPr>
          <p:cNvPr id="3" name="Shape 1"/>
          <p:cNvSpPr/>
          <p:nvPr/>
        </p:nvSpPr>
        <p:spPr>
          <a:xfrm>
            <a:off x="548640" y="868680"/>
            <a:ext cx="868680" cy="868680"/>
          </a:xfrm>
          <a:prstGeom prst="ellipse">
            <a:avLst/>
          </a:prstGeom>
          <a:solidFill>
            <a:srgbClr val="FFFFFF"/>
          </a:solidFill>
          <a:ln/>
        </p:spPr>
      </p:sp>
      <p:pic>
        <p:nvPicPr>
          <p:cNvPr id="4" name="Image 0" descr="/home/user/scm-process-register/docs-src/transformation-types-deck/assets/people-group.png">    </p:cNvPr>
          <p:cNvPicPr>
            <a:picLocks noChangeAspect="1"/>
          </p:cNvPicPr>
          <p:nvPr/>
        </p:nvPicPr>
        <p:blipFill>
          <a:blip r:embed="rId1"/>
          <a:stretch>
            <a:fillRect/>
          </a:stretch>
        </p:blipFill>
        <p:spPr>
          <a:xfrm>
            <a:off x="731520" y="1051560"/>
            <a:ext cx="502920" cy="502920"/>
          </a:xfrm>
          <a:prstGeom prst="rect">
            <a:avLst/>
          </a:prstGeom>
        </p:spPr>
      </p:pic>
      <p:sp>
        <p:nvSpPr>
          <p:cNvPr id="5" name="Text 2"/>
          <p:cNvSpPr/>
          <p:nvPr/>
        </p:nvSpPr>
        <p:spPr>
          <a:xfrm>
            <a:off x="1691640" y="868680"/>
            <a:ext cx="9144000" cy="86868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Cultural / Values Transformation</a:t>
            </a:r>
            <a:endParaRPr lang="en-US" sz="3200" dirty="0"/>
          </a:p>
        </p:txBody>
      </p:sp>
      <p:sp>
        <p:nvSpPr>
          <p:cNvPr id="6" name="Text 3"/>
          <p:cNvSpPr/>
          <p:nvPr/>
        </p:nvSpPr>
        <p:spPr>
          <a:xfrm>
            <a:off x="548640" y="1965960"/>
            <a:ext cx="11064240" cy="868680"/>
          </a:xfrm>
          <a:prstGeom prst="rect">
            <a:avLst/>
          </a:prstGeom>
          <a:noFill/>
          <a:ln/>
        </p:spPr>
        <p:txBody>
          <a:bodyPr wrap="square" rtlCol="0" anchor="ctr"/>
          <a:lstStyle/>
          <a:p>
            <a:pPr indent="0" marL="0">
              <a:lnSpc>
                <a:spcPct val="130000"/>
              </a:lnSpc>
              <a:buNone/>
            </a:pPr>
            <a:r>
              <a:rPr lang="en-US" sz="1550" i="1" dirty="0">
                <a:solidFill>
                  <a:srgbClr val="F0F0F0"/>
                </a:solidFill>
                <a:latin typeface="Calibri" pitchFamily="34" charset="0"/>
                <a:ea typeface="Calibri" pitchFamily="34" charset="-122"/>
                <a:cs typeface="Calibri" pitchFamily="34" charset="-120"/>
              </a:rPr>
              <a:t>Aligning two distinct ways of working under one set of values after an acquisition — not a system or process change at all.</a:t>
            </a:r>
            <a:endParaRPr lang="en-US" sz="1550" dirty="0"/>
          </a:p>
        </p:txBody>
      </p:sp>
      <p:sp>
        <p:nvSpPr>
          <p:cNvPr id="7" name="Shape 4"/>
          <p:cNvSpPr/>
          <p:nvPr/>
        </p:nvSpPr>
        <p:spPr>
          <a:xfrm>
            <a:off x="548640" y="3063240"/>
            <a:ext cx="5349240" cy="2651760"/>
          </a:xfrm>
          <a:prstGeom prst="roundRect">
            <a:avLst>
              <a:gd name="adj" fmla="val 1724"/>
            </a:avLst>
          </a:prstGeom>
          <a:solidFill>
            <a:srgbClr val="FFFFFF"/>
          </a:solidFill>
          <a:ln/>
        </p:spPr>
      </p:sp>
      <p:sp>
        <p:nvSpPr>
          <p:cNvPr id="8" name="Text 5"/>
          <p:cNvSpPr/>
          <p:nvPr/>
        </p:nvSpPr>
        <p:spPr>
          <a:xfrm>
            <a:off x="777240" y="3200400"/>
            <a:ext cx="4846320" cy="274320"/>
          </a:xfrm>
          <a:prstGeom prst="rect">
            <a:avLst/>
          </a:prstGeom>
          <a:noFill/>
          <a:ln/>
        </p:spPr>
        <p:txBody>
          <a:bodyPr wrap="square" rtlCol="0" anchor="ctr"/>
          <a:lstStyle/>
          <a:p>
            <a:pPr indent="0" marL="0">
              <a:buNone/>
            </a:pPr>
            <a:r>
              <a:rPr lang="en-US" sz="1050" b="1" spc="100" kern="0" dirty="0">
                <a:solidFill>
                  <a:srgbClr val="6B4C8A"/>
                </a:solidFill>
                <a:latin typeface="Calibri" pitchFamily="34" charset="0"/>
                <a:ea typeface="Calibri" pitchFamily="34" charset="-122"/>
                <a:cs typeface="Calibri" pitchFamily="34" charset="-120"/>
              </a:rPr>
              <a:t>BUSINESS DRIVER</a:t>
            </a:r>
            <a:endParaRPr lang="en-US" sz="1050" dirty="0"/>
          </a:p>
        </p:txBody>
      </p:sp>
      <p:sp>
        <p:nvSpPr>
          <p:cNvPr id="9" name="Text 6"/>
          <p:cNvSpPr/>
          <p:nvPr/>
        </p:nvSpPr>
        <p:spPr>
          <a:xfrm>
            <a:off x="777240" y="3520440"/>
            <a:ext cx="4846320" cy="1097280"/>
          </a:xfrm>
          <a:prstGeom prst="rect">
            <a:avLst/>
          </a:prstGeom>
          <a:noFill/>
          <a:ln/>
        </p:spPr>
        <p:txBody>
          <a:bodyPr wrap="square" rtlCol="0" anchor="ctr"/>
          <a:lstStyle/>
          <a:p>
            <a:pPr indent="0" marL="0">
              <a:lnSpc>
                <a:spcPct val="125000"/>
              </a:lnSpc>
              <a:buNone/>
            </a:pPr>
            <a:r>
              <a:rPr lang="en-US" sz="1200" dirty="0">
                <a:solidFill>
                  <a:srgbClr val="16221F"/>
                </a:solidFill>
                <a:latin typeface="Calibri" pitchFamily="34" charset="0"/>
                <a:ea typeface="Calibri" pitchFamily="34" charset="-122"/>
                <a:cs typeface="Calibri" pitchFamily="34" charset="-120"/>
              </a:rPr>
              <a:t>A stated acquisition synergy that depends on two separate workforces actually operating as one company within a fixed horizon.</a:t>
            </a:r>
            <a:endParaRPr lang="en-US" sz="1200" dirty="0"/>
          </a:p>
        </p:txBody>
      </p:sp>
      <p:sp>
        <p:nvSpPr>
          <p:cNvPr id="10" name="Text 7"/>
          <p:cNvSpPr/>
          <p:nvPr/>
        </p:nvSpPr>
        <p:spPr>
          <a:xfrm>
            <a:off x="777240" y="4709160"/>
            <a:ext cx="4846320" cy="274320"/>
          </a:xfrm>
          <a:prstGeom prst="rect">
            <a:avLst/>
          </a:prstGeom>
          <a:noFill/>
          <a:ln/>
        </p:spPr>
        <p:txBody>
          <a:bodyPr wrap="square" rtlCol="0" anchor="ctr"/>
          <a:lstStyle/>
          <a:p>
            <a:pPr indent="0" marL="0">
              <a:buNone/>
            </a:pPr>
            <a:r>
              <a:rPr lang="en-US" sz="1050" b="1" spc="100" kern="0" dirty="0">
                <a:solidFill>
                  <a:srgbClr val="6B4C8A"/>
                </a:solidFill>
                <a:latin typeface="Calibri" pitchFamily="34" charset="0"/>
                <a:ea typeface="Calibri" pitchFamily="34" charset="-122"/>
                <a:cs typeface="Calibri" pitchFamily="34" charset="-120"/>
              </a:rPr>
              <a:t>TARGET POPULATION PATTERN</a:t>
            </a:r>
            <a:endParaRPr lang="en-US" sz="1050" dirty="0"/>
          </a:p>
        </p:txBody>
      </p:sp>
      <p:sp>
        <p:nvSpPr>
          <p:cNvPr id="11" name="Text 8"/>
          <p:cNvSpPr/>
          <p:nvPr/>
        </p:nvSpPr>
        <p:spPr>
          <a:xfrm>
            <a:off x="777240" y="5029200"/>
            <a:ext cx="4846320" cy="640080"/>
          </a:xfrm>
          <a:prstGeom prst="rect">
            <a:avLst/>
          </a:prstGeom>
          <a:noFill/>
          <a:ln/>
        </p:spPr>
        <p:txBody>
          <a:bodyPr wrap="square" rtlCol="0" anchor="ctr"/>
          <a:lstStyle/>
          <a:p>
            <a:pPr indent="0" marL="0">
              <a:lnSpc>
                <a:spcPct val="120000"/>
              </a:lnSpc>
              <a:buNone/>
            </a:pPr>
            <a:r>
              <a:rPr lang="en-US" sz="1150" dirty="0">
                <a:solidFill>
                  <a:srgbClr val="16221F"/>
                </a:solidFill>
                <a:latin typeface="Calibri" pitchFamily="34" charset="0"/>
                <a:ea typeface="Calibri" pitchFamily="34" charset="-122"/>
                <a:cs typeface="Calibri" pitchFamily="34" charset="-120"/>
              </a:rPr>
              <a:t>An acquired team plus their new counterparts — identity-level change reaching everyone touched by the integration, not a functional subset.</a:t>
            </a:r>
            <a:endParaRPr lang="en-US" sz="1150" dirty="0"/>
          </a:p>
        </p:txBody>
      </p:sp>
      <p:sp>
        <p:nvSpPr>
          <p:cNvPr id="12" name="Shape 9"/>
          <p:cNvSpPr/>
          <p:nvPr/>
        </p:nvSpPr>
        <p:spPr>
          <a:xfrm>
            <a:off x="6080760" y="3063240"/>
            <a:ext cx="5532120" cy="2651760"/>
          </a:xfrm>
          <a:prstGeom prst="roundRect">
            <a:avLst>
              <a:gd name="adj" fmla="val 1724"/>
            </a:avLst>
          </a:prstGeom>
          <a:solidFill>
            <a:srgbClr val="FFFFFF"/>
          </a:solidFill>
          <a:ln/>
        </p:spPr>
      </p:sp>
      <p:sp>
        <p:nvSpPr>
          <p:cNvPr id="13" name="Text 10"/>
          <p:cNvSpPr/>
          <p:nvPr/>
        </p:nvSpPr>
        <p:spPr>
          <a:xfrm>
            <a:off x="6309360" y="3200400"/>
            <a:ext cx="5074920" cy="274320"/>
          </a:xfrm>
          <a:prstGeom prst="rect">
            <a:avLst/>
          </a:prstGeom>
          <a:noFill/>
          <a:ln/>
        </p:spPr>
        <p:txBody>
          <a:bodyPr wrap="square" rtlCol="0" anchor="ctr"/>
          <a:lstStyle/>
          <a:p>
            <a:pPr indent="0" marL="0">
              <a:buNone/>
            </a:pPr>
            <a:r>
              <a:rPr lang="en-US" sz="1050" b="1" spc="100" kern="0" dirty="0">
                <a:solidFill>
                  <a:srgbClr val="6B4C8A"/>
                </a:solidFill>
                <a:latin typeface="Calibri" pitchFamily="34" charset="0"/>
                <a:ea typeface="Calibri" pitchFamily="34" charset="-122"/>
                <a:cs typeface="Calibri" pitchFamily="34" charset="-120"/>
              </a:rPr>
              <a:t>PHASE TEMPLATE</a:t>
            </a:r>
            <a:endParaRPr lang="en-US" sz="1050" dirty="0"/>
          </a:p>
        </p:txBody>
      </p:sp>
      <p:sp>
        <p:nvSpPr>
          <p:cNvPr id="14" name="Text 11"/>
          <p:cNvSpPr/>
          <p:nvPr/>
        </p:nvSpPr>
        <p:spPr>
          <a:xfrm>
            <a:off x="6309360" y="3520440"/>
            <a:ext cx="5074920" cy="365760"/>
          </a:xfrm>
          <a:prstGeom prst="rect">
            <a:avLst/>
          </a:prstGeom>
          <a:noFill/>
          <a:ln/>
        </p:spPr>
        <p:txBody>
          <a:bodyPr wrap="square" rtlCol="0" anchor="ctr"/>
          <a:lstStyle/>
          <a:p>
            <a:pPr indent="0" marL="0">
              <a:buNone/>
            </a:pPr>
            <a:r>
              <a:rPr lang="en-US" sz="1300" b="1" dirty="0">
                <a:solidFill>
                  <a:srgbClr val="16221F"/>
                </a:solidFill>
                <a:latin typeface="Calibri" pitchFamily="34" charset="0"/>
                <a:ea typeface="Calibri" pitchFamily="34" charset="-122"/>
                <a:cs typeface="Calibri" pitchFamily="34" charset="-120"/>
              </a:rPr>
              <a:t>TPL-CULT-7 — 7 phases</a:t>
            </a:r>
            <a:endParaRPr lang="en-US" sz="1300" dirty="0"/>
          </a:p>
        </p:txBody>
      </p:sp>
      <p:sp>
        <p:nvSpPr>
          <p:cNvPr id="15" name="Text 12"/>
          <p:cNvSpPr/>
          <p:nvPr/>
        </p:nvSpPr>
        <p:spPr>
          <a:xfrm>
            <a:off x="6309360" y="3977640"/>
            <a:ext cx="5074920" cy="274320"/>
          </a:xfrm>
          <a:prstGeom prst="rect">
            <a:avLst/>
          </a:prstGeom>
          <a:noFill/>
          <a:ln/>
        </p:spPr>
        <p:txBody>
          <a:bodyPr wrap="square" rtlCol="0" anchor="ctr"/>
          <a:lstStyle/>
          <a:p>
            <a:pPr indent="0" marL="0">
              <a:buNone/>
            </a:pPr>
            <a:r>
              <a:rPr lang="en-US" sz="1080" dirty="0">
                <a:solidFill>
                  <a:srgbClr val="16221F"/>
                </a:solidFill>
                <a:latin typeface="Calibri" pitchFamily="34" charset="0"/>
                <a:ea typeface="Calibri" pitchFamily="34" charset="-122"/>
                <a:cs typeface="Calibri" pitchFamily="34" charset="-120"/>
              </a:rPr>
              <a:t>1. Diagnosis</a:t>
            </a:r>
            <a:endParaRPr lang="en-US" sz="1080" dirty="0"/>
          </a:p>
        </p:txBody>
      </p:sp>
      <p:sp>
        <p:nvSpPr>
          <p:cNvPr id="16" name="Text 13"/>
          <p:cNvSpPr/>
          <p:nvPr/>
        </p:nvSpPr>
        <p:spPr>
          <a:xfrm>
            <a:off x="6309360" y="4270248"/>
            <a:ext cx="5074920" cy="274320"/>
          </a:xfrm>
          <a:prstGeom prst="rect">
            <a:avLst/>
          </a:prstGeom>
          <a:noFill/>
          <a:ln/>
        </p:spPr>
        <p:txBody>
          <a:bodyPr wrap="square" rtlCol="0" anchor="ctr"/>
          <a:lstStyle/>
          <a:p>
            <a:pPr indent="0" marL="0">
              <a:buNone/>
            </a:pPr>
            <a:r>
              <a:rPr lang="en-US" sz="1080" dirty="0">
                <a:solidFill>
                  <a:srgbClr val="16221F"/>
                </a:solidFill>
                <a:latin typeface="Calibri" pitchFamily="34" charset="0"/>
                <a:ea typeface="Calibri" pitchFamily="34" charset="-122"/>
                <a:cs typeface="Calibri" pitchFamily="34" charset="-120"/>
              </a:rPr>
              <a:t>2. Target Values Design</a:t>
            </a:r>
            <a:endParaRPr lang="en-US" sz="1080" dirty="0"/>
          </a:p>
        </p:txBody>
      </p:sp>
      <p:sp>
        <p:nvSpPr>
          <p:cNvPr id="17" name="Text 14"/>
          <p:cNvSpPr/>
          <p:nvPr/>
        </p:nvSpPr>
        <p:spPr>
          <a:xfrm>
            <a:off x="6309360" y="4562856"/>
            <a:ext cx="5074920" cy="274320"/>
          </a:xfrm>
          <a:prstGeom prst="rect">
            <a:avLst/>
          </a:prstGeom>
          <a:noFill/>
          <a:ln/>
        </p:spPr>
        <p:txBody>
          <a:bodyPr wrap="square" rtlCol="0" anchor="ctr"/>
          <a:lstStyle/>
          <a:p>
            <a:pPr indent="0" marL="0">
              <a:buNone/>
            </a:pPr>
            <a:r>
              <a:rPr lang="en-US" sz="1080" dirty="0">
                <a:solidFill>
                  <a:srgbClr val="16221F"/>
                </a:solidFill>
                <a:latin typeface="Calibri" pitchFamily="34" charset="0"/>
                <a:ea typeface="Calibri" pitchFamily="34" charset="-122"/>
                <a:cs typeface="Calibri" pitchFamily="34" charset="-120"/>
              </a:rPr>
              <a:t>3. Leadership Modeling &amp; Reinforcement Build</a:t>
            </a:r>
            <a:endParaRPr lang="en-US" sz="1080" dirty="0"/>
          </a:p>
        </p:txBody>
      </p:sp>
      <p:sp>
        <p:nvSpPr>
          <p:cNvPr id="18" name="Text 15"/>
          <p:cNvSpPr/>
          <p:nvPr/>
        </p:nvSpPr>
        <p:spPr>
          <a:xfrm>
            <a:off x="6309360" y="4855464"/>
            <a:ext cx="5074920" cy="274320"/>
          </a:xfrm>
          <a:prstGeom prst="rect">
            <a:avLst/>
          </a:prstGeom>
          <a:noFill/>
          <a:ln/>
        </p:spPr>
        <p:txBody>
          <a:bodyPr wrap="square" rtlCol="0" anchor="ctr"/>
          <a:lstStyle/>
          <a:p>
            <a:pPr indent="0" marL="0">
              <a:buNone/>
            </a:pPr>
            <a:r>
              <a:rPr lang="en-US" sz="1080" dirty="0">
                <a:solidFill>
                  <a:srgbClr val="16221F"/>
                </a:solidFill>
                <a:latin typeface="Calibri" pitchFamily="34" charset="0"/>
                <a:ea typeface="Calibri" pitchFamily="34" charset="-122"/>
                <a:cs typeface="Calibri" pitchFamily="34" charset="-120"/>
              </a:rPr>
              <a:t>4. Pilot Cohort</a:t>
            </a:r>
            <a:endParaRPr lang="en-US" sz="1080" dirty="0"/>
          </a:p>
        </p:txBody>
      </p:sp>
      <p:sp>
        <p:nvSpPr>
          <p:cNvPr id="19" name="Text 16"/>
          <p:cNvSpPr/>
          <p:nvPr/>
        </p:nvSpPr>
        <p:spPr>
          <a:xfrm>
            <a:off x="6309360" y="5193792"/>
            <a:ext cx="5074920" cy="274320"/>
          </a:xfrm>
          <a:prstGeom prst="rect">
            <a:avLst/>
          </a:prstGeom>
          <a:noFill/>
          <a:ln/>
        </p:spPr>
        <p:txBody>
          <a:bodyPr wrap="square" rtlCol="0" anchor="ctr"/>
          <a:lstStyle/>
          <a:p>
            <a:pPr indent="0" marL="0">
              <a:buNone/>
            </a:pPr>
            <a:r>
              <a:rPr lang="en-US" sz="1000" i="1" dirty="0">
                <a:solidFill>
                  <a:srgbClr val="5C6D68"/>
                </a:solidFill>
                <a:latin typeface="Calibri" pitchFamily="34" charset="0"/>
                <a:ea typeface="Calibri" pitchFamily="34" charset="-122"/>
                <a:cs typeface="Calibri" pitchFamily="34" charset="-120"/>
              </a:rPr>
              <a:t>… 3 more (next slide)</a:t>
            </a:r>
            <a:endParaRPr lang="en-US" sz="1000" dirty="0"/>
          </a:p>
        </p:txBody>
      </p:sp>
      <p:sp>
        <p:nvSpPr>
          <p:cNvPr id="20" name="Text 17"/>
          <p:cNvSpPr/>
          <p:nvPr/>
        </p:nvSpPr>
        <p:spPr>
          <a:xfrm>
            <a:off x="548640" y="6528816"/>
            <a:ext cx="7315200" cy="274320"/>
          </a:xfrm>
          <a:prstGeom prst="rect">
            <a:avLst/>
          </a:prstGeom>
          <a:noFill/>
          <a:ln/>
        </p:spPr>
        <p:txBody>
          <a:bodyPr wrap="square" rtlCol="0" anchor="ctr"/>
          <a:lstStyle/>
          <a:p>
            <a:pPr algn="l" indent="0" marL="0">
              <a:buNone/>
            </a:pPr>
            <a:r>
              <a:rPr lang="en-US" sz="900" dirty="0">
                <a:solidFill>
                  <a:srgbClr val="CFE3DD"/>
                </a:solidFill>
                <a:latin typeface="Calibri" pitchFamily="34" charset="0"/>
                <a:ea typeface="Calibri" pitchFamily="34" charset="-122"/>
                <a:cs typeface="Calibri" pitchFamily="34" charset="-120"/>
              </a:rPr>
              <a:t>journi — The 8 Transformation Types</a:t>
            </a:r>
            <a:endParaRPr lang="en-US" sz="900" dirty="0"/>
          </a:p>
        </p:txBody>
      </p:sp>
      <p:sp>
        <p:nvSpPr>
          <p:cNvPr id="21" name="Text 18"/>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CFE3DD"/>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CULTURAL · JOURNI PHASE TEMPLATE</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200" b="1" dirty="0">
                <a:solidFill>
                  <a:srgbClr val="6B4C8A"/>
                </a:solidFill>
                <a:latin typeface="Calibri" pitchFamily="34" charset="0"/>
                <a:ea typeface="Calibri" pitchFamily="34" charset="-122"/>
                <a:cs typeface="Calibri" pitchFamily="34" charset="-120"/>
              </a:rPr>
              <a:t>TPL-CULT-7: 7 Phases, In Order</a:t>
            </a:r>
            <a:endParaRPr lang="en-US" sz="2200" dirty="0"/>
          </a:p>
        </p:txBody>
      </p:sp>
      <p:sp>
        <p:nvSpPr>
          <p:cNvPr id="4" name="Shape 2"/>
          <p:cNvSpPr/>
          <p:nvPr/>
        </p:nvSpPr>
        <p:spPr>
          <a:xfrm>
            <a:off x="548640" y="2103120"/>
            <a:ext cx="2697480" cy="566928"/>
          </a:xfrm>
          <a:prstGeom prst="chevron">
            <a:avLst/>
          </a:prstGeom>
          <a:solidFill>
            <a:srgbClr val="6B4C8A"/>
          </a:solidFill>
          <a:ln/>
        </p:spPr>
      </p:sp>
      <p:sp>
        <p:nvSpPr>
          <p:cNvPr id="5" name="Text 3"/>
          <p:cNvSpPr/>
          <p:nvPr/>
        </p:nvSpPr>
        <p:spPr>
          <a:xfrm>
            <a:off x="594360" y="2103120"/>
            <a:ext cx="260604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Diagnosis</a:t>
            </a:r>
            <a:endParaRPr lang="en-US" sz="950" dirty="0"/>
          </a:p>
        </p:txBody>
      </p:sp>
      <p:sp>
        <p:nvSpPr>
          <p:cNvPr id="6" name="Shape 4"/>
          <p:cNvSpPr/>
          <p:nvPr/>
        </p:nvSpPr>
        <p:spPr>
          <a:xfrm>
            <a:off x="3337560" y="2103120"/>
            <a:ext cx="2697480" cy="566928"/>
          </a:xfrm>
          <a:prstGeom prst="chevron">
            <a:avLst/>
          </a:prstGeom>
          <a:solidFill>
            <a:srgbClr val="6B4C8A"/>
          </a:solidFill>
          <a:ln/>
        </p:spPr>
      </p:sp>
      <p:sp>
        <p:nvSpPr>
          <p:cNvPr id="7" name="Text 5"/>
          <p:cNvSpPr/>
          <p:nvPr/>
        </p:nvSpPr>
        <p:spPr>
          <a:xfrm>
            <a:off x="3383280" y="2103120"/>
            <a:ext cx="260604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Target Values Design</a:t>
            </a:r>
            <a:endParaRPr lang="en-US" sz="950" dirty="0"/>
          </a:p>
        </p:txBody>
      </p:sp>
      <p:sp>
        <p:nvSpPr>
          <p:cNvPr id="8" name="Shape 6"/>
          <p:cNvSpPr/>
          <p:nvPr/>
        </p:nvSpPr>
        <p:spPr>
          <a:xfrm>
            <a:off x="6126480" y="2103120"/>
            <a:ext cx="2697480" cy="566928"/>
          </a:xfrm>
          <a:prstGeom prst="chevron">
            <a:avLst/>
          </a:prstGeom>
          <a:solidFill>
            <a:srgbClr val="6B4C8A"/>
          </a:solidFill>
          <a:ln/>
        </p:spPr>
      </p:sp>
      <p:sp>
        <p:nvSpPr>
          <p:cNvPr id="9" name="Text 7"/>
          <p:cNvSpPr/>
          <p:nvPr/>
        </p:nvSpPr>
        <p:spPr>
          <a:xfrm>
            <a:off x="6172200" y="2103120"/>
            <a:ext cx="260604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Leadership Modeling &amp; Reinforcement Build</a:t>
            </a:r>
            <a:endParaRPr lang="en-US" sz="950" dirty="0"/>
          </a:p>
        </p:txBody>
      </p:sp>
      <p:sp>
        <p:nvSpPr>
          <p:cNvPr id="10" name="Shape 8"/>
          <p:cNvSpPr/>
          <p:nvPr/>
        </p:nvSpPr>
        <p:spPr>
          <a:xfrm>
            <a:off x="8915400" y="2103120"/>
            <a:ext cx="2697480" cy="566928"/>
          </a:xfrm>
          <a:prstGeom prst="chevron">
            <a:avLst/>
          </a:prstGeom>
          <a:solidFill>
            <a:srgbClr val="6B4C8A"/>
          </a:solidFill>
          <a:ln/>
        </p:spPr>
      </p:sp>
      <p:sp>
        <p:nvSpPr>
          <p:cNvPr id="11" name="Text 9"/>
          <p:cNvSpPr/>
          <p:nvPr/>
        </p:nvSpPr>
        <p:spPr>
          <a:xfrm>
            <a:off x="8961120" y="2103120"/>
            <a:ext cx="260604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4. Pilot Cohort</a:t>
            </a:r>
            <a:endParaRPr lang="en-US" sz="950" dirty="0"/>
          </a:p>
        </p:txBody>
      </p:sp>
      <p:sp>
        <p:nvSpPr>
          <p:cNvPr id="12" name="Shape 10"/>
          <p:cNvSpPr/>
          <p:nvPr/>
        </p:nvSpPr>
        <p:spPr>
          <a:xfrm>
            <a:off x="548640" y="2798064"/>
            <a:ext cx="3627120" cy="566928"/>
          </a:xfrm>
          <a:prstGeom prst="chevron">
            <a:avLst/>
          </a:prstGeom>
          <a:solidFill>
            <a:srgbClr val="6B4C8A"/>
          </a:solidFill>
          <a:ln/>
        </p:spPr>
      </p:sp>
      <p:sp>
        <p:nvSpPr>
          <p:cNvPr id="13" name="Text 11"/>
          <p:cNvSpPr/>
          <p:nvPr/>
        </p:nvSpPr>
        <p:spPr>
          <a:xfrm>
            <a:off x="594360" y="2798064"/>
            <a:ext cx="353568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5. Organization-Wide Rollout</a:t>
            </a:r>
            <a:endParaRPr lang="en-US" sz="950" dirty="0"/>
          </a:p>
        </p:txBody>
      </p:sp>
      <p:sp>
        <p:nvSpPr>
          <p:cNvPr id="14" name="Shape 12"/>
          <p:cNvSpPr/>
          <p:nvPr/>
        </p:nvSpPr>
        <p:spPr>
          <a:xfrm>
            <a:off x="4267200" y="2798064"/>
            <a:ext cx="3627120" cy="566928"/>
          </a:xfrm>
          <a:prstGeom prst="chevron">
            <a:avLst/>
          </a:prstGeom>
          <a:solidFill>
            <a:srgbClr val="6B4C8A"/>
          </a:solidFill>
          <a:ln/>
        </p:spPr>
      </p:sp>
      <p:sp>
        <p:nvSpPr>
          <p:cNvPr id="15" name="Text 13"/>
          <p:cNvSpPr/>
          <p:nvPr/>
        </p:nvSpPr>
        <p:spPr>
          <a:xfrm>
            <a:off x="4312920" y="2798064"/>
            <a:ext cx="353568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6. Reinforcement Through Skepticism</a:t>
            </a:r>
            <a:endParaRPr lang="en-US" sz="950" dirty="0"/>
          </a:p>
        </p:txBody>
      </p:sp>
      <p:sp>
        <p:nvSpPr>
          <p:cNvPr id="16" name="Shape 14"/>
          <p:cNvSpPr/>
          <p:nvPr/>
        </p:nvSpPr>
        <p:spPr>
          <a:xfrm>
            <a:off x="7985760" y="2798064"/>
            <a:ext cx="3627120" cy="566928"/>
          </a:xfrm>
          <a:prstGeom prst="chevron">
            <a:avLst/>
          </a:prstGeom>
          <a:solidFill>
            <a:srgbClr val="6B4C8A"/>
          </a:solidFill>
          <a:ln/>
        </p:spPr>
      </p:sp>
      <p:sp>
        <p:nvSpPr>
          <p:cNvPr id="17" name="Text 15"/>
          <p:cNvSpPr/>
          <p:nvPr/>
        </p:nvSpPr>
        <p:spPr>
          <a:xfrm>
            <a:off x="8031480" y="2798064"/>
            <a:ext cx="353568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7. Institutionalization</a:t>
            </a:r>
            <a:endParaRPr lang="en-US" sz="950" dirty="0"/>
          </a:p>
        </p:txBody>
      </p:sp>
      <p:sp>
        <p:nvSpPr>
          <p:cNvPr id="18" name="Text 16"/>
          <p:cNvSpPr/>
          <p:nvPr/>
        </p:nvSpPr>
        <p:spPr>
          <a:xfrm>
            <a:off x="548640" y="3950208"/>
            <a:ext cx="11064240" cy="2194560"/>
          </a:xfrm>
          <a:prstGeom prst="rect">
            <a:avLst/>
          </a:prstGeom>
          <a:noFill/>
          <a:ln/>
        </p:spPr>
        <p:txBody>
          <a:bodyPr wrap="square" rtlCol="0" anchor="ctr"/>
          <a:lstStyle/>
          <a:p>
            <a:pPr indent="0" marL="0">
              <a:lnSpc>
                <a:spcPct val="130000"/>
              </a:lnSpc>
              <a:buNone/>
            </a:pPr>
            <a:r>
              <a:rPr lang="en-US" sz="1300" dirty="0">
                <a:solidFill>
                  <a:srgbClr val="16221F"/>
                </a:solidFill>
                <a:latin typeface="Calibri" pitchFamily="34" charset="0"/>
                <a:ea typeface="Calibri" pitchFamily="34" charset="-122"/>
                <a:cs typeface="Calibri" pitchFamily="34" charset="-120"/>
              </a:rPr>
              <a:t>Bridges and Kübler-Ross dominate. Identity and emotional integration matter more than any specific skill here — a newly appointed Sponsor with zero logged actions damages exactly these two frameworks fastest, which is why this archetype is built to fire ALT-003 early.</a:t>
            </a:r>
            <a:endParaRPr lang="en-US" sz="1300" dirty="0"/>
          </a:p>
        </p:txBody>
      </p:sp>
      <p:sp>
        <p:nvSpPr>
          <p:cNvPr id="19" name="Text 17"/>
          <p:cNvSpPr/>
          <p:nvPr/>
        </p:nvSpPr>
        <p:spPr>
          <a:xfrm>
            <a:off x="548640" y="3630168"/>
            <a:ext cx="11064240" cy="274320"/>
          </a:xfrm>
          <a:prstGeom prst="rect">
            <a:avLst/>
          </a:prstGeom>
          <a:noFill/>
          <a:ln/>
        </p:spPr>
        <p:txBody>
          <a:bodyPr wrap="square" rtlCol="0" anchor="ctr"/>
          <a:lstStyle/>
          <a:p>
            <a:pPr indent="0" marL="0">
              <a:buNone/>
            </a:pPr>
            <a:r>
              <a:rPr lang="en-US" sz="1050" b="1" spc="100" kern="0" dirty="0">
                <a:solidFill>
                  <a:srgbClr val="C2661C"/>
                </a:solidFill>
                <a:latin typeface="Calibri" pitchFamily="34" charset="0"/>
                <a:ea typeface="Calibri" pitchFamily="34" charset="-122"/>
                <a:cs typeface="Calibri" pitchFamily="34" charset="-120"/>
              </a:rPr>
              <a:t>FRAMEWORK WEIGHTING FOR THIS ARCHETYPE</a:t>
            </a:r>
            <a:endParaRPr lang="en-US" sz="1050" dirty="0"/>
          </a:p>
        </p:txBody>
      </p:sp>
      <p:sp>
        <p:nvSpPr>
          <p:cNvPr id="20" name="Text 18"/>
          <p:cNvSpPr/>
          <p:nvPr/>
        </p:nvSpPr>
        <p:spPr>
          <a:xfrm>
            <a:off x="548640" y="6528816"/>
            <a:ext cx="73152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The 8 Transformation Types</a:t>
            </a:r>
            <a:endParaRPr lang="en-US" sz="900" dirty="0"/>
          </a:p>
        </p:txBody>
      </p:sp>
      <p:sp>
        <p:nvSpPr>
          <p:cNvPr id="21" name="Text 19"/>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CULTURAL · TENANT SETUP</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500" b="1" dirty="0">
                <a:solidFill>
                  <a:srgbClr val="6B4C8A"/>
                </a:solidFill>
                <a:latin typeface="Calibri" pitchFamily="34" charset="0"/>
                <a:ea typeface="Calibri" pitchFamily="34" charset="-122"/>
                <a:cs typeface="Calibri" pitchFamily="34" charset="-120"/>
              </a:rPr>
              <a:t>The RACSI Team for This Case</a:t>
            </a:r>
            <a:endParaRPr lang="en-US" sz="2500" dirty="0"/>
          </a:p>
        </p:txBody>
      </p:sp>
      <p:sp>
        <p:nvSpPr>
          <p:cNvPr id="4" name="Text 2"/>
          <p:cNvSpPr/>
          <p:nvPr/>
        </p:nvSpPr>
        <p:spPr>
          <a:xfrm>
            <a:off x="548640" y="1417320"/>
            <a:ext cx="11064240" cy="457200"/>
          </a:xfrm>
          <a:prstGeom prst="rect">
            <a:avLst/>
          </a:prstGeom>
          <a:noFill/>
          <a:ln/>
        </p:spPr>
        <p:txBody>
          <a:bodyPr wrap="square" rtlCol="0" anchor="t"/>
          <a:lstStyle/>
          <a:p>
            <a:pPr indent="0" marL="0">
              <a:lnSpc>
                <a:spcPct val="115000"/>
              </a:lnSpc>
              <a:buNone/>
            </a:pPr>
            <a:r>
              <a:rPr lang="en-US" sz="1200" dirty="0">
                <a:solidFill>
                  <a:srgbClr val="5C6D68"/>
                </a:solidFill>
                <a:latin typeface="Calibri" pitchFamily="34" charset="0"/>
                <a:ea typeface="Calibri" pitchFamily="34" charset="-122"/>
                <a:cs typeface="Calibri" pitchFamily="34" charset="-120"/>
              </a:rPr>
              <a:t>journi's 7-code RACSI role taxonomy (ES/CM/PM/FPO/ITL/SUP/EU), assigned to real, named accounts for this program.</a:t>
            </a:r>
            <a:endParaRPr lang="en-US" sz="12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11064240" cy="914400"/>
        </p:xfrm>
        <a:graphic>
          <a:graphicData uri="http://schemas.openxmlformats.org/drawingml/2006/table">
            <a:tbl>
              <a:tblPr/>
              <a:tblGrid>
                <a:gridCol w="3108960"/>
                <a:gridCol w="1645920"/>
                <a:gridCol w="6309360"/>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Name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6B4C8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RACSI Code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6B4C8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Role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6B4C8A"/>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Karim Fassi</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ES</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Sponsor — newly appointed integration Sponsor</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Nadia Chraibi</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CM</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Change Manager</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Youssef Idrissi</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PM</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Integration Program Manager</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Amal Ziani</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FPO</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HR Business Partner for the integration</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Hicham Bennani</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ITL</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Systems/tooling lead</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Fatima-Zahra Idrissi</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SUP</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Tangier Distribution Center site lead</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Rachid Amrani</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SUP</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Casablanca supply chain/logistics lead</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bl>
          </a:graphicData>
        </a:graphic>
      </p:graphicFrame>
      <p:sp>
        <p:nvSpPr>
          <p:cNvPr id="6" name="Text 3"/>
          <p:cNvSpPr/>
          <p:nvPr/>
        </p:nvSpPr>
        <p:spPr>
          <a:xfrm>
            <a:off x="548640" y="6528816"/>
            <a:ext cx="73152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The 8 Transformation Types</a:t>
            </a:r>
            <a:endParaRPr lang="en-US" sz="900" dirty="0"/>
          </a:p>
        </p:txBody>
      </p:sp>
      <p:sp>
        <p:nvSpPr>
          <p:cNvPr id="7" name="Text 4"/>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CULTURAL · JOURNI MODULES</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400" b="1" dirty="0">
                <a:solidFill>
                  <a:srgbClr val="6B4C8A"/>
                </a:solidFill>
                <a:latin typeface="Calibri" pitchFamily="34" charset="0"/>
                <a:ea typeface="Calibri" pitchFamily="34" charset="-122"/>
                <a:cs typeface="Calibri" pitchFamily="34" charset="-120"/>
              </a:rPr>
              <a:t>Which modules dominate this archetype</a:t>
            </a:r>
            <a:endParaRPr lang="en-US" sz="2400" dirty="0"/>
          </a:p>
        </p:txBody>
      </p:sp>
      <p:sp>
        <p:nvSpPr>
          <p:cNvPr id="4" name="Shape 2"/>
          <p:cNvSpPr/>
          <p:nvPr/>
        </p:nvSpPr>
        <p:spPr>
          <a:xfrm>
            <a:off x="548640" y="2057400"/>
            <a:ext cx="11064240" cy="932688"/>
          </a:xfrm>
          <a:prstGeom prst="roundRect">
            <a:avLst>
              <a:gd name="adj" fmla="val 4902"/>
            </a:avLst>
          </a:prstGeom>
          <a:solidFill>
            <a:srgbClr val="EAF2EF"/>
          </a:solidFill>
          <a:ln/>
        </p:spPr>
      </p:sp>
      <p:sp>
        <p:nvSpPr>
          <p:cNvPr id="5" name="Text 3"/>
          <p:cNvSpPr/>
          <p:nvPr/>
        </p:nvSpPr>
        <p:spPr>
          <a:xfrm>
            <a:off x="777240" y="2167128"/>
            <a:ext cx="3200400" cy="713232"/>
          </a:xfrm>
          <a:prstGeom prst="rect">
            <a:avLst/>
          </a:prstGeom>
          <a:noFill/>
          <a:ln/>
        </p:spPr>
        <p:txBody>
          <a:bodyPr wrap="square" rtlCol="0" anchor="ctr"/>
          <a:lstStyle/>
          <a:p>
            <a:pPr indent="0" marL="0">
              <a:lnSpc>
                <a:spcPct val="110000"/>
              </a:lnSpc>
              <a:buNone/>
            </a:pPr>
            <a:r>
              <a:rPr lang="en-US" sz="1300" b="1" dirty="0">
                <a:solidFill>
                  <a:srgbClr val="6B4C8A"/>
                </a:solidFill>
                <a:latin typeface="Calibri" pitchFamily="34" charset="0"/>
                <a:ea typeface="Calibri" pitchFamily="34" charset="-122"/>
                <a:cs typeface="Calibri" pitchFamily="34" charset="-120"/>
              </a:rPr>
              <a:t>M6 (Emotional &amp; Transition Layer)</a:t>
            </a:r>
            <a:endParaRPr lang="en-US" sz="1300" dirty="0"/>
          </a:p>
        </p:txBody>
      </p:sp>
      <p:sp>
        <p:nvSpPr>
          <p:cNvPr id="6" name="Text 4"/>
          <p:cNvSpPr/>
          <p:nvPr/>
        </p:nvSpPr>
        <p:spPr>
          <a:xfrm>
            <a:off x="4069080" y="2167128"/>
            <a:ext cx="7360920" cy="713232"/>
          </a:xfrm>
          <a:prstGeom prst="rect">
            <a:avLst/>
          </a:prstGeom>
          <a:noFill/>
          <a:ln/>
        </p:spPr>
        <p:txBody>
          <a:bodyPr wrap="square" rtlCol="0" anchor="ctr"/>
          <a:lstStyle/>
          <a:p>
            <a:pPr indent="0" marL="0">
              <a:lnSpc>
                <a:spcPct val="120000"/>
              </a:lnSpc>
              <a:buNone/>
            </a:pPr>
            <a:r>
              <a:rPr lang="en-US" sz="1180" dirty="0">
                <a:solidFill>
                  <a:srgbClr val="16221F"/>
                </a:solidFill>
                <a:latin typeface="Calibri" pitchFamily="34" charset="0"/>
                <a:ea typeface="Calibri" pitchFamily="34" charset="-122"/>
                <a:cs typeface="Calibri" pitchFamily="34" charset="-120"/>
              </a:rPr>
              <a:t>The heaviest use of Bridges and Kübler-Ross of any archetype — two starting cultures tracked side by side.</a:t>
            </a:r>
            <a:endParaRPr lang="en-US" sz="1180" dirty="0"/>
          </a:p>
        </p:txBody>
      </p:sp>
      <p:sp>
        <p:nvSpPr>
          <p:cNvPr id="7" name="Shape 5"/>
          <p:cNvSpPr/>
          <p:nvPr/>
        </p:nvSpPr>
        <p:spPr>
          <a:xfrm>
            <a:off x="548640" y="3099816"/>
            <a:ext cx="11064240" cy="932688"/>
          </a:xfrm>
          <a:prstGeom prst="roundRect">
            <a:avLst>
              <a:gd name="adj" fmla="val 4902"/>
            </a:avLst>
          </a:prstGeom>
          <a:solidFill>
            <a:srgbClr val="EAF2EF"/>
          </a:solidFill>
          <a:ln/>
        </p:spPr>
      </p:sp>
      <p:sp>
        <p:nvSpPr>
          <p:cNvPr id="8" name="Text 6"/>
          <p:cNvSpPr/>
          <p:nvPr/>
        </p:nvSpPr>
        <p:spPr>
          <a:xfrm>
            <a:off x="777240" y="3209544"/>
            <a:ext cx="3200400" cy="713232"/>
          </a:xfrm>
          <a:prstGeom prst="rect">
            <a:avLst/>
          </a:prstGeom>
          <a:noFill/>
          <a:ln/>
        </p:spPr>
        <p:txBody>
          <a:bodyPr wrap="square" rtlCol="0" anchor="ctr"/>
          <a:lstStyle/>
          <a:p>
            <a:pPr indent="0" marL="0">
              <a:lnSpc>
                <a:spcPct val="110000"/>
              </a:lnSpc>
              <a:buNone/>
            </a:pPr>
            <a:r>
              <a:rPr lang="en-US" sz="1300" b="1" dirty="0">
                <a:solidFill>
                  <a:srgbClr val="6B4C8A"/>
                </a:solidFill>
                <a:latin typeface="Calibri" pitchFamily="34" charset="0"/>
                <a:ea typeface="Calibri" pitchFamily="34" charset="-122"/>
                <a:cs typeface="Calibri" pitchFamily="34" charset="-120"/>
              </a:rPr>
              <a:t>M7 (Sponsor &amp; Coalition)</a:t>
            </a:r>
            <a:endParaRPr lang="en-US" sz="1300" dirty="0"/>
          </a:p>
        </p:txBody>
      </p:sp>
      <p:sp>
        <p:nvSpPr>
          <p:cNvPr id="9" name="Text 7"/>
          <p:cNvSpPr/>
          <p:nvPr/>
        </p:nvSpPr>
        <p:spPr>
          <a:xfrm>
            <a:off x="4069080" y="3209544"/>
            <a:ext cx="7360920" cy="713232"/>
          </a:xfrm>
          <a:prstGeom prst="rect">
            <a:avLst/>
          </a:prstGeom>
          <a:noFill/>
          <a:ln/>
        </p:spPr>
        <p:txBody>
          <a:bodyPr wrap="square" rtlCol="0" anchor="ctr"/>
          <a:lstStyle/>
          <a:p>
            <a:pPr indent="0" marL="0">
              <a:lnSpc>
                <a:spcPct val="120000"/>
              </a:lnSpc>
              <a:buNone/>
            </a:pPr>
            <a:r>
              <a:rPr lang="en-US" sz="1180" dirty="0">
                <a:solidFill>
                  <a:srgbClr val="16221F"/>
                </a:solidFill>
                <a:latin typeface="Calibri" pitchFamily="34" charset="0"/>
                <a:ea typeface="Calibri" pitchFamily="34" charset="-122"/>
                <a:cs typeface="Calibri" pitchFamily="34" charset="-120"/>
              </a:rPr>
              <a:t>A newly appointed Sponsor starts with zero logged actions — the direct ALT-003 trigger.</a:t>
            </a:r>
            <a:endParaRPr lang="en-US" sz="1180" dirty="0"/>
          </a:p>
        </p:txBody>
      </p:sp>
      <p:sp>
        <p:nvSpPr>
          <p:cNvPr id="10" name="Shape 8"/>
          <p:cNvSpPr/>
          <p:nvPr/>
        </p:nvSpPr>
        <p:spPr>
          <a:xfrm>
            <a:off x="548640" y="4142232"/>
            <a:ext cx="11064240" cy="932688"/>
          </a:xfrm>
          <a:prstGeom prst="roundRect">
            <a:avLst>
              <a:gd name="adj" fmla="val 4902"/>
            </a:avLst>
          </a:prstGeom>
          <a:solidFill>
            <a:srgbClr val="EAF2EF"/>
          </a:solidFill>
          <a:ln/>
        </p:spPr>
      </p:sp>
      <p:sp>
        <p:nvSpPr>
          <p:cNvPr id="11" name="Text 9"/>
          <p:cNvSpPr/>
          <p:nvPr/>
        </p:nvSpPr>
        <p:spPr>
          <a:xfrm>
            <a:off x="777240" y="4251960"/>
            <a:ext cx="3200400" cy="713232"/>
          </a:xfrm>
          <a:prstGeom prst="rect">
            <a:avLst/>
          </a:prstGeom>
          <a:noFill/>
          <a:ln/>
        </p:spPr>
        <p:txBody>
          <a:bodyPr wrap="square" rtlCol="0" anchor="ctr"/>
          <a:lstStyle/>
          <a:p>
            <a:pPr indent="0" marL="0">
              <a:lnSpc>
                <a:spcPct val="110000"/>
              </a:lnSpc>
              <a:buNone/>
            </a:pPr>
            <a:r>
              <a:rPr lang="en-US" sz="1300" b="1" dirty="0">
                <a:solidFill>
                  <a:srgbClr val="6B4C8A"/>
                </a:solidFill>
                <a:latin typeface="Calibri" pitchFamily="34" charset="0"/>
                <a:ea typeface="Calibri" pitchFamily="34" charset="-122"/>
                <a:cs typeface="Calibri" pitchFamily="34" charset="-120"/>
              </a:rPr>
              <a:t>M5 (ADKAR Engine)</a:t>
            </a:r>
            <a:endParaRPr lang="en-US" sz="1300" dirty="0"/>
          </a:p>
        </p:txBody>
      </p:sp>
      <p:sp>
        <p:nvSpPr>
          <p:cNvPr id="12" name="Text 10"/>
          <p:cNvSpPr/>
          <p:nvPr/>
        </p:nvSpPr>
        <p:spPr>
          <a:xfrm>
            <a:off x="4069080" y="4251960"/>
            <a:ext cx="7360920" cy="713232"/>
          </a:xfrm>
          <a:prstGeom prst="rect">
            <a:avLst/>
          </a:prstGeom>
          <a:noFill/>
          <a:ln/>
        </p:spPr>
        <p:txBody>
          <a:bodyPr wrap="square" rtlCol="0" anchor="ctr"/>
          <a:lstStyle/>
          <a:p>
            <a:pPr indent="0" marL="0">
              <a:lnSpc>
                <a:spcPct val="120000"/>
              </a:lnSpc>
              <a:buNone/>
            </a:pPr>
            <a:r>
              <a:rPr lang="en-US" sz="1180" dirty="0">
                <a:solidFill>
                  <a:srgbClr val="16221F"/>
                </a:solidFill>
                <a:latin typeface="Calibri" pitchFamily="34" charset="0"/>
                <a:ea typeface="Calibri" pitchFamily="34" charset="-122"/>
                <a:cs typeface="Calibri" pitchFamily="34" charset="-120"/>
              </a:rPr>
              <a:t>Desire is the block most exposed here — a named, specific fear (job security) stalls it.</a:t>
            </a:r>
            <a:endParaRPr lang="en-US" sz="1180" dirty="0"/>
          </a:p>
        </p:txBody>
      </p:sp>
      <p:sp>
        <p:nvSpPr>
          <p:cNvPr id="13" name="Shape 11"/>
          <p:cNvSpPr/>
          <p:nvPr/>
        </p:nvSpPr>
        <p:spPr>
          <a:xfrm>
            <a:off x="548640" y="5184648"/>
            <a:ext cx="11064240" cy="932688"/>
          </a:xfrm>
          <a:prstGeom prst="roundRect">
            <a:avLst>
              <a:gd name="adj" fmla="val 4902"/>
            </a:avLst>
          </a:prstGeom>
          <a:solidFill>
            <a:srgbClr val="EAF2EF"/>
          </a:solidFill>
          <a:ln/>
        </p:spPr>
      </p:sp>
      <p:sp>
        <p:nvSpPr>
          <p:cNvPr id="14" name="Text 12"/>
          <p:cNvSpPr/>
          <p:nvPr/>
        </p:nvSpPr>
        <p:spPr>
          <a:xfrm>
            <a:off x="777240" y="5294376"/>
            <a:ext cx="3200400" cy="713232"/>
          </a:xfrm>
          <a:prstGeom prst="rect">
            <a:avLst/>
          </a:prstGeom>
          <a:noFill/>
          <a:ln/>
        </p:spPr>
        <p:txBody>
          <a:bodyPr wrap="square" rtlCol="0" anchor="ctr"/>
          <a:lstStyle/>
          <a:p>
            <a:pPr indent="0" marL="0">
              <a:lnSpc>
                <a:spcPct val="110000"/>
              </a:lnSpc>
              <a:buNone/>
            </a:pPr>
            <a:r>
              <a:rPr lang="en-US" sz="1300" b="1" dirty="0">
                <a:solidFill>
                  <a:srgbClr val="6B4C8A"/>
                </a:solidFill>
                <a:latin typeface="Calibri" pitchFamily="34" charset="0"/>
                <a:ea typeface="Calibri" pitchFamily="34" charset="-122"/>
                <a:cs typeface="Calibri" pitchFamily="34" charset="-120"/>
              </a:rPr>
              <a:t>M8 (Communications)</a:t>
            </a:r>
            <a:endParaRPr lang="en-US" sz="1300" dirty="0"/>
          </a:p>
        </p:txBody>
      </p:sp>
      <p:sp>
        <p:nvSpPr>
          <p:cNvPr id="15" name="Text 13"/>
          <p:cNvSpPr/>
          <p:nvPr/>
        </p:nvSpPr>
        <p:spPr>
          <a:xfrm>
            <a:off x="4069080" y="5294376"/>
            <a:ext cx="7360920" cy="713232"/>
          </a:xfrm>
          <a:prstGeom prst="rect">
            <a:avLst/>
          </a:prstGeom>
          <a:noFill/>
          <a:ln/>
        </p:spPr>
        <p:txBody>
          <a:bodyPr wrap="square" rtlCol="0" anchor="ctr"/>
          <a:lstStyle/>
          <a:p>
            <a:pPr indent="0" marL="0">
              <a:lnSpc>
                <a:spcPct val="120000"/>
              </a:lnSpc>
              <a:buNone/>
            </a:pPr>
            <a:r>
              <a:rPr lang="en-US" sz="1180" dirty="0">
                <a:solidFill>
                  <a:srgbClr val="16221F"/>
                </a:solidFill>
                <a:latin typeface="Calibri" pitchFamily="34" charset="0"/>
                <a:ea typeface="Calibri" pitchFamily="34" charset="-122"/>
                <a:cs typeface="Calibri" pitchFamily="34" charset="-120"/>
              </a:rPr>
              <a:t>Joint briefings for paired cohorts, not separate messaging for each legacy culture.</a:t>
            </a:r>
            <a:endParaRPr lang="en-US" sz="1180" dirty="0"/>
          </a:p>
        </p:txBody>
      </p:sp>
      <p:sp>
        <p:nvSpPr>
          <p:cNvPr id="16" name="Text 14"/>
          <p:cNvSpPr/>
          <p:nvPr/>
        </p:nvSpPr>
        <p:spPr>
          <a:xfrm>
            <a:off x="548640" y="6528816"/>
            <a:ext cx="73152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The 8 Transformation Types</a:t>
            </a:r>
            <a:endParaRPr lang="en-US" sz="900" dirty="0"/>
          </a:p>
        </p:txBody>
      </p:sp>
      <p:sp>
        <p:nvSpPr>
          <p:cNvPr id="17" name="Text 15"/>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CULTURAL · REAL SCENARIO</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100" b="1" dirty="0">
                <a:solidFill>
                  <a:srgbClr val="6B4C8A"/>
                </a:solidFill>
                <a:latin typeface="Calibri" pitchFamily="34" charset="0"/>
                <a:ea typeface="Calibri" pitchFamily="34" charset="-122"/>
                <a:cs typeface="Calibri" pitchFamily="34" charset="-120"/>
              </a:rPr>
              <a:t>One Bouregreg: Post-Acquisition Culture Integration</a:t>
            </a:r>
            <a:endParaRPr lang="en-US" sz="2100" dirty="0"/>
          </a:p>
        </p:txBody>
      </p:sp>
      <p:sp>
        <p:nvSpPr>
          <p:cNvPr id="4" name="Text 2"/>
          <p:cNvSpPr/>
          <p:nvPr/>
        </p:nvSpPr>
        <p:spPr>
          <a:xfrm>
            <a:off x="548640" y="1417320"/>
            <a:ext cx="11064240" cy="457200"/>
          </a:xfrm>
          <a:prstGeom prst="rect">
            <a:avLst/>
          </a:prstGeom>
          <a:noFill/>
          <a:ln/>
        </p:spPr>
        <p:txBody>
          <a:bodyPr wrap="square" rtlCol="0" anchor="t"/>
          <a:lstStyle/>
          <a:p>
            <a:pPr indent="0" marL="0">
              <a:lnSpc>
                <a:spcPct val="115000"/>
              </a:lnSpc>
              <a:buNone/>
            </a:pPr>
            <a:r>
              <a:rPr lang="en-US" sz="1200" dirty="0">
                <a:solidFill>
                  <a:srgbClr val="5C6D68"/>
                </a:solidFill>
                <a:latin typeface="Calibri" pitchFamily="34" charset="0"/>
                <a:ea typeface="Calibri" pitchFamily="34" charset="-122"/>
                <a:cs typeface="Calibri" pitchFamily="34" charset="-120"/>
              </a:rPr>
              <a:t>260 staff (acquired Tangier team) + Bouregreg counterparts  ·  18-month horizon, W27 onward</a:t>
            </a:r>
            <a:endParaRPr lang="en-US" sz="12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11064240" cy="914400"/>
        </p:xfrm>
        <a:graphic>
          <a:graphicData uri="http://schemas.openxmlformats.org/drawingml/2006/table">
            <a:tbl>
              <a:tblPr/>
              <a:tblGrid>
                <a:gridCol w="1463040"/>
                <a:gridCol w="9601200"/>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Week</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6B4C8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Milestone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6B4C8A"/>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Wk 1 (org W27)</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Diagnosis opens, six months into the ERP program.</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Wk 4 (org W30)</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Target-values design; ALT-003 fires before the Sponsor's first logged action.</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Wk 12 (org W38)</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Leadership modeling and reinforcement build begins.</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Wk 20 (org W46)</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Pilot cohort — one Tangier team paired with one legacy Bouregreg team.</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Wk 32 (org W58)</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Organization-wide rollout; reinforcement continues well past the ERP program's own close.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bl>
          </a:graphicData>
        </a:graphic>
      </p:graphicFrame>
      <p:sp>
        <p:nvSpPr>
          <p:cNvPr id="6" name="Text 3"/>
          <p:cNvSpPr/>
          <p:nvPr/>
        </p:nvSpPr>
        <p:spPr>
          <a:xfrm>
            <a:off x="548640" y="6528816"/>
            <a:ext cx="73152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The 8 Transformation Types</a:t>
            </a:r>
            <a:endParaRPr lang="en-US" sz="900" dirty="0"/>
          </a:p>
        </p:txBody>
      </p:sp>
      <p:sp>
        <p:nvSpPr>
          <p:cNvPr id="7" name="Text 4"/>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6B4C8A"/>
        </a:solidFill>
      </p:bgPr>
    </p:bg>
    <p:spTree>
      <p:nvGrpSpPr>
        <p:cNvPr id="1" name=""/>
        <p:cNvGrpSpPr/>
        <p:nvPr/>
      </p:nvGrpSpPr>
      <p:grpSpPr>
        <a:xfrm>
          <a:off x="0" y="0"/>
          <a:ext cx="0" cy="0"/>
          <a:chOff x="0" y="0"/>
          <a:chExt cx="0" cy="0"/>
        </a:xfrm>
      </p:grpSpPr>
      <p:sp>
        <p:nvSpPr>
          <p:cNvPr id="2" name="Text 0"/>
          <p:cNvSpPr/>
          <p:nvPr/>
        </p:nvSpPr>
        <p:spPr>
          <a:xfrm>
            <a:off x="548640" y="457200"/>
            <a:ext cx="10058400" cy="320040"/>
          </a:xfrm>
          <a:prstGeom prst="rect">
            <a:avLst/>
          </a:prstGeom>
          <a:noFill/>
          <a:ln/>
        </p:spPr>
        <p:txBody>
          <a:bodyPr wrap="square" rtlCol="0" anchor="ctr"/>
          <a:lstStyle/>
          <a:p>
            <a:pPr indent="0" marL="0">
              <a:buNone/>
            </a:pPr>
            <a:r>
              <a:rPr lang="en-US" sz="1250" b="1" spc="200" kern="0" dirty="0">
                <a:solidFill>
                  <a:srgbClr val="FFFFFF"/>
                </a:solidFill>
                <a:latin typeface="Calibri" pitchFamily="34" charset="0"/>
                <a:ea typeface="Calibri" pitchFamily="34" charset="-122"/>
                <a:cs typeface="Calibri" pitchFamily="34" charset="-120"/>
              </a:rPr>
              <a:t>CULTURAL · ALERTS &amp; PROOF</a:t>
            </a:r>
            <a:endParaRPr lang="en-US" sz="1250" dirty="0"/>
          </a:p>
        </p:txBody>
      </p:sp>
      <p:sp>
        <p:nvSpPr>
          <p:cNvPr id="3" name="Text 1"/>
          <p:cNvSpPr/>
          <p:nvPr/>
        </p:nvSpPr>
        <p:spPr>
          <a:xfrm>
            <a:off x="548640" y="804672"/>
            <a:ext cx="10972800" cy="6858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What This Case Fires</a:t>
            </a:r>
            <a:endParaRPr lang="en-US" sz="2600" dirty="0"/>
          </a:p>
        </p:txBody>
      </p:sp>
      <p:sp>
        <p:nvSpPr>
          <p:cNvPr id="4" name="Shape 2"/>
          <p:cNvSpPr/>
          <p:nvPr/>
        </p:nvSpPr>
        <p:spPr>
          <a:xfrm>
            <a:off x="548640" y="1737360"/>
            <a:ext cx="11064240" cy="1463040"/>
          </a:xfrm>
          <a:prstGeom prst="roundRect">
            <a:avLst>
              <a:gd name="adj" fmla="val 3125"/>
            </a:avLst>
          </a:prstGeom>
          <a:solidFill>
            <a:srgbClr val="FFFFFF"/>
          </a:solidFill>
          <a:ln/>
        </p:spPr>
      </p:sp>
      <p:sp>
        <p:nvSpPr>
          <p:cNvPr id="5" name="Text 3"/>
          <p:cNvSpPr/>
          <p:nvPr/>
        </p:nvSpPr>
        <p:spPr>
          <a:xfrm>
            <a:off x="777240" y="1874520"/>
            <a:ext cx="10607040" cy="274320"/>
          </a:xfrm>
          <a:prstGeom prst="rect">
            <a:avLst/>
          </a:prstGeom>
          <a:noFill/>
          <a:ln/>
        </p:spPr>
        <p:txBody>
          <a:bodyPr wrap="square" rtlCol="0" anchor="ctr"/>
          <a:lstStyle/>
          <a:p>
            <a:pPr indent="0" marL="0">
              <a:buNone/>
            </a:pPr>
            <a:r>
              <a:rPr lang="en-US" sz="1050" b="1" spc="100" kern="0" dirty="0">
                <a:solidFill>
                  <a:srgbClr val="6B4C8A"/>
                </a:solidFill>
                <a:latin typeface="Calibri" pitchFamily="34" charset="0"/>
                <a:ea typeface="Calibri" pitchFamily="34" charset="-122"/>
                <a:cs typeface="Calibri" pitchFamily="34" charset="-120"/>
              </a:rPr>
              <a:t>ALERTS THIS CASE EXERCISES</a:t>
            </a:r>
            <a:endParaRPr lang="en-US" sz="1050" dirty="0"/>
          </a:p>
        </p:txBody>
      </p:sp>
      <p:sp>
        <p:nvSpPr>
          <p:cNvPr id="6" name="Text 4"/>
          <p:cNvSpPr/>
          <p:nvPr/>
        </p:nvSpPr>
        <p:spPr>
          <a:xfrm>
            <a:off x="777240" y="2176272"/>
            <a:ext cx="10607040" cy="914400"/>
          </a:xfrm>
          <a:prstGeom prst="rect">
            <a:avLst/>
          </a:prstGeom>
          <a:noFill/>
          <a:ln/>
        </p:spPr>
        <p:txBody>
          <a:bodyPr wrap="square" rtlCol="0" anchor="ctr"/>
          <a:lstStyle/>
          <a:p>
            <a:pPr indent="0" marL="0">
              <a:lnSpc>
                <a:spcPct val="125000"/>
              </a:lnSpc>
              <a:buNone/>
            </a:pPr>
            <a:r>
              <a:rPr lang="en-US" sz="1350" b="1" dirty="0">
                <a:solidFill>
                  <a:srgbClr val="16221F"/>
                </a:solidFill>
                <a:latin typeface="Calibri" pitchFamily="34" charset="0"/>
                <a:ea typeface="Calibri" pitchFamily="34" charset="-122"/>
                <a:cs typeface="Calibri" pitchFamily="34" charset="-120"/>
              </a:rPr>
              <a:t>ALT-003 (Sponsor Coverage Gap)</a:t>
            </a:r>
            <a:endParaRPr lang="en-US" sz="1350" dirty="0"/>
          </a:p>
        </p:txBody>
      </p:sp>
      <p:sp>
        <p:nvSpPr>
          <p:cNvPr id="7" name="Shape 5"/>
          <p:cNvSpPr/>
          <p:nvPr/>
        </p:nvSpPr>
        <p:spPr>
          <a:xfrm>
            <a:off x="548640" y="3383280"/>
            <a:ext cx="11064240" cy="1417320"/>
          </a:xfrm>
          <a:prstGeom prst="roundRect">
            <a:avLst>
              <a:gd name="adj" fmla="val 3226"/>
            </a:avLst>
          </a:prstGeom>
          <a:solidFill>
            <a:srgbClr val="FFFFFF"/>
          </a:solidFill>
          <a:ln/>
        </p:spPr>
      </p:sp>
      <p:sp>
        <p:nvSpPr>
          <p:cNvPr id="8" name="Text 6"/>
          <p:cNvSpPr/>
          <p:nvPr/>
        </p:nvSpPr>
        <p:spPr>
          <a:xfrm>
            <a:off x="777240" y="3520440"/>
            <a:ext cx="10607040" cy="274320"/>
          </a:xfrm>
          <a:prstGeom prst="rect">
            <a:avLst/>
          </a:prstGeom>
          <a:noFill/>
          <a:ln/>
        </p:spPr>
        <p:txBody>
          <a:bodyPr wrap="square" rtlCol="0" anchor="ctr"/>
          <a:lstStyle/>
          <a:p>
            <a:pPr indent="0" marL="0">
              <a:buNone/>
            </a:pPr>
            <a:r>
              <a:rPr lang="en-US" sz="1050" b="1" spc="100" kern="0" dirty="0">
                <a:solidFill>
                  <a:srgbClr val="6B4C8A"/>
                </a:solidFill>
                <a:latin typeface="Calibri" pitchFamily="34" charset="0"/>
                <a:ea typeface="Calibri" pitchFamily="34" charset="-122"/>
                <a:cs typeface="Calibri" pitchFamily="34" charset="-120"/>
              </a:rPr>
              <a:t>WHY</a:t>
            </a:r>
            <a:endParaRPr lang="en-US" sz="1050" dirty="0"/>
          </a:p>
        </p:txBody>
      </p:sp>
      <p:sp>
        <p:nvSpPr>
          <p:cNvPr id="9" name="Text 7"/>
          <p:cNvSpPr/>
          <p:nvPr/>
        </p:nvSpPr>
        <p:spPr>
          <a:xfrm>
            <a:off x="777240" y="3822192"/>
            <a:ext cx="10607040" cy="914400"/>
          </a:xfrm>
          <a:prstGeom prst="rect">
            <a:avLst/>
          </a:prstGeom>
          <a:noFill/>
          <a:ln/>
        </p:spPr>
        <p:txBody>
          <a:bodyPr wrap="square" rtlCol="0" anchor="ctr"/>
          <a:lstStyle/>
          <a:p>
            <a:pPr indent="0" marL="0">
              <a:lnSpc>
                <a:spcPct val="125000"/>
              </a:lnSpc>
              <a:buNone/>
            </a:pPr>
            <a:r>
              <a:rPr lang="en-US" sz="1250" dirty="0">
                <a:solidFill>
                  <a:srgbClr val="16221F"/>
                </a:solidFill>
                <a:latin typeface="Calibri" pitchFamily="34" charset="0"/>
                <a:ea typeface="Calibri" pitchFamily="34" charset="-122"/>
                <a:cs typeface="Calibri" pitchFamily="34" charset="-120"/>
              </a:rPr>
              <a:t>Built deliberately around a newly appointed Sponsor's slow start — the archetype most exposed to sponsorship visibility risk.</a:t>
            </a:r>
            <a:endParaRPr lang="en-US" sz="1250" dirty="0"/>
          </a:p>
        </p:txBody>
      </p:sp>
      <p:sp>
        <p:nvSpPr>
          <p:cNvPr id="10" name="Shape 8"/>
          <p:cNvSpPr/>
          <p:nvPr/>
        </p:nvSpPr>
        <p:spPr>
          <a:xfrm>
            <a:off x="548640" y="4983480"/>
            <a:ext cx="11064240" cy="1417320"/>
          </a:xfrm>
          <a:prstGeom prst="roundRect">
            <a:avLst>
              <a:gd name="adj" fmla="val 3226"/>
            </a:avLst>
          </a:prstGeom>
          <a:solidFill>
            <a:srgbClr val="FFFFFF"/>
          </a:solidFill>
          <a:ln/>
        </p:spPr>
      </p:sp>
      <p:sp>
        <p:nvSpPr>
          <p:cNvPr id="11" name="Text 9"/>
          <p:cNvSpPr/>
          <p:nvPr/>
        </p:nvSpPr>
        <p:spPr>
          <a:xfrm>
            <a:off x="777240" y="5120640"/>
            <a:ext cx="10607040" cy="274320"/>
          </a:xfrm>
          <a:prstGeom prst="rect">
            <a:avLst/>
          </a:prstGeom>
          <a:noFill/>
          <a:ln/>
        </p:spPr>
        <p:txBody>
          <a:bodyPr wrap="square" rtlCol="0" anchor="ctr"/>
          <a:lstStyle/>
          <a:p>
            <a:pPr indent="0" marL="0">
              <a:buNone/>
            </a:pPr>
            <a:r>
              <a:rPr lang="en-US" sz="1050" b="1" spc="100" kern="0" dirty="0">
                <a:solidFill>
                  <a:srgbClr val="6B4C8A"/>
                </a:solidFill>
                <a:latin typeface="Calibri" pitchFamily="34" charset="0"/>
                <a:ea typeface="Calibri" pitchFamily="34" charset="-122"/>
                <a:cs typeface="Calibri" pitchFamily="34" charset="-120"/>
              </a:rPr>
              <a:t>WHAT THIS GUIDE PROVES, CONCRETELY</a:t>
            </a:r>
            <a:endParaRPr lang="en-US" sz="1050" dirty="0"/>
          </a:p>
        </p:txBody>
      </p:sp>
      <p:sp>
        <p:nvSpPr>
          <p:cNvPr id="12" name="Text 10"/>
          <p:cNvSpPr/>
          <p:nvPr/>
        </p:nvSpPr>
        <p:spPr>
          <a:xfrm>
            <a:off x="777240" y="5422392"/>
            <a:ext cx="10607040" cy="914400"/>
          </a:xfrm>
          <a:prstGeom prst="rect">
            <a:avLst/>
          </a:prstGeom>
          <a:noFill/>
          <a:ln/>
        </p:spPr>
        <p:txBody>
          <a:bodyPr wrap="square" rtlCol="0" anchor="ctr"/>
          <a:lstStyle/>
          <a:p>
            <a:pPr indent="0" marL="0">
              <a:lnSpc>
                <a:spcPct val="120000"/>
              </a:lnSpc>
              <a:buNone/>
            </a:pPr>
            <a:r>
              <a:rPr lang="en-US" sz="1200" i="1" dirty="0">
                <a:solidFill>
                  <a:srgbClr val="16221F"/>
                </a:solidFill>
                <a:latin typeface="Calibri" pitchFamily="34" charset="0"/>
                <a:ea typeface="Calibri" pitchFamily="34" charset="-122"/>
                <a:cs typeface="Calibri" pitchFamily="34" charset="-120"/>
              </a:rPr>
              <a:t>A real Sponsor Coverage Gap that fires and is corrected, a real Desire stall traced to a named fear, and a Refreeze signed only once the evidence — not the acquisition's press-release timeline — supports it.</a:t>
            </a:r>
            <a:endParaRPr lang="en-US" sz="1200" dirty="0"/>
          </a:p>
        </p:txBody>
      </p:sp>
      <p:sp>
        <p:nvSpPr>
          <p:cNvPr id="13" name="Text 11"/>
          <p:cNvSpPr/>
          <p:nvPr/>
        </p:nvSpPr>
        <p:spPr>
          <a:xfrm>
            <a:off x="548640" y="6528816"/>
            <a:ext cx="7315200" cy="274320"/>
          </a:xfrm>
          <a:prstGeom prst="rect">
            <a:avLst/>
          </a:prstGeom>
          <a:noFill/>
          <a:ln/>
        </p:spPr>
        <p:txBody>
          <a:bodyPr wrap="square" rtlCol="0" anchor="ctr"/>
          <a:lstStyle/>
          <a:p>
            <a:pPr algn="l" indent="0" marL="0">
              <a:buNone/>
            </a:pPr>
            <a:r>
              <a:rPr lang="en-US" sz="900" dirty="0">
                <a:solidFill>
                  <a:srgbClr val="CFE3DD"/>
                </a:solidFill>
                <a:latin typeface="Calibri" pitchFamily="34" charset="0"/>
                <a:ea typeface="Calibri" pitchFamily="34" charset="-122"/>
                <a:cs typeface="Calibri" pitchFamily="34" charset="-120"/>
              </a:rPr>
              <a:t>journi — The 8 Transformation Types</a:t>
            </a:r>
            <a:endParaRPr lang="en-US" sz="900" dirty="0"/>
          </a:p>
        </p:txBody>
      </p:sp>
      <p:sp>
        <p:nvSpPr>
          <p:cNvPr id="14" name="Text 12"/>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CFE3DD"/>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2E5F8A"/>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indent="0" marL="0">
              <a:buNone/>
            </a:pPr>
            <a:r>
              <a:rPr lang="en-US" sz="1250" b="1" spc="200" kern="0" dirty="0">
                <a:solidFill>
                  <a:srgbClr val="FFFFFF"/>
                </a:solidFill>
                <a:latin typeface="Calibri" pitchFamily="34" charset="0"/>
                <a:ea typeface="Calibri" pitchFamily="34" charset="-122"/>
                <a:cs typeface="Calibri" pitchFamily="34" charset="-120"/>
              </a:rPr>
              <a:t>TRANSFORMATION TYPE 6 OF 8</a:t>
            </a:r>
            <a:endParaRPr lang="en-US" sz="1250" dirty="0"/>
          </a:p>
        </p:txBody>
      </p:sp>
      <p:sp>
        <p:nvSpPr>
          <p:cNvPr id="3" name="Shape 1"/>
          <p:cNvSpPr/>
          <p:nvPr/>
        </p:nvSpPr>
        <p:spPr>
          <a:xfrm>
            <a:off x="548640" y="868680"/>
            <a:ext cx="868680" cy="868680"/>
          </a:xfrm>
          <a:prstGeom prst="ellipse">
            <a:avLst/>
          </a:prstGeom>
          <a:solidFill>
            <a:srgbClr val="FFFFFF"/>
          </a:solidFill>
          <a:ln/>
        </p:spPr>
      </p:sp>
      <p:pic>
        <p:nvPicPr>
          <p:cNvPr id="4" name="Image 0" descr="/home/user/scm-process-register/docs-src/transformation-types-deck/assets/sitemap.png">    </p:cNvPr>
          <p:cNvPicPr>
            <a:picLocks noChangeAspect="1"/>
          </p:cNvPicPr>
          <p:nvPr/>
        </p:nvPicPr>
        <p:blipFill>
          <a:blip r:embed="rId1"/>
          <a:stretch>
            <a:fillRect/>
          </a:stretch>
        </p:blipFill>
        <p:spPr>
          <a:xfrm>
            <a:off x="731520" y="1051560"/>
            <a:ext cx="502920" cy="502920"/>
          </a:xfrm>
          <a:prstGeom prst="rect">
            <a:avLst/>
          </a:prstGeom>
        </p:spPr>
      </p:pic>
      <p:sp>
        <p:nvSpPr>
          <p:cNvPr id="5" name="Text 2"/>
          <p:cNvSpPr/>
          <p:nvPr/>
        </p:nvSpPr>
        <p:spPr>
          <a:xfrm>
            <a:off x="1691640" y="868680"/>
            <a:ext cx="9144000" cy="86868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Operating Model Redesign</a:t>
            </a:r>
            <a:endParaRPr lang="en-US" sz="3200" dirty="0"/>
          </a:p>
        </p:txBody>
      </p:sp>
      <p:sp>
        <p:nvSpPr>
          <p:cNvPr id="6" name="Text 3"/>
          <p:cNvSpPr/>
          <p:nvPr/>
        </p:nvSpPr>
        <p:spPr>
          <a:xfrm>
            <a:off x="548640" y="1965960"/>
            <a:ext cx="11064240" cy="868680"/>
          </a:xfrm>
          <a:prstGeom prst="rect">
            <a:avLst/>
          </a:prstGeom>
          <a:noFill/>
          <a:ln/>
        </p:spPr>
        <p:txBody>
          <a:bodyPr wrap="square" rtlCol="0" anchor="ctr"/>
          <a:lstStyle/>
          <a:p>
            <a:pPr indent="0" marL="0">
              <a:lnSpc>
                <a:spcPct val="130000"/>
              </a:lnSpc>
              <a:buNone/>
            </a:pPr>
            <a:r>
              <a:rPr lang="en-US" sz="1550" i="1" dirty="0">
                <a:solidFill>
                  <a:srgbClr val="F0F0F0"/>
                </a:solidFill>
                <a:latin typeface="Calibri" pitchFamily="34" charset="0"/>
                <a:ea typeface="Calibri" pitchFamily="34" charset="-122"/>
                <a:cs typeface="Calibri" pitchFamily="34" charset="-120"/>
              </a:rPr>
              <a:t>Realigning reporting lines from site-based to function-based — where the real risk is reversion under pressure, not initial adoption.</a:t>
            </a:r>
            <a:endParaRPr lang="en-US" sz="1550" dirty="0"/>
          </a:p>
        </p:txBody>
      </p:sp>
      <p:sp>
        <p:nvSpPr>
          <p:cNvPr id="7" name="Shape 4"/>
          <p:cNvSpPr/>
          <p:nvPr/>
        </p:nvSpPr>
        <p:spPr>
          <a:xfrm>
            <a:off x="548640" y="3063240"/>
            <a:ext cx="5349240" cy="2651760"/>
          </a:xfrm>
          <a:prstGeom prst="roundRect">
            <a:avLst>
              <a:gd name="adj" fmla="val 1724"/>
            </a:avLst>
          </a:prstGeom>
          <a:solidFill>
            <a:srgbClr val="FFFFFF"/>
          </a:solidFill>
          <a:ln/>
        </p:spPr>
      </p:sp>
      <p:sp>
        <p:nvSpPr>
          <p:cNvPr id="8" name="Text 5"/>
          <p:cNvSpPr/>
          <p:nvPr/>
        </p:nvSpPr>
        <p:spPr>
          <a:xfrm>
            <a:off x="777240" y="3200400"/>
            <a:ext cx="4846320" cy="274320"/>
          </a:xfrm>
          <a:prstGeom prst="rect">
            <a:avLst/>
          </a:prstGeom>
          <a:noFill/>
          <a:ln/>
        </p:spPr>
        <p:txBody>
          <a:bodyPr wrap="square" rtlCol="0" anchor="ctr"/>
          <a:lstStyle/>
          <a:p>
            <a:pPr indent="0" marL="0">
              <a:buNone/>
            </a:pPr>
            <a:r>
              <a:rPr lang="en-US" sz="1050" b="1" spc="100" kern="0" dirty="0">
                <a:solidFill>
                  <a:srgbClr val="2E5F8A"/>
                </a:solidFill>
                <a:latin typeface="Calibri" pitchFamily="34" charset="0"/>
                <a:ea typeface="Calibri" pitchFamily="34" charset="-122"/>
                <a:cs typeface="Calibri" pitchFamily="34" charset="-120"/>
              </a:rPr>
              <a:t>BUSINESS DRIVER</a:t>
            </a:r>
            <a:endParaRPr lang="en-US" sz="1050" dirty="0"/>
          </a:p>
        </p:txBody>
      </p:sp>
      <p:sp>
        <p:nvSpPr>
          <p:cNvPr id="9" name="Text 6"/>
          <p:cNvSpPr/>
          <p:nvPr/>
        </p:nvSpPr>
        <p:spPr>
          <a:xfrm>
            <a:off x="777240" y="3520440"/>
            <a:ext cx="4846320" cy="1097280"/>
          </a:xfrm>
          <a:prstGeom prst="rect">
            <a:avLst/>
          </a:prstGeom>
          <a:noFill/>
          <a:ln/>
        </p:spPr>
        <p:txBody>
          <a:bodyPr wrap="square" rtlCol="0" anchor="ctr"/>
          <a:lstStyle/>
          <a:p>
            <a:pPr indent="0" marL="0">
              <a:lnSpc>
                <a:spcPct val="125000"/>
              </a:lnSpc>
              <a:buNone/>
            </a:pPr>
            <a:r>
              <a:rPr lang="en-US" sz="1200" dirty="0">
                <a:solidFill>
                  <a:srgbClr val="16221F"/>
                </a:solidFill>
                <a:latin typeface="Calibri" pitchFamily="34" charset="0"/>
                <a:ea typeface="Calibri" pitchFamily="34" charset="-122"/>
                <a:cs typeface="Calibri" pitchFamily="34" charset="-120"/>
              </a:rPr>
              <a:t>A prior program (often ERP) exposes how much duplicated decision-making the old structure causes.</a:t>
            </a:r>
            <a:endParaRPr lang="en-US" sz="1200" dirty="0"/>
          </a:p>
        </p:txBody>
      </p:sp>
      <p:sp>
        <p:nvSpPr>
          <p:cNvPr id="10" name="Text 7"/>
          <p:cNvSpPr/>
          <p:nvPr/>
        </p:nvSpPr>
        <p:spPr>
          <a:xfrm>
            <a:off x="777240" y="4709160"/>
            <a:ext cx="4846320" cy="274320"/>
          </a:xfrm>
          <a:prstGeom prst="rect">
            <a:avLst/>
          </a:prstGeom>
          <a:noFill/>
          <a:ln/>
        </p:spPr>
        <p:txBody>
          <a:bodyPr wrap="square" rtlCol="0" anchor="ctr"/>
          <a:lstStyle/>
          <a:p>
            <a:pPr indent="0" marL="0">
              <a:buNone/>
            </a:pPr>
            <a:r>
              <a:rPr lang="en-US" sz="1050" b="1" spc="100" kern="0" dirty="0">
                <a:solidFill>
                  <a:srgbClr val="2E5F8A"/>
                </a:solidFill>
                <a:latin typeface="Calibri" pitchFamily="34" charset="0"/>
                <a:ea typeface="Calibri" pitchFamily="34" charset="-122"/>
                <a:cs typeface="Calibri" pitchFamily="34" charset="-120"/>
              </a:rPr>
              <a:t>TARGET POPULATION PATTERN</a:t>
            </a:r>
            <a:endParaRPr lang="en-US" sz="1050" dirty="0"/>
          </a:p>
        </p:txBody>
      </p:sp>
      <p:sp>
        <p:nvSpPr>
          <p:cNvPr id="11" name="Text 8"/>
          <p:cNvSpPr/>
          <p:nvPr/>
        </p:nvSpPr>
        <p:spPr>
          <a:xfrm>
            <a:off x="777240" y="5029200"/>
            <a:ext cx="4846320" cy="640080"/>
          </a:xfrm>
          <a:prstGeom prst="rect">
            <a:avLst/>
          </a:prstGeom>
          <a:noFill/>
          <a:ln/>
        </p:spPr>
        <p:txBody>
          <a:bodyPr wrap="square" rtlCol="0" anchor="ctr"/>
          <a:lstStyle/>
          <a:p>
            <a:pPr indent="0" marL="0">
              <a:lnSpc>
                <a:spcPct val="120000"/>
              </a:lnSpc>
              <a:buNone/>
            </a:pPr>
            <a:r>
              <a:rPr lang="en-US" sz="1150" dirty="0">
                <a:solidFill>
                  <a:srgbClr val="16221F"/>
                </a:solidFill>
                <a:latin typeface="Calibri" pitchFamily="34" charset="0"/>
                <a:ea typeface="Calibri" pitchFamily="34" charset="-122"/>
                <a:cs typeface="Calibri" pitchFamily="34" charset="-120"/>
              </a:rPr>
              <a:t>People-manager-level staff across every site — narrower in headcount than ERP, but concentrated at the decision-making layer.</a:t>
            </a:r>
            <a:endParaRPr lang="en-US" sz="1150" dirty="0"/>
          </a:p>
        </p:txBody>
      </p:sp>
      <p:sp>
        <p:nvSpPr>
          <p:cNvPr id="12" name="Shape 9"/>
          <p:cNvSpPr/>
          <p:nvPr/>
        </p:nvSpPr>
        <p:spPr>
          <a:xfrm>
            <a:off x="6080760" y="3063240"/>
            <a:ext cx="5532120" cy="2651760"/>
          </a:xfrm>
          <a:prstGeom prst="roundRect">
            <a:avLst>
              <a:gd name="adj" fmla="val 1724"/>
            </a:avLst>
          </a:prstGeom>
          <a:solidFill>
            <a:srgbClr val="FFFFFF"/>
          </a:solidFill>
          <a:ln/>
        </p:spPr>
      </p:sp>
      <p:sp>
        <p:nvSpPr>
          <p:cNvPr id="13" name="Text 10"/>
          <p:cNvSpPr/>
          <p:nvPr/>
        </p:nvSpPr>
        <p:spPr>
          <a:xfrm>
            <a:off x="6309360" y="3200400"/>
            <a:ext cx="5074920" cy="274320"/>
          </a:xfrm>
          <a:prstGeom prst="rect">
            <a:avLst/>
          </a:prstGeom>
          <a:noFill/>
          <a:ln/>
        </p:spPr>
        <p:txBody>
          <a:bodyPr wrap="square" rtlCol="0" anchor="ctr"/>
          <a:lstStyle/>
          <a:p>
            <a:pPr indent="0" marL="0">
              <a:buNone/>
            </a:pPr>
            <a:r>
              <a:rPr lang="en-US" sz="1050" b="1" spc="100" kern="0" dirty="0">
                <a:solidFill>
                  <a:srgbClr val="2E5F8A"/>
                </a:solidFill>
                <a:latin typeface="Calibri" pitchFamily="34" charset="0"/>
                <a:ea typeface="Calibri" pitchFamily="34" charset="-122"/>
                <a:cs typeface="Calibri" pitchFamily="34" charset="-120"/>
              </a:rPr>
              <a:t>PHASE TEMPLATE</a:t>
            </a:r>
            <a:endParaRPr lang="en-US" sz="1050" dirty="0"/>
          </a:p>
        </p:txBody>
      </p:sp>
      <p:sp>
        <p:nvSpPr>
          <p:cNvPr id="14" name="Text 11"/>
          <p:cNvSpPr/>
          <p:nvPr/>
        </p:nvSpPr>
        <p:spPr>
          <a:xfrm>
            <a:off x="6309360" y="3520440"/>
            <a:ext cx="5074920" cy="365760"/>
          </a:xfrm>
          <a:prstGeom prst="rect">
            <a:avLst/>
          </a:prstGeom>
          <a:noFill/>
          <a:ln/>
        </p:spPr>
        <p:txBody>
          <a:bodyPr wrap="square" rtlCol="0" anchor="ctr"/>
          <a:lstStyle/>
          <a:p>
            <a:pPr indent="0" marL="0">
              <a:buNone/>
            </a:pPr>
            <a:r>
              <a:rPr lang="en-US" sz="1300" b="1" dirty="0">
                <a:solidFill>
                  <a:srgbClr val="16221F"/>
                </a:solidFill>
                <a:latin typeface="Calibri" pitchFamily="34" charset="0"/>
                <a:ea typeface="Calibri" pitchFamily="34" charset="-122"/>
                <a:cs typeface="Calibri" pitchFamily="34" charset="-120"/>
              </a:rPr>
              <a:t>TPL-OM-7 — 7 phases</a:t>
            </a:r>
            <a:endParaRPr lang="en-US" sz="1300" dirty="0"/>
          </a:p>
        </p:txBody>
      </p:sp>
      <p:sp>
        <p:nvSpPr>
          <p:cNvPr id="15" name="Text 12"/>
          <p:cNvSpPr/>
          <p:nvPr/>
        </p:nvSpPr>
        <p:spPr>
          <a:xfrm>
            <a:off x="6309360" y="3977640"/>
            <a:ext cx="5074920" cy="274320"/>
          </a:xfrm>
          <a:prstGeom prst="rect">
            <a:avLst/>
          </a:prstGeom>
          <a:noFill/>
          <a:ln/>
        </p:spPr>
        <p:txBody>
          <a:bodyPr wrap="square" rtlCol="0" anchor="ctr"/>
          <a:lstStyle/>
          <a:p>
            <a:pPr indent="0" marL="0">
              <a:buNone/>
            </a:pPr>
            <a:r>
              <a:rPr lang="en-US" sz="1080" dirty="0">
                <a:solidFill>
                  <a:srgbClr val="16221F"/>
                </a:solidFill>
                <a:latin typeface="Calibri" pitchFamily="34" charset="0"/>
                <a:ea typeface="Calibri" pitchFamily="34" charset="-122"/>
                <a:cs typeface="Calibri" pitchFamily="34" charset="-120"/>
              </a:rPr>
              <a:t>1. Current Operating Model Assessment</a:t>
            </a:r>
            <a:endParaRPr lang="en-US" sz="1080" dirty="0"/>
          </a:p>
        </p:txBody>
      </p:sp>
      <p:sp>
        <p:nvSpPr>
          <p:cNvPr id="16" name="Text 13"/>
          <p:cNvSpPr/>
          <p:nvPr/>
        </p:nvSpPr>
        <p:spPr>
          <a:xfrm>
            <a:off x="6309360" y="4270248"/>
            <a:ext cx="5074920" cy="274320"/>
          </a:xfrm>
          <a:prstGeom prst="rect">
            <a:avLst/>
          </a:prstGeom>
          <a:noFill/>
          <a:ln/>
        </p:spPr>
        <p:txBody>
          <a:bodyPr wrap="square" rtlCol="0" anchor="ctr"/>
          <a:lstStyle/>
          <a:p>
            <a:pPr indent="0" marL="0">
              <a:buNone/>
            </a:pPr>
            <a:r>
              <a:rPr lang="en-US" sz="1080" dirty="0">
                <a:solidFill>
                  <a:srgbClr val="16221F"/>
                </a:solidFill>
                <a:latin typeface="Calibri" pitchFamily="34" charset="0"/>
                <a:ea typeface="Calibri" pitchFamily="34" charset="-122"/>
                <a:cs typeface="Calibri" pitchFamily="34" charset="-120"/>
              </a:rPr>
              <a:t>2. TOM Design</a:t>
            </a:r>
            <a:endParaRPr lang="en-US" sz="1080" dirty="0"/>
          </a:p>
        </p:txBody>
      </p:sp>
      <p:sp>
        <p:nvSpPr>
          <p:cNvPr id="17" name="Text 14"/>
          <p:cNvSpPr/>
          <p:nvPr/>
        </p:nvSpPr>
        <p:spPr>
          <a:xfrm>
            <a:off x="6309360" y="4562856"/>
            <a:ext cx="5074920" cy="274320"/>
          </a:xfrm>
          <a:prstGeom prst="rect">
            <a:avLst/>
          </a:prstGeom>
          <a:noFill/>
          <a:ln/>
        </p:spPr>
        <p:txBody>
          <a:bodyPr wrap="square" rtlCol="0" anchor="ctr"/>
          <a:lstStyle/>
          <a:p>
            <a:pPr indent="0" marL="0">
              <a:buNone/>
            </a:pPr>
            <a:r>
              <a:rPr lang="en-US" sz="1080" dirty="0">
                <a:solidFill>
                  <a:srgbClr val="16221F"/>
                </a:solidFill>
                <a:latin typeface="Calibri" pitchFamily="34" charset="0"/>
                <a:ea typeface="Calibri" pitchFamily="34" charset="-122"/>
                <a:cs typeface="Calibri" pitchFamily="34" charset="-120"/>
              </a:rPr>
              <a:t>3. Detailed Org Design</a:t>
            </a:r>
            <a:endParaRPr lang="en-US" sz="1080" dirty="0"/>
          </a:p>
        </p:txBody>
      </p:sp>
      <p:sp>
        <p:nvSpPr>
          <p:cNvPr id="18" name="Text 15"/>
          <p:cNvSpPr/>
          <p:nvPr/>
        </p:nvSpPr>
        <p:spPr>
          <a:xfrm>
            <a:off x="6309360" y="4855464"/>
            <a:ext cx="5074920" cy="274320"/>
          </a:xfrm>
          <a:prstGeom prst="rect">
            <a:avLst/>
          </a:prstGeom>
          <a:noFill/>
          <a:ln/>
        </p:spPr>
        <p:txBody>
          <a:bodyPr wrap="square" rtlCol="0" anchor="ctr"/>
          <a:lstStyle/>
          <a:p>
            <a:pPr indent="0" marL="0">
              <a:buNone/>
            </a:pPr>
            <a:r>
              <a:rPr lang="en-US" sz="1080" dirty="0">
                <a:solidFill>
                  <a:srgbClr val="16221F"/>
                </a:solidFill>
                <a:latin typeface="Calibri" pitchFamily="34" charset="0"/>
                <a:ea typeface="Calibri" pitchFamily="34" charset="-122"/>
                <a:cs typeface="Calibri" pitchFamily="34" charset="-120"/>
              </a:rPr>
              <a:t>4. Pilot Transition</a:t>
            </a:r>
            <a:endParaRPr lang="en-US" sz="1080" dirty="0"/>
          </a:p>
        </p:txBody>
      </p:sp>
      <p:sp>
        <p:nvSpPr>
          <p:cNvPr id="19" name="Text 16"/>
          <p:cNvSpPr/>
          <p:nvPr/>
        </p:nvSpPr>
        <p:spPr>
          <a:xfrm>
            <a:off x="6309360" y="5193792"/>
            <a:ext cx="5074920" cy="274320"/>
          </a:xfrm>
          <a:prstGeom prst="rect">
            <a:avLst/>
          </a:prstGeom>
          <a:noFill/>
          <a:ln/>
        </p:spPr>
        <p:txBody>
          <a:bodyPr wrap="square" rtlCol="0" anchor="ctr"/>
          <a:lstStyle/>
          <a:p>
            <a:pPr indent="0" marL="0">
              <a:buNone/>
            </a:pPr>
            <a:r>
              <a:rPr lang="en-US" sz="1000" i="1" dirty="0">
                <a:solidFill>
                  <a:srgbClr val="5C6D68"/>
                </a:solidFill>
                <a:latin typeface="Calibri" pitchFamily="34" charset="0"/>
                <a:ea typeface="Calibri" pitchFamily="34" charset="-122"/>
                <a:cs typeface="Calibri" pitchFamily="34" charset="-120"/>
              </a:rPr>
              <a:t>… 3 more (next slide)</a:t>
            </a:r>
            <a:endParaRPr lang="en-US" sz="1000" dirty="0"/>
          </a:p>
        </p:txBody>
      </p:sp>
      <p:sp>
        <p:nvSpPr>
          <p:cNvPr id="20" name="Text 17"/>
          <p:cNvSpPr/>
          <p:nvPr/>
        </p:nvSpPr>
        <p:spPr>
          <a:xfrm>
            <a:off x="548640" y="6528816"/>
            <a:ext cx="7315200" cy="274320"/>
          </a:xfrm>
          <a:prstGeom prst="rect">
            <a:avLst/>
          </a:prstGeom>
          <a:noFill/>
          <a:ln/>
        </p:spPr>
        <p:txBody>
          <a:bodyPr wrap="square" rtlCol="0" anchor="ctr"/>
          <a:lstStyle/>
          <a:p>
            <a:pPr algn="l" indent="0" marL="0">
              <a:buNone/>
            </a:pPr>
            <a:r>
              <a:rPr lang="en-US" sz="900" dirty="0">
                <a:solidFill>
                  <a:srgbClr val="CFE3DD"/>
                </a:solidFill>
                <a:latin typeface="Calibri" pitchFamily="34" charset="0"/>
                <a:ea typeface="Calibri" pitchFamily="34" charset="-122"/>
                <a:cs typeface="Calibri" pitchFamily="34" charset="-120"/>
              </a:rPr>
              <a:t>journi — The 8 Transformation Types</a:t>
            </a:r>
            <a:endParaRPr lang="en-US" sz="900" dirty="0"/>
          </a:p>
        </p:txBody>
      </p:sp>
      <p:sp>
        <p:nvSpPr>
          <p:cNvPr id="21" name="Text 18"/>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CFE3DD"/>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OPERATING MODEL · JOURNI PHASE TEMPLATE</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200" b="1" dirty="0">
                <a:solidFill>
                  <a:srgbClr val="2E5F8A"/>
                </a:solidFill>
                <a:latin typeface="Calibri" pitchFamily="34" charset="0"/>
                <a:ea typeface="Calibri" pitchFamily="34" charset="-122"/>
                <a:cs typeface="Calibri" pitchFamily="34" charset="-120"/>
              </a:rPr>
              <a:t>TPL-OM-7: 7 Phases, In Order</a:t>
            </a:r>
            <a:endParaRPr lang="en-US" sz="2200" dirty="0"/>
          </a:p>
        </p:txBody>
      </p:sp>
      <p:sp>
        <p:nvSpPr>
          <p:cNvPr id="4" name="Shape 2"/>
          <p:cNvSpPr/>
          <p:nvPr/>
        </p:nvSpPr>
        <p:spPr>
          <a:xfrm>
            <a:off x="548640" y="2103120"/>
            <a:ext cx="2697480" cy="566928"/>
          </a:xfrm>
          <a:prstGeom prst="chevron">
            <a:avLst/>
          </a:prstGeom>
          <a:solidFill>
            <a:srgbClr val="2E5F8A"/>
          </a:solidFill>
          <a:ln/>
        </p:spPr>
      </p:sp>
      <p:sp>
        <p:nvSpPr>
          <p:cNvPr id="5" name="Text 3"/>
          <p:cNvSpPr/>
          <p:nvPr/>
        </p:nvSpPr>
        <p:spPr>
          <a:xfrm>
            <a:off x="594360" y="2103120"/>
            <a:ext cx="260604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Current Operating Model Assessment</a:t>
            </a:r>
            <a:endParaRPr lang="en-US" sz="950" dirty="0"/>
          </a:p>
        </p:txBody>
      </p:sp>
      <p:sp>
        <p:nvSpPr>
          <p:cNvPr id="6" name="Shape 4"/>
          <p:cNvSpPr/>
          <p:nvPr/>
        </p:nvSpPr>
        <p:spPr>
          <a:xfrm>
            <a:off x="3337560" y="2103120"/>
            <a:ext cx="2697480" cy="566928"/>
          </a:xfrm>
          <a:prstGeom prst="chevron">
            <a:avLst/>
          </a:prstGeom>
          <a:solidFill>
            <a:srgbClr val="2E5F8A"/>
          </a:solidFill>
          <a:ln/>
        </p:spPr>
      </p:sp>
      <p:sp>
        <p:nvSpPr>
          <p:cNvPr id="7" name="Text 5"/>
          <p:cNvSpPr/>
          <p:nvPr/>
        </p:nvSpPr>
        <p:spPr>
          <a:xfrm>
            <a:off x="3383280" y="2103120"/>
            <a:ext cx="260604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TOM Design</a:t>
            </a:r>
            <a:endParaRPr lang="en-US" sz="950" dirty="0"/>
          </a:p>
        </p:txBody>
      </p:sp>
      <p:sp>
        <p:nvSpPr>
          <p:cNvPr id="8" name="Shape 6"/>
          <p:cNvSpPr/>
          <p:nvPr/>
        </p:nvSpPr>
        <p:spPr>
          <a:xfrm>
            <a:off x="6126480" y="2103120"/>
            <a:ext cx="2697480" cy="566928"/>
          </a:xfrm>
          <a:prstGeom prst="chevron">
            <a:avLst/>
          </a:prstGeom>
          <a:solidFill>
            <a:srgbClr val="2E5F8A"/>
          </a:solidFill>
          <a:ln/>
        </p:spPr>
      </p:sp>
      <p:sp>
        <p:nvSpPr>
          <p:cNvPr id="9" name="Text 7"/>
          <p:cNvSpPr/>
          <p:nvPr/>
        </p:nvSpPr>
        <p:spPr>
          <a:xfrm>
            <a:off x="6172200" y="2103120"/>
            <a:ext cx="260604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Detailed Org Design</a:t>
            </a:r>
            <a:endParaRPr lang="en-US" sz="950" dirty="0"/>
          </a:p>
        </p:txBody>
      </p:sp>
      <p:sp>
        <p:nvSpPr>
          <p:cNvPr id="10" name="Shape 8"/>
          <p:cNvSpPr/>
          <p:nvPr/>
        </p:nvSpPr>
        <p:spPr>
          <a:xfrm>
            <a:off x="8915400" y="2103120"/>
            <a:ext cx="2697480" cy="566928"/>
          </a:xfrm>
          <a:prstGeom prst="chevron">
            <a:avLst/>
          </a:prstGeom>
          <a:solidFill>
            <a:srgbClr val="2E5F8A"/>
          </a:solidFill>
          <a:ln/>
        </p:spPr>
      </p:sp>
      <p:sp>
        <p:nvSpPr>
          <p:cNvPr id="11" name="Text 9"/>
          <p:cNvSpPr/>
          <p:nvPr/>
        </p:nvSpPr>
        <p:spPr>
          <a:xfrm>
            <a:off x="8961120" y="2103120"/>
            <a:ext cx="260604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4. Pilot Transition</a:t>
            </a:r>
            <a:endParaRPr lang="en-US" sz="950" dirty="0"/>
          </a:p>
        </p:txBody>
      </p:sp>
      <p:sp>
        <p:nvSpPr>
          <p:cNvPr id="12" name="Shape 10"/>
          <p:cNvSpPr/>
          <p:nvPr/>
        </p:nvSpPr>
        <p:spPr>
          <a:xfrm>
            <a:off x="548640" y="2798064"/>
            <a:ext cx="3627120" cy="566928"/>
          </a:xfrm>
          <a:prstGeom prst="chevron">
            <a:avLst/>
          </a:prstGeom>
          <a:solidFill>
            <a:srgbClr val="2E5F8A"/>
          </a:solidFill>
          <a:ln/>
        </p:spPr>
      </p:sp>
      <p:sp>
        <p:nvSpPr>
          <p:cNvPr id="13" name="Text 11"/>
          <p:cNvSpPr/>
          <p:nvPr/>
        </p:nvSpPr>
        <p:spPr>
          <a:xfrm>
            <a:off x="594360" y="2798064"/>
            <a:ext cx="353568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5. Full Transition</a:t>
            </a:r>
            <a:endParaRPr lang="en-US" sz="950" dirty="0"/>
          </a:p>
        </p:txBody>
      </p:sp>
      <p:sp>
        <p:nvSpPr>
          <p:cNvPr id="14" name="Shape 12"/>
          <p:cNvSpPr/>
          <p:nvPr/>
        </p:nvSpPr>
        <p:spPr>
          <a:xfrm>
            <a:off x="4267200" y="2798064"/>
            <a:ext cx="3627120" cy="566928"/>
          </a:xfrm>
          <a:prstGeom prst="chevron">
            <a:avLst/>
          </a:prstGeom>
          <a:solidFill>
            <a:srgbClr val="2E5F8A"/>
          </a:solidFill>
          <a:ln/>
        </p:spPr>
      </p:sp>
      <p:sp>
        <p:nvSpPr>
          <p:cNvPr id="15" name="Text 13"/>
          <p:cNvSpPr/>
          <p:nvPr/>
        </p:nvSpPr>
        <p:spPr>
          <a:xfrm>
            <a:off x="4312920" y="2798064"/>
            <a:ext cx="353568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6. Governance Adoption Tracking</a:t>
            </a:r>
            <a:endParaRPr lang="en-US" sz="950" dirty="0"/>
          </a:p>
        </p:txBody>
      </p:sp>
      <p:sp>
        <p:nvSpPr>
          <p:cNvPr id="16" name="Shape 14"/>
          <p:cNvSpPr/>
          <p:nvPr/>
        </p:nvSpPr>
        <p:spPr>
          <a:xfrm>
            <a:off x="7985760" y="2798064"/>
            <a:ext cx="3627120" cy="566928"/>
          </a:xfrm>
          <a:prstGeom prst="chevron">
            <a:avLst/>
          </a:prstGeom>
          <a:solidFill>
            <a:srgbClr val="2E5F8A"/>
          </a:solidFill>
          <a:ln/>
        </p:spPr>
      </p:sp>
      <p:sp>
        <p:nvSpPr>
          <p:cNvPr id="17" name="Text 15"/>
          <p:cNvSpPr/>
          <p:nvPr/>
        </p:nvSpPr>
        <p:spPr>
          <a:xfrm>
            <a:off x="8031480" y="2798064"/>
            <a:ext cx="353568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7. Standing Rhythm Handover</a:t>
            </a:r>
            <a:endParaRPr lang="en-US" sz="950" dirty="0"/>
          </a:p>
        </p:txBody>
      </p:sp>
      <p:sp>
        <p:nvSpPr>
          <p:cNvPr id="18" name="Text 16"/>
          <p:cNvSpPr/>
          <p:nvPr/>
        </p:nvSpPr>
        <p:spPr>
          <a:xfrm>
            <a:off x="548640" y="3950208"/>
            <a:ext cx="11064240" cy="2194560"/>
          </a:xfrm>
          <a:prstGeom prst="rect">
            <a:avLst/>
          </a:prstGeom>
          <a:noFill/>
          <a:ln/>
        </p:spPr>
        <p:txBody>
          <a:bodyPr wrap="square" rtlCol="0" anchor="ctr"/>
          <a:lstStyle/>
          <a:p>
            <a:pPr indent="0" marL="0">
              <a:lnSpc>
                <a:spcPct val="130000"/>
              </a:lnSpc>
              <a:buNone/>
            </a:pPr>
            <a:r>
              <a:rPr lang="en-US" sz="1300" dirty="0">
                <a:solidFill>
                  <a:srgbClr val="16221F"/>
                </a:solidFill>
                <a:latin typeface="Calibri" pitchFamily="34" charset="0"/>
                <a:ea typeface="Calibri" pitchFamily="34" charset="-122"/>
                <a:cs typeface="Calibri" pitchFamily="34" charset="-120"/>
              </a:rPr>
              <a:t>ADKAR Reinforcement dominates. Function Heads can pass every earlier checkpoint and still revert to old decision-making under real operational pressure — this archetype is built specifically to show that failure mode, not initial adoption, is the real test.</a:t>
            </a:r>
            <a:endParaRPr lang="en-US" sz="1300" dirty="0"/>
          </a:p>
        </p:txBody>
      </p:sp>
      <p:sp>
        <p:nvSpPr>
          <p:cNvPr id="19" name="Text 17"/>
          <p:cNvSpPr/>
          <p:nvPr/>
        </p:nvSpPr>
        <p:spPr>
          <a:xfrm>
            <a:off x="548640" y="3630168"/>
            <a:ext cx="11064240" cy="274320"/>
          </a:xfrm>
          <a:prstGeom prst="rect">
            <a:avLst/>
          </a:prstGeom>
          <a:noFill/>
          <a:ln/>
        </p:spPr>
        <p:txBody>
          <a:bodyPr wrap="square" rtlCol="0" anchor="ctr"/>
          <a:lstStyle/>
          <a:p>
            <a:pPr indent="0" marL="0">
              <a:buNone/>
            </a:pPr>
            <a:r>
              <a:rPr lang="en-US" sz="1050" b="1" spc="100" kern="0" dirty="0">
                <a:solidFill>
                  <a:srgbClr val="C2661C"/>
                </a:solidFill>
                <a:latin typeface="Calibri" pitchFamily="34" charset="0"/>
                <a:ea typeface="Calibri" pitchFamily="34" charset="-122"/>
                <a:cs typeface="Calibri" pitchFamily="34" charset="-120"/>
              </a:rPr>
              <a:t>FRAMEWORK WEIGHTING FOR THIS ARCHETYPE</a:t>
            </a:r>
            <a:endParaRPr lang="en-US" sz="1050" dirty="0"/>
          </a:p>
        </p:txBody>
      </p:sp>
      <p:sp>
        <p:nvSpPr>
          <p:cNvPr id="20" name="Text 18"/>
          <p:cNvSpPr/>
          <p:nvPr/>
        </p:nvSpPr>
        <p:spPr>
          <a:xfrm>
            <a:off x="548640" y="6528816"/>
            <a:ext cx="73152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The 8 Transformation Types</a:t>
            </a:r>
            <a:endParaRPr lang="en-US" sz="900" dirty="0"/>
          </a:p>
        </p:txBody>
      </p:sp>
      <p:sp>
        <p:nvSpPr>
          <p:cNvPr id="21" name="Text 19"/>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OPERATING MODEL · TENANT SETUP</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500" b="1" dirty="0">
                <a:solidFill>
                  <a:srgbClr val="2E5F8A"/>
                </a:solidFill>
                <a:latin typeface="Calibri" pitchFamily="34" charset="0"/>
                <a:ea typeface="Calibri" pitchFamily="34" charset="-122"/>
                <a:cs typeface="Calibri" pitchFamily="34" charset="-120"/>
              </a:rPr>
              <a:t>The RACSI Team for This Case</a:t>
            </a:r>
            <a:endParaRPr lang="en-US" sz="2500" dirty="0"/>
          </a:p>
        </p:txBody>
      </p:sp>
      <p:sp>
        <p:nvSpPr>
          <p:cNvPr id="4" name="Text 2"/>
          <p:cNvSpPr/>
          <p:nvPr/>
        </p:nvSpPr>
        <p:spPr>
          <a:xfrm>
            <a:off x="548640" y="1417320"/>
            <a:ext cx="11064240" cy="457200"/>
          </a:xfrm>
          <a:prstGeom prst="rect">
            <a:avLst/>
          </a:prstGeom>
          <a:noFill/>
          <a:ln/>
        </p:spPr>
        <p:txBody>
          <a:bodyPr wrap="square" rtlCol="0" anchor="t"/>
          <a:lstStyle/>
          <a:p>
            <a:pPr indent="0" marL="0">
              <a:lnSpc>
                <a:spcPct val="115000"/>
              </a:lnSpc>
              <a:buNone/>
            </a:pPr>
            <a:r>
              <a:rPr lang="en-US" sz="1200" dirty="0">
                <a:solidFill>
                  <a:srgbClr val="5C6D68"/>
                </a:solidFill>
                <a:latin typeface="Calibri" pitchFamily="34" charset="0"/>
                <a:ea typeface="Calibri" pitchFamily="34" charset="-122"/>
                <a:cs typeface="Calibri" pitchFamily="34" charset="-120"/>
              </a:rPr>
              <a:t>journi's 7-code RACSI role taxonomy (ES/CM/PM/FPO/ITL/SUP/EU), assigned to real, named accounts for this program.</a:t>
            </a:r>
            <a:endParaRPr lang="en-US" sz="12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11064240" cy="914400"/>
        </p:xfrm>
        <a:graphic>
          <a:graphicData uri="http://schemas.openxmlformats.org/drawingml/2006/table">
            <a:tbl>
              <a:tblPr/>
              <a:tblGrid>
                <a:gridCol w="3108960"/>
                <a:gridCol w="1645920"/>
                <a:gridCol w="6309360"/>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Name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2E5F8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RACSI Code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2E5F8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Role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2E5F8A"/>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Yassine Berrada</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ES</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Sponsor — COO</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Salma Idrissi</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CM</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Change Manager</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Rachid Alaoui</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PM</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Program Manager</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Amina Sqalli</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FPO</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Finance Function Head</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Nabil Ouazzani</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ITL</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IT/Technical Lead</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Loubna Tazi</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SUP</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Casablanca pilot site</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bl>
          </a:graphicData>
        </a:graphic>
      </p:graphicFrame>
      <p:sp>
        <p:nvSpPr>
          <p:cNvPr id="6" name="Text 3"/>
          <p:cNvSpPr/>
          <p:nvPr/>
        </p:nvSpPr>
        <p:spPr>
          <a:xfrm>
            <a:off x="548640" y="6528816"/>
            <a:ext cx="73152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The 8 Transformation Types</a:t>
            </a:r>
            <a:endParaRPr lang="en-US" sz="900" dirty="0"/>
          </a:p>
        </p:txBody>
      </p:sp>
      <p:sp>
        <p:nvSpPr>
          <p:cNvPr id="7" name="Text 4"/>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OPERATING MODEL · JOURNI MODULES</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400" b="1" dirty="0">
                <a:solidFill>
                  <a:srgbClr val="2E5F8A"/>
                </a:solidFill>
                <a:latin typeface="Calibri" pitchFamily="34" charset="0"/>
                <a:ea typeface="Calibri" pitchFamily="34" charset="-122"/>
                <a:cs typeface="Calibri" pitchFamily="34" charset="-120"/>
              </a:rPr>
              <a:t>Which modules dominate this archetype</a:t>
            </a:r>
            <a:endParaRPr lang="en-US" sz="2400" dirty="0"/>
          </a:p>
        </p:txBody>
      </p:sp>
      <p:sp>
        <p:nvSpPr>
          <p:cNvPr id="4" name="Shape 2"/>
          <p:cNvSpPr/>
          <p:nvPr/>
        </p:nvSpPr>
        <p:spPr>
          <a:xfrm>
            <a:off x="548640" y="2057400"/>
            <a:ext cx="11064240" cy="932688"/>
          </a:xfrm>
          <a:prstGeom prst="roundRect">
            <a:avLst>
              <a:gd name="adj" fmla="val 4902"/>
            </a:avLst>
          </a:prstGeom>
          <a:solidFill>
            <a:srgbClr val="EAF2EF"/>
          </a:solidFill>
          <a:ln/>
        </p:spPr>
      </p:sp>
      <p:sp>
        <p:nvSpPr>
          <p:cNvPr id="5" name="Text 3"/>
          <p:cNvSpPr/>
          <p:nvPr/>
        </p:nvSpPr>
        <p:spPr>
          <a:xfrm>
            <a:off x="777240" y="2167128"/>
            <a:ext cx="3200400" cy="713232"/>
          </a:xfrm>
          <a:prstGeom prst="rect">
            <a:avLst/>
          </a:prstGeom>
          <a:noFill/>
          <a:ln/>
        </p:spPr>
        <p:txBody>
          <a:bodyPr wrap="square" rtlCol="0" anchor="ctr"/>
          <a:lstStyle/>
          <a:p>
            <a:pPr indent="0" marL="0">
              <a:lnSpc>
                <a:spcPct val="110000"/>
              </a:lnSpc>
              <a:buNone/>
            </a:pPr>
            <a:r>
              <a:rPr lang="en-US" sz="1300" b="1" dirty="0">
                <a:solidFill>
                  <a:srgbClr val="2E5F8A"/>
                </a:solidFill>
                <a:latin typeface="Calibri" pitchFamily="34" charset="0"/>
                <a:ea typeface="Calibri" pitchFamily="34" charset="-122"/>
                <a:cs typeface="Calibri" pitchFamily="34" charset="-120"/>
              </a:rPr>
              <a:t>M12 (Sustainment)</a:t>
            </a:r>
            <a:endParaRPr lang="en-US" sz="1300" dirty="0"/>
          </a:p>
        </p:txBody>
      </p:sp>
      <p:sp>
        <p:nvSpPr>
          <p:cNvPr id="6" name="Text 4"/>
          <p:cNvSpPr/>
          <p:nvPr/>
        </p:nvSpPr>
        <p:spPr>
          <a:xfrm>
            <a:off x="4069080" y="2167128"/>
            <a:ext cx="7360920" cy="713232"/>
          </a:xfrm>
          <a:prstGeom prst="rect">
            <a:avLst/>
          </a:prstGeom>
          <a:noFill/>
          <a:ln/>
        </p:spPr>
        <p:txBody>
          <a:bodyPr wrap="square" rtlCol="0" anchor="ctr"/>
          <a:lstStyle/>
          <a:p>
            <a:pPr indent="0" marL="0">
              <a:lnSpc>
                <a:spcPct val="120000"/>
              </a:lnSpc>
              <a:buNone/>
            </a:pPr>
            <a:r>
              <a:rPr lang="en-US" sz="1180" dirty="0">
                <a:solidFill>
                  <a:srgbClr val="16221F"/>
                </a:solidFill>
                <a:latin typeface="Calibri" pitchFamily="34" charset="0"/>
                <a:ea typeface="Calibri" pitchFamily="34" charset="-122"/>
                <a:cs typeface="Calibri" pitchFamily="34" charset="-120"/>
              </a:rPr>
              <a:t>The 30-day post-transition checkpoint — where a High regression risk fires ALT-002.</a:t>
            </a:r>
            <a:endParaRPr lang="en-US" sz="1180" dirty="0"/>
          </a:p>
        </p:txBody>
      </p:sp>
      <p:sp>
        <p:nvSpPr>
          <p:cNvPr id="7" name="Shape 5"/>
          <p:cNvSpPr/>
          <p:nvPr/>
        </p:nvSpPr>
        <p:spPr>
          <a:xfrm>
            <a:off x="548640" y="3099816"/>
            <a:ext cx="11064240" cy="932688"/>
          </a:xfrm>
          <a:prstGeom prst="roundRect">
            <a:avLst>
              <a:gd name="adj" fmla="val 4902"/>
            </a:avLst>
          </a:prstGeom>
          <a:solidFill>
            <a:srgbClr val="EAF2EF"/>
          </a:solidFill>
          <a:ln/>
        </p:spPr>
      </p:sp>
      <p:sp>
        <p:nvSpPr>
          <p:cNvPr id="8" name="Text 6"/>
          <p:cNvSpPr/>
          <p:nvPr/>
        </p:nvSpPr>
        <p:spPr>
          <a:xfrm>
            <a:off x="777240" y="3209544"/>
            <a:ext cx="3200400" cy="713232"/>
          </a:xfrm>
          <a:prstGeom prst="rect">
            <a:avLst/>
          </a:prstGeom>
          <a:noFill/>
          <a:ln/>
        </p:spPr>
        <p:txBody>
          <a:bodyPr wrap="square" rtlCol="0" anchor="ctr"/>
          <a:lstStyle/>
          <a:p>
            <a:pPr indent="0" marL="0">
              <a:lnSpc>
                <a:spcPct val="110000"/>
              </a:lnSpc>
              <a:buNone/>
            </a:pPr>
            <a:r>
              <a:rPr lang="en-US" sz="1300" b="1" dirty="0">
                <a:solidFill>
                  <a:srgbClr val="2E5F8A"/>
                </a:solidFill>
                <a:latin typeface="Calibri" pitchFamily="34" charset="0"/>
                <a:ea typeface="Calibri" pitchFamily="34" charset="-122"/>
                <a:cs typeface="Calibri" pitchFamily="34" charset="-120"/>
              </a:rPr>
              <a:t>M5 (ADKAR Engine)</a:t>
            </a:r>
            <a:endParaRPr lang="en-US" sz="1300" dirty="0"/>
          </a:p>
        </p:txBody>
      </p:sp>
      <p:sp>
        <p:nvSpPr>
          <p:cNvPr id="9" name="Text 7"/>
          <p:cNvSpPr/>
          <p:nvPr/>
        </p:nvSpPr>
        <p:spPr>
          <a:xfrm>
            <a:off x="4069080" y="3209544"/>
            <a:ext cx="7360920" cy="713232"/>
          </a:xfrm>
          <a:prstGeom prst="rect">
            <a:avLst/>
          </a:prstGeom>
          <a:noFill/>
          <a:ln/>
        </p:spPr>
        <p:txBody>
          <a:bodyPr wrap="square" rtlCol="0" anchor="ctr"/>
          <a:lstStyle/>
          <a:p>
            <a:pPr indent="0" marL="0">
              <a:lnSpc>
                <a:spcPct val="120000"/>
              </a:lnSpc>
              <a:buNone/>
            </a:pPr>
            <a:r>
              <a:rPr lang="en-US" sz="1180" dirty="0">
                <a:solidFill>
                  <a:srgbClr val="16221F"/>
                </a:solidFill>
                <a:latin typeface="Calibri" pitchFamily="34" charset="0"/>
                <a:ea typeface="Calibri" pitchFamily="34" charset="-122"/>
                <a:cs typeface="Calibri" pitchFamily="34" charset="-120"/>
              </a:rPr>
              <a:t>Reinforcement tracked separately from Ability, since this archetype is where the two diverge.</a:t>
            </a:r>
            <a:endParaRPr lang="en-US" sz="1180" dirty="0"/>
          </a:p>
        </p:txBody>
      </p:sp>
      <p:sp>
        <p:nvSpPr>
          <p:cNvPr id="10" name="Shape 8"/>
          <p:cNvSpPr/>
          <p:nvPr/>
        </p:nvSpPr>
        <p:spPr>
          <a:xfrm>
            <a:off x="548640" y="4142232"/>
            <a:ext cx="11064240" cy="932688"/>
          </a:xfrm>
          <a:prstGeom prst="roundRect">
            <a:avLst>
              <a:gd name="adj" fmla="val 4902"/>
            </a:avLst>
          </a:prstGeom>
          <a:solidFill>
            <a:srgbClr val="EAF2EF"/>
          </a:solidFill>
          <a:ln/>
        </p:spPr>
      </p:sp>
      <p:sp>
        <p:nvSpPr>
          <p:cNvPr id="11" name="Text 9"/>
          <p:cNvSpPr/>
          <p:nvPr/>
        </p:nvSpPr>
        <p:spPr>
          <a:xfrm>
            <a:off x="777240" y="4251960"/>
            <a:ext cx="3200400" cy="713232"/>
          </a:xfrm>
          <a:prstGeom prst="rect">
            <a:avLst/>
          </a:prstGeom>
          <a:noFill/>
          <a:ln/>
        </p:spPr>
        <p:txBody>
          <a:bodyPr wrap="square" rtlCol="0" anchor="ctr"/>
          <a:lstStyle/>
          <a:p>
            <a:pPr indent="0" marL="0">
              <a:lnSpc>
                <a:spcPct val="110000"/>
              </a:lnSpc>
              <a:buNone/>
            </a:pPr>
            <a:r>
              <a:rPr lang="en-US" sz="1300" b="1" dirty="0">
                <a:solidFill>
                  <a:srgbClr val="2E5F8A"/>
                </a:solidFill>
                <a:latin typeface="Calibri" pitchFamily="34" charset="0"/>
                <a:ea typeface="Calibri" pitchFamily="34" charset="-122"/>
                <a:cs typeface="Calibri" pitchFamily="34" charset="-120"/>
              </a:rPr>
              <a:t>M17 (WBS &amp; Gantt)</a:t>
            </a:r>
            <a:endParaRPr lang="en-US" sz="1300" dirty="0"/>
          </a:p>
        </p:txBody>
      </p:sp>
      <p:sp>
        <p:nvSpPr>
          <p:cNvPr id="12" name="Text 10"/>
          <p:cNvSpPr/>
          <p:nvPr/>
        </p:nvSpPr>
        <p:spPr>
          <a:xfrm>
            <a:off x="4069080" y="4251960"/>
            <a:ext cx="7360920" cy="713232"/>
          </a:xfrm>
          <a:prstGeom prst="rect">
            <a:avLst/>
          </a:prstGeom>
          <a:noFill/>
          <a:ln/>
        </p:spPr>
        <p:txBody>
          <a:bodyPr wrap="square" rtlCol="0" anchor="ctr"/>
          <a:lstStyle/>
          <a:p>
            <a:pPr indent="0" marL="0">
              <a:lnSpc>
                <a:spcPct val="120000"/>
              </a:lnSpc>
              <a:buNone/>
            </a:pPr>
            <a:r>
              <a:rPr lang="en-US" sz="1180" dirty="0">
                <a:solidFill>
                  <a:srgbClr val="16221F"/>
                </a:solidFill>
                <a:latin typeface="Calibri" pitchFamily="34" charset="0"/>
                <a:ea typeface="Calibri" pitchFamily="34" charset="-122"/>
                <a:cs typeface="Calibri" pitchFamily="34" charset="-120"/>
              </a:rPr>
              <a:t>The TPL-OM-7 template — Pilot Transition de-risks Full Transition, one site at a time.</a:t>
            </a:r>
            <a:endParaRPr lang="en-US" sz="1180" dirty="0"/>
          </a:p>
        </p:txBody>
      </p:sp>
      <p:sp>
        <p:nvSpPr>
          <p:cNvPr id="13" name="Shape 11"/>
          <p:cNvSpPr/>
          <p:nvPr/>
        </p:nvSpPr>
        <p:spPr>
          <a:xfrm>
            <a:off x="548640" y="5184648"/>
            <a:ext cx="11064240" cy="932688"/>
          </a:xfrm>
          <a:prstGeom prst="roundRect">
            <a:avLst>
              <a:gd name="adj" fmla="val 4902"/>
            </a:avLst>
          </a:prstGeom>
          <a:solidFill>
            <a:srgbClr val="EAF2EF"/>
          </a:solidFill>
          <a:ln/>
        </p:spPr>
      </p:sp>
      <p:sp>
        <p:nvSpPr>
          <p:cNvPr id="14" name="Text 12"/>
          <p:cNvSpPr/>
          <p:nvPr/>
        </p:nvSpPr>
        <p:spPr>
          <a:xfrm>
            <a:off x="777240" y="5294376"/>
            <a:ext cx="3200400" cy="713232"/>
          </a:xfrm>
          <a:prstGeom prst="rect">
            <a:avLst/>
          </a:prstGeom>
          <a:noFill/>
          <a:ln/>
        </p:spPr>
        <p:txBody>
          <a:bodyPr wrap="square" rtlCol="0" anchor="ctr"/>
          <a:lstStyle/>
          <a:p>
            <a:pPr indent="0" marL="0">
              <a:lnSpc>
                <a:spcPct val="110000"/>
              </a:lnSpc>
              <a:buNone/>
            </a:pPr>
            <a:r>
              <a:rPr lang="en-US" sz="1300" b="1" dirty="0">
                <a:solidFill>
                  <a:srgbClr val="2E5F8A"/>
                </a:solidFill>
                <a:latin typeface="Calibri" pitchFamily="34" charset="0"/>
                <a:ea typeface="Calibri" pitchFamily="34" charset="-122"/>
                <a:cs typeface="Calibri" pitchFamily="34" charset="-120"/>
              </a:rPr>
              <a:t>M6 (Emotional &amp; Transition Layer)</a:t>
            </a:r>
            <a:endParaRPr lang="en-US" sz="1300" dirty="0"/>
          </a:p>
        </p:txBody>
      </p:sp>
      <p:sp>
        <p:nvSpPr>
          <p:cNvPr id="15" name="Text 13"/>
          <p:cNvSpPr/>
          <p:nvPr/>
        </p:nvSpPr>
        <p:spPr>
          <a:xfrm>
            <a:off x="4069080" y="5294376"/>
            <a:ext cx="7360920" cy="713232"/>
          </a:xfrm>
          <a:prstGeom prst="rect">
            <a:avLst/>
          </a:prstGeom>
          <a:noFill/>
          <a:ln/>
        </p:spPr>
        <p:txBody>
          <a:bodyPr wrap="square" rtlCol="0" anchor="ctr"/>
          <a:lstStyle/>
          <a:p>
            <a:pPr indent="0" marL="0">
              <a:lnSpc>
                <a:spcPct val="120000"/>
              </a:lnSpc>
              <a:buNone/>
            </a:pPr>
            <a:r>
              <a:rPr lang="en-US" sz="1180" dirty="0">
                <a:solidFill>
                  <a:srgbClr val="16221F"/>
                </a:solidFill>
                <a:latin typeface="Calibri" pitchFamily="34" charset="0"/>
                <a:ea typeface="Calibri" pitchFamily="34" charset="-122"/>
                <a:cs typeface="Calibri" pitchFamily="34" charset="-120"/>
              </a:rPr>
              <a:t>A premature "New Beginning" reading is exactly what a regression later contradicts.</a:t>
            </a:r>
            <a:endParaRPr lang="en-US" sz="1180" dirty="0"/>
          </a:p>
        </p:txBody>
      </p:sp>
      <p:sp>
        <p:nvSpPr>
          <p:cNvPr id="16" name="Text 14"/>
          <p:cNvSpPr/>
          <p:nvPr/>
        </p:nvSpPr>
        <p:spPr>
          <a:xfrm>
            <a:off x="548640" y="6528816"/>
            <a:ext cx="73152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The 8 Transformation Types</a:t>
            </a:r>
            <a:endParaRPr lang="en-US" sz="900" dirty="0"/>
          </a:p>
        </p:txBody>
      </p:sp>
      <p:sp>
        <p:nvSpPr>
          <p:cNvPr id="17" name="Text 15"/>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OPERATING MODEL · REAL SCENARIO</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100" b="1" dirty="0">
                <a:solidFill>
                  <a:srgbClr val="2E5F8A"/>
                </a:solidFill>
                <a:latin typeface="Calibri" pitchFamily="34" charset="0"/>
                <a:ea typeface="Calibri" pitchFamily="34" charset="-122"/>
                <a:cs typeface="Calibri" pitchFamily="34" charset="-120"/>
              </a:rPr>
              <a:t>Regional Operating Model Redesign</a:t>
            </a:r>
            <a:endParaRPr lang="en-US" sz="2100" dirty="0"/>
          </a:p>
        </p:txBody>
      </p:sp>
      <p:sp>
        <p:nvSpPr>
          <p:cNvPr id="4" name="Text 2"/>
          <p:cNvSpPr/>
          <p:nvPr/>
        </p:nvSpPr>
        <p:spPr>
          <a:xfrm>
            <a:off x="548640" y="1417320"/>
            <a:ext cx="11064240" cy="457200"/>
          </a:xfrm>
          <a:prstGeom prst="rect">
            <a:avLst/>
          </a:prstGeom>
          <a:noFill/>
          <a:ln/>
        </p:spPr>
        <p:txBody>
          <a:bodyPr wrap="square" rtlCol="0" anchor="t"/>
          <a:lstStyle/>
          <a:p>
            <a:pPr indent="0" marL="0">
              <a:lnSpc>
                <a:spcPct val="115000"/>
              </a:lnSpc>
              <a:buNone/>
            </a:pPr>
            <a:r>
              <a:rPr lang="en-US" sz="1200" dirty="0">
                <a:solidFill>
                  <a:srgbClr val="5C6D68"/>
                </a:solidFill>
                <a:latin typeface="Calibri" pitchFamily="34" charset="0"/>
                <a:ea typeface="Calibri" pitchFamily="34" charset="-122"/>
                <a:cs typeface="Calibri" pitchFamily="34" charset="-120"/>
              </a:rPr>
              <a:t>95 staff, people managers across 3 sites  ·  34 weeks (guide numbering)</a:t>
            </a:r>
            <a:endParaRPr lang="en-US" sz="12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11064240" cy="914400"/>
        </p:xfrm>
        <a:graphic>
          <a:graphicData uri="http://schemas.openxmlformats.org/drawingml/2006/table">
            <a:tbl>
              <a:tblPr/>
              <a:tblGrid>
                <a:gridCol w="1463040"/>
                <a:gridCol w="9601200"/>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Week</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2E5F8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Milestone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2E5F8A"/>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Wk 1</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Current operating model assessment opens, once the ERP Build phase exposes duplication.</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Wk 8</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Target operating model design.</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Wk 14</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Detailed org design.</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Wk 18</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Pilot transition — Casablanca Finance first.</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Wk 22 / 26</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Full transition; the 30-day checkpoint lands High regression risk, firing ALT-002/ALT-015.</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Wk 34</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Governance adoption tracking and standing rhythm handover, resolved only once a clean checkpoint follows.</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bl>
          </a:graphicData>
        </a:graphic>
      </p:graphicFrame>
      <p:sp>
        <p:nvSpPr>
          <p:cNvPr id="6" name="Text 3"/>
          <p:cNvSpPr/>
          <p:nvPr/>
        </p:nvSpPr>
        <p:spPr>
          <a:xfrm>
            <a:off x="548640" y="6528816"/>
            <a:ext cx="73152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The 8 Transformation Types</a:t>
            </a:r>
            <a:endParaRPr lang="en-US" sz="900" dirty="0"/>
          </a:p>
        </p:txBody>
      </p:sp>
      <p:sp>
        <p:nvSpPr>
          <p:cNvPr id="7" name="Text 4"/>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2E5F8A"/>
        </a:solidFill>
      </p:bgPr>
    </p:bg>
    <p:spTree>
      <p:nvGrpSpPr>
        <p:cNvPr id="1" name=""/>
        <p:cNvGrpSpPr/>
        <p:nvPr/>
      </p:nvGrpSpPr>
      <p:grpSpPr>
        <a:xfrm>
          <a:off x="0" y="0"/>
          <a:ext cx="0" cy="0"/>
          <a:chOff x="0" y="0"/>
          <a:chExt cx="0" cy="0"/>
        </a:xfrm>
      </p:grpSpPr>
      <p:sp>
        <p:nvSpPr>
          <p:cNvPr id="2" name="Text 0"/>
          <p:cNvSpPr/>
          <p:nvPr/>
        </p:nvSpPr>
        <p:spPr>
          <a:xfrm>
            <a:off x="548640" y="457200"/>
            <a:ext cx="10058400" cy="320040"/>
          </a:xfrm>
          <a:prstGeom prst="rect">
            <a:avLst/>
          </a:prstGeom>
          <a:noFill/>
          <a:ln/>
        </p:spPr>
        <p:txBody>
          <a:bodyPr wrap="square" rtlCol="0" anchor="ctr"/>
          <a:lstStyle/>
          <a:p>
            <a:pPr indent="0" marL="0">
              <a:buNone/>
            </a:pPr>
            <a:r>
              <a:rPr lang="en-US" sz="1250" b="1" spc="200" kern="0" dirty="0">
                <a:solidFill>
                  <a:srgbClr val="FFFFFF"/>
                </a:solidFill>
                <a:latin typeface="Calibri" pitchFamily="34" charset="0"/>
                <a:ea typeface="Calibri" pitchFamily="34" charset="-122"/>
                <a:cs typeface="Calibri" pitchFamily="34" charset="-120"/>
              </a:rPr>
              <a:t>OPERATING MODEL · ALERTS &amp; PROOF</a:t>
            </a:r>
            <a:endParaRPr lang="en-US" sz="1250" dirty="0"/>
          </a:p>
        </p:txBody>
      </p:sp>
      <p:sp>
        <p:nvSpPr>
          <p:cNvPr id="3" name="Text 1"/>
          <p:cNvSpPr/>
          <p:nvPr/>
        </p:nvSpPr>
        <p:spPr>
          <a:xfrm>
            <a:off x="548640" y="804672"/>
            <a:ext cx="10972800" cy="6858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What This Case Fires</a:t>
            </a:r>
            <a:endParaRPr lang="en-US" sz="2600" dirty="0"/>
          </a:p>
        </p:txBody>
      </p:sp>
      <p:sp>
        <p:nvSpPr>
          <p:cNvPr id="4" name="Shape 2"/>
          <p:cNvSpPr/>
          <p:nvPr/>
        </p:nvSpPr>
        <p:spPr>
          <a:xfrm>
            <a:off x="548640" y="1737360"/>
            <a:ext cx="11064240" cy="1463040"/>
          </a:xfrm>
          <a:prstGeom prst="roundRect">
            <a:avLst>
              <a:gd name="adj" fmla="val 3125"/>
            </a:avLst>
          </a:prstGeom>
          <a:solidFill>
            <a:srgbClr val="FFFFFF"/>
          </a:solidFill>
          <a:ln/>
        </p:spPr>
      </p:sp>
      <p:sp>
        <p:nvSpPr>
          <p:cNvPr id="5" name="Text 3"/>
          <p:cNvSpPr/>
          <p:nvPr/>
        </p:nvSpPr>
        <p:spPr>
          <a:xfrm>
            <a:off x="777240" y="1874520"/>
            <a:ext cx="10607040" cy="274320"/>
          </a:xfrm>
          <a:prstGeom prst="rect">
            <a:avLst/>
          </a:prstGeom>
          <a:noFill/>
          <a:ln/>
        </p:spPr>
        <p:txBody>
          <a:bodyPr wrap="square" rtlCol="0" anchor="ctr"/>
          <a:lstStyle/>
          <a:p>
            <a:pPr indent="0" marL="0">
              <a:buNone/>
            </a:pPr>
            <a:r>
              <a:rPr lang="en-US" sz="1050" b="1" spc="100" kern="0" dirty="0">
                <a:solidFill>
                  <a:srgbClr val="2E5F8A"/>
                </a:solidFill>
                <a:latin typeface="Calibri" pitchFamily="34" charset="0"/>
                <a:ea typeface="Calibri" pitchFamily="34" charset="-122"/>
                <a:cs typeface="Calibri" pitchFamily="34" charset="-120"/>
              </a:rPr>
              <a:t>ALERTS THIS CASE EXERCISES</a:t>
            </a:r>
            <a:endParaRPr lang="en-US" sz="1050" dirty="0"/>
          </a:p>
        </p:txBody>
      </p:sp>
      <p:sp>
        <p:nvSpPr>
          <p:cNvPr id="6" name="Text 4"/>
          <p:cNvSpPr/>
          <p:nvPr/>
        </p:nvSpPr>
        <p:spPr>
          <a:xfrm>
            <a:off x="777240" y="2176272"/>
            <a:ext cx="10607040" cy="914400"/>
          </a:xfrm>
          <a:prstGeom prst="rect">
            <a:avLst/>
          </a:prstGeom>
          <a:noFill/>
          <a:ln/>
        </p:spPr>
        <p:txBody>
          <a:bodyPr wrap="square" rtlCol="0" anchor="ctr"/>
          <a:lstStyle/>
          <a:p>
            <a:pPr indent="0" marL="0">
              <a:lnSpc>
                <a:spcPct val="125000"/>
              </a:lnSpc>
              <a:buNone/>
            </a:pPr>
            <a:r>
              <a:rPr lang="en-US" sz="1350" b="1" dirty="0">
                <a:solidFill>
                  <a:srgbClr val="16221F"/>
                </a:solidFill>
                <a:latin typeface="Calibri" pitchFamily="34" charset="0"/>
                <a:ea typeface="Calibri" pitchFamily="34" charset="-122"/>
                <a:cs typeface="Calibri" pitchFamily="34" charset="-120"/>
              </a:rPr>
              <a:t>ALT-002 (Regression Risk Score Critical)   ·   ALT-015 (Sustainment Sign-Off Blocked)</a:t>
            </a:r>
            <a:endParaRPr lang="en-US" sz="1350" dirty="0"/>
          </a:p>
        </p:txBody>
      </p:sp>
      <p:sp>
        <p:nvSpPr>
          <p:cNvPr id="7" name="Shape 5"/>
          <p:cNvSpPr/>
          <p:nvPr/>
        </p:nvSpPr>
        <p:spPr>
          <a:xfrm>
            <a:off x="548640" y="3383280"/>
            <a:ext cx="11064240" cy="1417320"/>
          </a:xfrm>
          <a:prstGeom prst="roundRect">
            <a:avLst>
              <a:gd name="adj" fmla="val 3226"/>
            </a:avLst>
          </a:prstGeom>
          <a:solidFill>
            <a:srgbClr val="FFFFFF"/>
          </a:solidFill>
          <a:ln/>
        </p:spPr>
      </p:sp>
      <p:sp>
        <p:nvSpPr>
          <p:cNvPr id="8" name="Text 6"/>
          <p:cNvSpPr/>
          <p:nvPr/>
        </p:nvSpPr>
        <p:spPr>
          <a:xfrm>
            <a:off x="777240" y="3520440"/>
            <a:ext cx="10607040" cy="274320"/>
          </a:xfrm>
          <a:prstGeom prst="rect">
            <a:avLst/>
          </a:prstGeom>
          <a:noFill/>
          <a:ln/>
        </p:spPr>
        <p:txBody>
          <a:bodyPr wrap="square" rtlCol="0" anchor="ctr"/>
          <a:lstStyle/>
          <a:p>
            <a:pPr indent="0" marL="0">
              <a:buNone/>
            </a:pPr>
            <a:r>
              <a:rPr lang="en-US" sz="1050" b="1" spc="100" kern="0" dirty="0">
                <a:solidFill>
                  <a:srgbClr val="2E5F8A"/>
                </a:solidFill>
                <a:latin typeface="Calibri" pitchFamily="34" charset="0"/>
                <a:ea typeface="Calibri" pitchFamily="34" charset="-122"/>
                <a:cs typeface="Calibri" pitchFamily="34" charset="-120"/>
              </a:rPr>
              <a:t>WHY</a:t>
            </a:r>
            <a:endParaRPr lang="en-US" sz="1050" dirty="0"/>
          </a:p>
        </p:txBody>
      </p:sp>
      <p:sp>
        <p:nvSpPr>
          <p:cNvPr id="9" name="Text 7"/>
          <p:cNvSpPr/>
          <p:nvPr/>
        </p:nvSpPr>
        <p:spPr>
          <a:xfrm>
            <a:off x="777240" y="3822192"/>
            <a:ext cx="10607040" cy="914400"/>
          </a:xfrm>
          <a:prstGeom prst="rect">
            <a:avLst/>
          </a:prstGeom>
          <a:noFill/>
          <a:ln/>
        </p:spPr>
        <p:txBody>
          <a:bodyPr wrap="square" rtlCol="0" anchor="ctr"/>
          <a:lstStyle/>
          <a:p>
            <a:pPr indent="0" marL="0">
              <a:lnSpc>
                <a:spcPct val="125000"/>
              </a:lnSpc>
              <a:buNone/>
            </a:pPr>
            <a:r>
              <a:rPr lang="en-US" sz="1250" dirty="0">
                <a:solidFill>
                  <a:srgbClr val="16221F"/>
                </a:solidFill>
                <a:latin typeface="Calibri" pitchFamily="34" charset="0"/>
                <a:ea typeface="Calibri" pitchFamily="34" charset="-122"/>
                <a:cs typeface="Calibri" pitchFamily="34" charset="-120"/>
              </a:rPr>
              <a:t>Built to run past its first sustainment checkpoint with High regression risk — the clearest real-data proof in the library that training completion alone does not guarantee reinforcement.</a:t>
            </a:r>
            <a:endParaRPr lang="en-US" sz="1250" dirty="0"/>
          </a:p>
        </p:txBody>
      </p:sp>
      <p:sp>
        <p:nvSpPr>
          <p:cNvPr id="10" name="Shape 8"/>
          <p:cNvSpPr/>
          <p:nvPr/>
        </p:nvSpPr>
        <p:spPr>
          <a:xfrm>
            <a:off x="548640" y="4983480"/>
            <a:ext cx="11064240" cy="1417320"/>
          </a:xfrm>
          <a:prstGeom prst="roundRect">
            <a:avLst>
              <a:gd name="adj" fmla="val 3226"/>
            </a:avLst>
          </a:prstGeom>
          <a:solidFill>
            <a:srgbClr val="FFFFFF"/>
          </a:solidFill>
          <a:ln/>
        </p:spPr>
      </p:sp>
      <p:sp>
        <p:nvSpPr>
          <p:cNvPr id="11" name="Text 9"/>
          <p:cNvSpPr/>
          <p:nvPr/>
        </p:nvSpPr>
        <p:spPr>
          <a:xfrm>
            <a:off x="777240" y="5120640"/>
            <a:ext cx="10607040" cy="274320"/>
          </a:xfrm>
          <a:prstGeom prst="rect">
            <a:avLst/>
          </a:prstGeom>
          <a:noFill/>
          <a:ln/>
        </p:spPr>
        <p:txBody>
          <a:bodyPr wrap="square" rtlCol="0" anchor="ctr"/>
          <a:lstStyle/>
          <a:p>
            <a:pPr indent="0" marL="0">
              <a:buNone/>
            </a:pPr>
            <a:r>
              <a:rPr lang="en-US" sz="1050" b="1" spc="100" kern="0" dirty="0">
                <a:solidFill>
                  <a:srgbClr val="2E5F8A"/>
                </a:solidFill>
                <a:latin typeface="Calibri" pitchFamily="34" charset="0"/>
                <a:ea typeface="Calibri" pitchFamily="34" charset="-122"/>
                <a:cs typeface="Calibri" pitchFamily="34" charset="-120"/>
              </a:rPr>
              <a:t>WHAT THIS GUIDE PROVES, CONCRETELY</a:t>
            </a:r>
            <a:endParaRPr lang="en-US" sz="1050" dirty="0"/>
          </a:p>
        </p:txBody>
      </p:sp>
      <p:sp>
        <p:nvSpPr>
          <p:cNvPr id="12" name="Text 10"/>
          <p:cNvSpPr/>
          <p:nvPr/>
        </p:nvSpPr>
        <p:spPr>
          <a:xfrm>
            <a:off x="777240" y="5422392"/>
            <a:ext cx="10607040" cy="914400"/>
          </a:xfrm>
          <a:prstGeom prst="rect">
            <a:avLst/>
          </a:prstGeom>
          <a:noFill/>
          <a:ln/>
        </p:spPr>
        <p:txBody>
          <a:bodyPr wrap="square" rtlCol="0" anchor="ctr"/>
          <a:lstStyle/>
          <a:p>
            <a:pPr indent="0" marL="0">
              <a:lnSpc>
                <a:spcPct val="120000"/>
              </a:lnSpc>
              <a:buNone/>
            </a:pPr>
            <a:r>
              <a:rPr lang="en-US" sz="1200" i="1" dirty="0">
                <a:solidFill>
                  <a:srgbClr val="16221F"/>
                </a:solidFill>
                <a:latin typeface="Calibri" pitchFamily="34" charset="0"/>
                <a:ea typeface="Calibri" pitchFamily="34" charset="-122"/>
                <a:cs typeface="Calibri" pitchFamily="34" charset="-120"/>
              </a:rPr>
              <a:t>A real regression caught by a genuine 30-day checkpoint — not glossed over — and a training-completion record (100% by Week 25) that proves Reinforcement, not Knowledge, was the actual gap.</a:t>
            </a:r>
            <a:endParaRPr lang="en-US" sz="1200" dirty="0"/>
          </a:p>
        </p:txBody>
      </p:sp>
      <p:sp>
        <p:nvSpPr>
          <p:cNvPr id="13" name="Text 11"/>
          <p:cNvSpPr/>
          <p:nvPr/>
        </p:nvSpPr>
        <p:spPr>
          <a:xfrm>
            <a:off x="548640" y="6528816"/>
            <a:ext cx="7315200" cy="274320"/>
          </a:xfrm>
          <a:prstGeom prst="rect">
            <a:avLst/>
          </a:prstGeom>
          <a:noFill/>
          <a:ln/>
        </p:spPr>
        <p:txBody>
          <a:bodyPr wrap="square" rtlCol="0" anchor="ctr"/>
          <a:lstStyle/>
          <a:p>
            <a:pPr algn="l" indent="0" marL="0">
              <a:buNone/>
            </a:pPr>
            <a:r>
              <a:rPr lang="en-US" sz="900" dirty="0">
                <a:solidFill>
                  <a:srgbClr val="CFE3DD"/>
                </a:solidFill>
                <a:latin typeface="Calibri" pitchFamily="34" charset="0"/>
                <a:ea typeface="Calibri" pitchFamily="34" charset="-122"/>
                <a:cs typeface="Calibri" pitchFamily="34" charset="-120"/>
              </a:rPr>
              <a:t>journi — The 8 Transformation Types</a:t>
            </a:r>
            <a:endParaRPr lang="en-US" sz="900" dirty="0"/>
          </a:p>
        </p:txBody>
      </p:sp>
      <p:sp>
        <p:nvSpPr>
          <p:cNvPr id="14" name="Text 12"/>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CFE3DD"/>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6221F"/>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indent="0" marL="0">
              <a:buNone/>
            </a:pPr>
            <a:r>
              <a:rPr lang="en-US" sz="1250" b="1" spc="200" kern="0" dirty="0">
                <a:solidFill>
                  <a:srgbClr val="FFFFFF"/>
                </a:solidFill>
                <a:latin typeface="Calibri" pitchFamily="34" charset="0"/>
                <a:ea typeface="Calibri" pitchFamily="34" charset="-122"/>
                <a:cs typeface="Calibri" pitchFamily="34" charset="-120"/>
              </a:rPr>
              <a:t>TRANSFORMATION TYPE 7 OF 8</a:t>
            </a:r>
            <a:endParaRPr lang="en-US" sz="1250" dirty="0"/>
          </a:p>
        </p:txBody>
      </p:sp>
      <p:sp>
        <p:nvSpPr>
          <p:cNvPr id="3" name="Shape 1"/>
          <p:cNvSpPr/>
          <p:nvPr/>
        </p:nvSpPr>
        <p:spPr>
          <a:xfrm>
            <a:off x="548640" y="868680"/>
            <a:ext cx="868680" cy="868680"/>
          </a:xfrm>
          <a:prstGeom prst="ellipse">
            <a:avLst/>
          </a:prstGeom>
          <a:solidFill>
            <a:srgbClr val="FFFFFF"/>
          </a:solidFill>
          <a:ln/>
        </p:spPr>
      </p:sp>
      <p:pic>
        <p:nvPicPr>
          <p:cNvPr id="4" name="Image 0" descr="/home/user/scm-process-register/docs-src/transformation-types-deck/assets/gavel.png">    </p:cNvPr>
          <p:cNvPicPr>
            <a:picLocks noChangeAspect="1"/>
          </p:cNvPicPr>
          <p:nvPr/>
        </p:nvPicPr>
        <p:blipFill>
          <a:blip r:embed="rId1"/>
          <a:stretch>
            <a:fillRect/>
          </a:stretch>
        </p:blipFill>
        <p:spPr>
          <a:xfrm>
            <a:off x="731520" y="1051560"/>
            <a:ext cx="502920" cy="502920"/>
          </a:xfrm>
          <a:prstGeom prst="rect">
            <a:avLst/>
          </a:prstGeom>
        </p:spPr>
      </p:pic>
      <p:sp>
        <p:nvSpPr>
          <p:cNvPr id="5" name="Text 2"/>
          <p:cNvSpPr/>
          <p:nvPr/>
        </p:nvSpPr>
        <p:spPr>
          <a:xfrm>
            <a:off x="1691640" y="868680"/>
            <a:ext cx="9144000" cy="86868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Compliance-Driven Change</a:t>
            </a:r>
            <a:endParaRPr lang="en-US" sz="3200" dirty="0"/>
          </a:p>
        </p:txBody>
      </p:sp>
      <p:sp>
        <p:nvSpPr>
          <p:cNvPr id="6" name="Text 3"/>
          <p:cNvSpPr/>
          <p:nvPr/>
        </p:nvSpPr>
        <p:spPr>
          <a:xfrm>
            <a:off x="548640" y="1965960"/>
            <a:ext cx="11064240" cy="868680"/>
          </a:xfrm>
          <a:prstGeom prst="rect">
            <a:avLst/>
          </a:prstGeom>
          <a:noFill/>
          <a:ln/>
        </p:spPr>
        <p:txBody>
          <a:bodyPr wrap="square" rtlCol="0" anchor="ctr"/>
          <a:lstStyle/>
          <a:p>
            <a:pPr indent="0" marL="0">
              <a:lnSpc>
                <a:spcPct val="130000"/>
              </a:lnSpc>
              <a:buNone/>
            </a:pPr>
            <a:r>
              <a:rPr lang="en-US" sz="1550" i="1" dirty="0">
                <a:solidFill>
                  <a:srgbClr val="F0F0F0"/>
                </a:solidFill>
                <a:latin typeface="Calibri" pitchFamily="34" charset="0"/>
                <a:ea typeface="Calibri" pitchFamily="34" charset="-122"/>
                <a:cs typeface="Calibri" pitchFamily="34" charset="-120"/>
              </a:rPr>
              <a:t>Bringing data handling into compliance with a fixed external deadline — the case where a Phase Gate closing as anything but Go has zero schedule slack to absorb it.</a:t>
            </a:r>
            <a:endParaRPr lang="en-US" sz="1550" dirty="0"/>
          </a:p>
        </p:txBody>
      </p:sp>
      <p:sp>
        <p:nvSpPr>
          <p:cNvPr id="7" name="Shape 4"/>
          <p:cNvSpPr/>
          <p:nvPr/>
        </p:nvSpPr>
        <p:spPr>
          <a:xfrm>
            <a:off x="548640" y="3063240"/>
            <a:ext cx="5349240" cy="2651760"/>
          </a:xfrm>
          <a:prstGeom prst="roundRect">
            <a:avLst>
              <a:gd name="adj" fmla="val 1724"/>
            </a:avLst>
          </a:prstGeom>
          <a:solidFill>
            <a:srgbClr val="FFFFFF"/>
          </a:solidFill>
          <a:ln/>
        </p:spPr>
      </p:sp>
      <p:sp>
        <p:nvSpPr>
          <p:cNvPr id="8" name="Text 5"/>
          <p:cNvSpPr/>
          <p:nvPr/>
        </p:nvSpPr>
        <p:spPr>
          <a:xfrm>
            <a:off x="777240" y="3200400"/>
            <a:ext cx="4846320" cy="274320"/>
          </a:xfrm>
          <a:prstGeom prst="rect">
            <a:avLst/>
          </a:prstGeom>
          <a:noFill/>
          <a:ln/>
        </p:spPr>
        <p:txBody>
          <a:bodyPr wrap="square" rtlCol="0" anchor="ctr"/>
          <a:lstStyle/>
          <a:p>
            <a:pPr indent="0" marL="0">
              <a:buNone/>
            </a:pPr>
            <a:r>
              <a:rPr lang="en-US" sz="1050" b="1" spc="100" kern="0" dirty="0">
                <a:solidFill>
                  <a:srgbClr val="16221F"/>
                </a:solidFill>
                <a:latin typeface="Calibri" pitchFamily="34" charset="0"/>
                <a:ea typeface="Calibri" pitchFamily="34" charset="-122"/>
                <a:cs typeface="Calibri" pitchFamily="34" charset="-120"/>
              </a:rPr>
              <a:t>BUSINESS DRIVER</a:t>
            </a:r>
            <a:endParaRPr lang="en-US" sz="1050" dirty="0"/>
          </a:p>
        </p:txBody>
      </p:sp>
      <p:sp>
        <p:nvSpPr>
          <p:cNvPr id="9" name="Text 6"/>
          <p:cNvSpPr/>
          <p:nvPr/>
        </p:nvSpPr>
        <p:spPr>
          <a:xfrm>
            <a:off x="777240" y="3520440"/>
            <a:ext cx="4846320" cy="1097280"/>
          </a:xfrm>
          <a:prstGeom prst="rect">
            <a:avLst/>
          </a:prstGeom>
          <a:noFill/>
          <a:ln/>
        </p:spPr>
        <p:txBody>
          <a:bodyPr wrap="square" rtlCol="0" anchor="ctr"/>
          <a:lstStyle/>
          <a:p>
            <a:pPr indent="0" marL="0">
              <a:lnSpc>
                <a:spcPct val="125000"/>
              </a:lnSpc>
              <a:buNone/>
            </a:pPr>
            <a:r>
              <a:rPr lang="en-US" sz="1200" dirty="0">
                <a:solidFill>
                  <a:srgbClr val="16221F"/>
                </a:solidFill>
                <a:latin typeface="Calibri" pitchFamily="34" charset="0"/>
                <a:ea typeface="Calibri" pitchFamily="34" charset="-122"/>
                <a:cs typeface="Calibri" pitchFamily="34" charset="-120"/>
              </a:rPr>
              <a:t>A scheduled regulatory audit with a fixed external deadline, not a discretionary program timeline.</a:t>
            </a:r>
            <a:endParaRPr lang="en-US" sz="1200" dirty="0"/>
          </a:p>
        </p:txBody>
      </p:sp>
      <p:sp>
        <p:nvSpPr>
          <p:cNvPr id="10" name="Text 7"/>
          <p:cNvSpPr/>
          <p:nvPr/>
        </p:nvSpPr>
        <p:spPr>
          <a:xfrm>
            <a:off x="777240" y="4709160"/>
            <a:ext cx="4846320" cy="274320"/>
          </a:xfrm>
          <a:prstGeom prst="rect">
            <a:avLst/>
          </a:prstGeom>
          <a:noFill/>
          <a:ln/>
        </p:spPr>
        <p:txBody>
          <a:bodyPr wrap="square" rtlCol="0" anchor="ctr"/>
          <a:lstStyle/>
          <a:p>
            <a:pPr indent="0" marL="0">
              <a:buNone/>
            </a:pPr>
            <a:r>
              <a:rPr lang="en-US" sz="1050" b="1" spc="100" kern="0" dirty="0">
                <a:solidFill>
                  <a:srgbClr val="16221F"/>
                </a:solidFill>
                <a:latin typeface="Calibri" pitchFamily="34" charset="0"/>
                <a:ea typeface="Calibri" pitchFamily="34" charset="-122"/>
                <a:cs typeface="Calibri" pitchFamily="34" charset="-120"/>
              </a:rPr>
              <a:t>TARGET POPULATION PATTERN</a:t>
            </a:r>
            <a:endParaRPr lang="en-US" sz="1050" dirty="0"/>
          </a:p>
        </p:txBody>
      </p:sp>
      <p:sp>
        <p:nvSpPr>
          <p:cNvPr id="11" name="Text 8"/>
          <p:cNvSpPr/>
          <p:nvPr/>
        </p:nvSpPr>
        <p:spPr>
          <a:xfrm>
            <a:off x="777240" y="5029200"/>
            <a:ext cx="4846320" cy="640080"/>
          </a:xfrm>
          <a:prstGeom prst="rect">
            <a:avLst/>
          </a:prstGeom>
          <a:noFill/>
          <a:ln/>
        </p:spPr>
        <p:txBody>
          <a:bodyPr wrap="square" rtlCol="0" anchor="ctr"/>
          <a:lstStyle/>
          <a:p>
            <a:pPr indent="0" marL="0">
              <a:lnSpc>
                <a:spcPct val="120000"/>
              </a:lnSpc>
              <a:buNone/>
            </a:pPr>
            <a:r>
              <a:rPr lang="en-US" sz="1150" dirty="0">
                <a:solidFill>
                  <a:srgbClr val="16221F"/>
                </a:solidFill>
                <a:latin typeface="Calibri" pitchFamily="34" charset="0"/>
                <a:ea typeface="Calibri" pitchFamily="34" charset="-122"/>
                <a:cs typeface="Calibri" pitchFamily="34" charset="-120"/>
              </a:rPr>
              <a:t>Any function touching the regulated data — often 300+ staff spanning HR, Sales, and Customer Service.</a:t>
            </a:r>
            <a:endParaRPr lang="en-US" sz="1150" dirty="0"/>
          </a:p>
        </p:txBody>
      </p:sp>
      <p:sp>
        <p:nvSpPr>
          <p:cNvPr id="12" name="Shape 9"/>
          <p:cNvSpPr/>
          <p:nvPr/>
        </p:nvSpPr>
        <p:spPr>
          <a:xfrm>
            <a:off x="6080760" y="3063240"/>
            <a:ext cx="5532120" cy="2651760"/>
          </a:xfrm>
          <a:prstGeom prst="roundRect">
            <a:avLst>
              <a:gd name="adj" fmla="val 1724"/>
            </a:avLst>
          </a:prstGeom>
          <a:solidFill>
            <a:srgbClr val="FFFFFF"/>
          </a:solidFill>
          <a:ln/>
        </p:spPr>
      </p:sp>
      <p:sp>
        <p:nvSpPr>
          <p:cNvPr id="13" name="Text 10"/>
          <p:cNvSpPr/>
          <p:nvPr/>
        </p:nvSpPr>
        <p:spPr>
          <a:xfrm>
            <a:off x="6309360" y="3200400"/>
            <a:ext cx="5074920" cy="274320"/>
          </a:xfrm>
          <a:prstGeom prst="rect">
            <a:avLst/>
          </a:prstGeom>
          <a:noFill/>
          <a:ln/>
        </p:spPr>
        <p:txBody>
          <a:bodyPr wrap="square" rtlCol="0" anchor="ctr"/>
          <a:lstStyle/>
          <a:p>
            <a:pPr indent="0" marL="0">
              <a:buNone/>
            </a:pPr>
            <a:r>
              <a:rPr lang="en-US" sz="1050" b="1" spc="100" kern="0" dirty="0">
                <a:solidFill>
                  <a:srgbClr val="16221F"/>
                </a:solidFill>
                <a:latin typeface="Calibri" pitchFamily="34" charset="0"/>
                <a:ea typeface="Calibri" pitchFamily="34" charset="-122"/>
                <a:cs typeface="Calibri" pitchFamily="34" charset="-120"/>
              </a:rPr>
              <a:t>PHASE TEMPLATE</a:t>
            </a:r>
            <a:endParaRPr lang="en-US" sz="1050" dirty="0"/>
          </a:p>
        </p:txBody>
      </p:sp>
      <p:sp>
        <p:nvSpPr>
          <p:cNvPr id="14" name="Text 11"/>
          <p:cNvSpPr/>
          <p:nvPr/>
        </p:nvSpPr>
        <p:spPr>
          <a:xfrm>
            <a:off x="6309360" y="3520440"/>
            <a:ext cx="5074920" cy="365760"/>
          </a:xfrm>
          <a:prstGeom prst="rect">
            <a:avLst/>
          </a:prstGeom>
          <a:noFill/>
          <a:ln/>
        </p:spPr>
        <p:txBody>
          <a:bodyPr wrap="square" rtlCol="0" anchor="ctr"/>
          <a:lstStyle/>
          <a:p>
            <a:pPr indent="0" marL="0">
              <a:buNone/>
            </a:pPr>
            <a:r>
              <a:rPr lang="en-US" sz="1300" b="1" dirty="0">
                <a:solidFill>
                  <a:srgbClr val="16221F"/>
                </a:solidFill>
                <a:latin typeface="Calibri" pitchFamily="34" charset="0"/>
                <a:ea typeface="Calibri" pitchFamily="34" charset="-122"/>
                <a:cs typeface="Calibri" pitchFamily="34" charset="-120"/>
              </a:rPr>
              <a:t>TPL-COMP-7 — 7 phases</a:t>
            </a:r>
            <a:endParaRPr lang="en-US" sz="1300" dirty="0"/>
          </a:p>
        </p:txBody>
      </p:sp>
      <p:sp>
        <p:nvSpPr>
          <p:cNvPr id="15" name="Text 12"/>
          <p:cNvSpPr/>
          <p:nvPr/>
        </p:nvSpPr>
        <p:spPr>
          <a:xfrm>
            <a:off x="6309360" y="3977640"/>
            <a:ext cx="5074920" cy="274320"/>
          </a:xfrm>
          <a:prstGeom prst="rect">
            <a:avLst/>
          </a:prstGeom>
          <a:noFill/>
          <a:ln/>
        </p:spPr>
        <p:txBody>
          <a:bodyPr wrap="square" rtlCol="0" anchor="ctr"/>
          <a:lstStyle/>
          <a:p>
            <a:pPr indent="0" marL="0">
              <a:buNone/>
            </a:pPr>
            <a:r>
              <a:rPr lang="en-US" sz="1080" dirty="0">
                <a:solidFill>
                  <a:srgbClr val="16221F"/>
                </a:solidFill>
                <a:latin typeface="Calibri" pitchFamily="34" charset="0"/>
                <a:ea typeface="Calibri" pitchFamily="34" charset="-122"/>
                <a:cs typeface="Calibri" pitchFamily="34" charset="-120"/>
              </a:rPr>
              <a:t>1. Regulatory Requirement &amp; Gap Analysis</a:t>
            </a:r>
            <a:endParaRPr lang="en-US" sz="1080" dirty="0"/>
          </a:p>
        </p:txBody>
      </p:sp>
      <p:sp>
        <p:nvSpPr>
          <p:cNvPr id="16" name="Text 13"/>
          <p:cNvSpPr/>
          <p:nvPr/>
        </p:nvSpPr>
        <p:spPr>
          <a:xfrm>
            <a:off x="6309360" y="4270248"/>
            <a:ext cx="5074920" cy="274320"/>
          </a:xfrm>
          <a:prstGeom prst="rect">
            <a:avLst/>
          </a:prstGeom>
          <a:noFill/>
          <a:ln/>
        </p:spPr>
        <p:txBody>
          <a:bodyPr wrap="square" rtlCol="0" anchor="ctr"/>
          <a:lstStyle/>
          <a:p>
            <a:pPr indent="0" marL="0">
              <a:buNone/>
            </a:pPr>
            <a:r>
              <a:rPr lang="en-US" sz="1080" dirty="0">
                <a:solidFill>
                  <a:srgbClr val="16221F"/>
                </a:solidFill>
                <a:latin typeface="Calibri" pitchFamily="34" charset="0"/>
                <a:ea typeface="Calibri" pitchFamily="34" charset="-122"/>
                <a:cs typeface="Calibri" pitchFamily="34" charset="-120"/>
              </a:rPr>
              <a:t>2. Control Design</a:t>
            </a:r>
            <a:endParaRPr lang="en-US" sz="1080" dirty="0"/>
          </a:p>
        </p:txBody>
      </p:sp>
      <p:sp>
        <p:nvSpPr>
          <p:cNvPr id="17" name="Text 14"/>
          <p:cNvSpPr/>
          <p:nvPr/>
        </p:nvSpPr>
        <p:spPr>
          <a:xfrm>
            <a:off x="6309360" y="4562856"/>
            <a:ext cx="5074920" cy="274320"/>
          </a:xfrm>
          <a:prstGeom prst="rect">
            <a:avLst/>
          </a:prstGeom>
          <a:noFill/>
          <a:ln/>
        </p:spPr>
        <p:txBody>
          <a:bodyPr wrap="square" rtlCol="0" anchor="ctr"/>
          <a:lstStyle/>
          <a:p>
            <a:pPr indent="0" marL="0">
              <a:buNone/>
            </a:pPr>
            <a:r>
              <a:rPr lang="en-US" sz="1080" dirty="0">
                <a:solidFill>
                  <a:srgbClr val="16221F"/>
                </a:solidFill>
                <a:latin typeface="Calibri" pitchFamily="34" charset="0"/>
                <a:ea typeface="Calibri" pitchFamily="34" charset="-122"/>
                <a:cs typeface="Calibri" pitchFamily="34" charset="-120"/>
              </a:rPr>
              <a:t>3. Control Implementation</a:t>
            </a:r>
            <a:endParaRPr lang="en-US" sz="1080" dirty="0"/>
          </a:p>
        </p:txBody>
      </p:sp>
      <p:sp>
        <p:nvSpPr>
          <p:cNvPr id="18" name="Text 15"/>
          <p:cNvSpPr/>
          <p:nvPr/>
        </p:nvSpPr>
        <p:spPr>
          <a:xfrm>
            <a:off x="6309360" y="4855464"/>
            <a:ext cx="5074920" cy="274320"/>
          </a:xfrm>
          <a:prstGeom prst="rect">
            <a:avLst/>
          </a:prstGeom>
          <a:noFill/>
          <a:ln/>
        </p:spPr>
        <p:txBody>
          <a:bodyPr wrap="square" rtlCol="0" anchor="ctr"/>
          <a:lstStyle/>
          <a:p>
            <a:pPr indent="0" marL="0">
              <a:buNone/>
            </a:pPr>
            <a:r>
              <a:rPr lang="en-US" sz="1080" dirty="0">
                <a:solidFill>
                  <a:srgbClr val="16221F"/>
                </a:solidFill>
                <a:latin typeface="Calibri" pitchFamily="34" charset="0"/>
                <a:ea typeface="Calibri" pitchFamily="34" charset="-122"/>
                <a:cs typeface="Calibri" pitchFamily="34" charset="-120"/>
              </a:rPr>
              <a:t>4. Internal Audit / Independent Testing</a:t>
            </a:r>
            <a:endParaRPr lang="en-US" sz="1080" dirty="0"/>
          </a:p>
        </p:txBody>
      </p:sp>
      <p:sp>
        <p:nvSpPr>
          <p:cNvPr id="19" name="Text 16"/>
          <p:cNvSpPr/>
          <p:nvPr/>
        </p:nvSpPr>
        <p:spPr>
          <a:xfrm>
            <a:off x="6309360" y="5193792"/>
            <a:ext cx="5074920" cy="274320"/>
          </a:xfrm>
          <a:prstGeom prst="rect">
            <a:avLst/>
          </a:prstGeom>
          <a:noFill/>
          <a:ln/>
        </p:spPr>
        <p:txBody>
          <a:bodyPr wrap="square" rtlCol="0" anchor="ctr"/>
          <a:lstStyle/>
          <a:p>
            <a:pPr indent="0" marL="0">
              <a:buNone/>
            </a:pPr>
            <a:r>
              <a:rPr lang="en-US" sz="1000" i="1" dirty="0">
                <a:solidFill>
                  <a:srgbClr val="5C6D68"/>
                </a:solidFill>
                <a:latin typeface="Calibri" pitchFamily="34" charset="0"/>
                <a:ea typeface="Calibri" pitchFamily="34" charset="-122"/>
                <a:cs typeface="Calibri" pitchFamily="34" charset="-120"/>
              </a:rPr>
              <a:t>… 3 more (next slide)</a:t>
            </a:r>
            <a:endParaRPr lang="en-US" sz="1000" dirty="0"/>
          </a:p>
        </p:txBody>
      </p:sp>
      <p:sp>
        <p:nvSpPr>
          <p:cNvPr id="20" name="Text 17"/>
          <p:cNvSpPr/>
          <p:nvPr/>
        </p:nvSpPr>
        <p:spPr>
          <a:xfrm>
            <a:off x="548640" y="6528816"/>
            <a:ext cx="7315200" cy="274320"/>
          </a:xfrm>
          <a:prstGeom prst="rect">
            <a:avLst/>
          </a:prstGeom>
          <a:noFill/>
          <a:ln/>
        </p:spPr>
        <p:txBody>
          <a:bodyPr wrap="square" rtlCol="0" anchor="ctr"/>
          <a:lstStyle/>
          <a:p>
            <a:pPr algn="l" indent="0" marL="0">
              <a:buNone/>
            </a:pPr>
            <a:r>
              <a:rPr lang="en-US" sz="900" dirty="0">
                <a:solidFill>
                  <a:srgbClr val="CFE3DD"/>
                </a:solidFill>
                <a:latin typeface="Calibri" pitchFamily="34" charset="0"/>
                <a:ea typeface="Calibri" pitchFamily="34" charset="-122"/>
                <a:cs typeface="Calibri" pitchFamily="34" charset="-120"/>
              </a:rPr>
              <a:t>journi — The 8 Transformation Types</a:t>
            </a:r>
            <a:endParaRPr lang="en-US" sz="900" dirty="0"/>
          </a:p>
        </p:txBody>
      </p:sp>
      <p:sp>
        <p:nvSpPr>
          <p:cNvPr id="21" name="Text 18"/>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CFE3DD"/>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COMPLIANCE · JOURNI PHASE TEMPLATE</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200" b="1" dirty="0">
                <a:solidFill>
                  <a:srgbClr val="16221F"/>
                </a:solidFill>
                <a:latin typeface="Calibri" pitchFamily="34" charset="0"/>
                <a:ea typeface="Calibri" pitchFamily="34" charset="-122"/>
                <a:cs typeface="Calibri" pitchFamily="34" charset="-120"/>
              </a:rPr>
              <a:t>TPL-COMP-7: 7 Phases, In Order</a:t>
            </a:r>
            <a:endParaRPr lang="en-US" sz="2200" dirty="0"/>
          </a:p>
        </p:txBody>
      </p:sp>
      <p:sp>
        <p:nvSpPr>
          <p:cNvPr id="4" name="Shape 2"/>
          <p:cNvSpPr/>
          <p:nvPr/>
        </p:nvSpPr>
        <p:spPr>
          <a:xfrm>
            <a:off x="548640" y="2103120"/>
            <a:ext cx="2697480" cy="566928"/>
          </a:xfrm>
          <a:prstGeom prst="chevron">
            <a:avLst/>
          </a:prstGeom>
          <a:solidFill>
            <a:srgbClr val="16221F"/>
          </a:solidFill>
          <a:ln/>
        </p:spPr>
      </p:sp>
      <p:sp>
        <p:nvSpPr>
          <p:cNvPr id="5" name="Text 3"/>
          <p:cNvSpPr/>
          <p:nvPr/>
        </p:nvSpPr>
        <p:spPr>
          <a:xfrm>
            <a:off x="594360" y="2103120"/>
            <a:ext cx="260604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Regulatory Requirement &amp; Gap Analysis</a:t>
            </a:r>
            <a:endParaRPr lang="en-US" sz="950" dirty="0"/>
          </a:p>
        </p:txBody>
      </p:sp>
      <p:sp>
        <p:nvSpPr>
          <p:cNvPr id="6" name="Shape 4"/>
          <p:cNvSpPr/>
          <p:nvPr/>
        </p:nvSpPr>
        <p:spPr>
          <a:xfrm>
            <a:off x="3337560" y="2103120"/>
            <a:ext cx="2697480" cy="566928"/>
          </a:xfrm>
          <a:prstGeom prst="chevron">
            <a:avLst/>
          </a:prstGeom>
          <a:solidFill>
            <a:srgbClr val="16221F"/>
          </a:solidFill>
          <a:ln/>
        </p:spPr>
      </p:sp>
      <p:sp>
        <p:nvSpPr>
          <p:cNvPr id="7" name="Text 5"/>
          <p:cNvSpPr/>
          <p:nvPr/>
        </p:nvSpPr>
        <p:spPr>
          <a:xfrm>
            <a:off x="3383280" y="2103120"/>
            <a:ext cx="260604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Control Design</a:t>
            </a:r>
            <a:endParaRPr lang="en-US" sz="950" dirty="0"/>
          </a:p>
        </p:txBody>
      </p:sp>
      <p:sp>
        <p:nvSpPr>
          <p:cNvPr id="8" name="Shape 6"/>
          <p:cNvSpPr/>
          <p:nvPr/>
        </p:nvSpPr>
        <p:spPr>
          <a:xfrm>
            <a:off x="6126480" y="2103120"/>
            <a:ext cx="2697480" cy="566928"/>
          </a:xfrm>
          <a:prstGeom prst="chevron">
            <a:avLst/>
          </a:prstGeom>
          <a:solidFill>
            <a:srgbClr val="16221F"/>
          </a:solidFill>
          <a:ln/>
        </p:spPr>
      </p:sp>
      <p:sp>
        <p:nvSpPr>
          <p:cNvPr id="9" name="Text 7"/>
          <p:cNvSpPr/>
          <p:nvPr/>
        </p:nvSpPr>
        <p:spPr>
          <a:xfrm>
            <a:off x="6172200" y="2103120"/>
            <a:ext cx="260604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Control Implementation</a:t>
            </a:r>
            <a:endParaRPr lang="en-US" sz="950" dirty="0"/>
          </a:p>
        </p:txBody>
      </p:sp>
      <p:sp>
        <p:nvSpPr>
          <p:cNvPr id="10" name="Shape 8"/>
          <p:cNvSpPr/>
          <p:nvPr/>
        </p:nvSpPr>
        <p:spPr>
          <a:xfrm>
            <a:off x="8915400" y="2103120"/>
            <a:ext cx="2697480" cy="566928"/>
          </a:xfrm>
          <a:prstGeom prst="chevron">
            <a:avLst/>
          </a:prstGeom>
          <a:solidFill>
            <a:srgbClr val="16221F"/>
          </a:solidFill>
          <a:ln/>
        </p:spPr>
      </p:sp>
      <p:sp>
        <p:nvSpPr>
          <p:cNvPr id="11" name="Text 9"/>
          <p:cNvSpPr/>
          <p:nvPr/>
        </p:nvSpPr>
        <p:spPr>
          <a:xfrm>
            <a:off x="8961120" y="2103120"/>
            <a:ext cx="260604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4. Internal Audit / Independent Testing</a:t>
            </a:r>
            <a:endParaRPr lang="en-US" sz="950" dirty="0"/>
          </a:p>
        </p:txBody>
      </p:sp>
      <p:sp>
        <p:nvSpPr>
          <p:cNvPr id="12" name="Shape 10"/>
          <p:cNvSpPr/>
          <p:nvPr/>
        </p:nvSpPr>
        <p:spPr>
          <a:xfrm>
            <a:off x="548640" y="2798064"/>
            <a:ext cx="3627120" cy="566928"/>
          </a:xfrm>
          <a:prstGeom prst="chevron">
            <a:avLst/>
          </a:prstGeom>
          <a:solidFill>
            <a:srgbClr val="16221F"/>
          </a:solidFill>
          <a:ln/>
        </p:spPr>
      </p:sp>
      <p:sp>
        <p:nvSpPr>
          <p:cNvPr id="13" name="Text 11"/>
          <p:cNvSpPr/>
          <p:nvPr/>
        </p:nvSpPr>
        <p:spPr>
          <a:xfrm>
            <a:off x="594360" y="2798064"/>
            <a:ext cx="353568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5. Controls Go Live</a:t>
            </a:r>
            <a:endParaRPr lang="en-US" sz="950" dirty="0"/>
          </a:p>
        </p:txBody>
      </p:sp>
      <p:sp>
        <p:nvSpPr>
          <p:cNvPr id="14" name="Shape 12"/>
          <p:cNvSpPr/>
          <p:nvPr/>
        </p:nvSpPr>
        <p:spPr>
          <a:xfrm>
            <a:off x="4267200" y="2798064"/>
            <a:ext cx="3627120" cy="566928"/>
          </a:xfrm>
          <a:prstGeom prst="chevron">
            <a:avLst/>
          </a:prstGeom>
          <a:solidFill>
            <a:srgbClr val="16221F"/>
          </a:solidFill>
          <a:ln/>
        </p:spPr>
      </p:sp>
      <p:sp>
        <p:nvSpPr>
          <p:cNvPr id="15" name="Text 13"/>
          <p:cNvSpPr/>
          <p:nvPr/>
        </p:nvSpPr>
        <p:spPr>
          <a:xfrm>
            <a:off x="4312920" y="2798064"/>
            <a:ext cx="353568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6. First Monitoring Cycle</a:t>
            </a:r>
            <a:endParaRPr lang="en-US" sz="950" dirty="0"/>
          </a:p>
        </p:txBody>
      </p:sp>
      <p:sp>
        <p:nvSpPr>
          <p:cNvPr id="16" name="Shape 14"/>
          <p:cNvSpPr/>
          <p:nvPr/>
        </p:nvSpPr>
        <p:spPr>
          <a:xfrm>
            <a:off x="7985760" y="2798064"/>
            <a:ext cx="3627120" cy="566928"/>
          </a:xfrm>
          <a:prstGeom prst="chevron">
            <a:avLst/>
          </a:prstGeom>
          <a:solidFill>
            <a:srgbClr val="16221F"/>
          </a:solidFill>
          <a:ln/>
        </p:spPr>
      </p:sp>
      <p:sp>
        <p:nvSpPr>
          <p:cNvPr id="17" name="Text 15"/>
          <p:cNvSpPr/>
          <p:nvPr/>
        </p:nvSpPr>
        <p:spPr>
          <a:xfrm>
            <a:off x="8031480" y="2798064"/>
            <a:ext cx="353568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7. Ongoing Compliance Handover</a:t>
            </a:r>
            <a:endParaRPr lang="en-US" sz="950" dirty="0"/>
          </a:p>
        </p:txBody>
      </p:sp>
      <p:sp>
        <p:nvSpPr>
          <p:cNvPr id="18" name="Text 16"/>
          <p:cNvSpPr/>
          <p:nvPr/>
        </p:nvSpPr>
        <p:spPr>
          <a:xfrm>
            <a:off x="548640" y="3950208"/>
            <a:ext cx="11064240" cy="2194560"/>
          </a:xfrm>
          <a:prstGeom prst="rect">
            <a:avLst/>
          </a:prstGeom>
          <a:noFill/>
          <a:ln/>
        </p:spPr>
        <p:txBody>
          <a:bodyPr wrap="square" rtlCol="0" anchor="ctr"/>
          <a:lstStyle/>
          <a:p>
            <a:pPr indent="0" marL="0">
              <a:lnSpc>
                <a:spcPct val="130000"/>
              </a:lnSpc>
              <a:buNone/>
            </a:pPr>
            <a:r>
              <a:rPr lang="en-US" sz="1300" dirty="0">
                <a:solidFill>
                  <a:srgbClr val="16221F"/>
                </a:solidFill>
                <a:latin typeface="Calibri" pitchFamily="34" charset="0"/>
                <a:ea typeface="Calibri" pitchFamily="34" charset="-122"/>
                <a:cs typeface="Calibri" pitchFamily="34" charset="-120"/>
              </a:rPr>
              <a:t>Awareness and Ability dominate; Desire matters least of any archetype. Staff do not need to want to comply — they need to know the rule and be able to follow it correctly. The Phase Gate itself is the framework that matters most, since the real risk here is schedule risk, not adoption risk.</a:t>
            </a:r>
            <a:endParaRPr lang="en-US" sz="1300" dirty="0"/>
          </a:p>
        </p:txBody>
      </p:sp>
      <p:sp>
        <p:nvSpPr>
          <p:cNvPr id="19" name="Text 17"/>
          <p:cNvSpPr/>
          <p:nvPr/>
        </p:nvSpPr>
        <p:spPr>
          <a:xfrm>
            <a:off x="548640" y="3630168"/>
            <a:ext cx="11064240" cy="274320"/>
          </a:xfrm>
          <a:prstGeom prst="rect">
            <a:avLst/>
          </a:prstGeom>
          <a:noFill/>
          <a:ln/>
        </p:spPr>
        <p:txBody>
          <a:bodyPr wrap="square" rtlCol="0" anchor="ctr"/>
          <a:lstStyle/>
          <a:p>
            <a:pPr indent="0" marL="0">
              <a:buNone/>
            </a:pPr>
            <a:r>
              <a:rPr lang="en-US" sz="1050" b="1" spc="100" kern="0" dirty="0">
                <a:solidFill>
                  <a:srgbClr val="C2661C"/>
                </a:solidFill>
                <a:latin typeface="Calibri" pitchFamily="34" charset="0"/>
                <a:ea typeface="Calibri" pitchFamily="34" charset="-122"/>
                <a:cs typeface="Calibri" pitchFamily="34" charset="-120"/>
              </a:rPr>
              <a:t>FRAMEWORK WEIGHTING FOR THIS ARCHETYPE</a:t>
            </a:r>
            <a:endParaRPr lang="en-US" sz="1050" dirty="0"/>
          </a:p>
        </p:txBody>
      </p:sp>
      <p:sp>
        <p:nvSpPr>
          <p:cNvPr id="20" name="Text 18"/>
          <p:cNvSpPr/>
          <p:nvPr/>
        </p:nvSpPr>
        <p:spPr>
          <a:xfrm>
            <a:off x="548640" y="6528816"/>
            <a:ext cx="73152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The 8 Transformation Types</a:t>
            </a:r>
            <a:endParaRPr lang="en-US" sz="900" dirty="0"/>
          </a:p>
        </p:txBody>
      </p:sp>
      <p:sp>
        <p:nvSpPr>
          <p:cNvPr id="21" name="Text 19"/>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COMPLIANCE · TENANT SETUP</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500" b="1" dirty="0">
                <a:solidFill>
                  <a:srgbClr val="16221F"/>
                </a:solidFill>
                <a:latin typeface="Calibri" pitchFamily="34" charset="0"/>
                <a:ea typeface="Calibri" pitchFamily="34" charset="-122"/>
                <a:cs typeface="Calibri" pitchFamily="34" charset="-120"/>
              </a:rPr>
              <a:t>The RACSI Team for This Case</a:t>
            </a:r>
            <a:endParaRPr lang="en-US" sz="2500" dirty="0"/>
          </a:p>
        </p:txBody>
      </p:sp>
      <p:sp>
        <p:nvSpPr>
          <p:cNvPr id="4" name="Text 2"/>
          <p:cNvSpPr/>
          <p:nvPr/>
        </p:nvSpPr>
        <p:spPr>
          <a:xfrm>
            <a:off x="548640" y="1417320"/>
            <a:ext cx="11064240" cy="457200"/>
          </a:xfrm>
          <a:prstGeom prst="rect">
            <a:avLst/>
          </a:prstGeom>
          <a:noFill/>
          <a:ln/>
        </p:spPr>
        <p:txBody>
          <a:bodyPr wrap="square" rtlCol="0" anchor="t"/>
          <a:lstStyle/>
          <a:p>
            <a:pPr indent="0" marL="0">
              <a:lnSpc>
                <a:spcPct val="115000"/>
              </a:lnSpc>
              <a:buNone/>
            </a:pPr>
            <a:r>
              <a:rPr lang="en-US" sz="1200" dirty="0">
                <a:solidFill>
                  <a:srgbClr val="5C6D68"/>
                </a:solidFill>
                <a:latin typeface="Calibri" pitchFamily="34" charset="0"/>
                <a:ea typeface="Calibri" pitchFamily="34" charset="-122"/>
                <a:cs typeface="Calibri" pitchFamily="34" charset="-120"/>
              </a:rPr>
              <a:t>journi's 7-code RACSI role taxonomy (ES/CM/PM/FPO/ITL/SUP/EU), assigned to real, named accounts for this program.</a:t>
            </a:r>
            <a:endParaRPr lang="en-US" sz="12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11064240" cy="914400"/>
        </p:xfrm>
        <a:graphic>
          <a:graphicData uri="http://schemas.openxmlformats.org/drawingml/2006/table">
            <a:tbl>
              <a:tblPr/>
              <a:tblGrid>
                <a:gridCol w="3108960"/>
                <a:gridCol w="1645920"/>
                <a:gridCol w="6309360"/>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Name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6221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RACSI Code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6221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Role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6221F"/>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Karim Idrissi</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ES</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Sponsor — General Counsel/Chief Compliance Officer</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Sanaa Bouzoubaa</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CM</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Change Manager</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Hamza Alaoui</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PM</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Compliance Program Lead</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Nadia Squalli</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FPO</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HR Data Privacy Lead</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Reda Fassi</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ITL</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Data systems and access-control lead</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Amine Tazi</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SUP</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Sales Operations Manager</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bl>
          </a:graphicData>
        </a:graphic>
      </p:graphicFrame>
      <p:sp>
        <p:nvSpPr>
          <p:cNvPr id="6" name="Text 3"/>
          <p:cNvSpPr/>
          <p:nvPr/>
        </p:nvSpPr>
        <p:spPr>
          <a:xfrm>
            <a:off x="548640" y="6528816"/>
            <a:ext cx="73152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The 8 Transformation Types</a:t>
            </a:r>
            <a:endParaRPr lang="en-US" sz="900" dirty="0"/>
          </a:p>
        </p:txBody>
      </p:sp>
      <p:sp>
        <p:nvSpPr>
          <p:cNvPr id="7" name="Text 4"/>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COMPLIANCE · JOURNI MODULES</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400" b="1" dirty="0">
                <a:solidFill>
                  <a:srgbClr val="16221F"/>
                </a:solidFill>
                <a:latin typeface="Calibri" pitchFamily="34" charset="0"/>
                <a:ea typeface="Calibri" pitchFamily="34" charset="-122"/>
                <a:cs typeface="Calibri" pitchFamily="34" charset="-120"/>
              </a:rPr>
              <a:t>Which modules dominate this archetype</a:t>
            </a:r>
            <a:endParaRPr lang="en-US" sz="2400" dirty="0"/>
          </a:p>
        </p:txBody>
      </p:sp>
      <p:sp>
        <p:nvSpPr>
          <p:cNvPr id="4" name="Shape 2"/>
          <p:cNvSpPr/>
          <p:nvPr/>
        </p:nvSpPr>
        <p:spPr>
          <a:xfrm>
            <a:off x="548640" y="2057400"/>
            <a:ext cx="11064240" cy="932688"/>
          </a:xfrm>
          <a:prstGeom prst="roundRect">
            <a:avLst>
              <a:gd name="adj" fmla="val 4902"/>
            </a:avLst>
          </a:prstGeom>
          <a:solidFill>
            <a:srgbClr val="EAF2EF"/>
          </a:solidFill>
          <a:ln/>
        </p:spPr>
      </p:sp>
      <p:sp>
        <p:nvSpPr>
          <p:cNvPr id="5" name="Text 3"/>
          <p:cNvSpPr/>
          <p:nvPr/>
        </p:nvSpPr>
        <p:spPr>
          <a:xfrm>
            <a:off x="777240" y="2167128"/>
            <a:ext cx="3200400" cy="713232"/>
          </a:xfrm>
          <a:prstGeom prst="rect">
            <a:avLst/>
          </a:prstGeom>
          <a:noFill/>
          <a:ln/>
        </p:spPr>
        <p:txBody>
          <a:bodyPr wrap="square" rtlCol="0" anchor="ctr"/>
          <a:lstStyle/>
          <a:p>
            <a:pPr indent="0" marL="0">
              <a:lnSpc>
                <a:spcPct val="110000"/>
              </a:lnSpc>
              <a:buNone/>
            </a:pPr>
            <a:r>
              <a:rPr lang="en-US" sz="1300" b="1" dirty="0">
                <a:solidFill>
                  <a:srgbClr val="16221F"/>
                </a:solidFill>
                <a:latin typeface="Calibri" pitchFamily="34" charset="0"/>
                <a:ea typeface="Calibri" pitchFamily="34" charset="-122"/>
                <a:cs typeface="Calibri" pitchFamily="34" charset="-120"/>
              </a:rPr>
              <a:t>M17 (WBS &amp; Gantt)</a:t>
            </a:r>
            <a:endParaRPr lang="en-US" sz="1300" dirty="0"/>
          </a:p>
        </p:txBody>
      </p:sp>
      <p:sp>
        <p:nvSpPr>
          <p:cNvPr id="6" name="Text 4"/>
          <p:cNvSpPr/>
          <p:nvPr/>
        </p:nvSpPr>
        <p:spPr>
          <a:xfrm>
            <a:off x="4069080" y="2167128"/>
            <a:ext cx="7360920" cy="713232"/>
          </a:xfrm>
          <a:prstGeom prst="rect">
            <a:avLst/>
          </a:prstGeom>
          <a:noFill/>
          <a:ln/>
        </p:spPr>
        <p:txBody>
          <a:bodyPr wrap="square" rtlCol="0" anchor="ctr"/>
          <a:lstStyle/>
          <a:p>
            <a:pPr indent="0" marL="0">
              <a:lnSpc>
                <a:spcPct val="120000"/>
              </a:lnSpc>
              <a:buNone/>
            </a:pPr>
            <a:r>
              <a:rPr lang="en-US" sz="1180" dirty="0">
                <a:solidFill>
                  <a:srgbClr val="16221F"/>
                </a:solidFill>
                <a:latin typeface="Calibri" pitchFamily="34" charset="0"/>
                <a:ea typeface="Calibri" pitchFamily="34" charset="-122"/>
                <a:cs typeface="Calibri" pitchFamily="34" charset="-120"/>
              </a:rPr>
              <a:t>The TPL-COMP-7 template — every phase gate dated against a fixed external deadline.</a:t>
            </a:r>
            <a:endParaRPr lang="en-US" sz="1180" dirty="0"/>
          </a:p>
        </p:txBody>
      </p:sp>
      <p:sp>
        <p:nvSpPr>
          <p:cNvPr id="7" name="Shape 5"/>
          <p:cNvSpPr/>
          <p:nvPr/>
        </p:nvSpPr>
        <p:spPr>
          <a:xfrm>
            <a:off x="548640" y="3099816"/>
            <a:ext cx="11064240" cy="932688"/>
          </a:xfrm>
          <a:prstGeom prst="roundRect">
            <a:avLst>
              <a:gd name="adj" fmla="val 4902"/>
            </a:avLst>
          </a:prstGeom>
          <a:solidFill>
            <a:srgbClr val="EAF2EF"/>
          </a:solidFill>
          <a:ln/>
        </p:spPr>
      </p:sp>
      <p:sp>
        <p:nvSpPr>
          <p:cNvPr id="8" name="Text 6"/>
          <p:cNvSpPr/>
          <p:nvPr/>
        </p:nvSpPr>
        <p:spPr>
          <a:xfrm>
            <a:off x="777240" y="3209544"/>
            <a:ext cx="3200400" cy="713232"/>
          </a:xfrm>
          <a:prstGeom prst="rect">
            <a:avLst/>
          </a:prstGeom>
          <a:noFill/>
          <a:ln/>
        </p:spPr>
        <p:txBody>
          <a:bodyPr wrap="square" rtlCol="0" anchor="ctr"/>
          <a:lstStyle/>
          <a:p>
            <a:pPr indent="0" marL="0">
              <a:lnSpc>
                <a:spcPct val="110000"/>
              </a:lnSpc>
              <a:buNone/>
            </a:pPr>
            <a:r>
              <a:rPr lang="en-US" sz="1300" b="1" dirty="0">
                <a:solidFill>
                  <a:srgbClr val="16221F"/>
                </a:solidFill>
                <a:latin typeface="Calibri" pitchFamily="34" charset="0"/>
                <a:ea typeface="Calibri" pitchFamily="34" charset="-122"/>
                <a:cs typeface="Calibri" pitchFamily="34" charset="-120"/>
              </a:rPr>
              <a:t>M5 (ADKAR Engine)</a:t>
            </a:r>
            <a:endParaRPr lang="en-US" sz="1300" dirty="0"/>
          </a:p>
        </p:txBody>
      </p:sp>
      <p:sp>
        <p:nvSpPr>
          <p:cNvPr id="9" name="Text 7"/>
          <p:cNvSpPr/>
          <p:nvPr/>
        </p:nvSpPr>
        <p:spPr>
          <a:xfrm>
            <a:off x="4069080" y="3209544"/>
            <a:ext cx="7360920" cy="713232"/>
          </a:xfrm>
          <a:prstGeom prst="rect">
            <a:avLst/>
          </a:prstGeom>
          <a:noFill/>
          <a:ln/>
        </p:spPr>
        <p:txBody>
          <a:bodyPr wrap="square" rtlCol="0" anchor="ctr"/>
          <a:lstStyle/>
          <a:p>
            <a:pPr indent="0" marL="0">
              <a:lnSpc>
                <a:spcPct val="120000"/>
              </a:lnSpc>
              <a:buNone/>
            </a:pPr>
            <a:r>
              <a:rPr lang="en-US" sz="1180" dirty="0">
                <a:solidFill>
                  <a:srgbClr val="16221F"/>
                </a:solidFill>
                <a:latin typeface="Calibri" pitchFamily="34" charset="0"/>
                <a:ea typeface="Calibri" pitchFamily="34" charset="-122"/>
                <a:cs typeface="Calibri" pitchFamily="34" charset="-120"/>
              </a:rPr>
              <a:t>Awareness and Ability scored against specific, checkable rules — not general sentiment.</a:t>
            </a:r>
            <a:endParaRPr lang="en-US" sz="1180" dirty="0"/>
          </a:p>
        </p:txBody>
      </p:sp>
      <p:sp>
        <p:nvSpPr>
          <p:cNvPr id="10" name="Shape 8"/>
          <p:cNvSpPr/>
          <p:nvPr/>
        </p:nvSpPr>
        <p:spPr>
          <a:xfrm>
            <a:off x="548640" y="4142232"/>
            <a:ext cx="11064240" cy="932688"/>
          </a:xfrm>
          <a:prstGeom prst="roundRect">
            <a:avLst>
              <a:gd name="adj" fmla="val 4902"/>
            </a:avLst>
          </a:prstGeom>
          <a:solidFill>
            <a:srgbClr val="EAF2EF"/>
          </a:solidFill>
          <a:ln/>
        </p:spPr>
      </p:sp>
      <p:sp>
        <p:nvSpPr>
          <p:cNvPr id="11" name="Text 9"/>
          <p:cNvSpPr/>
          <p:nvPr/>
        </p:nvSpPr>
        <p:spPr>
          <a:xfrm>
            <a:off x="777240" y="4251960"/>
            <a:ext cx="3200400" cy="713232"/>
          </a:xfrm>
          <a:prstGeom prst="rect">
            <a:avLst/>
          </a:prstGeom>
          <a:noFill/>
          <a:ln/>
        </p:spPr>
        <p:txBody>
          <a:bodyPr wrap="square" rtlCol="0" anchor="ctr"/>
          <a:lstStyle/>
          <a:p>
            <a:pPr indent="0" marL="0">
              <a:lnSpc>
                <a:spcPct val="110000"/>
              </a:lnSpc>
              <a:buNone/>
            </a:pPr>
            <a:r>
              <a:rPr lang="en-US" sz="1300" b="1" dirty="0">
                <a:solidFill>
                  <a:srgbClr val="16221F"/>
                </a:solidFill>
                <a:latin typeface="Calibri" pitchFamily="34" charset="0"/>
                <a:ea typeface="Calibri" pitchFamily="34" charset="-122"/>
                <a:cs typeface="Calibri" pitchFamily="34" charset="-120"/>
              </a:rPr>
              <a:t>M19 (Charter Registry)</a:t>
            </a:r>
            <a:endParaRPr lang="en-US" sz="1300" dirty="0"/>
          </a:p>
        </p:txBody>
      </p:sp>
      <p:sp>
        <p:nvSpPr>
          <p:cNvPr id="12" name="Text 10"/>
          <p:cNvSpPr/>
          <p:nvPr/>
        </p:nvSpPr>
        <p:spPr>
          <a:xfrm>
            <a:off x="4069080" y="4251960"/>
            <a:ext cx="7360920" cy="713232"/>
          </a:xfrm>
          <a:prstGeom prst="rect">
            <a:avLst/>
          </a:prstGeom>
          <a:noFill/>
          <a:ln/>
        </p:spPr>
        <p:txBody>
          <a:bodyPr wrap="square" rtlCol="0" anchor="ctr"/>
          <a:lstStyle/>
          <a:p>
            <a:pPr indent="0" marL="0">
              <a:lnSpc>
                <a:spcPct val="120000"/>
              </a:lnSpc>
              <a:buNone/>
            </a:pPr>
            <a:r>
              <a:rPr lang="en-US" sz="1180" dirty="0">
                <a:solidFill>
                  <a:srgbClr val="16221F"/>
                </a:solidFill>
                <a:latin typeface="Calibri" pitchFamily="34" charset="0"/>
                <a:ea typeface="Calibri" pitchFamily="34" charset="-122"/>
                <a:cs typeface="Calibri" pitchFamily="34" charset="-120"/>
              </a:rPr>
              <a:t>Formal charters matter more here given the external regulator relationship.</a:t>
            </a:r>
            <a:endParaRPr lang="en-US" sz="1180" dirty="0"/>
          </a:p>
        </p:txBody>
      </p:sp>
      <p:sp>
        <p:nvSpPr>
          <p:cNvPr id="13" name="Shape 11"/>
          <p:cNvSpPr/>
          <p:nvPr/>
        </p:nvSpPr>
        <p:spPr>
          <a:xfrm>
            <a:off x="548640" y="5184648"/>
            <a:ext cx="11064240" cy="932688"/>
          </a:xfrm>
          <a:prstGeom prst="roundRect">
            <a:avLst>
              <a:gd name="adj" fmla="val 4902"/>
            </a:avLst>
          </a:prstGeom>
          <a:solidFill>
            <a:srgbClr val="EAF2EF"/>
          </a:solidFill>
          <a:ln/>
        </p:spPr>
      </p:sp>
      <p:sp>
        <p:nvSpPr>
          <p:cNvPr id="14" name="Text 12"/>
          <p:cNvSpPr/>
          <p:nvPr/>
        </p:nvSpPr>
        <p:spPr>
          <a:xfrm>
            <a:off x="777240" y="5294376"/>
            <a:ext cx="3200400" cy="713232"/>
          </a:xfrm>
          <a:prstGeom prst="rect">
            <a:avLst/>
          </a:prstGeom>
          <a:noFill/>
          <a:ln/>
        </p:spPr>
        <p:txBody>
          <a:bodyPr wrap="square" rtlCol="0" anchor="ctr"/>
          <a:lstStyle/>
          <a:p>
            <a:pPr indent="0" marL="0">
              <a:lnSpc>
                <a:spcPct val="110000"/>
              </a:lnSpc>
              <a:buNone/>
            </a:pPr>
            <a:r>
              <a:rPr lang="en-US" sz="1300" b="1" dirty="0">
                <a:solidFill>
                  <a:srgbClr val="16221F"/>
                </a:solidFill>
                <a:latin typeface="Calibri" pitchFamily="34" charset="0"/>
                <a:ea typeface="Calibri" pitchFamily="34" charset="-122"/>
                <a:cs typeface="Calibri" pitchFamily="34" charset="-120"/>
              </a:rPr>
              <a:t>M9 (Training)</a:t>
            </a:r>
            <a:endParaRPr lang="en-US" sz="1300" dirty="0"/>
          </a:p>
        </p:txBody>
      </p:sp>
      <p:sp>
        <p:nvSpPr>
          <p:cNvPr id="15" name="Text 13"/>
          <p:cNvSpPr/>
          <p:nvPr/>
        </p:nvSpPr>
        <p:spPr>
          <a:xfrm>
            <a:off x="4069080" y="5294376"/>
            <a:ext cx="7360920" cy="713232"/>
          </a:xfrm>
          <a:prstGeom prst="rect">
            <a:avLst/>
          </a:prstGeom>
          <a:noFill/>
          <a:ln/>
        </p:spPr>
        <p:txBody>
          <a:bodyPr wrap="square" rtlCol="0" anchor="ctr"/>
          <a:lstStyle/>
          <a:p>
            <a:pPr indent="0" marL="0">
              <a:lnSpc>
                <a:spcPct val="120000"/>
              </a:lnSpc>
              <a:buNone/>
            </a:pPr>
            <a:r>
              <a:rPr lang="en-US" sz="1180" dirty="0">
                <a:solidFill>
                  <a:srgbClr val="16221F"/>
                </a:solidFill>
                <a:latin typeface="Calibri" pitchFamily="34" charset="0"/>
                <a:ea typeface="Calibri" pitchFamily="34" charset="-122"/>
                <a:cs typeface="Calibri" pitchFamily="34" charset="-120"/>
              </a:rPr>
              <a:t>Checkable-behavior training — data handling, retention, access requests — not persuasion.</a:t>
            </a:r>
            <a:endParaRPr lang="en-US" sz="1180" dirty="0"/>
          </a:p>
        </p:txBody>
      </p:sp>
      <p:sp>
        <p:nvSpPr>
          <p:cNvPr id="16" name="Text 14"/>
          <p:cNvSpPr/>
          <p:nvPr/>
        </p:nvSpPr>
        <p:spPr>
          <a:xfrm>
            <a:off x="548640" y="6528816"/>
            <a:ext cx="73152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The 8 Transformation Types</a:t>
            </a:r>
            <a:endParaRPr lang="en-US" sz="900" dirty="0"/>
          </a:p>
        </p:txBody>
      </p:sp>
      <p:sp>
        <p:nvSpPr>
          <p:cNvPr id="17" name="Text 15"/>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COMPLIANCE · REAL SCENARIO</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100" b="1" dirty="0">
                <a:solidFill>
                  <a:srgbClr val="16221F"/>
                </a:solidFill>
                <a:latin typeface="Calibri" pitchFamily="34" charset="0"/>
                <a:ea typeface="Calibri" pitchFamily="34" charset="-122"/>
                <a:cs typeface="Calibri" pitchFamily="34" charset="-120"/>
              </a:rPr>
              <a:t>Loi 09-08 Data Protection Compliance Program</a:t>
            </a:r>
            <a:endParaRPr lang="en-US" sz="2100" dirty="0"/>
          </a:p>
        </p:txBody>
      </p:sp>
      <p:sp>
        <p:nvSpPr>
          <p:cNvPr id="4" name="Text 2"/>
          <p:cNvSpPr/>
          <p:nvPr/>
        </p:nvSpPr>
        <p:spPr>
          <a:xfrm>
            <a:off x="548640" y="1417320"/>
            <a:ext cx="11064240" cy="457200"/>
          </a:xfrm>
          <a:prstGeom prst="rect">
            <a:avLst/>
          </a:prstGeom>
          <a:noFill/>
          <a:ln/>
        </p:spPr>
        <p:txBody>
          <a:bodyPr wrap="square" rtlCol="0" anchor="t"/>
          <a:lstStyle/>
          <a:p>
            <a:pPr indent="0" marL="0">
              <a:lnSpc>
                <a:spcPct val="115000"/>
              </a:lnSpc>
              <a:buNone/>
            </a:pPr>
            <a:r>
              <a:rPr lang="en-US" sz="1200" dirty="0">
                <a:solidFill>
                  <a:srgbClr val="5C6D68"/>
                </a:solidFill>
                <a:latin typeface="Calibri" pitchFamily="34" charset="0"/>
                <a:ea typeface="Calibri" pitchFamily="34" charset="-122"/>
                <a:cs typeface="Calibri" pitchFamily="34" charset="-120"/>
              </a:rPr>
              <a:t>310 staff, HR, Sales, Customer Service  ·  64 weeks (guide numbering)</a:t>
            </a:r>
            <a:endParaRPr lang="en-US" sz="12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11064240" cy="914400"/>
        </p:xfrm>
        <a:graphic>
          <a:graphicData uri="http://schemas.openxmlformats.org/drawingml/2006/table">
            <a:tbl>
              <a:tblPr/>
              <a:tblGrid>
                <a:gridCol w="1463040"/>
                <a:gridCol w="9601200"/>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Week</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6221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Milestone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6221F"/>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Wk 1</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Regulatory requirement and gap analysis, run from the tenant's own start given the fixed deadline.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Wk 14</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Control design.</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Wk 28</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Control implementation.</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Wk 40</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Internal audit / independent testing.</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Wk 48</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Controls go live, timed deliberately ahead of the ERP program's own Deploy week.</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Wk 52</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First monitoring cycle confirms controls hold under real operating conditions.</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bl>
          </a:graphicData>
        </a:graphic>
      </p:graphicFrame>
      <p:sp>
        <p:nvSpPr>
          <p:cNvPr id="6" name="Text 3"/>
          <p:cNvSpPr/>
          <p:nvPr/>
        </p:nvSpPr>
        <p:spPr>
          <a:xfrm>
            <a:off x="548640" y="6528816"/>
            <a:ext cx="73152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The 8 Transformation Types</a:t>
            </a:r>
            <a:endParaRPr lang="en-US" sz="900" dirty="0"/>
          </a:p>
        </p:txBody>
      </p:sp>
      <p:sp>
        <p:nvSpPr>
          <p:cNvPr id="7" name="Text 4"/>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6221F"/>
        </a:solidFill>
      </p:bgPr>
    </p:bg>
    <p:spTree>
      <p:nvGrpSpPr>
        <p:cNvPr id="1" name=""/>
        <p:cNvGrpSpPr/>
        <p:nvPr/>
      </p:nvGrpSpPr>
      <p:grpSpPr>
        <a:xfrm>
          <a:off x="0" y="0"/>
          <a:ext cx="0" cy="0"/>
          <a:chOff x="0" y="0"/>
          <a:chExt cx="0" cy="0"/>
        </a:xfrm>
      </p:grpSpPr>
      <p:sp>
        <p:nvSpPr>
          <p:cNvPr id="2" name="Text 0"/>
          <p:cNvSpPr/>
          <p:nvPr/>
        </p:nvSpPr>
        <p:spPr>
          <a:xfrm>
            <a:off x="548640" y="457200"/>
            <a:ext cx="10058400" cy="320040"/>
          </a:xfrm>
          <a:prstGeom prst="rect">
            <a:avLst/>
          </a:prstGeom>
          <a:noFill/>
          <a:ln/>
        </p:spPr>
        <p:txBody>
          <a:bodyPr wrap="square" rtlCol="0" anchor="ctr"/>
          <a:lstStyle/>
          <a:p>
            <a:pPr indent="0" marL="0">
              <a:buNone/>
            </a:pPr>
            <a:r>
              <a:rPr lang="en-US" sz="1250" b="1" spc="200" kern="0" dirty="0">
                <a:solidFill>
                  <a:srgbClr val="FFFFFF"/>
                </a:solidFill>
                <a:latin typeface="Calibri" pitchFamily="34" charset="0"/>
                <a:ea typeface="Calibri" pitchFamily="34" charset="-122"/>
                <a:cs typeface="Calibri" pitchFamily="34" charset="-120"/>
              </a:rPr>
              <a:t>COMPLIANCE · ALERTS &amp; PROOF</a:t>
            </a:r>
            <a:endParaRPr lang="en-US" sz="1250" dirty="0"/>
          </a:p>
        </p:txBody>
      </p:sp>
      <p:sp>
        <p:nvSpPr>
          <p:cNvPr id="3" name="Text 1"/>
          <p:cNvSpPr/>
          <p:nvPr/>
        </p:nvSpPr>
        <p:spPr>
          <a:xfrm>
            <a:off x="548640" y="804672"/>
            <a:ext cx="10972800" cy="6858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What This Case Proves By Not Firing</a:t>
            </a:r>
            <a:endParaRPr lang="en-US" sz="2600" dirty="0"/>
          </a:p>
        </p:txBody>
      </p:sp>
      <p:sp>
        <p:nvSpPr>
          <p:cNvPr id="4" name="Shape 2"/>
          <p:cNvSpPr/>
          <p:nvPr/>
        </p:nvSpPr>
        <p:spPr>
          <a:xfrm>
            <a:off x="548640" y="1737360"/>
            <a:ext cx="11064240" cy="1463040"/>
          </a:xfrm>
          <a:prstGeom prst="roundRect">
            <a:avLst>
              <a:gd name="adj" fmla="val 3125"/>
            </a:avLst>
          </a:prstGeom>
          <a:solidFill>
            <a:srgbClr val="FFFFFF"/>
          </a:solidFill>
          <a:ln/>
        </p:spPr>
      </p:sp>
      <p:sp>
        <p:nvSpPr>
          <p:cNvPr id="5" name="Text 3"/>
          <p:cNvSpPr/>
          <p:nvPr/>
        </p:nvSpPr>
        <p:spPr>
          <a:xfrm>
            <a:off x="777240" y="1874520"/>
            <a:ext cx="10607040" cy="274320"/>
          </a:xfrm>
          <a:prstGeom prst="rect">
            <a:avLst/>
          </a:prstGeom>
          <a:noFill/>
          <a:ln/>
        </p:spPr>
        <p:txBody>
          <a:bodyPr wrap="square" rtlCol="0" anchor="ctr"/>
          <a:lstStyle/>
          <a:p>
            <a:pPr indent="0" marL="0">
              <a:buNone/>
            </a:pPr>
            <a:r>
              <a:rPr lang="en-US" sz="1050" b="1" spc="100" kern="0" dirty="0">
                <a:solidFill>
                  <a:srgbClr val="16221F"/>
                </a:solidFill>
                <a:latin typeface="Calibri" pitchFamily="34" charset="0"/>
                <a:ea typeface="Calibri" pitchFamily="34" charset="-122"/>
                <a:cs typeface="Calibri" pitchFamily="34" charset="-120"/>
              </a:rPr>
              <a:t>NO LIVE ALERT FIRES IN THIS PROGRAM'S REAL RECORD</a:t>
            </a:r>
            <a:endParaRPr lang="en-US" sz="1050" dirty="0"/>
          </a:p>
        </p:txBody>
      </p:sp>
      <p:sp>
        <p:nvSpPr>
          <p:cNvPr id="6" name="Text 4"/>
          <p:cNvSpPr/>
          <p:nvPr/>
        </p:nvSpPr>
        <p:spPr>
          <a:xfrm>
            <a:off x="777240" y="2176272"/>
            <a:ext cx="10607040" cy="914400"/>
          </a:xfrm>
          <a:prstGeom prst="rect">
            <a:avLst/>
          </a:prstGeom>
          <a:noFill/>
          <a:ln/>
        </p:spPr>
        <p:txBody>
          <a:bodyPr wrap="square" rtlCol="0" anchor="ctr"/>
          <a:lstStyle/>
          <a:p>
            <a:pPr indent="0" marL="0">
              <a:lnSpc>
                <a:spcPct val="125000"/>
              </a:lnSpc>
              <a:buNone/>
            </a:pPr>
            <a:r>
              <a:rPr lang="en-US" sz="1350" b="1" dirty="0">
                <a:solidFill>
                  <a:srgbClr val="16221F"/>
                </a:solidFill>
                <a:latin typeface="Calibri" pitchFamily="34" charset="0"/>
                <a:ea typeface="Calibri" pitchFamily="34" charset="-122"/>
                <a:cs typeface="Calibri" pitchFamily="34" charset="-120"/>
              </a:rPr>
              <a:t>Stated plainly, not manufactured — a clean record reported as a clean record.</a:t>
            </a:r>
            <a:endParaRPr lang="en-US" sz="1350" dirty="0"/>
          </a:p>
        </p:txBody>
      </p:sp>
      <p:sp>
        <p:nvSpPr>
          <p:cNvPr id="7" name="Shape 5"/>
          <p:cNvSpPr/>
          <p:nvPr/>
        </p:nvSpPr>
        <p:spPr>
          <a:xfrm>
            <a:off x="548640" y="3383280"/>
            <a:ext cx="11064240" cy="1417320"/>
          </a:xfrm>
          <a:prstGeom prst="roundRect">
            <a:avLst>
              <a:gd name="adj" fmla="val 3226"/>
            </a:avLst>
          </a:prstGeom>
          <a:solidFill>
            <a:srgbClr val="FFFFFF"/>
          </a:solidFill>
          <a:ln/>
        </p:spPr>
      </p:sp>
      <p:sp>
        <p:nvSpPr>
          <p:cNvPr id="8" name="Text 6"/>
          <p:cNvSpPr/>
          <p:nvPr/>
        </p:nvSpPr>
        <p:spPr>
          <a:xfrm>
            <a:off x="777240" y="3520440"/>
            <a:ext cx="10607040" cy="274320"/>
          </a:xfrm>
          <a:prstGeom prst="rect">
            <a:avLst/>
          </a:prstGeom>
          <a:noFill/>
          <a:ln/>
        </p:spPr>
        <p:txBody>
          <a:bodyPr wrap="square" rtlCol="0" anchor="ctr"/>
          <a:lstStyle/>
          <a:p>
            <a:pPr indent="0" marL="0">
              <a:buNone/>
            </a:pPr>
            <a:r>
              <a:rPr lang="en-US" sz="1050" b="1" spc="100" kern="0" dirty="0">
                <a:solidFill>
                  <a:srgbClr val="16221F"/>
                </a:solidFill>
                <a:latin typeface="Calibri" pitchFamily="34" charset="0"/>
                <a:ea typeface="Calibri" pitchFamily="34" charset="-122"/>
                <a:cs typeface="Calibri" pitchFamily="34" charset="-120"/>
              </a:rPr>
              <a:t>WHY</a:t>
            </a:r>
            <a:endParaRPr lang="en-US" sz="1050" dirty="0"/>
          </a:p>
        </p:txBody>
      </p:sp>
      <p:sp>
        <p:nvSpPr>
          <p:cNvPr id="9" name="Text 7"/>
          <p:cNvSpPr/>
          <p:nvPr/>
        </p:nvSpPr>
        <p:spPr>
          <a:xfrm>
            <a:off x="777240" y="3822192"/>
            <a:ext cx="10607040" cy="914400"/>
          </a:xfrm>
          <a:prstGeom prst="rect">
            <a:avLst/>
          </a:prstGeom>
          <a:noFill/>
          <a:ln/>
        </p:spPr>
        <p:txBody>
          <a:bodyPr wrap="square" rtlCol="0" anchor="ctr"/>
          <a:lstStyle/>
          <a:p>
            <a:pPr indent="0" marL="0">
              <a:lnSpc>
                <a:spcPct val="125000"/>
              </a:lnSpc>
              <a:buNone/>
            </a:pPr>
            <a:r>
              <a:rPr lang="en-US" sz="1250" dirty="0">
                <a:solidFill>
                  <a:srgbClr val="16221F"/>
                </a:solidFill>
                <a:latin typeface="Calibri" pitchFamily="34" charset="0"/>
                <a:ea typeface="Calibri" pitchFamily="34" charset="-122"/>
                <a:cs typeface="Calibri" pitchFamily="34" charset="-120"/>
              </a:rPr>
              <a:t>None fire in this program's real record — every Phase Gate closes Go, on schedule, which is the entire point: ALT-009 (Phase Gate No-Go/Conditional) matters most here precisely because it does not fire.</a:t>
            </a:r>
            <a:endParaRPr lang="en-US" sz="1250" dirty="0"/>
          </a:p>
        </p:txBody>
      </p:sp>
      <p:sp>
        <p:nvSpPr>
          <p:cNvPr id="10" name="Shape 8"/>
          <p:cNvSpPr/>
          <p:nvPr/>
        </p:nvSpPr>
        <p:spPr>
          <a:xfrm>
            <a:off x="548640" y="4983480"/>
            <a:ext cx="11064240" cy="1417320"/>
          </a:xfrm>
          <a:prstGeom prst="roundRect">
            <a:avLst>
              <a:gd name="adj" fmla="val 3226"/>
            </a:avLst>
          </a:prstGeom>
          <a:solidFill>
            <a:srgbClr val="FFFFFF"/>
          </a:solidFill>
          <a:ln/>
        </p:spPr>
      </p:sp>
      <p:sp>
        <p:nvSpPr>
          <p:cNvPr id="11" name="Text 9"/>
          <p:cNvSpPr/>
          <p:nvPr/>
        </p:nvSpPr>
        <p:spPr>
          <a:xfrm>
            <a:off x="777240" y="5120640"/>
            <a:ext cx="10607040" cy="274320"/>
          </a:xfrm>
          <a:prstGeom prst="rect">
            <a:avLst/>
          </a:prstGeom>
          <a:noFill/>
          <a:ln/>
        </p:spPr>
        <p:txBody>
          <a:bodyPr wrap="square" rtlCol="0" anchor="ctr"/>
          <a:lstStyle/>
          <a:p>
            <a:pPr indent="0" marL="0">
              <a:buNone/>
            </a:pPr>
            <a:r>
              <a:rPr lang="en-US" sz="1050" b="1" spc="100" kern="0" dirty="0">
                <a:solidFill>
                  <a:srgbClr val="16221F"/>
                </a:solidFill>
                <a:latin typeface="Calibri" pitchFamily="34" charset="0"/>
                <a:ea typeface="Calibri" pitchFamily="34" charset="-122"/>
                <a:cs typeface="Calibri" pitchFamily="34" charset="-120"/>
              </a:rPr>
              <a:t>WHAT THIS GUIDE PROVES, CONCRETELY</a:t>
            </a:r>
            <a:endParaRPr lang="en-US" sz="1050" dirty="0"/>
          </a:p>
        </p:txBody>
      </p:sp>
      <p:sp>
        <p:nvSpPr>
          <p:cNvPr id="12" name="Text 10"/>
          <p:cNvSpPr/>
          <p:nvPr/>
        </p:nvSpPr>
        <p:spPr>
          <a:xfrm>
            <a:off x="777240" y="5422392"/>
            <a:ext cx="10607040" cy="914400"/>
          </a:xfrm>
          <a:prstGeom prst="rect">
            <a:avLst/>
          </a:prstGeom>
          <a:noFill/>
          <a:ln/>
        </p:spPr>
        <p:txBody>
          <a:bodyPr wrap="square" rtlCol="0" anchor="ctr"/>
          <a:lstStyle/>
          <a:p>
            <a:pPr indent="0" marL="0">
              <a:lnSpc>
                <a:spcPct val="120000"/>
              </a:lnSpc>
              <a:buNone/>
            </a:pPr>
            <a:r>
              <a:rPr lang="en-US" sz="1200" i="1" dirty="0">
                <a:solidFill>
                  <a:srgbClr val="16221F"/>
                </a:solidFill>
                <a:latin typeface="Calibri" pitchFamily="34" charset="0"/>
                <a:ea typeface="Calibri" pitchFamily="34" charset="-122"/>
                <a:cs typeface="Calibri" pitchFamily="34" charset="-120"/>
              </a:rPr>
              <a:t>Seven consecutive clean Phase Gate decisions — ALT-009 matters here precisely because it never fires, given zero schedule slack for anything less than Go.</a:t>
            </a:r>
            <a:endParaRPr lang="en-US" sz="1200" dirty="0"/>
          </a:p>
        </p:txBody>
      </p:sp>
      <p:sp>
        <p:nvSpPr>
          <p:cNvPr id="13" name="Text 11"/>
          <p:cNvSpPr/>
          <p:nvPr/>
        </p:nvSpPr>
        <p:spPr>
          <a:xfrm>
            <a:off x="548640" y="6528816"/>
            <a:ext cx="7315200" cy="274320"/>
          </a:xfrm>
          <a:prstGeom prst="rect">
            <a:avLst/>
          </a:prstGeom>
          <a:noFill/>
          <a:ln/>
        </p:spPr>
        <p:txBody>
          <a:bodyPr wrap="square" rtlCol="0" anchor="ctr"/>
          <a:lstStyle/>
          <a:p>
            <a:pPr algn="l" indent="0" marL="0">
              <a:buNone/>
            </a:pPr>
            <a:r>
              <a:rPr lang="en-US" sz="900" dirty="0">
                <a:solidFill>
                  <a:srgbClr val="CFE3DD"/>
                </a:solidFill>
                <a:latin typeface="Calibri" pitchFamily="34" charset="0"/>
                <a:ea typeface="Calibri" pitchFamily="34" charset="-122"/>
                <a:cs typeface="Calibri" pitchFamily="34" charset="-120"/>
              </a:rPr>
              <a:t>journi — The 8 Transformation Types</a:t>
            </a:r>
            <a:endParaRPr lang="en-US" sz="900" dirty="0"/>
          </a:p>
        </p:txBody>
      </p:sp>
      <p:sp>
        <p:nvSpPr>
          <p:cNvPr id="14" name="Text 12"/>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CFE3DD"/>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2C7A6B"/>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indent="0" marL="0">
              <a:buNone/>
            </a:pPr>
            <a:r>
              <a:rPr lang="en-US" sz="1250" b="1" spc="200" kern="0" dirty="0">
                <a:solidFill>
                  <a:srgbClr val="FFFFFF"/>
                </a:solidFill>
                <a:latin typeface="Calibri" pitchFamily="34" charset="0"/>
                <a:ea typeface="Calibri" pitchFamily="34" charset="-122"/>
                <a:cs typeface="Calibri" pitchFamily="34" charset="-120"/>
              </a:rPr>
              <a:t>TRANSFORMATION TYPE 8 OF 8</a:t>
            </a:r>
            <a:endParaRPr lang="en-US" sz="1250" dirty="0"/>
          </a:p>
        </p:txBody>
      </p:sp>
      <p:sp>
        <p:nvSpPr>
          <p:cNvPr id="3" name="Shape 1"/>
          <p:cNvSpPr/>
          <p:nvPr/>
        </p:nvSpPr>
        <p:spPr>
          <a:xfrm>
            <a:off x="548640" y="868680"/>
            <a:ext cx="868680" cy="868680"/>
          </a:xfrm>
          <a:prstGeom prst="ellipse">
            <a:avLst/>
          </a:prstGeom>
          <a:solidFill>
            <a:srgbClr val="FFFFFF"/>
          </a:solidFill>
          <a:ln/>
        </p:spPr>
      </p:sp>
      <p:pic>
        <p:nvPicPr>
          <p:cNvPr id="4" name="Image 0" descr="/home/user/scm-process-register/docs-src/transformation-types-deck/assets/graduation-cap.png">    </p:cNvPr>
          <p:cNvPicPr>
            <a:picLocks noChangeAspect="1"/>
          </p:cNvPicPr>
          <p:nvPr/>
        </p:nvPicPr>
        <p:blipFill>
          <a:blip r:embed="rId1"/>
          <a:stretch>
            <a:fillRect/>
          </a:stretch>
        </p:blipFill>
        <p:spPr>
          <a:xfrm>
            <a:off x="731520" y="1051560"/>
            <a:ext cx="502920" cy="502920"/>
          </a:xfrm>
          <a:prstGeom prst="rect">
            <a:avLst/>
          </a:prstGeom>
        </p:spPr>
      </p:pic>
      <p:sp>
        <p:nvSpPr>
          <p:cNvPr id="5" name="Text 2"/>
          <p:cNvSpPr/>
          <p:nvPr/>
        </p:nvSpPr>
        <p:spPr>
          <a:xfrm>
            <a:off x="1691640" y="868680"/>
            <a:ext cx="9144000" cy="86868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Training &amp; Skills Development</a:t>
            </a:r>
            <a:endParaRPr lang="en-US" sz="3200" dirty="0"/>
          </a:p>
        </p:txBody>
      </p:sp>
      <p:sp>
        <p:nvSpPr>
          <p:cNvPr id="6" name="Text 3"/>
          <p:cNvSpPr/>
          <p:nvPr/>
        </p:nvSpPr>
        <p:spPr>
          <a:xfrm>
            <a:off x="548640" y="1965960"/>
            <a:ext cx="11064240" cy="868680"/>
          </a:xfrm>
          <a:prstGeom prst="rect">
            <a:avLst/>
          </a:prstGeom>
          <a:noFill/>
          <a:ln/>
        </p:spPr>
        <p:txBody>
          <a:bodyPr wrap="square" rtlCol="0" anchor="ctr"/>
          <a:lstStyle/>
          <a:p>
            <a:pPr indent="0" marL="0">
              <a:lnSpc>
                <a:spcPct val="130000"/>
              </a:lnSpc>
              <a:buNone/>
            </a:pPr>
            <a:r>
              <a:rPr lang="en-US" sz="1550" i="1" dirty="0">
                <a:solidFill>
                  <a:srgbClr val="F0F0F0"/>
                </a:solidFill>
                <a:latin typeface="Calibri" pitchFamily="34" charset="0"/>
                <a:ea typeface="Calibri" pitchFamily="34" charset="-122"/>
                <a:cs typeface="Calibri" pitchFamily="34" charset="-120"/>
              </a:rPr>
              <a:t>A standalone digital-skills program with no go-live of its own — the only archetype where training is the entire content of every phase, not a supporting track.</a:t>
            </a:r>
            <a:endParaRPr lang="en-US" sz="1550" dirty="0"/>
          </a:p>
        </p:txBody>
      </p:sp>
      <p:sp>
        <p:nvSpPr>
          <p:cNvPr id="7" name="Shape 4"/>
          <p:cNvSpPr/>
          <p:nvPr/>
        </p:nvSpPr>
        <p:spPr>
          <a:xfrm>
            <a:off x="548640" y="3063240"/>
            <a:ext cx="5349240" cy="2651760"/>
          </a:xfrm>
          <a:prstGeom prst="roundRect">
            <a:avLst>
              <a:gd name="adj" fmla="val 1724"/>
            </a:avLst>
          </a:prstGeom>
          <a:solidFill>
            <a:srgbClr val="FFFFFF"/>
          </a:solidFill>
          <a:ln/>
        </p:spPr>
      </p:sp>
      <p:sp>
        <p:nvSpPr>
          <p:cNvPr id="8" name="Text 5"/>
          <p:cNvSpPr/>
          <p:nvPr/>
        </p:nvSpPr>
        <p:spPr>
          <a:xfrm>
            <a:off x="777240" y="3200400"/>
            <a:ext cx="4846320" cy="274320"/>
          </a:xfrm>
          <a:prstGeom prst="rect">
            <a:avLst/>
          </a:prstGeom>
          <a:noFill/>
          <a:ln/>
        </p:spPr>
        <p:txBody>
          <a:bodyPr wrap="square" rtlCol="0" anchor="ctr"/>
          <a:lstStyle/>
          <a:p>
            <a:pPr indent="0" marL="0">
              <a:buNone/>
            </a:pPr>
            <a:r>
              <a:rPr lang="en-US" sz="1050" b="1" spc="100" kern="0" dirty="0">
                <a:solidFill>
                  <a:srgbClr val="2C7A6B"/>
                </a:solidFill>
                <a:latin typeface="Calibri" pitchFamily="34" charset="0"/>
                <a:ea typeface="Calibri" pitchFamily="34" charset="-122"/>
                <a:cs typeface="Calibri" pitchFamily="34" charset="-120"/>
              </a:rPr>
              <a:t>BUSINESS DRIVER</a:t>
            </a:r>
            <a:endParaRPr lang="en-US" sz="1050" dirty="0"/>
          </a:p>
        </p:txBody>
      </p:sp>
      <p:sp>
        <p:nvSpPr>
          <p:cNvPr id="9" name="Text 6"/>
          <p:cNvSpPr/>
          <p:nvPr/>
        </p:nvSpPr>
        <p:spPr>
          <a:xfrm>
            <a:off x="777240" y="3520440"/>
            <a:ext cx="4846320" cy="1097280"/>
          </a:xfrm>
          <a:prstGeom prst="rect">
            <a:avLst/>
          </a:prstGeom>
          <a:noFill/>
          <a:ln/>
        </p:spPr>
        <p:txBody>
          <a:bodyPr wrap="square" rtlCol="0" anchor="ctr"/>
          <a:lstStyle/>
          <a:p>
            <a:pPr indent="0" marL="0">
              <a:lnSpc>
                <a:spcPct val="125000"/>
              </a:lnSpc>
              <a:buNone/>
            </a:pPr>
            <a:r>
              <a:rPr lang="en-US" sz="1200" dirty="0">
                <a:solidFill>
                  <a:srgbClr val="16221F"/>
                </a:solidFill>
                <a:latin typeface="Calibri" pitchFamily="34" charset="0"/>
                <a:ea typeface="Calibri" pitchFamily="34" charset="-122"/>
                <a:cs typeface="Calibri" pitchFamily="34" charset="-120"/>
              </a:rPr>
              <a:t>A skills gap identified independently of any other program, run to prepare a workforce for years of technology change generally.</a:t>
            </a:r>
            <a:endParaRPr lang="en-US" sz="1200" dirty="0"/>
          </a:p>
        </p:txBody>
      </p:sp>
      <p:sp>
        <p:nvSpPr>
          <p:cNvPr id="10" name="Text 7"/>
          <p:cNvSpPr/>
          <p:nvPr/>
        </p:nvSpPr>
        <p:spPr>
          <a:xfrm>
            <a:off x="777240" y="4709160"/>
            <a:ext cx="4846320" cy="274320"/>
          </a:xfrm>
          <a:prstGeom prst="rect">
            <a:avLst/>
          </a:prstGeom>
          <a:noFill/>
          <a:ln/>
        </p:spPr>
        <p:txBody>
          <a:bodyPr wrap="square" rtlCol="0" anchor="ctr"/>
          <a:lstStyle/>
          <a:p>
            <a:pPr indent="0" marL="0">
              <a:buNone/>
            </a:pPr>
            <a:r>
              <a:rPr lang="en-US" sz="1050" b="1" spc="100" kern="0" dirty="0">
                <a:solidFill>
                  <a:srgbClr val="2C7A6B"/>
                </a:solidFill>
                <a:latin typeface="Calibri" pitchFamily="34" charset="0"/>
                <a:ea typeface="Calibri" pitchFamily="34" charset="-122"/>
                <a:cs typeface="Calibri" pitchFamily="34" charset="-120"/>
              </a:rPr>
              <a:t>TARGET POPULATION PATTERN</a:t>
            </a:r>
            <a:endParaRPr lang="en-US" sz="1050" dirty="0"/>
          </a:p>
        </p:txBody>
      </p:sp>
      <p:sp>
        <p:nvSpPr>
          <p:cNvPr id="11" name="Text 8"/>
          <p:cNvSpPr/>
          <p:nvPr/>
        </p:nvSpPr>
        <p:spPr>
          <a:xfrm>
            <a:off x="777240" y="5029200"/>
            <a:ext cx="4846320" cy="640080"/>
          </a:xfrm>
          <a:prstGeom prst="rect">
            <a:avLst/>
          </a:prstGeom>
          <a:noFill/>
          <a:ln/>
        </p:spPr>
        <p:txBody>
          <a:bodyPr wrap="square" rtlCol="0" anchor="ctr"/>
          <a:lstStyle/>
          <a:p>
            <a:pPr indent="0" marL="0">
              <a:lnSpc>
                <a:spcPct val="120000"/>
              </a:lnSpc>
              <a:buNone/>
            </a:pPr>
            <a:r>
              <a:rPr lang="en-US" sz="1150" dirty="0">
                <a:solidFill>
                  <a:srgbClr val="16221F"/>
                </a:solidFill>
                <a:latin typeface="Calibri" pitchFamily="34" charset="0"/>
                <a:ea typeface="Calibri" pitchFamily="34" charset="-122"/>
                <a:cs typeface="Calibri" pitchFamily="34" charset="-120"/>
              </a:rPr>
              <a:t>Plant-floor staff without prior systems training — often 600+ staff across multiple sites, the largest population of any non-ERP archetype.</a:t>
            </a:r>
            <a:endParaRPr lang="en-US" sz="1150" dirty="0"/>
          </a:p>
        </p:txBody>
      </p:sp>
      <p:sp>
        <p:nvSpPr>
          <p:cNvPr id="12" name="Shape 9"/>
          <p:cNvSpPr/>
          <p:nvPr/>
        </p:nvSpPr>
        <p:spPr>
          <a:xfrm>
            <a:off x="6080760" y="3063240"/>
            <a:ext cx="5532120" cy="2651760"/>
          </a:xfrm>
          <a:prstGeom prst="roundRect">
            <a:avLst>
              <a:gd name="adj" fmla="val 1724"/>
            </a:avLst>
          </a:prstGeom>
          <a:solidFill>
            <a:srgbClr val="FFFFFF"/>
          </a:solidFill>
          <a:ln/>
        </p:spPr>
      </p:sp>
      <p:sp>
        <p:nvSpPr>
          <p:cNvPr id="13" name="Text 10"/>
          <p:cNvSpPr/>
          <p:nvPr/>
        </p:nvSpPr>
        <p:spPr>
          <a:xfrm>
            <a:off x="6309360" y="3200400"/>
            <a:ext cx="5074920" cy="274320"/>
          </a:xfrm>
          <a:prstGeom prst="rect">
            <a:avLst/>
          </a:prstGeom>
          <a:noFill/>
          <a:ln/>
        </p:spPr>
        <p:txBody>
          <a:bodyPr wrap="square" rtlCol="0" anchor="ctr"/>
          <a:lstStyle/>
          <a:p>
            <a:pPr indent="0" marL="0">
              <a:buNone/>
            </a:pPr>
            <a:r>
              <a:rPr lang="en-US" sz="1050" b="1" spc="100" kern="0" dirty="0">
                <a:solidFill>
                  <a:srgbClr val="2C7A6B"/>
                </a:solidFill>
                <a:latin typeface="Calibri" pitchFamily="34" charset="0"/>
                <a:ea typeface="Calibri" pitchFamily="34" charset="-122"/>
                <a:cs typeface="Calibri" pitchFamily="34" charset="-120"/>
              </a:rPr>
              <a:t>PHASE TEMPLATE</a:t>
            </a:r>
            <a:endParaRPr lang="en-US" sz="1050" dirty="0"/>
          </a:p>
        </p:txBody>
      </p:sp>
      <p:sp>
        <p:nvSpPr>
          <p:cNvPr id="14" name="Text 11"/>
          <p:cNvSpPr/>
          <p:nvPr/>
        </p:nvSpPr>
        <p:spPr>
          <a:xfrm>
            <a:off x="6309360" y="3520440"/>
            <a:ext cx="5074920" cy="365760"/>
          </a:xfrm>
          <a:prstGeom prst="rect">
            <a:avLst/>
          </a:prstGeom>
          <a:noFill/>
          <a:ln/>
        </p:spPr>
        <p:txBody>
          <a:bodyPr wrap="square" rtlCol="0" anchor="ctr"/>
          <a:lstStyle/>
          <a:p>
            <a:pPr indent="0" marL="0">
              <a:buNone/>
            </a:pPr>
            <a:r>
              <a:rPr lang="en-US" sz="1300" b="1" dirty="0">
                <a:solidFill>
                  <a:srgbClr val="16221F"/>
                </a:solidFill>
                <a:latin typeface="Calibri" pitchFamily="34" charset="0"/>
                <a:ea typeface="Calibri" pitchFamily="34" charset="-122"/>
                <a:cs typeface="Calibri" pitchFamily="34" charset="-120"/>
              </a:rPr>
              <a:t>TPL-TSD-7 — 7 phases</a:t>
            </a:r>
            <a:endParaRPr lang="en-US" sz="1300" dirty="0"/>
          </a:p>
        </p:txBody>
      </p:sp>
      <p:sp>
        <p:nvSpPr>
          <p:cNvPr id="15" name="Text 12"/>
          <p:cNvSpPr/>
          <p:nvPr/>
        </p:nvSpPr>
        <p:spPr>
          <a:xfrm>
            <a:off x="6309360" y="3977640"/>
            <a:ext cx="5074920" cy="274320"/>
          </a:xfrm>
          <a:prstGeom prst="rect">
            <a:avLst/>
          </a:prstGeom>
          <a:noFill/>
          <a:ln/>
        </p:spPr>
        <p:txBody>
          <a:bodyPr wrap="square" rtlCol="0" anchor="ctr"/>
          <a:lstStyle/>
          <a:p>
            <a:pPr indent="0" marL="0">
              <a:buNone/>
            </a:pPr>
            <a:r>
              <a:rPr lang="en-US" sz="1080" dirty="0">
                <a:solidFill>
                  <a:srgbClr val="16221F"/>
                </a:solidFill>
                <a:latin typeface="Calibri" pitchFamily="34" charset="0"/>
                <a:ea typeface="Calibri" pitchFamily="34" charset="-122"/>
                <a:cs typeface="Calibri" pitchFamily="34" charset="-120"/>
              </a:rPr>
              <a:t>1. Skills Gap Diagnosis</a:t>
            </a:r>
            <a:endParaRPr lang="en-US" sz="1080" dirty="0"/>
          </a:p>
        </p:txBody>
      </p:sp>
      <p:sp>
        <p:nvSpPr>
          <p:cNvPr id="16" name="Text 13"/>
          <p:cNvSpPr/>
          <p:nvPr/>
        </p:nvSpPr>
        <p:spPr>
          <a:xfrm>
            <a:off x="6309360" y="4270248"/>
            <a:ext cx="5074920" cy="274320"/>
          </a:xfrm>
          <a:prstGeom prst="rect">
            <a:avLst/>
          </a:prstGeom>
          <a:noFill/>
          <a:ln/>
        </p:spPr>
        <p:txBody>
          <a:bodyPr wrap="square" rtlCol="0" anchor="ctr"/>
          <a:lstStyle/>
          <a:p>
            <a:pPr indent="0" marL="0">
              <a:buNone/>
            </a:pPr>
            <a:r>
              <a:rPr lang="en-US" sz="1080" dirty="0">
                <a:solidFill>
                  <a:srgbClr val="16221F"/>
                </a:solidFill>
                <a:latin typeface="Calibri" pitchFamily="34" charset="0"/>
                <a:ea typeface="Calibri" pitchFamily="34" charset="-122"/>
                <a:cs typeface="Calibri" pitchFamily="34" charset="-120"/>
              </a:rPr>
              <a:t>2. Curriculum Design</a:t>
            </a:r>
            <a:endParaRPr lang="en-US" sz="1080" dirty="0"/>
          </a:p>
        </p:txBody>
      </p:sp>
      <p:sp>
        <p:nvSpPr>
          <p:cNvPr id="17" name="Text 14"/>
          <p:cNvSpPr/>
          <p:nvPr/>
        </p:nvSpPr>
        <p:spPr>
          <a:xfrm>
            <a:off x="6309360" y="4562856"/>
            <a:ext cx="5074920" cy="274320"/>
          </a:xfrm>
          <a:prstGeom prst="rect">
            <a:avLst/>
          </a:prstGeom>
          <a:noFill/>
          <a:ln/>
        </p:spPr>
        <p:txBody>
          <a:bodyPr wrap="square" rtlCol="0" anchor="ctr"/>
          <a:lstStyle/>
          <a:p>
            <a:pPr indent="0" marL="0">
              <a:buNone/>
            </a:pPr>
            <a:r>
              <a:rPr lang="en-US" sz="1080" dirty="0">
                <a:solidFill>
                  <a:srgbClr val="16221F"/>
                </a:solidFill>
                <a:latin typeface="Calibri" pitchFamily="34" charset="0"/>
                <a:ea typeface="Calibri" pitchFamily="34" charset="-122"/>
                <a:cs typeface="Calibri" pitchFamily="34" charset="-120"/>
              </a:rPr>
              <a:t>3. Training Delivery</a:t>
            </a:r>
            <a:endParaRPr lang="en-US" sz="1080" dirty="0"/>
          </a:p>
        </p:txBody>
      </p:sp>
      <p:sp>
        <p:nvSpPr>
          <p:cNvPr id="18" name="Text 15"/>
          <p:cNvSpPr/>
          <p:nvPr/>
        </p:nvSpPr>
        <p:spPr>
          <a:xfrm>
            <a:off x="6309360" y="4855464"/>
            <a:ext cx="5074920" cy="274320"/>
          </a:xfrm>
          <a:prstGeom prst="rect">
            <a:avLst/>
          </a:prstGeom>
          <a:noFill/>
          <a:ln/>
        </p:spPr>
        <p:txBody>
          <a:bodyPr wrap="square" rtlCol="0" anchor="ctr"/>
          <a:lstStyle/>
          <a:p>
            <a:pPr indent="0" marL="0">
              <a:buNone/>
            </a:pPr>
            <a:r>
              <a:rPr lang="en-US" sz="1080" dirty="0">
                <a:solidFill>
                  <a:srgbClr val="16221F"/>
                </a:solidFill>
                <a:latin typeface="Calibri" pitchFamily="34" charset="0"/>
                <a:ea typeface="Calibri" pitchFamily="34" charset="-122"/>
                <a:cs typeface="Calibri" pitchFamily="34" charset="-120"/>
              </a:rPr>
              <a:t>4. Competency Verification</a:t>
            </a:r>
            <a:endParaRPr lang="en-US" sz="1080" dirty="0"/>
          </a:p>
        </p:txBody>
      </p:sp>
      <p:sp>
        <p:nvSpPr>
          <p:cNvPr id="19" name="Text 16"/>
          <p:cNvSpPr/>
          <p:nvPr/>
        </p:nvSpPr>
        <p:spPr>
          <a:xfrm>
            <a:off x="6309360" y="5193792"/>
            <a:ext cx="5074920" cy="274320"/>
          </a:xfrm>
          <a:prstGeom prst="rect">
            <a:avLst/>
          </a:prstGeom>
          <a:noFill/>
          <a:ln/>
        </p:spPr>
        <p:txBody>
          <a:bodyPr wrap="square" rtlCol="0" anchor="ctr"/>
          <a:lstStyle/>
          <a:p>
            <a:pPr indent="0" marL="0">
              <a:buNone/>
            </a:pPr>
            <a:r>
              <a:rPr lang="en-US" sz="1000" i="1" dirty="0">
                <a:solidFill>
                  <a:srgbClr val="5C6D68"/>
                </a:solidFill>
                <a:latin typeface="Calibri" pitchFamily="34" charset="0"/>
                <a:ea typeface="Calibri" pitchFamily="34" charset="-122"/>
                <a:cs typeface="Calibri" pitchFamily="34" charset="-120"/>
              </a:rPr>
              <a:t>… 3 more (next slide)</a:t>
            </a:r>
            <a:endParaRPr lang="en-US" sz="1000" dirty="0"/>
          </a:p>
        </p:txBody>
      </p:sp>
      <p:sp>
        <p:nvSpPr>
          <p:cNvPr id="20" name="Text 17"/>
          <p:cNvSpPr/>
          <p:nvPr/>
        </p:nvSpPr>
        <p:spPr>
          <a:xfrm>
            <a:off x="548640" y="6528816"/>
            <a:ext cx="7315200" cy="274320"/>
          </a:xfrm>
          <a:prstGeom prst="rect">
            <a:avLst/>
          </a:prstGeom>
          <a:noFill/>
          <a:ln/>
        </p:spPr>
        <p:txBody>
          <a:bodyPr wrap="square" rtlCol="0" anchor="ctr"/>
          <a:lstStyle/>
          <a:p>
            <a:pPr algn="l" indent="0" marL="0">
              <a:buNone/>
            </a:pPr>
            <a:r>
              <a:rPr lang="en-US" sz="900" dirty="0">
                <a:solidFill>
                  <a:srgbClr val="CFE3DD"/>
                </a:solidFill>
                <a:latin typeface="Calibri" pitchFamily="34" charset="0"/>
                <a:ea typeface="Calibri" pitchFamily="34" charset="-122"/>
                <a:cs typeface="Calibri" pitchFamily="34" charset="-120"/>
              </a:rPr>
              <a:t>journi — The 8 Transformation Types</a:t>
            </a:r>
            <a:endParaRPr lang="en-US" sz="900" dirty="0"/>
          </a:p>
        </p:txBody>
      </p:sp>
      <p:sp>
        <p:nvSpPr>
          <p:cNvPr id="21" name="Text 18"/>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CFE3DD"/>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TRAINING &amp; SKILLS · JOURNI PHASE TEMPLATE</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200" b="1" dirty="0">
                <a:solidFill>
                  <a:srgbClr val="2C7A6B"/>
                </a:solidFill>
                <a:latin typeface="Calibri" pitchFamily="34" charset="0"/>
                <a:ea typeface="Calibri" pitchFamily="34" charset="-122"/>
                <a:cs typeface="Calibri" pitchFamily="34" charset="-120"/>
              </a:rPr>
              <a:t>TPL-TSD-7: 7 Phases, In Order</a:t>
            </a:r>
            <a:endParaRPr lang="en-US" sz="2200" dirty="0"/>
          </a:p>
        </p:txBody>
      </p:sp>
      <p:sp>
        <p:nvSpPr>
          <p:cNvPr id="4" name="Shape 2"/>
          <p:cNvSpPr/>
          <p:nvPr/>
        </p:nvSpPr>
        <p:spPr>
          <a:xfrm>
            <a:off x="548640" y="2103120"/>
            <a:ext cx="2697480" cy="566928"/>
          </a:xfrm>
          <a:prstGeom prst="chevron">
            <a:avLst/>
          </a:prstGeom>
          <a:solidFill>
            <a:srgbClr val="2C7A6B"/>
          </a:solidFill>
          <a:ln/>
        </p:spPr>
      </p:sp>
      <p:sp>
        <p:nvSpPr>
          <p:cNvPr id="5" name="Text 3"/>
          <p:cNvSpPr/>
          <p:nvPr/>
        </p:nvSpPr>
        <p:spPr>
          <a:xfrm>
            <a:off x="594360" y="2103120"/>
            <a:ext cx="260604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Skills Gap Diagnosis</a:t>
            </a:r>
            <a:endParaRPr lang="en-US" sz="950" dirty="0"/>
          </a:p>
        </p:txBody>
      </p:sp>
      <p:sp>
        <p:nvSpPr>
          <p:cNvPr id="6" name="Shape 4"/>
          <p:cNvSpPr/>
          <p:nvPr/>
        </p:nvSpPr>
        <p:spPr>
          <a:xfrm>
            <a:off x="3337560" y="2103120"/>
            <a:ext cx="2697480" cy="566928"/>
          </a:xfrm>
          <a:prstGeom prst="chevron">
            <a:avLst/>
          </a:prstGeom>
          <a:solidFill>
            <a:srgbClr val="2C7A6B"/>
          </a:solidFill>
          <a:ln/>
        </p:spPr>
      </p:sp>
      <p:sp>
        <p:nvSpPr>
          <p:cNvPr id="7" name="Text 5"/>
          <p:cNvSpPr/>
          <p:nvPr/>
        </p:nvSpPr>
        <p:spPr>
          <a:xfrm>
            <a:off x="3383280" y="2103120"/>
            <a:ext cx="260604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Curriculum Design</a:t>
            </a:r>
            <a:endParaRPr lang="en-US" sz="950" dirty="0"/>
          </a:p>
        </p:txBody>
      </p:sp>
      <p:sp>
        <p:nvSpPr>
          <p:cNvPr id="8" name="Shape 6"/>
          <p:cNvSpPr/>
          <p:nvPr/>
        </p:nvSpPr>
        <p:spPr>
          <a:xfrm>
            <a:off x="6126480" y="2103120"/>
            <a:ext cx="2697480" cy="566928"/>
          </a:xfrm>
          <a:prstGeom prst="chevron">
            <a:avLst/>
          </a:prstGeom>
          <a:solidFill>
            <a:srgbClr val="2C7A6B"/>
          </a:solidFill>
          <a:ln/>
        </p:spPr>
      </p:sp>
      <p:sp>
        <p:nvSpPr>
          <p:cNvPr id="9" name="Text 7"/>
          <p:cNvSpPr/>
          <p:nvPr/>
        </p:nvSpPr>
        <p:spPr>
          <a:xfrm>
            <a:off x="6172200" y="2103120"/>
            <a:ext cx="260604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Training Delivery</a:t>
            </a:r>
            <a:endParaRPr lang="en-US" sz="950" dirty="0"/>
          </a:p>
        </p:txBody>
      </p:sp>
      <p:sp>
        <p:nvSpPr>
          <p:cNvPr id="10" name="Shape 8"/>
          <p:cNvSpPr/>
          <p:nvPr/>
        </p:nvSpPr>
        <p:spPr>
          <a:xfrm>
            <a:off x="8915400" y="2103120"/>
            <a:ext cx="2697480" cy="566928"/>
          </a:xfrm>
          <a:prstGeom prst="chevron">
            <a:avLst/>
          </a:prstGeom>
          <a:solidFill>
            <a:srgbClr val="2C7A6B"/>
          </a:solidFill>
          <a:ln/>
        </p:spPr>
      </p:sp>
      <p:sp>
        <p:nvSpPr>
          <p:cNvPr id="11" name="Text 9"/>
          <p:cNvSpPr/>
          <p:nvPr/>
        </p:nvSpPr>
        <p:spPr>
          <a:xfrm>
            <a:off x="8961120" y="2103120"/>
            <a:ext cx="260604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4. Competency Verification</a:t>
            </a:r>
            <a:endParaRPr lang="en-US" sz="950" dirty="0"/>
          </a:p>
        </p:txBody>
      </p:sp>
      <p:sp>
        <p:nvSpPr>
          <p:cNvPr id="12" name="Shape 10"/>
          <p:cNvSpPr/>
          <p:nvPr/>
        </p:nvSpPr>
        <p:spPr>
          <a:xfrm>
            <a:off x="548640" y="2798064"/>
            <a:ext cx="3627120" cy="566928"/>
          </a:xfrm>
          <a:prstGeom prst="chevron">
            <a:avLst/>
          </a:prstGeom>
          <a:solidFill>
            <a:srgbClr val="2C7A6B"/>
          </a:solidFill>
          <a:ln/>
        </p:spPr>
      </p:sp>
      <p:sp>
        <p:nvSpPr>
          <p:cNvPr id="13" name="Text 11"/>
          <p:cNvSpPr/>
          <p:nvPr/>
        </p:nvSpPr>
        <p:spPr>
          <a:xfrm>
            <a:off x="594360" y="2798064"/>
            <a:ext cx="353568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5. Practical Application</a:t>
            </a:r>
            <a:endParaRPr lang="en-US" sz="950" dirty="0"/>
          </a:p>
        </p:txBody>
      </p:sp>
      <p:sp>
        <p:nvSpPr>
          <p:cNvPr id="14" name="Shape 12"/>
          <p:cNvSpPr/>
          <p:nvPr/>
        </p:nvSpPr>
        <p:spPr>
          <a:xfrm>
            <a:off x="4267200" y="2798064"/>
            <a:ext cx="3627120" cy="566928"/>
          </a:xfrm>
          <a:prstGeom prst="chevron">
            <a:avLst/>
          </a:prstGeom>
          <a:solidFill>
            <a:srgbClr val="2C7A6B"/>
          </a:solidFill>
          <a:ln/>
        </p:spPr>
      </p:sp>
      <p:sp>
        <p:nvSpPr>
          <p:cNvPr id="15" name="Text 13"/>
          <p:cNvSpPr/>
          <p:nvPr/>
        </p:nvSpPr>
        <p:spPr>
          <a:xfrm>
            <a:off x="4312920" y="2798064"/>
            <a:ext cx="353568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6. On-the-Job Coaching</a:t>
            </a:r>
            <a:endParaRPr lang="en-US" sz="950" dirty="0"/>
          </a:p>
        </p:txBody>
      </p:sp>
      <p:sp>
        <p:nvSpPr>
          <p:cNvPr id="16" name="Shape 14"/>
          <p:cNvSpPr/>
          <p:nvPr/>
        </p:nvSpPr>
        <p:spPr>
          <a:xfrm>
            <a:off x="7985760" y="2798064"/>
            <a:ext cx="3627120" cy="566928"/>
          </a:xfrm>
          <a:prstGeom prst="chevron">
            <a:avLst/>
          </a:prstGeom>
          <a:solidFill>
            <a:srgbClr val="2C7A6B"/>
          </a:solidFill>
          <a:ln/>
        </p:spPr>
      </p:sp>
      <p:sp>
        <p:nvSpPr>
          <p:cNvPr id="17" name="Text 15"/>
          <p:cNvSpPr/>
          <p:nvPr/>
        </p:nvSpPr>
        <p:spPr>
          <a:xfrm>
            <a:off x="8031480" y="2798064"/>
            <a:ext cx="353568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7. Skills Sustainment</a:t>
            </a:r>
            <a:endParaRPr lang="en-US" sz="950" dirty="0"/>
          </a:p>
        </p:txBody>
      </p:sp>
      <p:sp>
        <p:nvSpPr>
          <p:cNvPr id="18" name="Text 16"/>
          <p:cNvSpPr/>
          <p:nvPr/>
        </p:nvSpPr>
        <p:spPr>
          <a:xfrm>
            <a:off x="548640" y="3950208"/>
            <a:ext cx="11064240" cy="2194560"/>
          </a:xfrm>
          <a:prstGeom prst="rect">
            <a:avLst/>
          </a:prstGeom>
          <a:noFill/>
          <a:ln/>
        </p:spPr>
        <p:txBody>
          <a:bodyPr wrap="square" rtlCol="0" anchor="ctr"/>
          <a:lstStyle/>
          <a:p>
            <a:pPr indent="0" marL="0">
              <a:lnSpc>
                <a:spcPct val="130000"/>
              </a:lnSpc>
              <a:buNone/>
            </a:pPr>
            <a:r>
              <a:rPr lang="en-US" sz="1300" dirty="0">
                <a:solidFill>
                  <a:srgbClr val="16221F"/>
                </a:solidFill>
                <a:latin typeface="Calibri" pitchFamily="34" charset="0"/>
                <a:ea typeface="Calibri" pitchFamily="34" charset="-122"/>
                <a:cs typeface="Calibri" pitchFamily="34" charset="-120"/>
              </a:rPr>
              <a:t>All five ADKAR blocks dominate equally, in sequence. Reinforcement is engineered by two dedicated phases (Practical Application, On-the-Job Coaching) — the only archetype in the series to build reinforcement deliberately rather than leave it to chance.</a:t>
            </a:r>
            <a:endParaRPr lang="en-US" sz="1300" dirty="0"/>
          </a:p>
        </p:txBody>
      </p:sp>
      <p:sp>
        <p:nvSpPr>
          <p:cNvPr id="19" name="Text 17"/>
          <p:cNvSpPr/>
          <p:nvPr/>
        </p:nvSpPr>
        <p:spPr>
          <a:xfrm>
            <a:off x="548640" y="3630168"/>
            <a:ext cx="11064240" cy="274320"/>
          </a:xfrm>
          <a:prstGeom prst="rect">
            <a:avLst/>
          </a:prstGeom>
          <a:noFill/>
          <a:ln/>
        </p:spPr>
        <p:txBody>
          <a:bodyPr wrap="square" rtlCol="0" anchor="ctr"/>
          <a:lstStyle/>
          <a:p>
            <a:pPr indent="0" marL="0">
              <a:buNone/>
            </a:pPr>
            <a:r>
              <a:rPr lang="en-US" sz="1050" b="1" spc="100" kern="0" dirty="0">
                <a:solidFill>
                  <a:srgbClr val="C2661C"/>
                </a:solidFill>
                <a:latin typeface="Calibri" pitchFamily="34" charset="0"/>
                <a:ea typeface="Calibri" pitchFamily="34" charset="-122"/>
                <a:cs typeface="Calibri" pitchFamily="34" charset="-120"/>
              </a:rPr>
              <a:t>FRAMEWORK WEIGHTING FOR THIS ARCHETYPE</a:t>
            </a:r>
            <a:endParaRPr lang="en-US" sz="1050" dirty="0"/>
          </a:p>
        </p:txBody>
      </p:sp>
      <p:sp>
        <p:nvSpPr>
          <p:cNvPr id="20" name="Text 18"/>
          <p:cNvSpPr/>
          <p:nvPr/>
        </p:nvSpPr>
        <p:spPr>
          <a:xfrm>
            <a:off x="548640" y="6528816"/>
            <a:ext cx="73152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The 8 Transformation Types</a:t>
            </a:r>
            <a:endParaRPr lang="en-US" sz="900" dirty="0"/>
          </a:p>
        </p:txBody>
      </p:sp>
      <p:sp>
        <p:nvSpPr>
          <p:cNvPr id="21" name="Text 19"/>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TRAINING &amp; SKILLS · TENANT SETUP</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500" b="1" dirty="0">
                <a:solidFill>
                  <a:srgbClr val="2C7A6B"/>
                </a:solidFill>
                <a:latin typeface="Calibri" pitchFamily="34" charset="0"/>
                <a:ea typeface="Calibri" pitchFamily="34" charset="-122"/>
                <a:cs typeface="Calibri" pitchFamily="34" charset="-120"/>
              </a:rPr>
              <a:t>The RACSI Team for This Case</a:t>
            </a:r>
            <a:endParaRPr lang="en-US" sz="2500" dirty="0"/>
          </a:p>
        </p:txBody>
      </p:sp>
      <p:sp>
        <p:nvSpPr>
          <p:cNvPr id="4" name="Text 2"/>
          <p:cNvSpPr/>
          <p:nvPr/>
        </p:nvSpPr>
        <p:spPr>
          <a:xfrm>
            <a:off x="548640" y="1417320"/>
            <a:ext cx="11064240" cy="457200"/>
          </a:xfrm>
          <a:prstGeom prst="rect">
            <a:avLst/>
          </a:prstGeom>
          <a:noFill/>
          <a:ln/>
        </p:spPr>
        <p:txBody>
          <a:bodyPr wrap="square" rtlCol="0" anchor="t"/>
          <a:lstStyle/>
          <a:p>
            <a:pPr indent="0" marL="0">
              <a:lnSpc>
                <a:spcPct val="115000"/>
              </a:lnSpc>
              <a:buNone/>
            </a:pPr>
            <a:r>
              <a:rPr lang="en-US" sz="1200" dirty="0">
                <a:solidFill>
                  <a:srgbClr val="5C6D68"/>
                </a:solidFill>
                <a:latin typeface="Calibri" pitchFamily="34" charset="0"/>
                <a:ea typeface="Calibri" pitchFamily="34" charset="-122"/>
                <a:cs typeface="Calibri" pitchFamily="34" charset="-120"/>
              </a:rPr>
              <a:t>journi's 7-code RACSI role taxonomy (ES/CM/PM/FPO/ITL/SUP/EU), assigned to real, named accounts for this program.</a:t>
            </a:r>
            <a:endParaRPr lang="en-US" sz="12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11064240" cy="914400"/>
        </p:xfrm>
        <a:graphic>
          <a:graphicData uri="http://schemas.openxmlformats.org/drawingml/2006/table">
            <a:tbl>
              <a:tblPr/>
              <a:tblGrid>
                <a:gridCol w="3108960"/>
                <a:gridCol w="1645920"/>
                <a:gridCol w="6309360"/>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Name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2C7A6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RACSI Code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2C7A6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Role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2C7A6B"/>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Fouad Belghazi</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ES</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Sponsor — VP Manufacturing Operations</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Houda Amrani</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CM</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Change Manager</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Tarik Benjelloun</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PM</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Skills Program Lead</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Leila Ouahbi</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FPO</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Learning &amp; Development Lead</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Younes Berrada</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ITL</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Learning-systems and AI-drafting-tool lead</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Karima Semlali</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SUP</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Kenitra Plant Floor Supervisor</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Mustapha Idrissi</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SUP</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Settat Plant Floor Supervisor</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bl>
          </a:graphicData>
        </a:graphic>
      </p:graphicFrame>
      <p:sp>
        <p:nvSpPr>
          <p:cNvPr id="6" name="Text 3"/>
          <p:cNvSpPr/>
          <p:nvPr/>
        </p:nvSpPr>
        <p:spPr>
          <a:xfrm>
            <a:off x="548640" y="6528816"/>
            <a:ext cx="73152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The 8 Transformation Types</a:t>
            </a:r>
            <a:endParaRPr lang="en-US" sz="900" dirty="0"/>
          </a:p>
        </p:txBody>
      </p:sp>
      <p:sp>
        <p:nvSpPr>
          <p:cNvPr id="7" name="Text 4"/>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47</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TRAINING &amp; SKILLS · JOURNI MODULES</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400" b="1" dirty="0">
                <a:solidFill>
                  <a:srgbClr val="2C7A6B"/>
                </a:solidFill>
                <a:latin typeface="Calibri" pitchFamily="34" charset="0"/>
                <a:ea typeface="Calibri" pitchFamily="34" charset="-122"/>
                <a:cs typeface="Calibri" pitchFamily="34" charset="-120"/>
              </a:rPr>
              <a:t>Which modules dominate this archetype</a:t>
            </a:r>
            <a:endParaRPr lang="en-US" sz="2400" dirty="0"/>
          </a:p>
        </p:txBody>
      </p:sp>
      <p:sp>
        <p:nvSpPr>
          <p:cNvPr id="4" name="Shape 2"/>
          <p:cNvSpPr/>
          <p:nvPr/>
        </p:nvSpPr>
        <p:spPr>
          <a:xfrm>
            <a:off x="548640" y="2057400"/>
            <a:ext cx="11064240" cy="932688"/>
          </a:xfrm>
          <a:prstGeom prst="roundRect">
            <a:avLst>
              <a:gd name="adj" fmla="val 4902"/>
            </a:avLst>
          </a:prstGeom>
          <a:solidFill>
            <a:srgbClr val="EAF2EF"/>
          </a:solidFill>
          <a:ln/>
        </p:spPr>
      </p:sp>
      <p:sp>
        <p:nvSpPr>
          <p:cNvPr id="5" name="Text 3"/>
          <p:cNvSpPr/>
          <p:nvPr/>
        </p:nvSpPr>
        <p:spPr>
          <a:xfrm>
            <a:off x="777240" y="2167128"/>
            <a:ext cx="3200400" cy="713232"/>
          </a:xfrm>
          <a:prstGeom prst="rect">
            <a:avLst/>
          </a:prstGeom>
          <a:noFill/>
          <a:ln/>
        </p:spPr>
        <p:txBody>
          <a:bodyPr wrap="square" rtlCol="0" anchor="ctr"/>
          <a:lstStyle/>
          <a:p>
            <a:pPr indent="0" marL="0">
              <a:lnSpc>
                <a:spcPct val="110000"/>
              </a:lnSpc>
              <a:buNone/>
            </a:pPr>
            <a:r>
              <a:rPr lang="en-US" sz="1300" b="1" dirty="0">
                <a:solidFill>
                  <a:srgbClr val="2C7A6B"/>
                </a:solidFill>
                <a:latin typeface="Calibri" pitchFamily="34" charset="0"/>
                <a:ea typeface="Calibri" pitchFamily="34" charset="-122"/>
                <a:cs typeface="Calibri" pitchFamily="34" charset="-120"/>
              </a:rPr>
              <a:t>M9 (Training)</a:t>
            </a:r>
            <a:endParaRPr lang="en-US" sz="1300" dirty="0"/>
          </a:p>
        </p:txBody>
      </p:sp>
      <p:sp>
        <p:nvSpPr>
          <p:cNvPr id="6" name="Text 4"/>
          <p:cNvSpPr/>
          <p:nvPr/>
        </p:nvSpPr>
        <p:spPr>
          <a:xfrm>
            <a:off x="4069080" y="2167128"/>
            <a:ext cx="7360920" cy="713232"/>
          </a:xfrm>
          <a:prstGeom prst="rect">
            <a:avLst/>
          </a:prstGeom>
          <a:noFill/>
          <a:ln/>
        </p:spPr>
        <p:txBody>
          <a:bodyPr wrap="square" rtlCol="0" anchor="ctr"/>
          <a:lstStyle/>
          <a:p>
            <a:pPr indent="0" marL="0">
              <a:lnSpc>
                <a:spcPct val="120000"/>
              </a:lnSpc>
              <a:buNone/>
            </a:pPr>
            <a:r>
              <a:rPr lang="en-US" sz="1180" dirty="0">
                <a:solidFill>
                  <a:srgbClr val="16221F"/>
                </a:solidFill>
                <a:latin typeface="Calibri" pitchFamily="34" charset="0"/>
                <a:ea typeface="Calibri" pitchFamily="34" charset="-122"/>
                <a:cs typeface="Calibri" pitchFamily="34" charset="-120"/>
              </a:rPr>
              <a:t>The heaviest use of any archetype — the entire program's content runs through this module.</a:t>
            </a:r>
            <a:endParaRPr lang="en-US" sz="1180" dirty="0"/>
          </a:p>
        </p:txBody>
      </p:sp>
      <p:sp>
        <p:nvSpPr>
          <p:cNvPr id="7" name="Shape 5"/>
          <p:cNvSpPr/>
          <p:nvPr/>
        </p:nvSpPr>
        <p:spPr>
          <a:xfrm>
            <a:off x="548640" y="3099816"/>
            <a:ext cx="11064240" cy="932688"/>
          </a:xfrm>
          <a:prstGeom prst="roundRect">
            <a:avLst>
              <a:gd name="adj" fmla="val 4902"/>
            </a:avLst>
          </a:prstGeom>
          <a:solidFill>
            <a:srgbClr val="EAF2EF"/>
          </a:solidFill>
          <a:ln/>
        </p:spPr>
      </p:sp>
      <p:sp>
        <p:nvSpPr>
          <p:cNvPr id="8" name="Text 6"/>
          <p:cNvSpPr/>
          <p:nvPr/>
        </p:nvSpPr>
        <p:spPr>
          <a:xfrm>
            <a:off x="777240" y="3209544"/>
            <a:ext cx="3200400" cy="713232"/>
          </a:xfrm>
          <a:prstGeom prst="rect">
            <a:avLst/>
          </a:prstGeom>
          <a:noFill/>
          <a:ln/>
        </p:spPr>
        <p:txBody>
          <a:bodyPr wrap="square" rtlCol="0" anchor="ctr"/>
          <a:lstStyle/>
          <a:p>
            <a:pPr indent="0" marL="0">
              <a:lnSpc>
                <a:spcPct val="110000"/>
              </a:lnSpc>
              <a:buNone/>
            </a:pPr>
            <a:r>
              <a:rPr lang="en-US" sz="1300" b="1" dirty="0">
                <a:solidFill>
                  <a:srgbClr val="2C7A6B"/>
                </a:solidFill>
                <a:latin typeface="Calibri" pitchFamily="34" charset="0"/>
                <a:ea typeface="Calibri" pitchFamily="34" charset="-122"/>
                <a:cs typeface="Calibri" pitchFamily="34" charset="-120"/>
              </a:rPr>
              <a:t>M16 (AI Use Case Library)</a:t>
            </a:r>
            <a:endParaRPr lang="en-US" sz="1300" dirty="0"/>
          </a:p>
        </p:txBody>
      </p:sp>
      <p:sp>
        <p:nvSpPr>
          <p:cNvPr id="9" name="Text 7"/>
          <p:cNvSpPr/>
          <p:nvPr/>
        </p:nvSpPr>
        <p:spPr>
          <a:xfrm>
            <a:off x="4069080" y="3209544"/>
            <a:ext cx="7360920" cy="713232"/>
          </a:xfrm>
          <a:prstGeom prst="rect">
            <a:avLst/>
          </a:prstGeom>
          <a:noFill/>
          <a:ln/>
        </p:spPr>
        <p:txBody>
          <a:bodyPr wrap="square" rtlCol="0" anchor="ctr"/>
          <a:lstStyle/>
          <a:p>
            <a:pPr indent="0" marL="0">
              <a:lnSpc>
                <a:spcPct val="120000"/>
              </a:lnSpc>
              <a:buNone/>
            </a:pPr>
            <a:r>
              <a:rPr lang="en-US" sz="1180" dirty="0">
                <a:solidFill>
                  <a:srgbClr val="16221F"/>
                </a:solidFill>
                <a:latin typeface="Calibri" pitchFamily="34" charset="0"/>
                <a:ea typeface="Calibri" pitchFamily="34" charset="-122"/>
                <a:cs typeface="Calibri" pitchFamily="34" charset="-120"/>
              </a:rPr>
              <a:t>AI-assisted curriculum drafting — the archetype that most exercises this module.</a:t>
            </a:r>
            <a:endParaRPr lang="en-US" sz="1180" dirty="0"/>
          </a:p>
        </p:txBody>
      </p:sp>
      <p:sp>
        <p:nvSpPr>
          <p:cNvPr id="10" name="Shape 8"/>
          <p:cNvSpPr/>
          <p:nvPr/>
        </p:nvSpPr>
        <p:spPr>
          <a:xfrm>
            <a:off x="548640" y="4142232"/>
            <a:ext cx="11064240" cy="932688"/>
          </a:xfrm>
          <a:prstGeom prst="roundRect">
            <a:avLst>
              <a:gd name="adj" fmla="val 4902"/>
            </a:avLst>
          </a:prstGeom>
          <a:solidFill>
            <a:srgbClr val="EAF2EF"/>
          </a:solidFill>
          <a:ln/>
        </p:spPr>
      </p:sp>
      <p:sp>
        <p:nvSpPr>
          <p:cNvPr id="11" name="Text 9"/>
          <p:cNvSpPr/>
          <p:nvPr/>
        </p:nvSpPr>
        <p:spPr>
          <a:xfrm>
            <a:off x="777240" y="4251960"/>
            <a:ext cx="3200400" cy="713232"/>
          </a:xfrm>
          <a:prstGeom prst="rect">
            <a:avLst/>
          </a:prstGeom>
          <a:noFill/>
          <a:ln/>
        </p:spPr>
        <p:txBody>
          <a:bodyPr wrap="square" rtlCol="0" anchor="ctr"/>
          <a:lstStyle/>
          <a:p>
            <a:pPr indent="0" marL="0">
              <a:lnSpc>
                <a:spcPct val="110000"/>
              </a:lnSpc>
              <a:buNone/>
            </a:pPr>
            <a:r>
              <a:rPr lang="en-US" sz="1300" b="1" dirty="0">
                <a:solidFill>
                  <a:srgbClr val="2C7A6B"/>
                </a:solidFill>
                <a:latin typeface="Calibri" pitchFamily="34" charset="0"/>
                <a:ea typeface="Calibri" pitchFamily="34" charset="-122"/>
                <a:cs typeface="Calibri" pitchFamily="34" charset="-120"/>
              </a:rPr>
              <a:t>M5 (ADKAR Engine)</a:t>
            </a:r>
            <a:endParaRPr lang="en-US" sz="1300" dirty="0"/>
          </a:p>
        </p:txBody>
      </p:sp>
      <p:sp>
        <p:nvSpPr>
          <p:cNvPr id="12" name="Text 10"/>
          <p:cNvSpPr/>
          <p:nvPr/>
        </p:nvSpPr>
        <p:spPr>
          <a:xfrm>
            <a:off x="4069080" y="4251960"/>
            <a:ext cx="7360920" cy="713232"/>
          </a:xfrm>
          <a:prstGeom prst="rect">
            <a:avLst/>
          </a:prstGeom>
          <a:noFill/>
          <a:ln/>
        </p:spPr>
        <p:txBody>
          <a:bodyPr wrap="square" rtlCol="0" anchor="ctr"/>
          <a:lstStyle/>
          <a:p>
            <a:pPr indent="0" marL="0">
              <a:lnSpc>
                <a:spcPct val="120000"/>
              </a:lnSpc>
              <a:buNone/>
            </a:pPr>
            <a:r>
              <a:rPr lang="en-US" sz="1180" dirty="0">
                <a:solidFill>
                  <a:srgbClr val="16221F"/>
                </a:solidFill>
                <a:latin typeface="Calibri" pitchFamily="34" charset="0"/>
                <a:ea typeface="Calibri" pitchFamily="34" charset="-122"/>
                <a:cs typeface="Calibri" pitchFamily="34" charset="-120"/>
              </a:rPr>
              <a:t>All five blocks tracked in sequence, from Awareness through Reinforcement.</a:t>
            </a:r>
            <a:endParaRPr lang="en-US" sz="1180" dirty="0"/>
          </a:p>
        </p:txBody>
      </p:sp>
      <p:sp>
        <p:nvSpPr>
          <p:cNvPr id="13" name="Shape 11"/>
          <p:cNvSpPr/>
          <p:nvPr/>
        </p:nvSpPr>
        <p:spPr>
          <a:xfrm>
            <a:off x="548640" y="5184648"/>
            <a:ext cx="11064240" cy="932688"/>
          </a:xfrm>
          <a:prstGeom prst="roundRect">
            <a:avLst>
              <a:gd name="adj" fmla="val 4902"/>
            </a:avLst>
          </a:prstGeom>
          <a:solidFill>
            <a:srgbClr val="EAF2EF"/>
          </a:solidFill>
          <a:ln/>
        </p:spPr>
      </p:sp>
      <p:sp>
        <p:nvSpPr>
          <p:cNvPr id="14" name="Text 12"/>
          <p:cNvSpPr/>
          <p:nvPr/>
        </p:nvSpPr>
        <p:spPr>
          <a:xfrm>
            <a:off x="777240" y="5294376"/>
            <a:ext cx="3200400" cy="713232"/>
          </a:xfrm>
          <a:prstGeom prst="rect">
            <a:avLst/>
          </a:prstGeom>
          <a:noFill/>
          <a:ln/>
        </p:spPr>
        <p:txBody>
          <a:bodyPr wrap="square" rtlCol="0" anchor="ctr"/>
          <a:lstStyle/>
          <a:p>
            <a:pPr indent="0" marL="0">
              <a:lnSpc>
                <a:spcPct val="110000"/>
              </a:lnSpc>
              <a:buNone/>
            </a:pPr>
            <a:r>
              <a:rPr lang="en-US" sz="1300" b="1" dirty="0">
                <a:solidFill>
                  <a:srgbClr val="2C7A6B"/>
                </a:solidFill>
                <a:latin typeface="Calibri" pitchFamily="34" charset="0"/>
                <a:ea typeface="Calibri" pitchFamily="34" charset="-122"/>
                <a:cs typeface="Calibri" pitchFamily="34" charset="-120"/>
              </a:rPr>
              <a:t>M12 (Sustainment)</a:t>
            </a:r>
            <a:endParaRPr lang="en-US" sz="1300" dirty="0"/>
          </a:p>
        </p:txBody>
      </p:sp>
      <p:sp>
        <p:nvSpPr>
          <p:cNvPr id="15" name="Text 13"/>
          <p:cNvSpPr/>
          <p:nvPr/>
        </p:nvSpPr>
        <p:spPr>
          <a:xfrm>
            <a:off x="4069080" y="5294376"/>
            <a:ext cx="7360920" cy="713232"/>
          </a:xfrm>
          <a:prstGeom prst="rect">
            <a:avLst/>
          </a:prstGeom>
          <a:noFill/>
          <a:ln/>
        </p:spPr>
        <p:txBody>
          <a:bodyPr wrap="square" rtlCol="0" anchor="ctr"/>
          <a:lstStyle/>
          <a:p>
            <a:pPr indent="0" marL="0">
              <a:lnSpc>
                <a:spcPct val="120000"/>
              </a:lnSpc>
              <a:buNone/>
            </a:pPr>
            <a:r>
              <a:rPr lang="en-US" sz="1180" dirty="0">
                <a:solidFill>
                  <a:srgbClr val="16221F"/>
                </a:solidFill>
                <a:latin typeface="Calibri" pitchFamily="34" charset="0"/>
                <a:ea typeface="Calibri" pitchFamily="34" charset="-122"/>
                <a:cs typeface="Calibri" pitchFamily="34" charset="-120"/>
              </a:rPr>
              <a:t>Two consecutive clean checkpoints, spaced apart, before the program closes Refreeze.</a:t>
            </a:r>
            <a:endParaRPr lang="en-US" sz="1180" dirty="0"/>
          </a:p>
        </p:txBody>
      </p:sp>
      <p:sp>
        <p:nvSpPr>
          <p:cNvPr id="16" name="Text 14"/>
          <p:cNvSpPr/>
          <p:nvPr/>
        </p:nvSpPr>
        <p:spPr>
          <a:xfrm>
            <a:off x="548640" y="6528816"/>
            <a:ext cx="73152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The 8 Transformation Types</a:t>
            </a:r>
            <a:endParaRPr lang="en-US" sz="900" dirty="0"/>
          </a:p>
        </p:txBody>
      </p:sp>
      <p:sp>
        <p:nvSpPr>
          <p:cNvPr id="17" name="Text 15"/>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48</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TRAINING &amp; SKILLS · REAL SCENARIO</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100" b="1" dirty="0">
                <a:solidFill>
                  <a:srgbClr val="2C7A6B"/>
                </a:solidFill>
                <a:latin typeface="Calibri" pitchFamily="34" charset="0"/>
                <a:ea typeface="Calibri" pitchFamily="34" charset="-122"/>
                <a:cs typeface="Calibri" pitchFamily="34" charset="-120"/>
              </a:rPr>
              <a:t>Plant Digital Skills Upskilling Program</a:t>
            </a:r>
            <a:endParaRPr lang="en-US" sz="2100" dirty="0"/>
          </a:p>
        </p:txBody>
      </p:sp>
      <p:sp>
        <p:nvSpPr>
          <p:cNvPr id="4" name="Text 2"/>
          <p:cNvSpPr/>
          <p:nvPr/>
        </p:nvSpPr>
        <p:spPr>
          <a:xfrm>
            <a:off x="548640" y="1417320"/>
            <a:ext cx="11064240" cy="457200"/>
          </a:xfrm>
          <a:prstGeom prst="rect">
            <a:avLst/>
          </a:prstGeom>
          <a:noFill/>
          <a:ln/>
        </p:spPr>
        <p:txBody>
          <a:bodyPr wrap="square" rtlCol="0" anchor="t"/>
          <a:lstStyle/>
          <a:p>
            <a:pPr indent="0" marL="0">
              <a:lnSpc>
                <a:spcPct val="115000"/>
              </a:lnSpc>
              <a:buNone/>
            </a:pPr>
            <a:r>
              <a:rPr lang="en-US" sz="1200" dirty="0">
                <a:solidFill>
                  <a:srgbClr val="5C6D68"/>
                </a:solidFill>
                <a:latin typeface="Calibri" pitchFamily="34" charset="0"/>
                <a:ea typeface="Calibri" pitchFamily="34" charset="-122"/>
                <a:cs typeface="Calibri" pitchFamily="34" charset="-120"/>
              </a:rPr>
              <a:t>620 staff, plant floor, Kenitra and Settat  ·  43 weeks (guide numbering)</a:t>
            </a:r>
            <a:endParaRPr lang="en-US" sz="12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11064240" cy="914400"/>
        </p:xfrm>
        <a:graphic>
          <a:graphicData uri="http://schemas.openxmlformats.org/drawingml/2006/table">
            <a:tbl>
              <a:tblPr/>
              <a:tblGrid>
                <a:gridCol w="1463040"/>
                <a:gridCol w="9601200"/>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Week</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2C7A6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Milestone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2C7A6B"/>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Wk 1</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Skills gap diagnosis opens.</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Wk 15</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Curriculum finalized, AI-assisted via M16.</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Wk 23</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Pilot cohort validated.</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Wk 29</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Full deployment complete across both plants.</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Wk 31</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Competency verification confirms 100% certification.</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Wk 43</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Two consecutive sustainment checks confirm the skill holds without coaching; program closes.</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bl>
          </a:graphicData>
        </a:graphic>
      </p:graphicFrame>
      <p:sp>
        <p:nvSpPr>
          <p:cNvPr id="6" name="Text 3"/>
          <p:cNvSpPr/>
          <p:nvPr/>
        </p:nvSpPr>
        <p:spPr>
          <a:xfrm>
            <a:off x="548640" y="6528816"/>
            <a:ext cx="73152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The 8 Transformation Types</a:t>
            </a:r>
            <a:endParaRPr lang="en-US" sz="900" dirty="0"/>
          </a:p>
        </p:txBody>
      </p:sp>
      <p:sp>
        <p:nvSpPr>
          <p:cNvPr id="7" name="Text 4"/>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49</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2C7A6B"/>
        </a:solidFill>
      </p:bgPr>
    </p:bg>
    <p:spTree>
      <p:nvGrpSpPr>
        <p:cNvPr id="1" name=""/>
        <p:cNvGrpSpPr/>
        <p:nvPr/>
      </p:nvGrpSpPr>
      <p:grpSpPr>
        <a:xfrm>
          <a:off x="0" y="0"/>
          <a:ext cx="0" cy="0"/>
          <a:chOff x="0" y="0"/>
          <a:chExt cx="0" cy="0"/>
        </a:xfrm>
      </p:grpSpPr>
      <p:sp>
        <p:nvSpPr>
          <p:cNvPr id="2" name="Text 0"/>
          <p:cNvSpPr/>
          <p:nvPr/>
        </p:nvSpPr>
        <p:spPr>
          <a:xfrm>
            <a:off x="548640" y="457200"/>
            <a:ext cx="10058400" cy="320040"/>
          </a:xfrm>
          <a:prstGeom prst="rect">
            <a:avLst/>
          </a:prstGeom>
          <a:noFill/>
          <a:ln/>
        </p:spPr>
        <p:txBody>
          <a:bodyPr wrap="square" rtlCol="0" anchor="ctr"/>
          <a:lstStyle/>
          <a:p>
            <a:pPr indent="0" marL="0">
              <a:buNone/>
            </a:pPr>
            <a:r>
              <a:rPr lang="en-US" sz="1250" b="1" spc="200" kern="0" dirty="0">
                <a:solidFill>
                  <a:srgbClr val="FFFFFF"/>
                </a:solidFill>
                <a:latin typeface="Calibri" pitchFamily="34" charset="0"/>
                <a:ea typeface="Calibri" pitchFamily="34" charset="-122"/>
                <a:cs typeface="Calibri" pitchFamily="34" charset="-120"/>
              </a:rPr>
              <a:t>TRAINING &amp; SKILLS · ALERTS &amp; PROOF</a:t>
            </a:r>
            <a:endParaRPr lang="en-US" sz="1250" dirty="0"/>
          </a:p>
        </p:txBody>
      </p:sp>
      <p:sp>
        <p:nvSpPr>
          <p:cNvPr id="3" name="Text 1"/>
          <p:cNvSpPr/>
          <p:nvPr/>
        </p:nvSpPr>
        <p:spPr>
          <a:xfrm>
            <a:off x="548640" y="804672"/>
            <a:ext cx="10972800" cy="6858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What This Case Proves By Not Firing</a:t>
            </a:r>
            <a:endParaRPr lang="en-US" sz="2600" dirty="0"/>
          </a:p>
        </p:txBody>
      </p:sp>
      <p:sp>
        <p:nvSpPr>
          <p:cNvPr id="4" name="Shape 2"/>
          <p:cNvSpPr/>
          <p:nvPr/>
        </p:nvSpPr>
        <p:spPr>
          <a:xfrm>
            <a:off x="548640" y="1737360"/>
            <a:ext cx="11064240" cy="1463040"/>
          </a:xfrm>
          <a:prstGeom prst="roundRect">
            <a:avLst>
              <a:gd name="adj" fmla="val 3125"/>
            </a:avLst>
          </a:prstGeom>
          <a:solidFill>
            <a:srgbClr val="FFFFFF"/>
          </a:solidFill>
          <a:ln/>
        </p:spPr>
      </p:sp>
      <p:sp>
        <p:nvSpPr>
          <p:cNvPr id="5" name="Text 3"/>
          <p:cNvSpPr/>
          <p:nvPr/>
        </p:nvSpPr>
        <p:spPr>
          <a:xfrm>
            <a:off x="777240" y="1874520"/>
            <a:ext cx="10607040" cy="274320"/>
          </a:xfrm>
          <a:prstGeom prst="rect">
            <a:avLst/>
          </a:prstGeom>
          <a:noFill/>
          <a:ln/>
        </p:spPr>
        <p:txBody>
          <a:bodyPr wrap="square" rtlCol="0" anchor="ctr"/>
          <a:lstStyle/>
          <a:p>
            <a:pPr indent="0" marL="0">
              <a:buNone/>
            </a:pPr>
            <a:r>
              <a:rPr lang="en-US" sz="1050" b="1" spc="100" kern="0" dirty="0">
                <a:solidFill>
                  <a:srgbClr val="2C7A6B"/>
                </a:solidFill>
                <a:latin typeface="Calibri" pitchFamily="34" charset="0"/>
                <a:ea typeface="Calibri" pitchFamily="34" charset="-122"/>
                <a:cs typeface="Calibri" pitchFamily="34" charset="-120"/>
              </a:rPr>
              <a:t>NO LIVE ALERT FIRES IN THIS PROGRAM'S REAL RECORD</a:t>
            </a:r>
            <a:endParaRPr lang="en-US" sz="1050" dirty="0"/>
          </a:p>
        </p:txBody>
      </p:sp>
      <p:sp>
        <p:nvSpPr>
          <p:cNvPr id="6" name="Text 4"/>
          <p:cNvSpPr/>
          <p:nvPr/>
        </p:nvSpPr>
        <p:spPr>
          <a:xfrm>
            <a:off x="777240" y="2176272"/>
            <a:ext cx="10607040" cy="914400"/>
          </a:xfrm>
          <a:prstGeom prst="rect">
            <a:avLst/>
          </a:prstGeom>
          <a:noFill/>
          <a:ln/>
        </p:spPr>
        <p:txBody>
          <a:bodyPr wrap="square" rtlCol="0" anchor="ctr"/>
          <a:lstStyle/>
          <a:p>
            <a:pPr indent="0" marL="0">
              <a:lnSpc>
                <a:spcPct val="125000"/>
              </a:lnSpc>
              <a:buNone/>
            </a:pPr>
            <a:r>
              <a:rPr lang="en-US" sz="1350" b="1" dirty="0">
                <a:solidFill>
                  <a:srgbClr val="16221F"/>
                </a:solidFill>
                <a:latin typeface="Calibri" pitchFamily="34" charset="0"/>
                <a:ea typeface="Calibri" pitchFamily="34" charset="-122"/>
                <a:cs typeface="Calibri" pitchFamily="34" charset="-120"/>
              </a:rPr>
              <a:t>Stated plainly, not manufactured — a clean record reported as a clean record.</a:t>
            </a:r>
            <a:endParaRPr lang="en-US" sz="1350" dirty="0"/>
          </a:p>
        </p:txBody>
      </p:sp>
      <p:sp>
        <p:nvSpPr>
          <p:cNvPr id="7" name="Shape 5"/>
          <p:cNvSpPr/>
          <p:nvPr/>
        </p:nvSpPr>
        <p:spPr>
          <a:xfrm>
            <a:off x="548640" y="3383280"/>
            <a:ext cx="11064240" cy="1417320"/>
          </a:xfrm>
          <a:prstGeom prst="roundRect">
            <a:avLst>
              <a:gd name="adj" fmla="val 3226"/>
            </a:avLst>
          </a:prstGeom>
          <a:solidFill>
            <a:srgbClr val="FFFFFF"/>
          </a:solidFill>
          <a:ln/>
        </p:spPr>
      </p:sp>
      <p:sp>
        <p:nvSpPr>
          <p:cNvPr id="8" name="Text 6"/>
          <p:cNvSpPr/>
          <p:nvPr/>
        </p:nvSpPr>
        <p:spPr>
          <a:xfrm>
            <a:off x="777240" y="3520440"/>
            <a:ext cx="10607040" cy="274320"/>
          </a:xfrm>
          <a:prstGeom prst="rect">
            <a:avLst/>
          </a:prstGeom>
          <a:noFill/>
          <a:ln/>
        </p:spPr>
        <p:txBody>
          <a:bodyPr wrap="square" rtlCol="0" anchor="ctr"/>
          <a:lstStyle/>
          <a:p>
            <a:pPr indent="0" marL="0">
              <a:buNone/>
            </a:pPr>
            <a:r>
              <a:rPr lang="en-US" sz="1050" b="1" spc="100" kern="0" dirty="0">
                <a:solidFill>
                  <a:srgbClr val="2C7A6B"/>
                </a:solidFill>
                <a:latin typeface="Calibri" pitchFamily="34" charset="0"/>
                <a:ea typeface="Calibri" pitchFamily="34" charset="-122"/>
                <a:cs typeface="Calibri" pitchFamily="34" charset="-120"/>
              </a:rPr>
              <a:t>WHY</a:t>
            </a:r>
            <a:endParaRPr lang="en-US" sz="1050" dirty="0"/>
          </a:p>
        </p:txBody>
      </p:sp>
      <p:sp>
        <p:nvSpPr>
          <p:cNvPr id="9" name="Text 7"/>
          <p:cNvSpPr/>
          <p:nvPr/>
        </p:nvSpPr>
        <p:spPr>
          <a:xfrm>
            <a:off x="777240" y="3822192"/>
            <a:ext cx="10607040" cy="914400"/>
          </a:xfrm>
          <a:prstGeom prst="rect">
            <a:avLst/>
          </a:prstGeom>
          <a:noFill/>
          <a:ln/>
        </p:spPr>
        <p:txBody>
          <a:bodyPr wrap="square" rtlCol="0" anchor="ctr"/>
          <a:lstStyle/>
          <a:p>
            <a:pPr indent="0" marL="0">
              <a:lnSpc>
                <a:spcPct val="125000"/>
              </a:lnSpc>
              <a:buNone/>
            </a:pPr>
            <a:r>
              <a:rPr lang="en-US" sz="1250" dirty="0">
                <a:solidFill>
                  <a:srgbClr val="16221F"/>
                </a:solidFill>
                <a:latin typeface="Calibri" pitchFamily="34" charset="0"/>
                <a:ea typeface="Calibri" pitchFamily="34" charset="-122"/>
                <a:cs typeface="Calibri" pitchFamily="34" charset="-120"/>
              </a:rPr>
              <a:t>None — none of journi's 9 live alerts are built around a standalone skills program with no go-live and no resistance log of its own.</a:t>
            </a:r>
            <a:endParaRPr lang="en-US" sz="1250" dirty="0"/>
          </a:p>
        </p:txBody>
      </p:sp>
      <p:sp>
        <p:nvSpPr>
          <p:cNvPr id="10" name="Shape 8"/>
          <p:cNvSpPr/>
          <p:nvPr/>
        </p:nvSpPr>
        <p:spPr>
          <a:xfrm>
            <a:off x="548640" y="4983480"/>
            <a:ext cx="11064240" cy="1417320"/>
          </a:xfrm>
          <a:prstGeom prst="roundRect">
            <a:avLst>
              <a:gd name="adj" fmla="val 3226"/>
            </a:avLst>
          </a:prstGeom>
          <a:solidFill>
            <a:srgbClr val="FFFFFF"/>
          </a:solidFill>
          <a:ln/>
        </p:spPr>
      </p:sp>
      <p:sp>
        <p:nvSpPr>
          <p:cNvPr id="11" name="Text 9"/>
          <p:cNvSpPr/>
          <p:nvPr/>
        </p:nvSpPr>
        <p:spPr>
          <a:xfrm>
            <a:off x="777240" y="5120640"/>
            <a:ext cx="10607040" cy="274320"/>
          </a:xfrm>
          <a:prstGeom prst="rect">
            <a:avLst/>
          </a:prstGeom>
          <a:noFill/>
          <a:ln/>
        </p:spPr>
        <p:txBody>
          <a:bodyPr wrap="square" rtlCol="0" anchor="ctr"/>
          <a:lstStyle/>
          <a:p>
            <a:pPr indent="0" marL="0">
              <a:buNone/>
            </a:pPr>
            <a:r>
              <a:rPr lang="en-US" sz="1050" b="1" spc="100" kern="0" dirty="0">
                <a:solidFill>
                  <a:srgbClr val="2C7A6B"/>
                </a:solidFill>
                <a:latin typeface="Calibri" pitchFamily="34" charset="0"/>
                <a:ea typeface="Calibri" pitchFamily="34" charset="-122"/>
                <a:cs typeface="Calibri" pitchFamily="34" charset="-120"/>
              </a:rPr>
              <a:t>WHAT THIS GUIDE PROVES, CONCRETELY</a:t>
            </a:r>
            <a:endParaRPr lang="en-US" sz="1050" dirty="0"/>
          </a:p>
        </p:txBody>
      </p:sp>
      <p:sp>
        <p:nvSpPr>
          <p:cNvPr id="12" name="Text 10"/>
          <p:cNvSpPr/>
          <p:nvPr/>
        </p:nvSpPr>
        <p:spPr>
          <a:xfrm>
            <a:off x="777240" y="5422392"/>
            <a:ext cx="10607040" cy="914400"/>
          </a:xfrm>
          <a:prstGeom prst="rect">
            <a:avLst/>
          </a:prstGeom>
          <a:noFill/>
          <a:ln/>
        </p:spPr>
        <p:txBody>
          <a:bodyPr wrap="square" rtlCol="0" anchor="ctr"/>
          <a:lstStyle/>
          <a:p>
            <a:pPr indent="0" marL="0">
              <a:lnSpc>
                <a:spcPct val="120000"/>
              </a:lnSpc>
              <a:buNone/>
            </a:pPr>
            <a:r>
              <a:rPr lang="en-US" sz="1200" i="1" dirty="0">
                <a:solidFill>
                  <a:srgbClr val="16221F"/>
                </a:solidFill>
                <a:latin typeface="Calibri" pitchFamily="34" charset="0"/>
                <a:ea typeface="Calibri" pitchFamily="34" charset="-122"/>
                <a:cs typeface="Calibri" pitchFamily="34" charset="-120"/>
              </a:rPr>
              <a:t>A skill genuinely verified through hands-on testing (not attendance), and reinforcement engineered on purpose through two dedicated phases — not left to chance.</a:t>
            </a:r>
            <a:endParaRPr lang="en-US" sz="1200" dirty="0"/>
          </a:p>
        </p:txBody>
      </p:sp>
      <p:sp>
        <p:nvSpPr>
          <p:cNvPr id="13" name="Text 11"/>
          <p:cNvSpPr/>
          <p:nvPr/>
        </p:nvSpPr>
        <p:spPr>
          <a:xfrm>
            <a:off x="548640" y="6528816"/>
            <a:ext cx="7315200" cy="274320"/>
          </a:xfrm>
          <a:prstGeom prst="rect">
            <a:avLst/>
          </a:prstGeom>
          <a:noFill/>
          <a:ln/>
        </p:spPr>
        <p:txBody>
          <a:bodyPr wrap="square" rtlCol="0" anchor="ctr"/>
          <a:lstStyle/>
          <a:p>
            <a:pPr algn="l" indent="0" marL="0">
              <a:buNone/>
            </a:pPr>
            <a:r>
              <a:rPr lang="en-US" sz="900" dirty="0">
                <a:solidFill>
                  <a:srgbClr val="CFE3DD"/>
                </a:solidFill>
                <a:latin typeface="Calibri" pitchFamily="34" charset="0"/>
                <a:ea typeface="Calibri" pitchFamily="34" charset="-122"/>
                <a:cs typeface="Calibri" pitchFamily="34" charset="-120"/>
              </a:rPr>
              <a:t>journi — The 8 Transformation Types</a:t>
            </a:r>
            <a:endParaRPr lang="en-US" sz="900" dirty="0"/>
          </a:p>
        </p:txBody>
      </p:sp>
      <p:sp>
        <p:nvSpPr>
          <p:cNvPr id="14" name="Text 12"/>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CFE3DD"/>
                </a:solidFill>
                <a:latin typeface="Calibri" pitchFamily="34" charset="0"/>
                <a:ea typeface="Calibri" pitchFamily="34" charset="-122"/>
                <a:cs typeface="Calibri" pitchFamily="34" charset="-120"/>
              </a:rPr>
              <a:t>50</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CROSS-TYPE COMPARISON</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300" b="1" dirty="0">
                <a:solidFill>
                  <a:srgbClr val="15423A"/>
                </a:solidFill>
                <a:latin typeface="Calibri" pitchFamily="34" charset="0"/>
                <a:ea typeface="Calibri" pitchFamily="34" charset="-122"/>
                <a:cs typeface="Calibri" pitchFamily="34" charset="-120"/>
              </a:rPr>
              <a:t>Population, duration, and dominant framework, side by side</a:t>
            </a:r>
            <a:endParaRPr lang="en-US" sz="23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64240" cy="914400"/>
        </p:xfrm>
        <a:graphic>
          <a:graphicData uri="http://schemas.openxmlformats.org/drawingml/2006/table">
            <a:tbl>
              <a:tblPr/>
              <a:tblGrid>
                <a:gridCol w="2103120"/>
                <a:gridCol w="2651760"/>
                <a:gridCol w="2011680"/>
                <a:gridCol w="4297680"/>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Archetype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5423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Population</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5423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Duration</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5423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Dominant Framework</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5423A"/>
                    </a:solidFill>
                  </a:tcPr>
                </a:tc>
              </a:tr>
              <a:tr h="0">
                <a:tc>
                  <a:txBody>
                    <a:bodyPr/>
                    <a:lstStyle/>
                    <a:p>
                      <a:pPr indent="0" marL="0">
                        <a:buNone/>
                      </a:pPr>
                      <a:r>
                        <a:rPr lang="en-US" sz="1020" dirty="0">
                          <a:solidFill>
                            <a:srgbClr val="16221F"/>
                          </a:solidFill>
                          <a:latin typeface="Calibri" pitchFamily="34" charset="0"/>
                          <a:ea typeface="Calibri" pitchFamily="34" charset="-122"/>
                          <a:cs typeface="Calibri" pitchFamily="34" charset="-120"/>
                        </a:rPr>
                        <a:t>ERP</a:t>
                      </a:r>
                      <a:endParaRPr lang="en-US" sz="102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020" dirty="0">
                          <a:solidFill>
                            <a:srgbClr val="16221F"/>
                          </a:solidFill>
                          <a:latin typeface="Calibri" pitchFamily="34" charset="0"/>
                          <a:ea typeface="Calibri" pitchFamily="34" charset="-122"/>
                          <a:cs typeface="Calibri" pitchFamily="34" charset="-120"/>
                        </a:rPr>
                        <a:t>3</a:t>
                      </a:r>
                      <a:endParaRPr lang="en-US" sz="102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020" dirty="0">
                          <a:solidFill>
                            <a:srgbClr val="16221F"/>
                          </a:solidFill>
                          <a:latin typeface="Calibri" pitchFamily="34" charset="0"/>
                          <a:ea typeface="Calibri" pitchFamily="34" charset="-122"/>
                          <a:cs typeface="Calibri" pitchFamily="34" charset="-120"/>
                        </a:rPr>
                        <a:t>W1–64</a:t>
                      </a:r>
                      <a:endParaRPr lang="en-US" sz="102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020" dirty="0">
                          <a:solidFill>
                            <a:srgbClr val="16221F"/>
                          </a:solidFill>
                          <a:latin typeface="Calibri" pitchFamily="34" charset="0"/>
                          <a:ea typeface="Calibri" pitchFamily="34" charset="-122"/>
                          <a:cs typeface="Calibri" pitchFamily="34" charset="-120"/>
                        </a:rPr>
                        <a:t>ADKAR + Lewin dominate equally</a:t>
                      </a:r>
                      <a:endParaRPr lang="en-US" sz="102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020" dirty="0">
                          <a:solidFill>
                            <a:srgbClr val="16221F"/>
                          </a:solidFill>
                          <a:latin typeface="Calibri" pitchFamily="34" charset="0"/>
                          <a:ea typeface="Calibri" pitchFamily="34" charset="-122"/>
                          <a:cs typeface="Calibri" pitchFamily="34" charset="-120"/>
                        </a:rPr>
                        <a:t>BPR</a:t>
                      </a:r>
                      <a:endParaRPr lang="en-US" sz="102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020" dirty="0">
                          <a:solidFill>
                            <a:srgbClr val="16221F"/>
                          </a:solidFill>
                          <a:latin typeface="Calibri" pitchFamily="34" charset="0"/>
                          <a:ea typeface="Calibri" pitchFamily="34" charset="-122"/>
                          <a:cs typeface="Calibri" pitchFamily="34" charset="-120"/>
                        </a:rPr>
                        <a:t>140 staff</a:t>
                      </a:r>
                      <a:endParaRPr lang="en-US" sz="102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020" dirty="0">
                          <a:solidFill>
                            <a:srgbClr val="16221F"/>
                          </a:solidFill>
                          <a:latin typeface="Calibri" pitchFamily="34" charset="0"/>
                          <a:ea typeface="Calibri" pitchFamily="34" charset="-122"/>
                          <a:cs typeface="Calibri" pitchFamily="34" charset="-120"/>
                        </a:rPr>
                        <a:t>50 weeks (guide numbering)</a:t>
                      </a:r>
                      <a:endParaRPr lang="en-US" sz="102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020" dirty="0">
                          <a:solidFill>
                            <a:srgbClr val="16221F"/>
                          </a:solidFill>
                          <a:latin typeface="Calibri" pitchFamily="34" charset="0"/>
                          <a:ea typeface="Calibri" pitchFamily="34" charset="-122"/>
                          <a:cs typeface="Calibri" pitchFamily="34" charset="-120"/>
                        </a:rPr>
                        <a:t>Kübler-Ross dominates</a:t>
                      </a:r>
                      <a:endParaRPr lang="en-US" sz="102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1020" dirty="0">
                          <a:solidFill>
                            <a:srgbClr val="16221F"/>
                          </a:solidFill>
                          <a:latin typeface="Calibri" pitchFamily="34" charset="0"/>
                          <a:ea typeface="Calibri" pitchFamily="34" charset="-122"/>
                          <a:cs typeface="Calibri" pitchFamily="34" charset="-120"/>
                        </a:rPr>
                        <a:t>Automation</a:t>
                      </a:r>
                      <a:endParaRPr lang="en-US" sz="102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020" dirty="0">
                          <a:solidFill>
                            <a:srgbClr val="16221F"/>
                          </a:solidFill>
                          <a:latin typeface="Calibri" pitchFamily="34" charset="0"/>
                          <a:ea typeface="Calibri" pitchFamily="34" charset="-122"/>
                          <a:cs typeface="Calibri" pitchFamily="34" charset="-120"/>
                        </a:rPr>
                        <a:t>18 staff</a:t>
                      </a:r>
                      <a:endParaRPr lang="en-US" sz="102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020" dirty="0">
                          <a:solidFill>
                            <a:srgbClr val="16221F"/>
                          </a:solidFill>
                          <a:latin typeface="Calibri" pitchFamily="34" charset="0"/>
                          <a:ea typeface="Calibri" pitchFamily="34" charset="-122"/>
                          <a:cs typeface="Calibri" pitchFamily="34" charset="-120"/>
                        </a:rPr>
                        <a:t>19 weeks (guide numbering)</a:t>
                      </a:r>
                      <a:endParaRPr lang="en-US" sz="102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020" dirty="0">
                          <a:solidFill>
                            <a:srgbClr val="16221F"/>
                          </a:solidFill>
                          <a:latin typeface="Calibri" pitchFamily="34" charset="0"/>
                          <a:ea typeface="Calibri" pitchFamily="34" charset="-122"/>
                          <a:cs typeface="Calibri" pitchFamily="34" charset="-120"/>
                        </a:rPr>
                        <a:t>All four frameworks read favorably from the start, by design</a:t>
                      </a:r>
                      <a:endParaRPr lang="en-US" sz="102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020" dirty="0">
                          <a:solidFill>
                            <a:srgbClr val="16221F"/>
                          </a:solidFill>
                          <a:latin typeface="Calibri" pitchFamily="34" charset="0"/>
                          <a:ea typeface="Calibri" pitchFamily="34" charset="-122"/>
                          <a:cs typeface="Calibri" pitchFamily="34" charset="-120"/>
                        </a:rPr>
                        <a:t>QMS</a:t>
                      </a:r>
                      <a:endParaRPr lang="en-US" sz="102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020" dirty="0">
                          <a:solidFill>
                            <a:srgbClr val="16221F"/>
                          </a:solidFill>
                          <a:latin typeface="Calibri" pitchFamily="34" charset="0"/>
                          <a:ea typeface="Calibri" pitchFamily="34" charset="-122"/>
                          <a:cs typeface="Calibri" pitchFamily="34" charset="-120"/>
                        </a:rPr>
                        <a:t>410 staff</a:t>
                      </a:r>
                      <a:endParaRPr lang="en-US" sz="102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020" dirty="0">
                          <a:solidFill>
                            <a:srgbClr val="16221F"/>
                          </a:solidFill>
                          <a:latin typeface="Calibri" pitchFamily="34" charset="0"/>
                          <a:ea typeface="Calibri" pitchFamily="34" charset="-122"/>
                          <a:cs typeface="Calibri" pitchFamily="34" charset="-120"/>
                        </a:rPr>
                        <a:t>60 weeks (guide numbering)</a:t>
                      </a:r>
                      <a:endParaRPr lang="en-US" sz="102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020" dirty="0">
                          <a:solidFill>
                            <a:srgbClr val="16221F"/>
                          </a:solidFill>
                          <a:latin typeface="Calibri" pitchFamily="34" charset="0"/>
                          <a:ea typeface="Calibri" pitchFamily="34" charset="-122"/>
                          <a:cs typeface="Calibri" pitchFamily="34" charset="-120"/>
                        </a:rPr>
                        <a:t>Lewin never fully closes</a:t>
                      </a:r>
                      <a:endParaRPr lang="en-US" sz="102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1020" dirty="0">
                          <a:solidFill>
                            <a:srgbClr val="16221F"/>
                          </a:solidFill>
                          <a:latin typeface="Calibri" pitchFamily="34" charset="0"/>
                          <a:ea typeface="Calibri" pitchFamily="34" charset="-122"/>
                          <a:cs typeface="Calibri" pitchFamily="34" charset="-120"/>
                        </a:rPr>
                        <a:t>Cultural</a:t>
                      </a:r>
                      <a:endParaRPr lang="en-US" sz="102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020" dirty="0">
                          <a:solidFill>
                            <a:srgbClr val="16221F"/>
                          </a:solidFill>
                          <a:latin typeface="Calibri" pitchFamily="34" charset="0"/>
                          <a:ea typeface="Calibri" pitchFamily="34" charset="-122"/>
                          <a:cs typeface="Calibri" pitchFamily="34" charset="-120"/>
                        </a:rPr>
                        <a:t>260 staff (acquired Tangier team) + Bouregreg counterparts</a:t>
                      </a:r>
                      <a:endParaRPr lang="en-US" sz="102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020" dirty="0">
                          <a:solidFill>
                            <a:srgbClr val="16221F"/>
                          </a:solidFill>
                          <a:latin typeface="Calibri" pitchFamily="34" charset="0"/>
                          <a:ea typeface="Calibri" pitchFamily="34" charset="-122"/>
                          <a:cs typeface="Calibri" pitchFamily="34" charset="-120"/>
                        </a:rPr>
                        <a:t>18-month horizon, W27 onward</a:t>
                      </a:r>
                      <a:endParaRPr lang="en-US" sz="102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020" dirty="0">
                          <a:solidFill>
                            <a:srgbClr val="16221F"/>
                          </a:solidFill>
                          <a:latin typeface="Calibri" pitchFamily="34" charset="0"/>
                          <a:ea typeface="Calibri" pitchFamily="34" charset="-122"/>
                          <a:cs typeface="Calibri" pitchFamily="34" charset="-120"/>
                        </a:rPr>
                        <a:t>Bridges and Kübler-Ross dominate</a:t>
                      </a:r>
                      <a:endParaRPr lang="en-US" sz="102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020" dirty="0">
                          <a:solidFill>
                            <a:srgbClr val="16221F"/>
                          </a:solidFill>
                          <a:latin typeface="Calibri" pitchFamily="34" charset="0"/>
                          <a:ea typeface="Calibri" pitchFamily="34" charset="-122"/>
                          <a:cs typeface="Calibri" pitchFamily="34" charset="-120"/>
                        </a:rPr>
                        <a:t>Operating Model</a:t>
                      </a:r>
                      <a:endParaRPr lang="en-US" sz="102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020" dirty="0">
                          <a:solidFill>
                            <a:srgbClr val="16221F"/>
                          </a:solidFill>
                          <a:latin typeface="Calibri" pitchFamily="34" charset="0"/>
                          <a:ea typeface="Calibri" pitchFamily="34" charset="-122"/>
                          <a:cs typeface="Calibri" pitchFamily="34" charset="-120"/>
                        </a:rPr>
                        <a:t>95 staff</a:t>
                      </a:r>
                      <a:endParaRPr lang="en-US" sz="102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020" dirty="0">
                          <a:solidFill>
                            <a:srgbClr val="16221F"/>
                          </a:solidFill>
                          <a:latin typeface="Calibri" pitchFamily="34" charset="0"/>
                          <a:ea typeface="Calibri" pitchFamily="34" charset="-122"/>
                          <a:cs typeface="Calibri" pitchFamily="34" charset="-120"/>
                        </a:rPr>
                        <a:t>34 weeks (guide numbering)</a:t>
                      </a:r>
                      <a:endParaRPr lang="en-US" sz="102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020" dirty="0">
                          <a:solidFill>
                            <a:srgbClr val="16221F"/>
                          </a:solidFill>
                          <a:latin typeface="Calibri" pitchFamily="34" charset="0"/>
                          <a:ea typeface="Calibri" pitchFamily="34" charset="-122"/>
                          <a:cs typeface="Calibri" pitchFamily="34" charset="-120"/>
                        </a:rPr>
                        <a:t>ADKAR Reinforcement dominates</a:t>
                      </a:r>
                      <a:endParaRPr lang="en-US" sz="102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1020" dirty="0">
                          <a:solidFill>
                            <a:srgbClr val="16221F"/>
                          </a:solidFill>
                          <a:latin typeface="Calibri" pitchFamily="34" charset="0"/>
                          <a:ea typeface="Calibri" pitchFamily="34" charset="-122"/>
                          <a:cs typeface="Calibri" pitchFamily="34" charset="-120"/>
                        </a:rPr>
                        <a:t>Compliance</a:t>
                      </a:r>
                      <a:endParaRPr lang="en-US" sz="102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020" dirty="0">
                          <a:solidFill>
                            <a:srgbClr val="16221F"/>
                          </a:solidFill>
                          <a:latin typeface="Calibri" pitchFamily="34" charset="0"/>
                          <a:ea typeface="Calibri" pitchFamily="34" charset="-122"/>
                          <a:cs typeface="Calibri" pitchFamily="34" charset="-120"/>
                        </a:rPr>
                        <a:t>310 staff</a:t>
                      </a:r>
                      <a:endParaRPr lang="en-US" sz="102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020" dirty="0">
                          <a:solidFill>
                            <a:srgbClr val="16221F"/>
                          </a:solidFill>
                          <a:latin typeface="Calibri" pitchFamily="34" charset="0"/>
                          <a:ea typeface="Calibri" pitchFamily="34" charset="-122"/>
                          <a:cs typeface="Calibri" pitchFamily="34" charset="-120"/>
                        </a:rPr>
                        <a:t>64 weeks (guide numbering)</a:t>
                      </a:r>
                      <a:endParaRPr lang="en-US" sz="102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020" dirty="0">
                          <a:solidFill>
                            <a:srgbClr val="16221F"/>
                          </a:solidFill>
                          <a:latin typeface="Calibri" pitchFamily="34" charset="0"/>
                          <a:ea typeface="Calibri" pitchFamily="34" charset="-122"/>
                          <a:cs typeface="Calibri" pitchFamily="34" charset="-120"/>
                        </a:rPr>
                        <a:t>Awareness and Ability dominate; Desire matters least of any archetype</a:t>
                      </a:r>
                      <a:endParaRPr lang="en-US" sz="102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020" dirty="0">
                          <a:solidFill>
                            <a:srgbClr val="16221F"/>
                          </a:solidFill>
                          <a:latin typeface="Calibri" pitchFamily="34" charset="0"/>
                          <a:ea typeface="Calibri" pitchFamily="34" charset="-122"/>
                          <a:cs typeface="Calibri" pitchFamily="34" charset="-120"/>
                        </a:rPr>
                        <a:t>Training &amp; Skills</a:t>
                      </a:r>
                      <a:endParaRPr lang="en-US" sz="102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020" dirty="0">
                          <a:solidFill>
                            <a:srgbClr val="16221F"/>
                          </a:solidFill>
                          <a:latin typeface="Calibri" pitchFamily="34" charset="0"/>
                          <a:ea typeface="Calibri" pitchFamily="34" charset="-122"/>
                          <a:cs typeface="Calibri" pitchFamily="34" charset="-120"/>
                        </a:rPr>
                        <a:t>620 staff</a:t>
                      </a:r>
                      <a:endParaRPr lang="en-US" sz="102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020" dirty="0">
                          <a:solidFill>
                            <a:srgbClr val="16221F"/>
                          </a:solidFill>
                          <a:latin typeface="Calibri" pitchFamily="34" charset="0"/>
                          <a:ea typeface="Calibri" pitchFamily="34" charset="-122"/>
                          <a:cs typeface="Calibri" pitchFamily="34" charset="-120"/>
                        </a:rPr>
                        <a:t>43 weeks (guide numbering)</a:t>
                      </a:r>
                      <a:endParaRPr lang="en-US" sz="102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020" dirty="0">
                          <a:solidFill>
                            <a:srgbClr val="16221F"/>
                          </a:solidFill>
                          <a:latin typeface="Calibri" pitchFamily="34" charset="0"/>
                          <a:ea typeface="Calibri" pitchFamily="34" charset="-122"/>
                          <a:cs typeface="Calibri" pitchFamily="34" charset="-120"/>
                        </a:rPr>
                        <a:t>All five ADKAR blocks dominate equally, in sequence</a:t>
                      </a:r>
                      <a:endParaRPr lang="en-US" sz="102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bl>
          </a:graphicData>
        </a:graphic>
      </p:graphicFrame>
      <p:sp>
        <p:nvSpPr>
          <p:cNvPr id="5" name="Text 2"/>
          <p:cNvSpPr/>
          <p:nvPr/>
        </p:nvSpPr>
        <p:spPr>
          <a:xfrm>
            <a:off x="548640" y="6528816"/>
            <a:ext cx="73152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The 8 Transformation Types</a:t>
            </a:r>
            <a:endParaRPr lang="en-US" sz="900" dirty="0"/>
          </a:p>
        </p:txBody>
      </p:sp>
      <p:sp>
        <p:nvSpPr>
          <p:cNvPr id="6" name="Text 3"/>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51</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ALERTS ACROSS THE PORTFOLIO</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300" b="1" dirty="0">
                <a:solidFill>
                  <a:srgbClr val="15423A"/>
                </a:solidFill>
                <a:latin typeface="Calibri" pitchFamily="34" charset="0"/>
                <a:ea typeface="Calibri" pitchFamily="34" charset="-122"/>
                <a:cs typeface="Calibri" pitchFamily="34" charset="-120"/>
              </a:rPr>
              <a:t>Which of the 9 live alerts each archetype exercises</a:t>
            </a:r>
            <a:endParaRPr lang="en-US" sz="23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64240" cy="914400"/>
        </p:xfrm>
        <a:graphic>
          <a:graphicData uri="http://schemas.openxmlformats.org/drawingml/2006/table">
            <a:tbl>
              <a:tblPr/>
              <a:tblGrid>
                <a:gridCol w="2377440"/>
                <a:gridCol w="8686800"/>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Archetype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5423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Alerts Exercised</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5423A"/>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ERP</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ALT-001, ALT-009</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BPR</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ALT-004</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Automation</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None (by design)</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QMS</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ALT-010</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Cultural</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ALT-003</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Operating Model</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ALT-002, ALT-015</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Compliance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None (by design)</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Training &amp; Skills</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None (by design)</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bl>
          </a:graphicData>
        </a:graphic>
      </p:graphicFrame>
      <p:sp>
        <p:nvSpPr>
          <p:cNvPr id="5" name="Text 2"/>
          <p:cNvSpPr/>
          <p:nvPr/>
        </p:nvSpPr>
        <p:spPr>
          <a:xfrm>
            <a:off x="548640" y="6528816"/>
            <a:ext cx="73152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The 8 Transformation Types</a:t>
            </a:r>
            <a:endParaRPr lang="en-US" sz="900" dirty="0"/>
          </a:p>
        </p:txBody>
      </p:sp>
      <p:sp>
        <p:nvSpPr>
          <p:cNvPr id="6" name="Text 3"/>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52</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15423A"/>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indent="0" marL="0">
              <a:buNone/>
            </a:pPr>
            <a:r>
              <a:rPr lang="en-US" sz="1250" b="1" spc="200" kern="0" dirty="0">
                <a:solidFill>
                  <a:srgbClr val="C2661C"/>
                </a:solidFill>
                <a:latin typeface="Calibri" pitchFamily="34" charset="0"/>
                <a:ea typeface="Calibri" pitchFamily="34" charset="-122"/>
                <a:cs typeface="Calibri" pitchFamily="34" charset="-120"/>
              </a:rPr>
              <a:t>THE PORTFOLIO VIEW</a:t>
            </a:r>
            <a:endParaRPr lang="en-US" sz="1250" dirty="0"/>
          </a:p>
        </p:txBody>
      </p:sp>
      <p:sp>
        <p:nvSpPr>
          <p:cNvPr id="3" name="Text 1"/>
          <p:cNvSpPr/>
          <p:nvPr/>
        </p:nvSpPr>
        <p:spPr>
          <a:xfrm>
            <a:off x="548640" y="804672"/>
            <a:ext cx="10972800" cy="777240"/>
          </a:xfrm>
          <a:prstGeom prst="rect">
            <a:avLst/>
          </a:prstGeom>
          <a:noFill/>
          <a:ln/>
        </p:spPr>
        <p:txBody>
          <a:bodyPr wrap="square" rtlCol="0" anchor="ctr"/>
          <a:lstStyle/>
          <a:p>
            <a:pPr indent="0" marL="0">
              <a:lnSpc>
                <a:spcPct val="110000"/>
              </a:lnSpc>
              <a:buNone/>
            </a:pPr>
            <a:r>
              <a:rPr lang="en-US" sz="2500" b="1" dirty="0">
                <a:solidFill>
                  <a:srgbClr val="FFFFFF"/>
                </a:solidFill>
                <a:latin typeface="Calibri" pitchFamily="34" charset="0"/>
                <a:ea typeface="Calibri" pitchFamily="34" charset="-122"/>
                <a:cs typeface="Calibri" pitchFamily="34" charset="-120"/>
              </a:rPr>
              <a:t>Two alerts only the portfolio, not any single project, can trigger</a:t>
            </a:r>
            <a:endParaRPr lang="en-US" sz="2500" dirty="0"/>
          </a:p>
        </p:txBody>
      </p:sp>
      <p:sp>
        <p:nvSpPr>
          <p:cNvPr id="4" name="Shape 2"/>
          <p:cNvSpPr/>
          <p:nvPr/>
        </p:nvSpPr>
        <p:spPr>
          <a:xfrm>
            <a:off x="548640" y="1920240"/>
            <a:ext cx="11064240" cy="2103120"/>
          </a:xfrm>
          <a:prstGeom prst="roundRect">
            <a:avLst>
              <a:gd name="adj" fmla="val 2174"/>
            </a:avLst>
          </a:prstGeom>
          <a:solidFill>
            <a:srgbClr val="FFFFFF"/>
          </a:solidFill>
          <a:ln/>
        </p:spPr>
      </p:sp>
      <p:sp>
        <p:nvSpPr>
          <p:cNvPr id="5" name="Shape 3"/>
          <p:cNvSpPr/>
          <p:nvPr/>
        </p:nvSpPr>
        <p:spPr>
          <a:xfrm>
            <a:off x="777240" y="2103120"/>
            <a:ext cx="780898" cy="274320"/>
          </a:xfrm>
          <a:prstGeom prst="roundRect">
            <a:avLst>
              <a:gd name="adj" fmla="val 166667"/>
            </a:avLst>
          </a:prstGeom>
          <a:solidFill>
            <a:srgbClr val="C2661C"/>
          </a:solidFill>
          <a:ln/>
        </p:spPr>
      </p:sp>
      <p:sp>
        <p:nvSpPr>
          <p:cNvPr id="6" name="Text 4"/>
          <p:cNvSpPr/>
          <p:nvPr/>
        </p:nvSpPr>
        <p:spPr>
          <a:xfrm>
            <a:off x="777240" y="2103120"/>
            <a:ext cx="780898" cy="274320"/>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ALT-008</a:t>
            </a:r>
            <a:endParaRPr lang="en-US" sz="950" dirty="0"/>
          </a:p>
        </p:txBody>
      </p:sp>
      <p:sp>
        <p:nvSpPr>
          <p:cNvPr id="7" name="Text 5"/>
          <p:cNvSpPr/>
          <p:nvPr/>
        </p:nvSpPr>
        <p:spPr>
          <a:xfrm>
            <a:off x="1965960" y="2057400"/>
            <a:ext cx="9418320" cy="365760"/>
          </a:xfrm>
          <a:prstGeom prst="rect">
            <a:avLst/>
          </a:prstGeom>
          <a:noFill/>
          <a:ln/>
        </p:spPr>
        <p:txBody>
          <a:bodyPr wrap="square" rtlCol="0" anchor="ctr"/>
          <a:lstStyle/>
          <a:p>
            <a:pPr indent="0" marL="0">
              <a:buNone/>
            </a:pPr>
            <a:r>
              <a:rPr lang="en-US" sz="1500" b="1" dirty="0">
                <a:solidFill>
                  <a:srgbClr val="15423A"/>
                </a:solidFill>
                <a:latin typeface="Calibri" pitchFamily="34" charset="0"/>
                <a:ea typeface="Calibri" pitchFamily="34" charset="-122"/>
                <a:cs typeface="Calibri" pitchFamily="34" charset="-120"/>
              </a:rPr>
              <a:t>Change Saturation Threshold Breached</a:t>
            </a:r>
            <a:endParaRPr lang="en-US" sz="1500" dirty="0"/>
          </a:p>
        </p:txBody>
      </p:sp>
      <p:sp>
        <p:nvSpPr>
          <p:cNvPr id="8" name="Text 6"/>
          <p:cNvSpPr/>
          <p:nvPr/>
        </p:nvSpPr>
        <p:spPr>
          <a:xfrm>
            <a:off x="777240" y="2514600"/>
            <a:ext cx="10607040" cy="1417320"/>
          </a:xfrm>
          <a:prstGeom prst="rect">
            <a:avLst/>
          </a:prstGeom>
          <a:noFill/>
          <a:ln/>
        </p:spPr>
        <p:txBody>
          <a:bodyPr wrap="square" rtlCol="0" anchor="ctr"/>
          <a:lstStyle/>
          <a:p>
            <a:pPr indent="0" marL="0">
              <a:lnSpc>
                <a:spcPct val="125000"/>
              </a:lnSpc>
              <a:buNone/>
            </a:pPr>
            <a:r>
              <a:rPr lang="en-US" sz="1200" dirty="0">
                <a:solidFill>
                  <a:srgbClr val="16221F"/>
                </a:solidFill>
                <a:latin typeface="Calibri" pitchFamily="34" charset="0"/>
                <a:ea typeface="Calibri" pitchFamily="34" charset="-122"/>
                <a:cs typeface="Calibri" pitchFamily="34" charset="-120"/>
              </a:rPr>
              <a:t>Fires once a project's population segment is targeted by 2 or more other concurrent initiatives — true almost everywhere in this library by design, since the ERP program, the Operating Model redesign, and the Training &amp; Skills program all reach broad, overlapping populations across the same three sites.</a:t>
            </a:r>
            <a:endParaRPr lang="en-US" sz="1200" dirty="0"/>
          </a:p>
        </p:txBody>
      </p:sp>
      <p:sp>
        <p:nvSpPr>
          <p:cNvPr id="9" name="Shape 7"/>
          <p:cNvSpPr/>
          <p:nvPr/>
        </p:nvSpPr>
        <p:spPr>
          <a:xfrm>
            <a:off x="548640" y="4206240"/>
            <a:ext cx="11064240" cy="2103120"/>
          </a:xfrm>
          <a:prstGeom prst="roundRect">
            <a:avLst>
              <a:gd name="adj" fmla="val 2174"/>
            </a:avLst>
          </a:prstGeom>
          <a:solidFill>
            <a:srgbClr val="FFFFFF"/>
          </a:solidFill>
          <a:ln/>
        </p:spPr>
      </p:sp>
      <p:sp>
        <p:nvSpPr>
          <p:cNvPr id="10" name="Shape 8"/>
          <p:cNvSpPr/>
          <p:nvPr/>
        </p:nvSpPr>
        <p:spPr>
          <a:xfrm>
            <a:off x="777240" y="4389120"/>
            <a:ext cx="780898" cy="274320"/>
          </a:xfrm>
          <a:prstGeom prst="roundRect">
            <a:avLst>
              <a:gd name="adj" fmla="val 166667"/>
            </a:avLst>
          </a:prstGeom>
          <a:solidFill>
            <a:srgbClr val="C2661C"/>
          </a:solidFill>
          <a:ln/>
        </p:spPr>
      </p:sp>
      <p:sp>
        <p:nvSpPr>
          <p:cNvPr id="11" name="Text 9"/>
          <p:cNvSpPr/>
          <p:nvPr/>
        </p:nvSpPr>
        <p:spPr>
          <a:xfrm>
            <a:off x="777240" y="4389120"/>
            <a:ext cx="780898" cy="274320"/>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ALT-011</a:t>
            </a:r>
            <a:endParaRPr lang="en-US" sz="950" dirty="0"/>
          </a:p>
        </p:txBody>
      </p:sp>
      <p:sp>
        <p:nvSpPr>
          <p:cNvPr id="12" name="Text 10"/>
          <p:cNvSpPr/>
          <p:nvPr/>
        </p:nvSpPr>
        <p:spPr>
          <a:xfrm>
            <a:off x="1965960" y="4343400"/>
            <a:ext cx="9418320" cy="365760"/>
          </a:xfrm>
          <a:prstGeom prst="rect">
            <a:avLst/>
          </a:prstGeom>
          <a:noFill/>
          <a:ln/>
        </p:spPr>
        <p:txBody>
          <a:bodyPr wrap="square" rtlCol="0" anchor="ctr"/>
          <a:lstStyle/>
          <a:p>
            <a:pPr indent="0" marL="0">
              <a:buNone/>
            </a:pPr>
            <a:r>
              <a:rPr lang="en-US" sz="1500" b="1" dirty="0">
                <a:solidFill>
                  <a:srgbClr val="15423A"/>
                </a:solidFill>
                <a:latin typeface="Calibri" pitchFamily="34" charset="0"/>
                <a:ea typeface="Calibri" pitchFamily="34" charset="-122"/>
                <a:cs typeface="Calibri" pitchFamily="34" charset="-120"/>
              </a:rPr>
              <a:t>Communication Overload Detected</a:t>
            </a:r>
            <a:endParaRPr lang="en-US" sz="1500" dirty="0"/>
          </a:p>
        </p:txBody>
      </p:sp>
      <p:sp>
        <p:nvSpPr>
          <p:cNvPr id="13" name="Text 11"/>
          <p:cNvSpPr/>
          <p:nvPr/>
        </p:nvSpPr>
        <p:spPr>
          <a:xfrm>
            <a:off x="777240" y="4800600"/>
            <a:ext cx="10607040" cy="1417320"/>
          </a:xfrm>
          <a:prstGeom prst="rect">
            <a:avLst/>
          </a:prstGeom>
          <a:noFill/>
          <a:ln/>
        </p:spPr>
        <p:txBody>
          <a:bodyPr wrap="square" rtlCol="0" anchor="ctr"/>
          <a:lstStyle/>
          <a:p>
            <a:pPr indent="0" marL="0">
              <a:lnSpc>
                <a:spcPct val="125000"/>
              </a:lnSpc>
              <a:buNone/>
            </a:pPr>
            <a:r>
              <a:rPr lang="en-US" sz="1200" dirty="0">
                <a:solidFill>
                  <a:srgbClr val="16221F"/>
                </a:solidFill>
                <a:latin typeface="Calibri" pitchFamily="34" charset="0"/>
                <a:ea typeface="Calibri" pitchFamily="34" charset="-122"/>
                <a:cs typeface="Calibri" pitchFamily="34" charset="-120"/>
              </a:rPr>
              <a:t>Fires once combined not-yet-sent communications queued across a population's concurrent initiatives exceed three — realistic here precisely because 8 programs are drafting town halls, FAQs, and go-live messages against overlapping audiences at the same time.</a:t>
            </a:r>
            <a:endParaRPr lang="en-US" sz="1200" dirty="0"/>
          </a:p>
        </p:txBody>
      </p:sp>
      <p:sp>
        <p:nvSpPr>
          <p:cNvPr id="14" name="Text 12"/>
          <p:cNvSpPr/>
          <p:nvPr/>
        </p:nvSpPr>
        <p:spPr>
          <a:xfrm>
            <a:off x="548640" y="6528816"/>
            <a:ext cx="7315200" cy="274320"/>
          </a:xfrm>
          <a:prstGeom prst="rect">
            <a:avLst/>
          </a:prstGeom>
          <a:noFill/>
          <a:ln/>
        </p:spPr>
        <p:txBody>
          <a:bodyPr wrap="square" rtlCol="0" anchor="ctr"/>
          <a:lstStyle/>
          <a:p>
            <a:pPr algn="l" indent="0" marL="0">
              <a:buNone/>
            </a:pPr>
            <a:r>
              <a:rPr lang="en-US" sz="900" dirty="0">
                <a:solidFill>
                  <a:srgbClr val="CFE3DD"/>
                </a:solidFill>
                <a:latin typeface="Calibri" pitchFamily="34" charset="0"/>
                <a:ea typeface="Calibri" pitchFamily="34" charset="-122"/>
                <a:cs typeface="Calibri" pitchFamily="34" charset="-120"/>
              </a:rPr>
              <a:t>journi — The 8 Transformation Types</a:t>
            </a:r>
            <a:endParaRPr lang="en-US" sz="900" dirty="0"/>
          </a:p>
        </p:txBody>
      </p:sp>
      <p:sp>
        <p:nvSpPr>
          <p:cNvPr id="15" name="Text 13"/>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CFE3DD"/>
                </a:solidFill>
                <a:latin typeface="Calibri" pitchFamily="34" charset="0"/>
                <a:ea typeface="Calibri" pitchFamily="34" charset="-122"/>
                <a:cs typeface="Calibri" pitchFamily="34" charset="-120"/>
              </a:rPr>
              <a:t>53</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5423A"/>
        </a:solidFill>
      </p:bgPr>
    </p:bg>
    <p:spTree>
      <p:nvGrpSpPr>
        <p:cNvPr id="1" name=""/>
        <p:cNvGrpSpPr/>
        <p:nvPr/>
      </p:nvGrpSpPr>
      <p:grpSpPr>
        <a:xfrm>
          <a:off x="0" y="0"/>
          <a:ext cx="0" cy="0"/>
          <a:chOff x="0" y="0"/>
          <a:chExt cx="0" cy="0"/>
        </a:xfrm>
      </p:grpSpPr>
      <p:sp>
        <p:nvSpPr>
          <p:cNvPr id="2" name="Shape 0"/>
          <p:cNvSpPr/>
          <p:nvPr/>
        </p:nvSpPr>
        <p:spPr>
          <a:xfrm>
            <a:off x="685800" y="2011680"/>
            <a:ext cx="777240" cy="777240"/>
          </a:xfrm>
          <a:prstGeom prst="ellipse">
            <a:avLst/>
          </a:prstGeom>
          <a:solidFill>
            <a:srgbClr val="C2661C"/>
          </a:solidFill>
          <a:ln/>
        </p:spPr>
      </p:sp>
      <p:pic>
        <p:nvPicPr>
          <p:cNvPr id="3" name="Image 0" descr="/home/user/scm-process-register/docs-src/transformation-types-deck/assets/cubes.png">    </p:cNvPr>
          <p:cNvPicPr>
            <a:picLocks noChangeAspect="1"/>
          </p:cNvPicPr>
          <p:nvPr/>
        </p:nvPicPr>
        <p:blipFill>
          <a:blip r:embed="rId1"/>
          <a:stretch>
            <a:fillRect/>
          </a:stretch>
        </p:blipFill>
        <p:spPr>
          <a:xfrm>
            <a:off x="850392" y="2176272"/>
            <a:ext cx="448056" cy="448056"/>
          </a:xfrm>
          <a:prstGeom prst="rect">
            <a:avLst/>
          </a:prstGeom>
        </p:spPr>
      </p:pic>
      <p:sp>
        <p:nvSpPr>
          <p:cNvPr id="4" name="Text 1"/>
          <p:cNvSpPr/>
          <p:nvPr/>
        </p:nvSpPr>
        <p:spPr>
          <a:xfrm>
            <a:off x="640080" y="2926080"/>
            <a:ext cx="10241280" cy="91440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Eight kinds of change. One system of record.</a:t>
            </a:r>
            <a:endParaRPr lang="en-US" sz="3200" dirty="0"/>
          </a:p>
        </p:txBody>
      </p:sp>
      <p:sp>
        <p:nvSpPr>
          <p:cNvPr id="5" name="Text 2"/>
          <p:cNvSpPr/>
          <p:nvPr/>
        </p:nvSpPr>
        <p:spPr>
          <a:xfrm>
            <a:off x="685800" y="3794760"/>
            <a:ext cx="9875520" cy="777240"/>
          </a:xfrm>
          <a:prstGeom prst="rect">
            <a:avLst/>
          </a:prstGeom>
          <a:noFill/>
          <a:ln/>
        </p:spPr>
        <p:txBody>
          <a:bodyPr wrap="square" rtlCol="0" anchor="ctr"/>
          <a:lstStyle/>
          <a:p>
            <a:pPr indent="0" marL="0">
              <a:lnSpc>
                <a:spcPct val="130000"/>
              </a:lnSpc>
              <a:buNone/>
            </a:pPr>
            <a:r>
              <a:rPr lang="en-US" sz="1500" i="1" dirty="0">
                <a:solidFill>
                  <a:srgbClr val="B8D4CE"/>
                </a:solidFill>
                <a:latin typeface="Calibri" pitchFamily="34" charset="0"/>
                <a:ea typeface="Calibri" pitchFamily="34" charset="-122"/>
                <a:cs typeface="Calibri" pitchFamily="34" charset="-120"/>
              </a:rPr>
              <a:t>journi implements every archetype with the same rigor: a real phase template, real modules, real frameworks — and honesty about which alerts actually fire, and which don't.</a:t>
            </a:r>
            <a:endParaRPr lang="en-US" sz="1500" dirty="0"/>
          </a:p>
        </p:txBody>
      </p:sp>
      <p:sp>
        <p:nvSpPr>
          <p:cNvPr id="6" name="Text 3"/>
          <p:cNvSpPr/>
          <p:nvPr/>
        </p:nvSpPr>
        <p:spPr>
          <a:xfrm>
            <a:off x="685800" y="6172200"/>
            <a:ext cx="9144000" cy="365760"/>
          </a:xfrm>
          <a:prstGeom prst="rect">
            <a:avLst/>
          </a:prstGeom>
          <a:noFill/>
          <a:ln/>
        </p:spPr>
        <p:txBody>
          <a:bodyPr wrap="square" rtlCol="0" anchor="ctr"/>
          <a:lstStyle/>
          <a:p>
            <a:pPr indent="0" marL="0">
              <a:buNone/>
            </a:pPr>
            <a:r>
              <a:rPr lang="en-US" sz="1150" dirty="0">
                <a:solidFill>
                  <a:srgbClr val="7FA39A"/>
                </a:solidFill>
                <a:latin typeface="Calibri" pitchFamily="34" charset="0"/>
                <a:ea typeface="Calibri" pitchFamily="34" charset="-122"/>
                <a:cs typeface="Calibri" pitchFamily="34" charset="-120"/>
              </a:rPr>
              <a:t>Manufacturing Sector · Bouregreg Group Scenario Library · Confidential</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2026-09-05T15:16:43Z</dcterms:created>
  <dcterms:modified xsi:type="dcterms:W3CDTF">2026-09-05T15:16:43Z</dcterms:modified>
</cp:coreProperties>
</file>
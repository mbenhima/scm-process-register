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Implementation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ERP Adoption Program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system cutover across every site at once — the throughline case where all four frameworks matter equally, all the time.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971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7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Is, and How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Bouregreg ERP Adoption Program — journi's own throughline case — from tenant setup through Sustain, showing exactly how a full, vendor-agnostic ERP cutover is run inside journi, week by week, module by module.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tenant this deck builds is the same one every other archetype guide in this series extends. A reader who already has the tenant set up can skip straight to the Setup section's CM Project creation step.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A NOTE 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journi's Real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journi module, field, and role named here is verified against journi's real source and its own Master User Guide. This is the case most likely to exercise ALT-001 (Divergence Pattern Detected) at UAT and ALT-009 (Phase Gate No-Go/Conditional) at any gate — this deck states plainly which of the two actually fires in the real record, rather than imply both.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CODES USED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Executive Sponsor · CM = Change Manager · PM = Program/Project Manager · FPO = Functional Process Owner · ITL = IT/Technical Lead · SUP = Supervisor · EU = End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archetype in this series can treat one or two frameworks as dominant. ERP cannot: a full cutover needs organizational readiness (Lewin) and individual capability (ADKAR) at the same time, everywhere, for the program's entire 64-week life — the only archetype where that is true throughout, not just at one phase.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in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 staff, all sites (Casablanca, Kenitra, Settat)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weeks (org calendar W1–64)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Group replaces fragmented, manual, and legacy tooling with one integrated system of record across Order Management, Inventory, and Finance, across all three sites, over 64 weeks — the tenant's own founding program, opened at Unfreeze from Week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Proves, Concretely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Divergence Pattern catch before go-live (Casablanca, Week 28), a real cross-site Composite Readiness Index disaggregation (Exception E6), and a Refreeze called only once Sustain's own 90-day checkpoint evidence supports it — not the go-live date.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 This Archetype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and Lewin dominate equally, throughout. A system cutover needs organizational readiness (Lewin's Change → Refreeze) and individual capability (ADKAR's Knowledge/Ability) at the same time — neither alone is sufficient, and unlike every other archetype in this series, that is true across all 8 phases, not concentrated in one.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Read for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reads a genuinely different story at each site by mid-Train — Casablanca ahead on Knowledge/Ability given proximity to the program team, Settat behind following a Desire stall, Kenitra solid until a later sentiment regression — exactly the blended-vs-disaggregated tension Exception E6 exists to resolve.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Tenant, and Reading Paths by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tenant journi's Master User Guide builds, under the existing Bouregreg Manufacturing Maroc Organization — no new Organization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PATHS, BY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running this program day to day: Part 2 once, then Part 4 in full.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Program/Project Manager: Part 4's PM Track column and the Master WBS &amp; Gantt.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Sponsor: Part 1, then Part 4's phase-opening narratives.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Admin or Org Admin: Part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RACSI Team for This Program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CFO, Bouregreg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Driss El Amrani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 — owns day-to-day program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Ghita Bennis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Practitioner / Contributor — PM-track coordination, WBS &amp; Gantt (M17)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Houda Zerouali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Meryem Sabri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Organization-level setup and cross-site CRI disaggregation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 Loukili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CM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305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2 — Users &amp; Roles, seed Bouregreg Group's initial team: Super Admin, Group Admin, Org Admin, then the project-scoped Change Manager, People Manager, Sponsor, Employee, and Practitioner accounts.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9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118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 — Hierarchy, create the Bouregreg ERP Adoption Program CM Project, owned by Driss El Amrani, with all 3,400 staff across three sites as target population.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970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056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Lewin opens at Unfreeze — the tenant's founding framework reading, justified against the board-approved business case.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84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932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17 — WBS &amp; Gantt, load the TPL-ERP-8 phase template: Discovery, Design, Build, Test, Train, Deploy, Hypercare, Sustain.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for This Program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CHTR-01 Sponsorship / Leadership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CFO, Bouregreg Group (ES)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CHTR-02 Participative Management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Frontline Supervisor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champion briefing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CHTR-05 Team Coaching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Manager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Hypercare sentiment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CHTR-06 One-to-One Coaching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Driss El Amrani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Divergence Pattern 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CHTR-08 Pulse / Interview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Driss El Amrani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 +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5" name="Image 0" descr="/home/user/scm-process-register/docs-src/type-decks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0370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tenant confirmed (Bouregreg Group, Bouregreg Manufacturing Maroc Organization)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8" name="Image 1" descr="/home/user/scm-process-register/docs-src/type-decks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06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program team accounts created across all RBAC scopes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11" name="Image 2" descr="/home/user/scm-process-register/docs-src/type-decks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Project created, Lewin opened at Unfreeze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14" name="Image 3" descr="/home/user/scm-process-register/docs-src/type-decks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039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TPL-ERP-8 phase template loaded on M17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16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17" name="Image 4" descr="/home/user/scm-process-register/docs-src/type-decks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Charters reviewed and accountable owners confirmed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WEEK-BY-WEEK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Phases, In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2798064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79806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2798064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79806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Hypercare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15400" y="2798064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279806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Sustain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 length: 64 weeks (org calendar W1–64). Every phase below is walked in detail across the next slides — normal flow first, then six exceptions in full operational detail.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current-state process map across Order Management, Inventory, and Finance, and confirms the business case driving the cutover.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Kickoff; Lewin opens at Unfreeze.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process mapping across all three sites.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gate closes; future-state scope confirmed.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process mapping: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exactly what today's manual/legacy process actually does, by site.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the future-state design principles the whole build will configure against — starting before Discovery formally closes, since PM and CM tracks run in parallel.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town hall; first real Awareness scores land, Settat lowest.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scope signed off by the Steering Committee.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Future-state design-principle sign-off: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principles every later configuration sprint builds against.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14–35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phase — four configuration sprints against the signed-off design principles. This is where Exception E1 (Desire Stall at Settat) plays out in full.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18–22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Mid-Build; Settat's Desire drops to 2, auto-escalating — Exception E1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delivers a direct staffing commitment to the Settat cohort in person.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gate closes; Lewin call actually moves, backed by evidence.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→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Desire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→ 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sprints + barrier-note clustering: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while catching and clustering readiness barriers by root cause, not symptom.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28–39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point a representative slice of end users gets real hands-on exposure — and the first honest opportunity to run the Divergence Pattern check.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 test script run: 40 scripted scenarios across all three modules.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Casablanca finance UAT participant fires ALT-001 (Divergence Pattern Detected) — Exception E2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Loss-focused 1:1 held; underlying concern (a role that doesn't exist post-cutover) surfaced and closed.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 → 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SIT + Divergence Pattern check: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technical correctness and catch a trained-but-not-yet-accepted cohort before go-live.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35–42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Test rather than strictly after it — Knowledge becomes Ability under increasingly realistic conditions.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TRAIN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environment opens for supervised practice, all three sites.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Knowledge/Ability scored per cohort: Settat reads meaningfully behind — Exception E6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Readiness Index disaggregated by site for the first time: Casablanca 78%, Kenitra 68%, Settat 54%.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TRAIN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practice + per-cohort Knowledge/Ability scoring: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Knowledge into Ability under realistic, supervised conditions.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sharp week — the clearest instance of the two-clock problem this series treats as a first-class risk, not an edge case.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DEPLOY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43, Day 1–4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go-live clean across all three sites.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43, Day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 activates; Lewin marked "Change → Refreeze (provisional)," not confirmed — Exception E3 opens by design.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DEPLOY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 Refreeze (provisional)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Two-clock discipline (provisional Refreeze):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technical go-live milestone from the confirmed emotional/behavioral Refreeze call.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44–50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 of adoption is won or lost here — Kübler-Ross regression during this window is normal, expected behavior, not a data error.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HYPERCARE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Bridges/Kübler-Ross re-pulse at 2-week mark; Kenitra dips — Exception E4 trigger.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Kenitra defect resolved; supervisor holds a team huddle acknowledging the setback directly.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E6's disaggregated CRI gap narrows substantially: 82% / 76% / 74%.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HYPERCARE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 Refreeze (provisional)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→ 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 → 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→ 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and 4-week Bridges/Kübler-Ross re-pulse: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and resolve a sentiment dip before it hardens into lasting resistance.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OF 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51–64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 is called from checkpoint evidence, never the calendar — the discipline that protects against Exception E5 (Reinforcement Gap at Sustain).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· SUSTAIN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stalls below 3 at the 90-day checkpoint — Exception E5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re-authorizes a further checkpoint cadence; champion network re-chartered for reinforcement.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consecutive healthy checkpoints follow; Refreeze is called from that evidence and program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· SUSTAIN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1311439157936445e+136" dist="7.991789684226167e+135" dir="4.297676999371057e+159">
              <a:srgbClr val="1B2E2B">
                <a:alpha val="1.800000000000001e+1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7065527730579285e+140" dist="1.0149572898967231e+140" dir="2.5786061996226343e+164">
              <a:srgbClr val="1B2E2B">
                <a:alpha val="1.800000000000001e+1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4373220217835694e+144" dist="1.2889957581688384e+144" dir="1.5471637197735807e+169">
              <a:srgbClr val="1B2E2B">
                <a:alpha val="1.800000000000001e+1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sustainment checkpoints: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Refreeze from evidence, never the calendar.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Across the Four Frameworks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737360"/>
                <a:gridCol w="173736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14–35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 →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→ Desire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→ 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28–39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 → 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35–42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→ Refreeze (provisional)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44–50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→ Refreeze (provisional)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→ 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 → 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 → 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51–64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Techniques and Tools</a:t>
            </a:r>
            <a:endParaRPr lang="en-US" sz="2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3774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process mapping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 exactly what today's manual/legacy process actually does, by site.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(Stakeholder Mapping)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Future-state design-principle sign-off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the principles every later configuration sprint builds against.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 (WBS &amp; Gantt)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14–35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sprints + barrier-note clustering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system while catching and clustering readiness barriers by root cause, not symptom.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(ADKAR Engine)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28–39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Scripted SIT + Divergence Pattern check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technical correctness and catch a trained-but-not-yet-accepted cohort before go-live.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(Emotional &amp; Transition Layer)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35–42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practice + per-cohort Knowledge/Ability scoring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Knowledge into Ability under realistic, supervised conditions.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 (Training)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Two-clock discipline (provisional Refreeze)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the technical go-live milestone from the confirmed emotional/behavioral Refreeze call.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(Initiative Registry)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44–50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 and 4-week Bridges/Kübler-Ross re-pulse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and resolve a sentiment dip before it hardens into lasting resistance.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M11 (Manager as Coach)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51–64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30/60/90-day sustainment checkpoints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Refreeze from evidence, never the calendar.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(Sustainment)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SIX EXCEPTIONS,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Realistic Ways This Program Could Have Gone Differently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BUILD, WEEKS 18–22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Stall at Settat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Settat's ADKAR Desire score drops to 2, auto-escalating a barrier-reason note citing low visibility into the new inventory workflow and unresolved staffing-level fears.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logged at 2 or below for the Settat plant-floor cohort on M5, auto-escalating.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gate delay — resolved within the same phase via a direct sponsor intervention.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barrier notes by root cause; run targeted listening sessions confirming position security, not workflow visibility, is the primary driver; CFO delivers a direct staffing commitment in person.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barrier note; a documented sponsor intervention; a recovered Desire score.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ES · C = FPO, SUP · S = PM · I =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TEST, WEEKS 31–35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Pattern at UAT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Casablanca finance UAT participant logs Knowledge ≥ 4 and Ability ≥ 4 while Bridges still reads exactly "Ending" — ALT-001's exact condition.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ALT-001 (Divergence Pattern Detected) fires on M6, cross-referenced against M5.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delay — resolved through a confidential 1:1 within the same week window.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alert against supervisor observation; hold a loss-focused 1:1; the underlying concern (a role that doesn't exist post-cutover) is surfaced and given an explicit closure moment.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confidential 1:1 outcome logged as a Bridges re-score; a closed divergence.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CM · C = ES · S = PM · I = FPO,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DEPLOY, WEEK 43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Two-Clock Problem at Deploy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is technically eligible to call "Refreeze" on the Deploy week's calendar date, while Bridges and Kübler-Ross across most cohorts still read Neutral Zone or lower — the organizational clock and the emotional clock diverging exactly as designed to anticipate.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go-live succeeds while emotional-layer evidence remains pending re-pulse.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delay to go-live itself — the discipline costs nothing when there is no lag, and catches the case when there is one.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Lewin "Change → Refreeze (provisional)," not confirmed; require the 2- and 4-week Bridges/Kübler-Ross re-pulse across all three sites before calling Refreeze.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provisional Lewin state; confirming evidence at Weeks 45/47/50.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ES · C = PM · S = FPO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HYPERCARE, WEEKS 45–46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Regression During Hypercare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Kenitra's Kübler-Ross reading moves backward from Exploration to Resistance/Anger following a visible, embarrassing stock-count error caused by a configuration defect.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cohort's Kübler-Ross reading moves backward on M6 following a specific triggering event.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within the same week — the defect is fixed and communicated inside Hypercare's own window.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Defect #31; the Kenitra supervisor holds a team huddle acknowledging the incident directly; targeted coaching on the affected stock-count step.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defect; a logged coaching action on M11; a confirmed sentiment recovery.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SUP · A = ES · C = ITL · S = CM · I = PM,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SUSTAIN, WEEKS 53–56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Gap at Sustain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Reinforcement stalls below 3 as the program's formal end date approaches, with no forcing deadline prompting continued attention — the exact risk Sustain's evidence-based discipline exists to prevent.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score stalls below 3 on M5 near the program's formal close.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Refreeze call past the original close date — accepted, since Refreeze is called from evidence, never the calendar.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re-authorizes a further checkpoint cadence at 105 and 120 days; the champion network is re-chartered specifically for reinforcement.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consecutive healthy checkpoints; a Refreeze call backed by that evidence.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ES · C = PM · S = FPO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TRAIN–HYPERCARE, WEEKS 36–48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Divergence Across Sites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Casablanca, Kenitra, and Settat read genuinely differently across all four frameworks by mid-Train, making the project-level Composite Readiness Index a misleading blend of three very different real situations.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ADKAR/Bridges readings diverge sharply enough that a single blended CRI would mislead the Steering Committee.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delay — the fix is a reporting discipline, not a schedule change.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 the Composite Readiness Index by site using M4's site tags; flag the lagging site for a second training wave; track the three readings separately until they converge.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disaggregated CRI reporting practice, carried forward as the standing reporting standard.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PM · A = CM · C = ES · S = FPO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E2E-ERP chain, MP-05 runs at full weight across the Train phase — role-based training by cohort, with sandbox practice hours tracked separately from classroom completion.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CFO, Executive Viewer, Site Directors  ·  Weeks 8–17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a Full System Cutover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visible, sustained sponsorship matters more here than in any narrower archetype.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Divergence Pattern Alert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 ALT-001 as real evidence, not a false alarm.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Driss El Amrani, Houda Zerouali, site supervisors  ·  Weeks 22–39</a:t>
            </a:r>
            <a:endParaRPr lang="en-US" sz="12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Barrier-Note Clustering and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 individual barrier notes into a targeted, root-cause recovery.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a Loss-Focused 1:1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specific coaching technique behind Exception E2's resolution.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(Frontline)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All 3,400 end users, by site and cohort  ·  Weeks 35–50</a:t>
            </a:r>
            <a:endParaRPr lang="en-US" sz="1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System Navigation, By 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Management, Inventory, and Finance, each trained separately by cohort.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Practice Under Supervision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rehearsal before go-live, tracked separately from classroom attendance.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Curriculum Is Shaped This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53989676651333e+148" dist="1.6370246128744248e+148" dir="9.282982318641485e+173">
              <a:srgbClr val="1B2E2B">
                <a:alpha val="1.800000000000001e+1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alone does not close this program — Reinforcement, the slowest-moving ADKAR block, is what Sustain's checkpoints exist to verify, months after the last training session ends.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journi Modules Dominate This Archetype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(WBS &amp; Gantt)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213055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8-phase TPL-ERP-8 template — the longest, most detailed schedule of any archetype.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(ADKAR Engine)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91693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per site/cohort — the direct input to catching site-level divergence.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(Training)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70332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phase's entire content — job aids, sandbox environments, per-site delivery waves.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(Sustainment)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48970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Hypercare-to-Sustain handoff — the checkpoint that justifies closing Lewin at Refreeze.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60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(Analytics)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27608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disaggregated by site when a blended number would mislead.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624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(Emotional &amp; Transition Layer)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606247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and Kübler-Ross, cross-referenced with ADKAR to compute ALT-001.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Case Fires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THIS CASE EXERCISES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ALT-001 (Divergence Pattern Detected)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ALT-009 (Phase Gate No-Go/Conditional, if any gate closes non-Go)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throughline case — the one most likely to exercise a Knowledge/Ability-vs-Bridges divergence, given its scale and duration.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About This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Divergence Pattern catch before go-live (Casablanca, Week 28), a real cross-site Composite Readiness Index disaggregation (Exception E6), and a Refreeze called only once Sustain's own 90-day checkpoint evidence supports it — not the go-live date.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and Lewin dominate equally, throughout. A system cutover needs organizational readiness (Lewin's Change → Refreeze) and individual capability (ADKAR's Knowledge/Ability) at the same time — neither alone is sufficient, and unlike every other archetype in this series, that is true across all 8 phases, not concentrated in one.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throughline case — the one most likely to exercise a Knowledge/Ability-vs-Bridges divergence, given its scale and duration.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ERP Implementation (Bouregreg ERP Adoption Program)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Implementation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3657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ERP Adoption Program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2026-09-05T17:34:13Z</dcterms:created>
  <dcterms:modified xsi:type="dcterms:W3CDTF">2026-09-05T17:34:13Z</dcterms:modified>
</cp:coreProperties>
</file>
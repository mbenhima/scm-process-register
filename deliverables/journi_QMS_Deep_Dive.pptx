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Management System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9001/14001 Integrated Management System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ISO 9001/14001 certification on one management system rather than two — sponsored alone, without a guiding coalition.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ISO 9001/14001 Integrated Management System program — journi's QMS archetype case — from tenant setup through ongoing surveillance, the guide in this series with the longest single-phase tail, since certification surveillance never formally closes.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Bouregreg Group tenant as every other archetype in this series. A reader with the tenant already set up skips straight to CM Project creation.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source. This is journi's own stated case for ALT-010 (Guiding Coalition Gap) — this deck shows exactly how a single-Sponsor structural gap fires the alert and is resolved through genuine coalition-building, not a wider distribution list.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Manager sponsoring a certification program alone, without a broader guiding coalition, is a realistic single-sponsor failure mode journi is specifically built to catch — the Sponsor &amp; Coalition record, not any single ADKAR score, is this archetype's central risk signal.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staff, Settat plant operations +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weeks (guide numbering)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Settat plant pursues integrated ISO 9001 (quality) and ISO 14001 (environmental) certification on one management system rather than two, driven by a customer contract now requiring certified quality management, across 410 staff over 60 weeks.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ALT-010 firing at Week 26–31, resolved by recruiting a genuine Procurement Director and HR Business Partner as coalition members — plus five further exceptions showing exactly how a certification program can drift even after the headline coalition gap is closed.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never fully closes. Ongoing Surveillance is the longest single-phase tail in the library by design — certification surveillance never formally ends, so Refreeze is the one Lewin stage this archetype treats as a standing state, not a destination, unlike every other case in this series.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climbs steadily through Design and Implementation, dips briefly around the coalition-gap discovery, then recovers once the coalition is genuinely rebuilt — Benchmarking reads "Behind" only in that narrow window, "In Line" everywhere else.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Fassi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Quality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Rania Bensouda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Samir Chraibi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Mehdi Ouahbi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Process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Yasmine Kadiri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IT/Technical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Aziz Berrada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ISO 9001/14001 Integrated Management System CM Project under the existing Bouregreg Manufacturing Maroc Organization.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Change type: Integrated Management System. Target population: "Settat plant operations and quality, 410 staff." Business driver: "A customer contract now requires certified quality management; a parallel environmental certification is bundled in for efficiency."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Unfreeze, started alongside the ERP program's own kickoff.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TPL-IMS-7 phase template: Intake &amp; Diagnosis, Design, Implementation, Mock-up Audit, Certifying Audit, Surveillance Prep, Ongoing Surveillance.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Fassi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CHTR-04 Organizational Impact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Rania Bensouda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scope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Rania Bensouda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C2661C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existing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C2661C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program team accounts created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C2661C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C2661C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TPL-IMS-7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C2661C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 &amp; Diagnosis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Mock-up Audit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62712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Certifying Audit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67200" y="2798064"/>
            <a:ext cx="362712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5" name="Text 13"/>
          <p:cNvSpPr/>
          <p:nvPr/>
        </p:nvSpPr>
        <p:spPr>
          <a:xfrm>
            <a:off x="431292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Surveillance Prep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85760" y="2798064"/>
            <a:ext cx="3627120" cy="566928"/>
          </a:xfrm>
          <a:prstGeom prst="chevron">
            <a:avLst/>
          </a:prstGeom>
          <a:solidFill>
            <a:srgbClr val="C2661C"/>
          </a:solidFill>
          <a:ln/>
        </p:spPr>
      </p:sp>
      <p:sp>
        <p:nvSpPr>
          <p:cNvPr id="17" name="Text 15"/>
          <p:cNvSpPr/>
          <p:nvPr/>
        </p:nvSpPr>
        <p:spPr>
          <a:xfrm>
            <a:off x="803148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Ongoing Surveillance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60 weeks (guide numbering).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Diagnosis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gap between current practice and both ISO 9001 and ISO 14001 requirements, started alongside the ERP program's own kickoff.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INTAKE &amp;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analysis against both standards, run as one integrated exercise.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INTAKE &amp;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Dual-standard integrated gap analysis: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ISO 9001 and ISO 14001 as one exercise, not two parallel ones.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integrated procedure set covering both quality and environmental requirements — where Exception E5's standards conflict surfaces.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ISO 14001 waste-handling requirement conflicts with existing operations practice — Exception E5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gate closes; five weeks into Implementation the coalition gap is discovered.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procedure-set design: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procedure set covering both quality and environmental requirements.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24–38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the designed procedures plant-wide — the phase where Nadia Fassi's solo sponsorship becomes visible as a structural gap.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&amp; Coalition record still shows zero named members — Exception E1 opens, firing ALT-010.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Procurement Director and HR Business Partner recruited as genuine coalition members.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coalition recruitment: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solo sponsorship to a real guiding coalition with named, active members.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36–46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internal mock-up audit before the real certifying body ever sees the system — where a systemic documentation gap can still be caught.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MOCK-UP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Mock-up audit finds a systemic documentation gap in ISO 14001's waste-handling clause — Exception E2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gap closed across the environmental half of the system.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Mock-up audit gate closes clean.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MOCK-UP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mock-up audit: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systemic documentation gaps before the real certifying body does.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Certifying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44–50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external certifying audit — the moment this program's preparation is actually tested.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CERTIFYING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certifying body's auditor flags a minor nonconformity — Exception E3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Nonconformity corrected and closed with the auditor.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passes clean.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CERTIFYING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certifying audit: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certification against the certifying body's own independent standard.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Prep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48–52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the standing surveillance rhythm that will run indefinitely past this program's own formal close.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SURVEILLANCE 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schedule and spot-check cadence confirmed.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prep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SURVEILLANCE 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→ 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surveillance-rhythm design: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spot-check cadence that will run indefinitely without a dedicated program team.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Surveillance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52 onward, open-ended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single-phase tail in the library — certification surveillance never formally closes, by design.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ONGOING SURVEILLANCE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 quietly reverts to a pre-certification shortcut once audit pressure passes — Exception E4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58+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recruited HR Business Partner departs, risking a quiet reversion to the original coalition gap — Exception E6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ONGOING SURVEILLANCE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 (standing)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spot-checks: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"audit theater" reversion before it becomes the new normal.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&amp; Diagnosis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10–26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→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24–38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Mock-up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36–46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Certifying 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44–50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Prep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48–52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→ 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→ 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Surveillance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52+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 (standing)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&amp; Diagnosis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Dual-standard integrated gap analysis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ISO 9001 and ISO 14001 as one exercise, not two parallel ones.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(Stakeholder Mapping)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10–26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procedure-set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one procedure set covering both quality and environmental requirements.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24–38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coalition recruitment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beyond solo sponsorship to a real guiding coalition with named, active members.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 (Sponsor &amp; Coalition)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Mock-up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36–46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mock-up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systemic documentation gaps before the real certifying body does.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Certifying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44–50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certifying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certification against the certifying body's own independent standard.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Prep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48–52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surveillance-rhythm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spot-check cadence that will run indefinitely without a dedicated program team.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Surveillance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52+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 spot-checks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"audit theater" reversion before it becomes the new normal.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Ways This Program Could Have Gone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IMPLEMENTATION, WEEKS 28–31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Coalition Gap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weeks into Implementation, Nadia Fassi's Sponsor &amp; Coalition record still showed zero named coalition members, and procurement/HR rollout had stalled outside her direct authority — ALT-010's exact condition.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 &amp; Coalition record on M7 names fewer than 2 coalition members.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gate delay, but procurement/HR rollout stalls until the coalition is rebuilt.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 genuine Procurement Director and HR Business Partner as coalition members, not just a wider distribution list.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rebuilt Sponsor &amp; Coalition record with two genuine, active members.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ES · A = ES · C = PM · S = FPO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MOCK-UP AUDIT, WEEKS 40–43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Audit Finds a Systemic Documentation Gap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mock-up audit finds that Design's procedure set never fully addressed ISO 14001's waste-handling documentation clause — a systemic gap across the whole environmental half of the integrated system.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mock-up audit finding spanning multiple procedures, not a single missed document.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Mock-up Audit by two to three weeks while the environmental documentation set is rebuilt.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waste-handling documentation set specifically, cross-checked against ISO 14001's actual clause text.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corrected, complete environmental documentation set.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ITL · A = CM · C = PM · S = SUP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CERTIFYING AUDIT, WEEK 47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Auditor Flags a Nonconformity During Certification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certifying body's own auditor, independent of the mock-up audit, flags a minor nonconformity during the real certifying audit — a procedure followed correctly on paper but not consistently in observed plant-floor practice.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certifying-body finding during the real audit.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correction window before the audit's own close-out, typically days not weeks.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specific practice gap and demonstrate the correction to the auditor before close-out.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nonconformity; certification passes clean.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SUP · A = CM · C = ES · S = PM · I =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ONGOING SURVEILLANCE, WEEKS 54–58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Reverts to Old Practice Once the Auditor Leaves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surveillance spot-check finds that one function has quietly reverted to a pre-certification shortcut once audit pressure passed — the classic "audit theater" risk every certification program has to guard against.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surveillance spot-check finding a reverted practice.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gate — this phase runs open-ended — but requires an immediate corrective conversation.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reversion directly with the function; reinforce why the practice matters beyond audit optics.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practice; a reinforced surveillance spot-check cadence.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SUP · A = CM · C = ES · S = PM · I =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DESIGN–IMPLEMENTATION, WEEKS 18–26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Requirements Conflict With an Existing Operations Practice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ISO 14001 waste-handling requirement conflicts directly with an existing, longstanding operations practice that was never a problem for ISO 9001 alone — the specific complication a genuinely integrated certification introduces.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conflict identified during Design between the two standards' requirements.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to two weeks to Design while the conflict is resolved before Implementation begins.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conflict explicitly, documenting why the resolution satisfies both standards rather than favoring one.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documented, dual-compliant resolution.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SUP · A = CM · C = ITL · S = PM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ONGOING SURVEILLANCE, WEEKS 56+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Coalition Member Departs During Surveillance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Business Partner recruited as a coalition member during Exception E1's recovery leaves the organization during Ongoing Surveillance, risking a quiet reversion to the exact structural gap the program worked to close.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departure of a named coalition member during Ongoing Surveillance.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delay, but requires prompt coalition-seat succession.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onboard a successor coalition member promptly, rather than let the coalition quietly shrink back toward solo sponsorship.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maintained, genuine coalition membership.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ES · A = ES · C = FPO · S = PM · I = SUP,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E2E-IMS chain, MP-05 is present — training here covers both ISO 9001 and ISO 14001 procedures as one integrated curriculum, not two separate tracks.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Nadia Fassi (Sponsor), plant leadership  ·  Weeks 1–10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a Certification Program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solo sponsorship is a structural risk journi is specifically built to catch.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Guiding Coalition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fewer than 2 coalition members as a real, actionable signal.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Mehdi Ouahbi (FPO), Aziz Berrada (SUP)  ·  Weeks 10–36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the Integrated Procedure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and environmental procedures as one system, not two.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Preparing for a Mock-up and Certifying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auditors actually check, and how to have evidence ready.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410 Settat plant operations and quality staff  ·  Weeks 20–46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Following the New Integrated Procedures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quality and environmental practice under the new certified system.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Sustaining Practice Beyond the Audit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Specifically addressing the "audit theater" risk Exception E4 shows happening.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here is necessary but not the finish line — Ongoing Surveillance's indefinite spot-check cadence is what actually verifies the certified practice holds, long after the certifying audit itself passes.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(Sponsor &amp; Coalition)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archetype's central risk — fewer than 2 coalition members fires ALT-010.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(WBS &amp; Gantt)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TPL-IMS-7 template — Mock-up and Certifying Audit are external-facing gates.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(Sustainment)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Surveillance checkpoints, run indefinitely past program close.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 (Charter Registry)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charters carry unusual weight given the external audit stakes.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(Field Notes)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Documentation-gap and nonconformity findings, logged with their corrections.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(Stakeholder Mapping)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quality and environmental impact dimensions tracked in one integrated map.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Fires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THIS CASE EXERCISES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ALT-010 (Guiding Coalition Gap)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because a Quality Manager sponsoring alone, without a broader coalition, is a realistic single-sponsor failure mode.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ALT-010 firing at Week 26–31, resolved by recruiting a genuine Procurement Director and HR Business Partner as coalition members — plus five further exceptions showing exactly how a certification program can drift even after the headline coalition gap is closed.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never fully closes. Ongoing Surveillance is the longest single-phase tail in the library by design — certification surveillance never formally ends, so Refreeze is the one Lewin stage this archetype treats as a standing state, not a destination, unlike every other case in this series.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because a Quality Manager sponsoring alone, without a broader coalition, is a realistic single-sponsor failure mode.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Integrated Management System (ISO 9001/14001 Integrated Management System)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certific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Management 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9001/14001 Integrated Management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2026-09-05T17:34:56Z</dcterms:created>
  <dcterms:modified xsi:type="dcterms:W3CDTF">2026-09-05T17:34:56Z</dcterms:modified>
</cp:coreProperties>
</file>
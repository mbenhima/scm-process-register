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notesMasterIdLst>
    <p:notesMasterId r:id="rId5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image" Target="../media/image-13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4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777240" cy="77724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3" name="Image 0" descr="/home/user/scm-process-register/docs-src/type-decks/assets/people-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80467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/ Values Transformation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85800" y="29260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B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Bouregreg: Post-Acquisition Culture Integration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85800" y="35204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Aligning two distinct ways of working under one set of values after an acquisition — not a system or process change at all.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5800" y="4526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85800" y="5148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971800" y="4526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2971800" y="5148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257800" y="4526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257800" y="5148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543800" y="4526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543800" y="5148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TIERS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580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Sector · Bouregreg Group Scenario Library · Confidential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 — PURPOSE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Guide Is, and How to Use 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GUIDE 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1064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follows One Bouregreg: Post-Acquisition Culture Integration — journi's Cultural/Values Transformation archetype case — from tenant setup through institutionalization, aligning two distinct ways of working under one set of values after an acquisition.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program runs inside the same Bouregreg Group tenant as every other archetype in this series, six months into the ERP program's own life. A reader with the tenant already set up skips straight to CM Project creation.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 — A NOTE ON FIDELITY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journi's Real Source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2011680"/>
          </a:xfrm>
          <a:prstGeom prst="roundRect">
            <a:avLst>
              <a:gd name="adj" fmla="val 2273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240280"/>
            <a:ext cx="10607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journi module, field, and role named here is verified against journi's real source. This is journi's own stated case for ALT-003 (Sponsor Coverage Gap) — this deck shows exactly how a newly appointed Sponsor's slow start fires the alert and is corrected.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 CODES USED THROUGHOUT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= Executive Sponsor · CM = Change Manager · PM = Program/Project Manager · FPO = Functional Process Owner · ITL = IT/Technical Lead · SUP = Supervisor · EU = End User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Case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E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newly appointed Sponsor with zero logged actions damages Bridges and Kübler-Ross — this archetype's dominant frameworks — faster than any other, because a cultural program's central evidence is leadership visibility, not a training-completion metric.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Case, in Brief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1463040"/>
          </a:xfrm>
          <a:prstGeom prst="roundRect">
            <a:avLst>
              <a:gd name="adj" fmla="val 3125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48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 staff (acquired Tangier team) + Bouregreg counterparts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35040" y="2148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weeks (guide numbering, 18-month horizon)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 into the ERP program, Bouregreg Group acquires a smaller regional competitor's Tangier distribution operation; this project aligns two distinct ways of working under one set of values within an 18-month horizon, targeting the acquired Tangier team plus their new Bouregreg counterparts.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Guide Proves, Concretely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90320000" dist="483870000" dir="324000000000">
              <a:srgbClr val="1B2E2B">
                <a:alpha val="18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Sponsor Coverage Gap that fires and is corrected, a real Desire stall traced to a named, acquisition-specific fear, and a Refreeze signed only once the evidence — not the acquisition's own press-release timeline — supports it.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THE FOUR FRAMEWORKS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 for This Archetype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3200400"/>
          </a:xfrm>
          <a:prstGeom prst="roundRect">
            <a:avLst>
              <a:gd name="adj" fmla="val 1429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and Kübler-Ross dominate. Identity and emotional integration matter more than any specific skill here — a newly appointed Sponsor with zero logged actions damages exactly these two frameworks fastest, which is why this archetype is built to fire ALT-003 early rather than later.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THE FOUR FRAMEWORKS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Composite Readiness Index, Read for This Case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6387064000000" dist="6145149000000" dir="19440000000000000">
              <a:srgbClr val="1B2E2B">
                <a:alpha val="1800000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Composite Readiness Index's training-completion term rises well ahead of its Bridges/Kübler-Ross-driven cultural terms from Week 35 onward — a deliberate, predicted gap: a high training-completion reading confirms staff can use shared systems, not that the four target values have taken hold.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TENANT AND ADMIN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Tenant, and Reading Paths by Role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TENANT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program runs inside the same tenant journi's Master User Guide builds, under the existing Bouregreg Manufacturing Maroc Organization — no new Organization needed.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PATHS, BY ROLE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11064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Manager running this program day to day: Part 2 once, then Part 4 in full.</a:t>
            </a:r>
            <a:endParaRPr lang="en-US" sz="13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Program/Project Manager: Part 4's PM Track column and the Master WBS &amp; Gantt.</a:t>
            </a:r>
            <a:endParaRPr lang="en-US" sz="13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Executive Sponsor: Part 1, then Part 4's phase-opening narratives.</a:t>
            </a:r>
            <a:endParaRPr lang="en-US" sz="13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 Admin or Org Admin: Part 3.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TENANT AND ADMIN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RACSI Team for This Program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645920"/>
                <a:gridCol w="6309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C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RACSI 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C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C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Karim Fassi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 — newly appointed integration Sponsor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Nadia Chraibi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Youssef Idrissi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Program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Amal Ziani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Business Partner for the integration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Hicham Bennani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Systems/tooling lead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Fatima-Zahra Idrissi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Tangier Distribution Center site lead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Rachid Amrani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Casablanca supply chain/logistics lead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TENANT AND ADMIN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the CM Project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2199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130552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Module 1 — Hierarchy, create the One Bouregreg: Culture Integration CM Project under the existing Bouregreg Manufacturing Maroc Organization — no new tenant needed, despite the acquisition.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044952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0954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3118104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Change type: Cultural / Values Transformation. Target population: "Acquired Tangier team (260) plus Bouregreg counterparts." Business driver: "The acquisition's stated synergies depend on the two workforces actually operating as one company within 18 months."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32504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EAF2E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19709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4105656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Save. Lewin opens at Unfreeze, justified against the acquisition's own closing date, six months into the ERP program's own life.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020056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18464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5093208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Module 17 — WBS &amp; Gantt, load the TPL-CULT-7 phase template: Diagnosis, Target Values Design, Leadership Modeling &amp; Reinforcement Build, Pilot Cohort, Organization-Wide Rollout, Reinforcement Through Skepticism, Institutionalization.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TENANT AND ADMIN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Charters for This Program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6424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320040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C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C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Cadence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C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CHTR-01 Sponsorship / Leadership Charter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Karim Fassi (ES)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Phase Gate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CHTR-03 Communication Charter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Nadia Chraibi (CM)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communication wave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CHTR-04 Organizational Impact Charter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Nadia Chraibi (CM)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scope 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CHTR-08 Pulse / Interview Charter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Nadia Chraibi (CM)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phase gate + ad hoc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TENANT AND ADMIN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Checklist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AF2EF"/>
          </a:solidFill>
          <a:ln w="19050">
            <a:solidFill>
              <a:srgbClr val="6B4C8A"/>
            </a:solidFill>
            <a:prstDash val="solid"/>
          </a:ln>
        </p:spPr>
      </p:sp>
      <p:pic>
        <p:nvPicPr>
          <p:cNvPr id="5" name="Image 0" descr="/home/user/scm-process-register/docs-src/type-decks/asset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2203704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1031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tenant confirmed (Bouregreg Group, existing Organization)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7157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AF2EF"/>
          </a:solidFill>
          <a:ln w="19050">
            <a:solidFill>
              <a:srgbClr val="6B4C8A"/>
            </a:solidFill>
            <a:prstDash val="solid"/>
          </a:ln>
        </p:spPr>
      </p:sp>
      <p:pic>
        <p:nvPicPr>
          <p:cNvPr id="8" name="Image 1" descr="/home/user/scm-process-register/docs-src/type-decks/asset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770632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6700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program team accounts created across both legacy workforces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328269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AF2EF"/>
          </a:solidFill>
          <a:ln w="19050">
            <a:solidFill>
              <a:srgbClr val="6B4C8A"/>
            </a:solidFill>
            <a:prstDash val="solid"/>
          </a:ln>
        </p:spPr>
      </p:sp>
      <p:pic>
        <p:nvPicPr>
          <p:cNvPr id="11" name="Image 2" descr="/home/user/scm-process-register/docs-src/type-decks/asset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337560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323697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Project created, Lewin opened at Unfreeze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384962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AF2EF"/>
          </a:solidFill>
          <a:ln w="19050">
            <a:solidFill>
              <a:srgbClr val="6B4C8A"/>
            </a:solidFill>
            <a:prstDash val="solid"/>
          </a:ln>
        </p:spPr>
      </p:sp>
      <p:pic>
        <p:nvPicPr>
          <p:cNvPr id="14" name="Image 3" descr="/home/user/scm-process-register/docs-src/type-decks/asset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3904488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80390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TPL-CULT-7 phase template loaded on M17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48640" y="441655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AF2EF"/>
          </a:solidFill>
          <a:ln w="19050">
            <a:solidFill>
              <a:srgbClr val="6B4C8A"/>
            </a:solidFill>
            <a:prstDash val="solid"/>
          </a:ln>
        </p:spPr>
      </p:sp>
      <p:pic>
        <p:nvPicPr>
          <p:cNvPr id="17" name="Image 4" descr="/home/user/scm-process-register/docs-src/type-decks/asset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4471416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437083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Charters reviewed and accountable owners confirmed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WEEK-BY-WEEK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Phases, In Order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97480" cy="566928"/>
          </a:xfrm>
          <a:prstGeom prst="chevron">
            <a:avLst/>
          </a:prstGeom>
          <a:solidFill>
            <a:srgbClr val="6B4C8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10312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Diagnosis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337560" y="2103120"/>
            <a:ext cx="2697480" cy="566928"/>
          </a:xfrm>
          <a:prstGeom prst="chevron">
            <a:avLst/>
          </a:prstGeom>
          <a:solidFill>
            <a:srgbClr val="6B4C8A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210312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Target Values Design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26480" y="2103120"/>
            <a:ext cx="2697480" cy="566928"/>
          </a:xfrm>
          <a:prstGeom prst="chevron">
            <a:avLst/>
          </a:prstGeom>
          <a:solidFill>
            <a:srgbClr val="6B4C8A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210312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Leadership Modeling &amp; Reinforcement Build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915400" y="2103120"/>
            <a:ext cx="2697480" cy="566928"/>
          </a:xfrm>
          <a:prstGeom prst="chevron">
            <a:avLst/>
          </a:prstGeom>
          <a:solidFill>
            <a:srgbClr val="6B4C8A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0" y="210312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Pilot Cohort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798064"/>
            <a:ext cx="3627120" cy="566928"/>
          </a:xfrm>
          <a:prstGeom prst="chevron">
            <a:avLst/>
          </a:prstGeom>
          <a:solidFill>
            <a:srgbClr val="6B4C8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798064"/>
            <a:ext cx="353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Organization-Wide Rollout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67200" y="2798064"/>
            <a:ext cx="3627120" cy="566928"/>
          </a:xfrm>
          <a:prstGeom prst="chevron">
            <a:avLst/>
          </a:prstGeom>
          <a:solidFill>
            <a:srgbClr val="6B4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12920" y="2798064"/>
            <a:ext cx="353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Reinforcement Through Skepticism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985760" y="2798064"/>
            <a:ext cx="3627120" cy="566928"/>
          </a:xfrm>
          <a:prstGeom prst="chevron">
            <a:avLst/>
          </a:prstGeom>
          <a:solidFill>
            <a:srgbClr val="6B4C8A"/>
          </a:solidFill>
          <a:ln/>
        </p:spPr>
      </p:sp>
      <p:sp>
        <p:nvSpPr>
          <p:cNvPr id="17" name="Text 15"/>
          <p:cNvSpPr/>
          <p:nvPr/>
        </p:nvSpPr>
        <p:spPr>
          <a:xfrm>
            <a:off x="8031480" y="2798064"/>
            <a:ext cx="353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Institutionalization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program length: 78 weeks (guide numbering, 18-month horizon). Every phase below is walked in detail across the next slides — normal flow first, then six exceptions in full operational detail.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6B4C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1–10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Characterizes two starting cultures, not one — Bouregreg's plant-floor culture and Tangier's distribution-operation culture — before any values are proposed.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DIAGNOSIS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C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C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Kickoff; Lewin opens at Unfreeze.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1–6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Karim Fassi logs zero visible actions on M7 — Exception E1 opens.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Diagnosis gate closes; dual-culture baseline complete.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DIAGNOSIS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08115712800000000" dist="78043392300000000" dir="1.1664e+21">
              <a:srgbClr val="1B2E2B">
                <a:alpha val="180000000000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.64306955256e+21" dist="991151082210000000000" dir="6.9984e+25">
              <a:srgbClr val="1B2E2B">
                <a:alpha val="1.8e+2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3.3566983317512e+25" dist="1.2587618744067e+25" dir="4.19904e+30">
              <a:srgbClr val="1B2E2B">
                <a:alpha val="1.8e+2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4.2630068813240236e+29" dist="1.598627580496509e+29" dir="2.519424e+35">
              <a:srgbClr val="1B2E2B">
                <a:alpha val="1.7999999999999998e+3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Dual-culture baseline mapping: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Characterize two starting cultures side by side before proposing any values.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6B4C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Values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4–16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the four target values with locked, bilingual-tested behavior anchors — not aspirational language alone.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TARGET VALUES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C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C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 Coverage Gap resolved via a direct, visible town hall.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Steering Committee formally seated.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four values carry locked, bilingual-tested behavior anchors.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TARGET VALUES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5.41401873928151e+33" dist="2.0302570272305663e+33" dir="1.5116544e+40">
              <a:srgbClr val="1B2E2B">
                <a:alpha val="1.8e+3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6.875803798887518e+37" dist="2.578426424582819e+37" dir="9.069926400000001e+44">
              <a:srgbClr val="1B2E2B">
                <a:alpha val="1.8e+4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8.732270824587148e+41" dist="3.2746015592201804e+41" dir="5.44195584e+49">
              <a:srgbClr val="1B2E2B">
                <a:alpha val="1.8e+4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1089983947225678e+46" dist="4.158743980209629e+45" dir="3.2651735040000005e+54">
              <a:srgbClr val="1B2E2B">
                <a:alpha val="1.8e+5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behavior-anchor design: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each value to a specific, testable behavior in both languages, not aspirational text.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6B4C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Modeling &amp; Reinforcement Build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12–26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recognition and escalation reinforcement system while leaders model the target values directly.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LEADERSHIP MODELING &amp; REINFORCEMENT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C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C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Recognition system pilot-tested with a small mixed Tangier/Casablanca group.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coaching circles begin.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8 leaders (4 per side) have logged specific commitments.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LEADERSHIP MODELING &amp; REINFORCEMENT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408427961297661e+50" dist="5.281604854866228e+49" dir="1.9591041024000004e+59">
              <a:srgbClr val="1B2E2B">
                <a:alpha val="1.8000000000000001e+5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→ Change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7887035108480297e+54" dist="6.70763816568011e+53" dir="1.1754624614400003e+64">
              <a:srgbClr val="1B2E2B">
                <a:alpha val="1.8e+6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.2716534587769977e+58" dist="8.518700470413739e+57" dir="7.052774768640002e+68">
              <a:srgbClr val="1B2E2B">
                <a:alpha val="1.8e+6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→ Neutral Zone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.8849998926467873e+62" dist="1.081874959742545e+62" dir="4.2316648611840007e+73">
              <a:srgbClr val="1B2E2B">
                <a:alpha val="1.8000000000000002e+7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→ Resistance/Anger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Paired-leader modeling: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leaders from both legacy organizations model values jointly, not separately.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6B4C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Cohort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20–34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one Tangier team with one legacy Bouregreg team as a genuine working pair, not two isolated pilots.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PILOT COHORT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C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C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pair selected: Tangier Dispatch and Casablanca Supply Chain Liaison.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Tangier Dispatch's Desire drops to 2 over an unconfirmed consolidation rumor — Exception E2 opens.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cohort gate closes.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PILOT COHORT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3.66394986366142e+66" dist="1.373981198873032e+66" dir="2.5389989167104004e+78">
              <a:srgbClr val="1B2E2B">
                <a:alpha val="1.8000000000000003e+7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4.653216326850003e+70" dist="1.7449561225687507e+70" dir="1.5233993500262402e+83">
              <a:srgbClr val="1B2E2B">
                <a:alpha val="1.8000000000000004e+8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→ Desire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5.909584735099504e+74" dist="2.2160942756623134e+74" dir="9.14039610015744e+87">
              <a:srgbClr val="1B2E2B">
                <a:alpha val="1.8000000000000005e+8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Zone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7.50517261357637e+78" dist="2.814439730091138e+78" dir="5.484237660094465e+92">
              <a:srgbClr val="1B2E2B">
                <a:alpha val="1.8000000000000007e+9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Resistance/Anger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cross-site pairing: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one Tangier team with one Bouregreg team as a real working relationship, not two isolated pilots.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6B4C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Organization-Wide Rollout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32–50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Rolls the values program out in two waves — where a Divergence Pattern can surface in a cohort with less direct Tangier contact.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ORGANIZATION-WIDE ROLLOUT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C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C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Wave 2 Casablanca cohort fires ALT-001 (Divergence Pattern Detected) — Exception E3 opens.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Divergence resolved through a real cross-site paired exposure.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Rollout gate closes.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ORGANIZATION-WIDE ROLLOUT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9.53156921924199e+82" dist="3.574338457215745e+82" dir="3.2905425960566786e+97">
              <a:srgbClr val="1B2E2B">
                <a:alpha val="1.8000000000000008e+9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2105092908437327e+87" dist="4.539409840663996e+86" dir="1.9743255576340073e+102">
              <a:srgbClr val="1B2E2B">
                <a:alpha val="1.800000000000001e+10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→ Ability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5373467993715405e+91" dist="5.765050497643275e+90" dir="1.1845953345804043e+107">
              <a:srgbClr val="1B2E2B">
                <a:alpha val="1.800000000000001e+10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Zone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9524304352018566e+95" dist="7.321614132006959e+94" dir="7.107572007482426e+111">
              <a:srgbClr val="1B2E2B">
                <a:alpha val="1.800000000000001e+11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Resistance/Anger → Exploration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Two-wave staged rollout: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in waves so later cohorts benefit from earlier lessons.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6B4C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Through Skepticism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45–68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values program's reinforcement work steady against real skepticism — including a Board announcement racing ahead of the program's own evidence.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· REINFORCEMENT THROUGH SKEPTICISM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C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C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public "Integration Complete" statement outpaces journi's own Lewin reading — Exception E4 opens.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promotion decision regresses Tangier sentiment sharply — Exception E5 opens.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Reinforcement phase gate closes.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· REINFORCEMENT THROUGH SKEPTICISM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.4795866527063578e+99" dist="9.298449947648839e+98" dir="4.2645432044894554e+116">
              <a:srgbClr val="1B2E2B">
                <a:alpha val="1.800000000000001e+11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3.149075048937074e+103" dist="1.1809031433514024e+103" dir="2.5587259226936733e+121">
              <a:srgbClr val="1B2E2B">
                <a:alpha val="1.800000000000001e+12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→ Reinforcement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3.9993253121500844e+107" dist="1.499746992056281e+107" dir="1.535235553616204e+126">
              <a:srgbClr val="1B2E2B">
                <a:alpha val="1.800000000000001e+12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Zone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5.079143146430607e+111" dist="1.904678679911477e+111" dir="9.211413321697224e+130">
              <a:srgbClr val="1B2E2B">
                <a:alpha val="1.800000000000001e+13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Two-clock discipline against a public announcement: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 corporate/brand milestone from journi's own evidence-based Refreeze call.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6B4C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Institutionalization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62–78, open-ended beyond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four values are genuinely the new normal — closing Refreeze from evidence, not the acquisition's own press-release timeline.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· INSTITUTIONALIZATION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C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C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Cross-site cohort divergence (Exception E6) still being tracked as this phase closes.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78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Refreeze called from evidence; reinforcement continues well past the ERP program's own close.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· INSTITUTIONALIZATION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6.450511795966871e+115" dist="2.418941923487576e+115" dir="5.526847993018334e+135">
              <a:srgbClr val="1B2E2B">
                <a:alpha val="1.800000000000001e+13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Refreeze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8.192149980877925e+119" dist="3.0720562428292216e+119" dir="3.3161087958110005e+140">
              <a:srgbClr val="1B2E2B">
                <a:alpha val="1.800000000000001e+14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0404030475714965e+124" dist="3.9015114283931116e+123" dir="1.9896652774866004e+145">
              <a:srgbClr val="1B2E2B">
                <a:alpha val="1.8000000000000009e+14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Beginning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3213118704158005e+128" dist="4.954919514059251e+127" dir="1.1937991664919603e+150">
              <a:srgbClr val="1B2E2B">
                <a:alpha val="1.800000000000001e+15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Cross-site CRI divergence tracking: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structural, slow-moving cohort gap rather than treat it as a single-week trigger.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MASTER WBS &amp; GANTT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Phase, Across the Four Frameworks</a:t>
            </a:r>
            <a:endParaRPr lang="en-US" sz="2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554480"/>
                <a:gridCol w="1737360"/>
                <a:gridCol w="1737360"/>
                <a:gridCol w="155448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Lewin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ADKAR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Kübler-Ross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1–10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Unfreeze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Awareness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Values 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4–16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Unfreeze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Awareness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Leadership Modeling &amp; Reinforcement Build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12–26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Unfreeze → 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→ Neutral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 → Resistance/Anger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Cohort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20–34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→ Desire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Resistance/Anger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Organization-Wide Rollout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32–50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→ 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Resistance/Anger → Exploration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Reinforcement Through Skepticism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45–68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Ability → Reinforcement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Institutionalization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62–78+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Refreeze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Reinforcement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Beginning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MASTER WBS &amp; GANTT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Phase, Techniques and Tools</a:t>
            </a:r>
            <a:endParaRPr lang="en-US" sz="2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2377440"/>
                <a:gridCol w="329184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Diagnosis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1–10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Dual-culture baseline mapping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Characterize two starting cultures side by side before proposing any values.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 (Stakeholder Mapping)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Values Design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4–16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Bilingual behavior-anchor design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 each value to a specific, testable behavior in both languages, not aspirational text.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M21 (Field Notes)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Leadership Modeling &amp; Reinforcement Build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12–26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Paired-leader modeling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leaders from both legacy organizations model values jointly, not separately.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M8 (Communications)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Cohort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20–34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Genuine cross-site pairing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 one Tangier team with one Bouregreg team as a real working relationship, not two isolated pilots.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 (Emotional &amp; Transition Layer)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Organization-Wide Rollout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32–50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Two-wave staged rollout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out in waves so later cohorts benefit from earlier lessons.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(ADKAR Engine)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Reinforcement Through Skepticism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45–68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Two-clock discipline against a public announcement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a corporate/brand milestone from journi's own evidence-based Refreeze call.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(Initiative Registry)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Institutionalization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62–78+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Cross-site CRI divergence tracking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a structural, slow-moving cohort gap rather than treat it as a single-week trigger.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M14 (Analytics)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6B4C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SIX EXCEPTIONS, IN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Realistic Ways This Program Could Have Gone Differently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· DIAGNOSIS, WEEKS 1–6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Coverage Gap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Karim Fassi, newly appointed as this program's integration Sponsor, logged zero visible actions on M7 through the program's first four weeks — exactly ALT-003's condition.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visibility on M7 logged as "weak."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gate delay, but risks damaging Bridges/Kübler-Ross evidence if left unaddressed.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direct, visible town hall and a documented sponsorship action plan.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corrected Sponsor visibility reading; a rebuilt trust baseline.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CM, PM · A = ES · C = FPO · S = SUP · I =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· PILOT COHORT, WEEKS 25–30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 Stall at Tangier Pilot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Tangier Dispatch's ADKAR Desire score dropped to 2, triggering a mandatory barrier-reason note. The root cause was an unconfirmed rumor that Tangier's dispatch function would be consolidated into Casablanca within a year.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 logged at 2 or below, auto-escalating.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gate delay — resolved through direct, honest communication within the pilot phase.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or deny the rumor directly and honestly; address the underlying fear rather than the surface symptom.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resolved rumor; a recovered Desire score.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CM · A = CM · C = ES, SUP · S = PM · I = FPO,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· ORGANIZATION-WIDE ROLLOUT, WEEKS 42–47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Pattern at Rollout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Wave 2 Casablanca cohort with markedly less direct Tangier contact showed Knowledge and Ability both at 4 or above while Bridges still read "Ending" — ALT-001's exact condition. The cohort understood the values intellectually but had never had them tested against a real cross-site relationship.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ALT-001 (Divergence Pattern Detected) fires on M6.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gate delay — resolved through a targeted cross-site exposure within the rollout window.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real, not simulated, cross-site working relationship for the affected cohort.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resolved divergence; a genuine cross-site relationship in place of an intellectual-only understanding.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CM · A = CM · C = SUP, FPO · S = ITL · I = ES,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 · REINFORCEMENT THROUGH SKEPTICISM, WEEKS 56–60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Premature "Integration Complete" Declaration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Bouregreg Group's Board issued a public "One Bouregreg — Integration Complete" statement timed to fiscal year-end, while journi's own Lewin reading remained "Change," not Refreeze — this program's own two-clock problem.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corporate/brand milestone announced ahead of journi's own evidence-based Refreeze call.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gate delay, but risks staff reading the announcement as premature spin or license to stop reinforcement work.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the distinction between the corporate milestone and the ongoing reinforcement work directly, not silently.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clarified internal message; continued reinforcement work despite the public announcement.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CM · A = ES · C = PM · S = FPO · I = SUP,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 · REINFORCEMENT THROUGH SKEPTICISM, WEEKS 65–68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Regression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newly created "combined regional" role passed over a tenured Tangier candidate for a less-tenured Bouregreg-side candidate; Tangier's Kübler-Ross sentiment regressed sharply toward Resistance/Anger — read as evidence that "Equal Standing" was not real in practice.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cohort's Kübler-Ross reading moves backward following a specific triggering event.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gate delay — resolved through a transparent review within the same phase.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 review of the decision; correction of the genuine procedural gap found (the role was never posted at Tangier).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documented procedural fix; a rebuilt trust baseline at Tangier.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FPO, ES · A = ES · C = CM · S = SUP · I =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 · CROSS-CUTTING, PHASES 4–7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Cross-Site Cohort Divergence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three consecutive Composite Readiness Index readings, Tangier's cohort score consistently trailed the Casablanca-counterpart cohort by a real margin — a slower-moving, structural pattern tracing to Tangier's later program-relative start and deeper trust deficit.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persistent, non-noise CRI gap between cohorts across multiple readings.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gate delay — tracked continuously from Pilot through Institutionalization.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gap explicitly rather than average it away; direct additional reinforcement resources toward the lagging cohort.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standing, disaggregated cross-site tracking practice, still active as Institutionalization closes.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CM, SUP · A = CM · C = FPO, PM · S = ITL · I = ES,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TRAINING PROGRAM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Training Covers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2926080"/>
          </a:xfrm>
          <a:prstGeom prst="roundRect">
            <a:avLst>
              <a:gd name="adj" fmla="val 1563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MP-05 does not appear in journi's E2E-CULT chain — nothing here trains anyone into believing the four values. What this program trains is real, values-independent capability: Tangier staff don't yet know Bouregreg's shared systems, and Bouregreg's own People Managers have never supervised a newly-merged team.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TIER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Management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Cohort: The Steering Committee: Karim Fassi, Nadia Chraibi, Youssef Idrissi, Meryem Sabri, Laila Mernissi  ·  Weeks 10–14</a:t>
            </a:r>
            <a:endParaRPr lang="en-US" sz="12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949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Curriculum Entry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C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C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Leading a Two-Culture Organization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Governing an integration where neither culture is the default — reading Bridges/Kübler-Ross as leadership signals.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journi Governance for Multi-Organization Programs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 a Stakeholder Map and CRI that span two Organizations under one Group.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Communicating Through an Acquisition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Media, investor, and internal-communication discipline, delivered ahead of the Week 56 Two-Clock Problem.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TIER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Management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Cohort: People Managers across both Organizations (12 total)  ·  Weeks 18–24</a:t>
            </a:r>
            <a:endParaRPr lang="en-US" sz="12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949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Curriculum Entry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C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C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Managing a Newly-Merged Team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Supervisory skills specific to managing staff from the other company's original workforce.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Operating Procedures — Distribution &amp; Logistics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Harmonized SOPs so managers supervise a mixed team on one shared procedure.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Coaching Fundamentals for People Managers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Feeds directly into M11 (Manager as Coach)'s team-scoped heatmap.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TIER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(Frontline)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Cohort: All 400 target staff, split by rollout wave  ·  Weeks 35–47</a:t>
            </a:r>
            <a:endParaRPr lang="en-US" sz="12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949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Curriculum Entry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C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C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Bouregreg Shared Systems &amp; Tools Orientation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onboarding to shared order-tracking and dispatch tooling.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Safety &amp; Quality Procedures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Harmonized standards across both sites' operations.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Commitment Standards — One Bouregreg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customer-facing service standards.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TRAINING PROGRAM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Curriculum Is Shaped This Way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6780660754280665e+132" dist="6.2927477828552495e+131" dir="7.162794998951762e+154">
              <a:srgbClr val="1B2E2B">
                <a:alpha val="1.800000000000001e+15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training-completion reading confirms Tangier and Casablanca staff can use the shared systems — it does not, on its own, confirm the four values have taken hold. That evidence still comes from Bridges, Kübler-Ross, and Part 4's own mechanisms, and this program's training term is expected to rise well ahead of its cultural terms, by design.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journi Modules Dominate This Archetype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3055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(Emotional &amp; Transition Layer)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86200" y="2130552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heaviest use of Bridges and Kübler-Ross of any archetype — two starting cultures tracked side by side.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43784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916936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(Sponsor &amp; Coalition)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86200" y="2916936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newly appointed Sponsor starts with zero logged actions — the direct ALT-003 trigger.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630168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70332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(ADKAR Engine)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86200" y="3703320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 is the block most exposed here — a named, specific fear (job security) stalls 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416552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489704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 (Communications)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86200" y="4489704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briefings for paired cohorts, not separate messaging for each legacy culture.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202936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27608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 (Training)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5276088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parallel track for real capability gaps, deliberately kept separate from the values curriculum itself.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98932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606247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M14 (Analytics)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86200" y="6062472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training-completion term rising well ahead of the cultural CRI terms — a predicted, not alarming, gap.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6B4C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PROOF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Case Fires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0312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THIS CASE EXERCISES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ALT-003 (Sponsor Coverage Gap)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1106424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97764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4279392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deliberately around a newly appointed Sponsor's slow start — the archetype most exposed to sponsorship visibility risk.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Remember About This Archetype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1064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Sponsor Coverage Gap that fires and is corrected, a real Desire stall traced to a named, acquisition-specific fear, and a Refreeze signed only once the evidence — not the acquisition's own press-release timeline — supports it.</a:t>
            </a:r>
            <a:endParaRPr lang="en-US" sz="1350" dirty="0"/>
          </a:p>
          <a:p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and Kübler-Ross dominate. Identity and emotional integration matter more than any specific skill here — a newly appointed Sponsor with zero logged actions damages exactly these two frameworks fastest, which is why this archetype is built to fire ALT-003 early rather than later.</a:t>
            </a:r>
            <a:endParaRPr lang="en-US" sz="1350" dirty="0"/>
          </a:p>
          <a:p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deliberately around a newly appointed Sponsor's slow start — the archetype most exposed to sponsorship visibility risk.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Cultural / Values Transformation (One Bouregreg: Post-Acquisition Culture Integration)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54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011680"/>
            <a:ext cx="777240" cy="77724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3" name="Image 0" descr="/home/user/scm-process-register/docs-src/type-decks/assets/people-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17627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92608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/ Values Transformation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85800" y="36576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Bouregreg: Post-Acquisition Culture Integration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6172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Sector · Bouregreg Group Scenario Library · Confidential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2026-09-05T17:35:00Z</dcterms:created>
  <dcterms:modified xsi:type="dcterms:W3CDTF">2026-09-05T17:35:00Z</dcterms:modified>
</cp:coreProperties>
</file>
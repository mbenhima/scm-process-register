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Redesign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Process Redesign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" y="3520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Redesigning a process independent of any system change — where staff who privately own today's workarounds resist a redesign that makes those workarounds obsolete.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971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57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3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Is, and How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Order-to-Cash Process Redesign — journi's BPR archetype case — from tenant setup through sustainment handoff, showing exactly how a process-only redesign (no system change) is run inside journi, week by week.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Bouregreg Group tenant as every other archetype in this series. A reader with the tenant already set up skips straight to CM Project creation.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A NOTE ON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journi's Real Source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journi module, field, and role named here is verified against journi's real source. Order-to-Cash is journi's own stated case for ALT-004 (Resistance Escalation Threshold Breached) — this deck shows exactly how that alert fires and is resolved through co-design, not suppression.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CODES USED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Executive Sponsor · CM = Change Manager · PM = Program/Project Manager · FPO = Functional Process Owner · ITL = IT/Technical Lead · SUP = Supervisor · EU = End 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staff who built and privately own today's manual workarounds resist a redesign that makes those workarounds obsolete — by design, more than any specific skill gap, resistance (Kübler-Ross) is this archetype's central and defining risk.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Case, in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staff, Casablanca finance (AR and AP)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weeks (guide numbering)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Casablanca HQ's finance function has run order-to-cash manually since before the ERP program began; this 50-week project redesigns the process itself, independent of any system change, targeting a three-week month-end reconciliation problem self-inflicted by process design, not tooling.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Proves, Concretely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ALT-004 firing at Week 20–24, resolved through a co-designed accuracy safeguard the resisting staff themselves helped define — and five further exceptions showing exactly how a redesign can go sideways even after the headline resistance risk is handled.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for This Archetype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dominates. Staff who privately own today's workarounds resist a redesign that makes those workarounds obsolete — the Resistance/Anger stage, and the Resistance Log (M10) that feeds it, is this archetype's central risk, more than any specific skill gap ADKAR would otherwise catch first.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Index, Read for This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 dips visibly during the Pilot phase as the three resistance entries accumulate, then recovers once the co-designed safeguard lands — a real, not cosmetic, trough-and-recovery pattern worth reading as designed evidence, not noise.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Tenant, and Reading Paths by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tenant journi's Master User Guide builds, under the existing Bouregreg Manufacturing Maroc Organization — no new Organization needed.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PATHS, BY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running this program day to day: Part 2 once, then Part 4 in full.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Program/Project Manager: Part 4's PM Track column and the Master WBS &amp; Gantt.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Sponsor: Part 1, then Part 4's phase-opening narratives.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Admin or Org Admin: Part 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RACSI Team for This Program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Zniber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— VP 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Imane Berrada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Othmane Rifai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Salwa Tazi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Finance Process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Alami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IT/Technical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Amina Sebti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CM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219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305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 — Hierarchy, create the Order-to-Cash Process Redesign CM Project under the existing Bouregreg Manufacturing Maroc Organization — no new tenant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95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1181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Change type: Business Process Redesign. Target population: "Casablanca finance (AR and AP), 140 staff." Business driver: "Three weeks of month-end reconciliation work, self-inflicted by process design."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970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05656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Lewin opens at Unfreeze, run alongside the ERP program's own Discovery.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846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932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17 — WBS &amp; Gantt, load the TPL-BPR-7 phase template: Intake &amp; Diagnosis, Clean-Slate Design, Build, Pilot, Rollout, Stabilization, Sustainment.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for This Program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CHTR-01 Sponsorship / Leadership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Zniber (ES)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CHTR-04 Organizational Impact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Imane Berrada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scope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CHTR-08 Pulse / Interview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Imane Berrada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 + ad 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B4463B"/>
            </a:solidFill>
            <a:prstDash val="solid"/>
          </a:ln>
        </p:spPr>
      </p:sp>
      <p:pic>
        <p:nvPicPr>
          <p:cNvPr id="5" name="Image 0" descr="/home/user/scm-process-register/docs-src/type-decks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0370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tenant confirmed (Bouregreg Group, existing Organization)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B4463B"/>
            </a:solidFill>
            <a:prstDash val="solid"/>
          </a:ln>
        </p:spPr>
      </p:sp>
      <p:pic>
        <p:nvPicPr>
          <p:cNvPr id="8" name="Image 1" descr="/home/user/scm-process-register/docs-src/type-decks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706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program team accounts created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B4463B"/>
            </a:solidFill>
            <a:prstDash val="solid"/>
          </a:ln>
        </p:spPr>
      </p:sp>
      <p:pic>
        <p:nvPicPr>
          <p:cNvPr id="11" name="Image 2" descr="/home/user/scm-process-register/docs-src/type-decks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375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Project created, Lewin opened at Unfreeze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96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B4463B"/>
            </a:solidFill>
            <a:prstDash val="solid"/>
          </a:ln>
        </p:spPr>
      </p:sp>
      <p:pic>
        <p:nvPicPr>
          <p:cNvPr id="14" name="Image 3" descr="/home/user/scm-process-register/docs-src/type-decks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9044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8039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TPL-BPR-7 phase template loaded on M17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416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B4463B"/>
            </a:solidFill>
            <a:prstDash val="solid"/>
          </a:ln>
        </p:spPr>
      </p:sp>
      <p:pic>
        <p:nvPicPr>
          <p:cNvPr id="17" name="Image 4" descr="/home/user/scm-process-register/docs-src/type-decks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Charters reviewed and accountable owners confirmed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WEEK-BY-WEEK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Phases, In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566928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Intake &amp; Diagnosis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697480" cy="566928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Clean-Slate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2697480" cy="566928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97480" cy="566928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627120" cy="566928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Rollout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67200" y="2798064"/>
            <a:ext cx="3627120" cy="566928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15" name="Text 13"/>
          <p:cNvSpPr/>
          <p:nvPr/>
        </p:nvSpPr>
        <p:spPr>
          <a:xfrm>
            <a:off x="431292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Stabilization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85760" y="2798064"/>
            <a:ext cx="3627120" cy="566928"/>
          </a:xfrm>
          <a:prstGeom prst="chevron">
            <a:avLst/>
          </a:prstGeom>
          <a:solidFill>
            <a:srgbClr val="B4463B"/>
          </a:solidFill>
          <a:ln/>
        </p:spPr>
      </p:sp>
      <p:sp>
        <p:nvSpPr>
          <p:cNvPr id="17" name="Text 15"/>
          <p:cNvSpPr/>
          <p:nvPr/>
        </p:nvSpPr>
        <p:spPr>
          <a:xfrm>
            <a:off x="803148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Sustainment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program length: 50 weeks (guide numbering). Every phase below is walked in detail across the next slides — normal flow first, then six exceptions in full operational detail.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Diagnosis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Characterizes exactly where the three-week reconciliation problem comes from, process step by process step — before any redesign is proposed.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INTAKE &amp;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Kickoff; Lewin opens at Unfreeze, run alongside the ERP program's own Discovery.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Process-step diagnosis identifies the specific manual workarounds driving the delay.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INTAKE &amp;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Process-step root-cause mapping: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three-week delay to specific manual workarounds, by step.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Clean-Slate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redesigned process without being anchored to today's workaround-shaped version of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CLEAN-SLATE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Clean-slate design workshop, deliberately excluding today's workaround logic.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Clean-slate design signed off by the Steering Committee.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CLEAN-SLATE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Clean-slate workshop: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new process without anchoring to today's workaround-shaped version.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redesigned process's specific steps, forms, and approval chain — this is where Exception E4's legacy-system constraint surfaces.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legacy system constraint blocks a required data field — Exception E4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bounded workaround validated and configured.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→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→ 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technical workaround design: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legacy-system constraint without touching the legacy system directly.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14–24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the redesigned process on a single process step — the phase this archetype is built to cross the resistance-escalation threshold in.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resistance entry logged by an AR staff member defending removed manual-control expertise.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resistance entry lands, firing ALT-004 — Exception E1 opens and resolves within the same week.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accuracy safeguard: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resistance by building the mitigation with the resisting staff, not around them.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22–32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the redesigned process out organization-wide across AR and AP — where an informal, untracked resistance pattern (Exception E2) can hide.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metrics lag in a sub-team with no open resistance entries — Exception E2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co-designed safeguard, tested only against AR's volume, reaches AP — Exception E3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 → 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Adoption-vs-resistance-log cross-check: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 informal resistance pattern that never becomes a formal log entry.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30–42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redesigned process holds under real monthly volume — and whether the reconciliation-time target is actually being met.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STABILIZATION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 time reads two weeks, not the targeted one week — Exception E5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Root-cause disaggregation traces the shortfall to E3's AP-specific safeguard cost.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Stabilization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STABILIZATION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Reconciliation-time root-cause disaggregation: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 real partial shortfall from a hidden, addressable cause.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40–50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the redesigned process off to standing operations — complicated by the Process Owner's own mid-rollout departure.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SUSTAINMENT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Salwa Tazi's departure notice triggers Exception E6's structured handover.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successor Process Owner fully onboarded and RACSI-updated.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Sustainment handoff complete; program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SUSTAINMENT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Decision-rationale handover: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*why* behind key design decisions, not just the *what*, through a leadership transition.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Across the Four Frameworks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737360"/>
                <a:gridCol w="1737360"/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&amp; Diagnosis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Clean-Slate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5–8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8–16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 →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→ 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→ 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14–24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22–32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 → 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30–42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40–50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Techniques and Tools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37744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&amp; Diagnosis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Process-step root-cause mapping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the three-week delay to specific manual workarounds, by step.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(Stakeholder Mapping)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Clean-Slate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5–8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Clean-slate workshop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the new process without anchoring to today's workaround-shaped version.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M17 (WBS &amp; Gantt)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8–16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technical workaround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a legacy-system constraint without touching the legacy system directly.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M21 (Field Notes)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14–24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Co-designed accuracy safeguard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resistance by building the mitigation with the resisting staff, not around them.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 (Resistance Log)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22–32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Adoption-vs-resistance-log cross-check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an informal resistance pattern that never becomes a formal log entry.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(ADKAR Engine)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30–42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Reconciliation-time root-cause disaggregation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 real partial shortfall from a hidden, addressable cause.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M14 (Analytics)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Sustainment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40–50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Decision-rationale handover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the *why* behind key design decisions, not just the *what*, through a leadership transition.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M21 (Field Notes)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SIX EXCEPTIONS,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Realistic Ways This Program Could Have Gone Differently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PILOT, WEEKS 20–24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Escalation Threshold Breached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 staff, each defending the manual-control expertise the redesigned process removes, logged individually-coded resistance entries within a three-week window — ALT-004's exact condition.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open resistance entries accumulated within journi's rolling window.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Phase 4 gate delay — resolved within the same phase by Week 24.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individual conversations with each of the three staff; a secondary accuracy-review safeguard co-designed with them, not imposed on them.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closed resistance entries; a co-designed accuracy safeguard folded into the standing rollout design.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CM · C = FPO, SUP · S = PM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ROLLOUT, WEEKS 26–28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Workaround Champion Undermines the Process Informally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AR staff member who never logged a formal resistance entry quietly tells colleagues to keep a personal shadow spreadsheet "just in case," undermining adoption without ever surfacing as a trackable entry.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metrics (M5 Ability) lag in a sub-team despite no open resistance entries there.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week added to that sub-team's rollout confirmation.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adoption lag directly; identify the informal influence through conversation; convert the informal pattern into a formal, resolvable 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newly logged, then closed, resistance entry; a standing practice of cross-checking adoption metrics against the resistance log.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SUP · A = CM · C = FPO · S = PM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ROLLOUT–STABILIZATION, WEEKS 28–36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Co-Designed Safeguard Slows AP More Than Expected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safeguard co-designed with AR's resisting staff was tested only against AR's volume; rolled out to AP's significantly higher volume, it adds more processing time than the redesign was meant to save.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Reconciliation-time monitoring (M14) trends against the business case's own target, not toward it.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Stabilization by two to three weeks while the safeguard is re-tuned for AP.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cost specifically in AP; redesign the trigger threshold for AP's volume rather than removing the safeguard; re-test before declaring Stabilization complete.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AP-specific safeguard threshold; a documented reason the AR-tested design didn't generalize.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PM, FPO · A = CM · C = SUP · S = ITL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BUILD, WEEKS 8–13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System Constraint Blocks a Required Data Field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redesigned process requires a new data field (a credit-note reason code) the legacy finance system, still in use pending the separate ERP program's own migration, does not natively support.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build-phase technical constraint discovered when the new field's configuration is attempted.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to two weeks to Build while a bounded workaround is designed and validated.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constraint is real; design a bounded workaround that doesn't require touching the legacy system; validate it doesn't reintroduce a manual step.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constraint and its bounded workaround.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ITL, PM · A = PM · C = CM · S = FPO · I = ES,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STABILIZATION, WEEKS 34–42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Reconciliation-Time Reduction Stalls Below Target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targeted a reduction from three weeks to one; Stabilization's readings hold at two weeks — real progress, but short of target.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monthly readings below the business-case target, without further improving trend.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Stabilization by one monitoring cycle rather than close the gate on a partial result presented as full success.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Disaggregate the remaining gap by root cause (largely E3's AP safeguard cost); decide explicitly whether to invest further or revise the target, documented either way.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disaggregated root-cause finding; either a closed gap or an explicitly revised target.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FPO · A = ES · C = PM · S = ITL · I =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ROLLOUT, WEEKS 26–30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Owner Departs Mid-Rollout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Salwa Tazi, the Casablanca Finance Process Owner and the person who did the most direct co-design work with the pilot's resisting staff, accepts a role elsewhere mid-rollout.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departure notice from the named Functional Process Owner during an active phase.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roughly two weeks to Rollout for a structured handover before departure.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handover capturing the *why* behind key design decisions; identify and onboard a successor before the departure, not after.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decision-rationale handover; a successor Process Owner onboarded and RACSI-updated.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FPO · A = ES · C = PM · S = SUP · I = ITL,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E2E-BPR chain, MP-05 is present — training here focuses on the redesigned process's specific new steps, not persuasion about why the redesign is needed (Kübler-Ross's Resistance/Anger stage, not Awareness, is this archetype's real barrier).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Karim Zniber (Sponsor), finance leadership  ·  Weeks 1–4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a Process Redesign Against Owned Workarounds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visible sponsorship matters most exactly when staff privately own what's being removed.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Resistance Log as Real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read three open entries as the system working, not failing.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Salwa Tazi (FPO), Amina Sebti (SUP)  ·  Weeks 4–14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the Redesigned Order-to-Cash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specific new steps, forms, and approval chain, replacing the old workaround-shaped version.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Co-Designing a Recovery With Resisting Staff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specific technique behind Exception E1's resolution.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(Frontline)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All 140 AR and AP staff  ·  Weeks 12–28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6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the New Process, Step by 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training on the redesigned process, delivered ahead of each rollout wave.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Accuracy Safeguard, By 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AR-specific and later AP-specific versions of the same safeguard.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Curriculum Is Shaped This 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here is necessary but not sufficient — Exception E2 shows a fully trained cohort can still undermine adoption informally, which is why the resistance log, not the training-completion rate, is this archetype's real leading indicator.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journi Modules Dominate This Archetype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305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 (Resistance Log)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213055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archetype's most-watched module — 3+ open entries fires ALT-004.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1693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(Stakeholder Mapping)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916936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exactly whose workaround is being redesigned away, by name.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(WBS &amp; Gantt)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703320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TPL-BPR-7 template — Clean-Slate Design is this archetype's defining phase.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97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M21 (Field Notes)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489704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specific, named fear or rationale behind a resistance entry or handover.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760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 (Analytics)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5276088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Reconciliation-time trend monitoring against the business case's own target.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0624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(ADKAR Engine)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606247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the resistance log to catch informal, untracked resistance.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44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Case Fires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THIS CASE EXERCISES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ALT-004 (Resistance Escalation Threshold Breached)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77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279392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deliberately to cross the resistance-escalation threshold — the defining alert of this archetype.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About This Archetype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ALT-004 firing at Week 20–24, resolved through a co-designed accuracy safeguard the resisting staff themselves helped define — and five further exceptions showing exactly how a redesign can go sideways even after the headline resistance risk is handled.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 dominates. Staff who privately own today's workarounds resist a redesign that makes those workarounds obsolete — the Resistance/Anger stage, and the Resistance Log (M10) that feeds it, is this archetype's central risk, more than any specific skill gap ADKAR would otherwise catch first.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deliberately to cross the resistance-escalation threshold — the defining alert of this archetype.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Business Process Redesign (Order-to-Cash Process Redesign)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Redesign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3657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Process Redesign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2026-09-05T17:34:55Z</dcterms:created>
  <dcterms:modified xsi:type="dcterms:W3CDTF">2026-09-05T17:34:55Z</dcterms:modified>
</cp:coreProperties>
</file>
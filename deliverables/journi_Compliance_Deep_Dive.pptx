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423A"/>
        </a:solidFill>
      </p:bgPr>
    </p:bg>
    <p:spTree>
      <p:nvGrpSpPr>
        <p:cNvPr id="1" name=""/>
        <p:cNvGrpSpPr/>
        <p:nvPr/>
      </p:nvGrpSpPr>
      <p:grpSpPr>
        <a:xfrm>
          <a:off x="0" y="0"/>
          <a:ext cx="0" cy="0"/>
          <a:chOff x="0" y="0"/>
          <a:chExt cx="0" cy="0"/>
        </a:xfrm>
      </p:grpSpPr>
      <p:sp>
        <p:nvSpPr>
          <p:cNvPr id="2" name="Shape 0"/>
          <p:cNvSpPr/>
          <p:nvPr/>
        </p:nvSpPr>
        <p:spPr>
          <a:xfrm>
            <a:off x="685800" y="640080"/>
            <a:ext cx="777240" cy="777240"/>
          </a:xfrm>
          <a:prstGeom prst="ellipse">
            <a:avLst/>
          </a:prstGeom>
          <a:solidFill>
            <a:srgbClr val="C2661C"/>
          </a:solidFill>
          <a:ln/>
        </p:spPr>
      </p:sp>
      <p:pic>
        <p:nvPicPr>
          <p:cNvPr id="3" name="Image 0" descr="/home/user/scm-process-register/docs-src/type-decks/assets/gavel.png">    </p:cNvPr>
          <p:cNvPicPr>
            <a:picLocks noChangeAspect="1"/>
          </p:cNvPicPr>
          <p:nvPr/>
        </p:nvPicPr>
        <p:blipFill>
          <a:blip r:embed="rId1"/>
          <a:stretch>
            <a:fillRect/>
          </a:stretch>
        </p:blipFill>
        <p:spPr>
          <a:xfrm>
            <a:off x="850392" y="804672"/>
            <a:ext cx="448056" cy="448056"/>
          </a:xfrm>
          <a:prstGeom prst="rect">
            <a:avLst/>
          </a:prstGeom>
        </p:spPr>
      </p:pic>
      <p:sp>
        <p:nvSpPr>
          <p:cNvPr id="4" name="Text 1"/>
          <p:cNvSpPr/>
          <p:nvPr/>
        </p:nvSpPr>
        <p:spPr>
          <a:xfrm>
            <a:off x="640080" y="2011680"/>
            <a:ext cx="10698480" cy="10058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Compliance-Driven Change</a:t>
            </a:r>
            <a:endParaRPr lang="en-US" sz="4000" dirty="0"/>
          </a:p>
        </p:txBody>
      </p:sp>
      <p:sp>
        <p:nvSpPr>
          <p:cNvPr id="5" name="Text 2"/>
          <p:cNvSpPr/>
          <p:nvPr/>
        </p:nvSpPr>
        <p:spPr>
          <a:xfrm>
            <a:off x="685800" y="2926080"/>
            <a:ext cx="10058400" cy="502920"/>
          </a:xfrm>
          <a:prstGeom prst="rect">
            <a:avLst/>
          </a:prstGeom>
          <a:noFill/>
          <a:ln/>
        </p:spPr>
        <p:txBody>
          <a:bodyPr wrap="square" rtlCol="0" anchor="ctr"/>
          <a:lstStyle/>
          <a:p>
            <a:pPr indent="0" marL="0">
              <a:buNone/>
            </a:pPr>
            <a:r>
              <a:rPr lang="en-US" sz="1900" i="1" dirty="0">
                <a:solidFill>
                  <a:srgbClr val="B8D4CE"/>
                </a:solidFill>
                <a:latin typeface="Calibri" pitchFamily="34" charset="0"/>
                <a:ea typeface="Calibri" pitchFamily="34" charset="-122"/>
                <a:cs typeface="Calibri" pitchFamily="34" charset="-120"/>
              </a:rPr>
              <a:t>Loi 09-08 Data Protection Compliance Program</a:t>
            </a:r>
            <a:endParaRPr lang="en-US" sz="1900" dirty="0"/>
          </a:p>
        </p:txBody>
      </p:sp>
      <p:sp>
        <p:nvSpPr>
          <p:cNvPr id="6" name="Text 3"/>
          <p:cNvSpPr/>
          <p:nvPr/>
        </p:nvSpPr>
        <p:spPr>
          <a:xfrm>
            <a:off x="685800" y="3520440"/>
            <a:ext cx="10058400" cy="685800"/>
          </a:xfrm>
          <a:prstGeom prst="rect">
            <a:avLst/>
          </a:prstGeom>
          <a:noFill/>
          <a:ln/>
        </p:spPr>
        <p:txBody>
          <a:bodyPr wrap="square" rtlCol="0" anchor="ctr"/>
          <a:lstStyle/>
          <a:p>
            <a:pPr indent="0" marL="0">
              <a:lnSpc>
                <a:spcPct val="125000"/>
              </a:lnSpc>
              <a:buNone/>
            </a:pPr>
            <a:r>
              <a:rPr lang="en-US" sz="1350" dirty="0">
                <a:solidFill>
                  <a:srgbClr val="9FC2BC"/>
                </a:solidFill>
                <a:latin typeface="Calibri" pitchFamily="34" charset="0"/>
                <a:ea typeface="Calibri" pitchFamily="34" charset="-122"/>
                <a:cs typeface="Calibri" pitchFamily="34" charset="-120"/>
              </a:rPr>
              <a:t>Bringing data handling into compliance with a fixed external deadline — the case where a Phase Gate closing as anything but Go has zero schedule slack to absorb it.</a:t>
            </a:r>
            <a:endParaRPr lang="en-US" sz="1350" dirty="0"/>
          </a:p>
        </p:txBody>
      </p:sp>
      <p:sp>
        <p:nvSpPr>
          <p:cNvPr id="7" name="Text 4"/>
          <p:cNvSpPr/>
          <p:nvPr/>
        </p:nvSpPr>
        <p:spPr>
          <a:xfrm>
            <a:off x="685800" y="452628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7</a:t>
            </a:r>
            <a:endParaRPr lang="en-US" sz="3000" dirty="0"/>
          </a:p>
        </p:txBody>
      </p:sp>
      <p:sp>
        <p:nvSpPr>
          <p:cNvPr id="8" name="Text 5"/>
          <p:cNvSpPr/>
          <p:nvPr/>
        </p:nvSpPr>
        <p:spPr>
          <a:xfrm>
            <a:off x="685800" y="514807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PHASES</a:t>
            </a:r>
            <a:endParaRPr lang="en-US" sz="1000" dirty="0"/>
          </a:p>
        </p:txBody>
      </p:sp>
      <p:sp>
        <p:nvSpPr>
          <p:cNvPr id="9" name="Text 6"/>
          <p:cNvSpPr/>
          <p:nvPr/>
        </p:nvSpPr>
        <p:spPr>
          <a:xfrm>
            <a:off x="2971800" y="452628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64</a:t>
            </a:r>
            <a:endParaRPr lang="en-US" sz="3000" dirty="0"/>
          </a:p>
        </p:txBody>
      </p:sp>
      <p:sp>
        <p:nvSpPr>
          <p:cNvPr id="10" name="Text 7"/>
          <p:cNvSpPr/>
          <p:nvPr/>
        </p:nvSpPr>
        <p:spPr>
          <a:xfrm>
            <a:off x="2971800" y="514807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WEEKS</a:t>
            </a:r>
            <a:endParaRPr lang="en-US" sz="1000" dirty="0"/>
          </a:p>
        </p:txBody>
      </p:sp>
      <p:sp>
        <p:nvSpPr>
          <p:cNvPr id="11" name="Text 8"/>
          <p:cNvSpPr/>
          <p:nvPr/>
        </p:nvSpPr>
        <p:spPr>
          <a:xfrm>
            <a:off x="5257800" y="452628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6</a:t>
            </a:r>
            <a:endParaRPr lang="en-US" sz="3000" dirty="0"/>
          </a:p>
        </p:txBody>
      </p:sp>
      <p:sp>
        <p:nvSpPr>
          <p:cNvPr id="12" name="Text 9"/>
          <p:cNvSpPr/>
          <p:nvPr/>
        </p:nvSpPr>
        <p:spPr>
          <a:xfrm>
            <a:off x="5257800" y="514807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EXCEPTIONS</a:t>
            </a:r>
            <a:endParaRPr lang="en-US" sz="1000" dirty="0"/>
          </a:p>
        </p:txBody>
      </p:sp>
      <p:sp>
        <p:nvSpPr>
          <p:cNvPr id="13" name="Text 10"/>
          <p:cNvSpPr/>
          <p:nvPr/>
        </p:nvSpPr>
        <p:spPr>
          <a:xfrm>
            <a:off x="7543800" y="4526280"/>
            <a:ext cx="2194560" cy="685800"/>
          </a:xfrm>
          <a:prstGeom prst="rect">
            <a:avLst/>
          </a:prstGeom>
          <a:noFill/>
          <a:ln/>
        </p:spPr>
        <p:txBody>
          <a:bodyPr wrap="square" rtlCol="0" anchor="ctr"/>
          <a:lstStyle/>
          <a:p>
            <a:pPr indent="0" marL="0">
              <a:buNone/>
            </a:pPr>
            <a:r>
              <a:rPr lang="en-US" sz="3000" b="1" dirty="0">
                <a:solidFill>
                  <a:srgbClr val="C2661C"/>
                </a:solidFill>
                <a:latin typeface="Calibri" pitchFamily="34" charset="0"/>
                <a:ea typeface="Calibri" pitchFamily="34" charset="-122"/>
                <a:cs typeface="Calibri" pitchFamily="34" charset="-120"/>
              </a:rPr>
              <a:t>3</a:t>
            </a:r>
            <a:endParaRPr lang="en-US" sz="3000" dirty="0"/>
          </a:p>
        </p:txBody>
      </p:sp>
      <p:sp>
        <p:nvSpPr>
          <p:cNvPr id="14" name="Text 11"/>
          <p:cNvSpPr/>
          <p:nvPr/>
        </p:nvSpPr>
        <p:spPr>
          <a:xfrm>
            <a:off x="7543800" y="5148072"/>
            <a:ext cx="2194560" cy="274320"/>
          </a:xfrm>
          <a:prstGeom prst="rect">
            <a:avLst/>
          </a:prstGeom>
          <a:noFill/>
          <a:ln/>
        </p:spPr>
        <p:txBody>
          <a:bodyPr wrap="square" rtlCol="0" anchor="ctr"/>
          <a:lstStyle/>
          <a:p>
            <a:pPr indent="0" marL="0">
              <a:buNone/>
            </a:pPr>
            <a:r>
              <a:rPr lang="en-US" sz="1000" b="1" spc="100" kern="0" dirty="0">
                <a:solidFill>
                  <a:srgbClr val="9FC2BC"/>
                </a:solidFill>
                <a:latin typeface="Calibri" pitchFamily="34" charset="0"/>
                <a:ea typeface="Calibri" pitchFamily="34" charset="-122"/>
                <a:cs typeface="Calibri" pitchFamily="34" charset="-120"/>
              </a:rPr>
              <a:t>TRAINING TIERS</a:t>
            </a:r>
            <a:endParaRPr lang="en-US" sz="1000" dirty="0"/>
          </a:p>
        </p:txBody>
      </p:sp>
      <p:sp>
        <p:nvSpPr>
          <p:cNvPr id="15" name="Text 12"/>
          <p:cNvSpPr/>
          <p:nvPr/>
        </p:nvSpPr>
        <p:spPr>
          <a:xfrm>
            <a:off x="685800" y="6263640"/>
            <a:ext cx="9144000" cy="365760"/>
          </a:xfrm>
          <a:prstGeom prst="rect">
            <a:avLst/>
          </a:prstGeom>
          <a:noFill/>
          <a:ln/>
        </p:spPr>
        <p:txBody>
          <a:bodyPr wrap="square" rtlCol="0" anchor="ctr"/>
          <a:lstStyle/>
          <a:p>
            <a:pPr indent="0" marL="0">
              <a:buNone/>
            </a:pPr>
            <a:r>
              <a:rPr lang="en-US" sz="1150" dirty="0">
                <a:solidFill>
                  <a:srgbClr val="7FA39A"/>
                </a:solidFill>
                <a:latin typeface="Calibri" pitchFamily="34" charset="0"/>
                <a:ea typeface="Calibri" pitchFamily="34" charset="-122"/>
                <a:cs typeface="Calibri" pitchFamily="34" charset="-120"/>
              </a:rPr>
              <a:t>Manufacturing Sector · Bouregreg Group Scenario Library · Confidential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0 — PURPOSE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What This Guide Is, and How to Use It</a:t>
            </a:r>
            <a:endParaRPr lang="en-US" sz="2400" dirty="0"/>
          </a:p>
        </p:txBody>
      </p:sp>
      <p:sp>
        <p:nvSpPr>
          <p:cNvPr id="4" name="Text 2"/>
          <p:cNvSpPr/>
          <p:nvPr/>
        </p:nvSpPr>
        <p:spPr>
          <a:xfrm>
            <a:off x="548640" y="196596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WHAT THIS GUIDE IS</a:t>
            </a:r>
            <a:endParaRPr lang="en-US" sz="1100" dirty="0"/>
          </a:p>
        </p:txBody>
      </p:sp>
      <p:sp>
        <p:nvSpPr>
          <p:cNvPr id="5" name="Text 3"/>
          <p:cNvSpPr/>
          <p:nvPr/>
        </p:nvSpPr>
        <p:spPr>
          <a:xfrm>
            <a:off x="548640" y="2286000"/>
            <a:ext cx="11064240" cy="155448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This deck follows the Loi 09-08 Data Protection Compliance Program — journi's Compliance-Driven Change archetype case — from tenant setup through ongoing compliance handover, bringing Bouregreg Group's data handling into compliance with a fixed CNDP audit deadline.</a:t>
            </a:r>
            <a:endParaRPr lang="en-US" sz="1300" dirty="0"/>
          </a:p>
        </p:txBody>
      </p:sp>
      <p:sp>
        <p:nvSpPr>
          <p:cNvPr id="6" name="Text 4"/>
          <p:cNvSpPr/>
          <p:nvPr/>
        </p:nvSpPr>
        <p:spPr>
          <a:xfrm>
            <a:off x="548640" y="397764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HOW TO USE IT</a:t>
            </a:r>
            <a:endParaRPr lang="en-US" sz="1100" dirty="0"/>
          </a:p>
        </p:txBody>
      </p:sp>
      <p:sp>
        <p:nvSpPr>
          <p:cNvPr id="7" name="Text 5"/>
          <p:cNvSpPr/>
          <p:nvPr/>
        </p:nvSpPr>
        <p:spPr>
          <a:xfrm>
            <a:off x="548640" y="4297680"/>
            <a:ext cx="11064240" cy="137160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This program runs inside the same Bouregreg Group tenant as every other archetype in this series, from the very start of the tenant's life given the fixed external deadline. A reader with the tenant already set up skips straight to CM Project creation.</a:t>
            </a:r>
            <a:endParaRPr lang="en-US" sz="13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0 — A NOTE ON FIDELITY</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Verified Against journi's Real Source</a:t>
            </a:r>
            <a:endParaRPr lang="en-US" sz="2400" dirty="0"/>
          </a:p>
        </p:txBody>
      </p:sp>
      <p:sp>
        <p:nvSpPr>
          <p:cNvPr id="4" name="Shape 2"/>
          <p:cNvSpPr/>
          <p:nvPr/>
        </p:nvSpPr>
        <p:spPr>
          <a:xfrm>
            <a:off x="548640" y="2011680"/>
            <a:ext cx="11064240" cy="2011680"/>
          </a:xfrm>
          <a:prstGeom prst="roundRect">
            <a:avLst>
              <a:gd name="adj" fmla="val 2273"/>
            </a:avLst>
          </a:prstGeom>
          <a:solidFill>
            <a:srgbClr val="EAF2EF"/>
          </a:solidFill>
          <a:ln/>
        </p:spPr>
      </p:sp>
      <p:sp>
        <p:nvSpPr>
          <p:cNvPr id="5" name="Text 3"/>
          <p:cNvSpPr/>
          <p:nvPr/>
        </p:nvSpPr>
        <p:spPr>
          <a:xfrm>
            <a:off x="777240" y="2240280"/>
            <a:ext cx="10607040" cy="1554480"/>
          </a:xfrm>
          <a:prstGeom prst="rect">
            <a:avLst/>
          </a:prstGeom>
          <a:noFill/>
          <a:ln/>
        </p:spPr>
        <p:txBody>
          <a:bodyPr wrap="square" rtlCol="0" anchor="ctr"/>
          <a:lstStyle/>
          <a:p>
            <a:pPr indent="0" marL="0">
              <a:lnSpc>
                <a:spcPct val="130000"/>
              </a:lnSpc>
              <a:buNone/>
            </a:pPr>
            <a:r>
              <a:rPr lang="en-US" sz="1350" dirty="0">
                <a:solidFill>
                  <a:srgbClr val="16221F"/>
                </a:solidFill>
                <a:latin typeface="Calibri" pitchFamily="34" charset="0"/>
                <a:ea typeface="Calibri" pitchFamily="34" charset="-122"/>
                <a:cs typeface="Calibri" pitchFamily="34" charset="-120"/>
              </a:rPr>
              <a:t>Every journi module, field, and role named here is verified against journi's real source. This is journi's own stated case where ALT-009 (Phase Gate No-Go/Conditional) matters most precisely because it does not fire — every Phase Gate in this program's real record closes Go, on schedule.</a:t>
            </a:r>
            <a:endParaRPr lang="en-US" sz="1350" dirty="0"/>
          </a:p>
        </p:txBody>
      </p:sp>
      <p:sp>
        <p:nvSpPr>
          <p:cNvPr id="6" name="Text 4"/>
          <p:cNvSpPr/>
          <p:nvPr/>
        </p:nvSpPr>
        <p:spPr>
          <a:xfrm>
            <a:off x="548640" y="429768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RACSI CODES USED THROUGHOUT</a:t>
            </a:r>
            <a:endParaRPr lang="en-US" sz="1100" dirty="0"/>
          </a:p>
        </p:txBody>
      </p:sp>
      <p:sp>
        <p:nvSpPr>
          <p:cNvPr id="7" name="Text 5"/>
          <p:cNvSpPr/>
          <p:nvPr/>
        </p:nvSpPr>
        <p:spPr>
          <a:xfrm>
            <a:off x="548640" y="4617720"/>
            <a:ext cx="11064240" cy="731520"/>
          </a:xfrm>
          <a:prstGeom prst="rect">
            <a:avLst/>
          </a:prstGeom>
          <a:noFill/>
          <a:ln/>
        </p:spPr>
        <p:txBody>
          <a:bodyPr wrap="square" rtlCol="0" anchor="ctr"/>
          <a:lstStyle/>
          <a:p>
            <a:pPr indent="0" marL="0">
              <a:lnSpc>
                <a:spcPct val="125000"/>
              </a:lnSpc>
              <a:buNone/>
            </a:pPr>
            <a:r>
              <a:rPr lang="en-US" sz="1250" dirty="0">
                <a:solidFill>
                  <a:srgbClr val="5C6D68"/>
                </a:solidFill>
                <a:latin typeface="Calibri" pitchFamily="34" charset="0"/>
                <a:ea typeface="Calibri" pitchFamily="34" charset="-122"/>
                <a:cs typeface="Calibri" pitchFamily="34" charset="-120"/>
              </a:rPr>
              <a:t>ES = Executive Sponsor · CM = Change Manager · PM = Program/Project Manager · FPO = Functional Process Owner · ITL = IT/Technical Lead · SUP = Supervisor · EU = End User</a:t>
            </a:r>
            <a:endParaRPr lang="en-US" sz="125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1 — EXECUTIVE SUMMARY</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Why This Case Matters</a:t>
            </a:r>
            <a:endParaRPr lang="en-US" sz="2400" dirty="0"/>
          </a:p>
        </p:txBody>
      </p:sp>
      <p:sp>
        <p:nvSpPr>
          <p:cNvPr id="4" name="Shape 2"/>
          <p:cNvSpPr/>
          <p:nvPr/>
        </p:nvSpPr>
        <p:spPr>
          <a:xfrm>
            <a:off x="548640" y="2011680"/>
            <a:ext cx="11064240" cy="3200400"/>
          </a:xfrm>
          <a:prstGeom prst="roundRect">
            <a:avLst>
              <a:gd name="adj" fmla="val 1429"/>
            </a:avLst>
          </a:prstGeom>
          <a:solidFill>
            <a:srgbClr val="FFFFFF"/>
          </a:solidFill>
          <a:ln/>
          <a:effectLst>
            <a:outerShdw sx="100000" sy="100000" kx="0" ky="0" algn="bl" rotWithShape="0" blurRad="101600" dist="38100" dir="5400000">
              <a:srgbClr val="1B2E2B">
                <a:alpha val="18000"/>
              </a:srgbClr>
            </a:outerShdw>
          </a:effectLst>
        </p:spPr>
      </p:sp>
      <p:sp>
        <p:nvSpPr>
          <p:cNvPr id="5" name="Text 3"/>
          <p:cNvSpPr/>
          <p:nvPr/>
        </p:nvSpPr>
        <p:spPr>
          <a:xfrm>
            <a:off x="822960" y="2286000"/>
            <a:ext cx="10515600" cy="265176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Every other program in this series can, in principle, slip a phase gate by a few weeks without an external consequence. This one cannot — the CNDP's own audit schedule is fixed and external, and there is no schedule buffer to absorb a Conditional or No-Go decision without missing a regulatory deadline.</a:t>
            </a:r>
            <a:endParaRPr lang="en-US" sz="15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1 — EXECUTIVE SUMMARY</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The Case, in Brief</a:t>
            </a:r>
            <a:endParaRPr lang="en-US" sz="2400" dirty="0"/>
          </a:p>
        </p:txBody>
      </p:sp>
      <p:sp>
        <p:nvSpPr>
          <p:cNvPr id="4" name="Shape 2"/>
          <p:cNvSpPr/>
          <p:nvPr/>
        </p:nvSpPr>
        <p:spPr>
          <a:xfrm>
            <a:off x="548640" y="2011680"/>
            <a:ext cx="11064240" cy="1463040"/>
          </a:xfrm>
          <a:prstGeom prst="roundRect">
            <a:avLst>
              <a:gd name="adj" fmla="val 3125"/>
            </a:avLst>
          </a:prstGeom>
          <a:solidFill>
            <a:srgbClr val="EAF2EF"/>
          </a:solidFill>
          <a:ln/>
        </p:spPr>
      </p:sp>
      <p:sp>
        <p:nvSpPr>
          <p:cNvPr id="5" name="Text 3"/>
          <p:cNvSpPr/>
          <p:nvPr/>
        </p:nvSpPr>
        <p:spPr>
          <a:xfrm>
            <a:off x="777240" y="2148840"/>
            <a:ext cx="5120640" cy="457200"/>
          </a:xfrm>
          <a:prstGeom prst="rect">
            <a:avLst/>
          </a:prstGeom>
          <a:noFill/>
          <a:ln/>
        </p:spPr>
        <p:txBody>
          <a:bodyPr wrap="square" rtlCol="0" anchor="ctr"/>
          <a:lstStyle/>
          <a:p>
            <a:pPr indent="0" marL="0">
              <a:buNone/>
            </a:pPr>
            <a:r>
              <a:rPr lang="en-US" sz="1400" b="1" dirty="0">
                <a:solidFill>
                  <a:srgbClr val="16221F"/>
                </a:solidFill>
                <a:latin typeface="Calibri" pitchFamily="34" charset="0"/>
                <a:ea typeface="Calibri" pitchFamily="34" charset="-122"/>
                <a:cs typeface="Calibri" pitchFamily="34" charset="-120"/>
              </a:rPr>
              <a:t>310 staff, HR, Sales, Customer Service</a:t>
            </a:r>
            <a:endParaRPr lang="en-US" sz="1400" dirty="0"/>
          </a:p>
        </p:txBody>
      </p:sp>
      <p:sp>
        <p:nvSpPr>
          <p:cNvPr id="6" name="Text 4"/>
          <p:cNvSpPr/>
          <p:nvPr/>
        </p:nvSpPr>
        <p:spPr>
          <a:xfrm>
            <a:off x="6035040" y="2148840"/>
            <a:ext cx="5120640" cy="457200"/>
          </a:xfrm>
          <a:prstGeom prst="rect">
            <a:avLst/>
          </a:prstGeom>
          <a:noFill/>
          <a:ln/>
        </p:spPr>
        <p:txBody>
          <a:bodyPr wrap="square" rtlCol="0" anchor="ctr"/>
          <a:lstStyle/>
          <a:p>
            <a:pPr indent="0" marL="0">
              <a:buNone/>
            </a:pPr>
            <a:r>
              <a:rPr lang="en-US" sz="1400" b="1" dirty="0">
                <a:solidFill>
                  <a:srgbClr val="16221F"/>
                </a:solidFill>
                <a:latin typeface="Calibri" pitchFamily="34" charset="0"/>
                <a:ea typeface="Calibri" pitchFamily="34" charset="-122"/>
                <a:cs typeface="Calibri" pitchFamily="34" charset="-120"/>
              </a:rPr>
              <a:t>64 weeks (guide numbering, org-calendar aligned)</a:t>
            </a:r>
            <a:endParaRPr lang="en-US" sz="1400" dirty="0"/>
          </a:p>
        </p:txBody>
      </p:sp>
      <p:sp>
        <p:nvSpPr>
          <p:cNvPr id="7" name="Text 5"/>
          <p:cNvSpPr/>
          <p:nvPr/>
        </p:nvSpPr>
        <p:spPr>
          <a:xfrm>
            <a:off x="548640" y="3657600"/>
            <a:ext cx="11064240" cy="2011680"/>
          </a:xfrm>
          <a:prstGeom prst="rect">
            <a:avLst/>
          </a:prstGeom>
          <a:noFill/>
          <a:ln/>
        </p:spPr>
        <p:txBody>
          <a:bodyPr wrap="square" rtlCol="0" anchor="ctr"/>
          <a:lstStyle/>
          <a:p>
            <a:pPr indent="0" marL="0">
              <a:lnSpc>
                <a:spcPct val="135000"/>
              </a:lnSpc>
              <a:buNone/>
            </a:pPr>
            <a:r>
              <a:rPr lang="en-US" sz="1400" dirty="0">
                <a:solidFill>
                  <a:srgbClr val="16221F"/>
                </a:solidFill>
                <a:latin typeface="Calibri" pitchFamily="34" charset="0"/>
                <a:ea typeface="Calibri" pitchFamily="34" charset="-122"/>
                <a:cs typeface="Calibri" pitchFamily="34" charset="-120"/>
              </a:rPr>
              <a:t>Bouregreg Group brings customer and employee personal-data handling into compliance with Loi 09-08, under CNDP oversight, for HR, Sales, and Customer Service (310 staff), closing every phase gate on schedule with controls live weeks ahead of the ERP program's own Deploy week.</a:t>
            </a:r>
            <a:endParaRPr lang="en-US" sz="14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1 — EXECUTIVE SUMMARY</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What This Guide Proves, Concretely</a:t>
            </a:r>
            <a:endParaRPr lang="en-US" sz="2400" dirty="0"/>
          </a:p>
        </p:txBody>
      </p:sp>
      <p:sp>
        <p:nvSpPr>
          <p:cNvPr id="4" name="Shape 2"/>
          <p:cNvSpPr/>
          <p:nvPr/>
        </p:nvSpPr>
        <p:spPr>
          <a:xfrm>
            <a:off x="548640" y="2011680"/>
            <a:ext cx="11064240" cy="3200400"/>
          </a:xfrm>
          <a:prstGeom prst="roundRect">
            <a:avLst>
              <a:gd name="adj" fmla="val 1429"/>
            </a:avLst>
          </a:prstGeom>
          <a:solidFill>
            <a:srgbClr val="FFFFFF"/>
          </a:solidFill>
          <a:ln/>
          <a:effectLst>
            <a:outerShdw sx="100000" sy="100000" kx="0" ky="0" algn="bl" rotWithShape="0" blurRad="1290320000" dist="483870000" dir="324000000000">
              <a:srgbClr val="1B2E2B">
                <a:alpha val="1800000000"/>
              </a:srgbClr>
            </a:outerShdw>
          </a:effectLst>
        </p:spPr>
      </p:sp>
      <p:sp>
        <p:nvSpPr>
          <p:cNvPr id="5" name="Text 3"/>
          <p:cNvSpPr/>
          <p:nvPr/>
        </p:nvSpPr>
        <p:spPr>
          <a:xfrm>
            <a:off x="822960" y="2286000"/>
            <a:ext cx="10515600" cy="2651760"/>
          </a:xfrm>
          <a:prstGeom prst="rect">
            <a:avLst/>
          </a:prstGeom>
          <a:noFill/>
          <a:ln/>
        </p:spPr>
        <p:txBody>
          <a:bodyPr wrap="square" rtlCol="0" anchor="ctr"/>
          <a:lstStyle/>
          <a:p>
            <a:pPr indent="0" marL="0">
              <a:lnSpc>
                <a:spcPct val="140000"/>
              </a:lnSpc>
              <a:buNone/>
            </a:pPr>
            <a:r>
              <a:rPr lang="en-US" sz="1500" i="1" dirty="0">
                <a:solidFill>
                  <a:srgbClr val="16221F"/>
                </a:solidFill>
                <a:latin typeface="Calibri" pitchFamily="34" charset="0"/>
                <a:ea typeface="Calibri" pitchFamily="34" charset="-122"/>
                <a:cs typeface="Calibri" pitchFamily="34" charset="-120"/>
              </a:rPr>
              <a:t>Seven consecutive clean Phase Gate decisions, a controls-go-live date sequenced deliberately ahead of a sibling program's own critical week, and a first monitoring cycle confirming the controls hold under real operating conditions, not just at go-live.</a:t>
            </a:r>
            <a:endParaRPr lang="en-US" sz="15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2 — THE FOUR FRAMEWORKS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Weighting for This Archetype</a:t>
            </a:r>
            <a:endParaRPr lang="en-US" sz="2400" dirty="0"/>
          </a:p>
        </p:txBody>
      </p:sp>
      <p:sp>
        <p:nvSpPr>
          <p:cNvPr id="4" name="Shape 2"/>
          <p:cNvSpPr/>
          <p:nvPr/>
        </p:nvSpPr>
        <p:spPr>
          <a:xfrm>
            <a:off x="548640" y="2011680"/>
            <a:ext cx="11064240" cy="3200400"/>
          </a:xfrm>
          <a:prstGeom prst="roundRect">
            <a:avLst>
              <a:gd name="adj" fmla="val 1429"/>
            </a:avLst>
          </a:prstGeom>
          <a:solidFill>
            <a:srgbClr val="EAF2EF"/>
          </a:solidFill>
          <a:ln/>
        </p:spPr>
      </p:sp>
      <p:sp>
        <p:nvSpPr>
          <p:cNvPr id="5" name="Text 3"/>
          <p:cNvSpPr/>
          <p:nvPr/>
        </p:nvSpPr>
        <p:spPr>
          <a:xfrm>
            <a:off x="822960" y="2286000"/>
            <a:ext cx="10515600" cy="2651760"/>
          </a:xfrm>
          <a:prstGeom prst="rect">
            <a:avLst/>
          </a:prstGeom>
          <a:noFill/>
          <a:ln/>
        </p:spPr>
        <p:txBody>
          <a:bodyPr wrap="square" rtlCol="0" anchor="ctr"/>
          <a:lstStyle/>
          <a:p>
            <a:pPr indent="0" marL="0">
              <a:lnSpc>
                <a:spcPct val="135000"/>
              </a:lnSpc>
              <a:buNone/>
            </a:pPr>
            <a:r>
              <a:rPr lang="en-US" sz="1400" dirty="0">
                <a:solidFill>
                  <a:srgbClr val="16221F"/>
                </a:solidFill>
                <a:latin typeface="Calibri" pitchFamily="34" charset="0"/>
                <a:ea typeface="Calibri" pitchFamily="34" charset="-122"/>
                <a:cs typeface="Calibri" pitchFamily="34" charset="-120"/>
              </a:rPr>
              <a:t>Awareness and Ability dominate; Desire matters least of any archetype. Staff do not need to want to comply — they need to know the rule and be able to follow it correctly. The Phase Gate itself is the framework that matters most, since the real risk here is schedule risk, not adoption risk.</a:t>
            </a:r>
            <a:endParaRPr lang="en-US" sz="14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2 — THE FOUR FRAMEWORKS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The Composite Readiness Index, Read for This Case</a:t>
            </a:r>
            <a:endParaRPr lang="en-US" sz="2200" dirty="0"/>
          </a:p>
        </p:txBody>
      </p:sp>
      <p:sp>
        <p:nvSpPr>
          <p:cNvPr id="4" name="Shape 2"/>
          <p:cNvSpPr/>
          <p:nvPr/>
        </p:nvSpPr>
        <p:spPr>
          <a:xfrm>
            <a:off x="548640" y="2011680"/>
            <a:ext cx="11064240" cy="3200400"/>
          </a:xfrm>
          <a:prstGeom prst="roundRect">
            <a:avLst>
              <a:gd name="adj" fmla="val 1429"/>
            </a:avLst>
          </a:prstGeom>
          <a:solidFill>
            <a:srgbClr val="FFFFFF"/>
          </a:solidFill>
          <a:ln/>
          <a:effectLst>
            <a:outerShdw sx="100000" sy="100000" kx="0" ky="0" algn="bl" rotWithShape="0" blurRad="16387064000000" dist="6145149000000" dir="19440000000000000">
              <a:srgbClr val="1B2E2B">
                <a:alpha val="180000000000000"/>
              </a:srgbClr>
            </a:outerShdw>
          </a:effectLst>
        </p:spPr>
      </p:sp>
      <p:sp>
        <p:nvSpPr>
          <p:cNvPr id="5" name="Text 3"/>
          <p:cNvSpPr/>
          <p:nvPr/>
        </p:nvSpPr>
        <p:spPr>
          <a:xfrm>
            <a:off x="822960" y="2286000"/>
            <a:ext cx="10515600" cy="2651760"/>
          </a:xfrm>
          <a:prstGeom prst="rect">
            <a:avLst/>
          </a:prstGeom>
          <a:noFill/>
          <a:ln/>
        </p:spPr>
        <p:txBody>
          <a:bodyPr wrap="square" rtlCol="0" anchor="ctr"/>
          <a:lstStyle/>
          <a:p>
            <a:pPr indent="0" marL="0">
              <a:lnSpc>
                <a:spcPct val="135000"/>
              </a:lnSpc>
              <a:buNone/>
            </a:pPr>
            <a:r>
              <a:rPr lang="en-US" sz="1400" dirty="0">
                <a:solidFill>
                  <a:srgbClr val="16221F"/>
                </a:solidFill>
                <a:latin typeface="Calibri" pitchFamily="34" charset="0"/>
                <a:ea typeface="Calibri" pitchFamily="34" charset="-122"/>
                <a:cs typeface="Calibri" pitchFamily="34" charset="-120"/>
              </a:rPr>
              <a:t>The Composite Readiness Index reads high and stable throughout — Knowledge and Ability both clear quickly against specific, checkable rules, and there is no real emotional undercurrent for Bridges or Kübler-Ross to track. Benchmarking reads "In Line" or "Ahead" for the program's whole life.</a:t>
            </a:r>
            <a:endParaRPr lang="en-US" sz="14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The Existing Tenant, and Reading Paths by Role</a:t>
            </a:r>
            <a:endParaRPr lang="en-US" sz="2200" dirty="0"/>
          </a:p>
        </p:txBody>
      </p:sp>
      <p:sp>
        <p:nvSpPr>
          <p:cNvPr id="4" name="Text 2"/>
          <p:cNvSpPr/>
          <p:nvPr/>
        </p:nvSpPr>
        <p:spPr>
          <a:xfrm>
            <a:off x="548640" y="196596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THE EXISTING TENANT</a:t>
            </a:r>
            <a:endParaRPr lang="en-US" sz="1100" dirty="0"/>
          </a:p>
        </p:txBody>
      </p:sp>
      <p:sp>
        <p:nvSpPr>
          <p:cNvPr id="5" name="Text 3"/>
          <p:cNvSpPr/>
          <p:nvPr/>
        </p:nvSpPr>
        <p:spPr>
          <a:xfrm>
            <a:off x="548640" y="2286000"/>
            <a:ext cx="11064240" cy="640080"/>
          </a:xfrm>
          <a:prstGeom prst="rect">
            <a:avLst/>
          </a:prstGeom>
          <a:noFill/>
          <a:ln/>
        </p:spPr>
        <p:txBody>
          <a:bodyPr wrap="square" rtlCol="0" anchor="ctr"/>
          <a:lstStyle/>
          <a:p>
            <a:pPr indent="0" marL="0">
              <a:lnSpc>
                <a:spcPct val="125000"/>
              </a:lnSpc>
              <a:buNone/>
            </a:pPr>
            <a:r>
              <a:rPr lang="en-US" sz="1300" dirty="0">
                <a:solidFill>
                  <a:srgbClr val="16221F"/>
                </a:solidFill>
                <a:latin typeface="Calibri" pitchFamily="34" charset="0"/>
                <a:ea typeface="Calibri" pitchFamily="34" charset="-122"/>
                <a:cs typeface="Calibri" pitchFamily="34" charset="-120"/>
              </a:rPr>
              <a:t>This program runs inside the same tenant journi's Master User Guide builds, under the existing Bouregreg Manufacturing Maroc Organization — no new Organization needed.</a:t>
            </a:r>
            <a:endParaRPr lang="en-US" sz="1300" dirty="0"/>
          </a:p>
        </p:txBody>
      </p:sp>
      <p:sp>
        <p:nvSpPr>
          <p:cNvPr id="6" name="Text 4"/>
          <p:cNvSpPr/>
          <p:nvPr/>
        </p:nvSpPr>
        <p:spPr>
          <a:xfrm>
            <a:off x="548640" y="3108960"/>
            <a:ext cx="11064240" cy="27432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READING PATHS, BY ROLE</a:t>
            </a:r>
            <a:endParaRPr lang="en-US" sz="1100" dirty="0"/>
          </a:p>
        </p:txBody>
      </p:sp>
      <p:sp>
        <p:nvSpPr>
          <p:cNvPr id="7" name="Text 5"/>
          <p:cNvSpPr/>
          <p:nvPr/>
        </p:nvSpPr>
        <p:spPr>
          <a:xfrm>
            <a:off x="548640" y="3429000"/>
            <a:ext cx="11064240" cy="2377440"/>
          </a:xfrm>
          <a:prstGeom prst="rect">
            <a:avLst/>
          </a:prstGeom>
          <a:noFill/>
          <a:ln/>
        </p:spPr>
        <p:txBody>
          <a:bodyPr wrap="square" rtlCol="0" anchor="t"/>
          <a:lstStyle/>
          <a:p>
            <a:pPr indent="0" marL="0">
              <a:lnSpc>
                <a:spcPct val="130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0000"/>
              </a:lnSpc>
              <a:spcAft>
                <a:spcPts val="800"/>
              </a:spcAft>
              <a:buNone/>
            </a:pPr>
            <a:r>
              <a:rPr lang="en-US" sz="1300" dirty="0">
                <a:solidFill>
                  <a:srgbClr val="16221F"/>
                </a:solidFill>
                <a:latin typeface="Calibri" pitchFamily="34" charset="0"/>
                <a:ea typeface="Calibri" pitchFamily="34" charset="-122"/>
                <a:cs typeface="Calibri" pitchFamily="34" charset="-120"/>
              </a:rPr>
              <a:t>A Change Manager running this program day to day: Part 2 once, then Part 4 in full.</a:t>
            </a:r>
            <a:endParaRPr lang="en-US" sz="1300" dirty="0"/>
          </a:p>
          <a:p>
            <a:pPr indent="0" marL="0">
              <a:lnSpc>
                <a:spcPct val="130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0000"/>
              </a:lnSpc>
              <a:spcAft>
                <a:spcPts val="800"/>
              </a:spcAft>
              <a:buNone/>
            </a:pPr>
            <a:r>
              <a:rPr lang="en-US" sz="1300" dirty="0">
                <a:solidFill>
                  <a:srgbClr val="16221F"/>
                </a:solidFill>
                <a:latin typeface="Calibri" pitchFamily="34" charset="0"/>
                <a:ea typeface="Calibri" pitchFamily="34" charset="-122"/>
                <a:cs typeface="Calibri" pitchFamily="34" charset="-120"/>
              </a:rPr>
              <a:t>A Program/Project Manager: Part 4's PM Track column and the Master WBS &amp; Gantt.</a:t>
            </a:r>
            <a:endParaRPr lang="en-US" sz="1300" dirty="0"/>
          </a:p>
          <a:p>
            <a:pPr indent="0" marL="0">
              <a:lnSpc>
                <a:spcPct val="130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0000"/>
              </a:lnSpc>
              <a:spcAft>
                <a:spcPts val="800"/>
              </a:spcAft>
              <a:buNone/>
            </a:pPr>
            <a:r>
              <a:rPr lang="en-US" sz="1300" dirty="0">
                <a:solidFill>
                  <a:srgbClr val="16221F"/>
                </a:solidFill>
                <a:latin typeface="Calibri" pitchFamily="34" charset="0"/>
                <a:ea typeface="Calibri" pitchFamily="34" charset="-122"/>
                <a:cs typeface="Calibri" pitchFamily="34" charset="-120"/>
              </a:rPr>
              <a:t>An Executive Sponsor: Part 1, then Part 4's phase-opening narratives.</a:t>
            </a:r>
            <a:endParaRPr lang="en-US" sz="1300" dirty="0"/>
          </a:p>
          <a:p>
            <a:pPr indent="0" marL="0">
              <a:lnSpc>
                <a:spcPct val="130000"/>
              </a:lnSpc>
              <a:spcAft>
                <a:spcPts val="800"/>
              </a:spcAft>
              <a:buNone/>
            </a:pPr>
            <a:r>
              <a:rPr lang="en-US" sz="1300" b="1" dirty="0">
                <a:solidFill>
                  <a:srgbClr val="1F6459"/>
                </a:solidFill>
                <a:latin typeface="Calibri" pitchFamily="34" charset="0"/>
                <a:ea typeface="Calibri" pitchFamily="34" charset="-122"/>
                <a:cs typeface="Calibri" pitchFamily="34" charset="-120"/>
              </a:rPr>
              <a:t>›  </a:t>
            </a:r>
            <a:pPr indent="0" marL="0">
              <a:lnSpc>
                <a:spcPct val="130000"/>
              </a:lnSpc>
              <a:spcAft>
                <a:spcPts val="800"/>
              </a:spcAft>
              <a:buNone/>
            </a:pPr>
            <a:r>
              <a:rPr lang="en-US" sz="1300" dirty="0">
                <a:solidFill>
                  <a:srgbClr val="16221F"/>
                </a:solidFill>
                <a:latin typeface="Calibri" pitchFamily="34" charset="0"/>
                <a:ea typeface="Calibri" pitchFamily="34" charset="-122"/>
                <a:cs typeface="Calibri" pitchFamily="34" charset="-120"/>
              </a:rPr>
              <a:t>A Super Admin or Org Admin: Part 3.</a:t>
            </a:r>
            <a:endParaRPr lang="en-US" sz="13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The RACSI Team for This Program</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3108960"/>
                <a:gridCol w="1645920"/>
                <a:gridCol w="630936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RACSI Code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Karim Idrissi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Sponsor — General Counsel/Chief Compliance Officer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Sanaa Bouzoubaa</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Change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Hamza Alaoui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Compliance Program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Nadia Squalli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FPO</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HR Data Privacy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Reda Fassi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ITL</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Data systems and access-control lead</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Amine Tazi</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SUP</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Sales Operations Manager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Creating the CM Project</a:t>
            </a:r>
            <a:endParaRPr lang="en-US" sz="2400" dirty="0"/>
          </a:p>
        </p:txBody>
      </p:sp>
      <p:sp>
        <p:nvSpPr>
          <p:cNvPr id="4" name="Shape 2"/>
          <p:cNvSpPr/>
          <p:nvPr/>
        </p:nvSpPr>
        <p:spPr>
          <a:xfrm>
            <a:off x="548640" y="2057400"/>
            <a:ext cx="11064240" cy="868680"/>
          </a:xfrm>
          <a:prstGeom prst="roundRect">
            <a:avLst>
              <a:gd name="adj" fmla="val 5263"/>
            </a:avLst>
          </a:prstGeom>
          <a:solidFill>
            <a:srgbClr val="EAF2EF"/>
          </a:solidFill>
          <a:ln/>
        </p:spPr>
      </p:sp>
      <p:sp>
        <p:nvSpPr>
          <p:cNvPr id="5" name="Text 3"/>
          <p:cNvSpPr/>
          <p:nvPr/>
        </p:nvSpPr>
        <p:spPr>
          <a:xfrm>
            <a:off x="731520" y="2221992"/>
            <a:ext cx="457200" cy="548640"/>
          </a:xfrm>
          <a:prstGeom prst="rect">
            <a:avLst/>
          </a:prstGeom>
          <a:noFill/>
          <a:ln/>
        </p:spPr>
        <p:txBody>
          <a:bodyPr wrap="square" rtlCol="0" anchor="ctr"/>
          <a:lstStyle/>
          <a:p>
            <a:pPr indent="0" marL="0">
              <a:buNone/>
            </a:pPr>
            <a:r>
              <a:rPr lang="en-US" sz="2000" b="1" dirty="0">
                <a:solidFill>
                  <a:srgbClr val="16221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371600" y="2130552"/>
            <a:ext cx="10058400" cy="731520"/>
          </a:xfrm>
          <a:prstGeom prst="rect">
            <a:avLst/>
          </a:prstGeom>
          <a:noFill/>
          <a:ln/>
        </p:spPr>
        <p:txBody>
          <a:bodyPr wrap="square" rtlCol="0" anchor="ctr"/>
          <a:lstStyle/>
          <a:p>
            <a:pPr indent="0" marL="0">
              <a:lnSpc>
                <a:spcPct val="120000"/>
              </a:lnSpc>
              <a:buNone/>
            </a:pPr>
            <a:r>
              <a:rPr lang="en-US" sz="1200" dirty="0">
                <a:solidFill>
                  <a:srgbClr val="16221F"/>
                </a:solidFill>
                <a:latin typeface="Calibri" pitchFamily="34" charset="0"/>
                <a:ea typeface="Calibri" pitchFamily="34" charset="-122"/>
                <a:cs typeface="Calibri" pitchFamily="34" charset="-120"/>
              </a:rPr>
              <a:t>On Module 1 — Hierarchy, create the Loi 09-08 Data Protection Compliance Program CM Project under the existing Bouregreg Manufacturing Maroc Organization.</a:t>
            </a:r>
            <a:endParaRPr lang="en-US" sz="1200" dirty="0"/>
          </a:p>
        </p:txBody>
      </p:sp>
      <p:sp>
        <p:nvSpPr>
          <p:cNvPr id="7" name="Shape 5"/>
          <p:cNvSpPr/>
          <p:nvPr/>
        </p:nvSpPr>
        <p:spPr>
          <a:xfrm>
            <a:off x="548640" y="3044952"/>
            <a:ext cx="11064240" cy="868680"/>
          </a:xfrm>
          <a:prstGeom prst="roundRect">
            <a:avLst>
              <a:gd name="adj" fmla="val 5263"/>
            </a:avLst>
          </a:prstGeom>
          <a:solidFill>
            <a:srgbClr val="FFFFFF"/>
          </a:solidFill>
          <a:ln/>
        </p:spPr>
      </p:sp>
      <p:sp>
        <p:nvSpPr>
          <p:cNvPr id="8" name="Text 6"/>
          <p:cNvSpPr/>
          <p:nvPr/>
        </p:nvSpPr>
        <p:spPr>
          <a:xfrm>
            <a:off x="731520" y="3209544"/>
            <a:ext cx="457200" cy="548640"/>
          </a:xfrm>
          <a:prstGeom prst="rect">
            <a:avLst/>
          </a:prstGeom>
          <a:noFill/>
          <a:ln/>
        </p:spPr>
        <p:txBody>
          <a:bodyPr wrap="square" rtlCol="0" anchor="ctr"/>
          <a:lstStyle/>
          <a:p>
            <a:pPr indent="0" marL="0">
              <a:buNone/>
            </a:pPr>
            <a:r>
              <a:rPr lang="en-US" sz="2000" b="1" dirty="0">
                <a:solidFill>
                  <a:srgbClr val="16221F"/>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371600" y="3118104"/>
            <a:ext cx="10058400" cy="731520"/>
          </a:xfrm>
          <a:prstGeom prst="rect">
            <a:avLst/>
          </a:prstGeom>
          <a:noFill/>
          <a:ln/>
        </p:spPr>
        <p:txBody>
          <a:bodyPr wrap="square" rtlCol="0" anchor="ctr"/>
          <a:lstStyle/>
          <a:p>
            <a:pPr indent="0" marL="0">
              <a:lnSpc>
                <a:spcPct val="120000"/>
              </a:lnSpc>
              <a:buNone/>
            </a:pPr>
            <a:r>
              <a:rPr lang="en-US" sz="1200" dirty="0">
                <a:solidFill>
                  <a:srgbClr val="16221F"/>
                </a:solidFill>
                <a:latin typeface="Calibri" pitchFamily="34" charset="0"/>
                <a:ea typeface="Calibri" pitchFamily="34" charset="-122"/>
                <a:cs typeface="Calibri" pitchFamily="34" charset="-120"/>
              </a:rPr>
              <a:t>Set Change type: Compliance. Target population: "Any function touching personal data — HR, Sales, Customer Service (310)." Business driver: "A scheduled CNDP audit against Loi 09-08 carries a fixed external deadline, not a discretionary program timeline."</a:t>
            </a:r>
            <a:endParaRPr lang="en-US" sz="1200" dirty="0"/>
          </a:p>
        </p:txBody>
      </p:sp>
      <p:sp>
        <p:nvSpPr>
          <p:cNvPr id="10" name="Shape 8"/>
          <p:cNvSpPr/>
          <p:nvPr/>
        </p:nvSpPr>
        <p:spPr>
          <a:xfrm>
            <a:off x="548640" y="4032504"/>
            <a:ext cx="11064240" cy="868680"/>
          </a:xfrm>
          <a:prstGeom prst="roundRect">
            <a:avLst>
              <a:gd name="adj" fmla="val 5263"/>
            </a:avLst>
          </a:prstGeom>
          <a:solidFill>
            <a:srgbClr val="EAF2EF"/>
          </a:solidFill>
          <a:ln/>
        </p:spPr>
      </p:sp>
      <p:sp>
        <p:nvSpPr>
          <p:cNvPr id="11" name="Text 9"/>
          <p:cNvSpPr/>
          <p:nvPr/>
        </p:nvSpPr>
        <p:spPr>
          <a:xfrm>
            <a:off x="731520" y="4197096"/>
            <a:ext cx="457200" cy="548640"/>
          </a:xfrm>
          <a:prstGeom prst="rect">
            <a:avLst/>
          </a:prstGeom>
          <a:noFill/>
          <a:ln/>
        </p:spPr>
        <p:txBody>
          <a:bodyPr wrap="square" rtlCol="0" anchor="ctr"/>
          <a:lstStyle/>
          <a:p>
            <a:pPr indent="0" marL="0">
              <a:buNone/>
            </a:pPr>
            <a:r>
              <a:rPr lang="en-US" sz="2000" b="1" dirty="0">
                <a:solidFill>
                  <a:srgbClr val="16221F"/>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371600" y="4105656"/>
            <a:ext cx="10058400" cy="731520"/>
          </a:xfrm>
          <a:prstGeom prst="rect">
            <a:avLst/>
          </a:prstGeom>
          <a:noFill/>
          <a:ln/>
        </p:spPr>
        <p:txBody>
          <a:bodyPr wrap="square" rtlCol="0" anchor="ctr"/>
          <a:lstStyle/>
          <a:p>
            <a:pPr indent="0" marL="0">
              <a:lnSpc>
                <a:spcPct val="120000"/>
              </a:lnSpc>
              <a:buNone/>
            </a:pPr>
            <a:r>
              <a:rPr lang="en-US" sz="1200" dirty="0">
                <a:solidFill>
                  <a:srgbClr val="16221F"/>
                </a:solidFill>
                <a:latin typeface="Calibri" pitchFamily="34" charset="0"/>
                <a:ea typeface="Calibri" pitchFamily="34" charset="-122"/>
                <a:cs typeface="Calibri" pitchFamily="34" charset="-120"/>
              </a:rPr>
              <a:t>Save. Lewin opens at Unfreeze, justified: "Opening Unfreeze at program start, Week 1, run from the very start of the tenant's life given the fixed external deadline."</a:t>
            </a:r>
            <a:endParaRPr lang="en-US" sz="1200" dirty="0"/>
          </a:p>
        </p:txBody>
      </p:sp>
      <p:sp>
        <p:nvSpPr>
          <p:cNvPr id="13" name="Shape 11"/>
          <p:cNvSpPr/>
          <p:nvPr/>
        </p:nvSpPr>
        <p:spPr>
          <a:xfrm>
            <a:off x="548640" y="5020056"/>
            <a:ext cx="11064240" cy="868680"/>
          </a:xfrm>
          <a:prstGeom prst="roundRect">
            <a:avLst>
              <a:gd name="adj" fmla="val 5263"/>
            </a:avLst>
          </a:prstGeom>
          <a:solidFill>
            <a:srgbClr val="FFFFFF"/>
          </a:solidFill>
          <a:ln/>
        </p:spPr>
      </p:sp>
      <p:sp>
        <p:nvSpPr>
          <p:cNvPr id="14" name="Text 12"/>
          <p:cNvSpPr/>
          <p:nvPr/>
        </p:nvSpPr>
        <p:spPr>
          <a:xfrm>
            <a:off x="731520" y="5184648"/>
            <a:ext cx="457200" cy="548640"/>
          </a:xfrm>
          <a:prstGeom prst="rect">
            <a:avLst/>
          </a:prstGeom>
          <a:noFill/>
          <a:ln/>
        </p:spPr>
        <p:txBody>
          <a:bodyPr wrap="square" rtlCol="0" anchor="ctr"/>
          <a:lstStyle/>
          <a:p>
            <a:pPr indent="0" marL="0">
              <a:buNone/>
            </a:pPr>
            <a:r>
              <a:rPr lang="en-US" sz="2000" b="1" dirty="0">
                <a:solidFill>
                  <a:srgbClr val="16221F"/>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371600" y="5093208"/>
            <a:ext cx="10058400" cy="731520"/>
          </a:xfrm>
          <a:prstGeom prst="rect">
            <a:avLst/>
          </a:prstGeom>
          <a:noFill/>
          <a:ln/>
        </p:spPr>
        <p:txBody>
          <a:bodyPr wrap="square" rtlCol="0" anchor="ctr"/>
          <a:lstStyle/>
          <a:p>
            <a:pPr indent="0" marL="0">
              <a:lnSpc>
                <a:spcPct val="120000"/>
              </a:lnSpc>
              <a:buNone/>
            </a:pPr>
            <a:r>
              <a:rPr lang="en-US" sz="1200" dirty="0">
                <a:solidFill>
                  <a:srgbClr val="16221F"/>
                </a:solidFill>
                <a:latin typeface="Calibri" pitchFamily="34" charset="0"/>
                <a:ea typeface="Calibri" pitchFamily="34" charset="-122"/>
                <a:cs typeface="Calibri" pitchFamily="34" charset="-120"/>
              </a:rPr>
              <a:t>On Module 17 — WBS &amp; Gantt, load the TPL-COMP-7 phase template: Regulatory Requirement &amp; Gap Analysis, Control Design, Control Implementation, Internal Audit/Independent Testing, Controls Go Live, First Monitoring Cycle, Ongoing Compliance Handover.</a:t>
            </a:r>
            <a:endParaRPr lang="en-US" sz="1200" dirty="0"/>
          </a:p>
        </p:txBody>
      </p:sp>
      <p:sp>
        <p:nvSpPr>
          <p:cNvPr id="16" name="Text 1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17" name="Text 1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Charters for This Program</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5029200"/>
                <a:gridCol w="3200400"/>
                <a:gridCol w="28346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Charter</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Accountable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Review Cadence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CHTR-01 Sponsorship / Leadership Charter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Karim Idrissi (ES)</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Per Phase Gate</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CHTR-03 Communication Charter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Sanaa Bouzoubaa (CM)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Per communication wave</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CHTR-04 Organizational Impact Charter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Sanaa Bouzoubaa (CM)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On scope change</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CHTR-08 Pulse / Interview Charter</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Sanaa Bouzoubaa (CM)</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00" dirty="0">
                          <a:solidFill>
                            <a:srgbClr val="16221F"/>
                          </a:solidFill>
                          <a:latin typeface="Calibri" pitchFamily="34" charset="0"/>
                          <a:ea typeface="Calibri" pitchFamily="34" charset="-122"/>
                          <a:cs typeface="Calibri" pitchFamily="34" charset="-120"/>
                        </a:rPr>
                        <a:t>Per phase gate + ad hoc</a:t>
                      </a:r>
                      <a:endParaRPr lang="en-US" sz="12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3 — TENANT AND ADMIN SETUP</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Setup Checklist</a:t>
            </a:r>
            <a:endParaRPr lang="en-US" sz="2400" dirty="0"/>
          </a:p>
        </p:txBody>
      </p:sp>
      <p:sp>
        <p:nvSpPr>
          <p:cNvPr id="4" name="Shape 2"/>
          <p:cNvSpPr/>
          <p:nvPr/>
        </p:nvSpPr>
        <p:spPr>
          <a:xfrm>
            <a:off x="548640" y="2148840"/>
            <a:ext cx="292608" cy="292608"/>
          </a:xfrm>
          <a:prstGeom prst="roundRect">
            <a:avLst>
              <a:gd name="adj" fmla="val 18750"/>
            </a:avLst>
          </a:prstGeom>
          <a:solidFill>
            <a:srgbClr val="EAF2EF"/>
          </a:solidFill>
          <a:ln w="19050">
            <a:solidFill>
              <a:srgbClr val="16221F"/>
            </a:solidFill>
            <a:prstDash val="solid"/>
          </a:ln>
        </p:spPr>
      </p:sp>
      <p:pic>
        <p:nvPicPr>
          <p:cNvPr id="5" name="Image 0" descr="/home/user/scm-process-register/docs-src/type-decks/assets/check.png">    </p:cNvPr>
          <p:cNvPicPr>
            <a:picLocks noChangeAspect="1"/>
          </p:cNvPicPr>
          <p:nvPr/>
        </p:nvPicPr>
        <p:blipFill>
          <a:blip r:embed="rId1"/>
          <a:stretch>
            <a:fillRect/>
          </a:stretch>
        </p:blipFill>
        <p:spPr>
          <a:xfrm>
            <a:off x="603504" y="2203704"/>
            <a:ext cx="182880" cy="182880"/>
          </a:xfrm>
          <a:prstGeom prst="rect">
            <a:avLst/>
          </a:prstGeom>
        </p:spPr>
      </p:pic>
      <p:sp>
        <p:nvSpPr>
          <p:cNvPr id="6" name="Text 3"/>
          <p:cNvSpPr/>
          <p:nvPr/>
        </p:nvSpPr>
        <p:spPr>
          <a:xfrm>
            <a:off x="1005840" y="2103120"/>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Base tenant confirmed (Bouregreg Group, existing Organization)</a:t>
            </a:r>
            <a:endParaRPr lang="en-US" sz="1300" dirty="0"/>
          </a:p>
        </p:txBody>
      </p:sp>
      <p:sp>
        <p:nvSpPr>
          <p:cNvPr id="7" name="Shape 4"/>
          <p:cNvSpPr/>
          <p:nvPr/>
        </p:nvSpPr>
        <p:spPr>
          <a:xfrm>
            <a:off x="548640" y="2715768"/>
            <a:ext cx="292608" cy="292608"/>
          </a:xfrm>
          <a:prstGeom prst="roundRect">
            <a:avLst>
              <a:gd name="adj" fmla="val 18750"/>
            </a:avLst>
          </a:prstGeom>
          <a:solidFill>
            <a:srgbClr val="EAF2EF"/>
          </a:solidFill>
          <a:ln w="19050">
            <a:solidFill>
              <a:srgbClr val="16221F"/>
            </a:solidFill>
            <a:prstDash val="solid"/>
          </a:ln>
        </p:spPr>
      </p:sp>
      <p:pic>
        <p:nvPicPr>
          <p:cNvPr id="8" name="Image 1" descr="/home/user/scm-process-register/docs-src/type-decks/assets/check.png">    </p:cNvPr>
          <p:cNvPicPr>
            <a:picLocks noChangeAspect="1"/>
          </p:cNvPicPr>
          <p:nvPr/>
        </p:nvPicPr>
        <p:blipFill>
          <a:blip r:embed="rId2"/>
          <a:stretch>
            <a:fillRect/>
          </a:stretch>
        </p:blipFill>
        <p:spPr>
          <a:xfrm>
            <a:off x="603504" y="2770632"/>
            <a:ext cx="182880" cy="182880"/>
          </a:xfrm>
          <a:prstGeom prst="rect">
            <a:avLst/>
          </a:prstGeom>
        </p:spPr>
      </p:pic>
      <p:sp>
        <p:nvSpPr>
          <p:cNvPr id="9" name="Text 5"/>
          <p:cNvSpPr/>
          <p:nvPr/>
        </p:nvSpPr>
        <p:spPr>
          <a:xfrm>
            <a:off x="1005840" y="2670048"/>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Compliance team accounts created</a:t>
            </a:r>
            <a:endParaRPr lang="en-US" sz="1300" dirty="0"/>
          </a:p>
        </p:txBody>
      </p:sp>
      <p:sp>
        <p:nvSpPr>
          <p:cNvPr id="10" name="Shape 6"/>
          <p:cNvSpPr/>
          <p:nvPr/>
        </p:nvSpPr>
        <p:spPr>
          <a:xfrm>
            <a:off x="548640" y="3282696"/>
            <a:ext cx="292608" cy="292608"/>
          </a:xfrm>
          <a:prstGeom prst="roundRect">
            <a:avLst>
              <a:gd name="adj" fmla="val 18750"/>
            </a:avLst>
          </a:prstGeom>
          <a:solidFill>
            <a:srgbClr val="EAF2EF"/>
          </a:solidFill>
          <a:ln w="19050">
            <a:solidFill>
              <a:srgbClr val="16221F"/>
            </a:solidFill>
            <a:prstDash val="solid"/>
          </a:ln>
        </p:spPr>
      </p:sp>
      <p:pic>
        <p:nvPicPr>
          <p:cNvPr id="11" name="Image 2" descr="/home/user/scm-process-register/docs-src/type-decks/assets/check.png">    </p:cNvPr>
          <p:cNvPicPr>
            <a:picLocks noChangeAspect="1"/>
          </p:cNvPicPr>
          <p:nvPr/>
        </p:nvPicPr>
        <p:blipFill>
          <a:blip r:embed="rId3"/>
          <a:stretch>
            <a:fillRect/>
          </a:stretch>
        </p:blipFill>
        <p:spPr>
          <a:xfrm>
            <a:off x="603504" y="3337560"/>
            <a:ext cx="182880" cy="182880"/>
          </a:xfrm>
          <a:prstGeom prst="rect">
            <a:avLst/>
          </a:prstGeom>
        </p:spPr>
      </p:pic>
      <p:sp>
        <p:nvSpPr>
          <p:cNvPr id="12" name="Text 7"/>
          <p:cNvSpPr/>
          <p:nvPr/>
        </p:nvSpPr>
        <p:spPr>
          <a:xfrm>
            <a:off x="1005840" y="3236976"/>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CM Project created, Lewin opened at Unfreeze</a:t>
            </a:r>
            <a:endParaRPr lang="en-US" sz="1300" dirty="0"/>
          </a:p>
        </p:txBody>
      </p:sp>
      <p:sp>
        <p:nvSpPr>
          <p:cNvPr id="13" name="Shape 8"/>
          <p:cNvSpPr/>
          <p:nvPr/>
        </p:nvSpPr>
        <p:spPr>
          <a:xfrm>
            <a:off x="548640" y="3849624"/>
            <a:ext cx="292608" cy="292608"/>
          </a:xfrm>
          <a:prstGeom prst="roundRect">
            <a:avLst>
              <a:gd name="adj" fmla="val 18750"/>
            </a:avLst>
          </a:prstGeom>
          <a:solidFill>
            <a:srgbClr val="EAF2EF"/>
          </a:solidFill>
          <a:ln w="19050">
            <a:solidFill>
              <a:srgbClr val="16221F"/>
            </a:solidFill>
            <a:prstDash val="solid"/>
          </a:ln>
        </p:spPr>
      </p:sp>
      <p:pic>
        <p:nvPicPr>
          <p:cNvPr id="14" name="Image 3" descr="/home/user/scm-process-register/docs-src/type-decks/assets/check.png">    </p:cNvPr>
          <p:cNvPicPr>
            <a:picLocks noChangeAspect="1"/>
          </p:cNvPicPr>
          <p:nvPr/>
        </p:nvPicPr>
        <p:blipFill>
          <a:blip r:embed="rId4"/>
          <a:stretch>
            <a:fillRect/>
          </a:stretch>
        </p:blipFill>
        <p:spPr>
          <a:xfrm>
            <a:off x="603504" y="3904488"/>
            <a:ext cx="182880" cy="182880"/>
          </a:xfrm>
          <a:prstGeom prst="rect">
            <a:avLst/>
          </a:prstGeom>
        </p:spPr>
      </p:pic>
      <p:sp>
        <p:nvSpPr>
          <p:cNvPr id="15" name="Text 9"/>
          <p:cNvSpPr/>
          <p:nvPr/>
        </p:nvSpPr>
        <p:spPr>
          <a:xfrm>
            <a:off x="1005840" y="3803904"/>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TPL-COMP-7 phase template loaded on M17</a:t>
            </a:r>
            <a:endParaRPr lang="en-US" sz="1300" dirty="0"/>
          </a:p>
        </p:txBody>
      </p:sp>
      <p:sp>
        <p:nvSpPr>
          <p:cNvPr id="16" name="Shape 10"/>
          <p:cNvSpPr/>
          <p:nvPr/>
        </p:nvSpPr>
        <p:spPr>
          <a:xfrm>
            <a:off x="548640" y="4416552"/>
            <a:ext cx="292608" cy="292608"/>
          </a:xfrm>
          <a:prstGeom prst="roundRect">
            <a:avLst>
              <a:gd name="adj" fmla="val 18750"/>
            </a:avLst>
          </a:prstGeom>
          <a:solidFill>
            <a:srgbClr val="EAF2EF"/>
          </a:solidFill>
          <a:ln w="19050">
            <a:solidFill>
              <a:srgbClr val="16221F"/>
            </a:solidFill>
            <a:prstDash val="solid"/>
          </a:ln>
        </p:spPr>
      </p:sp>
      <p:pic>
        <p:nvPicPr>
          <p:cNvPr id="17" name="Image 4" descr="/home/user/scm-process-register/docs-src/type-decks/assets/check.png">    </p:cNvPr>
          <p:cNvPicPr>
            <a:picLocks noChangeAspect="1"/>
          </p:cNvPicPr>
          <p:nvPr/>
        </p:nvPicPr>
        <p:blipFill>
          <a:blip r:embed="rId5"/>
          <a:stretch>
            <a:fillRect/>
          </a:stretch>
        </p:blipFill>
        <p:spPr>
          <a:xfrm>
            <a:off x="603504" y="4471416"/>
            <a:ext cx="182880" cy="182880"/>
          </a:xfrm>
          <a:prstGeom prst="rect">
            <a:avLst/>
          </a:prstGeom>
        </p:spPr>
      </p:pic>
      <p:sp>
        <p:nvSpPr>
          <p:cNvPr id="18" name="Text 11"/>
          <p:cNvSpPr/>
          <p:nvPr/>
        </p:nvSpPr>
        <p:spPr>
          <a:xfrm>
            <a:off x="1005840" y="4370832"/>
            <a:ext cx="10607040" cy="502920"/>
          </a:xfrm>
          <a:prstGeom prst="rect">
            <a:avLst/>
          </a:prstGeom>
          <a:noFill/>
          <a:ln/>
        </p:spPr>
        <p:txBody>
          <a:bodyPr wrap="square" rtlCol="0" anchor="ctr"/>
          <a:lstStyle/>
          <a:p>
            <a:pPr indent="0" marL="0">
              <a:buNone/>
            </a:pPr>
            <a:r>
              <a:rPr lang="en-US" sz="1300" dirty="0">
                <a:solidFill>
                  <a:srgbClr val="16221F"/>
                </a:solidFill>
                <a:latin typeface="Calibri" pitchFamily="34" charset="0"/>
                <a:ea typeface="Calibri" pitchFamily="34" charset="-122"/>
                <a:cs typeface="Calibri" pitchFamily="34" charset="-120"/>
              </a:rPr>
              <a:t>Applicable Charters reviewed and accountable owners confirmed</a:t>
            </a:r>
            <a:endParaRPr lang="en-US" sz="1300" dirty="0"/>
          </a:p>
        </p:txBody>
      </p:sp>
      <p:sp>
        <p:nvSpPr>
          <p:cNvPr id="19"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4 — WEEK-BY-WEEK TIMELINE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7 Phases, In Order</a:t>
            </a:r>
            <a:endParaRPr lang="en-US" sz="2200" dirty="0"/>
          </a:p>
        </p:txBody>
      </p:sp>
      <p:sp>
        <p:nvSpPr>
          <p:cNvPr id="4" name="Shape 2"/>
          <p:cNvSpPr/>
          <p:nvPr/>
        </p:nvSpPr>
        <p:spPr>
          <a:xfrm>
            <a:off x="548640" y="2103120"/>
            <a:ext cx="2697480" cy="566928"/>
          </a:xfrm>
          <a:prstGeom prst="chevron">
            <a:avLst/>
          </a:prstGeom>
          <a:solidFill>
            <a:srgbClr val="16221F"/>
          </a:solidFill>
          <a:ln/>
        </p:spPr>
      </p:sp>
      <p:sp>
        <p:nvSpPr>
          <p:cNvPr id="5" name="Text 3"/>
          <p:cNvSpPr/>
          <p:nvPr/>
        </p:nvSpPr>
        <p:spPr>
          <a:xfrm>
            <a:off x="59436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Regulatory Requirement &amp; Gap Analysis</a:t>
            </a:r>
            <a:endParaRPr lang="en-US" sz="950" dirty="0"/>
          </a:p>
        </p:txBody>
      </p:sp>
      <p:sp>
        <p:nvSpPr>
          <p:cNvPr id="6" name="Shape 4"/>
          <p:cNvSpPr/>
          <p:nvPr/>
        </p:nvSpPr>
        <p:spPr>
          <a:xfrm>
            <a:off x="3337560" y="2103120"/>
            <a:ext cx="2697480" cy="566928"/>
          </a:xfrm>
          <a:prstGeom prst="chevron">
            <a:avLst/>
          </a:prstGeom>
          <a:solidFill>
            <a:srgbClr val="16221F"/>
          </a:solidFill>
          <a:ln/>
        </p:spPr>
      </p:sp>
      <p:sp>
        <p:nvSpPr>
          <p:cNvPr id="7" name="Text 5"/>
          <p:cNvSpPr/>
          <p:nvPr/>
        </p:nvSpPr>
        <p:spPr>
          <a:xfrm>
            <a:off x="338328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Control Design</a:t>
            </a:r>
            <a:endParaRPr lang="en-US" sz="950" dirty="0"/>
          </a:p>
        </p:txBody>
      </p:sp>
      <p:sp>
        <p:nvSpPr>
          <p:cNvPr id="8" name="Shape 6"/>
          <p:cNvSpPr/>
          <p:nvPr/>
        </p:nvSpPr>
        <p:spPr>
          <a:xfrm>
            <a:off x="6126480" y="2103120"/>
            <a:ext cx="2697480" cy="566928"/>
          </a:xfrm>
          <a:prstGeom prst="chevron">
            <a:avLst/>
          </a:prstGeom>
          <a:solidFill>
            <a:srgbClr val="16221F"/>
          </a:solidFill>
          <a:ln/>
        </p:spPr>
      </p:sp>
      <p:sp>
        <p:nvSpPr>
          <p:cNvPr id="9" name="Text 7"/>
          <p:cNvSpPr/>
          <p:nvPr/>
        </p:nvSpPr>
        <p:spPr>
          <a:xfrm>
            <a:off x="617220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Control Implementation</a:t>
            </a:r>
            <a:endParaRPr lang="en-US" sz="950" dirty="0"/>
          </a:p>
        </p:txBody>
      </p:sp>
      <p:sp>
        <p:nvSpPr>
          <p:cNvPr id="10" name="Shape 8"/>
          <p:cNvSpPr/>
          <p:nvPr/>
        </p:nvSpPr>
        <p:spPr>
          <a:xfrm>
            <a:off x="8915400" y="2103120"/>
            <a:ext cx="2697480" cy="566928"/>
          </a:xfrm>
          <a:prstGeom prst="chevron">
            <a:avLst/>
          </a:prstGeom>
          <a:solidFill>
            <a:srgbClr val="16221F"/>
          </a:solidFill>
          <a:ln/>
        </p:spPr>
      </p:sp>
      <p:sp>
        <p:nvSpPr>
          <p:cNvPr id="11" name="Text 9"/>
          <p:cNvSpPr/>
          <p:nvPr/>
        </p:nvSpPr>
        <p:spPr>
          <a:xfrm>
            <a:off x="8961120" y="2103120"/>
            <a:ext cx="260604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Internal Audit / Independent Testing</a:t>
            </a:r>
            <a:endParaRPr lang="en-US" sz="950" dirty="0"/>
          </a:p>
        </p:txBody>
      </p:sp>
      <p:sp>
        <p:nvSpPr>
          <p:cNvPr id="12" name="Shape 10"/>
          <p:cNvSpPr/>
          <p:nvPr/>
        </p:nvSpPr>
        <p:spPr>
          <a:xfrm>
            <a:off x="548640" y="2798064"/>
            <a:ext cx="3627120" cy="566928"/>
          </a:xfrm>
          <a:prstGeom prst="chevron">
            <a:avLst/>
          </a:prstGeom>
          <a:solidFill>
            <a:srgbClr val="16221F"/>
          </a:solidFill>
          <a:ln/>
        </p:spPr>
      </p:sp>
      <p:sp>
        <p:nvSpPr>
          <p:cNvPr id="13" name="Text 11"/>
          <p:cNvSpPr/>
          <p:nvPr/>
        </p:nvSpPr>
        <p:spPr>
          <a:xfrm>
            <a:off x="59436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 Controls Go Live</a:t>
            </a:r>
            <a:endParaRPr lang="en-US" sz="950" dirty="0"/>
          </a:p>
        </p:txBody>
      </p:sp>
      <p:sp>
        <p:nvSpPr>
          <p:cNvPr id="14" name="Shape 12"/>
          <p:cNvSpPr/>
          <p:nvPr/>
        </p:nvSpPr>
        <p:spPr>
          <a:xfrm>
            <a:off x="4267200" y="2798064"/>
            <a:ext cx="3627120" cy="566928"/>
          </a:xfrm>
          <a:prstGeom prst="chevron">
            <a:avLst/>
          </a:prstGeom>
          <a:solidFill>
            <a:srgbClr val="16221F"/>
          </a:solidFill>
          <a:ln/>
        </p:spPr>
      </p:sp>
      <p:sp>
        <p:nvSpPr>
          <p:cNvPr id="15" name="Text 13"/>
          <p:cNvSpPr/>
          <p:nvPr/>
        </p:nvSpPr>
        <p:spPr>
          <a:xfrm>
            <a:off x="431292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First Monitoring Cycle</a:t>
            </a:r>
            <a:endParaRPr lang="en-US" sz="950" dirty="0"/>
          </a:p>
        </p:txBody>
      </p:sp>
      <p:sp>
        <p:nvSpPr>
          <p:cNvPr id="16" name="Shape 14"/>
          <p:cNvSpPr/>
          <p:nvPr/>
        </p:nvSpPr>
        <p:spPr>
          <a:xfrm>
            <a:off x="7985760" y="2798064"/>
            <a:ext cx="3627120" cy="566928"/>
          </a:xfrm>
          <a:prstGeom prst="chevron">
            <a:avLst/>
          </a:prstGeom>
          <a:solidFill>
            <a:srgbClr val="16221F"/>
          </a:solidFill>
          <a:ln/>
        </p:spPr>
      </p:sp>
      <p:sp>
        <p:nvSpPr>
          <p:cNvPr id="17" name="Text 15"/>
          <p:cNvSpPr/>
          <p:nvPr/>
        </p:nvSpPr>
        <p:spPr>
          <a:xfrm>
            <a:off x="8031480" y="2798064"/>
            <a:ext cx="3535680"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 Ongoing Compliance Handover</a:t>
            </a:r>
            <a:endParaRPr lang="en-US" sz="950" dirty="0"/>
          </a:p>
        </p:txBody>
      </p:sp>
      <p:sp>
        <p:nvSpPr>
          <p:cNvPr id="18" name="Text 16"/>
          <p:cNvSpPr/>
          <p:nvPr/>
        </p:nvSpPr>
        <p:spPr>
          <a:xfrm>
            <a:off x="548640" y="5212080"/>
            <a:ext cx="11064240" cy="731520"/>
          </a:xfrm>
          <a:prstGeom prst="rect">
            <a:avLst/>
          </a:prstGeom>
          <a:noFill/>
          <a:ln/>
        </p:spPr>
        <p:txBody>
          <a:bodyPr wrap="square" rtlCol="0" anchor="ctr"/>
          <a:lstStyle/>
          <a:p>
            <a:pPr indent="0" marL="0">
              <a:lnSpc>
                <a:spcPct val="125000"/>
              </a:lnSpc>
              <a:buNone/>
            </a:pPr>
            <a:r>
              <a:rPr lang="en-US" sz="1250" i="1" dirty="0">
                <a:solidFill>
                  <a:srgbClr val="5C6D68"/>
                </a:solidFill>
                <a:latin typeface="Calibri" pitchFamily="34" charset="0"/>
                <a:ea typeface="Calibri" pitchFamily="34" charset="-122"/>
                <a:cs typeface="Calibri" pitchFamily="34" charset="-120"/>
              </a:rPr>
              <a:t>Total program length: 64 weeks (guide numbering, org-calendar aligned). Every phase below is walked in detail across the next slides — normal flow first, then six exceptions in full operational detail.</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1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Regulatory Requirement &amp; Gap Analysis</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1–14</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Establishes exactly what Loi 09-08 requires and where current data-handling practice falls short, across HR, Sales, and Customer Service.</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1 · REGULATORY REQUIREMENT &amp; GAP ANALYSIS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Key Moments in This Phase</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Kickoff; Lewin opens at Unfreeze.</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5</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Gap analysis begins across all three functions.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14</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Phase Gate: clean Go.</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1 · REGULATORY REQUIREMENT &amp; GAP ANALYSIS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208115712800000000" dist="78043392300000000" dir="1.1664e+21">
              <a:srgbClr val="1B2E2B">
                <a:alpha val="18000000000000000000"/>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Unfreeze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2.64306955256e+21" dist="991151082210000000000" dir="6.9984e+25">
              <a:srgbClr val="1B2E2B">
                <a:alpha val="1.8e+2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Awareness</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3.3566983317512e+25" dist="1.2587618744067e+25" dir="4.19904e+30">
              <a:srgbClr val="1B2E2B">
                <a:alpha val="1.8e+2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Neutral Zone</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4.2630068813240236e+29" dist="1.598627580496509e+29" dir="2.519424e+35">
              <a:srgbClr val="1B2E2B">
                <a:alpha val="1.7999999999999998e+3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6221F"/>
                </a:solidFill>
                <a:latin typeface="Calibri" pitchFamily="34" charset="0"/>
                <a:ea typeface="Calibri" pitchFamily="34" charset="-122"/>
                <a:cs typeface="Calibri" pitchFamily="34" charset="-120"/>
              </a:rPr>
              <a:t>Statutory clause mapping: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Map every Loi 09-08 article to a specific business process it governs.</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2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Control Design</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12–28</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Designs the specific controls — retention rules, access restrictions, subject-access-request processes — that close the gaps found.</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2 · CONTROL DESIGN</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Key Moments in This Phase</a:t>
            </a:r>
            <a:endParaRPr lang="en-US" sz="2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15</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Retention controls designed for HR personnel records.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19</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Subject-access-request process designed.</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28</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Phase Gate: clean Go.</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2 · CONTROL DESIGN</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5.41401873928151e+33" dist="2.0302570272305663e+33" dir="1.5116544e+40">
              <a:srgbClr val="1B2E2B">
                <a:alpha val="1.8e+3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Unfreeze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6.875803798887518e+37" dist="2.578426424582819e+37" dir="9.069926400000001e+44">
              <a:srgbClr val="1B2E2B">
                <a:alpha val="1.8e+4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Awareness → Knowledge</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8.732270824587148e+41" dist="3.2746015592201804e+41" dir="5.44195584e+49">
              <a:srgbClr val="1B2E2B">
                <a:alpha val="1.8e+4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Neutral Zone</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1.1089983947225678e+46" dist="4.158743980209629e+45" dir="3.2651735040000005e+54">
              <a:srgbClr val="1B2E2B">
                <a:alpha val="1.8e+5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6221F"/>
                </a:solidFill>
                <a:latin typeface="Calibri" pitchFamily="34" charset="0"/>
                <a:ea typeface="Calibri" pitchFamily="34" charset="-122"/>
                <a:cs typeface="Calibri" pitchFamily="34" charset="-120"/>
              </a:rPr>
              <a:t>Control catalogue design: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Design specific, checkable controls closing each identified gap.</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3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Control Implementation</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26–40</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Implements the designed controls plant-wide across all three functions.</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3 · CONTROL IMPLEMENTATION</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Key Moments in This Phase</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30</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Access-restriction controls implemented across HR, Sales, CS.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36</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Retention schedules operational.</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40</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Phase Gate: clean Go.</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3 · CONTROL IMPLEMENTATION</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1.408427961297661e+50" dist="5.281604854866228e+49" dir="1.9591041024000004e+59">
              <a:srgbClr val="1B2E2B">
                <a:alpha val="1.8000000000000001e+5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Change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1.7887035108480297e+54" dist="6.70763816568011e+53" dir="1.1754624614400003e+64">
              <a:srgbClr val="1B2E2B">
                <a:alpha val="1.8e+6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Knowledge → Ability</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2.2716534587769977e+58" dist="8.518700470413739e+57" dir="7.052774768640002e+68">
              <a:srgbClr val="1B2E2B">
                <a:alpha val="1.8e+6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Neutral Zone</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2.8849998926467873e+62" dist="1.081874959742545e+62" dir="4.2316648611840007e+73">
              <a:srgbClr val="1B2E2B">
                <a:alpha val="1.8000000000000002e+7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6221F"/>
                </a:solidFill>
                <a:latin typeface="Calibri" pitchFamily="34" charset="0"/>
                <a:ea typeface="Calibri" pitchFamily="34" charset="-122"/>
                <a:cs typeface="Calibri" pitchFamily="34" charset="-120"/>
              </a:rPr>
              <a:t>Function-by-function rollout: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Implement controls across HR, Sales, and Customer Service without disrupting daily operations.</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4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Internal Audit / Independent Testing</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38–48</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Independently tests the implemented controls before go-live — journi's own independence discipline is the point.</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4 · INTERNAL AUDIT / INDEPENDENT TESTING</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Key Moments in This Phase</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42</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Independent testing team confirmed genuinely independent of implementation.</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46</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Testing findings closed.</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48</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Phase Gate: clean Go.</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4 · INTERNAL AUDIT / INDEPENDENT TESTING</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3.66394986366142e+66" dist="1.373981198873032e+66" dir="2.5389989167104004e+78">
              <a:srgbClr val="1B2E2B">
                <a:alpha val="1.8000000000000003e+7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Change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4.653216326850003e+70" dist="1.7449561225687507e+70" dir="1.5233993500262402e+83">
              <a:srgbClr val="1B2E2B">
                <a:alpha val="1.8000000000000004e+8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Ability</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5.909584735099504e+74" dist="2.2160942756623134e+74" dir="9.14039610015744e+87">
              <a:srgbClr val="1B2E2B">
                <a:alpha val="1.8000000000000005e+8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Neutral Zone</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7.50517261357637e+78" dist="2.814439730091138e+78" dir="5.484237660094465e+92">
              <a:srgbClr val="1B2E2B">
                <a:alpha val="1.8000000000000007e+9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6221F"/>
                </a:solidFill>
                <a:latin typeface="Calibri" pitchFamily="34" charset="0"/>
                <a:ea typeface="Calibri" pitchFamily="34" charset="-122"/>
                <a:cs typeface="Calibri" pitchFamily="34" charset="-120"/>
              </a:rPr>
              <a:t>Independence-verified testing: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Confirm controls work, tested by a team genuinely independent of implementation.</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5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Controls Go Live</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46–52</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Goes live with the tested controls, timed deliberately ahead of the ERP program's own Deploy week so the two never compete for the same Legal/Compliance attention.</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5 · CONTROLS GO LIVE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Key Moments in This Phase</a:t>
            </a:r>
            <a:endParaRPr lang="en-US" sz="2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48</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Controls go live across all three functions.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52</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Phase Gate: clean Go.</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5 · CONTROLS GO LIVE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9.53156921924199e+82" dist="3.574338457215745e+82" dir="3.2905425960566786e+97">
              <a:srgbClr val="1B2E2B">
                <a:alpha val="1.8000000000000008e+9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Change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1.2105092908437327e+87" dist="4.539409840663996e+86" dir="1.9743255576340073e+102">
              <a:srgbClr val="1B2E2B">
                <a:alpha val="1.800000000000001e+10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Ability</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1.5373467993715405e+91" dist="5.765050497643275e+90" dir="1.1845953345804043e+107">
              <a:srgbClr val="1B2E2B">
                <a:alpha val="1.800000000000001e+10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Neutral Zone → New Beginning</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1.9524304352018566e+95" dist="7.321614132006959e+94" dir="7.107572007482426e+111">
              <a:srgbClr val="1B2E2B">
                <a:alpha val="1.800000000000001e+11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Exploration → 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6221F"/>
                </a:solidFill>
                <a:latin typeface="Calibri" pitchFamily="34" charset="0"/>
                <a:ea typeface="Calibri" pitchFamily="34" charset="-122"/>
                <a:cs typeface="Calibri" pitchFamily="34" charset="-120"/>
              </a:rPr>
              <a:t>Deliberately sequenced go-live: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Time go-live ahead of the ERP program's own Deploy week to avoid competing for Legal/Compliance attention.</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6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First Monitoring Cycle</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50–58</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Confirms the controls hold under real operating conditions, not just at the moment of go-live.</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6 · FIRST MONITORING CYCLE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Key Moments in This Phase</a:t>
            </a:r>
            <a:endParaRPr lang="en-US" sz="2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52</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First monitoring cycle begins.</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58</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Phase Gate: clean Go — seventh consecutive clean gate.</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6 · FIRST MONITORING CYCLE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2.4795866527063578e+99" dist="9.298449947648839e+98" dir="4.2645432044894554e+116">
              <a:srgbClr val="1B2E2B">
                <a:alpha val="1.800000000000001e+11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Change → Refreeze</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3.149075048937074e+103" dist="1.1809031433514024e+103" dir="2.5587259226936733e+121">
              <a:srgbClr val="1B2E2B">
                <a:alpha val="1.800000000000001e+12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Ability → Reinforcement</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3.9993253121500844e+107" dist="1.499746992056281e+107" dir="1.535235553616204e+126">
              <a:srgbClr val="1B2E2B">
                <a:alpha val="1.800000000000001e+12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New Beginning</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5.079143146430607e+111" dist="1.904678679911477e+111" dir="9.211413321697224e+130">
              <a:srgbClr val="1B2E2B">
                <a:alpha val="1.800000000000001e+13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6221F"/>
                </a:solidFill>
                <a:latin typeface="Calibri" pitchFamily="34" charset="0"/>
                <a:ea typeface="Calibri" pitchFamily="34" charset="-122"/>
                <a:cs typeface="Calibri" pitchFamily="34" charset="-120"/>
              </a:rPr>
              <a:t>Real-condition control monitoring: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Confirm controls hold under real operating conditions, not just at go-live.</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PHASE 7 OF 7</a:t>
            </a:r>
            <a:endParaRPr lang="en-US" sz="1250" dirty="0"/>
          </a:p>
        </p:txBody>
      </p:sp>
      <p:sp>
        <p:nvSpPr>
          <p:cNvPr id="3" name="Text 1"/>
          <p:cNvSpPr/>
          <p:nvPr/>
        </p:nvSpPr>
        <p:spPr>
          <a:xfrm>
            <a:off x="548640" y="868680"/>
            <a:ext cx="109728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Ongoing Compliance Handover</a:t>
            </a:r>
            <a:endParaRPr lang="en-US" sz="3000" dirty="0"/>
          </a:p>
        </p:txBody>
      </p:sp>
      <p:sp>
        <p:nvSpPr>
          <p:cNvPr id="4" name="Text 2"/>
          <p:cNvSpPr/>
          <p:nvPr/>
        </p:nvSpPr>
        <p:spPr>
          <a:xfrm>
            <a:off x="548640" y="1600200"/>
            <a:ext cx="10972800" cy="365760"/>
          </a:xfrm>
          <a:prstGeom prst="rect">
            <a:avLst/>
          </a:prstGeom>
          <a:noFill/>
          <a:ln/>
        </p:spPr>
        <p:txBody>
          <a:bodyPr wrap="square" rtlCol="0" anchor="ctr"/>
          <a:lstStyle/>
          <a:p>
            <a:pPr indent="0" marL="0">
              <a:buNone/>
            </a:pPr>
            <a:r>
              <a:rPr lang="en-US" sz="1500" i="1" dirty="0">
                <a:solidFill>
                  <a:srgbClr val="F0F0F0"/>
                </a:solidFill>
                <a:latin typeface="Calibri" pitchFamily="34" charset="0"/>
                <a:ea typeface="Calibri" pitchFamily="34" charset="-122"/>
                <a:cs typeface="Calibri" pitchFamily="34" charset="-120"/>
              </a:rPr>
              <a:t>Weeks 56–64, open-ended beyond</a:t>
            </a:r>
            <a:endParaRPr lang="en-US" sz="1500" dirty="0"/>
          </a:p>
        </p:txBody>
      </p:sp>
      <p:sp>
        <p:nvSpPr>
          <p:cNvPr id="5" name="Shape 3"/>
          <p:cNvSpPr/>
          <p:nvPr/>
        </p:nvSpPr>
        <p:spPr>
          <a:xfrm>
            <a:off x="548640" y="2286000"/>
            <a:ext cx="11064240" cy="3383280"/>
          </a:xfrm>
          <a:prstGeom prst="roundRect">
            <a:avLst>
              <a:gd name="adj" fmla="val 1351"/>
            </a:avLst>
          </a:prstGeom>
          <a:solidFill>
            <a:srgbClr val="FFFFFF"/>
          </a:solidFill>
          <a:ln/>
        </p:spPr>
      </p:sp>
      <p:sp>
        <p:nvSpPr>
          <p:cNvPr id="6" name="Text 4"/>
          <p:cNvSpPr/>
          <p:nvPr/>
        </p:nvSpPr>
        <p:spPr>
          <a:xfrm>
            <a:off x="777240" y="246888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NARRATIVE</a:t>
            </a:r>
            <a:endParaRPr lang="en-US" sz="1050" dirty="0"/>
          </a:p>
        </p:txBody>
      </p:sp>
      <p:sp>
        <p:nvSpPr>
          <p:cNvPr id="7" name="Text 5"/>
          <p:cNvSpPr/>
          <p:nvPr/>
        </p:nvSpPr>
        <p:spPr>
          <a:xfrm>
            <a:off x="777240" y="2788920"/>
            <a:ext cx="10607040" cy="2743200"/>
          </a:xfrm>
          <a:prstGeom prst="rect">
            <a:avLst/>
          </a:prstGeom>
          <a:noFill/>
          <a:ln/>
        </p:spPr>
        <p:txBody>
          <a:bodyPr wrap="square" rtlCol="0" anchor="ctr"/>
          <a:lstStyle/>
          <a:p>
            <a:pPr indent="0" marL="0">
              <a:lnSpc>
                <a:spcPct val="140000"/>
              </a:lnSpc>
              <a:buNone/>
            </a:pPr>
            <a:r>
              <a:rPr lang="en-US" sz="1500" dirty="0">
                <a:solidFill>
                  <a:srgbClr val="16221F"/>
                </a:solidFill>
                <a:latin typeface="Calibri" pitchFamily="34" charset="0"/>
                <a:ea typeface="Calibri" pitchFamily="34" charset="-122"/>
                <a:cs typeface="Calibri" pitchFamily="34" charset="-120"/>
              </a:rPr>
              <a:t>Hands ongoing compliance monitoring to standing operations — continuing beyond Week 64 since a regulatory obligation has no project end date.</a:t>
            </a:r>
            <a:endParaRPr lang="en-US" sz="1500" dirty="0"/>
          </a:p>
        </p:txBody>
      </p:sp>
      <p:sp>
        <p:nvSpPr>
          <p:cNvPr id="8" name="Text 6"/>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9" name="Text 7"/>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7 · ONGOING COMPLIANCE HANDOVER</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Key Moments in This Phase</a:t>
            </a:r>
            <a:endParaRPr lang="en-US" sz="2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1828800"/>
                <a:gridCol w="9235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60</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Ongoing handover package delivered.</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Week 64</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250" dirty="0">
                          <a:solidFill>
                            <a:srgbClr val="16221F"/>
                          </a:solidFill>
                          <a:latin typeface="Calibri" pitchFamily="34" charset="0"/>
                          <a:ea typeface="Calibri" pitchFamily="34" charset="-122"/>
                          <a:cs typeface="Calibri" pitchFamily="34" charset="-120"/>
                        </a:rPr>
                        <a:t>Program formally closes; compliance monitoring continues beyond, by design.</a:t>
                      </a:r>
                      <a:endParaRPr lang="en-US" sz="12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PHASE 7 · ONGOING COMPLIANCE HANDOVER</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Framework Snapshot</a:t>
            </a:r>
            <a:endParaRPr lang="en-US" sz="2200" dirty="0"/>
          </a:p>
        </p:txBody>
      </p:sp>
      <p:sp>
        <p:nvSpPr>
          <p:cNvPr id="4" name="Shape 2"/>
          <p:cNvSpPr/>
          <p:nvPr/>
        </p:nvSpPr>
        <p:spPr>
          <a:xfrm>
            <a:off x="548640" y="2194560"/>
            <a:ext cx="2670048" cy="2194560"/>
          </a:xfrm>
          <a:prstGeom prst="roundRect">
            <a:avLst>
              <a:gd name="adj" fmla="val 2083"/>
            </a:avLst>
          </a:prstGeom>
          <a:solidFill>
            <a:srgbClr val="EAF2EF"/>
          </a:solidFill>
          <a:ln/>
          <a:effectLst>
            <a:outerShdw sx="100000" sy="100000" kx="0" ky="0" algn="bl" rotWithShape="0" blurRad="6.450511795966871e+115" dist="2.418941923487576e+115" dir="5.526847993018334e+135">
              <a:srgbClr val="1B2E2B">
                <a:alpha val="1.800000000000001e+139"/>
              </a:srgbClr>
            </a:outerShdw>
          </a:effectLst>
        </p:spPr>
      </p:sp>
      <p:sp>
        <p:nvSpPr>
          <p:cNvPr id="5" name="Text 3"/>
          <p:cNvSpPr/>
          <p:nvPr/>
        </p:nvSpPr>
        <p:spPr>
          <a:xfrm>
            <a:off x="685800" y="2331720"/>
            <a:ext cx="2395728" cy="320040"/>
          </a:xfrm>
          <a:prstGeom prst="rect">
            <a:avLst/>
          </a:prstGeom>
          <a:noFill/>
          <a:ln/>
        </p:spPr>
        <p:txBody>
          <a:bodyPr wrap="square" rtlCol="0" anchor="ctr"/>
          <a:lstStyle/>
          <a:p>
            <a:pPr indent="0" marL="0">
              <a:buNone/>
            </a:pPr>
            <a:r>
              <a:rPr lang="en-US" sz="1100" b="1" spc="100" kern="0" dirty="0">
                <a:solidFill>
                  <a:srgbClr val="1F6459"/>
                </a:solidFill>
                <a:latin typeface="Calibri" pitchFamily="34" charset="0"/>
                <a:ea typeface="Calibri" pitchFamily="34" charset="-122"/>
                <a:cs typeface="Calibri" pitchFamily="34" charset="-120"/>
              </a:rPr>
              <a:t>LEWIN</a:t>
            </a:r>
            <a:endParaRPr lang="en-US" sz="1100" dirty="0"/>
          </a:p>
        </p:txBody>
      </p:sp>
      <p:sp>
        <p:nvSpPr>
          <p:cNvPr id="6" name="Text 4"/>
          <p:cNvSpPr/>
          <p:nvPr/>
        </p:nvSpPr>
        <p:spPr>
          <a:xfrm>
            <a:off x="685800"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Refreeze (standing)</a:t>
            </a:r>
            <a:endParaRPr lang="en-US" sz="1300" dirty="0"/>
          </a:p>
        </p:txBody>
      </p:sp>
      <p:sp>
        <p:nvSpPr>
          <p:cNvPr id="7" name="Shape 5"/>
          <p:cNvSpPr/>
          <p:nvPr/>
        </p:nvSpPr>
        <p:spPr>
          <a:xfrm>
            <a:off x="3355848" y="2194560"/>
            <a:ext cx="2670048" cy="2194560"/>
          </a:xfrm>
          <a:prstGeom prst="roundRect">
            <a:avLst>
              <a:gd name="adj" fmla="val 2083"/>
            </a:avLst>
          </a:prstGeom>
          <a:solidFill>
            <a:srgbClr val="EAF2EF"/>
          </a:solidFill>
          <a:ln/>
          <a:effectLst>
            <a:outerShdw sx="100000" sy="100000" kx="0" ky="0" algn="bl" rotWithShape="0" blurRad="8.192149980877925e+119" dist="3.0720562428292216e+119" dir="3.3161087958110005e+140">
              <a:srgbClr val="1B2E2B">
                <a:alpha val="1.800000000000001e+144"/>
              </a:srgbClr>
            </a:outerShdw>
          </a:effectLst>
        </p:spPr>
      </p:sp>
      <p:sp>
        <p:nvSpPr>
          <p:cNvPr id="8" name="Text 6"/>
          <p:cNvSpPr/>
          <p:nvPr/>
        </p:nvSpPr>
        <p:spPr>
          <a:xfrm>
            <a:off x="3493008" y="2331720"/>
            <a:ext cx="2395728" cy="320040"/>
          </a:xfrm>
          <a:prstGeom prst="rect">
            <a:avLst/>
          </a:prstGeom>
          <a:noFill/>
          <a:ln/>
        </p:spPr>
        <p:txBody>
          <a:bodyPr wrap="square" rtlCol="0" anchor="ctr"/>
          <a:lstStyle/>
          <a:p>
            <a:pPr indent="0" marL="0">
              <a:buNone/>
            </a:pPr>
            <a:r>
              <a:rPr lang="en-US" sz="1100" b="1" spc="100" kern="0" dirty="0">
                <a:solidFill>
                  <a:srgbClr val="C2661C"/>
                </a:solidFill>
                <a:latin typeface="Calibri" pitchFamily="34" charset="0"/>
                <a:ea typeface="Calibri" pitchFamily="34" charset="-122"/>
                <a:cs typeface="Calibri" pitchFamily="34" charset="-120"/>
              </a:rPr>
              <a:t>ADKAR</a:t>
            </a:r>
            <a:endParaRPr lang="en-US" sz="1100" dirty="0"/>
          </a:p>
        </p:txBody>
      </p:sp>
      <p:sp>
        <p:nvSpPr>
          <p:cNvPr id="9" name="Text 7"/>
          <p:cNvSpPr/>
          <p:nvPr/>
        </p:nvSpPr>
        <p:spPr>
          <a:xfrm>
            <a:off x="3493008"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Reinforcement</a:t>
            </a:r>
            <a:endParaRPr lang="en-US" sz="1300" dirty="0"/>
          </a:p>
        </p:txBody>
      </p:sp>
      <p:sp>
        <p:nvSpPr>
          <p:cNvPr id="10" name="Shape 8"/>
          <p:cNvSpPr/>
          <p:nvPr/>
        </p:nvSpPr>
        <p:spPr>
          <a:xfrm>
            <a:off x="6163056" y="2194560"/>
            <a:ext cx="2670048" cy="2194560"/>
          </a:xfrm>
          <a:prstGeom prst="roundRect">
            <a:avLst>
              <a:gd name="adj" fmla="val 2083"/>
            </a:avLst>
          </a:prstGeom>
          <a:solidFill>
            <a:srgbClr val="EAF2EF"/>
          </a:solidFill>
          <a:ln/>
          <a:effectLst>
            <a:outerShdw sx="100000" sy="100000" kx="0" ky="0" algn="bl" rotWithShape="0" blurRad="1.0404030475714965e+124" dist="3.9015114283931116e+123" dir="1.9896652774866004e+145">
              <a:srgbClr val="1B2E2B">
                <a:alpha val="1.8000000000000009e+149"/>
              </a:srgbClr>
            </a:outerShdw>
          </a:effectLst>
        </p:spPr>
      </p:sp>
      <p:sp>
        <p:nvSpPr>
          <p:cNvPr id="11" name="Text 9"/>
          <p:cNvSpPr/>
          <p:nvPr/>
        </p:nvSpPr>
        <p:spPr>
          <a:xfrm>
            <a:off x="6300216" y="2331720"/>
            <a:ext cx="2395728" cy="320040"/>
          </a:xfrm>
          <a:prstGeom prst="rect">
            <a:avLst/>
          </a:prstGeom>
          <a:noFill/>
          <a:ln/>
        </p:spPr>
        <p:txBody>
          <a:bodyPr wrap="square" rtlCol="0" anchor="ctr"/>
          <a:lstStyle/>
          <a:p>
            <a:pPr indent="0" marL="0">
              <a:buNone/>
            </a:pPr>
            <a:r>
              <a:rPr lang="en-US" sz="1100" b="1" spc="100" kern="0" dirty="0">
                <a:solidFill>
                  <a:srgbClr val="2E5F8A"/>
                </a:solidFill>
                <a:latin typeface="Calibri" pitchFamily="34" charset="0"/>
                <a:ea typeface="Calibri" pitchFamily="34" charset="-122"/>
                <a:cs typeface="Calibri" pitchFamily="34" charset="-120"/>
              </a:rPr>
              <a:t>BRIDGES</a:t>
            </a:r>
            <a:endParaRPr lang="en-US" sz="1100" dirty="0"/>
          </a:p>
        </p:txBody>
      </p:sp>
      <p:sp>
        <p:nvSpPr>
          <p:cNvPr id="12" name="Text 10"/>
          <p:cNvSpPr/>
          <p:nvPr/>
        </p:nvSpPr>
        <p:spPr>
          <a:xfrm>
            <a:off x="6300216"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New Beginning</a:t>
            </a:r>
            <a:endParaRPr lang="en-US" sz="1300" dirty="0"/>
          </a:p>
        </p:txBody>
      </p:sp>
      <p:sp>
        <p:nvSpPr>
          <p:cNvPr id="13" name="Shape 11"/>
          <p:cNvSpPr/>
          <p:nvPr/>
        </p:nvSpPr>
        <p:spPr>
          <a:xfrm>
            <a:off x="8970264" y="2194560"/>
            <a:ext cx="2670048" cy="2194560"/>
          </a:xfrm>
          <a:prstGeom prst="roundRect">
            <a:avLst>
              <a:gd name="adj" fmla="val 2083"/>
            </a:avLst>
          </a:prstGeom>
          <a:solidFill>
            <a:srgbClr val="EAF2EF"/>
          </a:solidFill>
          <a:ln/>
          <a:effectLst>
            <a:outerShdw sx="100000" sy="100000" kx="0" ky="0" algn="bl" rotWithShape="0" blurRad="1.3213118704158005e+128" dist="4.954919514059251e+127" dir="1.1937991664919603e+150">
              <a:srgbClr val="1B2E2B">
                <a:alpha val="1.800000000000001e+154"/>
              </a:srgbClr>
            </a:outerShdw>
          </a:effectLst>
        </p:spPr>
      </p:sp>
      <p:sp>
        <p:nvSpPr>
          <p:cNvPr id="14" name="Text 12"/>
          <p:cNvSpPr/>
          <p:nvPr/>
        </p:nvSpPr>
        <p:spPr>
          <a:xfrm>
            <a:off x="9107424" y="2331720"/>
            <a:ext cx="2395728" cy="320040"/>
          </a:xfrm>
          <a:prstGeom prst="rect">
            <a:avLst/>
          </a:prstGeom>
          <a:noFill/>
          <a:ln/>
        </p:spPr>
        <p:txBody>
          <a:bodyPr wrap="square" rtlCol="0" anchor="ctr"/>
          <a:lstStyle/>
          <a:p>
            <a:pPr indent="0" marL="0">
              <a:buNone/>
            </a:pPr>
            <a:r>
              <a:rPr lang="en-US" sz="1100" b="1" spc="100" kern="0" dirty="0">
                <a:solidFill>
                  <a:srgbClr val="6B4C8A"/>
                </a:solidFill>
                <a:latin typeface="Calibri" pitchFamily="34" charset="0"/>
                <a:ea typeface="Calibri" pitchFamily="34" charset="-122"/>
                <a:cs typeface="Calibri" pitchFamily="34" charset="-120"/>
              </a:rPr>
              <a:t>KÜBLER-ROSS</a:t>
            </a:r>
            <a:endParaRPr lang="en-US" sz="1100" dirty="0"/>
          </a:p>
        </p:txBody>
      </p:sp>
      <p:sp>
        <p:nvSpPr>
          <p:cNvPr id="15" name="Text 13"/>
          <p:cNvSpPr/>
          <p:nvPr/>
        </p:nvSpPr>
        <p:spPr>
          <a:xfrm>
            <a:off x="9107424" y="2743200"/>
            <a:ext cx="2395728" cy="1463040"/>
          </a:xfrm>
          <a:prstGeom prst="rect">
            <a:avLst/>
          </a:prstGeom>
          <a:noFill/>
          <a:ln/>
        </p:spPr>
        <p:txBody>
          <a:bodyPr wrap="square" rtlCol="0" anchor="ctr"/>
          <a:lstStyle/>
          <a:p>
            <a:pPr indent="0" marL="0">
              <a:lnSpc>
                <a:spcPct val="120000"/>
              </a:lnSpc>
              <a:buNone/>
            </a:pPr>
            <a:r>
              <a:rPr lang="en-US" sz="1300" b="1" dirty="0">
                <a:solidFill>
                  <a:srgbClr val="16221F"/>
                </a:solidFill>
                <a:latin typeface="Calibri" pitchFamily="34" charset="0"/>
                <a:ea typeface="Calibri" pitchFamily="34" charset="-122"/>
                <a:cs typeface="Calibri" pitchFamily="34" charset="-120"/>
              </a:rPr>
              <a:t>Commitment</a:t>
            </a:r>
            <a:endParaRPr lang="en-US" sz="1300" dirty="0"/>
          </a:p>
        </p:txBody>
      </p:sp>
      <p:sp>
        <p:nvSpPr>
          <p:cNvPr id="16" name="Shape 14"/>
          <p:cNvSpPr/>
          <p:nvPr/>
        </p:nvSpPr>
        <p:spPr>
          <a:xfrm>
            <a:off x="548640" y="4663440"/>
            <a:ext cx="11064240" cy="1371600"/>
          </a:xfrm>
          <a:prstGeom prst="roundRect">
            <a:avLst>
              <a:gd name="adj" fmla="val 3333"/>
            </a:avLst>
          </a:prstGeom>
          <a:solidFill>
            <a:srgbClr val="FFFFFF"/>
          </a:solidFill>
          <a:ln/>
        </p:spPr>
      </p:sp>
      <p:sp>
        <p:nvSpPr>
          <p:cNvPr id="17" name="Text 15"/>
          <p:cNvSpPr/>
          <p:nvPr/>
        </p:nvSpPr>
        <p:spPr>
          <a:xfrm>
            <a:off x="777240" y="4800600"/>
            <a:ext cx="10607040" cy="274320"/>
          </a:xfrm>
          <a:prstGeom prst="rect">
            <a:avLst/>
          </a:prstGeom>
          <a:noFill/>
          <a:ln/>
        </p:spPr>
        <p:txBody>
          <a:bodyPr wrap="square" rtlCol="0" anchor="ctr"/>
          <a:lstStyle/>
          <a:p>
            <a:pPr indent="0" marL="0">
              <a:buNone/>
            </a:pPr>
            <a:r>
              <a:rPr lang="en-US" sz="1050" b="1" spc="100" kern="0" dirty="0">
                <a:solidFill>
                  <a:srgbClr val="C2661C"/>
                </a:solidFill>
                <a:latin typeface="Calibri" pitchFamily="34" charset="0"/>
                <a:ea typeface="Calibri" pitchFamily="34" charset="-122"/>
                <a:cs typeface="Calibri" pitchFamily="34" charset="-120"/>
              </a:rPr>
              <a:t>KEY TECHNIQUE THIS PHASE</a:t>
            </a:r>
            <a:endParaRPr lang="en-US" sz="1050" dirty="0"/>
          </a:p>
        </p:txBody>
      </p:sp>
      <p:sp>
        <p:nvSpPr>
          <p:cNvPr id="18" name="Text 16"/>
          <p:cNvSpPr/>
          <p:nvPr/>
        </p:nvSpPr>
        <p:spPr>
          <a:xfrm>
            <a:off x="777240" y="5102352"/>
            <a:ext cx="10607040" cy="822960"/>
          </a:xfrm>
          <a:prstGeom prst="rect">
            <a:avLst/>
          </a:prstGeom>
          <a:noFill/>
          <a:ln/>
        </p:spPr>
        <p:txBody>
          <a:bodyPr wrap="square" rtlCol="0" anchor="ctr"/>
          <a:lstStyle/>
          <a:p>
            <a:pPr indent="0" marL="0">
              <a:lnSpc>
                <a:spcPct val="125000"/>
              </a:lnSpc>
              <a:buNone/>
            </a:pPr>
            <a:r>
              <a:rPr lang="en-US" sz="1250" b="1" dirty="0">
                <a:solidFill>
                  <a:srgbClr val="16221F"/>
                </a:solidFill>
                <a:latin typeface="Calibri" pitchFamily="34" charset="0"/>
                <a:ea typeface="Calibri" pitchFamily="34" charset="-122"/>
                <a:cs typeface="Calibri" pitchFamily="34" charset="-120"/>
              </a:rPr>
              <a:t>Standing compliance monitoring handoff: </a:t>
            </a:r>
            <a:pPr indent="0" marL="0">
              <a:lnSpc>
                <a:spcPct val="125000"/>
              </a:lnSpc>
              <a:buNone/>
            </a:pPr>
            <a:r>
              <a:rPr lang="en-US" sz="1250" dirty="0">
                <a:solidFill>
                  <a:srgbClr val="16221F"/>
                </a:solidFill>
                <a:latin typeface="Calibri" pitchFamily="34" charset="0"/>
                <a:ea typeface="Calibri" pitchFamily="34" charset="-122"/>
                <a:cs typeface="Calibri" pitchFamily="34" charset="-120"/>
              </a:rPr>
              <a:t>Transfer ongoing monitoring to standing operations, since the obligation has no end date.</a:t>
            </a:r>
            <a:endParaRPr lang="en-US" sz="1250" dirty="0"/>
          </a:p>
        </p:txBody>
      </p:sp>
      <p:sp>
        <p:nvSpPr>
          <p:cNvPr id="19" name="Text 17"/>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0" name="Text 18"/>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4 — MASTER WBS &amp; GANTT</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Every Phase, Across the Four Frameworks</a:t>
            </a:r>
            <a:endParaRPr lang="en-US" sz="2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834640"/>
                <a:gridCol w="1554480"/>
                <a:gridCol w="1737360"/>
                <a:gridCol w="1737360"/>
                <a:gridCol w="1554480"/>
                <a:gridCol w="164592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Lewin</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ADKAR</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Bridges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Kübler-Ross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Regulatory Requirement &amp; Gap Analysis</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1–14</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Unfreeze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Awareness</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Neutral Zone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Control Design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12–28</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Unfreeze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Awareness → Knowledge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Neutral Zone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Control Implementation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26–40</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Knowledge → Ability</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Neutral Zone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Internal Audit / Independent Testing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38–48</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Ability</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Neutral Zone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Controls Go Live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46–52</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Change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Ability</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Neutral Zone → New Beginning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Exploration → 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First Monitoring Cycle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50–58</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Change → Refreeze</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Ability → Reinforcement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New Beginning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Ongoing Compliance Handover</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Weeks 56–64+</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Refreeze (standing)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Reinforcement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New Beginning</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000" dirty="0">
                          <a:solidFill>
                            <a:srgbClr val="16221F"/>
                          </a:solidFill>
                          <a:latin typeface="Calibri" pitchFamily="34" charset="0"/>
                          <a:ea typeface="Calibri" pitchFamily="34" charset="-122"/>
                          <a:cs typeface="Calibri" pitchFamily="34" charset="-120"/>
                        </a:rPr>
                        <a:t>Commitment</a:t>
                      </a:r>
                      <a:endParaRPr lang="en-US" sz="100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4 — MASTER WBS &amp; GANTT</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Every Phase, Techniques and Tools</a:t>
            </a:r>
            <a:endParaRPr lang="en-US" sz="2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377440"/>
                <a:gridCol w="1280160"/>
                <a:gridCol w="2377440"/>
                <a:gridCol w="3291840"/>
                <a:gridCol w="182880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Technique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Goal</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5423A"/>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Regulatory Requirement &amp; Gap Analysis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1–14</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Statutory clause mapping</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Map every Loi 09-08 article to a specific business process it governs.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LibreOffice Calc</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Control Design</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12–28</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Control catalogue design</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Design specific, checkable controls closing each identified gap.</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M21 (Field Notes)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Control Implementation</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26–40</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Function-by-function rollout</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Implement controls across HR, Sales, and Customer Service without disrupting daily operations.</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M17 (WBS &amp; Gantt)</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Internal Audit / Independent Testing</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38–48</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Independence-verified testing</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Confirm controls work, tested by a team genuinely independent of implementation.</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M19 (Charter Registry)</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Controls Go Live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46–52</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Deliberately sequenced go-live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Time go-live ahead of the ERP program's own Deploy week to avoid competing for Legal/Compliance attention.</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M3 (Initiative Registry)</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First Monitoring Cycle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50–58</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Real-condition control monitoring</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Confirm controls hold under real operating conditions, not just at go-live.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M12 (Sustainment)</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Ongoing Compliance Handover</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Weeks 56–64+</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Standing compliance monitoring handoff</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Transfer ongoing monitoring to standing operations, since the obligation has no end date.</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980" dirty="0">
                          <a:solidFill>
                            <a:srgbClr val="16221F"/>
                          </a:solidFill>
                          <a:latin typeface="Calibri" pitchFamily="34" charset="0"/>
                          <a:ea typeface="Calibri" pitchFamily="34" charset="-122"/>
                          <a:cs typeface="Calibri" pitchFamily="34" charset="-120"/>
                        </a:rPr>
                        <a:t>M12 (Sustainment)</a:t>
                      </a:r>
                      <a:endParaRPr lang="en-US" sz="98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2377440"/>
            <a:ext cx="11064240" cy="365760"/>
          </a:xfrm>
          <a:prstGeom prst="rect">
            <a:avLst/>
          </a:prstGeom>
          <a:noFill/>
          <a:ln/>
        </p:spPr>
        <p:txBody>
          <a:bodyPr wrap="square" rtlCol="0" anchor="ctr"/>
          <a:lstStyle/>
          <a:p>
            <a:pPr algn="ctr" indent="0" marL="0">
              <a:buNone/>
            </a:pPr>
            <a:r>
              <a:rPr lang="en-US" sz="1300" b="1" spc="200" kern="0" dirty="0">
                <a:solidFill>
                  <a:srgbClr val="F0F0F0"/>
                </a:solidFill>
                <a:latin typeface="Calibri" pitchFamily="34" charset="0"/>
                <a:ea typeface="Calibri" pitchFamily="34" charset="-122"/>
                <a:cs typeface="Calibri" pitchFamily="34" charset="-120"/>
              </a:rPr>
              <a:t>PART 4 — SIX EXCEPTIONS, IN DETAIL</a:t>
            </a:r>
            <a:endParaRPr lang="en-US" sz="1300" dirty="0"/>
          </a:p>
        </p:txBody>
      </p:sp>
      <p:sp>
        <p:nvSpPr>
          <p:cNvPr id="3" name="Text 1"/>
          <p:cNvSpPr/>
          <p:nvPr/>
        </p:nvSpPr>
        <p:spPr>
          <a:xfrm>
            <a:off x="548640" y="2834640"/>
            <a:ext cx="11064240" cy="91440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Six Realistic Contingencies — None of Which Actually Occurred</a:t>
            </a:r>
            <a:endParaRPr lang="en-US" sz="2600" dirty="0"/>
          </a:p>
        </p:txBody>
      </p:sp>
      <p:sp>
        <p:nvSpPr>
          <p:cNvPr id="4" name="Text 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5" name="Text 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C1 · REGULATORY REQUIREMENT &amp; GAP ANALYSIS, WEEKS 5–14</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6221F"/>
                </a:solidFill>
                <a:latin typeface="Calibri" pitchFamily="34" charset="0"/>
                <a:ea typeface="Calibri" pitchFamily="34" charset="-122"/>
                <a:cs typeface="Calibri" pitchFamily="34" charset="-120"/>
              </a:rPr>
              <a:t>A Regulatory Clause Misread During Gap Analysis</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The gap analysis initially reads a Loi 09-08 retention-period clause more leniently than the CNDP's own published guidance actually requires — a misreading that would only surface when Legal's own independent review catches it late in Phase 1. This did not occur.</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Legal's independent review of the gap analysis catching a clause misreading.</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Would extend Phase 1 by one to two weeks while the retention-period control is redesigned against the correct reading.</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Legal independently re-verifies every retention-period clause reading before Phase 1 closes.</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corrected, Legal-verified gap analysis.   </a:t>
            </a:r>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CM, ES · A = ES · C = FPO · S = PM · I = ITL,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C2 · CONTROL DESIGN, WEEKS 15–23</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6221F"/>
                </a:solidFill>
                <a:latin typeface="Calibri" pitchFamily="34" charset="0"/>
                <a:ea typeface="Calibri" pitchFamily="34" charset="-122"/>
                <a:cs typeface="Calibri" pitchFamily="34" charset="-120"/>
              </a:rPr>
              <a:t>Control Design Insufficient for a Specific Data Type</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The general control catalogue, designed for standard HR and customer data, turns out insufficient for health-related data HR holds for occupational-medicine purposes — which Loi 09-08 treats more strictly. This did not occur.</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specific data category found to need stricter controls than the general catalogue provides.</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Would add a targeted control-design cycle for the specific data type, roughly one to two weeks.</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Design a stricter, data-type-specific control layer on top of the general catalogue.</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data-type-specific control addendum.   </a:t>
            </a:r>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FPO, ITL · A = CM · C = ES · S = PM · I =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C3 · REQUIREMENT ANALYSIS–CONTROL DESIGN, WEEKS 5–20</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6221F"/>
                </a:solidFill>
                <a:latin typeface="Calibri" pitchFamily="34" charset="0"/>
                <a:ea typeface="Calibri" pitchFamily="34" charset="-122"/>
                <a:cs typeface="Calibri" pitchFamily="34" charset="-120"/>
              </a:rPr>
              <a:t>A Third-Party Data Processor Missed From Scope</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payroll vendor processing HR personal data on Bouregreg's behalf is missed from the original scope, discovered only when the control catalogue's access-restriction design realizes it has no way to govern a third party's own systems. This did not occur.</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scope review discovering a third-party processor with no governing control.</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Would require a vendor-compliance addendum, adding two to three weeks.</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Extend the control catalogue to cover third-party processor governance via contractual and technical controls.</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vendor-compliance control addendum.   </a:t>
            </a:r>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ES, ITL · A = ES · C = CM · S = PM · I = FPO,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C4 · INTERNAL AUDIT / INDEPENDENT TESTING, WEEKS 40–45</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6221F"/>
                </a:solidFill>
                <a:latin typeface="Calibri" pitchFamily="34" charset="0"/>
                <a:ea typeface="Calibri" pitchFamily="34" charset="-122"/>
                <a:cs typeface="Calibri" pitchFamily="34" charset="-120"/>
              </a:rPr>
              <a:t>The Independent Testing Team Isn't Genuinely Independent</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staff member assigned to the "independent" testing team turns out to have also done configuration work on one of the controls being tested — a genuine independence failure. This did not occur.</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conflict-of-interest review finding testing-team overlap with implementation.</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Would require reassigning the affected control's testing, adding roughly one week.</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Reassign the specific control's testing to a genuinely independent reviewer.</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verified, genuinely independent test result.   </a:t>
            </a:r>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CM · A = CM · C = ES · S = PM · I = FPO, ITL,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C5 · CONTROL IMPLEMENTATION, WEEKS 26–37</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6221F"/>
                </a:solidFill>
                <a:latin typeface="Calibri" pitchFamily="34" charset="0"/>
                <a:ea typeface="Calibri" pitchFamily="34" charset="-122"/>
                <a:cs typeface="Calibri" pitchFamily="34" charset="-120"/>
              </a:rPr>
              <a:t>A Data Incident During Implementation, Before Controls Are Live</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data-handling incident occurs while implementation is still in progress and the new controls aren't live yet, forcing an unplanned test of whether the incident-response process works before it was scheduled to be tested. This did not occur.</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reportable data-handling incident during Control Implementation.</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Would not delay the schedule directly, but would force an immediate, out-of-cycle incident response.</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Run the incident response using whatever process exists at that point; accelerate the specific control that would have prevented the incident.</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documented incident response; an accelerated control fix.   </a:t>
            </a:r>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ITL, FPO · A = ES · C = CM · S = PM · I = SUP,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C6 · ANY PHASE, WEEKS 1–64</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1900" b="1" dirty="0">
                <a:solidFill>
                  <a:srgbClr val="16221F"/>
                </a:solidFill>
                <a:latin typeface="Calibri" pitchFamily="34" charset="0"/>
                <a:ea typeface="Calibri" pitchFamily="34" charset="-122"/>
                <a:cs typeface="Calibri" pitchFamily="34" charset="-120"/>
              </a:rPr>
              <a:t>CNDP Shifts the Audit Date or Scope Mid-Program</a:t>
            </a:r>
            <a:endParaRPr lang="en-US" sz="1900" dirty="0"/>
          </a:p>
        </p:txBody>
      </p:sp>
      <p:sp>
        <p:nvSpPr>
          <p:cNvPr id="4" name="Text 2"/>
          <p:cNvSpPr/>
          <p:nvPr/>
        </p:nvSpPr>
        <p:spPr>
          <a:xfrm>
            <a:off x="548640" y="19202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DESCRIPTION</a:t>
            </a:r>
            <a:endParaRPr lang="en-US" sz="1000" dirty="0"/>
          </a:p>
        </p:txBody>
      </p:sp>
      <p:sp>
        <p:nvSpPr>
          <p:cNvPr id="5" name="Text 3"/>
          <p:cNvSpPr/>
          <p:nvPr/>
        </p:nvSpPr>
        <p:spPr>
          <a:xfrm>
            <a:off x="548640" y="2194560"/>
            <a:ext cx="5257800" cy="17373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The CNDP itself moves the audit date earlier, or expands its stated scope, partway through the program — an external schedule shock this program's own design has no control over. This did not occur.</a:t>
            </a:r>
            <a:endParaRPr lang="en-US" sz="1080" dirty="0"/>
          </a:p>
        </p:txBody>
      </p:sp>
      <p:sp>
        <p:nvSpPr>
          <p:cNvPr id="6" name="Text 4"/>
          <p:cNvSpPr/>
          <p:nvPr/>
        </p:nvSpPr>
        <p:spPr>
          <a:xfrm>
            <a:off x="548640" y="3977640"/>
            <a:ext cx="52578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TRIGGER</a:t>
            </a:r>
            <a:endParaRPr lang="en-US" sz="1000" dirty="0"/>
          </a:p>
        </p:txBody>
      </p:sp>
      <p:sp>
        <p:nvSpPr>
          <p:cNvPr id="7" name="Text 5"/>
          <p:cNvSpPr/>
          <p:nvPr/>
        </p:nvSpPr>
        <p:spPr>
          <a:xfrm>
            <a:off x="548640" y="4251960"/>
            <a:ext cx="5257800" cy="82296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A formal CNDP notice changing the audit date or scope.</a:t>
            </a:r>
            <a:endParaRPr lang="en-US" sz="1080" dirty="0"/>
          </a:p>
        </p:txBody>
      </p:sp>
      <p:sp>
        <p:nvSpPr>
          <p:cNvPr id="8" name="Text 6"/>
          <p:cNvSpPr/>
          <p:nvPr/>
        </p:nvSpPr>
        <p:spPr>
          <a:xfrm>
            <a:off x="6126480" y="192024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TIMELINE IMPACT</a:t>
            </a:r>
            <a:endParaRPr lang="en-US" sz="1000" dirty="0"/>
          </a:p>
        </p:txBody>
      </p:sp>
      <p:sp>
        <p:nvSpPr>
          <p:cNvPr id="9" name="Text 7"/>
          <p:cNvSpPr/>
          <p:nvPr/>
        </p:nvSpPr>
        <p:spPr>
          <a:xfrm>
            <a:off x="6126480" y="2194560"/>
            <a:ext cx="5486400" cy="914400"/>
          </a:xfrm>
          <a:prstGeom prst="rect">
            <a:avLst/>
          </a:prstGeom>
          <a:noFill/>
          <a:ln/>
        </p:spPr>
        <p:txBody>
          <a:bodyPr wrap="square" rtlCol="0" anchor="ctr"/>
          <a:lstStyle/>
          <a:p>
            <a:pPr indent="0" marL="0">
              <a:lnSpc>
                <a:spcPct val="120000"/>
              </a:lnSpc>
              <a:buNone/>
            </a:pPr>
            <a:r>
              <a:rPr lang="en-US" sz="1080" dirty="0">
                <a:solidFill>
                  <a:srgbClr val="16221F"/>
                </a:solidFill>
                <a:latin typeface="Calibri" pitchFamily="34" charset="0"/>
                <a:ea typeface="Calibri" pitchFamily="34" charset="-122"/>
                <a:cs typeface="Calibri" pitchFamily="34" charset="-120"/>
              </a:rPr>
              <a:t>Would force compressing every remaining phase proportionally — the single hardest scenario in the contingency list.</a:t>
            </a:r>
            <a:endParaRPr lang="en-US" sz="1080" dirty="0"/>
          </a:p>
        </p:txBody>
      </p:sp>
      <p:sp>
        <p:nvSpPr>
          <p:cNvPr id="10" name="Text 8"/>
          <p:cNvSpPr/>
          <p:nvPr/>
        </p:nvSpPr>
        <p:spPr>
          <a:xfrm>
            <a:off x="6126480" y="3200400"/>
            <a:ext cx="5486400" cy="256032"/>
          </a:xfrm>
          <a:prstGeom prst="rect">
            <a:avLst/>
          </a:prstGeom>
          <a:noFill/>
          <a:ln/>
        </p:spPr>
        <p:txBody>
          <a:bodyPr wrap="square" rtlCol="0" anchor="ctr"/>
          <a:lstStyle/>
          <a:p>
            <a:pPr indent="0" marL="0">
              <a:buNone/>
            </a:pPr>
            <a:r>
              <a:rPr lang="en-US" sz="1000" b="1" spc="100" kern="0" dirty="0">
                <a:solidFill>
                  <a:srgbClr val="C2661C"/>
                </a:solidFill>
                <a:latin typeface="Calibri" pitchFamily="34" charset="0"/>
                <a:ea typeface="Calibri" pitchFamily="34" charset="-122"/>
                <a:cs typeface="Calibri" pitchFamily="34" charset="-120"/>
              </a:rPr>
              <a:t>RECOVERY TASKS</a:t>
            </a:r>
            <a:endParaRPr lang="en-US" sz="1000" dirty="0"/>
          </a:p>
        </p:txBody>
      </p:sp>
      <p:sp>
        <p:nvSpPr>
          <p:cNvPr id="11" name="Text 9"/>
          <p:cNvSpPr/>
          <p:nvPr/>
        </p:nvSpPr>
        <p:spPr>
          <a:xfrm>
            <a:off x="6126480" y="3474720"/>
            <a:ext cx="5486400" cy="1188720"/>
          </a:xfrm>
          <a:prstGeom prst="rect">
            <a:avLst/>
          </a:prstGeom>
          <a:noFill/>
          <a:ln/>
        </p:spPr>
        <p:txBody>
          <a:bodyPr wrap="square" rtlCol="0" anchor="ctr"/>
          <a:lstStyle/>
          <a:p>
            <a:pPr indent="0" marL="0">
              <a:lnSpc>
                <a:spcPct val="118000"/>
              </a:lnSpc>
              <a:buNone/>
            </a:pPr>
            <a:r>
              <a:rPr lang="en-US" sz="1050" dirty="0">
                <a:solidFill>
                  <a:srgbClr val="16221F"/>
                </a:solidFill>
                <a:latin typeface="Calibri" pitchFamily="34" charset="0"/>
                <a:ea typeface="Calibri" pitchFamily="34" charset="-122"/>
                <a:cs typeface="Calibri" pitchFamily="34" charset="-120"/>
              </a:rPr>
              <a:t>Immediately re-baseline the WBS against the new date; escalate to the Sponsor and Steering Committee for an explicit prioritization decision.</a:t>
            </a:r>
            <a:endParaRPr lang="en-US" sz="1050" dirty="0"/>
          </a:p>
        </p:txBody>
      </p:sp>
      <p:sp>
        <p:nvSpPr>
          <p:cNvPr id="12" name="Shape 10"/>
          <p:cNvSpPr/>
          <p:nvPr/>
        </p:nvSpPr>
        <p:spPr>
          <a:xfrm>
            <a:off x="548640" y="5166360"/>
            <a:ext cx="11064240" cy="960120"/>
          </a:xfrm>
          <a:prstGeom prst="roundRect">
            <a:avLst>
              <a:gd name="adj" fmla="val 4762"/>
            </a:avLst>
          </a:prstGeom>
          <a:solidFill>
            <a:srgbClr val="EAF2EF"/>
          </a:solidFill>
          <a:ln/>
        </p:spPr>
      </p:sp>
      <p:sp>
        <p:nvSpPr>
          <p:cNvPr id="13" name="Text 11"/>
          <p:cNvSpPr/>
          <p:nvPr/>
        </p:nvSpPr>
        <p:spPr>
          <a:xfrm>
            <a:off x="777240" y="5285232"/>
            <a:ext cx="10607040" cy="731520"/>
          </a:xfrm>
          <a:prstGeom prst="rect">
            <a:avLst/>
          </a:prstGeom>
          <a:noFill/>
          <a:ln/>
        </p:spPr>
        <p:txBody>
          <a:bodyPr wrap="square" rtlCol="0" anchor="t"/>
          <a:lstStyle/>
          <a:p>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OUTPUTS: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A re-baselined schedule; a documented prioritization decision if full scope cannot be met.   </a:t>
            </a:r>
            <a:pPr indent="0" marL="0">
              <a:lnSpc>
                <a:spcPct val="120000"/>
              </a:lnSpc>
              <a:buNone/>
            </a:pPr>
            <a:r>
              <a:rPr lang="en-US" sz="1020" b="1" dirty="0">
                <a:solidFill>
                  <a:srgbClr val="16221F"/>
                </a:solidFill>
                <a:latin typeface="Calibri" pitchFamily="34" charset="0"/>
                <a:ea typeface="Calibri" pitchFamily="34" charset="-122"/>
                <a:cs typeface="Calibri" pitchFamily="34" charset="-120"/>
              </a:rPr>
              <a:t>RACSI: </a:t>
            </a:r>
            <a:pPr indent="0" marL="0">
              <a:lnSpc>
                <a:spcPct val="120000"/>
              </a:lnSpc>
              <a:buNone/>
            </a:pPr>
            <a:r>
              <a:rPr lang="en-US" sz="1020" dirty="0">
                <a:solidFill>
                  <a:srgbClr val="16221F"/>
                </a:solidFill>
                <a:latin typeface="Calibri" pitchFamily="34" charset="0"/>
                <a:ea typeface="Calibri" pitchFamily="34" charset="-122"/>
                <a:cs typeface="Calibri" pitchFamily="34" charset="-120"/>
              </a:rPr>
              <a:t>R = PM, CM · A = ES · C = FPO, ITL · S = SUP · I = EU</a:t>
            </a:r>
            <a:endParaRPr lang="en-US" sz="1020" dirty="0"/>
          </a:p>
        </p:txBody>
      </p:sp>
      <p:sp>
        <p:nvSpPr>
          <p:cNvPr id="14" name="Text 12"/>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15" name="Text 13"/>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TRAINING PROGRAM</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What This Training Covers</a:t>
            </a:r>
            <a:endParaRPr lang="en-US" sz="2400" dirty="0"/>
          </a:p>
        </p:txBody>
      </p:sp>
      <p:sp>
        <p:nvSpPr>
          <p:cNvPr id="4" name="Shape 2"/>
          <p:cNvSpPr/>
          <p:nvPr/>
        </p:nvSpPr>
        <p:spPr>
          <a:xfrm>
            <a:off x="548640" y="2011680"/>
            <a:ext cx="11064240" cy="2926080"/>
          </a:xfrm>
          <a:prstGeom prst="roundRect">
            <a:avLst>
              <a:gd name="adj" fmla="val 1563"/>
            </a:avLst>
          </a:prstGeom>
          <a:solidFill>
            <a:srgbClr val="EAF2EF"/>
          </a:solidFill>
          <a:ln/>
        </p:spPr>
      </p:sp>
      <p:sp>
        <p:nvSpPr>
          <p:cNvPr id="5" name="Text 3"/>
          <p:cNvSpPr/>
          <p:nvPr/>
        </p:nvSpPr>
        <p:spPr>
          <a:xfrm>
            <a:off x="822960" y="2286000"/>
            <a:ext cx="10515600" cy="2377440"/>
          </a:xfrm>
          <a:prstGeom prst="rect">
            <a:avLst/>
          </a:prstGeom>
          <a:noFill/>
          <a:ln/>
        </p:spPr>
        <p:txBody>
          <a:bodyPr wrap="square" rtlCol="0" anchor="ctr"/>
          <a:lstStyle/>
          <a:p>
            <a:pPr indent="0" marL="0">
              <a:lnSpc>
                <a:spcPct val="135000"/>
              </a:lnSpc>
              <a:buNone/>
            </a:pPr>
            <a:r>
              <a:rPr lang="en-US" sz="1450" dirty="0">
                <a:solidFill>
                  <a:srgbClr val="16221F"/>
                </a:solidFill>
                <a:latin typeface="Calibri" pitchFamily="34" charset="0"/>
                <a:ea typeface="Calibri" pitchFamily="34" charset="-122"/>
                <a:cs typeface="Calibri" pitchFamily="34" charset="-120"/>
              </a:rPr>
              <a:t>Per the E2E-COMP chain, MP-05 is present — but unlike the Cultural archetype's persuasion-heavy curriculum, this training is built entirely around specific, checkable compliance behaviors, verifiable against the same control checklist independent testers use.</a:t>
            </a:r>
            <a:endParaRPr lang="en-US" sz="145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TIER 1 OF 3</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300" b="1" dirty="0">
                <a:solidFill>
                  <a:srgbClr val="16221F"/>
                </a:solidFill>
                <a:latin typeface="Calibri" pitchFamily="34" charset="0"/>
                <a:ea typeface="Calibri" pitchFamily="34" charset="-122"/>
                <a:cs typeface="Calibri" pitchFamily="34" charset="-120"/>
              </a:rPr>
              <a:t>Strategic Management</a:t>
            </a:r>
            <a:endParaRPr lang="en-US" sz="2300" dirty="0"/>
          </a:p>
        </p:txBody>
      </p:sp>
      <p:sp>
        <p:nvSpPr>
          <p:cNvPr id="4" name="Text 2"/>
          <p:cNvSpPr/>
          <p:nvPr/>
        </p:nvSpPr>
        <p:spPr>
          <a:xfrm>
            <a:off x="548640" y="1417320"/>
            <a:ext cx="11064240" cy="50292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Cohort: Karim Idrissi (Sponsor), function heads  ·  Weeks 1–16</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4114800"/>
                <a:gridCol w="6949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Curriculum Entry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Content Focus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Sponsoring a Fixed-Deadline Compliance Program</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Why a CNDP-facing program cannot treat its own schedule as negotiable.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Reading a Phase Gate Decision Record</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How to read Go/Conditional/No-Go as accountable evidence.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TIER 2 OF 3</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300" b="1" dirty="0">
                <a:solidFill>
                  <a:srgbClr val="16221F"/>
                </a:solidFill>
                <a:latin typeface="Calibri" pitchFamily="34" charset="0"/>
                <a:ea typeface="Calibri" pitchFamily="34" charset="-122"/>
                <a:cs typeface="Calibri" pitchFamily="34" charset="-120"/>
              </a:rPr>
              <a:t>Operational Management</a:t>
            </a:r>
            <a:endParaRPr lang="en-US" sz="2300" dirty="0"/>
          </a:p>
        </p:txBody>
      </p:sp>
      <p:sp>
        <p:nvSpPr>
          <p:cNvPr id="4" name="Text 2"/>
          <p:cNvSpPr/>
          <p:nvPr/>
        </p:nvSpPr>
        <p:spPr>
          <a:xfrm>
            <a:off x="548640" y="1417320"/>
            <a:ext cx="11064240" cy="50292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Cohort: Nadia Squalli (FPO), Amine Tazi (SUP), CS data-privacy coordinator  ·  Weeks 14–52</a:t>
            </a:r>
            <a:endParaRPr lang="en-US" sz="1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4114800"/>
                <a:gridCol w="6949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Curriculum Entry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Content Focus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Operating the Control Design Checklist</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Consent capture, data minimization, and retention limits as specific, checkable steps.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Preparing a Function for Independent Testing</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What testers actually check, and how to have evidence ready.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Running the First Monitoring Cycle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Keeping the checklist live after go-live, not just at the moment of testing.</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TIER 3 OF 3</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300" b="1" dirty="0">
                <a:solidFill>
                  <a:srgbClr val="16221F"/>
                </a:solidFill>
                <a:latin typeface="Calibri" pitchFamily="34" charset="0"/>
                <a:ea typeface="Calibri" pitchFamily="34" charset="-122"/>
                <a:cs typeface="Calibri" pitchFamily="34" charset="-120"/>
              </a:rPr>
              <a:t>Operations (Frontline)</a:t>
            </a:r>
            <a:endParaRPr lang="en-US" sz="2300" dirty="0"/>
          </a:p>
        </p:txBody>
      </p:sp>
      <p:sp>
        <p:nvSpPr>
          <p:cNvPr id="4" name="Text 2"/>
          <p:cNvSpPr/>
          <p:nvPr/>
        </p:nvSpPr>
        <p:spPr>
          <a:xfrm>
            <a:off x="548640" y="1417320"/>
            <a:ext cx="11064240" cy="502920"/>
          </a:xfrm>
          <a:prstGeom prst="rect">
            <a:avLst/>
          </a:prstGeom>
          <a:noFill/>
          <a:ln/>
        </p:spPr>
        <p:txBody>
          <a:bodyPr wrap="square" rtlCol="0" anchor="t"/>
          <a:lstStyle/>
          <a:p>
            <a:pPr indent="0" marL="0">
              <a:lnSpc>
                <a:spcPct val="115000"/>
              </a:lnSpc>
              <a:buNone/>
            </a:pPr>
            <a:r>
              <a:rPr lang="en-US" sz="1200" dirty="0">
                <a:solidFill>
                  <a:srgbClr val="5C6D68"/>
                </a:solidFill>
                <a:latin typeface="Calibri" pitchFamily="34" charset="0"/>
                <a:ea typeface="Calibri" pitchFamily="34" charset="-122"/>
                <a:cs typeface="Calibri" pitchFamily="34" charset="-120"/>
              </a:rPr>
              <a:t>Cohort: All 310 HR, Sales, and Customer Service staff  ·  Weeks 40–52</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4114800"/>
                <a:gridCol w="69494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Curriculum Entry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Content Focus</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16221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Handling a Data Subject Access Request</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The specific, checkable steps for responding within the legally required window.</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Data Minimization in Daily Sales and CRM Entry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Exactly what personal-data fields are and are not to be captured.</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Recognizing and Reporting a Suspected Data Incident</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A specific action sequence, rehearsed, not a general "be careful" message.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Retention Schedule Compliance</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c>
                  <a:txBody>
                    <a:bodyPr/>
                    <a:lstStyle/>
                    <a:p>
                      <a:pPr indent="0" marL="0">
                        <a:buNone/>
                      </a:pPr>
                      <a:r>
                        <a:rPr lang="en-US" sz="1150" dirty="0">
                          <a:solidFill>
                            <a:srgbClr val="16221F"/>
                          </a:solidFill>
                          <a:latin typeface="Calibri" pitchFamily="34" charset="0"/>
                          <a:ea typeface="Calibri" pitchFamily="34" charset="-122"/>
                          <a:cs typeface="Calibri" pitchFamily="34" charset="-120"/>
                        </a:rPr>
                        <a:t>Specific retention periods and deletion triggers per data category.</a:t>
                      </a:r>
                      <a:endParaRPr lang="en-US" sz="1150" dirty="0">
                        <a:latin typeface="Calibri" charset="0"/>
                        <a:ea typeface="Calibri" charset="0"/>
                        <a:cs typeface="Calibri" charset="0"/>
                      </a:endParaRPr>
                    </a:p>
                  </a:txBody>
                  <a:tcPr marL="91440" marR="91440" marT="45720" marB="45720" anchor="ctr">
                    <a:lnL w="9525" cap="flat" cmpd="sng" algn="ctr">
                      <a:solidFill>
                        <a:srgbClr val="DBE6E3"/>
                      </a:solidFill>
                      <a:prstDash val="solid"/>
                      <a:round/>
                      <a:headEnd type="none" w="med" len="med"/>
                      <a:tailEnd type="none" w="med" len="med"/>
                    </a:lnL>
                    <a:lnR w="9525" cap="flat" cmpd="sng" algn="ctr">
                      <a:solidFill>
                        <a:srgbClr val="DBE6E3"/>
                      </a:solidFill>
                      <a:prstDash val="solid"/>
                      <a:round/>
                      <a:headEnd type="none" w="med" len="med"/>
                      <a:tailEnd type="none" w="med" len="med"/>
                    </a:lnR>
                    <a:lnT w="9525" cap="flat" cmpd="sng" algn="ctr">
                      <a:solidFill>
                        <a:srgbClr val="DBE6E3"/>
                      </a:solidFill>
                      <a:prstDash val="solid"/>
                      <a:round/>
                      <a:headEnd type="none" w="med" len="med"/>
                      <a:tailEnd type="none" w="med" len="med"/>
                    </a:lnT>
                    <a:lnB w="9525" cap="flat" cmpd="sng" algn="ctr">
                      <a:solidFill>
                        <a:srgbClr val="DBE6E3"/>
                      </a:solidFill>
                      <a:prstDash val="solid"/>
                      <a:round/>
                      <a:headEnd type="none" w="med" len="med"/>
                      <a:tailEnd type="none" w="med" len="med"/>
                    </a:lnB>
                    <a:solidFill>
                      <a:srgbClr val="EAF2EF"/>
                    </a:solidFill>
                  </a:tcPr>
                </a:tc>
              </a:tr>
            </a:tbl>
          </a:graphicData>
        </a:graphic>
      </p:graphicFrame>
      <p:sp>
        <p:nvSpPr>
          <p:cNvPr id="6" name="Text 3"/>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PART 5 — TRAINING PROGRAM</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Why This Curriculum Is Shaped This Way</a:t>
            </a:r>
            <a:endParaRPr lang="en-US" sz="2200" dirty="0"/>
          </a:p>
        </p:txBody>
      </p:sp>
      <p:sp>
        <p:nvSpPr>
          <p:cNvPr id="4" name="Shape 2"/>
          <p:cNvSpPr/>
          <p:nvPr/>
        </p:nvSpPr>
        <p:spPr>
          <a:xfrm>
            <a:off x="548640" y="2011680"/>
            <a:ext cx="11064240" cy="2926080"/>
          </a:xfrm>
          <a:prstGeom prst="roundRect">
            <a:avLst>
              <a:gd name="adj" fmla="val 1563"/>
            </a:avLst>
          </a:prstGeom>
          <a:solidFill>
            <a:srgbClr val="FFFFFF"/>
          </a:solidFill>
          <a:ln/>
          <a:effectLst>
            <a:outerShdw sx="100000" sy="100000" kx="0" ky="0" algn="bl" rotWithShape="0" blurRad="1.6780660754280665e+132" dist="6.2927477828552495e+131" dir="7.162794998951762e+154">
              <a:srgbClr val="1B2E2B">
                <a:alpha val="1.800000000000001e+159"/>
              </a:srgbClr>
            </a:outerShdw>
          </a:effectLst>
        </p:spPr>
      </p:sp>
      <p:sp>
        <p:nvSpPr>
          <p:cNvPr id="5" name="Text 3"/>
          <p:cNvSpPr/>
          <p:nvPr/>
        </p:nvSpPr>
        <p:spPr>
          <a:xfrm>
            <a:off x="822960" y="2286000"/>
            <a:ext cx="10515600" cy="2377440"/>
          </a:xfrm>
          <a:prstGeom prst="rect">
            <a:avLst/>
          </a:prstGeom>
          <a:noFill/>
          <a:ln/>
        </p:spPr>
        <p:txBody>
          <a:bodyPr wrap="square" rtlCol="0" anchor="ctr"/>
          <a:lstStyle/>
          <a:p>
            <a:pPr indent="0" marL="0">
              <a:lnSpc>
                <a:spcPct val="135000"/>
              </a:lnSpc>
              <a:buNone/>
            </a:pPr>
            <a:r>
              <a:rPr lang="en-US" sz="1400" i="1" dirty="0">
                <a:solidFill>
                  <a:srgbClr val="16221F"/>
                </a:solidFill>
                <a:latin typeface="Calibri" pitchFamily="34" charset="0"/>
                <a:ea typeface="Calibri" pitchFamily="34" charset="-122"/>
                <a:cs typeface="Calibri" pitchFamily="34" charset="-120"/>
              </a:rPr>
              <a:t>Training completion here is a direct, auditable input to the same evidence package CNDP itself may review — unlike every other guide in this series, this program carries no coaching or reinforcement track of its own, because a compliance behavior either happened correctly or it did not.</a:t>
            </a:r>
            <a:endParaRPr lang="en-US" sz="1400" dirty="0"/>
          </a:p>
        </p:txBody>
      </p:sp>
      <p:sp>
        <p:nvSpPr>
          <p:cNvPr id="6" name="Text 4"/>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7" name="Text 5"/>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CROSS-REFERENCE</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200" b="1" dirty="0">
                <a:solidFill>
                  <a:srgbClr val="16221F"/>
                </a:solidFill>
                <a:latin typeface="Calibri" pitchFamily="34" charset="0"/>
                <a:ea typeface="Calibri" pitchFamily="34" charset="-122"/>
                <a:cs typeface="Calibri" pitchFamily="34" charset="-120"/>
              </a:rPr>
              <a:t>Which journi Modules Dominate This Archetype</a:t>
            </a:r>
            <a:endParaRPr lang="en-US" sz="2200" dirty="0"/>
          </a:p>
        </p:txBody>
      </p:sp>
      <p:sp>
        <p:nvSpPr>
          <p:cNvPr id="4" name="Shape 2"/>
          <p:cNvSpPr/>
          <p:nvPr/>
        </p:nvSpPr>
        <p:spPr>
          <a:xfrm>
            <a:off x="548640" y="2057400"/>
            <a:ext cx="11064240" cy="713232"/>
          </a:xfrm>
          <a:prstGeom prst="roundRect">
            <a:avLst>
              <a:gd name="adj" fmla="val 6410"/>
            </a:avLst>
          </a:prstGeom>
          <a:solidFill>
            <a:srgbClr val="EAF2EF"/>
          </a:solidFill>
          <a:ln/>
        </p:spPr>
      </p:sp>
      <p:sp>
        <p:nvSpPr>
          <p:cNvPr id="5" name="Text 3"/>
          <p:cNvSpPr/>
          <p:nvPr/>
        </p:nvSpPr>
        <p:spPr>
          <a:xfrm>
            <a:off x="777240" y="2130552"/>
            <a:ext cx="3017520" cy="566928"/>
          </a:xfrm>
          <a:prstGeom prst="rect">
            <a:avLst/>
          </a:prstGeom>
          <a:noFill/>
          <a:ln/>
        </p:spPr>
        <p:txBody>
          <a:bodyPr wrap="square" rtlCol="0" anchor="ctr"/>
          <a:lstStyle/>
          <a:p>
            <a:pPr indent="0" marL="0">
              <a:lnSpc>
                <a:spcPct val="110000"/>
              </a:lnSpc>
              <a:buNone/>
            </a:pPr>
            <a:r>
              <a:rPr lang="en-US" sz="1200" b="1" dirty="0">
                <a:solidFill>
                  <a:srgbClr val="16221F"/>
                </a:solidFill>
                <a:latin typeface="Calibri" pitchFamily="34" charset="0"/>
                <a:ea typeface="Calibri" pitchFamily="34" charset="-122"/>
                <a:cs typeface="Calibri" pitchFamily="34" charset="-120"/>
              </a:rPr>
              <a:t>M17 (WBS &amp; Gantt)</a:t>
            </a:r>
            <a:endParaRPr lang="en-US" sz="1200" dirty="0"/>
          </a:p>
        </p:txBody>
      </p:sp>
      <p:sp>
        <p:nvSpPr>
          <p:cNvPr id="6" name="Text 4"/>
          <p:cNvSpPr/>
          <p:nvPr/>
        </p:nvSpPr>
        <p:spPr>
          <a:xfrm>
            <a:off x="3886200" y="2130552"/>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The TPL-COMP-7 template — every phase gate dated against a fixed external deadline.</a:t>
            </a:r>
            <a:endParaRPr lang="en-US" sz="1100" dirty="0"/>
          </a:p>
        </p:txBody>
      </p:sp>
      <p:sp>
        <p:nvSpPr>
          <p:cNvPr id="7" name="Shape 5"/>
          <p:cNvSpPr/>
          <p:nvPr/>
        </p:nvSpPr>
        <p:spPr>
          <a:xfrm>
            <a:off x="548640" y="2843784"/>
            <a:ext cx="11064240" cy="713232"/>
          </a:xfrm>
          <a:prstGeom prst="roundRect">
            <a:avLst>
              <a:gd name="adj" fmla="val 6410"/>
            </a:avLst>
          </a:prstGeom>
          <a:solidFill>
            <a:srgbClr val="EAF2EF"/>
          </a:solidFill>
          <a:ln/>
        </p:spPr>
      </p:sp>
      <p:sp>
        <p:nvSpPr>
          <p:cNvPr id="8" name="Text 6"/>
          <p:cNvSpPr/>
          <p:nvPr/>
        </p:nvSpPr>
        <p:spPr>
          <a:xfrm>
            <a:off x="777240" y="2916936"/>
            <a:ext cx="3017520" cy="566928"/>
          </a:xfrm>
          <a:prstGeom prst="rect">
            <a:avLst/>
          </a:prstGeom>
          <a:noFill/>
          <a:ln/>
        </p:spPr>
        <p:txBody>
          <a:bodyPr wrap="square" rtlCol="0" anchor="ctr"/>
          <a:lstStyle/>
          <a:p>
            <a:pPr indent="0" marL="0">
              <a:lnSpc>
                <a:spcPct val="110000"/>
              </a:lnSpc>
              <a:buNone/>
            </a:pPr>
            <a:r>
              <a:rPr lang="en-US" sz="1200" b="1" dirty="0">
                <a:solidFill>
                  <a:srgbClr val="16221F"/>
                </a:solidFill>
                <a:latin typeface="Calibri" pitchFamily="34" charset="0"/>
                <a:ea typeface="Calibri" pitchFamily="34" charset="-122"/>
                <a:cs typeface="Calibri" pitchFamily="34" charset="-120"/>
              </a:rPr>
              <a:t>M5 (ADKAR Engine)</a:t>
            </a:r>
            <a:endParaRPr lang="en-US" sz="1200" dirty="0"/>
          </a:p>
        </p:txBody>
      </p:sp>
      <p:sp>
        <p:nvSpPr>
          <p:cNvPr id="9" name="Text 7"/>
          <p:cNvSpPr/>
          <p:nvPr/>
        </p:nvSpPr>
        <p:spPr>
          <a:xfrm>
            <a:off x="3886200" y="2916936"/>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Awareness and Ability scored against specific, checkable rules — not general sentiment.</a:t>
            </a:r>
            <a:endParaRPr lang="en-US" sz="1100" dirty="0"/>
          </a:p>
        </p:txBody>
      </p:sp>
      <p:sp>
        <p:nvSpPr>
          <p:cNvPr id="10" name="Shape 8"/>
          <p:cNvSpPr/>
          <p:nvPr/>
        </p:nvSpPr>
        <p:spPr>
          <a:xfrm>
            <a:off x="548640" y="3630168"/>
            <a:ext cx="11064240" cy="713232"/>
          </a:xfrm>
          <a:prstGeom prst="roundRect">
            <a:avLst>
              <a:gd name="adj" fmla="val 6410"/>
            </a:avLst>
          </a:prstGeom>
          <a:solidFill>
            <a:srgbClr val="EAF2EF"/>
          </a:solidFill>
          <a:ln/>
        </p:spPr>
      </p:sp>
      <p:sp>
        <p:nvSpPr>
          <p:cNvPr id="11" name="Text 9"/>
          <p:cNvSpPr/>
          <p:nvPr/>
        </p:nvSpPr>
        <p:spPr>
          <a:xfrm>
            <a:off x="777240" y="3703320"/>
            <a:ext cx="3017520" cy="566928"/>
          </a:xfrm>
          <a:prstGeom prst="rect">
            <a:avLst/>
          </a:prstGeom>
          <a:noFill/>
          <a:ln/>
        </p:spPr>
        <p:txBody>
          <a:bodyPr wrap="square" rtlCol="0" anchor="ctr"/>
          <a:lstStyle/>
          <a:p>
            <a:pPr indent="0" marL="0">
              <a:lnSpc>
                <a:spcPct val="110000"/>
              </a:lnSpc>
              <a:buNone/>
            </a:pPr>
            <a:r>
              <a:rPr lang="en-US" sz="1200" b="1" dirty="0">
                <a:solidFill>
                  <a:srgbClr val="16221F"/>
                </a:solidFill>
                <a:latin typeface="Calibri" pitchFamily="34" charset="0"/>
                <a:ea typeface="Calibri" pitchFamily="34" charset="-122"/>
                <a:cs typeface="Calibri" pitchFamily="34" charset="-120"/>
              </a:rPr>
              <a:t>M19 (Charter Registry)</a:t>
            </a:r>
            <a:endParaRPr lang="en-US" sz="1200" dirty="0"/>
          </a:p>
        </p:txBody>
      </p:sp>
      <p:sp>
        <p:nvSpPr>
          <p:cNvPr id="12" name="Text 10"/>
          <p:cNvSpPr/>
          <p:nvPr/>
        </p:nvSpPr>
        <p:spPr>
          <a:xfrm>
            <a:off x="3886200" y="3703320"/>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Formal charters matter more here given the external regulator relationship.</a:t>
            </a:r>
            <a:endParaRPr lang="en-US" sz="1100" dirty="0"/>
          </a:p>
        </p:txBody>
      </p:sp>
      <p:sp>
        <p:nvSpPr>
          <p:cNvPr id="13" name="Shape 11"/>
          <p:cNvSpPr/>
          <p:nvPr/>
        </p:nvSpPr>
        <p:spPr>
          <a:xfrm>
            <a:off x="548640" y="4416552"/>
            <a:ext cx="11064240" cy="713232"/>
          </a:xfrm>
          <a:prstGeom prst="roundRect">
            <a:avLst>
              <a:gd name="adj" fmla="val 6410"/>
            </a:avLst>
          </a:prstGeom>
          <a:solidFill>
            <a:srgbClr val="EAF2EF"/>
          </a:solidFill>
          <a:ln/>
        </p:spPr>
      </p:sp>
      <p:sp>
        <p:nvSpPr>
          <p:cNvPr id="14" name="Text 12"/>
          <p:cNvSpPr/>
          <p:nvPr/>
        </p:nvSpPr>
        <p:spPr>
          <a:xfrm>
            <a:off x="777240" y="4489704"/>
            <a:ext cx="3017520" cy="566928"/>
          </a:xfrm>
          <a:prstGeom prst="rect">
            <a:avLst/>
          </a:prstGeom>
          <a:noFill/>
          <a:ln/>
        </p:spPr>
        <p:txBody>
          <a:bodyPr wrap="square" rtlCol="0" anchor="ctr"/>
          <a:lstStyle/>
          <a:p>
            <a:pPr indent="0" marL="0">
              <a:lnSpc>
                <a:spcPct val="110000"/>
              </a:lnSpc>
              <a:buNone/>
            </a:pPr>
            <a:r>
              <a:rPr lang="en-US" sz="1200" b="1" dirty="0">
                <a:solidFill>
                  <a:srgbClr val="16221F"/>
                </a:solidFill>
                <a:latin typeface="Calibri" pitchFamily="34" charset="0"/>
                <a:ea typeface="Calibri" pitchFamily="34" charset="-122"/>
                <a:cs typeface="Calibri" pitchFamily="34" charset="-120"/>
              </a:rPr>
              <a:t>M9 (Training)</a:t>
            </a:r>
            <a:endParaRPr lang="en-US" sz="1200" dirty="0"/>
          </a:p>
        </p:txBody>
      </p:sp>
      <p:sp>
        <p:nvSpPr>
          <p:cNvPr id="15" name="Text 13"/>
          <p:cNvSpPr/>
          <p:nvPr/>
        </p:nvSpPr>
        <p:spPr>
          <a:xfrm>
            <a:off x="3886200" y="4489704"/>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Checkable-behavior training — data handling, retention, access requests — not persuasion.</a:t>
            </a:r>
            <a:endParaRPr lang="en-US" sz="1100" dirty="0"/>
          </a:p>
        </p:txBody>
      </p:sp>
      <p:sp>
        <p:nvSpPr>
          <p:cNvPr id="16" name="Shape 14"/>
          <p:cNvSpPr/>
          <p:nvPr/>
        </p:nvSpPr>
        <p:spPr>
          <a:xfrm>
            <a:off x="548640" y="5202936"/>
            <a:ext cx="11064240" cy="713232"/>
          </a:xfrm>
          <a:prstGeom prst="roundRect">
            <a:avLst>
              <a:gd name="adj" fmla="val 6410"/>
            </a:avLst>
          </a:prstGeom>
          <a:solidFill>
            <a:srgbClr val="EAF2EF"/>
          </a:solidFill>
          <a:ln/>
        </p:spPr>
      </p:sp>
      <p:sp>
        <p:nvSpPr>
          <p:cNvPr id="17" name="Text 15"/>
          <p:cNvSpPr/>
          <p:nvPr/>
        </p:nvSpPr>
        <p:spPr>
          <a:xfrm>
            <a:off x="777240" y="5276088"/>
            <a:ext cx="3017520" cy="566928"/>
          </a:xfrm>
          <a:prstGeom prst="rect">
            <a:avLst/>
          </a:prstGeom>
          <a:noFill/>
          <a:ln/>
        </p:spPr>
        <p:txBody>
          <a:bodyPr wrap="square" rtlCol="0" anchor="ctr"/>
          <a:lstStyle/>
          <a:p>
            <a:pPr indent="0" marL="0">
              <a:lnSpc>
                <a:spcPct val="110000"/>
              </a:lnSpc>
              <a:buNone/>
            </a:pPr>
            <a:r>
              <a:rPr lang="en-US" sz="1200" b="1" dirty="0">
                <a:solidFill>
                  <a:srgbClr val="16221F"/>
                </a:solidFill>
                <a:latin typeface="Calibri" pitchFamily="34" charset="0"/>
                <a:ea typeface="Calibri" pitchFamily="34" charset="-122"/>
                <a:cs typeface="Calibri" pitchFamily="34" charset="-120"/>
              </a:rPr>
              <a:t>M12 (Sustainment)</a:t>
            </a:r>
            <a:endParaRPr lang="en-US" sz="1200" dirty="0"/>
          </a:p>
        </p:txBody>
      </p:sp>
      <p:sp>
        <p:nvSpPr>
          <p:cNvPr id="18" name="Text 16"/>
          <p:cNvSpPr/>
          <p:nvPr/>
        </p:nvSpPr>
        <p:spPr>
          <a:xfrm>
            <a:off x="3886200" y="5276088"/>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The First Monitoring Cycle — the direct mechanism behind seven consecutive clean gates.</a:t>
            </a:r>
            <a:endParaRPr lang="en-US" sz="1100" dirty="0"/>
          </a:p>
        </p:txBody>
      </p:sp>
      <p:sp>
        <p:nvSpPr>
          <p:cNvPr id="19" name="Shape 17"/>
          <p:cNvSpPr/>
          <p:nvPr/>
        </p:nvSpPr>
        <p:spPr>
          <a:xfrm>
            <a:off x="548640" y="5989320"/>
            <a:ext cx="11064240" cy="713232"/>
          </a:xfrm>
          <a:prstGeom prst="roundRect">
            <a:avLst>
              <a:gd name="adj" fmla="val 6410"/>
            </a:avLst>
          </a:prstGeom>
          <a:solidFill>
            <a:srgbClr val="EAF2EF"/>
          </a:solidFill>
          <a:ln/>
        </p:spPr>
      </p:sp>
      <p:sp>
        <p:nvSpPr>
          <p:cNvPr id="20" name="Text 18"/>
          <p:cNvSpPr/>
          <p:nvPr/>
        </p:nvSpPr>
        <p:spPr>
          <a:xfrm>
            <a:off x="777240" y="6062472"/>
            <a:ext cx="3017520" cy="566928"/>
          </a:xfrm>
          <a:prstGeom prst="rect">
            <a:avLst/>
          </a:prstGeom>
          <a:noFill/>
          <a:ln/>
        </p:spPr>
        <p:txBody>
          <a:bodyPr wrap="square" rtlCol="0" anchor="ctr"/>
          <a:lstStyle/>
          <a:p>
            <a:pPr indent="0" marL="0">
              <a:lnSpc>
                <a:spcPct val="110000"/>
              </a:lnSpc>
              <a:buNone/>
            </a:pPr>
            <a:r>
              <a:rPr lang="en-US" sz="1200" b="1" dirty="0">
                <a:solidFill>
                  <a:srgbClr val="16221F"/>
                </a:solidFill>
                <a:latin typeface="Calibri" pitchFamily="34" charset="0"/>
                <a:ea typeface="Calibri" pitchFamily="34" charset="-122"/>
                <a:cs typeface="Calibri" pitchFamily="34" charset="-120"/>
              </a:rPr>
              <a:t>M3 (Initiative Registry)</a:t>
            </a:r>
            <a:endParaRPr lang="en-US" sz="1200" dirty="0"/>
          </a:p>
        </p:txBody>
      </p:sp>
      <p:sp>
        <p:nvSpPr>
          <p:cNvPr id="21" name="Text 19"/>
          <p:cNvSpPr/>
          <p:nvPr/>
        </p:nvSpPr>
        <p:spPr>
          <a:xfrm>
            <a:off x="3886200" y="6062472"/>
            <a:ext cx="7543800" cy="566928"/>
          </a:xfrm>
          <a:prstGeom prst="rect">
            <a:avLst/>
          </a:prstGeom>
          <a:noFill/>
          <a:ln/>
        </p:spPr>
        <p:txBody>
          <a:bodyPr wrap="square" rtlCol="0" anchor="ctr"/>
          <a:lstStyle/>
          <a:p>
            <a:pPr indent="0" marL="0">
              <a:lnSpc>
                <a:spcPct val="115000"/>
              </a:lnSpc>
              <a:buNone/>
            </a:pPr>
            <a:r>
              <a:rPr lang="en-US" sz="1100" dirty="0">
                <a:solidFill>
                  <a:srgbClr val="16221F"/>
                </a:solidFill>
                <a:latin typeface="Calibri" pitchFamily="34" charset="0"/>
                <a:ea typeface="Calibri" pitchFamily="34" charset="-122"/>
                <a:cs typeface="Calibri" pitchFamily="34" charset="-120"/>
              </a:rPr>
              <a:t>A deliberately sequenced go-live date, timed against a sibling program's own critical week.</a:t>
            </a:r>
            <a:endParaRPr lang="en-US" sz="1100" dirty="0"/>
          </a:p>
        </p:txBody>
      </p:sp>
      <p:sp>
        <p:nvSpPr>
          <p:cNvPr id="22" name="Text 20"/>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23" name="Text 21"/>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6221F"/>
        </a:solidFill>
      </p:bgPr>
    </p:bg>
    <p:spTree>
      <p:nvGrpSpPr>
        <p:cNvPr id="1" name=""/>
        <p:cNvGrpSpPr/>
        <p:nvPr/>
      </p:nvGrpSpPr>
      <p:grpSpPr>
        <a:xfrm>
          <a:off x="0" y="0"/>
          <a:ext cx="0" cy="0"/>
          <a:chOff x="0" y="0"/>
          <a:chExt cx="0" cy="0"/>
        </a:xfrm>
      </p:grpSpPr>
      <p:sp>
        <p:nvSpPr>
          <p:cNvPr id="2" name="Text 0"/>
          <p:cNvSpPr/>
          <p:nvPr/>
        </p:nvSpPr>
        <p:spPr>
          <a:xfrm>
            <a:off x="548640" y="457200"/>
            <a:ext cx="1005840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ALERTS &amp; PROOF</a:t>
            </a:r>
            <a:endParaRPr lang="en-US" sz="1250" dirty="0"/>
          </a:p>
        </p:txBody>
      </p:sp>
      <p:sp>
        <p:nvSpPr>
          <p:cNvPr id="3" name="Text 1"/>
          <p:cNvSpPr/>
          <p:nvPr/>
        </p:nvSpPr>
        <p:spPr>
          <a:xfrm>
            <a:off x="548640" y="804672"/>
            <a:ext cx="10972800" cy="777240"/>
          </a:xfrm>
          <a:prstGeom prst="rect">
            <a:avLst/>
          </a:prstGeom>
          <a:noFill/>
          <a:ln/>
        </p:spPr>
        <p:txBody>
          <a:bodyPr wrap="square"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What This Case Proves By Not Firing</a:t>
            </a:r>
            <a:endParaRPr lang="en-US" sz="2700" dirty="0"/>
          </a:p>
        </p:txBody>
      </p:sp>
      <p:sp>
        <p:nvSpPr>
          <p:cNvPr id="4" name="Shape 2"/>
          <p:cNvSpPr/>
          <p:nvPr/>
        </p:nvSpPr>
        <p:spPr>
          <a:xfrm>
            <a:off x="548640" y="1920240"/>
            <a:ext cx="11064240" cy="1737360"/>
          </a:xfrm>
          <a:prstGeom prst="roundRect">
            <a:avLst>
              <a:gd name="adj" fmla="val 2632"/>
            </a:avLst>
          </a:prstGeom>
          <a:solidFill>
            <a:srgbClr val="FFFFFF"/>
          </a:solidFill>
          <a:ln/>
        </p:spPr>
      </p:sp>
      <p:sp>
        <p:nvSpPr>
          <p:cNvPr id="5" name="Text 3"/>
          <p:cNvSpPr/>
          <p:nvPr/>
        </p:nvSpPr>
        <p:spPr>
          <a:xfrm>
            <a:off x="777240" y="210312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NO LIVE ALERT FIRES IN THIS PROGRAM'S REAL RECORD</a:t>
            </a:r>
            <a:endParaRPr lang="en-US" sz="1050" dirty="0"/>
          </a:p>
        </p:txBody>
      </p:sp>
      <p:sp>
        <p:nvSpPr>
          <p:cNvPr id="6" name="Text 4"/>
          <p:cNvSpPr/>
          <p:nvPr/>
        </p:nvSpPr>
        <p:spPr>
          <a:xfrm>
            <a:off x="777240" y="2423160"/>
            <a:ext cx="10607040" cy="1097280"/>
          </a:xfrm>
          <a:prstGeom prst="rect">
            <a:avLst/>
          </a:prstGeom>
          <a:noFill/>
          <a:ln/>
        </p:spPr>
        <p:txBody>
          <a:bodyPr wrap="square" rtlCol="0" anchor="ctr"/>
          <a:lstStyle/>
          <a:p>
            <a:pPr indent="0" marL="0">
              <a:lnSpc>
                <a:spcPct val="135000"/>
              </a:lnSpc>
              <a:buNone/>
            </a:pPr>
            <a:r>
              <a:rPr lang="en-US" sz="1400" b="1" dirty="0">
                <a:solidFill>
                  <a:srgbClr val="16221F"/>
                </a:solidFill>
                <a:latin typeface="Calibri" pitchFamily="34" charset="0"/>
                <a:ea typeface="Calibri" pitchFamily="34" charset="-122"/>
                <a:cs typeface="Calibri" pitchFamily="34" charset="-120"/>
              </a:rPr>
              <a:t>Stated plainly, not manufactured — a clean record reported as a clean record.</a:t>
            </a:r>
            <a:endParaRPr lang="en-US" sz="1400" dirty="0"/>
          </a:p>
        </p:txBody>
      </p:sp>
      <p:sp>
        <p:nvSpPr>
          <p:cNvPr id="7" name="Shape 5"/>
          <p:cNvSpPr/>
          <p:nvPr/>
        </p:nvSpPr>
        <p:spPr>
          <a:xfrm>
            <a:off x="548640" y="3840480"/>
            <a:ext cx="11064240" cy="2286000"/>
          </a:xfrm>
          <a:prstGeom prst="roundRect">
            <a:avLst>
              <a:gd name="adj" fmla="val 2000"/>
            </a:avLst>
          </a:prstGeom>
          <a:solidFill>
            <a:srgbClr val="FFFFFF"/>
          </a:solidFill>
          <a:ln/>
        </p:spPr>
      </p:sp>
      <p:sp>
        <p:nvSpPr>
          <p:cNvPr id="8" name="Text 6"/>
          <p:cNvSpPr/>
          <p:nvPr/>
        </p:nvSpPr>
        <p:spPr>
          <a:xfrm>
            <a:off x="777240" y="3977640"/>
            <a:ext cx="10607040" cy="274320"/>
          </a:xfrm>
          <a:prstGeom prst="rect">
            <a:avLst/>
          </a:prstGeom>
          <a:noFill/>
          <a:ln/>
        </p:spPr>
        <p:txBody>
          <a:bodyPr wrap="square" rtlCol="0" anchor="ctr"/>
          <a:lstStyle/>
          <a:p>
            <a:pPr indent="0" marL="0">
              <a:buNone/>
            </a:pPr>
            <a:r>
              <a:rPr lang="en-US" sz="1050" b="1" spc="100" kern="0" dirty="0">
                <a:solidFill>
                  <a:srgbClr val="16221F"/>
                </a:solidFill>
                <a:latin typeface="Calibri" pitchFamily="34" charset="0"/>
                <a:ea typeface="Calibri" pitchFamily="34" charset="-122"/>
                <a:cs typeface="Calibri" pitchFamily="34" charset="-120"/>
              </a:rPr>
              <a:t>WHY</a:t>
            </a:r>
            <a:endParaRPr lang="en-US" sz="1050" dirty="0"/>
          </a:p>
        </p:txBody>
      </p:sp>
      <p:sp>
        <p:nvSpPr>
          <p:cNvPr id="9" name="Text 7"/>
          <p:cNvSpPr/>
          <p:nvPr/>
        </p:nvSpPr>
        <p:spPr>
          <a:xfrm>
            <a:off x="777240" y="4279392"/>
            <a:ext cx="10607040" cy="1737360"/>
          </a:xfrm>
          <a:prstGeom prst="rect">
            <a:avLst/>
          </a:prstGeom>
          <a:noFill/>
          <a:ln/>
        </p:spPr>
        <p:txBody>
          <a:bodyPr wrap="square" rtlCol="0" anchor="ctr"/>
          <a:lstStyle/>
          <a:p>
            <a:pPr indent="0" marL="0">
              <a:lnSpc>
                <a:spcPct val="130000"/>
              </a:lnSpc>
              <a:buNone/>
            </a:pPr>
            <a:r>
              <a:rPr lang="en-US" sz="1300" dirty="0">
                <a:solidFill>
                  <a:srgbClr val="16221F"/>
                </a:solidFill>
                <a:latin typeface="Calibri" pitchFamily="34" charset="0"/>
                <a:ea typeface="Calibri" pitchFamily="34" charset="-122"/>
                <a:cs typeface="Calibri" pitchFamily="34" charset="-120"/>
              </a:rPr>
              <a:t>None fire in this program's real record — every Phase Gate closes Go, on schedule, which is the entire point: ALT-009 (Phase Gate No-Go/Conditional) matters most here precisely because it does not fire.</a:t>
            </a:r>
            <a:endParaRPr lang="en-US" sz="1300" dirty="0"/>
          </a:p>
        </p:txBody>
      </p:sp>
      <p:sp>
        <p:nvSpPr>
          <p:cNvPr id="10" name="Text 8"/>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CFE3DD"/>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11" name="Text 9"/>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CFE3DD"/>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515600" cy="292608"/>
          </a:xfrm>
          <a:prstGeom prst="rect">
            <a:avLst/>
          </a:prstGeom>
          <a:noFill/>
          <a:ln/>
        </p:spPr>
        <p:txBody>
          <a:bodyPr wrap="square" rtlCol="0" anchor="ctr"/>
          <a:lstStyle/>
          <a:p>
            <a:pPr indent="0" marL="0">
              <a:buNone/>
            </a:pPr>
            <a:r>
              <a:rPr lang="en-US" sz="1200" b="1" spc="200" kern="0" dirty="0">
                <a:solidFill>
                  <a:srgbClr val="C2661C"/>
                </a:solidFill>
                <a:latin typeface="Calibri" pitchFamily="34" charset="0"/>
                <a:ea typeface="Calibri" pitchFamily="34" charset="-122"/>
                <a:cs typeface="Calibri" pitchFamily="34" charset="-120"/>
              </a:rPr>
              <a:t>KEY TAKEAWAYS</a:t>
            </a:r>
            <a:endParaRPr lang="en-US" sz="1200" dirty="0"/>
          </a:p>
        </p:txBody>
      </p:sp>
      <p:sp>
        <p:nvSpPr>
          <p:cNvPr id="3" name="Text 1"/>
          <p:cNvSpPr/>
          <p:nvPr/>
        </p:nvSpPr>
        <p:spPr>
          <a:xfrm>
            <a:off x="548640" y="621792"/>
            <a:ext cx="11064240" cy="777240"/>
          </a:xfrm>
          <a:prstGeom prst="rect">
            <a:avLst/>
          </a:prstGeom>
          <a:noFill/>
          <a:ln/>
        </p:spPr>
        <p:txBody>
          <a:bodyPr wrap="square" rtlCol="0" anchor="t"/>
          <a:lstStyle/>
          <a:p>
            <a:pPr indent="0" marL="0">
              <a:lnSpc>
                <a:spcPct val="102000"/>
              </a:lnSpc>
              <a:buNone/>
            </a:pPr>
            <a:r>
              <a:rPr lang="en-US" sz="2400" b="1" dirty="0">
                <a:solidFill>
                  <a:srgbClr val="16221F"/>
                </a:solidFill>
                <a:latin typeface="Calibri" pitchFamily="34" charset="0"/>
                <a:ea typeface="Calibri" pitchFamily="34" charset="-122"/>
                <a:cs typeface="Calibri" pitchFamily="34" charset="-120"/>
              </a:rPr>
              <a:t>What to Remember About This Archetype</a:t>
            </a:r>
            <a:endParaRPr lang="en-US" sz="2400" dirty="0"/>
          </a:p>
        </p:txBody>
      </p:sp>
      <p:sp>
        <p:nvSpPr>
          <p:cNvPr id="4" name="Text 2"/>
          <p:cNvSpPr/>
          <p:nvPr/>
        </p:nvSpPr>
        <p:spPr>
          <a:xfrm>
            <a:off x="548640" y="2103120"/>
            <a:ext cx="11064240" cy="3200400"/>
          </a:xfrm>
          <a:prstGeom prst="rect">
            <a:avLst/>
          </a:prstGeom>
          <a:noFill/>
          <a:ln/>
        </p:spPr>
        <p:txBody>
          <a:bodyPr wrap="square" rtlCol="0" anchor="t"/>
          <a:lstStyle/>
          <a:p>
            <a:pPr indent="0" marL="0">
              <a:lnSpc>
                <a:spcPct val="140000"/>
              </a:lnSpc>
              <a:spcAft>
                <a:spcPts val="800"/>
              </a:spcAft>
              <a:buNone/>
            </a:pPr>
            <a:r>
              <a:rPr lang="en-US" sz="1350" b="1" dirty="0">
                <a:solidFill>
                  <a:srgbClr val="1F6459"/>
                </a:solidFill>
                <a:latin typeface="Calibri" pitchFamily="34" charset="0"/>
                <a:ea typeface="Calibri" pitchFamily="34" charset="-122"/>
                <a:cs typeface="Calibri" pitchFamily="34" charset="-120"/>
              </a:rPr>
              <a:t>›  </a:t>
            </a:r>
            <a:pPr indent="0" marL="0">
              <a:lnSpc>
                <a:spcPct val="140000"/>
              </a:lnSpc>
              <a:spcAft>
                <a:spcPts val="800"/>
              </a:spcAft>
              <a:buNone/>
            </a:pPr>
            <a:r>
              <a:rPr lang="en-US" sz="1350" dirty="0">
                <a:solidFill>
                  <a:srgbClr val="16221F"/>
                </a:solidFill>
                <a:latin typeface="Calibri" pitchFamily="34" charset="0"/>
                <a:ea typeface="Calibri" pitchFamily="34" charset="-122"/>
                <a:cs typeface="Calibri" pitchFamily="34" charset="-120"/>
              </a:rPr>
              <a:t>Seven consecutive clean Phase Gate decisions, a controls-go-live date sequenced deliberately ahead of a sibling program's own critical week, and a first monitoring cycle confirming the controls hold under real operating conditions, not just at go-live.</a:t>
            </a:r>
            <a:endParaRPr lang="en-US" sz="1350" dirty="0"/>
          </a:p>
          <a:p>
            <a:pPr indent="0" marL="0">
              <a:lnSpc>
                <a:spcPct val="140000"/>
              </a:lnSpc>
              <a:spcAft>
                <a:spcPts val="800"/>
              </a:spcAft>
              <a:buNone/>
            </a:pPr>
            <a:r>
              <a:rPr lang="en-US" sz="1350" b="1" dirty="0">
                <a:solidFill>
                  <a:srgbClr val="1F6459"/>
                </a:solidFill>
                <a:latin typeface="Calibri" pitchFamily="34" charset="0"/>
                <a:ea typeface="Calibri" pitchFamily="34" charset="-122"/>
                <a:cs typeface="Calibri" pitchFamily="34" charset="-120"/>
              </a:rPr>
              <a:t>›  </a:t>
            </a:r>
            <a:pPr indent="0" marL="0">
              <a:lnSpc>
                <a:spcPct val="140000"/>
              </a:lnSpc>
              <a:spcAft>
                <a:spcPts val="800"/>
              </a:spcAft>
              <a:buNone/>
            </a:pPr>
            <a:r>
              <a:rPr lang="en-US" sz="1350" dirty="0">
                <a:solidFill>
                  <a:srgbClr val="16221F"/>
                </a:solidFill>
                <a:latin typeface="Calibri" pitchFamily="34" charset="0"/>
                <a:ea typeface="Calibri" pitchFamily="34" charset="-122"/>
                <a:cs typeface="Calibri" pitchFamily="34" charset="-120"/>
              </a:rPr>
              <a:t>Awareness and Ability dominate; Desire matters least of any archetype. Staff do not need to want to comply — they need to know the rule and be able to follow it correctly. The Phase Gate itself is the framework that matters most, since the real risk here is schedule risk, not adoption risk.</a:t>
            </a:r>
            <a:endParaRPr lang="en-US" sz="1350" dirty="0"/>
          </a:p>
          <a:p>
            <a:pPr indent="0" marL="0">
              <a:lnSpc>
                <a:spcPct val="140000"/>
              </a:lnSpc>
              <a:spcAft>
                <a:spcPts val="800"/>
              </a:spcAft>
              <a:buNone/>
            </a:pPr>
            <a:r>
              <a:rPr lang="en-US" sz="1350" b="1" dirty="0">
                <a:solidFill>
                  <a:srgbClr val="1F6459"/>
                </a:solidFill>
                <a:latin typeface="Calibri" pitchFamily="34" charset="0"/>
                <a:ea typeface="Calibri" pitchFamily="34" charset="-122"/>
                <a:cs typeface="Calibri" pitchFamily="34" charset="-120"/>
              </a:rPr>
              <a:t>›  </a:t>
            </a:r>
            <a:pPr indent="0" marL="0">
              <a:lnSpc>
                <a:spcPct val="140000"/>
              </a:lnSpc>
              <a:spcAft>
                <a:spcPts val="800"/>
              </a:spcAft>
              <a:buNone/>
            </a:pPr>
            <a:r>
              <a:rPr lang="en-US" sz="1350" dirty="0">
                <a:solidFill>
                  <a:srgbClr val="16221F"/>
                </a:solidFill>
                <a:latin typeface="Calibri" pitchFamily="34" charset="0"/>
                <a:ea typeface="Calibri" pitchFamily="34" charset="-122"/>
                <a:cs typeface="Calibri" pitchFamily="34" charset="-120"/>
              </a:rPr>
              <a:t>None fire in this program's real record — every Phase Gate closes Go, on schedule, which is the entire point: ALT-009 (Phase Gate No-Go/Conditional) matters most here precisely because it does not fire.</a:t>
            </a:r>
            <a:endParaRPr lang="en-US" sz="1350" dirty="0"/>
          </a:p>
        </p:txBody>
      </p:sp>
      <p:sp>
        <p:nvSpPr>
          <p:cNvPr id="5" name="Text 3"/>
          <p:cNvSpPr/>
          <p:nvPr/>
        </p:nvSpPr>
        <p:spPr>
          <a:xfrm>
            <a:off x="548640" y="6528816"/>
            <a:ext cx="8229600" cy="274320"/>
          </a:xfrm>
          <a:prstGeom prst="rect">
            <a:avLst/>
          </a:prstGeom>
          <a:noFill/>
          <a:ln/>
        </p:spPr>
        <p:txBody>
          <a:bodyPr wrap="square" rtlCol="0" anchor="ctr"/>
          <a:lstStyle/>
          <a:p>
            <a:pPr algn="l" indent="0" marL="0">
              <a:buNone/>
            </a:pPr>
            <a:r>
              <a:rPr lang="en-US" sz="900" dirty="0">
                <a:solidFill>
                  <a:srgbClr val="5C6D68"/>
                </a:solidFill>
                <a:latin typeface="Calibri" pitchFamily="34" charset="0"/>
                <a:ea typeface="Calibri" pitchFamily="34" charset="-122"/>
                <a:cs typeface="Calibri" pitchFamily="34" charset="-120"/>
              </a:rPr>
              <a:t>journi — Compliance-Driven Change (Loi 09-08 Data Protection Compliance Program)</a:t>
            </a:r>
            <a:endParaRPr lang="en-US" sz="900" dirty="0"/>
          </a:p>
        </p:txBody>
      </p:sp>
      <p:sp>
        <p:nvSpPr>
          <p:cNvPr id="6" name="Text 4"/>
          <p:cNvSpPr/>
          <p:nvPr/>
        </p:nvSpPr>
        <p:spPr>
          <a:xfrm>
            <a:off x="11155680" y="6528816"/>
            <a:ext cx="502920" cy="274320"/>
          </a:xfrm>
          <a:prstGeom prst="rect">
            <a:avLst/>
          </a:prstGeom>
          <a:noFill/>
          <a:ln/>
        </p:spPr>
        <p:txBody>
          <a:bodyPr wrap="square" rtlCol="0" anchor="ctr"/>
          <a:lstStyle/>
          <a:p>
            <a:pPr algn="r" indent="0" marL="0">
              <a:buNone/>
            </a:pPr>
            <a:r>
              <a:rPr lang="en-US" sz="900" dirty="0">
                <a:solidFill>
                  <a:srgbClr val="5C6D68"/>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5423A"/>
        </a:solidFill>
      </p:bgPr>
    </p:bg>
    <p:spTree>
      <p:nvGrpSpPr>
        <p:cNvPr id="1" name=""/>
        <p:cNvGrpSpPr/>
        <p:nvPr/>
      </p:nvGrpSpPr>
      <p:grpSpPr>
        <a:xfrm>
          <a:off x="0" y="0"/>
          <a:ext cx="0" cy="0"/>
          <a:chOff x="0" y="0"/>
          <a:chExt cx="0" cy="0"/>
        </a:xfrm>
      </p:grpSpPr>
      <p:sp>
        <p:nvSpPr>
          <p:cNvPr id="2" name="Shape 0"/>
          <p:cNvSpPr/>
          <p:nvPr/>
        </p:nvSpPr>
        <p:spPr>
          <a:xfrm>
            <a:off x="685800" y="2011680"/>
            <a:ext cx="777240" cy="777240"/>
          </a:xfrm>
          <a:prstGeom prst="ellipse">
            <a:avLst/>
          </a:prstGeom>
          <a:solidFill>
            <a:srgbClr val="C2661C"/>
          </a:solidFill>
          <a:ln/>
        </p:spPr>
      </p:sp>
      <p:pic>
        <p:nvPicPr>
          <p:cNvPr id="3" name="Image 0" descr="/home/user/scm-process-register/docs-src/type-decks/assets/gavel.png">    </p:cNvPr>
          <p:cNvPicPr>
            <a:picLocks noChangeAspect="1"/>
          </p:cNvPicPr>
          <p:nvPr/>
        </p:nvPicPr>
        <p:blipFill>
          <a:blip r:embed="rId1"/>
          <a:stretch>
            <a:fillRect/>
          </a:stretch>
        </p:blipFill>
        <p:spPr>
          <a:xfrm>
            <a:off x="850392" y="2176272"/>
            <a:ext cx="448056" cy="448056"/>
          </a:xfrm>
          <a:prstGeom prst="rect">
            <a:avLst/>
          </a:prstGeom>
        </p:spPr>
      </p:pic>
      <p:sp>
        <p:nvSpPr>
          <p:cNvPr id="4" name="Text 1"/>
          <p:cNvSpPr/>
          <p:nvPr/>
        </p:nvSpPr>
        <p:spPr>
          <a:xfrm>
            <a:off x="640080" y="2926080"/>
            <a:ext cx="1024128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Compliance-Driven Change</a:t>
            </a:r>
            <a:endParaRPr lang="en-US" sz="3000" dirty="0"/>
          </a:p>
        </p:txBody>
      </p:sp>
      <p:sp>
        <p:nvSpPr>
          <p:cNvPr id="5" name="Text 2"/>
          <p:cNvSpPr/>
          <p:nvPr/>
        </p:nvSpPr>
        <p:spPr>
          <a:xfrm>
            <a:off x="685800" y="3657600"/>
            <a:ext cx="9875520" cy="457200"/>
          </a:xfrm>
          <a:prstGeom prst="rect">
            <a:avLst/>
          </a:prstGeom>
          <a:noFill/>
          <a:ln/>
        </p:spPr>
        <p:txBody>
          <a:bodyPr wrap="square" rtlCol="0" anchor="ctr"/>
          <a:lstStyle/>
          <a:p>
            <a:pPr indent="0" marL="0">
              <a:buNone/>
            </a:pPr>
            <a:r>
              <a:rPr lang="en-US" sz="1600" i="1" dirty="0">
                <a:solidFill>
                  <a:srgbClr val="B8D4CE"/>
                </a:solidFill>
                <a:latin typeface="Calibri" pitchFamily="34" charset="0"/>
                <a:ea typeface="Calibri" pitchFamily="34" charset="-122"/>
                <a:cs typeface="Calibri" pitchFamily="34" charset="-120"/>
              </a:rPr>
              <a:t>Loi 09-08 Data Protection Compliance Program</a:t>
            </a:r>
            <a:endParaRPr lang="en-US" sz="1600" dirty="0"/>
          </a:p>
        </p:txBody>
      </p:sp>
      <p:sp>
        <p:nvSpPr>
          <p:cNvPr id="6" name="Text 3"/>
          <p:cNvSpPr/>
          <p:nvPr/>
        </p:nvSpPr>
        <p:spPr>
          <a:xfrm>
            <a:off x="685800" y="6172200"/>
            <a:ext cx="9144000" cy="365760"/>
          </a:xfrm>
          <a:prstGeom prst="rect">
            <a:avLst/>
          </a:prstGeom>
          <a:noFill/>
          <a:ln/>
        </p:spPr>
        <p:txBody>
          <a:bodyPr wrap="square" rtlCol="0" anchor="ctr"/>
          <a:lstStyle/>
          <a:p>
            <a:pPr indent="0" marL="0">
              <a:buNone/>
            </a:pPr>
            <a:r>
              <a:rPr lang="en-US" sz="1150" dirty="0">
                <a:solidFill>
                  <a:srgbClr val="7FA39A"/>
                </a:solidFill>
                <a:latin typeface="Calibri" pitchFamily="34" charset="0"/>
                <a:ea typeface="Calibri" pitchFamily="34" charset="-122"/>
                <a:cs typeface="Calibri" pitchFamily="34" charset="-120"/>
              </a:rPr>
              <a:t>Manufacturing Sector · Bouregreg Group Scenario Library · Confidential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2026-09-05T17:35:01Z</dcterms:created>
  <dcterms:modified xsi:type="dcterms:W3CDTF">2026-09-05T17:35:01Z</dcterms:modified>
</cp:coreProperties>
</file>
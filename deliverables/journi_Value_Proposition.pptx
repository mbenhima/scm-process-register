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image" Target="../media/image-6-1.png"/><Relationship Id="rId6" Type="http://schemas.openxmlformats.org/officeDocument/2006/relationships/image" Target="../media/image-6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image" Target="../media/image-18-1.png"/><Relationship Id="rId5" Type="http://schemas.openxmlformats.org/officeDocument/2006/relationships/image" Target="../media/image-18-1.png"/><Relationship Id="rId6" Type="http://schemas.openxmlformats.org/officeDocument/2006/relationships/image" Target="../media/image-18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008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pitch-deck/assets/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81381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685800" y="331012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side of change, mapped as a journey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85800" y="3977640"/>
            <a:ext cx="5577840" cy="566928"/>
          </a:xfrm>
          <a:prstGeom prst="roundRect">
            <a:avLst>
              <a:gd name="adj" fmla="val 80645"/>
            </a:avLst>
          </a:prstGeom>
          <a:solidFill>
            <a:srgbClr val="C2661C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3977640"/>
            <a:ext cx="5577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 &amp; CUSTOMER FIT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6172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transformations still fail on the human side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29200" cy="4160520"/>
          </a:xfrm>
          <a:prstGeom prst="roundRect">
            <a:avLst>
              <a:gd name="adj" fmla="val 1319"/>
            </a:avLst>
          </a:prstGeom>
          <a:solidFill>
            <a:srgbClr val="15423A"/>
          </a:solidFill>
          <a:ln/>
          <a:effectLst>
            <a:outerShdw sx="100000" sy="100000" kx="0" ky="0" algn="bl" rotWithShape="0" blurRad="101600" dist="38100" dir="5400000">
              <a:srgbClr val="1B2E2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9456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4434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large-scale change initiatives fail to fully meet their objectives — not because the technology or process design was wrong, but because the people side was never systematically managed.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5394960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cited across Kotter, Prosci and McKinsey change-management research.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852160" y="1965960"/>
            <a:ext cx="5806440" cy="896112"/>
          </a:xfrm>
          <a:prstGeom prst="roundRect">
            <a:avLst>
              <a:gd name="adj" fmla="val 612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290320000" dist="483870000" dir="324000000000">
              <a:srgbClr val="1B2E2B">
                <a:alpha val="180000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080760" y="2139696"/>
            <a:ext cx="548640" cy="548640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0" name="Image 0" descr="/home/user/scm-process-register/docs-src/pitch-deck/assets/triangle-excla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76856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12280" y="1965960"/>
            <a:ext cx="4709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data lives in spreadsheets and decks — no single, durable source of truth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852160" y="2999232"/>
            <a:ext cx="5806440" cy="896112"/>
          </a:xfrm>
          <a:prstGeom prst="roundRect">
            <a:avLst>
              <a:gd name="adj" fmla="val 612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6387064000000" dist="6145149000000" dir="19440000000000000">
              <a:srgbClr val="1B2E2B">
                <a:alpha val="18000000000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080760" y="3172968"/>
            <a:ext cx="548640" cy="548640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4" name="Image 1" descr="/home/user/scm-process-register/docs-src/pitch-deck/assets/shuff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310128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12280" y="2999232"/>
            <a:ext cx="4709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ADKAR, Kotter, Lewin and Bridges get used inconsistently, project to project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852160" y="4032504"/>
            <a:ext cx="5806440" cy="896112"/>
          </a:xfrm>
          <a:prstGeom prst="roundRect">
            <a:avLst>
              <a:gd name="adj" fmla="val 612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208115712800000000" dist="78043392300000000" dir="1.1664e+21">
              <a:srgbClr val="1B2E2B">
                <a:alpha val="1800000000000000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4206240"/>
            <a:ext cx="548640" cy="548640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8" name="Image 2" descr="/home/user/scm-process-register/docs-src/pitch-deck/assets/gho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34340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12280" y="4032504"/>
            <a:ext cx="4709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"ghost" — no record of the visible-sponsorship actions that predict success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852160" y="5065776"/>
            <a:ext cx="5806440" cy="896112"/>
          </a:xfrm>
          <a:prstGeom prst="roundRect">
            <a:avLst>
              <a:gd name="adj" fmla="val 612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2.64306955256e+21" dist="991151082210000000000" dir="6.9984e+25">
              <a:srgbClr val="1B2E2B">
                <a:alpha val="1.8e+24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080760" y="5239512"/>
            <a:ext cx="548640" cy="548640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2" name="Image 3" descr="/home/user/scm-process-register/docs-src/pitch-deck/assets/clock-rotate-le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537667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812280" y="5065776"/>
            <a:ext cx="4709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surfaces after go-live, when it is far more expensive to fix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change-management system of record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sits alongside — never inside — your project-delivery tools, and tracks the one thing they don’t: whether the people affected by the change are actually ready, willing and able.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36118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3566983317512e+25" dist="1.2587618744067e+25" dir="4.19904e+30">
              <a:srgbClr val="1B2E2B">
                <a:alpha val="1.8e+2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724912"/>
            <a:ext cx="822960" cy="82296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asset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926080"/>
            <a:ext cx="420624" cy="4206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03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4206240"/>
            <a:ext cx="3017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score, justification and status change lives in one durable place — not a slide deck that goes stale the moment it is presented.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79976" y="2423160"/>
            <a:ext cx="36118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2630068813240236e+29" dist="1.598627580496509e+29" dir="2.519424e+35">
              <a:srgbClr val="1B2E2B">
                <a:alpha val="1.7999999999999998e+3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0016" y="2724912"/>
            <a:ext cx="822960" cy="82296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2" name="Image 1" descr="/home/user/scm-process-register/docs-src/pitch-deck/assets/site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2926080"/>
            <a:ext cx="420624" cy="4206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0016" y="3703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Engine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00016" y="4206240"/>
            <a:ext cx="3017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ADKAR, Kotter, Lewin and Bridges are operational here — scored, justified, and audit-trailed, not reference posters on a wall.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2423160"/>
            <a:ext cx="36118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41401873928151e+33" dist="2.0302570272305663e+33" dir="1.5116544e+40">
              <a:srgbClr val="1B2E2B">
                <a:alpha val="1.8e+39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31352" y="2724912"/>
            <a:ext cx="822960" cy="82296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7" name="Image 2" descr="/home/user/scm-process-register/docs-src/pitch-deck/assets/shield-halv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2926080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31352" y="3703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Layer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531352" y="4206240"/>
            <a:ext cx="3017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and diagnoses across the platform, but every suggestion carries a mandatory human checkpoint before it counts.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journi is built for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PROFILE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475488" cy="47548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assets/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679192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2505456"/>
            <a:ext cx="5029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Mid-to-large enterprises (500+ employees) running several concurrent transformation programs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401568"/>
            <a:ext cx="475488" cy="47548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9" name="Image 1" descr="/home/user/scm-process-register/docs-src/pitch-deck/assets/diagram-proj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52044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07008" y="3346704"/>
            <a:ext cx="5029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firms delivering Organizational Change Management as a managed service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4242816"/>
            <a:ext cx="475488" cy="47548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2" name="Image 2" descr="/home/user/scm-process-register/docs-src/pitch-deck/assets/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36168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4187952"/>
            <a:ext cx="5029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across Manufacturing, Logistics &amp; Transportation, and Health — extensible to any sector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5084064"/>
            <a:ext cx="475488" cy="47548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5" name="Image 3" descr="/home/user/scm-process-register/docs-src/pitch-deck/assets/glo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5202936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07008" y="5029200"/>
            <a:ext cx="5029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Francophone / multilingual footprints where English-only tooling is a real adoption barrier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355080" y="2148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PERSONAS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355080" y="2560320"/>
            <a:ext cx="5257800" cy="1170432"/>
          </a:xfrm>
          <a:prstGeom prst="roundRect">
            <a:avLst>
              <a:gd name="adj" fmla="val 4688"/>
            </a:avLst>
          </a:prstGeom>
          <a:solidFill>
            <a:srgbClr val="EAF2EF"/>
          </a:solidFill>
          <a:ln/>
          <a:effectLst>
            <a:outerShdw sx="100000" sy="100000" kx="0" ky="0" algn="bl" rotWithShape="0" blurRad="6.875803798887518e+37" dist="2.578426424582819e+37" dir="9.069926400000001e+44">
              <a:srgbClr val="1B2E2B">
                <a:alpha val="1.8e+44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0" y="2779776"/>
            <a:ext cx="731520" cy="73152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20" name="Image 4" descr="/home/user/scm-process-register/docs-src/pitch-deck/assets/user-ti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7416" y="2953512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98080" y="270662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Lead / Director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7498080" y="31089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user — owns adoption of the tool day to day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6355080" y="3913632"/>
            <a:ext cx="5257800" cy="1170432"/>
          </a:xfrm>
          <a:prstGeom prst="roundRect">
            <a:avLst>
              <a:gd name="adj" fmla="val 4688"/>
            </a:avLst>
          </a:prstGeom>
          <a:solidFill>
            <a:srgbClr val="EAF2EF"/>
          </a:solidFill>
          <a:ln/>
          <a:effectLst>
            <a:outerShdw sx="100000" sy="100000" kx="0" ky="0" algn="bl" rotWithShape="0" blurRad="8.732270824587148e+41" dist="3.2746015592201804e+41" dir="5.44195584e+49">
              <a:srgbClr val="1B2E2B">
                <a:alpha val="1.8e+49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583680" y="4133088"/>
            <a:ext cx="731520" cy="73152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25" name="Image 5" descr="/home/user/scm-process-register/docs-src/pitch-deck/assets/users-ge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7416" y="4306824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498080" y="405993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/ Program Director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7498080" y="4462272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Co-buyer — wants the PM ↔ CM governance bridge closed</a:t>
            </a:r>
            <a:endParaRPr lang="en-US" sz="1150" dirty="0"/>
          </a:p>
        </p:txBody>
      </p:sp>
      <p:sp>
        <p:nvSpPr>
          <p:cNvPr id="28" name="Shape 20"/>
          <p:cNvSpPr/>
          <p:nvPr/>
        </p:nvSpPr>
        <p:spPr>
          <a:xfrm>
            <a:off x="6355080" y="5266944"/>
            <a:ext cx="5257800" cy="1170432"/>
          </a:xfrm>
          <a:prstGeom prst="roundRect">
            <a:avLst>
              <a:gd name="adj" fmla="val 4688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.1089983947225678e+46" dist="4.158743980209629e+45" dir="3.2651735040000005e+54">
              <a:srgbClr val="1B2E2B">
                <a:alpha val="1.8e+54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6583680" y="5486400"/>
            <a:ext cx="731520" cy="73152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30" name="Image 6" descr="/home/user/scm-process-register/docs-src/pitch-deck/assets/chart-lin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7416" y="5660136"/>
            <a:ext cx="384048" cy="38404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498080" y="5413248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Sponsor / Steering Committee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7498080" y="5815584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influence — wants defensible go/no-go evidence</a:t>
            </a:r>
            <a:endParaRPr lang="en-US" sz="1150" dirty="0"/>
          </a:p>
        </p:txBody>
      </p:sp>
      <p:sp>
        <p:nvSpPr>
          <p:cNvPr id="33" name="Text 2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4" name="Text 2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our customer is trying to get done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611880" cy="416052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408427961297661e+50" dist="5.281604854866228e+49" dir="1.9591041024000004e+59">
              <a:srgbClr val="1B2E2B">
                <a:alpha val="1.8000000000000001e+5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assets/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39572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job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063240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ADKAR readiness per cohort, not just the whole population</a:t>
            </a:r>
            <a:endParaRPr lang="en-US" sz="1180" dirty="0"/>
          </a:p>
        </p:txBody>
      </p:sp>
      <p:sp>
        <p:nvSpPr>
          <p:cNvPr id="9" name="Text 6"/>
          <p:cNvSpPr/>
          <p:nvPr/>
        </p:nvSpPr>
        <p:spPr>
          <a:xfrm>
            <a:off x="822960" y="3666744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sponsorship is active and visible, not assumed</a:t>
            </a:r>
            <a:endParaRPr lang="en-US" sz="1180" dirty="0"/>
          </a:p>
        </p:txBody>
      </p:sp>
      <p:sp>
        <p:nvSpPr>
          <p:cNvPr id="10" name="Text 7"/>
          <p:cNvSpPr/>
          <p:nvPr/>
        </p:nvSpPr>
        <p:spPr>
          <a:xfrm>
            <a:off x="822960" y="4270248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communications without saturating the population</a:t>
            </a:r>
            <a:endParaRPr lang="en-US" sz="1180" dirty="0"/>
          </a:p>
        </p:txBody>
      </p:sp>
      <p:sp>
        <p:nvSpPr>
          <p:cNvPr id="11" name="Text 8"/>
          <p:cNvSpPr/>
          <p:nvPr/>
        </p:nvSpPr>
        <p:spPr>
          <a:xfrm>
            <a:off x="822960" y="4873752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resistance to closure, with a documented root cause</a:t>
            </a:r>
            <a:endParaRPr lang="en-US" sz="1180" dirty="0"/>
          </a:p>
        </p:txBody>
      </p:sp>
      <p:sp>
        <p:nvSpPr>
          <p:cNvPr id="12" name="Text 9"/>
          <p:cNvSpPr/>
          <p:nvPr/>
        </p:nvSpPr>
        <p:spPr>
          <a:xfrm>
            <a:off x="822960" y="5477256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readiness to executives in language they trust</a:t>
            </a:r>
            <a:endParaRPr lang="en-US" sz="1180" dirty="0"/>
          </a:p>
        </p:txBody>
      </p:sp>
      <p:sp>
        <p:nvSpPr>
          <p:cNvPr id="13" name="Shape 10"/>
          <p:cNvSpPr/>
          <p:nvPr/>
        </p:nvSpPr>
        <p:spPr>
          <a:xfrm>
            <a:off x="4379976" y="1965960"/>
            <a:ext cx="3611880" cy="416052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7887035108480297e+54" dist="6.70763816568011e+53" dir="1.1754624614400003e+64">
              <a:srgbClr val="1B2E2B">
                <a:alpha val="1.8e+6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54296" y="2240280"/>
            <a:ext cx="658368" cy="65836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5" name="Image 1" descr="/home/user/scm-process-register/docs-src/pitch-deck/assets/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395728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77256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job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654296" y="3063240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seen as running change management on data, not instinct</a:t>
            </a:r>
            <a:endParaRPr lang="en-US" sz="1180" dirty="0"/>
          </a:p>
        </p:txBody>
      </p:sp>
      <p:sp>
        <p:nvSpPr>
          <p:cNvPr id="18" name="Text 14"/>
          <p:cNvSpPr/>
          <p:nvPr/>
        </p:nvSpPr>
        <p:spPr>
          <a:xfrm>
            <a:off x="4654296" y="3666744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Steering Committee real evidence at every phase gate</a:t>
            </a:r>
            <a:endParaRPr lang="en-US" sz="1180" dirty="0"/>
          </a:p>
        </p:txBody>
      </p:sp>
      <p:sp>
        <p:nvSpPr>
          <p:cNvPr id="19" name="Text 15"/>
          <p:cNvSpPr/>
          <p:nvPr/>
        </p:nvSpPr>
        <p:spPr>
          <a:xfrm>
            <a:off x="4654296" y="4270248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the vocabulary each stakeholder already knows</a:t>
            </a:r>
            <a:endParaRPr lang="en-US" sz="1180" dirty="0"/>
          </a:p>
        </p:txBody>
      </p:sp>
      <p:sp>
        <p:nvSpPr>
          <p:cNvPr id="20" name="Shape 16"/>
          <p:cNvSpPr/>
          <p:nvPr/>
        </p:nvSpPr>
        <p:spPr>
          <a:xfrm>
            <a:off x="8211312" y="1965960"/>
            <a:ext cx="3611880" cy="416052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2716534587769977e+58" dist="8.518700470413739e+57" dir="7.052774768640002e+68">
              <a:srgbClr val="1B2E2B">
                <a:alpha val="1.8e+69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485632" y="2240280"/>
            <a:ext cx="658368" cy="658368"/>
          </a:xfrm>
          <a:prstGeom prst="ellipse">
            <a:avLst/>
          </a:prstGeom>
          <a:solidFill>
            <a:srgbClr val="2C7A6B"/>
          </a:solidFill>
          <a:ln/>
        </p:spPr>
      </p:sp>
      <p:pic>
        <p:nvPicPr>
          <p:cNvPr id="22" name="Image 2" descr="/home/user/scm-process-register/docs-src/pitch-deck/assets/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395728"/>
            <a:ext cx="347472" cy="34747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308592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job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8485632" y="3063240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nothing is falling through the cracks before go-live</a:t>
            </a:r>
            <a:endParaRPr lang="en-US" sz="1180" dirty="0"/>
          </a:p>
        </p:txBody>
      </p:sp>
      <p:sp>
        <p:nvSpPr>
          <p:cNvPr id="25" name="Text 20"/>
          <p:cNvSpPr/>
          <p:nvPr/>
        </p:nvSpPr>
        <p:spPr>
          <a:xfrm>
            <a:off x="8485632" y="3666744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confident defending a go/no-go call after the fact</a:t>
            </a:r>
            <a:endParaRPr lang="en-US" sz="1180" dirty="0"/>
          </a:p>
        </p:txBody>
      </p:sp>
      <p:sp>
        <p:nvSpPr>
          <p:cNvPr id="26" name="Text 21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Pains — what makes this job hard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2029968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6" name="Image 0" descr="/home/user/scm-process-register/docs-src/pitch-deck/assets/x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920240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data scattered across spreadsheets, decks and inboxes, with no historical trail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679192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" y="2788920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0" name="Image 1" descr="/home/user/scm-process-register/docs-src/pitch-deck/assets/x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89864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679192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(ADKAR, Kotter, Lewin, Bridges) applied inconsistently, project to project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48640" y="3438144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13" name="Shape 9"/>
          <p:cNvSpPr/>
          <p:nvPr/>
        </p:nvSpPr>
        <p:spPr>
          <a:xfrm>
            <a:off x="749808" y="3547872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4" name="Image 2" descr="/home/user/scm-process-register/docs-src/pitch-deck/assets/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365760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438144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"ghost" — no record of the visible-sponsorship actions that predict success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48640" y="4197096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17" name="Shape 12"/>
          <p:cNvSpPr/>
          <p:nvPr/>
        </p:nvSpPr>
        <p:spPr>
          <a:xfrm>
            <a:off x="749808" y="4306824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8" name="Image 3" descr="/home/user/scm-process-register/docs-src/pitch-deck/assets/x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41655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4197096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surfaces late, after go-live, when it is expensive and disruptive to fix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548640" y="49560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21" name="Shape 15"/>
          <p:cNvSpPr/>
          <p:nvPr/>
        </p:nvSpPr>
        <p:spPr>
          <a:xfrm>
            <a:off x="749808" y="5065776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2" name="Image 4" descr="/home/user/scm-process-register/docs-src/pitch-deck/assets/x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175504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956048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pilots deployed with no governance — no audit trail, no human checkpoint</a:t>
            </a:r>
            <a:endParaRPr lang="en-US" sz="1350" dirty="0"/>
          </a:p>
        </p:txBody>
      </p:sp>
      <p:sp>
        <p:nvSpPr>
          <p:cNvPr id="24" name="Shape 17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25" name="Shape 18"/>
          <p:cNvSpPr/>
          <p:nvPr/>
        </p:nvSpPr>
        <p:spPr>
          <a:xfrm>
            <a:off x="749808" y="5824728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6" name="Image 5" descr="/home/user/scm-process-register/docs-src/pitch-deck/assets/x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934456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17320" y="5715000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and Change Management run as two disconnected worlds with no shared timeline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— what would make this job easy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2029968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asset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920240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of record spanning the full change lifecycle, tenant setup to sustainment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679192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" y="2788920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0" name="Image 1" descr="/home/user/scm-process-register/docs-src/pitch-deck/asset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89864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679192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defensible, timestamped justification trail behind every score and status change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48640" y="3438144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13" name="Shape 9"/>
          <p:cNvSpPr/>
          <p:nvPr/>
        </p:nvSpPr>
        <p:spPr>
          <a:xfrm>
            <a:off x="749808" y="3547872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4" name="Image 2" descr="/home/user/scm-process-register/docs-src/pitch-deck/asset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365760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438144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executive visibility — a Composite Readiness Index benchmarked by phase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48640" y="4197096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17" name="Shape 12"/>
          <p:cNvSpPr/>
          <p:nvPr/>
        </p:nvSpPr>
        <p:spPr>
          <a:xfrm>
            <a:off x="749808" y="4306824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8" name="Image 3" descr="/home/user/scm-process-register/docs-src/pitch-deck/asset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41655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4197096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evidence-based resistance resolution with root-cause pattern detection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548640" y="49560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21" name="Shape 15"/>
          <p:cNvSpPr/>
          <p:nvPr/>
        </p:nvSpPr>
        <p:spPr>
          <a:xfrm>
            <a:off x="749808" y="5065776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2" name="Image 4" descr="/home/user/scm-process-register/docs-src/pitch-deck/asset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175504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956048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acceleration with governance built in — human checkpoint on every suggestion</a:t>
            </a:r>
            <a:endParaRPr lang="en-US" sz="1350" dirty="0"/>
          </a:p>
        </p:txBody>
      </p:sp>
      <p:sp>
        <p:nvSpPr>
          <p:cNvPr id="24" name="Shape 17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25" name="Shape 18"/>
          <p:cNvSpPr/>
          <p:nvPr/>
        </p:nvSpPr>
        <p:spPr>
          <a:xfrm>
            <a:off x="749808" y="5824728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6" name="Image 5" descr="/home/user/scm-process-register/docs-src/pitch-deck/asset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934456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17320" y="5715000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multilingual, RTL-ready interface for global and francophone-Africa teams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journi delivers: 22 integrated modules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data model, organized into the platform every project draws on, and the 16-module program lifecycle a practitioner runs day to day.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29000" cy="3840480"/>
          </a:xfrm>
          <a:prstGeom prst="roundRect">
            <a:avLst>
              <a:gd name="adj" fmla="val 1600"/>
            </a:avLst>
          </a:prstGeom>
          <a:solidFill>
            <a:srgbClr val="15423A"/>
          </a:solidFill>
          <a:ln/>
          <a:effectLst>
            <a:outerShdw sx="100000" sy="100000" kx="0" ky="0" algn="bl" rotWithShape="0" blurRad="2.8849998926467873e+62" dist="1.081874959742545e+62" dir="4.2316648611840007e+73">
              <a:srgbClr val="1B2E2B">
                <a:alpha val="1.8000000000000002e+7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42032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7" name="Image 0" descr="/home/user/scm-process-register/docs-src/pitch-deck/assets/layer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79192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59689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GOVERNANCE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33375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Tenant &amp; Org Hierarchy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377647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Identity &amp; RBAC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22960" y="4215384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OBS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2960" y="465429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Process Registry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22960" y="509320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CM Charters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22960" y="55321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AI Use Case Library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160520" y="2286000"/>
            <a:ext cx="7479792" cy="3840480"/>
          </a:xfrm>
          <a:prstGeom prst="roundRect">
            <a:avLst>
              <a:gd name="adj" fmla="val 1429"/>
            </a:avLst>
          </a:prstGeom>
          <a:solidFill>
            <a:srgbClr val="EAF2EF"/>
          </a:solidFill>
          <a:ln/>
          <a:effectLst>
            <a:outerShdw sx="100000" sy="100000" kx="0" ky="0" algn="bl" rotWithShape="0" blurRad="3.66394986366142e+66" dist="1.373981198873032e+66" dir="2.5389989167104004e+78">
              <a:srgbClr val="1B2E2B">
                <a:alpha val="1.8000000000000003e+7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34840" y="2542032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7" name="Image 1" descr="/home/user/scm-process-register/docs-src/pitch-deck/assets/rou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79192"/>
            <a:ext cx="292608" cy="29260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120640" y="2596896"/>
            <a:ext cx="6217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PROGRAM (M7–M22)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4434840" y="333756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Initiative Registry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34840" y="36941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WBS &amp; Gantt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434840" y="405079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 Stakeholder Mapping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434840" y="44074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 ADKAR Engine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434840" y="476402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Emotional &amp; Transition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434840" y="51206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 Risk Register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4434840" y="547725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 Sponsor &amp; Coalition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434840" y="58338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 Communications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7863840" y="33375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M15 Training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863840" y="36941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M16 Resistance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7863840" y="405079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M17 Manager as Coach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7863840" y="44074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 Journey Map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7863840" y="476402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M19 Journeys &amp; Analytics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7863840" y="51206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 Analytics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7863840" y="547725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M21 Sustainment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7863840" y="583387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M22 Field Notes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relievers — how journi removes each pain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6" name="Image 0" descr="/home/user/scm-process-register/docs-src/pitch-deck/assets/layer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2080260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7452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617720" y="1874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 record across 16 lifecycle modules — nothing lives in a separate deck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60604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" y="268833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1" name="Image 1" descr="/home/user/scm-process-register/docs-src/pitch-deck/assets/shuff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" y="2811780"/>
            <a:ext cx="246888" cy="2468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60604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frameworks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617720" y="260604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ADKAR, Kotter, Lewin, Bridges layered on one shared, framework-agnostic data model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33756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15" name="Shape 11"/>
          <p:cNvSpPr/>
          <p:nvPr/>
        </p:nvSpPr>
        <p:spPr>
          <a:xfrm>
            <a:off x="731520" y="341985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6" name="Image 2" descr="/home/user/scm-process-register/docs-src/pitch-deck/assets/gho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" y="3543300"/>
            <a:ext cx="246888" cy="2468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3756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"ghost"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17720" y="333756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visibility tracker + signed Charter compliance log, not a verbal promise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20" name="Shape 15"/>
          <p:cNvSpPr/>
          <p:nvPr/>
        </p:nvSpPr>
        <p:spPr>
          <a:xfrm>
            <a:off x="731520" y="415137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1" name="Image 3" descr="/home/user/scm-process-register/docs-src/pitch-deck/assets/clock-rotate-le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" y="4274820"/>
            <a:ext cx="246888" cy="2468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06908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resistance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617720" y="406908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Resistance Log with systemic-pattern detection and an AI root-cause classifier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800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25" name="Shape 19"/>
          <p:cNvSpPr/>
          <p:nvPr/>
        </p:nvSpPr>
        <p:spPr>
          <a:xfrm>
            <a:off x="731520" y="488289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6" name="Image 4" descr="/home/user/scm-process-register/docs-src/pitch-deck/assets/shield-halv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964" y="5006340"/>
            <a:ext cx="246888" cy="2468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480060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Ungoverned AI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617720" y="480060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14-use-case governed library — Assistive/Augmented tiers only, mandatory human checkpoint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48640" y="553212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30" name="Shape 23"/>
          <p:cNvSpPr/>
          <p:nvPr/>
        </p:nvSpPr>
        <p:spPr>
          <a:xfrm>
            <a:off x="731520" y="561441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31" name="Image 5" descr="/home/user/scm-process-register/docs-src/pitch-deck/assets/chart-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" y="5737860"/>
            <a:ext cx="246888" cy="2468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17320" y="553212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blind spot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4617720" y="55321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Readiness Index, benchmarked by phase, with an AI-drafted executive narrative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creators — not just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assets/file-signa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2080260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7452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governance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617720" y="1874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justification-governed audit trail behind every ADKAR, Lewin, Bridges and status change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60604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" y="268833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1" name="Image 1" descr="/home/user/scm-process-register/docs-src/pitch-deck/assets/chart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" y="2811780"/>
            <a:ext cx="246888" cy="2468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60604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visibility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617720" y="260604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Readiness Index, benchmarked against phase-appropriate reference bands, live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33756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15" name="Shape 11"/>
          <p:cNvSpPr/>
          <p:nvPr/>
        </p:nvSpPr>
        <p:spPr>
          <a:xfrm>
            <a:off x="731520" y="341985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6" name="Image 2" descr="/home/user/scm-process-register/docs-src/pitch-deck/assets/users-g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" y="3543300"/>
            <a:ext cx="246888" cy="2468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3756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without a code change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17720" y="333756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runtime-editable Permission Matrix — reshape RBAC to your org structure in minutes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20" name="Shape 15"/>
          <p:cNvSpPr/>
          <p:nvPr/>
        </p:nvSpPr>
        <p:spPr>
          <a:xfrm>
            <a:off x="731520" y="415137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1" name="Image 3" descr="/home/user/scm-process-register/docs-src/pitch-deck/assets/shield-halv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" y="4274820"/>
            <a:ext cx="246888" cy="2468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06908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saved, no new risk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617720" y="406908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drafts, diagnoses and classifies — a human always approves before it counts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800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25" name="Shape 19"/>
          <p:cNvSpPr/>
          <p:nvPr/>
        </p:nvSpPr>
        <p:spPr>
          <a:xfrm>
            <a:off x="731520" y="488289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6" name="Image 4" descr="/home/user/scm-process-register/docs-src/pitch-deck/assets/glob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964" y="5006340"/>
            <a:ext cx="246888" cy="2468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480060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tool, every geography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617720" y="480060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3-language UI (English/French/Arabic) with full right-to-left layout support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48640" y="553212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30" name="Shape 23"/>
          <p:cNvSpPr/>
          <p:nvPr/>
        </p:nvSpPr>
        <p:spPr>
          <a:xfrm>
            <a:off x="731520" y="561441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31" name="Image 5" descr="/home/user/scm-process-register/docs-src/pitch-deck/assets/serv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" y="5737860"/>
            <a:ext cx="246888" cy="2468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17320" y="553212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stand up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4617720" y="55321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Windows-installable, no forced cloud dependency, no external data-residency questions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 meets Value 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88720" y="2286000"/>
            <a:ext cx="3931920" cy="3749040"/>
          </a:xfrm>
          <a:prstGeom prst="roundRect">
            <a:avLst>
              <a:gd name="adj" fmla="val 1463"/>
            </a:avLst>
          </a:prstGeom>
          <a:solidFill>
            <a:srgbClr val="F7E4D2"/>
          </a:solidFill>
          <a:ln/>
          <a:effectLst>
            <a:outerShdw sx="100000" sy="100000" kx="0" ky="0" algn="bl" rotWithShape="0" blurRad="4.653216326850003e+70" dist="1.7449561225687507e+70" dir="1.5233993500262402e+83">
              <a:srgbClr val="1B2E2B">
                <a:alpha val="1.8000000000000004e+84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66060" y="256032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6" name="Image 0" descr="/home/user/scm-process-register/docs-src/pitch-deck/asset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8940" y="27432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34290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MAP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63040" y="39319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modules, tenant creation to sustainment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463040" y="46177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Relievers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tracker, resistance log, governed AI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463040" y="53035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Index, justification trail, runtime RBAC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257800" y="3794760"/>
            <a:ext cx="1417320" cy="502920"/>
          </a:xfrm>
          <a:prstGeom prst="rightArrow">
            <a:avLst/>
          </a:prstGeom>
          <a:solidFill>
            <a:srgbClr val="15423A"/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0" y="2286000"/>
            <a:ext cx="3749040" cy="3749040"/>
          </a:xfrm>
          <a:prstGeom prst="ellipse">
            <a:avLst/>
          </a:prstGeom>
          <a:solidFill>
            <a:srgbClr val="EAF2EF"/>
          </a:solidFill>
          <a:ln/>
        </p:spPr>
      </p:sp>
      <p:sp>
        <p:nvSpPr>
          <p:cNvPr id="13" name="Shape 10"/>
          <p:cNvSpPr/>
          <p:nvPr/>
        </p:nvSpPr>
        <p:spPr>
          <a:xfrm>
            <a:off x="8343900" y="2560320"/>
            <a:ext cx="777240" cy="77724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4" name="Image 1" descr="/home/user/scm-process-register/docs-src/pitch-deck/assets/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780" y="274320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7804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7406640" y="3931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readiness, prove sponsorship, resolve resistance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406640" y="46177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data, inconsistent frameworks, late resistance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406640" y="5303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of record, audit trail, governed AI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48640" y="6172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FIT: every pain has a named reliever; every gain has a named creator — the canvas closes on both sides.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 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Framework-agnostic by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data model powers every major change framework at once — practitioners work in the vocabulary they already know.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651760" cy="320040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909584735099504e+74" dist="2.2160942756623134e+74" dir="9.14039610015744e+87">
              <a:srgbClr val="1B2E2B">
                <a:alpha val="1.8000000000000005e+8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9260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assets/chart-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08152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4160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PROSCI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4498848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/ cohort readiness — Awareness, Desire, Knowledge, Ability, Reinforcement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37560" y="2651760"/>
            <a:ext cx="2651760" cy="320040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50517261357637e+78" dist="2.814439730091138e+78" dir="5.484237660094465e+92">
              <a:srgbClr val="1B2E2B">
                <a:alpha val="1.8000000000000007e+94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29260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3" name="Image 1" descr="/home/user/scm-process-register/docs-src/pitch-deck/assets/building-colum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308152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616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Kotter’s 8 Steps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566160" y="4160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KOTTER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566160" y="4498848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— sponsorship, coalition, communication, sustaining momentum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126480" y="2651760"/>
            <a:ext cx="2651760" cy="320040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.53156921924199e+82" dist="3.574338457215745e+82" dir="3.2905425960566786e+97">
              <a:srgbClr val="1B2E2B">
                <a:alpha val="1.8000000000000008e+99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00800" y="29260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9" name="Image 2" descr="/home/user/scm-process-register/docs-src/pitch-deck/assets/rou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3081528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5508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Lewin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355080" y="4160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UNFREEZE–CHANGE–REFREEZE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355080" y="4498848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macro-state every initiative carries, start to close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915400" y="2651760"/>
            <a:ext cx="2651760" cy="320040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2105092908437327e+87" dist="4.539409840663996e+86" dir="1.9743255576340073e+102">
              <a:srgbClr val="1B2E2B">
                <a:alpha val="1.800000000000001e+10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89720" y="29260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5" name="Image 3" descr="/home/user/scm-process-register/docs-src/pitch-deck/asset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168" y="3081528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14400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9144000" y="4160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&amp; KÜBLER-ROSS CURVE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144000" y="4498848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emotional journey underneath the numbers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AI, not generic AI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seeded use cases, every one restricted to a tier that keeps a human as the decision-maker.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.5373467993715405e+91" dist="5.765050497643275e+90" dir="1.1845953345804043e+107">
              <a:srgbClr val="1B2E2B">
                <a:alpha val="1.800000000000001e+10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907792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asset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3044952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9626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3611880"/>
            <a:ext cx="30175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observes, analyzes, or suggests. A human performs the task and makes the decision — e.g. flagging a barrier pattern for review.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265176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7E4D2"/>
          </a:solidFill>
          <a:ln/>
          <a:effectLst>
            <a:outerShdw sx="100000" sy="100000" kx="0" ky="0" algn="bl" rotWithShape="0" blurRad="1.9524304352018566e+95" dist="7.321614132006959e+94" dir="7.107572007482426e+111">
              <a:srgbClr val="1B2E2B">
                <a:alpha val="1.800000000000001e+11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62272" y="2907792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2" name="Image 1" descr="/home/user/scm-process-register/docs-src/pitch-deck/assets/pen-to-squ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304495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66360" y="29626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462272" y="3611880"/>
            <a:ext cx="30175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drafts, classifies or summarizes at scale — but a human must review, edit and approve before it is finalized or sent.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63840" y="265176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7E1DD"/>
          </a:solidFill>
          <a:ln/>
          <a:effectLst>
            <a:outerShdw sx="100000" sy="100000" kx="0" ky="0" algn="bl" rotWithShape="0" blurRad="2.4795866527063578e+99" dist="9.298449947648839e+98" dir="4.2645432044894554e+116">
              <a:srgbClr val="1B2E2B">
                <a:alpha val="1.800000000000001e+119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119872" y="2907792"/>
            <a:ext cx="566928" cy="566928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7" name="Image 2" descr="/home/user/scm-process-register/docs-src/pitch-deck/assets/b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30449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23960" y="29626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4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119872" y="3611880"/>
            <a:ext cx="30175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i="1" dirty="0">
                <a:solidFill>
                  <a:srgbClr val="B4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out of scope. No journi use case ever takes an irreversible action on its own.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5423A"/>
          </a:solidFill>
          <a:ln/>
          <a:effectLst>
            <a:outerShdw sx="100000" sy="100000" kx="0" ky="0" algn="bl" rotWithShape="0" blurRad="3.149075048937074e+103" dist="1.1809031433514024e+103" dir="2.5587259226936733e+121">
              <a:srgbClr val="1B2E2B">
                <a:alpha val="1.800000000000001e+124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868680" y="544068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suggestion is labeled "AI-generated — review required." Every outcome — accepted, edited, or rejected — is logged to a full usage and override audit trail an Organization Admin can review.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 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enterprise, not just the pilot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4942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assets/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957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221992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hierarchy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166360" y="222199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→ Organization → Project, with hard data isolation — one installation serves many clients or business units safely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31546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330098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1" name="Image 1" descr="/home/user/scm-process-register/docs-src/pitch-deck/assets/users-g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44728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273552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9-role RBAC + runtime Permission Matrix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166360" y="327355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 who can do what without a code change or a redeploy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2062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435254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6" name="Image 2" descr="/home/user/scm-process-register/docs-src/pitch-deck/assets/file-signatu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49884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325112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governance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166360" y="432511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score/state change is stage-then-justify, appended atomically to a per-project audit log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540410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1" name="Image 3" descr="/home/user/scm-process-register/docs-src/pitch-deck/assets/serv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55504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376672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forced cloud dependency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166360" y="537667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Windows-installable, local SQLite persistence — deploy where your data policy requires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across 8 transformation types, 3 sectors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ships pre-seeded with 14 illustrative cases — evaluation starts from realistic data, not a blank page.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267462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asset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8434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98448" y="242316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Implementation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10128" y="242316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10" name="Shape 7"/>
          <p:cNvSpPr/>
          <p:nvPr/>
        </p:nvSpPr>
        <p:spPr>
          <a:xfrm>
            <a:off x="3474720" y="267462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1" name="Image 1" descr="/home/user/scm-process-register/docs-src/pitch-deck/asset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27843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59936" y="242316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Process Automation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71616" y="242316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14" name="Shape 10"/>
          <p:cNvSpPr/>
          <p:nvPr/>
        </p:nvSpPr>
        <p:spPr>
          <a:xfrm>
            <a:off x="6236208" y="267462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5" name="Image 2" descr="/home/user/scm-process-register/docs-src/pitch-deck/assets/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27843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21424" y="242316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 Implementation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833104" y="242316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18" name="Shape 13"/>
          <p:cNvSpPr/>
          <p:nvPr/>
        </p:nvSpPr>
        <p:spPr>
          <a:xfrm>
            <a:off x="8997696" y="267462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9" name="Image 3" descr="/home/user/scm-process-register/docs-src/pitch-deck/assets/diagram-proje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278434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582912" y="242316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Process Reengineering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48640" y="347472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22" name="Shape 16"/>
          <p:cNvSpPr/>
          <p:nvPr/>
        </p:nvSpPr>
        <p:spPr>
          <a:xfrm>
            <a:off x="713232" y="372618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3" name="Image 4" descr="/home/user/scm-process-register/docs-src/pitch-deck/assets/building-colum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3590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298448" y="347472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 Redesign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310128" y="347472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26" name="Shape 19"/>
          <p:cNvSpPr/>
          <p:nvPr/>
        </p:nvSpPr>
        <p:spPr>
          <a:xfrm>
            <a:off x="3474720" y="372618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7" name="Image 5" descr="/home/user/scm-process-register/docs-src/pitch-deck/assets/people-gro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4448" y="3835908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059936" y="347472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/ Values Transformation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6071616" y="347472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30" name="Shape 22"/>
          <p:cNvSpPr/>
          <p:nvPr/>
        </p:nvSpPr>
        <p:spPr>
          <a:xfrm>
            <a:off x="6236208" y="372618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31" name="Image 6" descr="/home/user/scm-process-register/docs-src/pitch-deck/assets/scale-balanc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936" y="3835908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821424" y="347472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Compliance-Driven Change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8833104" y="347472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34" name="Shape 25"/>
          <p:cNvSpPr/>
          <p:nvPr/>
        </p:nvSpPr>
        <p:spPr>
          <a:xfrm>
            <a:off x="8997696" y="372618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35" name="Image 7" descr="/home/user/scm-process-register/docs-src/pitch-deck/assets/graduation-ca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3835908"/>
            <a:ext cx="237744" cy="237744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9582912" y="347472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Skills Development</a:t>
            </a:r>
            <a:endParaRPr lang="en-US" sz="1100" dirty="0"/>
          </a:p>
        </p:txBody>
      </p:sp>
      <p:sp>
        <p:nvSpPr>
          <p:cNvPr id="37" name="Text 27"/>
          <p:cNvSpPr/>
          <p:nvPr/>
        </p:nvSpPr>
        <p:spPr>
          <a:xfrm>
            <a:off x="548640" y="4617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SEEDED TODAY</a:t>
            </a:r>
            <a:endParaRPr lang="en-US" sz="1250" dirty="0"/>
          </a:p>
        </p:txBody>
      </p:sp>
      <p:sp>
        <p:nvSpPr>
          <p:cNvPr id="38" name="Shape 28"/>
          <p:cNvSpPr/>
          <p:nvPr/>
        </p:nvSpPr>
        <p:spPr>
          <a:xfrm>
            <a:off x="548640" y="5029200"/>
            <a:ext cx="3611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9993253121500844e+107" dist="1.499746992056281e+107" dir="1.535235553616204e+126">
              <a:srgbClr val="1B2E2B">
                <a:alpha val="1.800000000000001e+129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731520" y="5148072"/>
            <a:ext cx="530352" cy="530352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0" name="Image 8" descr="/home/user/scm-process-register/docs-src/pitch-deck/assets/indu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5276088"/>
            <a:ext cx="274320" cy="27432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1417320" y="50292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4325112" y="5029200"/>
            <a:ext cx="3611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079143146430607e+111" dist="1.904678679911477e+111" dir="9.211413321697224e+130">
              <a:srgbClr val="1B2E2B">
                <a:alpha val="1.800000000000001e+134"/>
              </a:srgbClr>
            </a:outerShdw>
          </a:effectLst>
        </p:spPr>
      </p:sp>
      <p:sp>
        <p:nvSpPr>
          <p:cNvPr id="43" name="Shape 32"/>
          <p:cNvSpPr/>
          <p:nvPr/>
        </p:nvSpPr>
        <p:spPr>
          <a:xfrm>
            <a:off x="4507992" y="5148072"/>
            <a:ext cx="530352" cy="530352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4" name="Image 9" descr="/home/user/scm-process-register/docs-src/pitch-deck/assets/truc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6008" y="5276088"/>
            <a:ext cx="274320" cy="27432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5193792" y="50292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&amp; Transportation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8101584" y="5029200"/>
            <a:ext cx="3611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450511795966871e+115" dist="2.418941923487576e+115" dir="5.526847993018334e+135">
              <a:srgbClr val="1B2E2B">
                <a:alpha val="1.800000000000001e+139"/>
              </a:srgbClr>
            </a:outerShdw>
          </a:effectLst>
        </p:spPr>
      </p:sp>
      <p:sp>
        <p:nvSpPr>
          <p:cNvPr id="47" name="Shape 35"/>
          <p:cNvSpPr/>
          <p:nvPr/>
        </p:nvSpPr>
        <p:spPr>
          <a:xfrm>
            <a:off x="8284464" y="5148072"/>
            <a:ext cx="530352" cy="530352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8" name="Image 10" descr="/home/user/scm-process-register/docs-src/pitch-deck/assets/heart-puls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2480" y="5276088"/>
            <a:ext cx="274320" cy="27432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8970264" y="50292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50" name="Text 37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model is sector-agnostic — new sectors and transformation types extend the same seed pattern.</a:t>
            </a:r>
            <a:endParaRPr lang="en-US" sz="1150" dirty="0"/>
          </a:p>
        </p:txBody>
      </p:sp>
      <p:sp>
        <p:nvSpPr>
          <p:cNvPr id="51" name="Text 3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52" name="Text 3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JOURNI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journi compares to the status quo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420624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737360"/>
                <a:gridCol w="1737360"/>
                <a:gridCol w="2103120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Spreadsheets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 decks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7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7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OCM suites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7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661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of record for readiness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Framework-agnostic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(ADKAR+Kotter+Lewin+Bridges)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locked-in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Justified, audited change 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Governed AI (tiered, human checkpoint)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Lightweight, Windows-installable deploy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heavy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defensible readiness process protects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failed or delayed transformation carries the full cost of the underlying business case — journi protects that ROI, not just a compliance checkbox.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2651760" cy="30632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192149980877925e+119" dist="3.0720562428292216e+119" dir="3.3161087958110005e+140">
              <a:srgbClr val="1B2E2B">
                <a:alpha val="1.800000000000001e+14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97180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assets/triangle-excla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313639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794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late surprises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77240" y="44348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and sponsorship gaps surface while still cheap to fix, not after go-live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37560" y="2697480"/>
            <a:ext cx="2651760" cy="30632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0404030475714965e+124" dist="3.9015114283931116e+123" dir="1.9896652774866004e+145">
              <a:srgbClr val="1B2E2B">
                <a:alpha val="1.8000000000000009e+14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93592" y="297180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2" name="Image 1" descr="/home/user/scm-process-register/docs-src/pitch-deck/assets/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313639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794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diagnosis-to-action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566160" y="44348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classification and drafting compress hours of analysis into minutes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26480" y="2697480"/>
            <a:ext cx="2651760" cy="30632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3213118704158005e+128" dist="4.954919514059251e+127" dir="1.1937991664919603e+150">
              <a:srgbClr val="1B2E2B">
                <a:alpha val="1.800000000000001e+154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82512" y="297180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7" name="Image 2" descr="/home/user/scm-process-register/docs-src/pitch-deck/assets/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313639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55080" y="3794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go/no-go evidence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355080" y="44348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Gates fuse PM and CM inputs into one named, accountable Joint Decision Record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15400" y="2697480"/>
            <a:ext cx="2651760" cy="30632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6780660754280665e+132" dist="6.2927477828552495e+131" dir="7.162794998951762e+154">
              <a:srgbClr val="1B2E2B">
                <a:alpha val="1.800000000000001e+159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171432" y="297180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2" name="Image 3" descr="/home/user/scm-process-register/docs-src/pitch-deck/assets/arrow-trend-u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3136392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4000" y="3794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business-case ROI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9144000" y="44348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only pays off if people adopt it — this is where that risk is managed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FIT, SUMMARIZED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is the right fit if you...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pitch-deck/asset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9933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2880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several concurrent transformation initiatives and need one shared view of readiness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8" name="Image 1" descr="/home/user/scm-process-register/docs-src/pitch-deck/asset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72491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56032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an audit-ready governance trail behind every readiness score and status change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1" name="Image 2" descr="/home/user/scm-process-register/docs-src/pitch-deck/asset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45643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29184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AI acceleration without taking on ungoverned compliance or trust risk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4" name="Image 3" descr="/home/user/scm-process-register/docs-src/pitch-deck/asset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187952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02336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multilingual and/or multi-site teams, including Arabic-speaking or francophone populations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548640" y="480060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7" name="Image 4" descr="/home/user/scm-process-register/docs-src/pitch-deck/asset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919472"/>
            <a:ext cx="219456" cy="21945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34440" y="475488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Windows-installable or on-premise-friendly option, not a mandatory cloud subscription</a:t>
            </a:r>
            <a:endParaRPr lang="en-US" sz="1450" dirty="0"/>
          </a:p>
        </p:txBody>
      </p:sp>
      <p:sp>
        <p:nvSpPr>
          <p:cNvPr id="19" name="Shape 12"/>
          <p:cNvSpPr/>
          <p:nvPr/>
        </p:nvSpPr>
        <p:spPr>
          <a:xfrm>
            <a:off x="548640" y="553212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0" name="Image 5" descr="/home/user/scm-process-register/docs-src/pitch-deck/asset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5650992"/>
            <a:ext cx="219456" cy="21945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34440" y="548640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 PMO and a Change function that currently don’t share a single timeline</a:t>
            </a:r>
            <a:endParaRPr lang="en-US" sz="1450" dirty="0"/>
          </a:p>
        </p:txBody>
      </p:sp>
      <p:sp>
        <p:nvSpPr>
          <p:cNvPr id="22" name="Text 1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low-risk way to prove the fit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352044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1311439157936445e+136" dist="7.991789684226167e+135" dir="4.297676999371057e+159">
              <a:srgbClr val="1B2E2B">
                <a:alpha val="1.800000000000001e+164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5146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C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3063240" y="260604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7" name="Image 0" descr="/home/user/scm-process-register/docs-src/pitch-deck/assets/seed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7832" y="277063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4290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one real project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2960" y="402336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journi with one active initiative instead of a demo — real stakeholders, real ADKAR baseline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331720"/>
            <a:ext cx="352044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7065527730579285e+140" dist="1.0149572898967231e+140" dir="2.5786061996226343e+164">
              <a:srgbClr val="1B2E2B">
                <a:alpha val="1.800000000000001e+169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72000" y="25146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C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800" dirty="0"/>
          </a:p>
        </p:txBody>
      </p:sp>
      <p:sp>
        <p:nvSpPr>
          <p:cNvPr id="12" name="Shape 9"/>
          <p:cNvSpPr/>
          <p:nvPr/>
        </p:nvSpPr>
        <p:spPr>
          <a:xfrm>
            <a:off x="6812280" y="260604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3" name="Image 1" descr="/home/user/scm-process-register/docs-src/pitch-deck/assets/calendar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770632"/>
            <a:ext cx="356616" cy="35661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72000" y="34290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evaluation window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72000" y="402336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single Phase Gate cycle through journi alongside your current process, side by side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46720" y="2331720"/>
            <a:ext cx="352044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4373220217835694e+144" dist="1.2889957581688384e+144" dir="1.5471637197735807e+169">
              <a:srgbClr val="1B2E2B">
                <a:alpha val="1.800000000000001e+174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321040" y="25146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C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Shape 14"/>
          <p:cNvSpPr/>
          <p:nvPr/>
        </p:nvSpPr>
        <p:spPr>
          <a:xfrm>
            <a:off x="10561320" y="260604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9" name="Image 2" descr="/home/user/scm-process-register/docs-src/pitch-deck/assets/scale-balanc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2" y="277063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21040" y="34290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evidence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8321040" y="402336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Joint Decision Record and Readiness Index against what your Steering Committee had before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4884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pitch-deck/assets/paper-pl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32257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map the journey.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85800" y="388620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the human side of change, mapped as a journey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6172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2026-09-01T11:10:29Z</dcterms:created>
  <dcterms:modified xsi:type="dcterms:W3CDTF">2026-09-01T11:10:29Z</dcterms:modified>
</cp:coreProperties>
</file>
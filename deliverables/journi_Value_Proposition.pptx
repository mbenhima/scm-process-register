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1.png"/><Relationship Id="rId3" Type="http://schemas.openxmlformats.org/officeDocument/2006/relationships/image" Target="../media/image-6-1.png"/><Relationship Id="rId4" Type="http://schemas.openxmlformats.org/officeDocument/2006/relationships/image" Target="../media/image-6-1.png"/><Relationship Id="rId5" Type="http://schemas.openxmlformats.org/officeDocument/2006/relationships/image" Target="../media/image-6-1.png"/><Relationship Id="rId6" Type="http://schemas.openxmlformats.org/officeDocument/2006/relationships/image" Target="../media/image-6-1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1.png"/><Relationship Id="rId3" Type="http://schemas.openxmlformats.org/officeDocument/2006/relationships/image" Target="../media/image-7-1.png"/><Relationship Id="rId4" Type="http://schemas.openxmlformats.org/officeDocument/2006/relationships/image" Target="../media/image-7-1.png"/><Relationship Id="rId5" Type="http://schemas.openxmlformats.org/officeDocument/2006/relationships/image" Target="../media/image-7-1.png"/><Relationship Id="rId6" Type="http://schemas.openxmlformats.org/officeDocument/2006/relationships/image" Target="../media/image-7-1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image" Target="../media/image-15-6.png"/><Relationship Id="rId7" Type="http://schemas.openxmlformats.org/officeDocument/2006/relationships/image" Target="../media/image-15-7.png"/><Relationship Id="rId8" Type="http://schemas.openxmlformats.org/officeDocument/2006/relationships/image" Target="../media/image-15-8.png"/><Relationship Id="rId9" Type="http://schemas.openxmlformats.org/officeDocument/2006/relationships/image" Target="../media/image-15-9.png"/><Relationship Id="rId10" Type="http://schemas.openxmlformats.org/officeDocument/2006/relationships/image" Target="../media/image-15-10.png"/><Relationship Id="rId11" Type="http://schemas.openxmlformats.org/officeDocument/2006/relationships/image" Target="../media/image-15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1.png"/><Relationship Id="rId3" Type="http://schemas.openxmlformats.org/officeDocument/2006/relationships/image" Target="../media/image-18-1.png"/><Relationship Id="rId4" Type="http://schemas.openxmlformats.org/officeDocument/2006/relationships/image" Target="../media/image-18-1.png"/><Relationship Id="rId5" Type="http://schemas.openxmlformats.org/officeDocument/2006/relationships/image" Target="../media/image-18-1.png"/><Relationship Id="rId6" Type="http://schemas.openxmlformats.org/officeDocument/2006/relationships/image" Target="../media/image-18-1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542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640080"/>
            <a:ext cx="777240" cy="777240"/>
          </a:xfrm>
          <a:prstGeom prst="ellipse">
            <a:avLst/>
          </a:prstGeom>
          <a:solidFill>
            <a:srgbClr val="C2661C"/>
          </a:solidFill>
          <a:ln/>
        </p:spPr>
      </p:sp>
      <p:pic>
        <p:nvPicPr>
          <p:cNvPr id="3" name="Image 0" descr="/home/user/scm-process-register/docs-src/pitch-deck/assets/compas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536" y="813816"/>
            <a:ext cx="429768" cy="42976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2331720"/>
            <a:ext cx="9144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journi</a:t>
            </a:r>
            <a:endParaRPr lang="en-US" sz="6000" dirty="0"/>
          </a:p>
        </p:txBody>
      </p:sp>
      <p:sp>
        <p:nvSpPr>
          <p:cNvPr id="5" name="Text 2"/>
          <p:cNvSpPr/>
          <p:nvPr/>
        </p:nvSpPr>
        <p:spPr>
          <a:xfrm>
            <a:off x="685800" y="3310128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B8D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human side of change, mapped as a journey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685800" y="3977640"/>
            <a:ext cx="5577840" cy="566928"/>
          </a:xfrm>
          <a:prstGeom prst="roundRect">
            <a:avLst>
              <a:gd name="adj" fmla="val 80645"/>
            </a:avLst>
          </a:prstGeom>
          <a:solidFill>
            <a:srgbClr val="C2661C"/>
          </a:solidFill>
          <a:ln/>
        </p:spPr>
      </p:sp>
      <p:sp>
        <p:nvSpPr>
          <p:cNvPr id="7" name="Text 4"/>
          <p:cNvSpPr/>
          <p:nvPr/>
        </p:nvSpPr>
        <p:spPr>
          <a:xfrm>
            <a:off x="685800" y="3977640"/>
            <a:ext cx="5577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PROPOSITION &amp; CUSTOMER FIT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85800" y="6172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FA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POWERACT Consulting  ·  Confidential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154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transformations still fail on the human side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5029200" cy="4160520"/>
          </a:xfrm>
          <a:prstGeom prst="roundRect">
            <a:avLst>
              <a:gd name="adj" fmla="val 1319"/>
            </a:avLst>
          </a:prstGeom>
          <a:solidFill>
            <a:srgbClr val="15423A"/>
          </a:solidFill>
          <a:ln/>
          <a:effectLst>
            <a:outerShdw sx="100000" sy="100000" kx="0" ky="0" algn="bl" rotWithShape="0" blurRad="101600" dist="38100" dir="5400000">
              <a:srgbClr val="1B2E2B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2194560"/>
            <a:ext cx="43891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~70%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868680" y="3383280"/>
            <a:ext cx="44348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D8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large-scale change initiatives fail to fully meet their objectives — not because the technology or process design was wrong, but because the people side was never systematically managed.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868680" y="5394960"/>
            <a:ext cx="4434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9FC2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Widely cited across Kotter, Prosci and McKinsey change-management research.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852160" y="1965960"/>
            <a:ext cx="5806440" cy="896112"/>
          </a:xfrm>
          <a:prstGeom prst="roundRect">
            <a:avLst>
              <a:gd name="adj" fmla="val 6122"/>
            </a:avLst>
          </a:prstGeom>
          <a:solidFill>
            <a:srgbClr val="EAF2EF"/>
          </a:solidFill>
          <a:ln/>
          <a:effectLst>
            <a:outerShdw sx="100000" sy="100000" kx="0" ky="0" algn="bl" rotWithShape="0" blurRad="1290320000" dist="483870000" dir="324000000000">
              <a:srgbClr val="1B2E2B">
                <a:alpha val="180000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080760" y="2139696"/>
            <a:ext cx="548640" cy="548640"/>
          </a:xfrm>
          <a:prstGeom prst="ellipse">
            <a:avLst/>
          </a:prstGeom>
          <a:solidFill>
            <a:srgbClr val="B4463B"/>
          </a:solidFill>
          <a:ln/>
        </p:spPr>
      </p:sp>
      <p:pic>
        <p:nvPicPr>
          <p:cNvPr id="10" name="Image 0" descr="/home/user/scm-process-register/docs-src/pitch-deck/assets/triangle-exclam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0" y="2276856"/>
            <a:ext cx="274320" cy="27432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6812280" y="1965960"/>
            <a:ext cx="470916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Readiness data lives in spreadsheets and decks — no single, durable source of truth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5852160" y="2999232"/>
            <a:ext cx="5806440" cy="896112"/>
          </a:xfrm>
          <a:prstGeom prst="roundRect">
            <a:avLst>
              <a:gd name="adj" fmla="val 6122"/>
            </a:avLst>
          </a:prstGeom>
          <a:solidFill>
            <a:srgbClr val="EAF2EF"/>
          </a:solidFill>
          <a:ln/>
          <a:effectLst>
            <a:outerShdw sx="100000" sy="100000" kx="0" ky="0" algn="bl" rotWithShape="0" blurRad="16387064000000" dist="6145149000000" dir="19440000000000000">
              <a:srgbClr val="1B2E2B">
                <a:alpha val="18000000000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080760" y="3172968"/>
            <a:ext cx="548640" cy="548640"/>
          </a:xfrm>
          <a:prstGeom prst="ellipse">
            <a:avLst/>
          </a:prstGeom>
          <a:solidFill>
            <a:srgbClr val="B4463B"/>
          </a:solidFill>
          <a:ln/>
        </p:spPr>
      </p:sp>
      <p:pic>
        <p:nvPicPr>
          <p:cNvPr id="14" name="Image 1" descr="/home/user/scm-process-register/docs-src/pitch-deck/assets/shuff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3310128"/>
            <a:ext cx="274320" cy="27432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6812280" y="2999232"/>
            <a:ext cx="470916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ADKAR, Kotter, Lewin and Bridges get used inconsistently, project to project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5852160" y="4032504"/>
            <a:ext cx="5806440" cy="896112"/>
          </a:xfrm>
          <a:prstGeom prst="roundRect">
            <a:avLst>
              <a:gd name="adj" fmla="val 6122"/>
            </a:avLst>
          </a:prstGeom>
          <a:solidFill>
            <a:srgbClr val="EAF2EF"/>
          </a:solidFill>
          <a:ln/>
          <a:effectLst>
            <a:outerShdw sx="100000" sy="100000" kx="0" ky="0" algn="bl" rotWithShape="0" blurRad="208115712800000000" dist="78043392300000000" dir="1.1664e+21">
              <a:srgbClr val="1B2E2B">
                <a:alpha val="1800000000000000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080760" y="4206240"/>
            <a:ext cx="548640" cy="548640"/>
          </a:xfrm>
          <a:prstGeom prst="ellipse">
            <a:avLst/>
          </a:prstGeom>
          <a:solidFill>
            <a:srgbClr val="B4463B"/>
          </a:solidFill>
          <a:ln/>
        </p:spPr>
      </p:sp>
      <p:pic>
        <p:nvPicPr>
          <p:cNvPr id="18" name="Image 2" descr="/home/user/scm-process-register/docs-src/pitch-deck/assets/ghos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4343400"/>
            <a:ext cx="274320" cy="27432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812280" y="4032504"/>
            <a:ext cx="470916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Sponsors "ghost" — no record of the visible-sponsorship actions that predict success</a:t>
            </a:r>
            <a:endParaRPr lang="en-US" sz="1300" dirty="0"/>
          </a:p>
        </p:txBody>
      </p:sp>
      <p:sp>
        <p:nvSpPr>
          <p:cNvPr id="20" name="Shape 15"/>
          <p:cNvSpPr/>
          <p:nvPr/>
        </p:nvSpPr>
        <p:spPr>
          <a:xfrm>
            <a:off x="5852160" y="5065776"/>
            <a:ext cx="5806440" cy="896112"/>
          </a:xfrm>
          <a:prstGeom prst="roundRect">
            <a:avLst>
              <a:gd name="adj" fmla="val 6122"/>
            </a:avLst>
          </a:prstGeom>
          <a:solidFill>
            <a:srgbClr val="EAF2EF"/>
          </a:solidFill>
          <a:ln/>
          <a:effectLst>
            <a:outerShdw sx="100000" sy="100000" kx="0" ky="0" algn="bl" rotWithShape="0" blurRad="2.64306955256e+21" dist="991151082210000000000" dir="6.9984e+25">
              <a:srgbClr val="1B2E2B">
                <a:alpha val="1.8e+24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6080760" y="5239512"/>
            <a:ext cx="548640" cy="548640"/>
          </a:xfrm>
          <a:prstGeom prst="ellipse">
            <a:avLst/>
          </a:prstGeom>
          <a:solidFill>
            <a:srgbClr val="B4463B"/>
          </a:solidFill>
          <a:ln/>
        </p:spPr>
      </p:sp>
      <p:pic>
        <p:nvPicPr>
          <p:cNvPr id="22" name="Image 3" descr="/home/user/scm-process-register/docs-src/pitch-deck/assets/clock-rotate-lef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0" y="5376672"/>
            <a:ext cx="274320" cy="27432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6812280" y="5065776"/>
            <a:ext cx="470916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Resistance surfaces after go-live, when it is far more expensive to fix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journi — Value Proposition &amp; Customer Fit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11155680" y="6528816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INTRODUCING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154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human change-management system of record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sits alongside — never inside — your project-delivery tools, and tracks the one thing they don’t: whether the people affected by the change are actually ready, willing and able.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423160"/>
            <a:ext cx="3611880" cy="3611880"/>
          </a:xfrm>
          <a:prstGeom prst="roundRect">
            <a:avLst>
              <a:gd name="adj" fmla="val 15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.3566983317512e+25" dist="1.2587618744067e+25" dir="4.19904e+30">
              <a:srgbClr val="1B2E2B">
                <a:alpha val="1.8e+29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68680" y="2724912"/>
            <a:ext cx="822960" cy="822960"/>
          </a:xfrm>
          <a:prstGeom prst="ellipse">
            <a:avLst/>
          </a:prstGeom>
          <a:solidFill>
            <a:srgbClr val="1F6459"/>
          </a:solidFill>
          <a:ln/>
        </p:spPr>
      </p:sp>
      <p:pic>
        <p:nvPicPr>
          <p:cNvPr id="7" name="Image 0" descr="/home/user/scm-process-register/docs-src/pitch-deck/assets/databa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9848" y="2926080"/>
            <a:ext cx="420624" cy="42062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68680" y="370332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4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of Record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868680" y="4206240"/>
            <a:ext cx="301752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score, justification and status change lives in one durable place — not a slide deck that goes stale the moment it is presented.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379976" y="2423160"/>
            <a:ext cx="3611880" cy="3611880"/>
          </a:xfrm>
          <a:prstGeom prst="roundRect">
            <a:avLst>
              <a:gd name="adj" fmla="val 15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4.2630068813240236e+29" dist="1.598627580496509e+29" dir="2.519424e+35">
              <a:srgbClr val="1B2E2B">
                <a:alpha val="1.7999999999999998e+34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00016" y="2724912"/>
            <a:ext cx="822960" cy="822960"/>
          </a:xfrm>
          <a:prstGeom prst="ellipse">
            <a:avLst/>
          </a:prstGeom>
          <a:solidFill>
            <a:srgbClr val="1F6459"/>
          </a:solidFill>
          <a:ln/>
        </p:spPr>
      </p:sp>
      <p:pic>
        <p:nvPicPr>
          <p:cNvPr id="12" name="Image 1" descr="/home/user/scm-process-register/docs-src/pitch-deck/assets/sitema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1184" y="2926080"/>
            <a:ext cx="420624" cy="42062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00016" y="370332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4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Engine</a:t>
            </a:r>
            <a:endParaRPr lang="en-US" sz="1700" dirty="0"/>
          </a:p>
        </p:txBody>
      </p:sp>
      <p:sp>
        <p:nvSpPr>
          <p:cNvPr id="14" name="Text 10"/>
          <p:cNvSpPr/>
          <p:nvPr/>
        </p:nvSpPr>
        <p:spPr>
          <a:xfrm>
            <a:off x="4700016" y="4206240"/>
            <a:ext cx="301752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ADKAR, Kotter, Lewin and Bridges are operational here — scored, justified, and audit-trailed, not reference posters on a wall.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8211312" y="2423160"/>
            <a:ext cx="3611880" cy="3611880"/>
          </a:xfrm>
          <a:prstGeom prst="roundRect">
            <a:avLst>
              <a:gd name="adj" fmla="val 15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.41401873928151e+33" dist="2.0302570272305663e+33" dir="1.5116544e+40">
              <a:srgbClr val="1B2E2B">
                <a:alpha val="1.8e+39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531352" y="2724912"/>
            <a:ext cx="822960" cy="822960"/>
          </a:xfrm>
          <a:prstGeom prst="ellipse">
            <a:avLst/>
          </a:prstGeom>
          <a:solidFill>
            <a:srgbClr val="1F6459"/>
          </a:solidFill>
          <a:ln/>
        </p:spPr>
      </p:sp>
      <p:pic>
        <p:nvPicPr>
          <p:cNvPr id="17" name="Image 2" descr="/home/user/scm-process-register/docs-src/pitch-deck/assets/shield-halv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32520" y="2926080"/>
            <a:ext cx="420624" cy="42062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531352" y="370332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4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Governed AI Layer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8531352" y="4206240"/>
            <a:ext cx="301752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drafts and diagnoses across the platform, but every suggestion carries a mandatory human checkpoint before it counts.</a:t>
            </a:r>
            <a:endParaRPr lang="en-US" sz="1250" dirty="0"/>
          </a:p>
        </p:txBody>
      </p:sp>
      <p:sp>
        <p:nvSpPr>
          <p:cNvPr id="20" name="Text 15"/>
          <p:cNvSpPr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journi — Value Proposition &amp; Customer Fit</a:t>
            </a:r>
            <a:endParaRPr lang="en-US" sz="900" dirty="0"/>
          </a:p>
        </p:txBody>
      </p:sp>
      <p:sp>
        <p:nvSpPr>
          <p:cNvPr id="21" name="Text 16"/>
          <p:cNvSpPr/>
          <p:nvPr/>
        </p:nvSpPr>
        <p:spPr>
          <a:xfrm>
            <a:off x="11155680" y="6528816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PROFILE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154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journi is built for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21488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 PROFILE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560320"/>
            <a:ext cx="475488" cy="475488"/>
          </a:xfrm>
          <a:prstGeom prst="ellipse">
            <a:avLst/>
          </a:prstGeom>
          <a:solidFill>
            <a:srgbClr val="1F6459"/>
          </a:solidFill>
          <a:ln/>
        </p:spPr>
      </p:sp>
      <p:pic>
        <p:nvPicPr>
          <p:cNvPr id="6" name="Image 0" descr="/home/user/scm-process-register/docs-src/pitch-deck/assets/build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" y="2679192"/>
            <a:ext cx="237744" cy="23774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07008" y="2505456"/>
            <a:ext cx="50292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Mid-to-large enterprises (500+ employees) running several concurrent transformation programs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48640" y="3401568"/>
            <a:ext cx="475488" cy="475488"/>
          </a:xfrm>
          <a:prstGeom prst="ellipse">
            <a:avLst/>
          </a:prstGeom>
          <a:solidFill>
            <a:srgbClr val="1F6459"/>
          </a:solidFill>
          <a:ln/>
        </p:spPr>
      </p:sp>
      <p:pic>
        <p:nvPicPr>
          <p:cNvPr id="9" name="Image 1" descr="/home/user/scm-process-register/docs-src/pitch-deck/assets/diagram-projec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" y="3520440"/>
            <a:ext cx="237744" cy="23774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07008" y="3346704"/>
            <a:ext cx="50292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Consulting firms delivering Organizational Change Management as a managed service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548640" y="4242816"/>
            <a:ext cx="475488" cy="475488"/>
          </a:xfrm>
          <a:prstGeom prst="ellipse">
            <a:avLst/>
          </a:prstGeom>
          <a:solidFill>
            <a:srgbClr val="1F6459"/>
          </a:solidFill>
          <a:ln/>
        </p:spPr>
      </p:sp>
      <p:pic>
        <p:nvPicPr>
          <p:cNvPr id="12" name="Image 2" descr="/home/user/scm-process-register/docs-src/pitch-deck/assets/indu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" y="4361688"/>
            <a:ext cx="237744" cy="23774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207008" y="4187952"/>
            <a:ext cx="50292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 across Manufacturing, Logistics &amp; Transportation, and Health — extensible to any sector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548640" y="5084064"/>
            <a:ext cx="475488" cy="475488"/>
          </a:xfrm>
          <a:prstGeom prst="ellipse">
            <a:avLst/>
          </a:prstGeom>
          <a:solidFill>
            <a:srgbClr val="1F6459"/>
          </a:solidFill>
          <a:ln/>
        </p:spPr>
      </p:sp>
      <p:pic>
        <p:nvPicPr>
          <p:cNvPr id="15" name="Image 3" descr="/home/user/scm-process-register/docs-src/pitch-deck/assets/glob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512" y="5202936"/>
            <a:ext cx="237744" cy="237744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207008" y="5029200"/>
            <a:ext cx="50292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Francophone / multilingual footprints where English-only tooling is a real adoption barrier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6355080" y="21488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 PERSONAS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355080" y="2560320"/>
            <a:ext cx="5257800" cy="1170432"/>
          </a:xfrm>
          <a:prstGeom prst="roundRect">
            <a:avLst>
              <a:gd name="adj" fmla="val 4688"/>
            </a:avLst>
          </a:prstGeom>
          <a:solidFill>
            <a:srgbClr val="EAF2EF"/>
          </a:solidFill>
          <a:ln/>
          <a:effectLst>
            <a:outerShdw sx="100000" sy="100000" kx="0" ky="0" algn="bl" rotWithShape="0" blurRad="6.875803798887518e+37" dist="2.578426424582819e+37" dir="9.069926400000001e+44">
              <a:srgbClr val="1B2E2B">
                <a:alpha val="1.8e+44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583680" y="2779776"/>
            <a:ext cx="731520" cy="731520"/>
          </a:xfrm>
          <a:prstGeom prst="ellipse">
            <a:avLst/>
          </a:prstGeom>
          <a:solidFill>
            <a:srgbClr val="15423A"/>
          </a:solidFill>
          <a:ln/>
        </p:spPr>
      </p:sp>
      <p:pic>
        <p:nvPicPr>
          <p:cNvPr id="20" name="Image 4" descr="/home/user/scm-process-register/docs-src/pitch-deck/assets/user-ti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57416" y="2953512"/>
            <a:ext cx="384048" cy="384048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498080" y="2706624"/>
            <a:ext cx="3977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4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Management Lead / Director</a:t>
            </a:r>
            <a:endParaRPr lang="en-US" sz="1400" dirty="0"/>
          </a:p>
        </p:txBody>
      </p:sp>
      <p:sp>
        <p:nvSpPr>
          <p:cNvPr id="22" name="Text 15"/>
          <p:cNvSpPr/>
          <p:nvPr/>
        </p:nvSpPr>
        <p:spPr>
          <a:xfrm>
            <a:off x="7498080" y="3108960"/>
            <a:ext cx="3977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user — owns adoption of the tool day to day</a:t>
            </a:r>
            <a:endParaRPr lang="en-US" sz="1150" dirty="0"/>
          </a:p>
        </p:txBody>
      </p:sp>
      <p:sp>
        <p:nvSpPr>
          <p:cNvPr id="23" name="Shape 16"/>
          <p:cNvSpPr/>
          <p:nvPr/>
        </p:nvSpPr>
        <p:spPr>
          <a:xfrm>
            <a:off x="6355080" y="3913632"/>
            <a:ext cx="5257800" cy="1170432"/>
          </a:xfrm>
          <a:prstGeom prst="roundRect">
            <a:avLst>
              <a:gd name="adj" fmla="val 4688"/>
            </a:avLst>
          </a:prstGeom>
          <a:solidFill>
            <a:srgbClr val="EAF2EF"/>
          </a:solidFill>
          <a:ln/>
          <a:effectLst>
            <a:outerShdw sx="100000" sy="100000" kx="0" ky="0" algn="bl" rotWithShape="0" blurRad="8.732270824587148e+41" dist="3.2746015592201804e+41" dir="5.44195584e+49">
              <a:srgbClr val="1B2E2B">
                <a:alpha val="1.8e+49"/>
              </a:srgbClr>
            </a:outerShdw>
          </a:effectLst>
        </p:spPr>
      </p:sp>
      <p:sp>
        <p:nvSpPr>
          <p:cNvPr id="24" name="Shape 17"/>
          <p:cNvSpPr/>
          <p:nvPr/>
        </p:nvSpPr>
        <p:spPr>
          <a:xfrm>
            <a:off x="6583680" y="4133088"/>
            <a:ext cx="731520" cy="731520"/>
          </a:xfrm>
          <a:prstGeom prst="ellipse">
            <a:avLst/>
          </a:prstGeom>
          <a:solidFill>
            <a:srgbClr val="15423A"/>
          </a:solidFill>
          <a:ln/>
        </p:spPr>
      </p:sp>
      <p:pic>
        <p:nvPicPr>
          <p:cNvPr id="25" name="Image 5" descr="/home/user/scm-process-register/docs-src/pitch-deck/assets/users-gear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57416" y="4306824"/>
            <a:ext cx="384048" cy="384048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7498080" y="4059936"/>
            <a:ext cx="3977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4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PMO / Program Director</a:t>
            </a:r>
            <a:endParaRPr lang="en-US" sz="1400" dirty="0"/>
          </a:p>
        </p:txBody>
      </p:sp>
      <p:sp>
        <p:nvSpPr>
          <p:cNvPr id="27" name="Text 19"/>
          <p:cNvSpPr/>
          <p:nvPr/>
        </p:nvSpPr>
        <p:spPr>
          <a:xfrm>
            <a:off x="7498080" y="4462272"/>
            <a:ext cx="3977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Co-buyer — wants the PM ↔ CM governance bridge closed</a:t>
            </a:r>
            <a:endParaRPr lang="en-US" sz="1150" dirty="0"/>
          </a:p>
        </p:txBody>
      </p:sp>
      <p:sp>
        <p:nvSpPr>
          <p:cNvPr id="28" name="Shape 20"/>
          <p:cNvSpPr/>
          <p:nvPr/>
        </p:nvSpPr>
        <p:spPr>
          <a:xfrm>
            <a:off x="6355080" y="5266944"/>
            <a:ext cx="5257800" cy="1170432"/>
          </a:xfrm>
          <a:prstGeom prst="roundRect">
            <a:avLst>
              <a:gd name="adj" fmla="val 4688"/>
            </a:avLst>
          </a:prstGeom>
          <a:solidFill>
            <a:srgbClr val="EAF2EF"/>
          </a:solidFill>
          <a:ln/>
          <a:effectLst>
            <a:outerShdw sx="100000" sy="100000" kx="0" ky="0" algn="bl" rotWithShape="0" blurRad="1.1089983947225678e+46" dist="4.158743980209629e+45" dir="3.2651735040000005e+54">
              <a:srgbClr val="1B2E2B">
                <a:alpha val="1.8e+54"/>
              </a:srgbClr>
            </a:outerShdw>
          </a:effectLst>
        </p:spPr>
      </p:sp>
      <p:sp>
        <p:nvSpPr>
          <p:cNvPr id="29" name="Shape 21"/>
          <p:cNvSpPr/>
          <p:nvPr/>
        </p:nvSpPr>
        <p:spPr>
          <a:xfrm>
            <a:off x="6583680" y="5486400"/>
            <a:ext cx="731520" cy="731520"/>
          </a:xfrm>
          <a:prstGeom prst="ellipse">
            <a:avLst/>
          </a:prstGeom>
          <a:solidFill>
            <a:srgbClr val="15423A"/>
          </a:solidFill>
          <a:ln/>
        </p:spPr>
      </p:sp>
      <p:pic>
        <p:nvPicPr>
          <p:cNvPr id="30" name="Image 6" descr="/home/user/scm-process-register/docs-src/pitch-deck/assets/chart-lin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57416" y="5660136"/>
            <a:ext cx="384048" cy="384048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7498080" y="5413248"/>
            <a:ext cx="3977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4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Sponsor / Steering Committee</a:t>
            </a:r>
            <a:endParaRPr lang="en-US" sz="1400" dirty="0"/>
          </a:p>
        </p:txBody>
      </p:sp>
      <p:sp>
        <p:nvSpPr>
          <p:cNvPr id="32" name="Text 23"/>
          <p:cNvSpPr/>
          <p:nvPr/>
        </p:nvSpPr>
        <p:spPr>
          <a:xfrm>
            <a:off x="7498080" y="5815584"/>
            <a:ext cx="3977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Economic influence — wants defensible go/no-go evidence</a:t>
            </a:r>
            <a:endParaRPr lang="en-US" sz="1150" dirty="0"/>
          </a:p>
        </p:txBody>
      </p:sp>
      <p:sp>
        <p:nvSpPr>
          <p:cNvPr id="33" name="Text 24"/>
          <p:cNvSpPr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journi — Value Proposition &amp; Customer Fit</a:t>
            </a:r>
            <a:endParaRPr lang="en-US" sz="900" dirty="0"/>
          </a:p>
        </p:txBody>
      </p:sp>
      <p:sp>
        <p:nvSpPr>
          <p:cNvPr id="34" name="Text 25"/>
          <p:cNvSpPr/>
          <p:nvPr/>
        </p:nvSpPr>
        <p:spPr>
          <a:xfrm>
            <a:off x="11155680" y="6528816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PROFILE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154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our customer is trying to get done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3611880" cy="4160520"/>
          </a:xfrm>
          <a:prstGeom prst="roundRect">
            <a:avLst>
              <a:gd name="adj" fmla="val 15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.408427961297661e+50" dist="5.281604854866228e+49" dir="1.9591041024000004e+59">
              <a:srgbClr val="1B2E2B">
                <a:alpha val="1.8000000000000001e+59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240280"/>
            <a:ext cx="658368" cy="658368"/>
          </a:xfrm>
          <a:prstGeom prst="ellipse">
            <a:avLst/>
          </a:prstGeom>
          <a:solidFill>
            <a:srgbClr val="1F6459"/>
          </a:solidFill>
          <a:ln/>
        </p:spPr>
      </p:sp>
      <p:pic>
        <p:nvPicPr>
          <p:cNvPr id="6" name="Image 0" descr="/home/user/scm-process-register/docs-src/pitch-deck/assets/ge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8408" y="2395728"/>
            <a:ext cx="347472" cy="34747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45920" y="233172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4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job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22960" y="3063240"/>
            <a:ext cx="3108960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80" b="1" dirty="0">
                <a:solidFill>
                  <a:srgbClr val="1F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lnSpc>
                <a:spcPct val="115000"/>
              </a:lnSpc>
              <a:buNone/>
            </a:pPr>
            <a:r>
              <a:rPr lang="en-US" sz="118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ADKAR readiness per cohort, not just the whole population</a:t>
            </a:r>
            <a:endParaRPr lang="en-US" sz="1180" dirty="0"/>
          </a:p>
        </p:txBody>
      </p:sp>
      <p:sp>
        <p:nvSpPr>
          <p:cNvPr id="9" name="Text 6"/>
          <p:cNvSpPr/>
          <p:nvPr/>
        </p:nvSpPr>
        <p:spPr>
          <a:xfrm>
            <a:off x="822960" y="3666744"/>
            <a:ext cx="3108960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80" b="1" dirty="0">
                <a:solidFill>
                  <a:srgbClr val="1F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lnSpc>
                <a:spcPct val="115000"/>
              </a:lnSpc>
              <a:buNone/>
            </a:pPr>
            <a:r>
              <a:rPr lang="en-US" sz="118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 sponsorship is active and visible, not assumed</a:t>
            </a:r>
            <a:endParaRPr lang="en-US" sz="1180" dirty="0"/>
          </a:p>
        </p:txBody>
      </p:sp>
      <p:sp>
        <p:nvSpPr>
          <p:cNvPr id="10" name="Text 7"/>
          <p:cNvSpPr/>
          <p:nvPr/>
        </p:nvSpPr>
        <p:spPr>
          <a:xfrm>
            <a:off x="822960" y="4270248"/>
            <a:ext cx="3108960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80" b="1" dirty="0">
                <a:solidFill>
                  <a:srgbClr val="1F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lnSpc>
                <a:spcPct val="115000"/>
              </a:lnSpc>
              <a:buNone/>
            </a:pPr>
            <a:r>
              <a:rPr lang="en-US" sz="118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 communications without saturating the population</a:t>
            </a:r>
            <a:endParaRPr lang="en-US" sz="1180" dirty="0"/>
          </a:p>
        </p:txBody>
      </p:sp>
      <p:sp>
        <p:nvSpPr>
          <p:cNvPr id="11" name="Text 8"/>
          <p:cNvSpPr/>
          <p:nvPr/>
        </p:nvSpPr>
        <p:spPr>
          <a:xfrm>
            <a:off x="822960" y="4873752"/>
            <a:ext cx="3108960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80" b="1" dirty="0">
                <a:solidFill>
                  <a:srgbClr val="1F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lnSpc>
                <a:spcPct val="115000"/>
              </a:lnSpc>
              <a:buNone/>
            </a:pPr>
            <a:r>
              <a:rPr lang="en-US" sz="118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 resistance to closure, with a documented root cause</a:t>
            </a:r>
            <a:endParaRPr lang="en-US" sz="1180" dirty="0"/>
          </a:p>
        </p:txBody>
      </p:sp>
      <p:sp>
        <p:nvSpPr>
          <p:cNvPr id="12" name="Text 9"/>
          <p:cNvSpPr/>
          <p:nvPr/>
        </p:nvSpPr>
        <p:spPr>
          <a:xfrm>
            <a:off x="822960" y="5477256"/>
            <a:ext cx="3108960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80" b="1" dirty="0">
                <a:solidFill>
                  <a:srgbClr val="1F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lnSpc>
                <a:spcPct val="115000"/>
              </a:lnSpc>
              <a:buNone/>
            </a:pPr>
            <a:r>
              <a:rPr lang="en-US" sz="118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readiness to executives in language they trust</a:t>
            </a:r>
            <a:endParaRPr lang="en-US" sz="1180" dirty="0"/>
          </a:p>
        </p:txBody>
      </p:sp>
      <p:sp>
        <p:nvSpPr>
          <p:cNvPr id="13" name="Shape 10"/>
          <p:cNvSpPr/>
          <p:nvPr/>
        </p:nvSpPr>
        <p:spPr>
          <a:xfrm>
            <a:off x="4379976" y="1965960"/>
            <a:ext cx="3611880" cy="4160520"/>
          </a:xfrm>
          <a:prstGeom prst="roundRect">
            <a:avLst>
              <a:gd name="adj" fmla="val 15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.7887035108480297e+54" dist="6.70763816568011e+53" dir="1.1754624614400003e+64">
              <a:srgbClr val="1B2E2B">
                <a:alpha val="1.8e+64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654296" y="2240280"/>
            <a:ext cx="658368" cy="658368"/>
          </a:xfrm>
          <a:prstGeom prst="ellipse">
            <a:avLst/>
          </a:prstGeom>
          <a:solidFill>
            <a:srgbClr val="C2661C"/>
          </a:solidFill>
          <a:ln/>
        </p:spPr>
      </p:sp>
      <p:pic>
        <p:nvPicPr>
          <p:cNvPr id="15" name="Image 1" descr="/home/user/scm-process-register/docs-src/pitch-deck/assets/comment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9744" y="2395728"/>
            <a:ext cx="347472" cy="34747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477256" y="233172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4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job</a:t>
            </a:r>
            <a:endParaRPr lang="en-US" sz="1600" dirty="0"/>
          </a:p>
        </p:txBody>
      </p:sp>
      <p:sp>
        <p:nvSpPr>
          <p:cNvPr id="17" name="Text 13"/>
          <p:cNvSpPr/>
          <p:nvPr/>
        </p:nvSpPr>
        <p:spPr>
          <a:xfrm>
            <a:off x="4654296" y="3063240"/>
            <a:ext cx="3108960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80" b="1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lnSpc>
                <a:spcPct val="115000"/>
              </a:lnSpc>
              <a:buNone/>
            </a:pPr>
            <a:r>
              <a:rPr lang="en-US" sz="118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 seen as running change management on data, not instinct</a:t>
            </a:r>
            <a:endParaRPr lang="en-US" sz="1180" dirty="0"/>
          </a:p>
        </p:txBody>
      </p:sp>
      <p:sp>
        <p:nvSpPr>
          <p:cNvPr id="18" name="Text 14"/>
          <p:cNvSpPr/>
          <p:nvPr/>
        </p:nvSpPr>
        <p:spPr>
          <a:xfrm>
            <a:off x="4654296" y="3666744"/>
            <a:ext cx="3108960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80" b="1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lnSpc>
                <a:spcPct val="115000"/>
              </a:lnSpc>
              <a:buNone/>
            </a:pPr>
            <a:r>
              <a:rPr lang="en-US" sz="118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a Steering Committee real evidence at every phase gate</a:t>
            </a:r>
            <a:endParaRPr lang="en-US" sz="1180" dirty="0"/>
          </a:p>
        </p:txBody>
      </p:sp>
      <p:sp>
        <p:nvSpPr>
          <p:cNvPr id="19" name="Text 15"/>
          <p:cNvSpPr/>
          <p:nvPr/>
        </p:nvSpPr>
        <p:spPr>
          <a:xfrm>
            <a:off x="4654296" y="4270248"/>
            <a:ext cx="3108960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80" b="1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lnSpc>
                <a:spcPct val="115000"/>
              </a:lnSpc>
              <a:buNone/>
            </a:pPr>
            <a:r>
              <a:rPr lang="en-US" sz="118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 the vocabulary each stakeholder already knows</a:t>
            </a:r>
            <a:endParaRPr lang="en-US" sz="1180" dirty="0"/>
          </a:p>
        </p:txBody>
      </p:sp>
      <p:sp>
        <p:nvSpPr>
          <p:cNvPr id="20" name="Shape 16"/>
          <p:cNvSpPr/>
          <p:nvPr/>
        </p:nvSpPr>
        <p:spPr>
          <a:xfrm>
            <a:off x="8211312" y="1965960"/>
            <a:ext cx="3611880" cy="4160520"/>
          </a:xfrm>
          <a:prstGeom prst="roundRect">
            <a:avLst>
              <a:gd name="adj" fmla="val 15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.2716534587769977e+58" dist="8.518700470413739e+57" dir="7.052774768640002e+68">
              <a:srgbClr val="1B2E2B">
                <a:alpha val="1.8e+69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8485632" y="2240280"/>
            <a:ext cx="658368" cy="658368"/>
          </a:xfrm>
          <a:prstGeom prst="ellipse">
            <a:avLst/>
          </a:prstGeom>
          <a:solidFill>
            <a:srgbClr val="2C7A6B"/>
          </a:solidFill>
          <a:ln/>
        </p:spPr>
      </p:sp>
      <p:pic>
        <p:nvPicPr>
          <p:cNvPr id="22" name="Image 2" descr="/home/user/scm-process-register/docs-src/pitch-deck/assets/hear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41080" y="2395728"/>
            <a:ext cx="347472" cy="347472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9308592" y="233172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4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Emotional job</a:t>
            </a:r>
            <a:endParaRPr lang="en-US" sz="1600" dirty="0"/>
          </a:p>
        </p:txBody>
      </p:sp>
      <p:sp>
        <p:nvSpPr>
          <p:cNvPr id="24" name="Text 19"/>
          <p:cNvSpPr/>
          <p:nvPr/>
        </p:nvSpPr>
        <p:spPr>
          <a:xfrm>
            <a:off x="8485632" y="3063240"/>
            <a:ext cx="3108960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80" b="1" dirty="0">
                <a:solidFill>
                  <a:srgbClr val="2C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lnSpc>
                <a:spcPct val="115000"/>
              </a:lnSpc>
              <a:buNone/>
            </a:pPr>
            <a:r>
              <a:rPr lang="en-US" sz="118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nothing is falling through the cracks before go-live</a:t>
            </a:r>
            <a:endParaRPr lang="en-US" sz="1180" dirty="0"/>
          </a:p>
        </p:txBody>
      </p:sp>
      <p:sp>
        <p:nvSpPr>
          <p:cNvPr id="25" name="Text 20"/>
          <p:cNvSpPr/>
          <p:nvPr/>
        </p:nvSpPr>
        <p:spPr>
          <a:xfrm>
            <a:off x="8485632" y="3666744"/>
            <a:ext cx="3108960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80" b="1" dirty="0">
                <a:solidFill>
                  <a:srgbClr val="2C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lnSpc>
                <a:spcPct val="115000"/>
              </a:lnSpc>
              <a:buNone/>
            </a:pPr>
            <a:r>
              <a:rPr lang="en-US" sz="118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Feel confident defending a go/no-go call after the fact</a:t>
            </a:r>
            <a:endParaRPr lang="en-US" sz="1180" dirty="0"/>
          </a:p>
        </p:txBody>
      </p:sp>
      <p:sp>
        <p:nvSpPr>
          <p:cNvPr id="26" name="Text 21"/>
          <p:cNvSpPr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journi — Value Proposition &amp; Customer Fit</a:t>
            </a:r>
            <a:endParaRPr lang="en-US" sz="900" dirty="0"/>
          </a:p>
        </p:txBody>
      </p:sp>
      <p:sp>
        <p:nvSpPr>
          <p:cNvPr id="27" name="Text 22"/>
          <p:cNvSpPr/>
          <p:nvPr/>
        </p:nvSpPr>
        <p:spPr>
          <a:xfrm>
            <a:off x="11155680" y="6528816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PROFILE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154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Pains — what makes this job hard today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11064240" cy="658368"/>
          </a:xfrm>
          <a:prstGeom prst="roundRect">
            <a:avLst>
              <a:gd name="adj" fmla="val 8333"/>
            </a:avLst>
          </a:prstGeom>
          <a:solidFill>
            <a:srgbClr val="F7E1DD"/>
          </a:solidFill>
          <a:ln/>
        </p:spPr>
      </p:sp>
      <p:sp>
        <p:nvSpPr>
          <p:cNvPr id="5" name="Shape 3"/>
          <p:cNvSpPr/>
          <p:nvPr/>
        </p:nvSpPr>
        <p:spPr>
          <a:xfrm>
            <a:off x="749808" y="2029968"/>
            <a:ext cx="438912" cy="438912"/>
          </a:xfrm>
          <a:prstGeom prst="ellipse">
            <a:avLst/>
          </a:prstGeom>
          <a:solidFill>
            <a:srgbClr val="B4463B"/>
          </a:solidFill>
          <a:ln/>
        </p:spPr>
      </p:sp>
      <p:pic>
        <p:nvPicPr>
          <p:cNvPr id="6" name="Image 0" descr="/home/user/scm-process-register/docs-src/pitch-deck/assets/x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536" y="2139696"/>
            <a:ext cx="219456" cy="2194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1920240"/>
            <a:ext cx="10012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Readiness data scattered across spreadsheets, decks and inboxes, with no historical trail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548640" y="2679192"/>
            <a:ext cx="11064240" cy="658368"/>
          </a:xfrm>
          <a:prstGeom prst="roundRect">
            <a:avLst>
              <a:gd name="adj" fmla="val 8333"/>
            </a:avLst>
          </a:prstGeom>
          <a:solidFill>
            <a:srgbClr val="F7E1DD"/>
          </a:solidFill>
          <a:ln/>
        </p:spPr>
      </p:sp>
      <p:sp>
        <p:nvSpPr>
          <p:cNvPr id="9" name="Shape 6"/>
          <p:cNvSpPr/>
          <p:nvPr/>
        </p:nvSpPr>
        <p:spPr>
          <a:xfrm>
            <a:off x="749808" y="2788920"/>
            <a:ext cx="438912" cy="438912"/>
          </a:xfrm>
          <a:prstGeom prst="ellipse">
            <a:avLst/>
          </a:prstGeom>
          <a:solidFill>
            <a:srgbClr val="B4463B"/>
          </a:solidFill>
          <a:ln/>
        </p:spPr>
      </p:sp>
      <p:pic>
        <p:nvPicPr>
          <p:cNvPr id="10" name="Image 1" descr="/home/user/scm-process-register/docs-src/pitch-deck/assets/xm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536" y="2898648"/>
            <a:ext cx="219456" cy="21945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417320" y="2679192"/>
            <a:ext cx="10012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Frameworks (ADKAR, Kotter, Lewin, Bridges) applied inconsistently, project to project</a:t>
            </a:r>
            <a:endParaRPr lang="en-US" sz="1350" dirty="0"/>
          </a:p>
        </p:txBody>
      </p:sp>
      <p:sp>
        <p:nvSpPr>
          <p:cNvPr id="12" name="Shape 8"/>
          <p:cNvSpPr/>
          <p:nvPr/>
        </p:nvSpPr>
        <p:spPr>
          <a:xfrm>
            <a:off x="548640" y="3438144"/>
            <a:ext cx="11064240" cy="658368"/>
          </a:xfrm>
          <a:prstGeom prst="roundRect">
            <a:avLst>
              <a:gd name="adj" fmla="val 8333"/>
            </a:avLst>
          </a:prstGeom>
          <a:solidFill>
            <a:srgbClr val="F7E1DD"/>
          </a:solidFill>
          <a:ln/>
        </p:spPr>
      </p:sp>
      <p:sp>
        <p:nvSpPr>
          <p:cNvPr id="13" name="Shape 9"/>
          <p:cNvSpPr/>
          <p:nvPr/>
        </p:nvSpPr>
        <p:spPr>
          <a:xfrm>
            <a:off x="749808" y="3547872"/>
            <a:ext cx="438912" cy="438912"/>
          </a:xfrm>
          <a:prstGeom prst="ellipse">
            <a:avLst/>
          </a:prstGeom>
          <a:solidFill>
            <a:srgbClr val="B4463B"/>
          </a:solidFill>
          <a:ln/>
        </p:spPr>
      </p:sp>
      <p:pic>
        <p:nvPicPr>
          <p:cNvPr id="14" name="Image 2" descr="/home/user/scm-process-register/docs-src/pitch-deck/assets/xmar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" y="3657600"/>
            <a:ext cx="219456" cy="21945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417320" y="3438144"/>
            <a:ext cx="10012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Sponsors "ghost" — no record of the visible-sponsorship actions that predict success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548640" y="4197096"/>
            <a:ext cx="11064240" cy="658368"/>
          </a:xfrm>
          <a:prstGeom prst="roundRect">
            <a:avLst>
              <a:gd name="adj" fmla="val 8333"/>
            </a:avLst>
          </a:prstGeom>
          <a:solidFill>
            <a:srgbClr val="F7E1DD"/>
          </a:solidFill>
          <a:ln/>
        </p:spPr>
      </p:sp>
      <p:sp>
        <p:nvSpPr>
          <p:cNvPr id="17" name="Shape 12"/>
          <p:cNvSpPr/>
          <p:nvPr/>
        </p:nvSpPr>
        <p:spPr>
          <a:xfrm>
            <a:off x="749808" y="4306824"/>
            <a:ext cx="438912" cy="438912"/>
          </a:xfrm>
          <a:prstGeom prst="ellipse">
            <a:avLst/>
          </a:prstGeom>
          <a:solidFill>
            <a:srgbClr val="B4463B"/>
          </a:solidFill>
          <a:ln/>
        </p:spPr>
      </p:sp>
      <p:pic>
        <p:nvPicPr>
          <p:cNvPr id="18" name="Image 3" descr="/home/user/scm-process-register/docs-src/pitch-deck/assets/xmar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9536" y="4416552"/>
            <a:ext cx="219456" cy="21945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417320" y="4197096"/>
            <a:ext cx="10012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Resistance surfaces late, after go-live, when it is expensive and disruptive to fix</a:t>
            </a:r>
            <a:endParaRPr lang="en-US" sz="1350" dirty="0"/>
          </a:p>
        </p:txBody>
      </p:sp>
      <p:sp>
        <p:nvSpPr>
          <p:cNvPr id="20" name="Shape 14"/>
          <p:cNvSpPr/>
          <p:nvPr/>
        </p:nvSpPr>
        <p:spPr>
          <a:xfrm>
            <a:off x="548640" y="4956048"/>
            <a:ext cx="11064240" cy="658368"/>
          </a:xfrm>
          <a:prstGeom prst="roundRect">
            <a:avLst>
              <a:gd name="adj" fmla="val 8333"/>
            </a:avLst>
          </a:prstGeom>
          <a:solidFill>
            <a:srgbClr val="F7E1DD"/>
          </a:solidFill>
          <a:ln/>
        </p:spPr>
      </p:sp>
      <p:sp>
        <p:nvSpPr>
          <p:cNvPr id="21" name="Shape 15"/>
          <p:cNvSpPr/>
          <p:nvPr/>
        </p:nvSpPr>
        <p:spPr>
          <a:xfrm>
            <a:off x="749808" y="5065776"/>
            <a:ext cx="438912" cy="438912"/>
          </a:xfrm>
          <a:prstGeom prst="ellipse">
            <a:avLst/>
          </a:prstGeom>
          <a:solidFill>
            <a:srgbClr val="B4463B"/>
          </a:solidFill>
          <a:ln/>
        </p:spPr>
      </p:sp>
      <p:pic>
        <p:nvPicPr>
          <p:cNvPr id="22" name="Image 4" descr="/home/user/scm-process-register/docs-src/pitch-deck/assets/xmar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9536" y="5175504"/>
            <a:ext cx="219456" cy="219456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417320" y="4956048"/>
            <a:ext cx="10012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pilots deployed with no governance — no audit trail, no human checkpoint</a:t>
            </a:r>
            <a:endParaRPr lang="en-US" sz="1350" dirty="0"/>
          </a:p>
        </p:txBody>
      </p:sp>
      <p:sp>
        <p:nvSpPr>
          <p:cNvPr id="24" name="Shape 17"/>
          <p:cNvSpPr/>
          <p:nvPr/>
        </p:nvSpPr>
        <p:spPr>
          <a:xfrm>
            <a:off x="548640" y="5715000"/>
            <a:ext cx="11064240" cy="658368"/>
          </a:xfrm>
          <a:prstGeom prst="roundRect">
            <a:avLst>
              <a:gd name="adj" fmla="val 8333"/>
            </a:avLst>
          </a:prstGeom>
          <a:solidFill>
            <a:srgbClr val="F7E1DD"/>
          </a:solidFill>
          <a:ln/>
        </p:spPr>
      </p:sp>
      <p:sp>
        <p:nvSpPr>
          <p:cNvPr id="25" name="Shape 18"/>
          <p:cNvSpPr/>
          <p:nvPr/>
        </p:nvSpPr>
        <p:spPr>
          <a:xfrm>
            <a:off x="749808" y="5824728"/>
            <a:ext cx="438912" cy="438912"/>
          </a:xfrm>
          <a:prstGeom prst="ellipse">
            <a:avLst/>
          </a:prstGeom>
          <a:solidFill>
            <a:srgbClr val="B4463B"/>
          </a:solidFill>
          <a:ln/>
        </p:spPr>
      </p:sp>
      <p:pic>
        <p:nvPicPr>
          <p:cNvPr id="26" name="Image 5" descr="/home/user/scm-process-register/docs-src/pitch-deck/assets/xmark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9536" y="5934456"/>
            <a:ext cx="219456" cy="219456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1417320" y="5715000"/>
            <a:ext cx="10012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PMO and Change Management run as two disconnected worlds with no shared timeline</a:t>
            </a:r>
            <a:endParaRPr lang="en-US" sz="1350" dirty="0"/>
          </a:p>
        </p:txBody>
      </p:sp>
      <p:sp>
        <p:nvSpPr>
          <p:cNvPr id="28" name="Text 20"/>
          <p:cNvSpPr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journi — Value Proposition &amp; Customer Fit</a:t>
            </a:r>
            <a:endParaRPr lang="en-US" sz="900" dirty="0"/>
          </a:p>
        </p:txBody>
      </p:sp>
      <p:sp>
        <p:nvSpPr>
          <p:cNvPr id="29" name="Text 21"/>
          <p:cNvSpPr/>
          <p:nvPr/>
        </p:nvSpPr>
        <p:spPr>
          <a:xfrm>
            <a:off x="11155680" y="6528816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PROFILE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154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Gains — what would make this job easy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11064240" cy="658368"/>
          </a:xfrm>
          <a:prstGeom prst="roundRect">
            <a:avLst>
              <a:gd name="adj" fmla="val 8333"/>
            </a:avLst>
          </a:prstGeom>
          <a:solidFill>
            <a:srgbClr val="EAF2EF"/>
          </a:solidFill>
          <a:ln/>
        </p:spPr>
      </p:sp>
      <p:sp>
        <p:nvSpPr>
          <p:cNvPr id="5" name="Shape 3"/>
          <p:cNvSpPr/>
          <p:nvPr/>
        </p:nvSpPr>
        <p:spPr>
          <a:xfrm>
            <a:off x="749808" y="2029968"/>
            <a:ext cx="438912" cy="438912"/>
          </a:xfrm>
          <a:prstGeom prst="ellipse">
            <a:avLst/>
          </a:prstGeom>
          <a:solidFill>
            <a:srgbClr val="1F6459"/>
          </a:solidFill>
          <a:ln/>
        </p:spPr>
      </p:sp>
      <p:pic>
        <p:nvPicPr>
          <p:cNvPr id="6" name="Image 0" descr="/home/user/scm-process-register/docs-src/pitch-deck/assets/ch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536" y="2139696"/>
            <a:ext cx="219456" cy="2194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1920240"/>
            <a:ext cx="10012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system of record spanning the full change lifecycle, tenant setup to sustainment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548640" y="2679192"/>
            <a:ext cx="11064240" cy="658368"/>
          </a:xfrm>
          <a:prstGeom prst="roundRect">
            <a:avLst>
              <a:gd name="adj" fmla="val 8333"/>
            </a:avLst>
          </a:prstGeom>
          <a:solidFill>
            <a:srgbClr val="EAF2EF"/>
          </a:solidFill>
          <a:ln/>
        </p:spPr>
      </p:sp>
      <p:sp>
        <p:nvSpPr>
          <p:cNvPr id="9" name="Shape 6"/>
          <p:cNvSpPr/>
          <p:nvPr/>
        </p:nvSpPr>
        <p:spPr>
          <a:xfrm>
            <a:off x="749808" y="2788920"/>
            <a:ext cx="438912" cy="438912"/>
          </a:xfrm>
          <a:prstGeom prst="ellipse">
            <a:avLst/>
          </a:prstGeom>
          <a:solidFill>
            <a:srgbClr val="1F6459"/>
          </a:solidFill>
          <a:ln/>
        </p:spPr>
      </p:sp>
      <p:pic>
        <p:nvPicPr>
          <p:cNvPr id="10" name="Image 1" descr="/home/user/scm-process-register/docs-src/pitch-deck/assets/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536" y="2898648"/>
            <a:ext cx="219456" cy="21945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417320" y="2679192"/>
            <a:ext cx="10012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defensible, timestamped justification trail behind every score and status change</a:t>
            </a:r>
            <a:endParaRPr lang="en-US" sz="1350" dirty="0"/>
          </a:p>
        </p:txBody>
      </p:sp>
      <p:sp>
        <p:nvSpPr>
          <p:cNvPr id="12" name="Shape 8"/>
          <p:cNvSpPr/>
          <p:nvPr/>
        </p:nvSpPr>
        <p:spPr>
          <a:xfrm>
            <a:off x="548640" y="3438144"/>
            <a:ext cx="11064240" cy="658368"/>
          </a:xfrm>
          <a:prstGeom prst="roundRect">
            <a:avLst>
              <a:gd name="adj" fmla="val 8333"/>
            </a:avLst>
          </a:prstGeom>
          <a:solidFill>
            <a:srgbClr val="EAF2EF"/>
          </a:solidFill>
          <a:ln/>
        </p:spPr>
      </p:sp>
      <p:sp>
        <p:nvSpPr>
          <p:cNvPr id="13" name="Shape 9"/>
          <p:cNvSpPr/>
          <p:nvPr/>
        </p:nvSpPr>
        <p:spPr>
          <a:xfrm>
            <a:off x="749808" y="3547872"/>
            <a:ext cx="438912" cy="438912"/>
          </a:xfrm>
          <a:prstGeom prst="ellipse">
            <a:avLst/>
          </a:prstGeom>
          <a:solidFill>
            <a:srgbClr val="1F6459"/>
          </a:solidFill>
          <a:ln/>
        </p:spPr>
      </p:sp>
      <p:pic>
        <p:nvPicPr>
          <p:cNvPr id="14" name="Image 2" descr="/home/user/scm-process-register/docs-src/pitch-deck/assets/che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" y="3657600"/>
            <a:ext cx="219456" cy="21945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417320" y="3438144"/>
            <a:ext cx="10012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executive visibility — a Composite Readiness Index benchmarked by phase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548640" y="4197096"/>
            <a:ext cx="11064240" cy="658368"/>
          </a:xfrm>
          <a:prstGeom prst="roundRect">
            <a:avLst>
              <a:gd name="adj" fmla="val 8333"/>
            </a:avLst>
          </a:prstGeom>
          <a:solidFill>
            <a:srgbClr val="EAF2EF"/>
          </a:solidFill>
          <a:ln/>
        </p:spPr>
      </p:sp>
      <p:sp>
        <p:nvSpPr>
          <p:cNvPr id="17" name="Shape 12"/>
          <p:cNvSpPr/>
          <p:nvPr/>
        </p:nvSpPr>
        <p:spPr>
          <a:xfrm>
            <a:off x="749808" y="4306824"/>
            <a:ext cx="438912" cy="438912"/>
          </a:xfrm>
          <a:prstGeom prst="ellipse">
            <a:avLst/>
          </a:prstGeom>
          <a:solidFill>
            <a:srgbClr val="1F6459"/>
          </a:solidFill>
          <a:ln/>
        </p:spPr>
      </p:sp>
      <p:pic>
        <p:nvPicPr>
          <p:cNvPr id="18" name="Image 3" descr="/home/user/scm-process-register/docs-src/pitch-deck/assets/che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9536" y="4416552"/>
            <a:ext cx="219456" cy="21945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417320" y="4197096"/>
            <a:ext cx="10012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Faster, evidence-based resistance resolution with root-cause pattern detection</a:t>
            </a:r>
            <a:endParaRPr lang="en-US" sz="1350" dirty="0"/>
          </a:p>
        </p:txBody>
      </p:sp>
      <p:sp>
        <p:nvSpPr>
          <p:cNvPr id="20" name="Shape 14"/>
          <p:cNvSpPr/>
          <p:nvPr/>
        </p:nvSpPr>
        <p:spPr>
          <a:xfrm>
            <a:off x="548640" y="4956048"/>
            <a:ext cx="11064240" cy="658368"/>
          </a:xfrm>
          <a:prstGeom prst="roundRect">
            <a:avLst>
              <a:gd name="adj" fmla="val 8333"/>
            </a:avLst>
          </a:prstGeom>
          <a:solidFill>
            <a:srgbClr val="EAF2EF"/>
          </a:solidFill>
          <a:ln/>
        </p:spPr>
      </p:sp>
      <p:sp>
        <p:nvSpPr>
          <p:cNvPr id="21" name="Shape 15"/>
          <p:cNvSpPr/>
          <p:nvPr/>
        </p:nvSpPr>
        <p:spPr>
          <a:xfrm>
            <a:off x="749808" y="5065776"/>
            <a:ext cx="438912" cy="438912"/>
          </a:xfrm>
          <a:prstGeom prst="ellipse">
            <a:avLst/>
          </a:prstGeom>
          <a:solidFill>
            <a:srgbClr val="1F6459"/>
          </a:solidFill>
          <a:ln/>
        </p:spPr>
      </p:sp>
      <p:pic>
        <p:nvPicPr>
          <p:cNvPr id="22" name="Image 4" descr="/home/user/scm-process-register/docs-src/pitch-deck/assets/chec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9536" y="5175504"/>
            <a:ext cx="219456" cy="219456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417320" y="4956048"/>
            <a:ext cx="10012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acceleration with governance built in — human checkpoint on every suggestion</a:t>
            </a:r>
            <a:endParaRPr lang="en-US" sz="1350" dirty="0"/>
          </a:p>
        </p:txBody>
      </p:sp>
      <p:sp>
        <p:nvSpPr>
          <p:cNvPr id="24" name="Shape 17"/>
          <p:cNvSpPr/>
          <p:nvPr/>
        </p:nvSpPr>
        <p:spPr>
          <a:xfrm>
            <a:off x="548640" y="5715000"/>
            <a:ext cx="11064240" cy="658368"/>
          </a:xfrm>
          <a:prstGeom prst="roundRect">
            <a:avLst>
              <a:gd name="adj" fmla="val 8333"/>
            </a:avLst>
          </a:prstGeom>
          <a:solidFill>
            <a:srgbClr val="EAF2EF"/>
          </a:solidFill>
          <a:ln/>
        </p:spPr>
      </p:sp>
      <p:sp>
        <p:nvSpPr>
          <p:cNvPr id="25" name="Shape 18"/>
          <p:cNvSpPr/>
          <p:nvPr/>
        </p:nvSpPr>
        <p:spPr>
          <a:xfrm>
            <a:off x="749808" y="5824728"/>
            <a:ext cx="438912" cy="438912"/>
          </a:xfrm>
          <a:prstGeom prst="ellipse">
            <a:avLst/>
          </a:prstGeom>
          <a:solidFill>
            <a:srgbClr val="1F6459"/>
          </a:solidFill>
          <a:ln/>
        </p:spPr>
      </p:sp>
      <p:pic>
        <p:nvPicPr>
          <p:cNvPr id="26" name="Image 5" descr="/home/user/scm-process-register/docs-src/pitch-deck/assets/check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9536" y="5934456"/>
            <a:ext cx="219456" cy="219456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1417320" y="5715000"/>
            <a:ext cx="10012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multilingual, RTL-ready interface for global and francophone-Africa teams</a:t>
            </a:r>
            <a:endParaRPr lang="en-US" sz="1350" dirty="0"/>
          </a:p>
        </p:txBody>
      </p:sp>
      <p:sp>
        <p:nvSpPr>
          <p:cNvPr id="28" name="Text 20"/>
          <p:cNvSpPr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journi — Value Proposition &amp; Customer Fit</a:t>
            </a:r>
            <a:endParaRPr lang="en-US" sz="900" dirty="0"/>
          </a:p>
        </p:txBody>
      </p:sp>
      <p:sp>
        <p:nvSpPr>
          <p:cNvPr id="29" name="Text 21"/>
          <p:cNvSpPr/>
          <p:nvPr/>
        </p:nvSpPr>
        <p:spPr>
          <a:xfrm>
            <a:off x="11155680" y="6528816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MAP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154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journi delivers: 22 integrated modules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shared data model, organized into the platform every project draws on, and the 16-module program lifecycle a practitioner runs day to day.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3429000" cy="3840480"/>
          </a:xfrm>
          <a:prstGeom prst="roundRect">
            <a:avLst>
              <a:gd name="adj" fmla="val 1600"/>
            </a:avLst>
          </a:prstGeom>
          <a:solidFill>
            <a:srgbClr val="15423A"/>
          </a:solidFill>
          <a:ln/>
          <a:effectLst>
            <a:outerShdw sx="100000" sy="100000" kx="0" ky="0" algn="bl" rotWithShape="0" blurRad="2.8849998926467873e+62" dist="1.081874959742545e+62" dir="4.2316648611840007e+73">
              <a:srgbClr val="1B2E2B">
                <a:alpha val="1.8000000000000002e+74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542032"/>
            <a:ext cx="566928" cy="566928"/>
          </a:xfrm>
          <a:prstGeom prst="ellipse">
            <a:avLst/>
          </a:prstGeom>
          <a:solidFill>
            <a:srgbClr val="C2661C"/>
          </a:solidFill>
          <a:ln/>
        </p:spPr>
      </p:sp>
      <p:pic>
        <p:nvPicPr>
          <p:cNvPr id="7" name="Image 0" descr="/home/user/scm-process-register/docs-src/pitch-deck/assets/layer-grou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2679192"/>
            <a:ext cx="292608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08760" y="2596896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&amp; GOVERNANCE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822960" y="333756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1250" dirty="0">
                <a:solidFill>
                  <a:srgbClr val="E3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 Tenant &amp; Org Hierarchy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822960" y="3776472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1250" dirty="0">
                <a:solidFill>
                  <a:srgbClr val="E3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 Identity &amp; RBAC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822960" y="4215384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1250" dirty="0">
                <a:solidFill>
                  <a:srgbClr val="E3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 OBS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822960" y="4654296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1250" dirty="0">
                <a:solidFill>
                  <a:srgbClr val="E3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M4 Process Registry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822960" y="5093208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1250" dirty="0">
                <a:solidFill>
                  <a:srgbClr val="E3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M5 CM Charters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822960" y="553212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1250" dirty="0">
                <a:solidFill>
                  <a:srgbClr val="E3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M6 AI Use Case Library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4160520" y="2286000"/>
            <a:ext cx="7479792" cy="3840480"/>
          </a:xfrm>
          <a:prstGeom prst="roundRect">
            <a:avLst>
              <a:gd name="adj" fmla="val 1429"/>
            </a:avLst>
          </a:prstGeom>
          <a:solidFill>
            <a:srgbClr val="EAF2EF"/>
          </a:solidFill>
          <a:ln/>
          <a:effectLst>
            <a:outerShdw sx="100000" sy="100000" kx="0" ky="0" algn="bl" rotWithShape="0" blurRad="3.66394986366142e+66" dist="1.373981198873032e+66" dir="2.5389989167104004e+78">
              <a:srgbClr val="1B2E2B">
                <a:alpha val="1.8000000000000003e+79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4434840" y="2542032"/>
            <a:ext cx="566928" cy="566928"/>
          </a:xfrm>
          <a:prstGeom prst="ellipse">
            <a:avLst/>
          </a:prstGeom>
          <a:solidFill>
            <a:srgbClr val="1F6459"/>
          </a:solidFill>
          <a:ln/>
        </p:spPr>
      </p:sp>
      <p:pic>
        <p:nvPicPr>
          <p:cNvPr id="17" name="Image 1" descr="/home/user/scm-process-register/docs-src/pitch-deck/assets/rou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2679192"/>
            <a:ext cx="292608" cy="292608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5120640" y="2596896"/>
            <a:ext cx="6217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54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MANAGEMENT PROGRAM (M7–M22)</a:t>
            </a:r>
            <a:endParaRPr lang="en-US" sz="1250" dirty="0"/>
          </a:p>
        </p:txBody>
      </p:sp>
      <p:sp>
        <p:nvSpPr>
          <p:cNvPr id="19" name="Text 15"/>
          <p:cNvSpPr/>
          <p:nvPr/>
        </p:nvSpPr>
        <p:spPr>
          <a:xfrm>
            <a:off x="4434840" y="3337560"/>
            <a:ext cx="3246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120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M7 Initiative Registry</a:t>
            </a:r>
            <a:endParaRPr lang="en-US" sz="1200" dirty="0"/>
          </a:p>
        </p:txBody>
      </p:sp>
      <p:sp>
        <p:nvSpPr>
          <p:cNvPr id="20" name="Text 16"/>
          <p:cNvSpPr/>
          <p:nvPr/>
        </p:nvSpPr>
        <p:spPr>
          <a:xfrm>
            <a:off x="4434840" y="3694176"/>
            <a:ext cx="3246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120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M8 WBS &amp; Gantt</a:t>
            </a:r>
            <a:endParaRPr lang="en-US" sz="1200" dirty="0"/>
          </a:p>
        </p:txBody>
      </p:sp>
      <p:sp>
        <p:nvSpPr>
          <p:cNvPr id="21" name="Text 17"/>
          <p:cNvSpPr/>
          <p:nvPr/>
        </p:nvSpPr>
        <p:spPr>
          <a:xfrm>
            <a:off x="4434840" y="4050792"/>
            <a:ext cx="3246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120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M9 Stakeholder Mapping</a:t>
            </a:r>
            <a:endParaRPr lang="en-US" sz="1200" dirty="0"/>
          </a:p>
        </p:txBody>
      </p:sp>
      <p:sp>
        <p:nvSpPr>
          <p:cNvPr id="22" name="Text 18"/>
          <p:cNvSpPr/>
          <p:nvPr/>
        </p:nvSpPr>
        <p:spPr>
          <a:xfrm>
            <a:off x="4434840" y="4407408"/>
            <a:ext cx="3246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120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M10 ADKAR Engine</a:t>
            </a:r>
            <a:endParaRPr lang="en-US" sz="1200" dirty="0"/>
          </a:p>
        </p:txBody>
      </p:sp>
      <p:sp>
        <p:nvSpPr>
          <p:cNvPr id="23" name="Text 19"/>
          <p:cNvSpPr/>
          <p:nvPr/>
        </p:nvSpPr>
        <p:spPr>
          <a:xfrm>
            <a:off x="4434840" y="4764024"/>
            <a:ext cx="3246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120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M11 Emotional &amp; Transition</a:t>
            </a:r>
            <a:endParaRPr lang="en-US" sz="1200" dirty="0"/>
          </a:p>
        </p:txBody>
      </p:sp>
      <p:sp>
        <p:nvSpPr>
          <p:cNvPr id="24" name="Text 20"/>
          <p:cNvSpPr/>
          <p:nvPr/>
        </p:nvSpPr>
        <p:spPr>
          <a:xfrm>
            <a:off x="4434840" y="5120640"/>
            <a:ext cx="3246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120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M12 Risk Register</a:t>
            </a:r>
            <a:endParaRPr lang="en-US" sz="1200" dirty="0"/>
          </a:p>
        </p:txBody>
      </p:sp>
      <p:sp>
        <p:nvSpPr>
          <p:cNvPr id="25" name="Text 21"/>
          <p:cNvSpPr/>
          <p:nvPr/>
        </p:nvSpPr>
        <p:spPr>
          <a:xfrm>
            <a:off x="4434840" y="5477256"/>
            <a:ext cx="3246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120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M13 Sponsor &amp; Coalition</a:t>
            </a:r>
            <a:endParaRPr lang="en-US" sz="1200" dirty="0"/>
          </a:p>
        </p:txBody>
      </p:sp>
      <p:sp>
        <p:nvSpPr>
          <p:cNvPr id="26" name="Text 22"/>
          <p:cNvSpPr/>
          <p:nvPr/>
        </p:nvSpPr>
        <p:spPr>
          <a:xfrm>
            <a:off x="4434840" y="5833872"/>
            <a:ext cx="3246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120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M14 Communications</a:t>
            </a:r>
            <a:endParaRPr lang="en-US" sz="1200" dirty="0"/>
          </a:p>
        </p:txBody>
      </p:sp>
      <p:sp>
        <p:nvSpPr>
          <p:cNvPr id="27" name="Text 23"/>
          <p:cNvSpPr/>
          <p:nvPr/>
        </p:nvSpPr>
        <p:spPr>
          <a:xfrm>
            <a:off x="7863840" y="3337560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120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M15 Training</a:t>
            </a:r>
            <a:endParaRPr lang="en-US" sz="1200" dirty="0"/>
          </a:p>
        </p:txBody>
      </p:sp>
      <p:sp>
        <p:nvSpPr>
          <p:cNvPr id="28" name="Text 24"/>
          <p:cNvSpPr/>
          <p:nvPr/>
        </p:nvSpPr>
        <p:spPr>
          <a:xfrm>
            <a:off x="7863840" y="3694176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120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M16 Resistance</a:t>
            </a:r>
            <a:endParaRPr lang="en-US" sz="1200" dirty="0"/>
          </a:p>
        </p:txBody>
      </p:sp>
      <p:sp>
        <p:nvSpPr>
          <p:cNvPr id="29" name="Text 25"/>
          <p:cNvSpPr/>
          <p:nvPr/>
        </p:nvSpPr>
        <p:spPr>
          <a:xfrm>
            <a:off x="7863840" y="4050792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120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M17 Manager as Coach</a:t>
            </a:r>
            <a:endParaRPr lang="en-US" sz="1200" dirty="0"/>
          </a:p>
        </p:txBody>
      </p:sp>
      <p:sp>
        <p:nvSpPr>
          <p:cNvPr id="30" name="Text 26"/>
          <p:cNvSpPr/>
          <p:nvPr/>
        </p:nvSpPr>
        <p:spPr>
          <a:xfrm>
            <a:off x="7863840" y="4407408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120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M18 Journey Map</a:t>
            </a:r>
            <a:endParaRPr lang="en-US" sz="1200" dirty="0"/>
          </a:p>
        </p:txBody>
      </p:sp>
      <p:sp>
        <p:nvSpPr>
          <p:cNvPr id="31" name="Text 27"/>
          <p:cNvSpPr/>
          <p:nvPr/>
        </p:nvSpPr>
        <p:spPr>
          <a:xfrm>
            <a:off x="7863840" y="4764024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120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M19 Journeys &amp; Analytics</a:t>
            </a:r>
            <a:endParaRPr lang="en-US" sz="1200" dirty="0"/>
          </a:p>
        </p:txBody>
      </p:sp>
      <p:sp>
        <p:nvSpPr>
          <p:cNvPr id="32" name="Text 28"/>
          <p:cNvSpPr/>
          <p:nvPr/>
        </p:nvSpPr>
        <p:spPr>
          <a:xfrm>
            <a:off x="7863840" y="5120640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120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M20 Analytics</a:t>
            </a:r>
            <a:endParaRPr lang="en-US" sz="1200" dirty="0"/>
          </a:p>
        </p:txBody>
      </p:sp>
      <p:sp>
        <p:nvSpPr>
          <p:cNvPr id="33" name="Text 29"/>
          <p:cNvSpPr/>
          <p:nvPr/>
        </p:nvSpPr>
        <p:spPr>
          <a:xfrm>
            <a:off x="7863840" y="5477256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120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M21 Sustainment</a:t>
            </a:r>
            <a:endParaRPr lang="en-US" sz="1200" dirty="0"/>
          </a:p>
        </p:txBody>
      </p:sp>
      <p:sp>
        <p:nvSpPr>
          <p:cNvPr id="34" name="Text 30"/>
          <p:cNvSpPr/>
          <p:nvPr/>
        </p:nvSpPr>
        <p:spPr>
          <a:xfrm>
            <a:off x="7863840" y="5833872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120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M22 Field Notes</a:t>
            </a:r>
            <a:endParaRPr lang="en-US" sz="1200" dirty="0"/>
          </a:p>
        </p:txBody>
      </p:sp>
      <p:sp>
        <p:nvSpPr>
          <p:cNvPr id="35" name="Text 31"/>
          <p:cNvSpPr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journi — Value Proposition &amp; Customer Fit</a:t>
            </a:r>
            <a:endParaRPr lang="en-US" sz="900" dirty="0"/>
          </a:p>
        </p:txBody>
      </p:sp>
      <p:sp>
        <p:nvSpPr>
          <p:cNvPr id="36" name="Text 32"/>
          <p:cNvSpPr/>
          <p:nvPr/>
        </p:nvSpPr>
        <p:spPr>
          <a:xfrm>
            <a:off x="11155680" y="6528816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MAP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154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 relievers — how journi removes each pain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11064240" cy="658368"/>
          </a:xfrm>
          <a:prstGeom prst="roundRect">
            <a:avLst>
              <a:gd name="adj" fmla="val 8333"/>
            </a:avLst>
          </a:prstGeom>
          <a:solidFill>
            <a:srgbClr val="F7E1DD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956816"/>
            <a:ext cx="493776" cy="493776"/>
          </a:xfrm>
          <a:prstGeom prst="ellipse">
            <a:avLst/>
          </a:prstGeom>
          <a:solidFill>
            <a:srgbClr val="B4463B"/>
          </a:solidFill>
          <a:ln/>
        </p:spPr>
      </p:sp>
      <p:pic>
        <p:nvPicPr>
          <p:cNvPr id="6" name="Image 0" descr="/home/user/scm-process-register/docs-src/pitch-deck/assets/layer-grou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4964" y="2080260"/>
            <a:ext cx="246888" cy="24688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1874520"/>
            <a:ext cx="3108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54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Scattered data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617720" y="1874520"/>
            <a:ext cx="6858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project record across 16 lifecycle modules — nothing lives in a separate deck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548640" y="2606040"/>
            <a:ext cx="11064240" cy="658368"/>
          </a:xfrm>
          <a:prstGeom prst="roundRect">
            <a:avLst>
              <a:gd name="adj" fmla="val 8333"/>
            </a:avLst>
          </a:prstGeom>
          <a:solidFill>
            <a:srgbClr val="F7E1DD"/>
          </a:solidFill>
          <a:ln/>
        </p:spPr>
      </p:sp>
      <p:sp>
        <p:nvSpPr>
          <p:cNvPr id="10" name="Shape 7"/>
          <p:cNvSpPr/>
          <p:nvPr/>
        </p:nvSpPr>
        <p:spPr>
          <a:xfrm>
            <a:off x="731520" y="2688336"/>
            <a:ext cx="493776" cy="493776"/>
          </a:xfrm>
          <a:prstGeom prst="ellipse">
            <a:avLst/>
          </a:prstGeom>
          <a:solidFill>
            <a:srgbClr val="B4463B"/>
          </a:solidFill>
          <a:ln/>
        </p:spPr>
      </p:sp>
      <p:pic>
        <p:nvPicPr>
          <p:cNvPr id="11" name="Image 1" descr="/home/user/scm-process-register/docs-src/pitch-deck/assets/shuff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" y="2811780"/>
            <a:ext cx="246888" cy="24688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417320" y="2606040"/>
            <a:ext cx="3108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54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Inconsistent frameworks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4617720" y="2606040"/>
            <a:ext cx="6858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ADKAR, Kotter, Lewin, Bridges layered on one shared, framework-agnostic data model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548640" y="3337560"/>
            <a:ext cx="11064240" cy="658368"/>
          </a:xfrm>
          <a:prstGeom prst="roundRect">
            <a:avLst>
              <a:gd name="adj" fmla="val 8333"/>
            </a:avLst>
          </a:prstGeom>
          <a:solidFill>
            <a:srgbClr val="F7E1DD"/>
          </a:solidFill>
          <a:ln/>
        </p:spPr>
      </p:sp>
      <p:sp>
        <p:nvSpPr>
          <p:cNvPr id="15" name="Shape 11"/>
          <p:cNvSpPr/>
          <p:nvPr/>
        </p:nvSpPr>
        <p:spPr>
          <a:xfrm>
            <a:off x="731520" y="3419856"/>
            <a:ext cx="493776" cy="493776"/>
          </a:xfrm>
          <a:prstGeom prst="ellipse">
            <a:avLst/>
          </a:prstGeom>
          <a:solidFill>
            <a:srgbClr val="B4463B"/>
          </a:solidFill>
          <a:ln/>
        </p:spPr>
      </p:sp>
      <p:pic>
        <p:nvPicPr>
          <p:cNvPr id="16" name="Image 2" descr="/home/user/scm-process-register/docs-src/pitch-deck/assets/ghos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964" y="3543300"/>
            <a:ext cx="246888" cy="24688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417320" y="3337560"/>
            <a:ext cx="3108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54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Sponsors "ghost"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4617720" y="3337560"/>
            <a:ext cx="6858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Sponsor visibility tracker + signed Charter compliance log, not a verbal promise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548640" y="4069080"/>
            <a:ext cx="11064240" cy="658368"/>
          </a:xfrm>
          <a:prstGeom prst="roundRect">
            <a:avLst>
              <a:gd name="adj" fmla="val 8333"/>
            </a:avLst>
          </a:prstGeom>
          <a:solidFill>
            <a:srgbClr val="F7E1DD"/>
          </a:solidFill>
          <a:ln/>
        </p:spPr>
      </p:sp>
      <p:sp>
        <p:nvSpPr>
          <p:cNvPr id="20" name="Shape 15"/>
          <p:cNvSpPr/>
          <p:nvPr/>
        </p:nvSpPr>
        <p:spPr>
          <a:xfrm>
            <a:off x="731520" y="4151376"/>
            <a:ext cx="493776" cy="493776"/>
          </a:xfrm>
          <a:prstGeom prst="ellipse">
            <a:avLst/>
          </a:prstGeom>
          <a:solidFill>
            <a:srgbClr val="B4463B"/>
          </a:solidFill>
          <a:ln/>
        </p:spPr>
      </p:sp>
      <p:pic>
        <p:nvPicPr>
          <p:cNvPr id="21" name="Image 3" descr="/home/user/scm-process-register/docs-src/pitch-deck/assets/clock-rotate-lef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4964" y="4274820"/>
            <a:ext cx="246888" cy="24688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417320" y="4069080"/>
            <a:ext cx="3108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54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 resistance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4617720" y="4069080"/>
            <a:ext cx="6858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Resistance Log with systemic-pattern detection and an AI root-cause classifier</a:t>
            </a:r>
            <a:endParaRPr lang="en-US" sz="1250" dirty="0"/>
          </a:p>
        </p:txBody>
      </p:sp>
      <p:sp>
        <p:nvSpPr>
          <p:cNvPr id="24" name="Shape 18"/>
          <p:cNvSpPr/>
          <p:nvPr/>
        </p:nvSpPr>
        <p:spPr>
          <a:xfrm>
            <a:off x="548640" y="4800600"/>
            <a:ext cx="11064240" cy="658368"/>
          </a:xfrm>
          <a:prstGeom prst="roundRect">
            <a:avLst>
              <a:gd name="adj" fmla="val 8333"/>
            </a:avLst>
          </a:prstGeom>
          <a:solidFill>
            <a:srgbClr val="F7E1DD"/>
          </a:solidFill>
          <a:ln/>
        </p:spPr>
      </p:sp>
      <p:sp>
        <p:nvSpPr>
          <p:cNvPr id="25" name="Shape 19"/>
          <p:cNvSpPr/>
          <p:nvPr/>
        </p:nvSpPr>
        <p:spPr>
          <a:xfrm>
            <a:off x="731520" y="4882896"/>
            <a:ext cx="493776" cy="493776"/>
          </a:xfrm>
          <a:prstGeom prst="ellipse">
            <a:avLst/>
          </a:prstGeom>
          <a:solidFill>
            <a:srgbClr val="B4463B"/>
          </a:solidFill>
          <a:ln/>
        </p:spPr>
      </p:sp>
      <p:pic>
        <p:nvPicPr>
          <p:cNvPr id="26" name="Image 4" descr="/home/user/scm-process-register/docs-src/pitch-deck/assets/shield-halv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4964" y="5006340"/>
            <a:ext cx="246888" cy="246888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417320" y="4800600"/>
            <a:ext cx="3108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54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Ungoverned AI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4617720" y="4800600"/>
            <a:ext cx="6858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14-use-case governed library — Assistive/Augmented tiers only, mandatory human checkpoint</a:t>
            </a:r>
            <a:endParaRPr lang="en-US" sz="1250" dirty="0"/>
          </a:p>
        </p:txBody>
      </p:sp>
      <p:sp>
        <p:nvSpPr>
          <p:cNvPr id="29" name="Shape 22"/>
          <p:cNvSpPr/>
          <p:nvPr/>
        </p:nvSpPr>
        <p:spPr>
          <a:xfrm>
            <a:off x="548640" y="5532120"/>
            <a:ext cx="11064240" cy="658368"/>
          </a:xfrm>
          <a:prstGeom prst="roundRect">
            <a:avLst>
              <a:gd name="adj" fmla="val 8333"/>
            </a:avLst>
          </a:prstGeom>
          <a:solidFill>
            <a:srgbClr val="F7E1DD"/>
          </a:solidFill>
          <a:ln/>
        </p:spPr>
      </p:sp>
      <p:sp>
        <p:nvSpPr>
          <p:cNvPr id="30" name="Shape 23"/>
          <p:cNvSpPr/>
          <p:nvPr/>
        </p:nvSpPr>
        <p:spPr>
          <a:xfrm>
            <a:off x="731520" y="5614416"/>
            <a:ext cx="493776" cy="493776"/>
          </a:xfrm>
          <a:prstGeom prst="ellipse">
            <a:avLst/>
          </a:prstGeom>
          <a:solidFill>
            <a:srgbClr val="B4463B"/>
          </a:solidFill>
          <a:ln/>
        </p:spPr>
      </p:sp>
      <p:pic>
        <p:nvPicPr>
          <p:cNvPr id="31" name="Image 5" descr="/home/user/scm-process-register/docs-src/pitch-deck/assets/chart-lin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4964" y="5737860"/>
            <a:ext cx="246888" cy="246888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1417320" y="5532120"/>
            <a:ext cx="3108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54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blind spot</a:t>
            </a:r>
            <a:endParaRPr lang="en-US" sz="1300" dirty="0"/>
          </a:p>
        </p:txBody>
      </p:sp>
      <p:sp>
        <p:nvSpPr>
          <p:cNvPr id="33" name="Text 25"/>
          <p:cNvSpPr/>
          <p:nvPr/>
        </p:nvSpPr>
        <p:spPr>
          <a:xfrm>
            <a:off x="4617720" y="5532120"/>
            <a:ext cx="6858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Composite Readiness Index, benchmarked by phase, with an AI-drafted executive narrative</a:t>
            </a:r>
            <a:endParaRPr lang="en-US" sz="1250" dirty="0"/>
          </a:p>
        </p:txBody>
      </p:sp>
      <p:sp>
        <p:nvSpPr>
          <p:cNvPr id="34" name="Text 26"/>
          <p:cNvSpPr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journi — Value Proposition &amp; Customer Fit</a:t>
            </a:r>
            <a:endParaRPr lang="en-US" sz="900" dirty="0"/>
          </a:p>
        </p:txBody>
      </p:sp>
      <p:sp>
        <p:nvSpPr>
          <p:cNvPr id="35" name="Text 27"/>
          <p:cNvSpPr/>
          <p:nvPr/>
        </p:nvSpPr>
        <p:spPr>
          <a:xfrm>
            <a:off x="11155680" y="6528816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MAP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154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Gain creators — not just features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11064240" cy="658368"/>
          </a:xfrm>
          <a:prstGeom prst="roundRect">
            <a:avLst>
              <a:gd name="adj" fmla="val 8333"/>
            </a:avLst>
          </a:prstGeom>
          <a:solidFill>
            <a:srgbClr val="EAF2EF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956816"/>
            <a:ext cx="493776" cy="493776"/>
          </a:xfrm>
          <a:prstGeom prst="ellipse">
            <a:avLst/>
          </a:prstGeom>
          <a:solidFill>
            <a:srgbClr val="1F6459"/>
          </a:solidFill>
          <a:ln/>
        </p:spPr>
      </p:sp>
      <p:pic>
        <p:nvPicPr>
          <p:cNvPr id="6" name="Image 0" descr="/home/user/scm-process-register/docs-src/pitch-deck/assets/file-signat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4964" y="2080260"/>
            <a:ext cx="246888" cy="24688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1874520"/>
            <a:ext cx="3108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54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Defensible governance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617720" y="1874520"/>
            <a:ext cx="6858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justification-governed audit trail behind every ADKAR, Lewin, Bridges and status change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548640" y="2606040"/>
            <a:ext cx="11064240" cy="658368"/>
          </a:xfrm>
          <a:prstGeom prst="roundRect">
            <a:avLst>
              <a:gd name="adj" fmla="val 8333"/>
            </a:avLst>
          </a:prstGeom>
          <a:solidFill>
            <a:srgbClr val="EAF2EF"/>
          </a:solidFill>
          <a:ln/>
        </p:spPr>
      </p:sp>
      <p:sp>
        <p:nvSpPr>
          <p:cNvPr id="10" name="Shape 7"/>
          <p:cNvSpPr/>
          <p:nvPr/>
        </p:nvSpPr>
        <p:spPr>
          <a:xfrm>
            <a:off x="731520" y="2688336"/>
            <a:ext cx="493776" cy="493776"/>
          </a:xfrm>
          <a:prstGeom prst="ellipse">
            <a:avLst/>
          </a:prstGeom>
          <a:solidFill>
            <a:srgbClr val="1F6459"/>
          </a:solidFill>
          <a:ln/>
        </p:spPr>
      </p:sp>
      <p:pic>
        <p:nvPicPr>
          <p:cNvPr id="11" name="Image 1" descr="/home/user/scm-process-register/docs-src/pitch-deck/assets/chart-lin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" y="2811780"/>
            <a:ext cx="246888" cy="24688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417320" y="2606040"/>
            <a:ext cx="3108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54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visibility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4617720" y="2606040"/>
            <a:ext cx="6858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Composite Readiness Index, benchmarked against phase-appropriate reference bands, live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548640" y="3337560"/>
            <a:ext cx="11064240" cy="658368"/>
          </a:xfrm>
          <a:prstGeom prst="roundRect">
            <a:avLst>
              <a:gd name="adj" fmla="val 8333"/>
            </a:avLst>
          </a:prstGeom>
          <a:solidFill>
            <a:srgbClr val="EAF2EF"/>
          </a:solidFill>
          <a:ln/>
        </p:spPr>
      </p:sp>
      <p:sp>
        <p:nvSpPr>
          <p:cNvPr id="15" name="Shape 11"/>
          <p:cNvSpPr/>
          <p:nvPr/>
        </p:nvSpPr>
        <p:spPr>
          <a:xfrm>
            <a:off x="731520" y="3419856"/>
            <a:ext cx="493776" cy="493776"/>
          </a:xfrm>
          <a:prstGeom prst="ellipse">
            <a:avLst/>
          </a:prstGeom>
          <a:solidFill>
            <a:srgbClr val="1F6459"/>
          </a:solidFill>
          <a:ln/>
        </p:spPr>
      </p:sp>
      <p:pic>
        <p:nvPicPr>
          <p:cNvPr id="16" name="Image 2" descr="/home/user/scm-process-register/docs-src/pitch-deck/assets/users-ge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964" y="3543300"/>
            <a:ext cx="246888" cy="24688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417320" y="3337560"/>
            <a:ext cx="3108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54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Adapts without a code change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4617720" y="3337560"/>
            <a:ext cx="6858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runtime-editable Permission Matrix — reshape RBAC to your org structure in minutes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548640" y="4069080"/>
            <a:ext cx="11064240" cy="658368"/>
          </a:xfrm>
          <a:prstGeom prst="roundRect">
            <a:avLst>
              <a:gd name="adj" fmla="val 8333"/>
            </a:avLst>
          </a:prstGeom>
          <a:solidFill>
            <a:srgbClr val="EAF2EF"/>
          </a:solidFill>
          <a:ln/>
        </p:spPr>
      </p:sp>
      <p:sp>
        <p:nvSpPr>
          <p:cNvPr id="20" name="Shape 15"/>
          <p:cNvSpPr/>
          <p:nvPr/>
        </p:nvSpPr>
        <p:spPr>
          <a:xfrm>
            <a:off x="731520" y="4151376"/>
            <a:ext cx="493776" cy="493776"/>
          </a:xfrm>
          <a:prstGeom prst="ellipse">
            <a:avLst/>
          </a:prstGeom>
          <a:solidFill>
            <a:srgbClr val="1F6459"/>
          </a:solidFill>
          <a:ln/>
        </p:spPr>
      </p:sp>
      <p:pic>
        <p:nvPicPr>
          <p:cNvPr id="21" name="Image 3" descr="/home/user/scm-process-register/docs-src/pitch-deck/assets/shield-halv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4964" y="4274820"/>
            <a:ext cx="246888" cy="24688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417320" y="4069080"/>
            <a:ext cx="3108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54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saved, no new risk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4617720" y="4069080"/>
            <a:ext cx="6858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Governed AI drafts, diagnoses and classifies — a human always approves before it counts</a:t>
            </a:r>
            <a:endParaRPr lang="en-US" sz="1250" dirty="0"/>
          </a:p>
        </p:txBody>
      </p:sp>
      <p:sp>
        <p:nvSpPr>
          <p:cNvPr id="24" name="Shape 18"/>
          <p:cNvSpPr/>
          <p:nvPr/>
        </p:nvSpPr>
        <p:spPr>
          <a:xfrm>
            <a:off x="548640" y="4800600"/>
            <a:ext cx="11064240" cy="658368"/>
          </a:xfrm>
          <a:prstGeom prst="roundRect">
            <a:avLst>
              <a:gd name="adj" fmla="val 8333"/>
            </a:avLst>
          </a:prstGeom>
          <a:solidFill>
            <a:srgbClr val="EAF2EF"/>
          </a:solidFill>
          <a:ln/>
        </p:spPr>
      </p:sp>
      <p:sp>
        <p:nvSpPr>
          <p:cNvPr id="25" name="Shape 19"/>
          <p:cNvSpPr/>
          <p:nvPr/>
        </p:nvSpPr>
        <p:spPr>
          <a:xfrm>
            <a:off x="731520" y="4882896"/>
            <a:ext cx="493776" cy="493776"/>
          </a:xfrm>
          <a:prstGeom prst="ellipse">
            <a:avLst/>
          </a:prstGeom>
          <a:solidFill>
            <a:srgbClr val="1F6459"/>
          </a:solidFill>
          <a:ln/>
        </p:spPr>
      </p:sp>
      <p:pic>
        <p:nvPicPr>
          <p:cNvPr id="26" name="Image 4" descr="/home/user/scm-process-register/docs-src/pitch-deck/assets/glob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4964" y="5006340"/>
            <a:ext cx="246888" cy="246888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417320" y="4800600"/>
            <a:ext cx="3108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54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tool, every geography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4617720" y="4800600"/>
            <a:ext cx="6858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3-language UI (English/French/Arabic) with full right-to-left layout support</a:t>
            </a:r>
            <a:endParaRPr lang="en-US" sz="1250" dirty="0"/>
          </a:p>
        </p:txBody>
      </p:sp>
      <p:sp>
        <p:nvSpPr>
          <p:cNvPr id="29" name="Shape 22"/>
          <p:cNvSpPr/>
          <p:nvPr/>
        </p:nvSpPr>
        <p:spPr>
          <a:xfrm>
            <a:off x="548640" y="5532120"/>
            <a:ext cx="11064240" cy="658368"/>
          </a:xfrm>
          <a:prstGeom prst="roundRect">
            <a:avLst>
              <a:gd name="adj" fmla="val 8333"/>
            </a:avLst>
          </a:prstGeom>
          <a:solidFill>
            <a:srgbClr val="EAF2EF"/>
          </a:solidFill>
          <a:ln/>
        </p:spPr>
      </p:sp>
      <p:sp>
        <p:nvSpPr>
          <p:cNvPr id="30" name="Shape 23"/>
          <p:cNvSpPr/>
          <p:nvPr/>
        </p:nvSpPr>
        <p:spPr>
          <a:xfrm>
            <a:off x="731520" y="5614416"/>
            <a:ext cx="493776" cy="493776"/>
          </a:xfrm>
          <a:prstGeom prst="ellipse">
            <a:avLst/>
          </a:prstGeom>
          <a:solidFill>
            <a:srgbClr val="1F6459"/>
          </a:solidFill>
          <a:ln/>
        </p:spPr>
      </p:sp>
      <p:pic>
        <p:nvPicPr>
          <p:cNvPr id="31" name="Image 5" descr="/home/user/scm-process-register/docs-src/pitch-deck/assets/server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4964" y="5737860"/>
            <a:ext cx="246888" cy="246888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1417320" y="5532120"/>
            <a:ext cx="3108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54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to stand up</a:t>
            </a:r>
            <a:endParaRPr lang="en-US" sz="1300" dirty="0"/>
          </a:p>
        </p:txBody>
      </p:sp>
      <p:sp>
        <p:nvSpPr>
          <p:cNvPr id="33" name="Text 25"/>
          <p:cNvSpPr/>
          <p:nvPr/>
        </p:nvSpPr>
        <p:spPr>
          <a:xfrm>
            <a:off x="4617720" y="5532120"/>
            <a:ext cx="6858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Windows-installable, no forced cloud dependency, no external data-residency questions</a:t>
            </a:r>
            <a:endParaRPr lang="en-US" sz="1250" dirty="0"/>
          </a:p>
        </p:txBody>
      </p:sp>
      <p:sp>
        <p:nvSpPr>
          <p:cNvPr id="34" name="Text 26"/>
          <p:cNvSpPr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journi — Value Proposition &amp; Customer Fit</a:t>
            </a:r>
            <a:endParaRPr lang="en-US" sz="900" dirty="0"/>
          </a:p>
        </p:txBody>
      </p:sp>
      <p:sp>
        <p:nvSpPr>
          <p:cNvPr id="35" name="Text 27"/>
          <p:cNvSpPr/>
          <p:nvPr/>
        </p:nvSpPr>
        <p:spPr>
          <a:xfrm>
            <a:off x="11155680" y="6528816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FIT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154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Profile meets Value Map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88720" y="2286000"/>
            <a:ext cx="3931920" cy="3749040"/>
          </a:xfrm>
          <a:prstGeom prst="roundRect">
            <a:avLst>
              <a:gd name="adj" fmla="val 1463"/>
            </a:avLst>
          </a:prstGeom>
          <a:solidFill>
            <a:srgbClr val="F7E4D2"/>
          </a:solidFill>
          <a:ln/>
          <a:effectLst>
            <a:outerShdw sx="100000" sy="100000" kx="0" ky="0" algn="bl" rotWithShape="0" blurRad="4.653216326850003e+70" dist="1.7449561225687507e+70" dir="1.5233993500262402e+83">
              <a:srgbClr val="1B2E2B">
                <a:alpha val="1.8000000000000004e+84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66060" y="2560320"/>
            <a:ext cx="777240" cy="777240"/>
          </a:xfrm>
          <a:prstGeom prst="ellipse">
            <a:avLst/>
          </a:prstGeom>
          <a:solidFill>
            <a:srgbClr val="C2661C"/>
          </a:solidFill>
          <a:ln/>
        </p:spPr>
      </p:sp>
      <p:pic>
        <p:nvPicPr>
          <p:cNvPr id="6" name="Image 0" descr="/home/user/scm-process-register/docs-src/pitch-deck/assets/cub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48940" y="2743200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88720" y="342900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MAP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463040" y="3931920"/>
            <a:ext cx="33832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  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modules, tenant creation to sustainment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1463040" y="4617720"/>
            <a:ext cx="33832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Relievers  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Sponsor tracker, resistance log, governed AI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1463040" y="5303520"/>
            <a:ext cx="33832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Creators  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Readiness Index, justification trail, runtime RBAC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5257800" y="3794760"/>
            <a:ext cx="1417320" cy="502920"/>
          </a:xfrm>
          <a:prstGeom prst="rightArrow">
            <a:avLst/>
          </a:prstGeom>
          <a:solidFill>
            <a:srgbClr val="15423A"/>
          </a:solidFill>
          <a:ln/>
        </p:spPr>
      </p:sp>
      <p:sp>
        <p:nvSpPr>
          <p:cNvPr id="12" name="Shape 9"/>
          <p:cNvSpPr/>
          <p:nvPr/>
        </p:nvSpPr>
        <p:spPr>
          <a:xfrm>
            <a:off x="6858000" y="2286000"/>
            <a:ext cx="3749040" cy="3749040"/>
          </a:xfrm>
          <a:prstGeom prst="ellipse">
            <a:avLst/>
          </a:prstGeom>
          <a:solidFill>
            <a:srgbClr val="EAF2EF"/>
          </a:solidFill>
          <a:ln/>
        </p:spPr>
      </p:sp>
      <p:sp>
        <p:nvSpPr>
          <p:cNvPr id="13" name="Shape 10"/>
          <p:cNvSpPr/>
          <p:nvPr/>
        </p:nvSpPr>
        <p:spPr>
          <a:xfrm>
            <a:off x="8343900" y="2560320"/>
            <a:ext cx="777240" cy="777240"/>
          </a:xfrm>
          <a:prstGeom prst="ellipse">
            <a:avLst/>
          </a:prstGeom>
          <a:solidFill>
            <a:srgbClr val="1F6459"/>
          </a:solidFill>
          <a:ln/>
        </p:spPr>
      </p:sp>
      <p:pic>
        <p:nvPicPr>
          <p:cNvPr id="14" name="Image 1" descr="/home/user/scm-process-register/docs-src/pitch-deck/assets/us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26780" y="2743200"/>
            <a:ext cx="411480" cy="41148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178040" y="342900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154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PROFILE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7406640" y="393192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F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Jobs  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readiness, prove sponsorship, resolve resistance</a:t>
            </a:r>
            <a:endParaRPr lang="en-US" sz="1150" dirty="0"/>
          </a:p>
        </p:txBody>
      </p:sp>
      <p:sp>
        <p:nvSpPr>
          <p:cNvPr id="17" name="Text 13"/>
          <p:cNvSpPr/>
          <p:nvPr/>
        </p:nvSpPr>
        <p:spPr>
          <a:xfrm>
            <a:off x="7406640" y="461772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F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Pains  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Scattered data, inconsistent frameworks, late resistance</a:t>
            </a:r>
            <a:endParaRPr lang="en-US" sz="1150" dirty="0"/>
          </a:p>
        </p:txBody>
      </p:sp>
      <p:sp>
        <p:nvSpPr>
          <p:cNvPr id="18" name="Text 14"/>
          <p:cNvSpPr/>
          <p:nvPr/>
        </p:nvSpPr>
        <p:spPr>
          <a:xfrm>
            <a:off x="7406640" y="530352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F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Gains  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system of record, audit trail, governed AI</a:t>
            </a:r>
            <a:endParaRPr lang="en-US" sz="1150" dirty="0"/>
          </a:p>
        </p:txBody>
      </p:sp>
      <p:sp>
        <p:nvSpPr>
          <p:cNvPr id="19" name="Text 15"/>
          <p:cNvSpPr/>
          <p:nvPr/>
        </p:nvSpPr>
        <p:spPr>
          <a:xfrm>
            <a:off x="548640" y="617220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154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FIT: every pain has a named reliever; every gain has a named creator — the canvas closes on both sides.</a:t>
            </a:r>
            <a:endParaRPr lang="en-US" sz="1300" dirty="0"/>
          </a:p>
        </p:txBody>
      </p:sp>
      <p:sp>
        <p:nvSpPr>
          <p:cNvPr id="20" name="Text 16"/>
          <p:cNvSpPr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journi — Value Proposition &amp; Customer Fit</a:t>
            </a:r>
            <a:endParaRPr lang="en-US" sz="900" dirty="0"/>
          </a:p>
        </p:txBody>
      </p:sp>
      <p:sp>
        <p:nvSpPr>
          <p:cNvPr id="21" name="Text 17"/>
          <p:cNvSpPr/>
          <p:nvPr/>
        </p:nvSpPr>
        <p:spPr>
          <a:xfrm>
            <a:off x="11155680" y="6528816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DIFFERENTIATOR 1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154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Framework-agnostic by design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shared data model powers every major change framework at once — practitioners work in the vocabulary they already know.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651760"/>
            <a:ext cx="2651760" cy="3200400"/>
          </a:xfrm>
          <a:prstGeom prst="roundRect">
            <a:avLst>
              <a:gd name="adj" fmla="val 206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.909584735099504e+74" dist="2.2160942756623134e+74" dir="9.14039610015744e+87">
              <a:srgbClr val="1B2E2B">
                <a:alpha val="1.8000000000000005e+89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926080"/>
            <a:ext cx="658368" cy="658368"/>
          </a:xfrm>
          <a:prstGeom prst="ellipse">
            <a:avLst/>
          </a:prstGeom>
          <a:solidFill>
            <a:srgbClr val="1F6459"/>
          </a:solidFill>
          <a:ln/>
        </p:spPr>
      </p:sp>
      <p:pic>
        <p:nvPicPr>
          <p:cNvPr id="7" name="Image 0" descr="/home/user/scm-process-register/docs-src/pitch-deck/assets/chart-li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8408" y="3081528"/>
            <a:ext cx="347472" cy="34747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7240" y="365760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154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ADKAR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77240" y="416052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5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PROSCI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777240" y="4498848"/>
            <a:ext cx="21945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/ cohort readiness — Awareness, Desire, Knowledge, Ability, Reinforcement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337560" y="2651760"/>
            <a:ext cx="2651760" cy="3200400"/>
          </a:xfrm>
          <a:prstGeom prst="roundRect">
            <a:avLst>
              <a:gd name="adj" fmla="val 206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.50517261357637e+78" dist="2.814439730091138e+78" dir="5.484237660094465e+92">
              <a:srgbClr val="1B2E2B">
                <a:alpha val="1.8000000000000007e+94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611880" y="2926080"/>
            <a:ext cx="658368" cy="658368"/>
          </a:xfrm>
          <a:prstGeom prst="ellipse">
            <a:avLst/>
          </a:prstGeom>
          <a:solidFill>
            <a:srgbClr val="1F6459"/>
          </a:solidFill>
          <a:ln/>
        </p:spPr>
      </p:sp>
      <p:pic>
        <p:nvPicPr>
          <p:cNvPr id="13" name="Image 1" descr="/home/user/scm-process-register/docs-src/pitch-deck/assets/building-column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7328" y="3081528"/>
            <a:ext cx="347472" cy="34747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566160" y="365760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154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Kotter’s 8 Steps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3566160" y="416052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5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KOTTER</a:t>
            </a:r>
            <a:endParaRPr lang="en-US" sz="950" dirty="0"/>
          </a:p>
        </p:txBody>
      </p:sp>
      <p:sp>
        <p:nvSpPr>
          <p:cNvPr id="16" name="Text 12"/>
          <p:cNvSpPr/>
          <p:nvPr/>
        </p:nvSpPr>
        <p:spPr>
          <a:xfrm>
            <a:off x="3566160" y="4498848"/>
            <a:ext cx="21945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Organizational — sponsorship, coalition, communication, sustaining momentum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6126480" y="2651760"/>
            <a:ext cx="2651760" cy="3200400"/>
          </a:xfrm>
          <a:prstGeom prst="roundRect">
            <a:avLst>
              <a:gd name="adj" fmla="val 206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9.53156921924199e+82" dist="3.574338457215745e+82" dir="3.2905425960566786e+97">
              <a:srgbClr val="1B2E2B">
                <a:alpha val="1.8000000000000008e+99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6400800" y="2926080"/>
            <a:ext cx="658368" cy="658368"/>
          </a:xfrm>
          <a:prstGeom prst="ellipse">
            <a:avLst/>
          </a:prstGeom>
          <a:solidFill>
            <a:srgbClr val="1F6459"/>
          </a:solidFill>
          <a:ln/>
        </p:spPr>
      </p:sp>
      <p:pic>
        <p:nvPicPr>
          <p:cNvPr id="19" name="Image 2" descr="/home/user/scm-process-register/docs-src/pitch-deck/assets/rou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6248" y="3081528"/>
            <a:ext cx="347472" cy="34747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355080" y="365760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154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Lewin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6355080" y="416052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5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UNFREEZE–CHANGE–REFREEZE</a:t>
            </a:r>
            <a:endParaRPr lang="en-US" sz="950" dirty="0"/>
          </a:p>
        </p:txBody>
      </p:sp>
      <p:sp>
        <p:nvSpPr>
          <p:cNvPr id="22" name="Text 17"/>
          <p:cNvSpPr/>
          <p:nvPr/>
        </p:nvSpPr>
        <p:spPr>
          <a:xfrm>
            <a:off x="6355080" y="4498848"/>
            <a:ext cx="21945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macro-state every initiative carries, start to close</a:t>
            </a:r>
            <a:endParaRPr lang="en-US" sz="1100" dirty="0"/>
          </a:p>
        </p:txBody>
      </p:sp>
      <p:sp>
        <p:nvSpPr>
          <p:cNvPr id="23" name="Shape 18"/>
          <p:cNvSpPr/>
          <p:nvPr/>
        </p:nvSpPr>
        <p:spPr>
          <a:xfrm>
            <a:off x="8915400" y="2651760"/>
            <a:ext cx="2651760" cy="3200400"/>
          </a:xfrm>
          <a:prstGeom prst="roundRect">
            <a:avLst>
              <a:gd name="adj" fmla="val 206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.2105092908437327e+87" dist="4.539409840663996e+86" dir="1.9743255576340073e+102">
              <a:srgbClr val="1B2E2B">
                <a:alpha val="1.800000000000001e+104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9189720" y="2926080"/>
            <a:ext cx="658368" cy="658368"/>
          </a:xfrm>
          <a:prstGeom prst="ellipse">
            <a:avLst/>
          </a:prstGeom>
          <a:solidFill>
            <a:srgbClr val="1F6459"/>
          </a:solidFill>
          <a:ln/>
        </p:spPr>
      </p:sp>
      <p:pic>
        <p:nvPicPr>
          <p:cNvPr id="25" name="Image 3" descr="/home/user/scm-process-register/docs-src/pitch-deck/assets/hear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45168" y="3081528"/>
            <a:ext cx="347472" cy="347472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9144000" y="365760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154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Bridges</a:t>
            </a:r>
            <a:endParaRPr lang="en-US" sz="1500" dirty="0"/>
          </a:p>
        </p:txBody>
      </p:sp>
      <p:sp>
        <p:nvSpPr>
          <p:cNvPr id="27" name="Text 21"/>
          <p:cNvSpPr/>
          <p:nvPr/>
        </p:nvSpPr>
        <p:spPr>
          <a:xfrm>
            <a:off x="9144000" y="416052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5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TRANSITION &amp; KÜBLER-ROSS CURVE</a:t>
            </a:r>
            <a:endParaRPr lang="en-US" sz="950" dirty="0"/>
          </a:p>
        </p:txBody>
      </p:sp>
      <p:sp>
        <p:nvSpPr>
          <p:cNvPr id="28" name="Text 22"/>
          <p:cNvSpPr/>
          <p:nvPr/>
        </p:nvSpPr>
        <p:spPr>
          <a:xfrm>
            <a:off x="9144000" y="4498848"/>
            <a:ext cx="21945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emotional journey underneath the numbers</a:t>
            </a:r>
            <a:endParaRPr lang="en-US" sz="1100" dirty="0"/>
          </a:p>
        </p:txBody>
      </p:sp>
      <p:sp>
        <p:nvSpPr>
          <p:cNvPr id="29" name="Text 23"/>
          <p:cNvSpPr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journi — Value Proposition &amp; Customer Fit</a:t>
            </a:r>
            <a:endParaRPr lang="en-US" sz="900" dirty="0"/>
          </a:p>
        </p:txBody>
      </p:sp>
      <p:sp>
        <p:nvSpPr>
          <p:cNvPr id="30" name="Text 24"/>
          <p:cNvSpPr/>
          <p:nvPr/>
        </p:nvSpPr>
        <p:spPr>
          <a:xfrm>
            <a:off x="11155680" y="6528816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DIFFERENTIATOR 2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154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Governed AI, not generic AI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seeded use cases, every one restricted to a tier that keeps a human as the decision-maker.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651760"/>
            <a:ext cx="3520440" cy="2514600"/>
          </a:xfrm>
          <a:prstGeom prst="roundRect">
            <a:avLst>
              <a:gd name="adj" fmla="val 2182"/>
            </a:avLst>
          </a:prstGeom>
          <a:solidFill>
            <a:srgbClr val="EAF2EF"/>
          </a:solidFill>
          <a:ln/>
          <a:effectLst>
            <a:outerShdw sx="100000" sy="100000" kx="0" ky="0" algn="bl" rotWithShape="0" blurRad="1.5373467993715405e+91" dist="5.765050497643275e+90" dir="1.1845953345804043e+107">
              <a:srgbClr val="1B2E2B">
                <a:alpha val="1.800000000000001e+109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04672" y="2907792"/>
            <a:ext cx="566928" cy="566928"/>
          </a:xfrm>
          <a:prstGeom prst="ellipse">
            <a:avLst/>
          </a:prstGeom>
          <a:solidFill>
            <a:srgbClr val="1F6459"/>
          </a:solidFill>
          <a:ln/>
        </p:spPr>
      </p:sp>
      <p:pic>
        <p:nvPicPr>
          <p:cNvPr id="7" name="Image 0" descr="/home/user/scm-process-register/docs-src/pitch-deck/assets/ey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1832" y="3044952"/>
            <a:ext cx="292608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08760" y="2962656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1F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ASSISTIVE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04672" y="3611880"/>
            <a:ext cx="301752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observes, analyzes, or suggests. A human performs the task and makes the decision — e.g. flagging a barrier pattern for review.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206240" y="2651760"/>
            <a:ext cx="3520440" cy="2514600"/>
          </a:xfrm>
          <a:prstGeom prst="roundRect">
            <a:avLst>
              <a:gd name="adj" fmla="val 2182"/>
            </a:avLst>
          </a:prstGeom>
          <a:solidFill>
            <a:srgbClr val="F7E4D2"/>
          </a:solidFill>
          <a:ln/>
          <a:effectLst>
            <a:outerShdw sx="100000" sy="100000" kx="0" ky="0" algn="bl" rotWithShape="0" blurRad="1.9524304352018566e+95" dist="7.321614132006959e+94" dir="7.107572007482426e+111">
              <a:srgbClr val="1B2E2B">
                <a:alpha val="1.800000000000001e+114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462272" y="2907792"/>
            <a:ext cx="566928" cy="566928"/>
          </a:xfrm>
          <a:prstGeom prst="ellipse">
            <a:avLst/>
          </a:prstGeom>
          <a:solidFill>
            <a:srgbClr val="C2661C"/>
          </a:solidFill>
          <a:ln/>
        </p:spPr>
      </p:sp>
      <p:pic>
        <p:nvPicPr>
          <p:cNvPr id="12" name="Image 1" descr="/home/user/scm-process-register/docs-src/pitch-deck/assets/pen-to-squar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9432" y="3044952"/>
            <a:ext cx="292608" cy="29260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166360" y="2962656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AUGMENTED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4462272" y="3611880"/>
            <a:ext cx="301752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drafts, classifies or summarizes at scale — but a human must review, edit and approve before it is finalized or sent.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7863840" y="2651760"/>
            <a:ext cx="3520440" cy="2514600"/>
          </a:xfrm>
          <a:prstGeom prst="roundRect">
            <a:avLst>
              <a:gd name="adj" fmla="val 2182"/>
            </a:avLst>
          </a:prstGeom>
          <a:solidFill>
            <a:srgbClr val="F7E1DD"/>
          </a:solidFill>
          <a:ln/>
          <a:effectLst>
            <a:outerShdw sx="100000" sy="100000" kx="0" ky="0" algn="bl" rotWithShape="0" blurRad="2.4795866527063578e+99" dist="9.298449947648839e+98" dir="4.2645432044894554e+116">
              <a:srgbClr val="1B2E2B">
                <a:alpha val="1.800000000000001e+119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119872" y="2907792"/>
            <a:ext cx="566928" cy="566928"/>
          </a:xfrm>
          <a:prstGeom prst="ellipse">
            <a:avLst/>
          </a:prstGeom>
          <a:solidFill>
            <a:srgbClr val="B4463B"/>
          </a:solidFill>
          <a:ln/>
        </p:spPr>
      </p:sp>
      <p:pic>
        <p:nvPicPr>
          <p:cNvPr id="17" name="Image 2" descr="/home/user/scm-process-register/docs-src/pitch-deck/assets/ba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7032" y="3044952"/>
            <a:ext cx="292608" cy="29260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823960" y="2962656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B44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8119872" y="3611880"/>
            <a:ext cx="301752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50" i="1" dirty="0">
                <a:solidFill>
                  <a:srgbClr val="B44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Deliberately out of scope. No journi use case ever takes an irreversible action on its own.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548640" y="5440680"/>
            <a:ext cx="11064240" cy="868680"/>
          </a:xfrm>
          <a:prstGeom prst="roundRect">
            <a:avLst>
              <a:gd name="adj" fmla="val 6316"/>
            </a:avLst>
          </a:prstGeom>
          <a:solidFill>
            <a:srgbClr val="15423A"/>
          </a:solidFill>
          <a:ln/>
          <a:effectLst>
            <a:outerShdw sx="100000" sy="100000" kx="0" ky="0" algn="bl" rotWithShape="0" blurRad="3.149075048937074e+103" dist="1.1809031433514024e+103" dir="2.5587259226936733e+121">
              <a:srgbClr val="1B2E2B">
                <a:alpha val="1.800000000000001e+124"/>
              </a:srgbClr>
            </a:outerShdw>
          </a:effectLst>
        </p:spPr>
      </p:sp>
      <p:sp>
        <p:nvSpPr>
          <p:cNvPr id="21" name="Text 16"/>
          <p:cNvSpPr/>
          <p:nvPr/>
        </p:nvSpPr>
        <p:spPr>
          <a:xfrm>
            <a:off x="868680" y="5440680"/>
            <a:ext cx="10424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E3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suggestion is labeled "AI-generated — review required." Every outcome — accepted, edited, or rejected — is logged to a full usage and override audit trail an Organization Admin can review.</a:t>
            </a:r>
            <a:endParaRPr lang="en-US" sz="1250" dirty="0"/>
          </a:p>
        </p:txBody>
      </p:sp>
      <p:sp>
        <p:nvSpPr>
          <p:cNvPr id="22" name="Text 17"/>
          <p:cNvSpPr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FE3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journi — Value Proposition &amp; Customer Fit</a:t>
            </a:r>
            <a:endParaRPr lang="en-US" sz="900" dirty="0"/>
          </a:p>
        </p:txBody>
      </p:sp>
      <p:sp>
        <p:nvSpPr>
          <p:cNvPr id="23" name="Text 18"/>
          <p:cNvSpPr/>
          <p:nvPr/>
        </p:nvSpPr>
        <p:spPr>
          <a:xfrm>
            <a:off x="11155680" y="6528816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FE3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DIFFERENTIATOR 3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154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the enterprise, not just the pilot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11064240" cy="914400"/>
          </a:xfrm>
          <a:prstGeom prst="roundRect">
            <a:avLst>
              <a:gd name="adj" fmla="val 6000"/>
            </a:avLst>
          </a:prstGeom>
          <a:solidFill>
            <a:srgbClr val="EAF2EF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2249424"/>
            <a:ext cx="621792" cy="621792"/>
          </a:xfrm>
          <a:prstGeom prst="ellipse">
            <a:avLst/>
          </a:prstGeom>
          <a:solidFill>
            <a:srgbClr val="1F6459"/>
          </a:solidFill>
          <a:ln/>
        </p:spPr>
      </p:sp>
      <p:pic>
        <p:nvPicPr>
          <p:cNvPr id="6" name="Image 0" descr="/home/user/scm-process-register/docs-src/pitch-deck/assets/sitem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3544" y="2395728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2221992"/>
            <a:ext cx="3383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54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Multi-tenant hierarchy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166360" y="2221992"/>
            <a:ext cx="6309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→ Organization → Project, with hard data isolation — one installation serves many clients or business units safely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48640" y="3154680"/>
            <a:ext cx="11064240" cy="914400"/>
          </a:xfrm>
          <a:prstGeom prst="roundRect">
            <a:avLst>
              <a:gd name="adj" fmla="val 6000"/>
            </a:avLst>
          </a:prstGeom>
          <a:solidFill>
            <a:srgbClr val="EAF2EF"/>
          </a:solidFill>
          <a:ln/>
        </p:spPr>
      </p:sp>
      <p:sp>
        <p:nvSpPr>
          <p:cNvPr id="10" name="Shape 7"/>
          <p:cNvSpPr/>
          <p:nvPr/>
        </p:nvSpPr>
        <p:spPr>
          <a:xfrm>
            <a:off x="777240" y="3300984"/>
            <a:ext cx="621792" cy="621792"/>
          </a:xfrm>
          <a:prstGeom prst="ellipse">
            <a:avLst/>
          </a:prstGeom>
          <a:solidFill>
            <a:srgbClr val="1F6459"/>
          </a:solidFill>
          <a:ln/>
        </p:spPr>
      </p:sp>
      <p:pic>
        <p:nvPicPr>
          <p:cNvPr id="11" name="Image 1" descr="/home/user/scm-process-register/docs-src/pitch-deck/assets/users-ge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544" y="3447288"/>
            <a:ext cx="329184" cy="32918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691640" y="3273552"/>
            <a:ext cx="3383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54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9-role RBAC + runtime Permission Matrix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5166360" y="3273552"/>
            <a:ext cx="6309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Reshape who can do what without a code change or a redeploy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548640" y="4206240"/>
            <a:ext cx="11064240" cy="914400"/>
          </a:xfrm>
          <a:prstGeom prst="roundRect">
            <a:avLst>
              <a:gd name="adj" fmla="val 6000"/>
            </a:avLst>
          </a:prstGeom>
          <a:solidFill>
            <a:srgbClr val="EAF2EF"/>
          </a:solidFill>
          <a:ln/>
        </p:spPr>
      </p:sp>
      <p:sp>
        <p:nvSpPr>
          <p:cNvPr id="15" name="Shape 11"/>
          <p:cNvSpPr/>
          <p:nvPr/>
        </p:nvSpPr>
        <p:spPr>
          <a:xfrm>
            <a:off x="777240" y="4352544"/>
            <a:ext cx="621792" cy="621792"/>
          </a:xfrm>
          <a:prstGeom prst="ellipse">
            <a:avLst/>
          </a:prstGeom>
          <a:solidFill>
            <a:srgbClr val="1F6459"/>
          </a:solidFill>
          <a:ln/>
        </p:spPr>
      </p:sp>
      <p:pic>
        <p:nvPicPr>
          <p:cNvPr id="16" name="Image 2" descr="/home/user/scm-process-register/docs-src/pitch-deck/assets/file-signatur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3544" y="4498848"/>
            <a:ext cx="329184" cy="32918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91640" y="4325112"/>
            <a:ext cx="3383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54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Justification governance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5166360" y="4325112"/>
            <a:ext cx="6309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score/state change is stage-then-justify, appended atomically to a per-project audit log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548640" y="5257800"/>
            <a:ext cx="11064240" cy="914400"/>
          </a:xfrm>
          <a:prstGeom prst="roundRect">
            <a:avLst>
              <a:gd name="adj" fmla="val 6000"/>
            </a:avLst>
          </a:prstGeom>
          <a:solidFill>
            <a:srgbClr val="EAF2EF"/>
          </a:solidFill>
          <a:ln/>
        </p:spPr>
      </p:sp>
      <p:sp>
        <p:nvSpPr>
          <p:cNvPr id="20" name="Shape 15"/>
          <p:cNvSpPr/>
          <p:nvPr/>
        </p:nvSpPr>
        <p:spPr>
          <a:xfrm>
            <a:off x="777240" y="5404104"/>
            <a:ext cx="621792" cy="621792"/>
          </a:xfrm>
          <a:prstGeom prst="ellipse">
            <a:avLst/>
          </a:prstGeom>
          <a:solidFill>
            <a:srgbClr val="1F6459"/>
          </a:solidFill>
          <a:ln/>
        </p:spPr>
      </p:sp>
      <p:pic>
        <p:nvPicPr>
          <p:cNvPr id="21" name="Image 3" descr="/home/user/scm-process-register/docs-src/pitch-deck/assets/serve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3544" y="5550408"/>
            <a:ext cx="329184" cy="32918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691640" y="5376672"/>
            <a:ext cx="3383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54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forced cloud dependency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5166360" y="5376672"/>
            <a:ext cx="6309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Windows-installable, local SQLite persistence — deploy where your data policy requires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journi — Value Proposition &amp; Customer Fit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11155680" y="6528816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154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 across 8 transformation types, 3 sectors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journi ships pre-seeded with 14 illustrative cases — evaluation starts from realistic data, not a blank page.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423160"/>
            <a:ext cx="2670048" cy="960120"/>
          </a:xfrm>
          <a:prstGeom prst="roundRect">
            <a:avLst>
              <a:gd name="adj" fmla="val 5714"/>
            </a:avLst>
          </a:prstGeom>
          <a:solidFill>
            <a:srgbClr val="EAF2EF"/>
          </a:solidFill>
          <a:ln/>
        </p:spPr>
      </p:sp>
      <p:sp>
        <p:nvSpPr>
          <p:cNvPr id="6" name="Shape 4"/>
          <p:cNvSpPr/>
          <p:nvPr/>
        </p:nvSpPr>
        <p:spPr>
          <a:xfrm>
            <a:off x="713232" y="2674620"/>
            <a:ext cx="457200" cy="457200"/>
          </a:xfrm>
          <a:prstGeom prst="ellipse">
            <a:avLst/>
          </a:prstGeom>
          <a:solidFill>
            <a:srgbClr val="1F6459"/>
          </a:solidFill>
          <a:ln/>
        </p:spPr>
      </p:sp>
      <p:pic>
        <p:nvPicPr>
          <p:cNvPr id="7" name="Image 0" descr="/home/user/scm-process-register/docs-src/pitch-deck/assets/rock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784348"/>
            <a:ext cx="237744" cy="23774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98448" y="2423160"/>
            <a:ext cx="1773936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54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 Implementation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310128" y="2423160"/>
            <a:ext cx="2670048" cy="960120"/>
          </a:xfrm>
          <a:prstGeom prst="roundRect">
            <a:avLst>
              <a:gd name="adj" fmla="val 5714"/>
            </a:avLst>
          </a:prstGeom>
          <a:solidFill>
            <a:srgbClr val="EAF2EF"/>
          </a:solidFill>
          <a:ln/>
        </p:spPr>
      </p:sp>
      <p:sp>
        <p:nvSpPr>
          <p:cNvPr id="10" name="Shape 7"/>
          <p:cNvSpPr/>
          <p:nvPr/>
        </p:nvSpPr>
        <p:spPr>
          <a:xfrm>
            <a:off x="3474720" y="2674620"/>
            <a:ext cx="457200" cy="457200"/>
          </a:xfrm>
          <a:prstGeom prst="ellipse">
            <a:avLst/>
          </a:prstGeom>
          <a:solidFill>
            <a:srgbClr val="1F6459"/>
          </a:solidFill>
          <a:ln/>
        </p:spPr>
      </p:sp>
      <p:pic>
        <p:nvPicPr>
          <p:cNvPr id="11" name="Image 1" descr="/home/user/scm-process-register/docs-src/pitch-deck/assets/robo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4448" y="2784348"/>
            <a:ext cx="237744" cy="23774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059936" y="2423160"/>
            <a:ext cx="1773936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54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Process Automation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6071616" y="2423160"/>
            <a:ext cx="2670048" cy="960120"/>
          </a:xfrm>
          <a:prstGeom prst="roundRect">
            <a:avLst>
              <a:gd name="adj" fmla="val 5714"/>
            </a:avLst>
          </a:prstGeom>
          <a:solidFill>
            <a:srgbClr val="EAF2EF"/>
          </a:solidFill>
          <a:ln/>
        </p:spPr>
      </p:sp>
      <p:sp>
        <p:nvSpPr>
          <p:cNvPr id="14" name="Shape 10"/>
          <p:cNvSpPr/>
          <p:nvPr/>
        </p:nvSpPr>
        <p:spPr>
          <a:xfrm>
            <a:off x="6236208" y="2674620"/>
            <a:ext cx="457200" cy="457200"/>
          </a:xfrm>
          <a:prstGeom prst="ellipse">
            <a:avLst/>
          </a:prstGeom>
          <a:solidFill>
            <a:srgbClr val="1F6459"/>
          </a:solidFill>
          <a:ln/>
        </p:spPr>
      </p:sp>
      <p:pic>
        <p:nvPicPr>
          <p:cNvPr id="15" name="Image 2" descr="/home/user/scm-process-register/docs-src/pitch-deck/assets/certifica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5936" y="2784348"/>
            <a:ext cx="237744" cy="23774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821424" y="2423160"/>
            <a:ext cx="1773936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54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QMS Implementation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8833104" y="2423160"/>
            <a:ext cx="2670048" cy="960120"/>
          </a:xfrm>
          <a:prstGeom prst="roundRect">
            <a:avLst>
              <a:gd name="adj" fmla="val 5714"/>
            </a:avLst>
          </a:prstGeom>
          <a:solidFill>
            <a:srgbClr val="EAF2EF"/>
          </a:solidFill>
          <a:ln/>
        </p:spPr>
      </p:sp>
      <p:sp>
        <p:nvSpPr>
          <p:cNvPr id="18" name="Shape 13"/>
          <p:cNvSpPr/>
          <p:nvPr/>
        </p:nvSpPr>
        <p:spPr>
          <a:xfrm>
            <a:off x="8997696" y="2674620"/>
            <a:ext cx="457200" cy="457200"/>
          </a:xfrm>
          <a:prstGeom prst="ellipse">
            <a:avLst/>
          </a:prstGeom>
          <a:solidFill>
            <a:srgbClr val="1F6459"/>
          </a:solidFill>
          <a:ln/>
        </p:spPr>
      </p:sp>
      <p:pic>
        <p:nvPicPr>
          <p:cNvPr id="19" name="Image 3" descr="/home/user/scm-process-register/docs-src/pitch-deck/assets/diagram-projec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07424" y="2784348"/>
            <a:ext cx="237744" cy="237744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9582912" y="2423160"/>
            <a:ext cx="1773936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54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Process Reengineering</a:t>
            </a:r>
            <a:endParaRPr lang="en-US" sz="1100" dirty="0"/>
          </a:p>
        </p:txBody>
      </p:sp>
      <p:sp>
        <p:nvSpPr>
          <p:cNvPr id="21" name="Shape 15"/>
          <p:cNvSpPr/>
          <p:nvPr/>
        </p:nvSpPr>
        <p:spPr>
          <a:xfrm>
            <a:off x="548640" y="3474720"/>
            <a:ext cx="2670048" cy="960120"/>
          </a:xfrm>
          <a:prstGeom prst="roundRect">
            <a:avLst>
              <a:gd name="adj" fmla="val 5714"/>
            </a:avLst>
          </a:prstGeom>
          <a:solidFill>
            <a:srgbClr val="EAF2EF"/>
          </a:solidFill>
          <a:ln/>
        </p:spPr>
      </p:sp>
      <p:sp>
        <p:nvSpPr>
          <p:cNvPr id="22" name="Shape 16"/>
          <p:cNvSpPr/>
          <p:nvPr/>
        </p:nvSpPr>
        <p:spPr>
          <a:xfrm>
            <a:off x="713232" y="3726180"/>
            <a:ext cx="457200" cy="457200"/>
          </a:xfrm>
          <a:prstGeom prst="ellipse">
            <a:avLst/>
          </a:prstGeom>
          <a:solidFill>
            <a:srgbClr val="1F6459"/>
          </a:solidFill>
          <a:ln/>
        </p:spPr>
      </p:sp>
      <p:pic>
        <p:nvPicPr>
          <p:cNvPr id="23" name="Image 4" descr="/home/user/scm-process-register/docs-src/pitch-deck/assets/building-column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" y="3835908"/>
            <a:ext cx="237744" cy="237744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1298448" y="3474720"/>
            <a:ext cx="1773936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54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Model Redesign</a:t>
            </a:r>
            <a:endParaRPr lang="en-US" sz="1100" dirty="0"/>
          </a:p>
        </p:txBody>
      </p:sp>
      <p:sp>
        <p:nvSpPr>
          <p:cNvPr id="25" name="Shape 18"/>
          <p:cNvSpPr/>
          <p:nvPr/>
        </p:nvSpPr>
        <p:spPr>
          <a:xfrm>
            <a:off x="3310128" y="3474720"/>
            <a:ext cx="2670048" cy="960120"/>
          </a:xfrm>
          <a:prstGeom prst="roundRect">
            <a:avLst>
              <a:gd name="adj" fmla="val 5714"/>
            </a:avLst>
          </a:prstGeom>
          <a:solidFill>
            <a:srgbClr val="EAF2EF"/>
          </a:solidFill>
          <a:ln/>
        </p:spPr>
      </p:sp>
      <p:sp>
        <p:nvSpPr>
          <p:cNvPr id="26" name="Shape 19"/>
          <p:cNvSpPr/>
          <p:nvPr/>
        </p:nvSpPr>
        <p:spPr>
          <a:xfrm>
            <a:off x="3474720" y="3726180"/>
            <a:ext cx="457200" cy="457200"/>
          </a:xfrm>
          <a:prstGeom prst="ellipse">
            <a:avLst/>
          </a:prstGeom>
          <a:solidFill>
            <a:srgbClr val="1F6459"/>
          </a:solidFill>
          <a:ln/>
        </p:spPr>
      </p:sp>
      <p:pic>
        <p:nvPicPr>
          <p:cNvPr id="27" name="Image 5" descr="/home/user/scm-process-register/docs-src/pitch-deck/assets/people-group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84448" y="3835908"/>
            <a:ext cx="237744" cy="237744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4059936" y="3474720"/>
            <a:ext cx="1773936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54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Cultural / Values Transformation</a:t>
            </a:r>
            <a:endParaRPr lang="en-US" sz="1100" dirty="0"/>
          </a:p>
        </p:txBody>
      </p:sp>
      <p:sp>
        <p:nvSpPr>
          <p:cNvPr id="29" name="Shape 21"/>
          <p:cNvSpPr/>
          <p:nvPr/>
        </p:nvSpPr>
        <p:spPr>
          <a:xfrm>
            <a:off x="6071616" y="3474720"/>
            <a:ext cx="2670048" cy="960120"/>
          </a:xfrm>
          <a:prstGeom prst="roundRect">
            <a:avLst>
              <a:gd name="adj" fmla="val 5714"/>
            </a:avLst>
          </a:prstGeom>
          <a:solidFill>
            <a:srgbClr val="EAF2EF"/>
          </a:solidFill>
          <a:ln/>
        </p:spPr>
      </p:sp>
      <p:sp>
        <p:nvSpPr>
          <p:cNvPr id="30" name="Shape 22"/>
          <p:cNvSpPr/>
          <p:nvPr/>
        </p:nvSpPr>
        <p:spPr>
          <a:xfrm>
            <a:off x="6236208" y="3726180"/>
            <a:ext cx="457200" cy="457200"/>
          </a:xfrm>
          <a:prstGeom prst="ellipse">
            <a:avLst/>
          </a:prstGeom>
          <a:solidFill>
            <a:srgbClr val="1F6459"/>
          </a:solidFill>
          <a:ln/>
        </p:spPr>
      </p:sp>
      <p:pic>
        <p:nvPicPr>
          <p:cNvPr id="31" name="Image 6" descr="/home/user/scm-process-register/docs-src/pitch-deck/assets/scale-balanc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45936" y="3835908"/>
            <a:ext cx="237744" cy="237744"/>
          </a:xfrm>
          <a:prstGeom prst="rect">
            <a:avLst/>
          </a:prstGeom>
        </p:spPr>
      </p:pic>
      <p:sp>
        <p:nvSpPr>
          <p:cNvPr id="32" name="Text 23"/>
          <p:cNvSpPr/>
          <p:nvPr/>
        </p:nvSpPr>
        <p:spPr>
          <a:xfrm>
            <a:off x="6821424" y="3474720"/>
            <a:ext cx="1773936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54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Compliance-Driven Change</a:t>
            </a:r>
            <a:endParaRPr lang="en-US" sz="1100" dirty="0"/>
          </a:p>
        </p:txBody>
      </p:sp>
      <p:sp>
        <p:nvSpPr>
          <p:cNvPr id="33" name="Shape 24"/>
          <p:cNvSpPr/>
          <p:nvPr/>
        </p:nvSpPr>
        <p:spPr>
          <a:xfrm>
            <a:off x="8833104" y="3474720"/>
            <a:ext cx="2670048" cy="960120"/>
          </a:xfrm>
          <a:prstGeom prst="roundRect">
            <a:avLst>
              <a:gd name="adj" fmla="val 5714"/>
            </a:avLst>
          </a:prstGeom>
          <a:solidFill>
            <a:srgbClr val="EAF2EF"/>
          </a:solidFill>
          <a:ln/>
        </p:spPr>
      </p:sp>
      <p:sp>
        <p:nvSpPr>
          <p:cNvPr id="34" name="Shape 25"/>
          <p:cNvSpPr/>
          <p:nvPr/>
        </p:nvSpPr>
        <p:spPr>
          <a:xfrm>
            <a:off x="8997696" y="3726180"/>
            <a:ext cx="457200" cy="457200"/>
          </a:xfrm>
          <a:prstGeom prst="ellipse">
            <a:avLst/>
          </a:prstGeom>
          <a:solidFill>
            <a:srgbClr val="1F6459"/>
          </a:solidFill>
          <a:ln/>
        </p:spPr>
      </p:sp>
      <p:pic>
        <p:nvPicPr>
          <p:cNvPr id="35" name="Image 7" descr="/home/user/scm-process-register/docs-src/pitch-deck/assets/graduation-cap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07424" y="3835908"/>
            <a:ext cx="237744" cy="237744"/>
          </a:xfrm>
          <a:prstGeom prst="rect">
            <a:avLst/>
          </a:prstGeom>
        </p:spPr>
      </p:pic>
      <p:sp>
        <p:nvSpPr>
          <p:cNvPr id="36" name="Text 26"/>
          <p:cNvSpPr/>
          <p:nvPr/>
        </p:nvSpPr>
        <p:spPr>
          <a:xfrm>
            <a:off x="9582912" y="3474720"/>
            <a:ext cx="1773936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54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&amp; Skills Development</a:t>
            </a:r>
            <a:endParaRPr lang="en-US" sz="1100" dirty="0"/>
          </a:p>
        </p:txBody>
      </p:sp>
      <p:sp>
        <p:nvSpPr>
          <p:cNvPr id="37" name="Text 27"/>
          <p:cNvSpPr/>
          <p:nvPr/>
        </p:nvSpPr>
        <p:spPr>
          <a:xfrm>
            <a:off x="548640" y="46177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SECTORS SEEDED TODAY</a:t>
            </a:r>
            <a:endParaRPr lang="en-US" sz="1250" dirty="0"/>
          </a:p>
        </p:txBody>
      </p:sp>
      <p:sp>
        <p:nvSpPr>
          <p:cNvPr id="38" name="Shape 28"/>
          <p:cNvSpPr/>
          <p:nvPr/>
        </p:nvSpPr>
        <p:spPr>
          <a:xfrm>
            <a:off x="548640" y="5029200"/>
            <a:ext cx="361188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.9993253121500844e+107" dist="1.499746992056281e+107" dir="1.535235553616204e+126">
              <a:srgbClr val="1B2E2B">
                <a:alpha val="1.800000000000001e+129"/>
              </a:srgbClr>
            </a:outerShdw>
          </a:effectLst>
        </p:spPr>
      </p:sp>
      <p:sp>
        <p:nvSpPr>
          <p:cNvPr id="39" name="Shape 29"/>
          <p:cNvSpPr/>
          <p:nvPr/>
        </p:nvSpPr>
        <p:spPr>
          <a:xfrm>
            <a:off x="731520" y="5148072"/>
            <a:ext cx="530352" cy="530352"/>
          </a:xfrm>
          <a:prstGeom prst="ellipse">
            <a:avLst/>
          </a:prstGeom>
          <a:solidFill>
            <a:srgbClr val="C2661C"/>
          </a:solidFill>
          <a:ln/>
        </p:spPr>
      </p:sp>
      <p:pic>
        <p:nvPicPr>
          <p:cNvPr id="40" name="Image 8" descr="/home/user/scm-process-register/docs-src/pitch-deck/assets/industry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59536" y="5276088"/>
            <a:ext cx="274320" cy="274320"/>
          </a:xfrm>
          <a:prstGeom prst="rect">
            <a:avLst/>
          </a:prstGeom>
        </p:spPr>
      </p:pic>
      <p:sp>
        <p:nvSpPr>
          <p:cNvPr id="41" name="Text 30"/>
          <p:cNvSpPr/>
          <p:nvPr/>
        </p:nvSpPr>
        <p:spPr>
          <a:xfrm>
            <a:off x="1417320" y="5029200"/>
            <a:ext cx="2651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Manufacturing</a:t>
            </a:r>
            <a:endParaRPr lang="en-US" sz="1300" dirty="0"/>
          </a:p>
        </p:txBody>
      </p:sp>
      <p:sp>
        <p:nvSpPr>
          <p:cNvPr id="42" name="Shape 31"/>
          <p:cNvSpPr/>
          <p:nvPr/>
        </p:nvSpPr>
        <p:spPr>
          <a:xfrm>
            <a:off x="4325112" y="5029200"/>
            <a:ext cx="361188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.079143146430607e+111" dist="1.904678679911477e+111" dir="9.211413321697224e+130">
              <a:srgbClr val="1B2E2B">
                <a:alpha val="1.800000000000001e+134"/>
              </a:srgbClr>
            </a:outerShdw>
          </a:effectLst>
        </p:spPr>
      </p:sp>
      <p:sp>
        <p:nvSpPr>
          <p:cNvPr id="43" name="Shape 32"/>
          <p:cNvSpPr/>
          <p:nvPr/>
        </p:nvSpPr>
        <p:spPr>
          <a:xfrm>
            <a:off x="4507992" y="5148072"/>
            <a:ext cx="530352" cy="530352"/>
          </a:xfrm>
          <a:prstGeom prst="ellipse">
            <a:avLst/>
          </a:prstGeom>
          <a:solidFill>
            <a:srgbClr val="C2661C"/>
          </a:solidFill>
          <a:ln/>
        </p:spPr>
      </p:sp>
      <p:pic>
        <p:nvPicPr>
          <p:cNvPr id="44" name="Image 9" descr="/home/user/scm-process-register/docs-src/pitch-deck/assets/truck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636008" y="5276088"/>
            <a:ext cx="274320" cy="274320"/>
          </a:xfrm>
          <a:prstGeom prst="rect">
            <a:avLst/>
          </a:prstGeom>
        </p:spPr>
      </p:pic>
      <p:sp>
        <p:nvSpPr>
          <p:cNvPr id="45" name="Text 33"/>
          <p:cNvSpPr/>
          <p:nvPr/>
        </p:nvSpPr>
        <p:spPr>
          <a:xfrm>
            <a:off x="5193792" y="5029200"/>
            <a:ext cx="2651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Logistics &amp; Transportation</a:t>
            </a:r>
            <a:endParaRPr lang="en-US" sz="1300" dirty="0"/>
          </a:p>
        </p:txBody>
      </p:sp>
      <p:sp>
        <p:nvSpPr>
          <p:cNvPr id="46" name="Shape 34"/>
          <p:cNvSpPr/>
          <p:nvPr/>
        </p:nvSpPr>
        <p:spPr>
          <a:xfrm>
            <a:off x="8101584" y="5029200"/>
            <a:ext cx="361188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.450511795966871e+115" dist="2.418941923487576e+115" dir="5.526847993018334e+135">
              <a:srgbClr val="1B2E2B">
                <a:alpha val="1.800000000000001e+139"/>
              </a:srgbClr>
            </a:outerShdw>
          </a:effectLst>
        </p:spPr>
      </p:sp>
      <p:sp>
        <p:nvSpPr>
          <p:cNvPr id="47" name="Shape 35"/>
          <p:cNvSpPr/>
          <p:nvPr/>
        </p:nvSpPr>
        <p:spPr>
          <a:xfrm>
            <a:off x="8284464" y="5148072"/>
            <a:ext cx="530352" cy="530352"/>
          </a:xfrm>
          <a:prstGeom prst="ellipse">
            <a:avLst/>
          </a:prstGeom>
          <a:solidFill>
            <a:srgbClr val="C2661C"/>
          </a:solidFill>
          <a:ln/>
        </p:spPr>
      </p:sp>
      <p:pic>
        <p:nvPicPr>
          <p:cNvPr id="48" name="Image 10" descr="/home/user/scm-process-register/docs-src/pitch-deck/assets/heart-pulse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412480" y="5276088"/>
            <a:ext cx="274320" cy="274320"/>
          </a:xfrm>
          <a:prstGeom prst="rect">
            <a:avLst/>
          </a:prstGeom>
        </p:spPr>
      </p:pic>
      <p:sp>
        <p:nvSpPr>
          <p:cNvPr id="49" name="Text 36"/>
          <p:cNvSpPr/>
          <p:nvPr/>
        </p:nvSpPr>
        <p:spPr>
          <a:xfrm>
            <a:off x="8970264" y="5029200"/>
            <a:ext cx="2651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</a:t>
            </a:r>
            <a:endParaRPr lang="en-US" sz="1300" dirty="0"/>
          </a:p>
        </p:txBody>
      </p:sp>
      <p:sp>
        <p:nvSpPr>
          <p:cNvPr id="50" name="Text 37"/>
          <p:cNvSpPr/>
          <p:nvPr/>
        </p:nvSpPr>
        <p:spPr>
          <a:xfrm>
            <a:off x="548640" y="59893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 model is sector-agnostic — new sectors and transformation types extend the same seed pattern.</a:t>
            </a:r>
            <a:endParaRPr lang="en-US" sz="1150" dirty="0"/>
          </a:p>
        </p:txBody>
      </p:sp>
      <p:sp>
        <p:nvSpPr>
          <p:cNvPr id="51" name="Text 38"/>
          <p:cNvSpPr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journi — Value Proposition &amp; Customer Fit</a:t>
            </a:r>
            <a:endParaRPr lang="en-US" sz="900" dirty="0"/>
          </a:p>
        </p:txBody>
      </p:sp>
      <p:sp>
        <p:nvSpPr>
          <p:cNvPr id="52" name="Text 39"/>
          <p:cNvSpPr/>
          <p:nvPr/>
        </p:nvSpPr>
        <p:spPr>
          <a:xfrm>
            <a:off x="11155680" y="6528816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JOURNI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154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journi compares to the status quo</a:t>
            </a:r>
            <a:endParaRPr lang="en-US" sz="28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011680"/>
          <a:ext cx="11064240" cy="4206240"/>
        </p:xfrm>
        <a:graphic>
          <a:graphicData uri="http://schemas.openxmlformats.org/drawingml/2006/table">
            <a:tbl>
              <a:tblPr/>
              <a:tblGrid>
                <a:gridCol w="3657600"/>
                <a:gridCol w="1828800"/>
                <a:gridCol w="1737360"/>
                <a:gridCol w="1737360"/>
                <a:gridCol w="2103120"/>
              </a:tblGrid>
              <a:tr h="701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Spreadsheets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&amp; decks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7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Generic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PM tools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7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Legacy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OCM suites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7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journi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661C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System of record for readiness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B44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B44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C266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F64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4D2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Framework-agnostic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(ADKAR+Kotter+Lewin+Bridges)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B44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B44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C266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 locked-in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F64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4D2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Justified, audited change log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B44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C266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C266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F64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4D2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Governed AI (tiered, human checkpoint)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B44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B44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B44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F64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4D2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Lightweight, Windows-installable deploy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F64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C266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B44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 heavy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F64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4D2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journi — Value Proposition &amp; Customer Fit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155680" y="6528816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OUTCOMES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154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 defensible readiness process protects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failed or delayed transformation carries the full cost of the underlying business case — journi protects that ROI, not just a compliance checkbox.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697480"/>
            <a:ext cx="2651760" cy="3063240"/>
          </a:xfrm>
          <a:prstGeom prst="roundRect">
            <a:avLst>
              <a:gd name="adj" fmla="val 206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.192149980877925e+119" dist="3.0720562428292216e+119" dir="3.3161087958110005e+140">
              <a:srgbClr val="1B2E2B">
                <a:alpha val="1.800000000000001e+144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04672" y="2971800"/>
            <a:ext cx="685800" cy="685800"/>
          </a:xfrm>
          <a:prstGeom prst="ellipse">
            <a:avLst/>
          </a:prstGeom>
          <a:solidFill>
            <a:srgbClr val="1F6459"/>
          </a:solidFill>
          <a:ln/>
        </p:spPr>
      </p:sp>
      <p:pic>
        <p:nvPicPr>
          <p:cNvPr id="7" name="Image 0" descr="/home/user/scm-process-register/docs-src/pitch-deck/assets/triangle-exclam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9264" y="3136392"/>
            <a:ext cx="356616" cy="35661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7240" y="379476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154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late surprises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777240" y="4434840"/>
            <a:ext cx="21945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Resistance and sponsorship gaps surface while still cheap to fix, not after go-live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337560" y="2697480"/>
            <a:ext cx="2651760" cy="3063240"/>
          </a:xfrm>
          <a:prstGeom prst="roundRect">
            <a:avLst>
              <a:gd name="adj" fmla="val 206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.0404030475714965e+124" dist="3.9015114283931116e+123" dir="1.9896652774866004e+145">
              <a:srgbClr val="1B2E2B">
                <a:alpha val="1.8000000000000009e+149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593592" y="2971800"/>
            <a:ext cx="685800" cy="685800"/>
          </a:xfrm>
          <a:prstGeom prst="ellipse">
            <a:avLst/>
          </a:prstGeom>
          <a:solidFill>
            <a:srgbClr val="1F6459"/>
          </a:solidFill>
          <a:ln/>
        </p:spPr>
      </p:sp>
      <p:pic>
        <p:nvPicPr>
          <p:cNvPr id="12" name="Image 1" descr="/home/user/scm-process-register/docs-src/pitch-deck/assets/bol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8184" y="3136392"/>
            <a:ext cx="356616" cy="35661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566160" y="379476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154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diagnosis-to-action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3566160" y="4434840"/>
            <a:ext cx="21945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 classification and drafting compress hours of analysis into minutes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6126480" y="2697480"/>
            <a:ext cx="2651760" cy="3063240"/>
          </a:xfrm>
          <a:prstGeom prst="roundRect">
            <a:avLst>
              <a:gd name="adj" fmla="val 206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.3213118704158005e+128" dist="4.954919514059251e+127" dir="1.1937991664919603e+150">
              <a:srgbClr val="1B2E2B">
                <a:alpha val="1.800000000000001e+154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382512" y="2971800"/>
            <a:ext cx="685800" cy="685800"/>
          </a:xfrm>
          <a:prstGeom prst="ellipse">
            <a:avLst/>
          </a:prstGeom>
          <a:solidFill>
            <a:srgbClr val="1F6459"/>
          </a:solidFill>
          <a:ln/>
        </p:spPr>
      </p:sp>
      <p:pic>
        <p:nvPicPr>
          <p:cNvPr id="17" name="Image 2" descr="/home/user/scm-process-register/docs-src/pitch-deck/assets/gave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7104" y="3136392"/>
            <a:ext cx="356616" cy="35661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355080" y="379476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154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Defensible go/no-go evidence</a:t>
            </a:r>
            <a:endParaRPr lang="en-US" sz="1350" dirty="0"/>
          </a:p>
        </p:txBody>
      </p:sp>
      <p:sp>
        <p:nvSpPr>
          <p:cNvPr id="19" name="Text 14"/>
          <p:cNvSpPr/>
          <p:nvPr/>
        </p:nvSpPr>
        <p:spPr>
          <a:xfrm>
            <a:off x="6355080" y="4434840"/>
            <a:ext cx="21945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Gates fuse PM and CM inputs into one named, accountable Joint Decision Record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8915400" y="2697480"/>
            <a:ext cx="2651760" cy="3063240"/>
          </a:xfrm>
          <a:prstGeom prst="roundRect">
            <a:avLst>
              <a:gd name="adj" fmla="val 206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.6780660754280665e+132" dist="6.2927477828552495e+131" dir="7.162794998951762e+154">
              <a:srgbClr val="1B2E2B">
                <a:alpha val="1.800000000000001e+159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9171432" y="2971800"/>
            <a:ext cx="685800" cy="685800"/>
          </a:xfrm>
          <a:prstGeom prst="ellipse">
            <a:avLst/>
          </a:prstGeom>
          <a:solidFill>
            <a:srgbClr val="1F6459"/>
          </a:solidFill>
          <a:ln/>
        </p:spPr>
      </p:sp>
      <p:pic>
        <p:nvPicPr>
          <p:cNvPr id="22" name="Image 3" descr="/home/user/scm-process-register/docs-src/pitch-deck/assets/arrow-trend-up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36024" y="3136392"/>
            <a:ext cx="356616" cy="356616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144000" y="379476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154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Protected business-case ROI</a:t>
            </a:r>
            <a:endParaRPr lang="en-US" sz="1350" dirty="0"/>
          </a:p>
        </p:txBody>
      </p:sp>
      <p:sp>
        <p:nvSpPr>
          <p:cNvPr id="24" name="Text 18"/>
          <p:cNvSpPr/>
          <p:nvPr/>
        </p:nvSpPr>
        <p:spPr>
          <a:xfrm>
            <a:off x="9144000" y="4434840"/>
            <a:ext cx="21945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investment only pays off if people adopt it — this is where that risk is managed</a:t>
            </a:r>
            <a:endParaRPr lang="en-US" sz="1100" dirty="0"/>
          </a:p>
        </p:txBody>
      </p:sp>
      <p:sp>
        <p:nvSpPr>
          <p:cNvPr id="25" name="Text 19"/>
          <p:cNvSpPr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journi — Value Proposition &amp; Customer Fit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11155680" y="6528816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542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FIT, SUMMARIZED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journi is the right fit if you...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457200" cy="457200"/>
          </a:xfrm>
          <a:prstGeom prst="ellipse">
            <a:avLst/>
          </a:prstGeom>
          <a:solidFill>
            <a:srgbClr val="C2661C"/>
          </a:solidFill>
          <a:ln/>
        </p:spPr>
      </p:sp>
      <p:pic>
        <p:nvPicPr>
          <p:cNvPr id="5" name="Image 0" descr="/home/user/scm-process-register/docs-src/pitch-deck/assets/ch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" y="1993392"/>
            <a:ext cx="219456" cy="2194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34440" y="1828800"/>
            <a:ext cx="102412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several concurrent transformation initiatives and need one shared view of readiness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548640" y="2606040"/>
            <a:ext cx="457200" cy="457200"/>
          </a:xfrm>
          <a:prstGeom prst="ellipse">
            <a:avLst/>
          </a:prstGeom>
          <a:solidFill>
            <a:srgbClr val="C2661C"/>
          </a:solidFill>
          <a:ln/>
        </p:spPr>
      </p:sp>
      <p:pic>
        <p:nvPicPr>
          <p:cNvPr id="8" name="Image 1" descr="/home/user/scm-process-register/docs-src/pitch-deck/assets/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" y="2724912"/>
            <a:ext cx="219456" cy="21945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234440" y="2560320"/>
            <a:ext cx="102412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an audit-ready governance trail behind every readiness score and status change</a:t>
            </a:r>
            <a:endParaRPr lang="en-US" sz="1450" dirty="0"/>
          </a:p>
        </p:txBody>
      </p:sp>
      <p:sp>
        <p:nvSpPr>
          <p:cNvPr id="10" name="Shape 6"/>
          <p:cNvSpPr/>
          <p:nvPr/>
        </p:nvSpPr>
        <p:spPr>
          <a:xfrm>
            <a:off x="548640" y="3337560"/>
            <a:ext cx="457200" cy="457200"/>
          </a:xfrm>
          <a:prstGeom prst="ellipse">
            <a:avLst/>
          </a:prstGeom>
          <a:solidFill>
            <a:srgbClr val="C2661C"/>
          </a:solidFill>
          <a:ln/>
        </p:spPr>
      </p:sp>
      <p:pic>
        <p:nvPicPr>
          <p:cNvPr id="11" name="Image 2" descr="/home/user/scm-process-register/docs-src/pitch-deck/assets/che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" y="3456432"/>
            <a:ext cx="219456" cy="219456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234440" y="3291840"/>
            <a:ext cx="102412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Want AI acceleration without taking on ungoverned compliance or trust risk</a:t>
            </a:r>
            <a:endParaRPr lang="en-US" sz="1450" dirty="0"/>
          </a:p>
        </p:txBody>
      </p:sp>
      <p:sp>
        <p:nvSpPr>
          <p:cNvPr id="13" name="Shape 8"/>
          <p:cNvSpPr/>
          <p:nvPr/>
        </p:nvSpPr>
        <p:spPr>
          <a:xfrm>
            <a:off x="548640" y="4069080"/>
            <a:ext cx="457200" cy="457200"/>
          </a:xfrm>
          <a:prstGeom prst="ellipse">
            <a:avLst/>
          </a:prstGeom>
          <a:solidFill>
            <a:srgbClr val="C2661C"/>
          </a:solidFill>
          <a:ln/>
        </p:spPr>
      </p:sp>
      <p:pic>
        <p:nvPicPr>
          <p:cNvPr id="14" name="Image 3" descr="/home/user/scm-process-register/docs-src/pitch-deck/assets/che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512" y="4187952"/>
            <a:ext cx="219456" cy="219456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234440" y="4023360"/>
            <a:ext cx="102412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Operate multilingual and/or multi-site teams, including Arabic-speaking or francophone populations</a:t>
            </a:r>
            <a:endParaRPr lang="en-US" sz="1450" dirty="0"/>
          </a:p>
        </p:txBody>
      </p:sp>
      <p:sp>
        <p:nvSpPr>
          <p:cNvPr id="16" name="Shape 10"/>
          <p:cNvSpPr/>
          <p:nvPr/>
        </p:nvSpPr>
        <p:spPr>
          <a:xfrm>
            <a:off x="548640" y="4800600"/>
            <a:ext cx="457200" cy="457200"/>
          </a:xfrm>
          <a:prstGeom prst="ellipse">
            <a:avLst/>
          </a:prstGeom>
          <a:solidFill>
            <a:srgbClr val="C2661C"/>
          </a:solidFill>
          <a:ln/>
        </p:spPr>
      </p:sp>
      <p:pic>
        <p:nvPicPr>
          <p:cNvPr id="17" name="Image 4" descr="/home/user/scm-process-register/docs-src/pitch-deck/assets/chec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7512" y="4919472"/>
            <a:ext cx="219456" cy="219456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234440" y="4754880"/>
            <a:ext cx="102412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a Windows-installable or on-premise-friendly option, not a mandatory cloud subscription</a:t>
            </a:r>
            <a:endParaRPr lang="en-US" sz="1450" dirty="0"/>
          </a:p>
        </p:txBody>
      </p:sp>
      <p:sp>
        <p:nvSpPr>
          <p:cNvPr id="19" name="Shape 12"/>
          <p:cNvSpPr/>
          <p:nvPr/>
        </p:nvSpPr>
        <p:spPr>
          <a:xfrm>
            <a:off x="548640" y="5532120"/>
            <a:ext cx="457200" cy="457200"/>
          </a:xfrm>
          <a:prstGeom prst="ellipse">
            <a:avLst/>
          </a:prstGeom>
          <a:solidFill>
            <a:srgbClr val="C2661C"/>
          </a:solidFill>
          <a:ln/>
        </p:spPr>
      </p:sp>
      <p:pic>
        <p:nvPicPr>
          <p:cNvPr id="20" name="Image 5" descr="/home/user/scm-process-register/docs-src/pitch-deck/assets/check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7512" y="5650992"/>
            <a:ext cx="219456" cy="219456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1234440" y="5486400"/>
            <a:ext cx="102412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Have a PMO and a Change function that currently don’t share a single timeline</a:t>
            </a:r>
            <a:endParaRPr lang="en-US" sz="1450" dirty="0"/>
          </a:p>
        </p:txBody>
      </p:sp>
      <p:sp>
        <p:nvSpPr>
          <p:cNvPr id="22" name="Text 14"/>
          <p:cNvSpPr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FE3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journi — Value Proposition &amp; Customer Fit</a:t>
            </a:r>
            <a:endParaRPr lang="en-US" sz="900" dirty="0"/>
          </a:p>
        </p:txBody>
      </p:sp>
      <p:sp>
        <p:nvSpPr>
          <p:cNvPr id="23" name="Text 15"/>
          <p:cNvSpPr/>
          <p:nvPr/>
        </p:nvSpPr>
        <p:spPr>
          <a:xfrm>
            <a:off x="11155680" y="6528816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FE3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154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low-risk way to prove the fit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331720"/>
            <a:ext cx="3520440" cy="3383280"/>
          </a:xfrm>
          <a:prstGeom prst="roundRect">
            <a:avLst>
              <a:gd name="adj" fmla="val 162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.1311439157936445e+136" dist="7.991789684226167e+135" dir="4.297676999371057e+159">
              <a:srgbClr val="1B2E2B">
                <a:alpha val="1.800000000000001e+164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2514600"/>
            <a:ext cx="1463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DCE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800" dirty="0"/>
          </a:p>
        </p:txBody>
      </p:sp>
      <p:sp>
        <p:nvSpPr>
          <p:cNvPr id="6" name="Shape 4"/>
          <p:cNvSpPr/>
          <p:nvPr/>
        </p:nvSpPr>
        <p:spPr>
          <a:xfrm>
            <a:off x="3063240" y="2606040"/>
            <a:ext cx="685800" cy="685800"/>
          </a:xfrm>
          <a:prstGeom prst="ellipse">
            <a:avLst/>
          </a:prstGeom>
          <a:solidFill>
            <a:srgbClr val="C2661C"/>
          </a:solidFill>
          <a:ln/>
        </p:spPr>
      </p:sp>
      <p:pic>
        <p:nvPicPr>
          <p:cNvPr id="7" name="Image 0" descr="/home/user/scm-process-register/docs-src/pitch-deck/assets/seedl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27832" y="2770632"/>
            <a:ext cx="356616" cy="35661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3429000"/>
            <a:ext cx="3017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50" b="1" dirty="0">
                <a:solidFill>
                  <a:srgbClr val="154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one real project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822960" y="4023360"/>
            <a:ext cx="30175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journi with one active initiative instead of a demo — real stakeholders, real ADKAR baseline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297680" y="2331720"/>
            <a:ext cx="3520440" cy="3383280"/>
          </a:xfrm>
          <a:prstGeom prst="roundRect">
            <a:avLst>
              <a:gd name="adj" fmla="val 162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.7065527730579285e+140" dist="1.0149572898967231e+140" dir="2.5786061996226343e+164">
              <a:srgbClr val="1B2E2B">
                <a:alpha val="1.800000000000001e+169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4572000" y="2514600"/>
            <a:ext cx="1463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DCE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800" dirty="0"/>
          </a:p>
        </p:txBody>
      </p:sp>
      <p:sp>
        <p:nvSpPr>
          <p:cNvPr id="12" name="Shape 9"/>
          <p:cNvSpPr/>
          <p:nvPr/>
        </p:nvSpPr>
        <p:spPr>
          <a:xfrm>
            <a:off x="6812280" y="2606040"/>
            <a:ext cx="685800" cy="685800"/>
          </a:xfrm>
          <a:prstGeom prst="ellipse">
            <a:avLst/>
          </a:prstGeom>
          <a:solidFill>
            <a:srgbClr val="C2661C"/>
          </a:solidFill>
          <a:ln/>
        </p:spPr>
      </p:sp>
      <p:pic>
        <p:nvPicPr>
          <p:cNvPr id="13" name="Image 1" descr="/home/user/scm-process-register/docs-src/pitch-deck/assets/calendar-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76872" y="2770632"/>
            <a:ext cx="356616" cy="35661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572000" y="3429000"/>
            <a:ext cx="3017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50" b="1" dirty="0">
                <a:solidFill>
                  <a:srgbClr val="154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30-day evaluation window</a:t>
            </a:r>
            <a:endParaRPr lang="en-US" sz="1550" dirty="0"/>
          </a:p>
        </p:txBody>
      </p:sp>
      <p:sp>
        <p:nvSpPr>
          <p:cNvPr id="15" name="Text 11"/>
          <p:cNvSpPr/>
          <p:nvPr/>
        </p:nvSpPr>
        <p:spPr>
          <a:xfrm>
            <a:off x="4572000" y="4023360"/>
            <a:ext cx="30175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 single Phase Gate cycle through journi alongside your current process, side by side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8046720" y="2331720"/>
            <a:ext cx="3520440" cy="3383280"/>
          </a:xfrm>
          <a:prstGeom prst="roundRect">
            <a:avLst>
              <a:gd name="adj" fmla="val 162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.4373220217835694e+144" dist="1.2889957581688384e+144" dir="1.5471637197735807e+169">
              <a:srgbClr val="1B2E2B">
                <a:alpha val="1.800000000000001e+174"/>
              </a:srgbClr>
            </a:outerShdw>
          </a:effectLst>
        </p:spPr>
      </p:sp>
      <p:sp>
        <p:nvSpPr>
          <p:cNvPr id="17" name="Text 13"/>
          <p:cNvSpPr/>
          <p:nvPr/>
        </p:nvSpPr>
        <p:spPr>
          <a:xfrm>
            <a:off x="8321040" y="2514600"/>
            <a:ext cx="1463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DCE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800" dirty="0"/>
          </a:p>
        </p:txBody>
      </p:sp>
      <p:sp>
        <p:nvSpPr>
          <p:cNvPr id="18" name="Shape 14"/>
          <p:cNvSpPr/>
          <p:nvPr/>
        </p:nvSpPr>
        <p:spPr>
          <a:xfrm>
            <a:off x="10561320" y="2606040"/>
            <a:ext cx="685800" cy="685800"/>
          </a:xfrm>
          <a:prstGeom prst="ellipse">
            <a:avLst/>
          </a:prstGeom>
          <a:solidFill>
            <a:srgbClr val="C2661C"/>
          </a:solidFill>
          <a:ln/>
        </p:spPr>
      </p:sp>
      <p:pic>
        <p:nvPicPr>
          <p:cNvPr id="19" name="Image 2" descr="/home/user/scm-process-register/docs-src/pitch-deck/assets/scale-balanc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25912" y="2770632"/>
            <a:ext cx="356616" cy="356616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8321040" y="3429000"/>
            <a:ext cx="3017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50" b="1" dirty="0">
                <a:solidFill>
                  <a:srgbClr val="154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 on evidence</a:t>
            </a:r>
            <a:endParaRPr lang="en-US" sz="1550" dirty="0"/>
          </a:p>
        </p:txBody>
      </p:sp>
      <p:sp>
        <p:nvSpPr>
          <p:cNvPr id="21" name="Text 16"/>
          <p:cNvSpPr/>
          <p:nvPr/>
        </p:nvSpPr>
        <p:spPr>
          <a:xfrm>
            <a:off x="8321040" y="4023360"/>
            <a:ext cx="30175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the Joint Decision Record and Readiness Index against what your Steering Committee had before</a:t>
            </a:r>
            <a:endParaRPr lang="en-US" sz="1200" dirty="0"/>
          </a:p>
        </p:txBody>
      </p:sp>
      <p:sp>
        <p:nvSpPr>
          <p:cNvPr id="22" name="Text 17"/>
          <p:cNvSpPr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journi — Value Proposition &amp; Customer Fit</a:t>
            </a:r>
            <a:endParaRPr lang="en-US" sz="900" dirty="0"/>
          </a:p>
        </p:txBody>
      </p:sp>
      <p:sp>
        <p:nvSpPr>
          <p:cNvPr id="23" name="Text 18"/>
          <p:cNvSpPr/>
          <p:nvPr/>
        </p:nvSpPr>
        <p:spPr>
          <a:xfrm>
            <a:off x="11155680" y="6528816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542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2148840"/>
            <a:ext cx="777240" cy="777240"/>
          </a:xfrm>
          <a:prstGeom prst="ellipse">
            <a:avLst/>
          </a:prstGeom>
          <a:solidFill>
            <a:srgbClr val="C2661C"/>
          </a:solidFill>
          <a:ln/>
        </p:spPr>
      </p:sp>
      <p:pic>
        <p:nvPicPr>
          <p:cNvPr id="3" name="Image 0" descr="/home/user/scm-process-register/docs-src/pitch-deck/assets/paper-pla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536" y="2322576"/>
            <a:ext cx="429768" cy="42976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3063240"/>
            <a:ext cx="9601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Let’s map the journey.</a:t>
            </a:r>
            <a:endParaRPr lang="en-US" sz="3800" dirty="0"/>
          </a:p>
        </p:txBody>
      </p:sp>
      <p:sp>
        <p:nvSpPr>
          <p:cNvPr id="5" name="Text 2"/>
          <p:cNvSpPr/>
          <p:nvPr/>
        </p:nvSpPr>
        <p:spPr>
          <a:xfrm>
            <a:off x="685800" y="3886200"/>
            <a:ext cx="8686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B8D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journi — the human side of change, mapped as a journey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685800" y="61722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FA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POWERACT Consulting  ·  Confidential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2026-09-01T11:18:31Z</dcterms:created>
  <dcterms:modified xsi:type="dcterms:W3CDTF">2026-09-01T11:18:31Z</dcterms:modified>
</cp:coreProperties>
</file>
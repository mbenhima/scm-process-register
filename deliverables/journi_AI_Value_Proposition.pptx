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_assets/poweract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234440" cy="393192"/>
          </a:xfrm>
          <a:prstGeom prst="rect">
            <a:avLst/>
          </a:prstGeom>
        </p:spPr>
      </p:pic>
      <p:pic>
        <p:nvPicPr>
          <p:cNvPr id="3" name="Image 1" descr="/tmp/pptx_assets/journ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1051560" cy="10515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37360" y="14173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journi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1755648" y="22128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side of change, mapped as a journey.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170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PRESENTS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88036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programs fail for human reasons, not technical ones — yet most organizations instrument the go-live and never the people. journi gives Change Managers, sponsors, and executives one governed platform to measure readiness, diagnose resistance, and prove adoption — start to finish, scoped to exactly what each role should see.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48640" y="41605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432511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120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one lifecycle,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tenant setup to sustainment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343400" y="41605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572000" y="432511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5120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unified —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Lewin, Bridges, Kübler-Ross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38160" y="41605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366760" y="432511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5120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roles — the right data,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right person, always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you can actually trust with your data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suggestion is grounded in your own records — never invented, always reviewable.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11680"/>
            <a:ext cx="566928" cy="566928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7" name="Image 0" descr="/tmp/pptx_assets/icon_ai_libr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2147743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98424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Use Case Library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governed AI use cases embedded across the change lifecycle — from stakeholder-impact drafting to executive readiness narratives.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17830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011680"/>
            <a:ext cx="566928" cy="566928"/>
          </a:xfrm>
          <a:prstGeom prst="ellipse">
            <a:avLst/>
          </a:prstGeom>
          <a:solidFill>
            <a:srgbClr val="58595B"/>
          </a:solidFill>
          <a:ln/>
        </p:spPr>
      </p:sp>
      <p:pic>
        <p:nvPicPr>
          <p:cNvPr id="12" name="Image 1" descr="/tmp/pptx_assets/icon_r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303" y="214774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23760" y="198424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RAG-Grounded Generation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retrieval, not guesswork — every generated answer pulls from journi’s own methodology and your live project data before a single word is written.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370332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3931920"/>
            <a:ext cx="566928" cy="566928"/>
          </a:xfrm>
          <a:prstGeom prst="ellipse">
            <a:avLst/>
          </a:prstGeom>
          <a:solidFill>
            <a:srgbClr val="58595B"/>
          </a:solidFill>
          <a:ln/>
        </p:spPr>
      </p:sp>
      <p:pic>
        <p:nvPicPr>
          <p:cNvPr id="17" name="Image 2" descr="/tmp/pptx_assets/icon_query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03" y="4067983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390448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Data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54456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many active projects?” Ask a plain-language question about your own portfolio and get an exact, RBAC-scoped answer — computed, not hallucinated.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63640" y="370332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92240" y="3931920"/>
            <a:ext cx="566928" cy="566928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22" name="Image 3" descr="/tmp/pptx_assets/icon_query_featu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3" y="406798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223760" y="390448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Features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92240" y="454456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journi can do, and get routed straight to the right module — a built-in guide that already knows your role.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440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77240" y="5742432"/>
            <a:ext cx="2606040" cy="566928"/>
          </a:xfrm>
          <a:prstGeom prst="roundRect">
            <a:avLst>
              <a:gd name="adj" fmla="val 56452"/>
            </a:avLst>
          </a:prstGeom>
          <a:solidFill>
            <a:srgbClr val="F2F2F3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941832" y="574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280160" y="5742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3401568" y="5742432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3584448" y="5742432"/>
            <a:ext cx="2606040" cy="566928"/>
          </a:xfrm>
          <a:prstGeom prst="roundRect">
            <a:avLst>
              <a:gd name="adj" fmla="val 56452"/>
            </a:avLst>
          </a:prstGeom>
          <a:solidFill>
            <a:srgbClr val="F2F2F3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3749040" y="574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087368" y="5742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6208776" y="5742432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8"/>
          <p:cNvSpPr/>
          <p:nvPr/>
        </p:nvSpPr>
        <p:spPr>
          <a:xfrm>
            <a:off x="6391656" y="5742432"/>
            <a:ext cx="2606040" cy="566928"/>
          </a:xfrm>
          <a:prstGeom prst="roundRect">
            <a:avLst>
              <a:gd name="adj" fmla="val 56452"/>
            </a:avLst>
          </a:prstGeom>
          <a:solidFill>
            <a:srgbClr val="F2F2F3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556248" y="574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6" name="Text 30"/>
          <p:cNvSpPr txBox="1"/>
          <p:nvPr/>
        </p:nvSpPr>
        <p:spPr>
          <a:xfrm>
            <a:off x="6894576" y="5742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300" dirty="0"/>
          </a:p>
        </p:txBody>
      </p:sp>
      <p:sp>
        <p:nvSpPr>
          <p:cNvPr id="37" name="Text 31"/>
          <p:cNvSpPr txBox="1"/>
          <p:nvPr/>
        </p:nvSpPr>
        <p:spPr>
          <a:xfrm>
            <a:off x="9015984" y="5742432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2"/>
          <p:cNvSpPr/>
          <p:nvPr/>
        </p:nvSpPr>
        <p:spPr>
          <a:xfrm>
            <a:off x="9198864" y="5742432"/>
            <a:ext cx="2606040" cy="566928"/>
          </a:xfrm>
          <a:prstGeom prst="roundRect">
            <a:avLst>
              <a:gd name="adj" fmla="val 56452"/>
            </a:avLst>
          </a:prstGeom>
          <a:solidFill>
            <a:srgbClr val="FDEEDA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9363456" y="574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01784" y="5742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pic>
        <p:nvPicPr>
          <p:cNvPr id="41" name="Image 4" descr="/tmp/pptx_assets/poweract_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822960" cy="265176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14630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Capabilities</a:t>
            </a:r>
            <a:endParaRPr lang="en-US" sz="900" dirty="0"/>
          </a:p>
        </p:txBody>
      </p:sp>
      <p:sp>
        <p:nvSpPr>
          <p:cNvPr id="43" name="Text 3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BY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tiers. Always a human in the loop.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deliberately excludes Autonomous AI — no use case ever takes an irreversible action on its 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48840"/>
            <a:ext cx="658368" cy="658368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7" name="Image 0" descr="/tmp/pptx_assets/icon_assis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968" y="2306848"/>
            <a:ext cx="342351" cy="34235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148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Assistive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803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observes, analyzes, or suggests. A person still performs the task and makes the decision.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flagging a likely resistance pattern for a Change Manager to act 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87452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127000" dist="38100" dir="5400000">
              <a:srgbClr val="58595B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37960" y="2148840"/>
            <a:ext cx="658368" cy="658368"/>
          </a:xfrm>
          <a:prstGeom prst="ellipse">
            <a:avLst/>
          </a:prstGeom>
          <a:solidFill>
            <a:srgbClr val="58595B"/>
          </a:solidFill>
          <a:ln/>
        </p:spPr>
      </p:sp>
      <p:pic>
        <p:nvPicPr>
          <p:cNvPr id="13" name="Image 1" descr="/tmp/pptx_assets/icon_augmen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968" y="2306848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60920" y="2148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Augmented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28803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drafts, classifies, or summarizes at scale — but a person must review, edit, and approve before it’s final.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537960" y="36576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drafting an executive readiness narrative for sign-off.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44348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DEEDA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4640580"/>
            <a:ext cx="640080" cy="640080"/>
          </a:xfrm>
          <a:prstGeom prst="ellipse">
            <a:avLst/>
          </a:prstGeom>
          <a:solidFill>
            <a:srgbClr val="E07B00"/>
          </a:solidFill>
          <a:ln/>
        </p:spPr>
      </p:sp>
      <p:pic>
        <p:nvPicPr>
          <p:cNvPr id="19" name="Image 2" descr="/tmp/pptx_assets/icon_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4794199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737360" y="4599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Autonomous AI.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1737360" y="496519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suggestion is labeled, logged, and reviewable — governance isn’t a setting, it’s the architecture.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journi doesn’t just track change. It proves it — safely, at scale, in every language your workforce speaks.</a:t>
            </a:r>
            <a:endParaRPr lang="en-US" sz="1500" dirty="0"/>
          </a:p>
        </p:txBody>
      </p:sp>
      <p:pic>
        <p:nvPicPr>
          <p:cNvPr id="23" name="Image 3" descr="/tmp/pptx_assets/powera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822960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30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&amp; Tiers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2026-09-10T11:55:16Z</dcterms:created>
  <dcterms:modified xsi:type="dcterms:W3CDTF">2026-09-10T11:55:16Z</dcterms:modified>
</cp:coreProperties>
</file>
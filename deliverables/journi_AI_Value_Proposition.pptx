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x_assets/poweract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1234440" cy="393192"/>
          </a:xfrm>
          <a:prstGeom prst="rect">
            <a:avLst/>
          </a:prstGeom>
        </p:spPr>
      </p:pic>
      <p:pic>
        <p:nvPicPr>
          <p:cNvPr id="3" name="Image 1" descr="/tmp/pptx_assets/journi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17320"/>
            <a:ext cx="1051560" cy="105156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737360" y="1417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journi</a:t>
            </a:r>
            <a:endParaRPr lang="en-US" sz="5400" dirty="0"/>
          </a:p>
        </p:txBody>
      </p:sp>
      <p:sp>
        <p:nvSpPr>
          <p:cNvPr id="5" name="Text 1"/>
          <p:cNvSpPr txBox="1"/>
          <p:nvPr/>
        </p:nvSpPr>
        <p:spPr>
          <a:xfrm>
            <a:off x="1755648" y="221284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side of change, mapped as a journey.</a:t>
            </a:r>
            <a:endParaRPr lang="en-US" sz="16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POWERACT CONSULTING PRESENTS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8803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programs fail for human reasons, not technical ones — yet most organizations instrument the go-live and never the people. journi gives Change Managers, sponsors, and executives one governed, AI-assisted platform to measure readiness, diagnose resistance, and prove adoption — start to finish, scoped to exactly what each role should see.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77240" y="4325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— one lifecycle,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tenant setup to sustainment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34340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572000" y="4325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unified 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ADKAR, Lewin, Bridges, Kübler-Ross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4160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5" name="Text 11"/>
          <p:cNvSpPr txBox="1"/>
          <p:nvPr/>
        </p:nvSpPr>
        <p:spPr>
          <a:xfrm>
            <a:off x="8366760" y="43251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8366760" y="51206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roles — the right data,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right person, always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moments Change Managers actually face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case is Assistive or Augmented — grounded in your own data, never autonomous.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00400" cy="361188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48840"/>
            <a:ext cx="566928" cy="566928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7" name="Image 0" descr="/tmp/pptx_assets/icon_usecases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284903"/>
            <a:ext cx="294803" cy="29480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880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8862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 across the change lifecycle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572000"/>
            <a:ext cx="2651760" cy="0"/>
          </a:xfrm>
          <a:prstGeom prst="line">
            <a:avLst/>
          </a:prstGeom>
          <a:noFill/>
          <a:ln w="12700">
            <a:solidFill>
              <a:srgbClr val="E3E3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4709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Assistive    </a:t>
            </a:r>
            <a:pPr indent="0" marL="0">
              <a:buNone/>
            </a:pPr>
            <a:r>
              <a:rPr lang="en-US" sz="1300" b="1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pPr indent="0" marL="0"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Augmented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23360" y="182880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24528" y="2029968"/>
            <a:ext cx="457200" cy="457200"/>
          </a:xfrm>
          <a:prstGeom prst="ellipse">
            <a:avLst/>
          </a:prstGeom>
          <a:solidFill>
            <a:srgbClr val="58595B"/>
          </a:solidFill>
          <a:ln/>
        </p:spPr>
      </p:sp>
      <p:pic>
        <p:nvPicPr>
          <p:cNvPr id="14" name="Image 1" descr="/tmp/pptx_assets/icon_barri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2139696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800600" y="201168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why someone’s stuck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4224528" y="260604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open-text survey answers and flags the likely reason — e.g. “fear of losing their role” — for a Change Manager to confirm.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946136" y="182880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47304" y="2029968"/>
            <a:ext cx="457200" cy="457200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19" name="Image 2" descr="/tmp/pptx_assets/icon_coach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13969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23376" y="201168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Coach the coach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8147304" y="260604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flagged team barrier into a ready-to-use coaching conversation, tailored for that manager and that team.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4023360" y="374904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224528" y="3950208"/>
            <a:ext cx="457200" cy="457200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24" name="Image 3" descr="/tmp/pptx_assets/icon_satur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256" y="4059936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800600" y="393192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change overload early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4224528" y="452628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Warns when too many changes are about to hit the same population at once, and suggests a better rollout window.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7946136" y="3749040"/>
            <a:ext cx="3694176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147304" y="3950208"/>
            <a:ext cx="457200" cy="457200"/>
          </a:xfrm>
          <a:prstGeom prst="ellipse">
            <a:avLst/>
          </a:prstGeom>
          <a:solidFill>
            <a:srgbClr val="58595B"/>
          </a:solidFill>
          <a:ln/>
        </p:spPr>
      </p:sp>
      <p:pic>
        <p:nvPicPr>
          <p:cNvPr id="29" name="Image 4" descr="/tmp/pptx_assets/icon_exec_narrativ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4059936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723376" y="3931920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up in plain English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8147304" y="4526280"/>
            <a:ext cx="3291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8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raw ADKAR scores into a short, readable narrative a sponsor can absorb in under a minute.</a:t>
            </a:r>
            <a:endParaRPr lang="en-US" sz="1080" dirty="0"/>
          </a:p>
        </p:txBody>
      </p:sp>
      <p:pic>
        <p:nvPicPr>
          <p:cNvPr id="32" name="Image 5" descr="/tmp/pptx_assets/poweract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 Cases</a:t>
            </a:r>
            <a:endParaRPr lang="en-US" sz="900" dirty="0"/>
          </a:p>
        </p:txBody>
      </p:sp>
      <p:sp>
        <p:nvSpPr>
          <p:cNvPr id="34" name="Text 2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BY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tiers. Always a human in the loop.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618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journi deliberately excludes Autonomous AI — no use case ever takes an irreversible action on its own.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658368" cy="658368"/>
          </a:xfrm>
          <a:prstGeom prst="ellipse">
            <a:avLst/>
          </a:prstGeom>
          <a:solidFill>
            <a:srgbClr val="F8931D"/>
          </a:solidFill>
          <a:ln/>
        </p:spPr>
      </p:sp>
      <p:pic>
        <p:nvPicPr>
          <p:cNvPr id="7" name="Image 0" descr="/tmp/pptx_assets/icon_assis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306848"/>
            <a:ext cx="342351" cy="3423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Assistive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8803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observes, analyzes, or suggests. A person still performs the task and makes the decision.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flagging a likely resistance pattern for a Change Manager to act 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1874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E3E3E4"/>
            </a:solidFill>
            <a:prstDash val="solid"/>
          </a:ln>
          <a:effectLst>
            <a:outerShdw sx="100000" sy="100000" kx="0" ky="0" algn="bl" rotWithShape="0" blurRad="127000" dist="38100" dir="5400000">
              <a:srgbClr val="58595B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148840"/>
            <a:ext cx="658368" cy="658368"/>
          </a:xfrm>
          <a:prstGeom prst="ellipse">
            <a:avLst/>
          </a:prstGeom>
          <a:solidFill>
            <a:srgbClr val="58595B"/>
          </a:solidFill>
          <a:ln/>
        </p:spPr>
      </p:sp>
      <p:pic>
        <p:nvPicPr>
          <p:cNvPr id="13" name="Image 1" descr="/tmp/pptx_assets/icon_augmen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968" y="2306848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6092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Augmented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288036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85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drafts, classifies, or summarizes at scale — but a person must review, edit, and approve before it’s final.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6576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drafting an executive readiness narrative for sign-off.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DEEDA"/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4640580"/>
            <a:ext cx="640080" cy="640080"/>
          </a:xfrm>
          <a:prstGeom prst="ellipse">
            <a:avLst/>
          </a:prstGeom>
          <a:solidFill>
            <a:srgbClr val="E07B00"/>
          </a:solidFill>
          <a:ln/>
        </p:spPr>
      </p:sp>
      <p:pic>
        <p:nvPicPr>
          <p:cNvPr id="19" name="Image 2" descr="/tmp/pptx_assets/icon_governa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99" y="4794199"/>
            <a:ext cx="332842" cy="33284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737360" y="4599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Autonomous AI.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1737360" y="49651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A3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suggestion is labeled, logged, and reviewable — governance isn’t a setting, it’s the architecture.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A3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journi doesn’t just track change. It proves it — safely, at scale, in every language your workforce speaks.</a:t>
            </a:r>
            <a:endParaRPr lang="en-US" sz="1500" dirty="0"/>
          </a:p>
        </p:txBody>
      </p:sp>
      <p:pic>
        <p:nvPicPr>
          <p:cNvPr id="23" name="Image 3" descr="/tmp/pptx_assets/poweract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473952"/>
            <a:ext cx="822960" cy="26517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4630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 &amp; Tiers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2026-09-10T12:04:09Z</dcterms:created>
  <dcterms:modified xsi:type="dcterms:W3CDTF">2026-09-10T12:04:09Z</dcterms:modified>
</cp:coreProperties>
</file>
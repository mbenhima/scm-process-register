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4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40080"/>
            <a:ext cx="777240" cy="777240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3" name="Image 0" descr="/home/user/scm-process-register/docs-src/curriculum-deck/assets/graduation-c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813816"/>
            <a:ext cx="429768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14884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Academy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685800" y="30632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B8D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Detailed Curriculum for Human Change Management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685800" y="35661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C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through hands-on workshops in journi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85800" y="4297680"/>
            <a:ext cx="1737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685800" y="49377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FC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468880" y="4297680"/>
            <a:ext cx="1737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2468880" y="49377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FC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TRAININGS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251960" y="4297680"/>
            <a:ext cx="1737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4251960" y="49377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FC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HALF-DAYS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035040" y="4297680"/>
            <a:ext cx="1737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035040" y="49377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FC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818120" y="4297680"/>
            <a:ext cx="1737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7818120" y="49377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FC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8580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FA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POWERACT Consulting  ·  Confidential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CURRICULUM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levels, one continuous certification pathway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level builds on the credential before it — Foundation fluency, Practitioner ownership, Advanced portfolio leadership.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611880" cy="3977640"/>
          </a:xfrm>
          <a:prstGeom prst="roundRect">
            <a:avLst>
              <a:gd name="adj" fmla="val 1266"/>
            </a:avLst>
          </a:prstGeom>
          <a:solidFill>
            <a:srgbClr val="EAF2EF"/>
          </a:solidFill>
          <a:ln/>
          <a:effectLst>
            <a:outerShdw sx="100000" sy="100000" kx="0" ky="0" algn="bl" rotWithShape="0" blurRad="101600" dist="38100" dir="5400000">
              <a:srgbClr val="1B2E2B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404872"/>
            <a:ext cx="713232" cy="713232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7" name="Image 0" descr="/home/user/scm-process-register/docs-src/curriculum-deck/assets/book-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2578608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45920" y="2468880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04672" y="3246120"/>
            <a:ext cx="309981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Management Foundations with journi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04672" y="3977640"/>
            <a:ext cx="30998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Management Foundations &amp; the journi Platform</a:t>
            </a:r>
            <a:endParaRPr lang="en-US" sz="1080" dirty="0"/>
          </a:p>
        </p:txBody>
      </p:sp>
      <p:sp>
        <p:nvSpPr>
          <p:cNvPr id="11" name="Text 8"/>
          <p:cNvSpPr/>
          <p:nvPr/>
        </p:nvSpPr>
        <p:spPr>
          <a:xfrm>
            <a:off x="804672" y="4507992"/>
            <a:ext cx="30998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&amp; Emotional Readiness — ADKAR and the Human Journey</a:t>
            </a:r>
            <a:endParaRPr lang="en-US" sz="1080" dirty="0"/>
          </a:p>
        </p:txBody>
      </p:sp>
      <p:sp>
        <p:nvSpPr>
          <p:cNvPr id="12" name="Text 9"/>
          <p:cNvSpPr/>
          <p:nvPr/>
        </p:nvSpPr>
        <p:spPr>
          <a:xfrm>
            <a:off x="804672" y="5038344"/>
            <a:ext cx="30998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Sponsorship, Communication &amp; Risk Basics</a:t>
            </a:r>
            <a:endParaRPr lang="en-US" sz="1080" dirty="0"/>
          </a:p>
        </p:txBody>
      </p:sp>
      <p:sp>
        <p:nvSpPr>
          <p:cNvPr id="13" name="Text 10"/>
          <p:cNvSpPr/>
          <p:nvPr/>
        </p:nvSpPr>
        <p:spPr>
          <a:xfrm>
            <a:off x="804672" y="5760720"/>
            <a:ext cx="30998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days  ·  3 trainings  ·  12 half-days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288536" y="2148840"/>
            <a:ext cx="3611880" cy="3977640"/>
          </a:xfrm>
          <a:prstGeom prst="roundRect">
            <a:avLst>
              <a:gd name="adj" fmla="val 1266"/>
            </a:avLst>
          </a:prstGeom>
          <a:solidFill>
            <a:srgbClr val="DCEEE8"/>
          </a:solidFill>
          <a:ln/>
          <a:effectLst>
            <a:outerShdw sx="100000" sy="100000" kx="0" ky="0" algn="bl" rotWithShape="0" blurRad="1290320000" dist="483870000" dir="324000000000">
              <a:srgbClr val="1B2E2B">
                <a:alpha val="180000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44568" y="2404872"/>
            <a:ext cx="713232" cy="713232"/>
          </a:xfrm>
          <a:prstGeom prst="ellipse">
            <a:avLst/>
          </a:prstGeom>
          <a:solidFill>
            <a:srgbClr val="15423A"/>
          </a:solidFill>
          <a:ln/>
        </p:spPr>
      </p:sp>
      <p:pic>
        <p:nvPicPr>
          <p:cNvPr id="16" name="Image 1" descr="/home/user/scm-process-register/docs-src/curriculum-deck/assets/chalkboard-us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2578608"/>
            <a:ext cx="365760" cy="36576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385816" y="2468880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Practitioner</a:t>
            </a:r>
            <a:endParaRPr lang="en-US" sz="1900" dirty="0"/>
          </a:p>
        </p:txBody>
      </p:sp>
      <p:sp>
        <p:nvSpPr>
          <p:cNvPr id="18" name="Text 14"/>
          <p:cNvSpPr/>
          <p:nvPr/>
        </p:nvSpPr>
        <p:spPr>
          <a:xfrm>
            <a:off x="4544568" y="3246120"/>
            <a:ext cx="309981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a Change Program in journi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4544568" y="3977640"/>
            <a:ext cx="30998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Governance — Charters, WBS &amp; Phase Gates</a:t>
            </a:r>
            <a:endParaRPr lang="en-US" sz="1080" dirty="0"/>
          </a:p>
        </p:txBody>
      </p:sp>
      <p:sp>
        <p:nvSpPr>
          <p:cNvPr id="20" name="Text 16"/>
          <p:cNvSpPr/>
          <p:nvPr/>
        </p:nvSpPr>
        <p:spPr>
          <a:xfrm>
            <a:off x="4544568" y="4507992"/>
            <a:ext cx="30998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Training, Resistance &amp; Coaching</a:t>
            </a:r>
            <a:endParaRPr lang="en-US" sz="1080" dirty="0"/>
          </a:p>
        </p:txBody>
      </p:sp>
      <p:sp>
        <p:nvSpPr>
          <p:cNvPr id="21" name="Text 17"/>
          <p:cNvSpPr/>
          <p:nvPr/>
        </p:nvSpPr>
        <p:spPr>
          <a:xfrm>
            <a:off x="4544568" y="5038344"/>
            <a:ext cx="30998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in Change Management</a:t>
            </a:r>
            <a:endParaRPr lang="en-US" sz="1080" dirty="0"/>
          </a:p>
        </p:txBody>
      </p:sp>
      <p:sp>
        <p:nvSpPr>
          <p:cNvPr id="22" name="Text 18"/>
          <p:cNvSpPr/>
          <p:nvPr/>
        </p:nvSpPr>
        <p:spPr>
          <a:xfrm>
            <a:off x="4544568" y="5760720"/>
            <a:ext cx="30998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days  ·  3 trainings  ·  12 half-days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8028432" y="2148840"/>
            <a:ext cx="3611880" cy="3977640"/>
          </a:xfrm>
          <a:prstGeom prst="roundRect">
            <a:avLst>
              <a:gd name="adj" fmla="val 1266"/>
            </a:avLst>
          </a:prstGeom>
          <a:solidFill>
            <a:srgbClr val="F7E4D2"/>
          </a:solidFill>
          <a:ln/>
          <a:effectLst>
            <a:outerShdw sx="100000" sy="100000" kx="0" ky="0" algn="bl" rotWithShape="0" blurRad="16387064000000" dist="6145149000000" dir="19440000000000000">
              <a:srgbClr val="1B2E2B">
                <a:alpha val="180000000000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8284464" y="2404872"/>
            <a:ext cx="713232" cy="713232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25" name="Image 2" descr="/home/user/scm-process-register/docs-src/curriculum-deck/assets/med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2578608"/>
            <a:ext cx="365760" cy="36576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9125712" y="2468880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</a:t>
            </a:r>
            <a:endParaRPr lang="en-US" sz="1900" dirty="0"/>
          </a:p>
        </p:txBody>
      </p:sp>
      <p:sp>
        <p:nvSpPr>
          <p:cNvPr id="27" name="Text 22"/>
          <p:cNvSpPr/>
          <p:nvPr/>
        </p:nvSpPr>
        <p:spPr>
          <a:xfrm>
            <a:off x="8284464" y="3246120"/>
            <a:ext cx="309981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Change Portfolios &amp; Sustaining Impact</a:t>
            </a:r>
            <a:endParaRPr lang="en-US" sz="1250" dirty="0"/>
          </a:p>
        </p:txBody>
      </p:sp>
      <p:sp>
        <p:nvSpPr>
          <p:cNvPr id="28" name="Text 23"/>
          <p:cNvSpPr/>
          <p:nvPr/>
        </p:nvSpPr>
        <p:spPr>
          <a:xfrm>
            <a:off x="8284464" y="3977640"/>
            <a:ext cx="30998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Analytics, Benchmarking &amp; Executive Reporting</a:t>
            </a:r>
            <a:endParaRPr lang="en-US" sz="1080" dirty="0"/>
          </a:p>
        </p:txBody>
      </p:sp>
      <p:sp>
        <p:nvSpPr>
          <p:cNvPr id="29" name="Text 24"/>
          <p:cNvSpPr/>
          <p:nvPr/>
        </p:nvSpPr>
        <p:spPr>
          <a:xfrm>
            <a:off x="8284464" y="4507992"/>
            <a:ext cx="30998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Sustainment, Governance &amp; Platform Administration</a:t>
            </a:r>
            <a:endParaRPr lang="en-US" sz="1080" dirty="0"/>
          </a:p>
        </p:txBody>
      </p:sp>
      <p:sp>
        <p:nvSpPr>
          <p:cNvPr id="30" name="Text 25"/>
          <p:cNvSpPr/>
          <p:nvPr/>
        </p:nvSpPr>
        <p:spPr>
          <a:xfrm>
            <a:off x="8284464" y="5038344"/>
            <a:ext cx="30998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— Leading a Full Transformation Program End-to-End</a:t>
            </a:r>
            <a:endParaRPr lang="en-US" sz="1080" dirty="0"/>
          </a:p>
        </p:txBody>
      </p:sp>
      <p:sp>
        <p:nvSpPr>
          <p:cNvPr id="31" name="Text 26"/>
          <p:cNvSpPr/>
          <p:nvPr/>
        </p:nvSpPr>
        <p:spPr>
          <a:xfrm>
            <a:off x="8284464" y="5760720"/>
            <a:ext cx="30998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days  ·  3 trainings  ·  12 half-days</a:t>
            </a:r>
            <a:endParaRPr lang="en-US" sz="1000" dirty="0"/>
          </a:p>
        </p:txBody>
      </p:sp>
      <p:sp>
        <p:nvSpPr>
          <p:cNvPr id="32" name="Text 27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6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Golden Rule: every half-day, one quiz, one workshop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is always immediately checked, then immediately applied — no half-day passes without both.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2670048" cy="2743200"/>
          </a:xfrm>
          <a:prstGeom prst="roundRect">
            <a:avLst>
              <a:gd name="adj" fmla="val 17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08115712800000000" dist="78043392300000000" dir="1.1664e+21">
              <a:srgbClr val="1B2E2B">
                <a:alpha val="1800000000000000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540764" y="2560320"/>
            <a:ext cx="685800" cy="685800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7" name="Image 0" descr="/home/user/scm-process-register/docs-src/curriculum-deck/assets/book-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2724912"/>
            <a:ext cx="356616" cy="35661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3383280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31520" y="3794760"/>
            <a:ext cx="230428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60–75 min per session. Concepts taught directly against the live journi application, not slides alone.</a:t>
            </a:r>
            <a:endParaRPr lang="en-US" sz="1080" dirty="0"/>
          </a:p>
        </p:txBody>
      </p:sp>
      <p:sp>
        <p:nvSpPr>
          <p:cNvPr id="10" name="Shape 7"/>
          <p:cNvSpPr/>
          <p:nvPr/>
        </p:nvSpPr>
        <p:spPr>
          <a:xfrm>
            <a:off x="3236976" y="3429000"/>
            <a:ext cx="292608" cy="320040"/>
          </a:xfrm>
          <a:prstGeom prst="rightArrow">
            <a:avLst/>
          </a:prstGeom>
          <a:solidFill>
            <a:srgbClr val="5C6D68"/>
          </a:solidFill>
          <a:ln/>
        </p:spPr>
      </p:sp>
      <p:sp>
        <p:nvSpPr>
          <p:cNvPr id="11" name="Shape 8"/>
          <p:cNvSpPr/>
          <p:nvPr/>
        </p:nvSpPr>
        <p:spPr>
          <a:xfrm>
            <a:off x="3538728" y="2331720"/>
            <a:ext cx="2670048" cy="2743200"/>
          </a:xfrm>
          <a:prstGeom prst="roundRect">
            <a:avLst>
              <a:gd name="adj" fmla="val 17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.64306955256e+21" dist="991151082210000000000" dir="6.9984e+25">
              <a:srgbClr val="1B2E2B">
                <a:alpha val="1.8e+24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30852" y="2560320"/>
            <a:ext cx="685800" cy="685800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13" name="Image 1" descr="/home/user/scm-process-register/docs-src/curriculum-deck/assets/circle-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5444" y="2724912"/>
            <a:ext cx="356616" cy="35661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675888" y="3383280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3721608" y="3794760"/>
            <a:ext cx="230428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min, 8 items. A short formative check — did the concept land before we apply it?</a:t>
            </a:r>
            <a:endParaRPr lang="en-US" sz="1080" dirty="0"/>
          </a:p>
        </p:txBody>
      </p:sp>
      <p:sp>
        <p:nvSpPr>
          <p:cNvPr id="16" name="Shape 12"/>
          <p:cNvSpPr/>
          <p:nvPr/>
        </p:nvSpPr>
        <p:spPr>
          <a:xfrm>
            <a:off x="6227064" y="3429000"/>
            <a:ext cx="292608" cy="320040"/>
          </a:xfrm>
          <a:prstGeom prst="rightArrow">
            <a:avLst/>
          </a:prstGeom>
          <a:solidFill>
            <a:srgbClr val="5C6D68"/>
          </a:solidFill>
          <a:ln/>
        </p:spPr>
      </p:sp>
      <p:sp>
        <p:nvSpPr>
          <p:cNvPr id="17" name="Shape 13"/>
          <p:cNvSpPr/>
          <p:nvPr/>
        </p:nvSpPr>
        <p:spPr>
          <a:xfrm>
            <a:off x="6528816" y="2331720"/>
            <a:ext cx="2670048" cy="2743200"/>
          </a:xfrm>
          <a:prstGeom prst="roundRect">
            <a:avLst>
              <a:gd name="adj" fmla="val 17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.3566983317512e+25" dist="1.2587618744067e+25" dir="4.19904e+30">
              <a:srgbClr val="1B2E2B">
                <a:alpha val="1.8e+29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520940" y="2560320"/>
            <a:ext cx="685800" cy="685800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19" name="Image 2" descr="/home/user/scm-process-register/docs-src/curriculum-deck/assets/use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5532" y="2724912"/>
            <a:ext cx="356616" cy="356616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665976" y="3383280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6711696" y="3794760"/>
            <a:ext cx="230428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90–150 min. Hands-on in journi against a realistic scenario. This is where the skill is actually built.</a:t>
            </a:r>
            <a:endParaRPr lang="en-US" sz="1080" dirty="0"/>
          </a:p>
        </p:txBody>
      </p:sp>
      <p:sp>
        <p:nvSpPr>
          <p:cNvPr id="22" name="Shape 17"/>
          <p:cNvSpPr/>
          <p:nvPr/>
        </p:nvSpPr>
        <p:spPr>
          <a:xfrm>
            <a:off x="9217152" y="3429000"/>
            <a:ext cx="292608" cy="320040"/>
          </a:xfrm>
          <a:prstGeom prst="rightArrow">
            <a:avLst/>
          </a:prstGeom>
          <a:solidFill>
            <a:srgbClr val="5C6D68"/>
          </a:solidFill>
          <a:ln/>
        </p:spPr>
      </p:sp>
      <p:sp>
        <p:nvSpPr>
          <p:cNvPr id="23" name="Shape 18"/>
          <p:cNvSpPr/>
          <p:nvPr/>
        </p:nvSpPr>
        <p:spPr>
          <a:xfrm>
            <a:off x="9518904" y="2331720"/>
            <a:ext cx="2670048" cy="2743200"/>
          </a:xfrm>
          <a:prstGeom prst="roundRect">
            <a:avLst>
              <a:gd name="adj" fmla="val 17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4.2630068813240236e+29" dist="1.598627580496509e+29" dir="2.519424e+35">
              <a:srgbClr val="1B2E2B">
                <a:alpha val="1.7999999999999998e+34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10511028" y="2560320"/>
            <a:ext cx="685800" cy="685800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25" name="Image 3" descr="/home/user/scm-process-register/docs-src/curriculum-deck/assets/list-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75620" y="2724912"/>
            <a:ext cx="356616" cy="356616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656064" y="3383280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Debrief</a:t>
            </a:r>
            <a:endParaRPr lang="en-US" sz="1500" dirty="0"/>
          </a:p>
        </p:txBody>
      </p:sp>
      <p:sp>
        <p:nvSpPr>
          <p:cNvPr id="27" name="Text 21"/>
          <p:cNvSpPr/>
          <p:nvPr/>
        </p:nvSpPr>
        <p:spPr>
          <a:xfrm>
            <a:off x="9701784" y="3794760"/>
            <a:ext cx="230428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min. What worked, what didn't, and how it connects to the next half-day.</a:t>
            </a:r>
            <a:endParaRPr lang="en-US" sz="1080" dirty="0"/>
          </a:p>
        </p:txBody>
      </p:sp>
      <p:sp>
        <p:nvSpPr>
          <p:cNvPr id="28" name="Text 22"/>
          <p:cNvSpPr/>
          <p:nvPr/>
        </p:nvSpPr>
        <p:spPr>
          <a:xfrm>
            <a:off x="548640" y="544068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i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stack: formative Quiz (per half-day) → summative Training Exam (per training) → integrative Level Exam (per level, gates progression to the next level).</a:t>
            </a:r>
            <a:endParaRPr lang="en-US" sz="1300" dirty="0"/>
          </a:p>
        </p:txBody>
      </p:sp>
      <p:sp>
        <p:nvSpPr>
          <p:cNvPr id="29" name="Text 23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30" name="Text 24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POLICY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marks, retakes and credentials</a:t>
            </a:r>
            <a:endParaRPr lang="en-US" sz="2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2926080"/>
        </p:xfrm>
        <a:graphic>
          <a:graphicData uri="http://schemas.openxmlformats.org/drawingml/2006/table">
            <a:tbl>
              <a:tblPr/>
              <a:tblGrid>
                <a:gridCol w="1828800"/>
                <a:gridCol w="2103120"/>
                <a:gridCol w="3200400"/>
                <a:gridCol w="1371600"/>
                <a:gridCol w="2560320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Assessment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4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42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Format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4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 Mark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66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Retake Policy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423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Quiz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per half-day (36 total)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MCQ, closed-book, 15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26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— no pass mark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4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 — for facilitator pacing only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Exam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per training (9 total)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35–45 MCQ + 1 practical/case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26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4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free retake after 48h review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 Exam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per level (3 total)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60–80 MCQ + integrated practical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26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4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retake after a 1-week remediation plan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Capstone Rubric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TRN-A3 only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Facilitator-scored, 4 × 25 pts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26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 / 100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4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Re-attempt at next capstone cohort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1663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awarded: journi Certified Change Practitioner — Foundation / Practitioner, and journi Certified Change Management Practitioner — Advanced, each on passing that level's Level Exam.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64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LVL-F  ·  LEVEL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48640" y="777240"/>
            <a:ext cx="822960" cy="822960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4" name="Image 0" descr="/home/user/scm-process-register/docs-src/curriculum-deck/assets/book-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96012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7772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1600200" y="15087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3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Management Foundations with journi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534924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2304288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AUDIENCE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77240" y="2606040"/>
            <a:ext cx="484632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Change Managers, HR Business Partners, PMO members, People Managers — no prior journi experience required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035040" y="2148840"/>
            <a:ext cx="562356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/>
          <p:nvPr/>
        </p:nvSpPr>
        <p:spPr>
          <a:xfrm>
            <a:off x="6263640" y="2304288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OUTCOME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263640" y="2606040"/>
            <a:ext cx="51206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journi with fluency, explain the 4 core frameworks, and read a project's stakeholder, ADKAR and emotional-readiness data correctly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420624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3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TRAININGS IN THIS LEVEL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48640" y="45720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TRN-F1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8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Management Foundations &amp; the journi Platform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48640" y="4919472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TRN-F2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8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&amp; Emotional Readiness — ADKAR and the Human Journey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48640" y="5266944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TRN-F3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8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Sponsorship, Communication &amp; Risk Basics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48640" y="5806440"/>
            <a:ext cx="11064240" cy="685800"/>
          </a:xfrm>
          <a:prstGeom prst="roundRect">
            <a:avLst>
              <a:gd name="adj" fmla="val 6667"/>
            </a:avLst>
          </a:prstGeom>
          <a:solidFill>
            <a:srgbClr val="15423A"/>
          </a:solidFill>
          <a:ln/>
        </p:spPr>
      </p:sp>
      <p:sp>
        <p:nvSpPr>
          <p:cNvPr id="18" name="Text 15"/>
          <p:cNvSpPr/>
          <p:nvPr/>
        </p:nvSpPr>
        <p:spPr>
          <a:xfrm>
            <a:off x="777240" y="5806440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EXM-LVL-F 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MCQ (drawn from TRN-F1–F3) + 1 guided practical in journi · 4h · pass mark 80% · unlocks Practitioner enrollment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FE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· TRN-F1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9966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Management Foundations &amp; the journi Platform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0835640" y="365760"/>
            <a:ext cx="566928" cy="566928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5" name="Image 0" descr="/home/user/scm-process-register/docs-src/curriculum-deck/assets/site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63656" y="493776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50876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810512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why ~70% of transformations fail on the human side and how ADKAR, Kotter, Lewin and Bridges/Kübler-Ross address it</a:t>
            </a:r>
            <a:endParaRPr lang="en-US" sz="1080" dirty="0"/>
          </a:p>
        </p:txBody>
      </p:sp>
      <p:sp>
        <p:nvSpPr>
          <p:cNvPr id="8" name="Text 5"/>
          <p:cNvSpPr/>
          <p:nvPr/>
        </p:nvSpPr>
        <p:spPr>
          <a:xfrm>
            <a:off x="548640" y="2377440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journi's tenant hierarchy (Group / Organization / Project) and role-based access</a:t>
            </a:r>
            <a:endParaRPr lang="en-US" sz="1080" dirty="0"/>
          </a:p>
        </p:txBody>
      </p:sp>
      <p:sp>
        <p:nvSpPr>
          <p:cNvPr id="9" name="Text 6"/>
          <p:cNvSpPr/>
          <p:nvPr/>
        </p:nvSpPr>
        <p:spPr>
          <a:xfrm>
            <a:off x="548640" y="2944368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Organizational Breakdown Structure (OBS) and the Macro Process / SIPOC / RACSI registry</a:t>
            </a:r>
            <a:endParaRPr lang="en-US" sz="1080" dirty="0"/>
          </a:p>
        </p:txBody>
      </p:sp>
      <p:sp>
        <p:nvSpPr>
          <p:cNvPr id="10" name="Text 7"/>
          <p:cNvSpPr/>
          <p:nvPr/>
        </p:nvSpPr>
        <p:spPr>
          <a:xfrm>
            <a:off x="548640" y="3511296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Assistive / Augmented AI governance model and why Autonomous AI is out of scope</a:t>
            </a:r>
            <a:endParaRPr lang="en-US" sz="1080" dirty="0"/>
          </a:p>
        </p:txBody>
      </p:sp>
      <p:sp>
        <p:nvSpPr>
          <p:cNvPr id="11" name="Text 8"/>
          <p:cNvSpPr/>
          <p:nvPr/>
        </p:nvSpPr>
        <p:spPr>
          <a:xfrm>
            <a:off x="548640" y="415137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AUDIENCE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4443984"/>
            <a:ext cx="5257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Change Managers, HR Business Partners, PMO members, People Managers</a:t>
            </a:r>
            <a:endParaRPr lang="en-US" sz="1080" dirty="0"/>
          </a:p>
        </p:txBody>
      </p:sp>
      <p:sp>
        <p:nvSpPr>
          <p:cNvPr id="13" name="Text 10"/>
          <p:cNvSpPr/>
          <p:nvPr/>
        </p:nvSpPr>
        <p:spPr>
          <a:xfrm>
            <a:off x="5989320" y="150876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AGENDA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89320" y="178308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EAF2EF"/>
          </a:solidFill>
          <a:ln/>
        </p:spPr>
      </p:sp>
      <p:sp>
        <p:nvSpPr>
          <p:cNvPr id="15" name="Text 12"/>
          <p:cNvSpPr/>
          <p:nvPr/>
        </p:nvSpPr>
        <p:spPr>
          <a:xfrm>
            <a:off x="6126480" y="181051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AM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Change Management, Why journi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6172200" y="199339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human side of transformation — the ~70% stat, root causes, the 4 frameworks at a glance (75m)</a:t>
            </a:r>
            <a:endParaRPr lang="en-US" sz="830" dirty="0"/>
          </a:p>
        </p:txBody>
      </p:sp>
      <p:sp>
        <p:nvSpPr>
          <p:cNvPr id="17" name="Text 14"/>
          <p:cNvSpPr/>
          <p:nvPr/>
        </p:nvSpPr>
        <p:spPr>
          <a:xfrm>
            <a:off x="6172200" y="221284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Platform tour — scope switcher, Sidebar sections, multilingual UI (EN/FR/AR) (45m)</a:t>
            </a:r>
            <a:endParaRPr lang="en-US" sz="830" dirty="0"/>
          </a:p>
        </p:txBody>
      </p:sp>
      <p:sp>
        <p:nvSpPr>
          <p:cNvPr id="18" name="Text 15"/>
          <p:cNvSpPr/>
          <p:nvPr/>
        </p:nvSpPr>
        <p:spPr>
          <a:xfrm>
            <a:off x="6172200" y="243230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QZ-F1-1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Framework definitions + platform navigation (8 items, 15m)</a:t>
            </a:r>
            <a:endParaRPr lang="en-US" sz="830" dirty="0"/>
          </a:p>
        </p:txBody>
      </p:sp>
      <p:sp>
        <p:nvSpPr>
          <p:cNvPr id="19" name="Text 16"/>
          <p:cNvSpPr/>
          <p:nvPr/>
        </p:nvSpPr>
        <p:spPr>
          <a:xfrm>
            <a:off x="6172200" y="261518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WS-F1-1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Stand Up a Tenant (90m)</a:t>
            </a:r>
            <a:endParaRPr lang="en-US" sz="830" dirty="0"/>
          </a:p>
        </p:txBody>
      </p:sp>
      <p:sp>
        <p:nvSpPr>
          <p:cNvPr id="20" name="Shape 17"/>
          <p:cNvSpPr/>
          <p:nvPr/>
        </p:nvSpPr>
        <p:spPr>
          <a:xfrm>
            <a:off x="5989320" y="283464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EAF2EF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286207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PM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Backbone &amp; Governed AI</a:t>
            </a:r>
            <a:endParaRPr lang="en-US" sz="980" dirty="0"/>
          </a:p>
        </p:txBody>
      </p:sp>
      <p:sp>
        <p:nvSpPr>
          <p:cNvPr id="22" name="Text 19"/>
          <p:cNvSpPr/>
          <p:nvPr/>
        </p:nvSpPr>
        <p:spPr>
          <a:xfrm>
            <a:off x="6172200" y="304495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Macro Processes, SIPOC &amp; RACSI — the 10 macro processes, E2E registry, reading a RACSI grid (60m)</a:t>
            </a:r>
            <a:endParaRPr lang="en-US" sz="830" dirty="0"/>
          </a:p>
        </p:txBody>
      </p:sp>
      <p:sp>
        <p:nvSpPr>
          <p:cNvPr id="23" name="Text 20"/>
          <p:cNvSpPr/>
          <p:nvPr/>
        </p:nvSpPr>
        <p:spPr>
          <a:xfrm>
            <a:off x="6172200" y="326440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OBS and the AI Use Case Library — resourcing roster vs. RBAC users; Assistive vs. Augmented tiers (60m)</a:t>
            </a:r>
            <a:endParaRPr lang="en-US" sz="830" dirty="0"/>
          </a:p>
        </p:txBody>
      </p:sp>
      <p:sp>
        <p:nvSpPr>
          <p:cNvPr id="24" name="Text 21"/>
          <p:cNvSpPr/>
          <p:nvPr/>
        </p:nvSpPr>
        <p:spPr>
          <a:xfrm>
            <a:off x="6172200" y="348386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QZ-F1-2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RACSI role codes + AI tier definitions (8 items, 15m)</a:t>
            </a:r>
            <a:endParaRPr lang="en-US" sz="830" dirty="0"/>
          </a:p>
        </p:txBody>
      </p:sp>
      <p:sp>
        <p:nvSpPr>
          <p:cNvPr id="25" name="Text 22"/>
          <p:cNvSpPr/>
          <p:nvPr/>
        </p:nvSpPr>
        <p:spPr>
          <a:xfrm>
            <a:off x="6172200" y="366674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WS-F1-2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Read the Process Backbone (90m)</a:t>
            </a:r>
            <a:endParaRPr lang="en-US" sz="830" dirty="0"/>
          </a:p>
        </p:txBody>
      </p:sp>
      <p:sp>
        <p:nvSpPr>
          <p:cNvPr id="26" name="Shape 23"/>
          <p:cNvSpPr/>
          <p:nvPr/>
        </p:nvSpPr>
        <p:spPr>
          <a:xfrm>
            <a:off x="5989320" y="388620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EAF2EF"/>
          </a:solidFill>
          <a:ln/>
        </p:spPr>
      </p:sp>
      <p:sp>
        <p:nvSpPr>
          <p:cNvPr id="27" name="Text 24"/>
          <p:cNvSpPr/>
          <p:nvPr/>
        </p:nvSpPr>
        <p:spPr>
          <a:xfrm>
            <a:off x="6126480" y="391363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AM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Program Layer</a:t>
            </a:r>
            <a:endParaRPr lang="en-US" sz="980" dirty="0"/>
          </a:p>
        </p:txBody>
      </p:sp>
      <p:sp>
        <p:nvSpPr>
          <p:cNvPr id="28" name="Text 25"/>
          <p:cNvSpPr/>
          <p:nvPr/>
        </p:nvSpPr>
        <p:spPr>
          <a:xfrm>
            <a:off x="6172200" y="409651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Initiative Registry &amp; CM Charters — how a program is registered and chartered, reading (not yet editing) a charter (60m)</a:t>
            </a:r>
            <a:endParaRPr lang="en-US" sz="830" dirty="0"/>
          </a:p>
        </p:txBody>
      </p:sp>
      <p:sp>
        <p:nvSpPr>
          <p:cNvPr id="29" name="Text 26"/>
          <p:cNvSpPr/>
          <p:nvPr/>
        </p:nvSpPr>
        <p:spPr>
          <a:xfrm>
            <a:off x="6172200" y="431596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WBS, Gantt &amp; Phase Gates at a glance — reading a program's schedule and phase-gate status (45m)</a:t>
            </a:r>
            <a:endParaRPr lang="en-US" sz="830" dirty="0"/>
          </a:p>
        </p:txBody>
      </p:sp>
      <p:sp>
        <p:nvSpPr>
          <p:cNvPr id="30" name="Text 27"/>
          <p:cNvSpPr/>
          <p:nvPr/>
        </p:nvSpPr>
        <p:spPr>
          <a:xfrm>
            <a:off x="6172200" y="453542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QZ-F1-3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Program layer terms (8 items, 15m)</a:t>
            </a:r>
            <a:endParaRPr lang="en-US" sz="830" dirty="0"/>
          </a:p>
        </p:txBody>
      </p:sp>
      <p:sp>
        <p:nvSpPr>
          <p:cNvPr id="31" name="Text 28"/>
          <p:cNvSpPr/>
          <p:nvPr/>
        </p:nvSpPr>
        <p:spPr>
          <a:xfrm>
            <a:off x="6172200" y="471830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WS-F1-3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Read a Program's Status (90m)</a:t>
            </a:r>
            <a:endParaRPr lang="en-US" sz="830" dirty="0"/>
          </a:p>
        </p:txBody>
      </p:sp>
      <p:sp>
        <p:nvSpPr>
          <p:cNvPr id="32" name="Shape 29"/>
          <p:cNvSpPr/>
          <p:nvPr/>
        </p:nvSpPr>
        <p:spPr>
          <a:xfrm>
            <a:off x="5989320" y="493776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EAF2EF"/>
          </a:solidFill>
          <a:ln/>
        </p:spPr>
      </p:sp>
      <p:sp>
        <p:nvSpPr>
          <p:cNvPr id="33" name="Text 30"/>
          <p:cNvSpPr/>
          <p:nvPr/>
        </p:nvSpPr>
        <p:spPr>
          <a:xfrm>
            <a:off x="6126480" y="496519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PM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Metrics, Dashboards &amp; the Field Notebook</a:t>
            </a:r>
            <a:endParaRPr lang="en-US" sz="980" dirty="0"/>
          </a:p>
        </p:txBody>
      </p:sp>
      <p:sp>
        <p:nvSpPr>
          <p:cNvPr id="34" name="Text 31"/>
          <p:cNvSpPr/>
          <p:nvPr/>
        </p:nvSpPr>
        <p:spPr>
          <a:xfrm>
            <a:off x="6172200" y="514807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Metrics &amp; Analytics Dashboard — reading the ADKAR heatmap and adoption curve (reference-only at this level) (45m)</a:t>
            </a:r>
            <a:endParaRPr lang="en-US" sz="830" dirty="0"/>
          </a:p>
        </p:txBody>
      </p:sp>
      <p:sp>
        <p:nvSpPr>
          <p:cNvPr id="35" name="Text 32"/>
          <p:cNvSpPr/>
          <p:nvPr/>
        </p:nvSpPr>
        <p:spPr>
          <a:xfrm>
            <a:off x="6172200" y="536752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Field Notes — the practitioner's scratchpad, and the multilingual UI (EN/FR/AR) (45m)</a:t>
            </a:r>
            <a:endParaRPr lang="en-US" sz="830" dirty="0"/>
          </a:p>
        </p:txBody>
      </p:sp>
      <p:sp>
        <p:nvSpPr>
          <p:cNvPr id="36" name="Text 33"/>
          <p:cNvSpPr/>
          <p:nvPr/>
        </p:nvSpPr>
        <p:spPr>
          <a:xfrm>
            <a:off x="6172200" y="558698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QZ-F1-4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Dashboard reading + Field Notes scope (8 items, 15m)</a:t>
            </a:r>
            <a:endParaRPr lang="en-US" sz="830" dirty="0"/>
          </a:p>
        </p:txBody>
      </p:sp>
      <p:sp>
        <p:nvSpPr>
          <p:cNvPr id="37" name="Text 34"/>
          <p:cNvSpPr/>
          <p:nvPr/>
        </p:nvSpPr>
        <p:spPr>
          <a:xfrm>
            <a:off x="6172200" y="576986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WS-F1-4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Read a Dashboard, Log a Field Note (90m)</a:t>
            </a:r>
            <a:endParaRPr lang="en-US" sz="830" dirty="0"/>
          </a:p>
        </p:txBody>
      </p:sp>
      <p:sp>
        <p:nvSpPr>
          <p:cNvPr id="38" name="Shape 35"/>
          <p:cNvSpPr/>
          <p:nvPr/>
        </p:nvSpPr>
        <p:spPr>
          <a:xfrm>
            <a:off x="5989320" y="5989320"/>
            <a:ext cx="5623560" cy="457200"/>
          </a:xfrm>
          <a:prstGeom prst="roundRect">
            <a:avLst>
              <a:gd name="adj" fmla="val 10000"/>
            </a:avLst>
          </a:prstGeom>
          <a:solidFill>
            <a:srgbClr val="15423A"/>
          </a:solidFill>
          <a:ln/>
        </p:spPr>
      </p:sp>
      <p:sp>
        <p:nvSpPr>
          <p:cNvPr id="39" name="Text 36"/>
          <p:cNvSpPr/>
          <p:nvPr/>
        </p:nvSpPr>
        <p:spPr>
          <a:xfrm>
            <a:off x="6126480" y="598932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EXM-F1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MCQ + 2 short-answer · 75 min · pass mark 75%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TRN-F1 · WORKSHOPS IN DETAIL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Management Foundations &amp; the journi Platform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.41401873928151e+33" dist="2.0302570272305663e+33" dir="1.5116544e+40">
              <a:srgbClr val="1B2E2B">
                <a:alpha val="1.8e+39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057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F6459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057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WS-F1-1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166360" y="2057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13232" y="2359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a Tenant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13232" y="2761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Create a Group and an Organization for a new manufacturing client scenario</a:t>
            </a:r>
            <a:endParaRPr lang="en-US" sz="860" dirty="0"/>
          </a:p>
        </p:txBody>
      </p:sp>
      <p:sp>
        <p:nvSpPr>
          <p:cNvPr id="10" name="Text 8"/>
          <p:cNvSpPr/>
          <p:nvPr/>
        </p:nvSpPr>
        <p:spPr>
          <a:xfrm>
            <a:off x="713232" y="3108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Register a Main Project and a linked Change Management Project</a:t>
            </a:r>
            <a:endParaRPr lang="en-US" sz="860" dirty="0"/>
          </a:p>
        </p:txBody>
      </p:sp>
      <p:sp>
        <p:nvSpPr>
          <p:cNvPr id="11" name="Text 9"/>
          <p:cNvSpPr/>
          <p:nvPr/>
        </p:nvSpPr>
        <p:spPr>
          <a:xfrm>
            <a:off x="713232" y="3456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Set the Organization's Default Language and explain the precedence rule</a:t>
            </a:r>
            <a:endParaRPr lang="en-US" sz="860" dirty="0"/>
          </a:p>
        </p:txBody>
      </p:sp>
      <p:sp>
        <p:nvSpPr>
          <p:cNvPr id="12" name="Shape 10"/>
          <p:cNvSpPr/>
          <p:nvPr/>
        </p:nvSpPr>
        <p:spPr>
          <a:xfrm>
            <a:off x="6172200" y="1920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.875803798887518e+37" dist="2.578426424582819e+37" dir="9.069926400000001e+44">
              <a:srgbClr val="1B2E2B">
                <a:alpha val="1.8e+44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36792" y="2057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F6459"/>
          </a:solidFill>
          <a:ln/>
        </p:spPr>
      </p:sp>
      <p:sp>
        <p:nvSpPr>
          <p:cNvPr id="14" name="Text 12"/>
          <p:cNvSpPr/>
          <p:nvPr/>
        </p:nvSpPr>
        <p:spPr>
          <a:xfrm>
            <a:off x="6336792" y="2057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WS-F1-2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0789920" y="2057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336792" y="2359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Process Backbone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36792" y="2761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Build a 4-role OBS roster with a reporting chain for the scenario project</a:t>
            </a:r>
            <a:endParaRPr lang="en-US" sz="860" dirty="0"/>
          </a:p>
        </p:txBody>
      </p:sp>
      <p:sp>
        <p:nvSpPr>
          <p:cNvPr id="18" name="Text 16"/>
          <p:cNvSpPr/>
          <p:nvPr/>
        </p:nvSpPr>
        <p:spPr>
          <a:xfrm>
            <a:off x="6336792" y="3108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Trace one End-to-End process chain through its ordered Macro Processes</a:t>
            </a:r>
            <a:endParaRPr lang="en-US" sz="860" dirty="0"/>
          </a:p>
        </p:txBody>
      </p:sp>
      <p:sp>
        <p:nvSpPr>
          <p:cNvPr id="19" name="Text 17"/>
          <p:cNvSpPr/>
          <p:nvPr/>
        </p:nvSpPr>
        <p:spPr>
          <a:xfrm>
            <a:off x="6336792" y="3456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Review 3 AI Use Case Library entries and classify tier + human checkpoint</a:t>
            </a:r>
            <a:endParaRPr lang="en-US" sz="860" dirty="0"/>
          </a:p>
        </p:txBody>
      </p:sp>
      <p:sp>
        <p:nvSpPr>
          <p:cNvPr id="20" name="Shape 18"/>
          <p:cNvSpPr/>
          <p:nvPr/>
        </p:nvSpPr>
        <p:spPr>
          <a:xfrm>
            <a:off x="548640" y="4206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.732270824587148e+41" dist="3.2746015592201804e+41" dir="5.44195584e+49">
              <a:srgbClr val="1B2E2B">
                <a:alpha val="1.8e+49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13232" y="4343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F6459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4343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WS-F1-3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166360" y="4343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13232" y="4645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Program's Status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13232" y="5047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Open a seeded Initiative Registry entry and its CM Charter, identify the Lewin macro-state and top charter action</a:t>
            </a:r>
            <a:endParaRPr lang="en-US" sz="860" dirty="0"/>
          </a:p>
        </p:txBody>
      </p:sp>
      <p:sp>
        <p:nvSpPr>
          <p:cNvPr id="26" name="Text 24"/>
          <p:cNvSpPr/>
          <p:nvPr/>
        </p:nvSpPr>
        <p:spPr>
          <a:xfrm>
            <a:off x="713232" y="5394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Open the linked WBS/Gantt view and identify 2 tasks with a schedule gap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713232" y="5742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Identify the current Phase Gate status and who owns the next decision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6172200" y="4206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1089983947225678e+46" dist="4.158743980209629e+45" dir="3.2651735040000005e+54">
              <a:srgbClr val="1B2E2B">
                <a:alpha val="1.8e+54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336792" y="4343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F6459"/>
          </a:solidFill>
          <a:ln/>
        </p:spPr>
      </p:sp>
      <p:sp>
        <p:nvSpPr>
          <p:cNvPr id="30" name="Text 28"/>
          <p:cNvSpPr/>
          <p:nvPr/>
        </p:nvSpPr>
        <p:spPr>
          <a:xfrm>
            <a:off x="6336792" y="4343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WS-F1-4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0789920" y="4343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336792" y="4645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Dashboard, Log a Field Note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336792" y="5047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Open the Metrics &amp; Analytics Dashboard for the seeded project and identify the ADKAR heatmap's weakest block</a:t>
            </a:r>
            <a:endParaRPr lang="en-US" sz="860" dirty="0"/>
          </a:p>
        </p:txBody>
      </p:sp>
      <p:sp>
        <p:nvSpPr>
          <p:cNvPr id="34" name="Text 32"/>
          <p:cNvSpPr/>
          <p:nvPr/>
        </p:nvSpPr>
        <p:spPr>
          <a:xfrm>
            <a:off x="6336792" y="5394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Identify the adoption curve's current trend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36792" y="5742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Add a Field Note capturing an observation from the review (not a structured record)</a:t>
            </a:r>
            <a:endParaRPr lang="en-US" sz="860" dirty="0"/>
          </a:p>
        </p:txBody>
      </p:sp>
      <p:sp>
        <p:nvSpPr>
          <p:cNvPr id="36" name="Text 34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· TRN-F2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9966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&amp; Emotional Readiness — ADKAR and the Human Journey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0835640" y="365760"/>
            <a:ext cx="566928" cy="566928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5" name="Image 0" descr="/home/user/scm-process-register/docs-src/curriculum-deck/assets/chart-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63656" y="493776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50876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810512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and interpret the 5 ADKAR blocks with barrier diagnosis</a:t>
            </a:r>
            <a:endParaRPr lang="en-US" sz="1080" dirty="0"/>
          </a:p>
        </p:txBody>
      </p:sp>
      <p:sp>
        <p:nvSpPr>
          <p:cNvPr id="8" name="Text 5"/>
          <p:cNvSpPr/>
          <p:nvPr/>
        </p:nvSpPr>
        <p:spPr>
          <a:xfrm>
            <a:off x="548640" y="2377440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stakeholder impact / influence and identify high-impact / low-influence risk populations</a:t>
            </a:r>
            <a:endParaRPr lang="en-US" sz="1080" dirty="0"/>
          </a:p>
        </p:txBody>
      </p:sp>
      <p:sp>
        <p:nvSpPr>
          <p:cNvPr id="9" name="Text 6"/>
          <p:cNvSpPr/>
          <p:nvPr/>
        </p:nvSpPr>
        <p:spPr>
          <a:xfrm>
            <a:off x="548640" y="2944368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Bridges Transition and Kübler-Ross sentiment positions and recognize the Divergence Pattern</a:t>
            </a:r>
            <a:endParaRPr lang="en-US" sz="1080" dirty="0"/>
          </a:p>
        </p:txBody>
      </p:sp>
      <p:sp>
        <p:nvSpPr>
          <p:cNvPr id="10" name="Text 7"/>
          <p:cNvSpPr/>
          <p:nvPr/>
        </p:nvSpPr>
        <p:spPr>
          <a:xfrm>
            <a:off x="548640" y="3511296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the Journey Map as a synthesis of ADKAR, Bridges and Kübler-Ross</a:t>
            </a:r>
            <a:endParaRPr lang="en-US" sz="1080" dirty="0"/>
          </a:p>
        </p:txBody>
      </p:sp>
      <p:sp>
        <p:nvSpPr>
          <p:cNvPr id="11" name="Text 8"/>
          <p:cNvSpPr/>
          <p:nvPr/>
        </p:nvSpPr>
        <p:spPr>
          <a:xfrm>
            <a:off x="548640" y="415137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AUDIENCE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4443984"/>
            <a:ext cx="5257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Managers, People Managers / Coaches, Training Leads</a:t>
            </a:r>
            <a:endParaRPr lang="en-US" sz="1080" dirty="0"/>
          </a:p>
        </p:txBody>
      </p:sp>
      <p:sp>
        <p:nvSpPr>
          <p:cNvPr id="13" name="Text 10"/>
          <p:cNvSpPr/>
          <p:nvPr/>
        </p:nvSpPr>
        <p:spPr>
          <a:xfrm>
            <a:off x="5989320" y="150876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AGENDA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89320" y="178308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EAF2EF"/>
          </a:solidFill>
          <a:ln/>
        </p:spPr>
      </p:sp>
      <p:sp>
        <p:nvSpPr>
          <p:cNvPr id="15" name="Text 12"/>
          <p:cNvSpPr/>
          <p:nvPr/>
        </p:nvSpPr>
        <p:spPr>
          <a:xfrm>
            <a:off x="6126480" y="181051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AM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 Mapping &amp; ADKAR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6172200" y="199339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Stakeholder &amp; Impact Mapping — 5-dimension scoring, influence, the High-Impact/Low-Influence flag (60m)</a:t>
            </a:r>
            <a:endParaRPr lang="en-US" sz="830" dirty="0"/>
          </a:p>
        </p:txBody>
      </p:sp>
      <p:sp>
        <p:nvSpPr>
          <p:cNvPr id="17" name="Text 14"/>
          <p:cNvSpPr/>
          <p:nvPr/>
        </p:nvSpPr>
        <p:spPr>
          <a:xfrm>
            <a:off x="6172200" y="221284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ADKAR Engine — 5 blocks, barrier diagnosis, stalled-block escalation, the Desire-diagnosis AI coach (60m)</a:t>
            </a:r>
            <a:endParaRPr lang="en-US" sz="830" dirty="0"/>
          </a:p>
        </p:txBody>
      </p:sp>
      <p:sp>
        <p:nvSpPr>
          <p:cNvPr id="18" name="Text 15"/>
          <p:cNvSpPr/>
          <p:nvPr/>
        </p:nvSpPr>
        <p:spPr>
          <a:xfrm>
            <a:off x="6172200" y="243230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QZ-F2-1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ADKAR blocks + impact scoring (8 items, 15m)</a:t>
            </a:r>
            <a:endParaRPr lang="en-US" sz="830" dirty="0"/>
          </a:p>
        </p:txBody>
      </p:sp>
      <p:sp>
        <p:nvSpPr>
          <p:cNvPr id="19" name="Text 16"/>
          <p:cNvSpPr/>
          <p:nvPr/>
        </p:nvSpPr>
        <p:spPr>
          <a:xfrm>
            <a:off x="6172200" y="261518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WS-F2-1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Map and Score a Cohort (90m)</a:t>
            </a:r>
            <a:endParaRPr lang="en-US" sz="830" dirty="0"/>
          </a:p>
        </p:txBody>
      </p:sp>
      <p:sp>
        <p:nvSpPr>
          <p:cNvPr id="20" name="Shape 17"/>
          <p:cNvSpPr/>
          <p:nvPr/>
        </p:nvSpPr>
        <p:spPr>
          <a:xfrm>
            <a:off x="5989320" y="283464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EAF2EF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286207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PM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Emotional Readiness &amp; the Journey Map</a:t>
            </a:r>
            <a:endParaRPr lang="en-US" sz="980" dirty="0"/>
          </a:p>
        </p:txBody>
      </p:sp>
      <p:sp>
        <p:nvSpPr>
          <p:cNvPr id="22" name="Text 19"/>
          <p:cNvSpPr/>
          <p:nvPr/>
        </p:nvSpPr>
        <p:spPr>
          <a:xfrm>
            <a:off x="6172200" y="304495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Emotional &amp; Transition Layer — Bridges position, Kübler-Ross sentiment inference, the Divergence Pattern (60m)</a:t>
            </a:r>
            <a:endParaRPr lang="en-US" sz="830" dirty="0"/>
          </a:p>
        </p:txBody>
      </p:sp>
      <p:sp>
        <p:nvSpPr>
          <p:cNvPr id="23" name="Text 20"/>
          <p:cNvSpPr/>
          <p:nvPr/>
        </p:nvSpPr>
        <p:spPr>
          <a:xfrm>
            <a:off x="6172200" y="326440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Journey Map — reading the visual timeline, event types, organization-level zoom (60m)</a:t>
            </a:r>
            <a:endParaRPr lang="en-US" sz="830" dirty="0"/>
          </a:p>
        </p:txBody>
      </p:sp>
      <p:sp>
        <p:nvSpPr>
          <p:cNvPr id="24" name="Text 21"/>
          <p:cNvSpPr/>
          <p:nvPr/>
        </p:nvSpPr>
        <p:spPr>
          <a:xfrm>
            <a:off x="6172200" y="348386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QZ-F2-2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Bridges/Kübler-Ross + Divergence Pattern (8 items, 15m)</a:t>
            </a:r>
            <a:endParaRPr lang="en-US" sz="830" dirty="0"/>
          </a:p>
        </p:txBody>
      </p:sp>
      <p:sp>
        <p:nvSpPr>
          <p:cNvPr id="25" name="Text 22"/>
          <p:cNvSpPr/>
          <p:nvPr/>
        </p:nvSpPr>
        <p:spPr>
          <a:xfrm>
            <a:off x="6172200" y="366674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WS-F2-2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Diagnose a Divergence Case (90m)</a:t>
            </a:r>
            <a:endParaRPr lang="en-US" sz="830" dirty="0"/>
          </a:p>
        </p:txBody>
      </p:sp>
      <p:sp>
        <p:nvSpPr>
          <p:cNvPr id="26" name="Shape 23"/>
          <p:cNvSpPr/>
          <p:nvPr/>
        </p:nvSpPr>
        <p:spPr>
          <a:xfrm>
            <a:off x="5989320" y="388620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EAF2EF"/>
          </a:solidFill>
          <a:ln/>
        </p:spPr>
      </p:sp>
      <p:sp>
        <p:nvSpPr>
          <p:cNvPr id="27" name="Text 24"/>
          <p:cNvSpPr/>
          <p:nvPr/>
        </p:nvSpPr>
        <p:spPr>
          <a:xfrm>
            <a:off x="6126480" y="391363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AM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Journeys &amp; Touchpoints</a:t>
            </a:r>
            <a:endParaRPr lang="en-US" sz="980" dirty="0"/>
          </a:p>
        </p:txBody>
      </p:sp>
      <p:sp>
        <p:nvSpPr>
          <p:cNvPr id="28" name="Text 25"/>
          <p:cNvSpPr/>
          <p:nvPr/>
        </p:nvSpPr>
        <p:spPr>
          <a:xfrm>
            <a:off x="6172200" y="409651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Journeys &amp; Analytics — the 8 seeded journeys, touchpoint completion, reference dashboards (60m)</a:t>
            </a:r>
            <a:endParaRPr lang="en-US" sz="830" dirty="0"/>
          </a:p>
        </p:txBody>
      </p:sp>
      <p:sp>
        <p:nvSpPr>
          <p:cNvPr id="29" name="Text 26"/>
          <p:cNvSpPr/>
          <p:nvPr/>
        </p:nvSpPr>
        <p:spPr>
          <a:xfrm>
            <a:off x="6172200" y="431596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Sentiment &amp; the AI Annotation Assistant — reading and accepting an AI-suggested journey annotation (45m)</a:t>
            </a:r>
            <a:endParaRPr lang="en-US" sz="830" dirty="0"/>
          </a:p>
        </p:txBody>
      </p:sp>
      <p:sp>
        <p:nvSpPr>
          <p:cNvPr id="30" name="Text 27"/>
          <p:cNvSpPr/>
          <p:nvPr/>
        </p:nvSpPr>
        <p:spPr>
          <a:xfrm>
            <a:off x="6172200" y="453542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QZ-F2-3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Journeys + AI annotation tier (8 items, 15m)</a:t>
            </a:r>
            <a:endParaRPr lang="en-US" sz="830" dirty="0"/>
          </a:p>
        </p:txBody>
      </p:sp>
      <p:sp>
        <p:nvSpPr>
          <p:cNvPr id="31" name="Text 28"/>
          <p:cNvSpPr/>
          <p:nvPr/>
        </p:nvSpPr>
        <p:spPr>
          <a:xfrm>
            <a:off x="6172200" y="471830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WS-F2-3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Read a Journey, Accept an AI Suggestion (90m)</a:t>
            </a:r>
            <a:endParaRPr lang="en-US" sz="830" dirty="0"/>
          </a:p>
        </p:txBody>
      </p:sp>
      <p:sp>
        <p:nvSpPr>
          <p:cNvPr id="32" name="Shape 29"/>
          <p:cNvSpPr/>
          <p:nvPr/>
        </p:nvSpPr>
        <p:spPr>
          <a:xfrm>
            <a:off x="5989320" y="493776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EAF2EF"/>
          </a:solidFill>
          <a:ln/>
        </p:spPr>
      </p:sp>
      <p:sp>
        <p:nvSpPr>
          <p:cNvPr id="33" name="Text 30"/>
          <p:cNvSpPr/>
          <p:nvPr/>
        </p:nvSpPr>
        <p:spPr>
          <a:xfrm>
            <a:off x="6126480" y="496519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PM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Recognizing Resistance Early</a:t>
            </a:r>
            <a:endParaRPr lang="en-US" sz="980" dirty="0"/>
          </a:p>
        </p:txBody>
      </p:sp>
      <p:sp>
        <p:nvSpPr>
          <p:cNvPr id="34" name="Text 31"/>
          <p:cNvSpPr/>
          <p:nvPr/>
        </p:nvSpPr>
        <p:spPr>
          <a:xfrm>
            <a:off x="6172200" y="514807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Resistance Management — the type taxonomy, at recognition level (not yet coding it) (45m)</a:t>
            </a:r>
            <a:endParaRPr lang="en-US" sz="830" dirty="0"/>
          </a:p>
        </p:txBody>
      </p:sp>
      <p:sp>
        <p:nvSpPr>
          <p:cNvPr id="35" name="Text 32"/>
          <p:cNvSpPr/>
          <p:nvPr/>
        </p:nvSpPr>
        <p:spPr>
          <a:xfrm>
            <a:off x="6172200" y="536752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Manager-as-Coach — the team-scoped view a People Manager sees, and how it links to ADKAR (45m)</a:t>
            </a:r>
            <a:endParaRPr lang="en-US" sz="830" dirty="0"/>
          </a:p>
        </p:txBody>
      </p:sp>
      <p:sp>
        <p:nvSpPr>
          <p:cNvPr id="36" name="Text 33"/>
          <p:cNvSpPr/>
          <p:nvPr/>
        </p:nvSpPr>
        <p:spPr>
          <a:xfrm>
            <a:off x="6172200" y="558698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QZ-F2-4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Resistance types + Manager-as-Coach view (8 items, 15m)</a:t>
            </a:r>
            <a:endParaRPr lang="en-US" sz="830" dirty="0"/>
          </a:p>
        </p:txBody>
      </p:sp>
      <p:sp>
        <p:nvSpPr>
          <p:cNvPr id="37" name="Text 34"/>
          <p:cNvSpPr/>
          <p:nvPr/>
        </p:nvSpPr>
        <p:spPr>
          <a:xfrm>
            <a:off x="6172200" y="576986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WS-F2-4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Recognize a Resistance Type (90m)</a:t>
            </a:r>
            <a:endParaRPr lang="en-US" sz="830" dirty="0"/>
          </a:p>
        </p:txBody>
      </p:sp>
      <p:sp>
        <p:nvSpPr>
          <p:cNvPr id="38" name="Shape 35"/>
          <p:cNvSpPr/>
          <p:nvPr/>
        </p:nvSpPr>
        <p:spPr>
          <a:xfrm>
            <a:off x="5989320" y="5989320"/>
            <a:ext cx="5623560" cy="457200"/>
          </a:xfrm>
          <a:prstGeom prst="roundRect">
            <a:avLst>
              <a:gd name="adj" fmla="val 10000"/>
            </a:avLst>
          </a:prstGeom>
          <a:solidFill>
            <a:srgbClr val="15423A"/>
          </a:solidFill>
          <a:ln/>
        </p:spPr>
      </p:sp>
      <p:sp>
        <p:nvSpPr>
          <p:cNvPr id="39" name="Text 36"/>
          <p:cNvSpPr/>
          <p:nvPr/>
        </p:nvSpPr>
        <p:spPr>
          <a:xfrm>
            <a:off x="6126480" y="598932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EXM-F2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MCQ + 2 case-based scenarios · 90 min · pass mark 75%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TRN-F2 · WORKSHOPS IN DETAIL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&amp; Emotional Readiness — ADKAR and the Human Journey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408427961297661e+50" dist="5.281604854866228e+49" dir="1.9591041024000004e+59">
              <a:srgbClr val="1B2E2B">
                <a:alpha val="1.8000000000000001e+59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057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F6459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057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WS-F2-1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166360" y="2057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13232" y="2359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and Score a Cohort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13232" y="2761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Add a new stakeholder group to the seeded ERP scenario</a:t>
            </a:r>
            <a:endParaRPr lang="en-US" sz="860" dirty="0"/>
          </a:p>
        </p:txBody>
      </p:sp>
      <p:sp>
        <p:nvSpPr>
          <p:cNvPr id="10" name="Text 8"/>
          <p:cNvSpPr/>
          <p:nvPr/>
        </p:nvSpPr>
        <p:spPr>
          <a:xfrm>
            <a:off x="713232" y="3108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Score its 5-dimension impact and influence</a:t>
            </a:r>
            <a:endParaRPr lang="en-US" sz="860" dirty="0"/>
          </a:p>
        </p:txBody>
      </p:sp>
      <p:sp>
        <p:nvSpPr>
          <p:cNvPr id="11" name="Text 9"/>
          <p:cNvSpPr/>
          <p:nvPr/>
        </p:nvSpPr>
        <p:spPr>
          <a:xfrm>
            <a:off x="713232" y="3456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Confirm the High-Impact / Low-Influence flag fires correctly</a:t>
            </a:r>
            <a:endParaRPr lang="en-US" sz="860" dirty="0"/>
          </a:p>
        </p:txBody>
      </p:sp>
      <p:sp>
        <p:nvSpPr>
          <p:cNvPr id="12" name="Shape 10"/>
          <p:cNvSpPr/>
          <p:nvPr/>
        </p:nvSpPr>
        <p:spPr>
          <a:xfrm>
            <a:off x="6172200" y="1920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7887035108480297e+54" dist="6.70763816568011e+53" dir="1.1754624614400003e+64">
              <a:srgbClr val="1B2E2B">
                <a:alpha val="1.8e+64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36792" y="2057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F6459"/>
          </a:solidFill>
          <a:ln/>
        </p:spPr>
      </p:sp>
      <p:sp>
        <p:nvSpPr>
          <p:cNvPr id="14" name="Text 12"/>
          <p:cNvSpPr/>
          <p:nvPr/>
        </p:nvSpPr>
        <p:spPr>
          <a:xfrm>
            <a:off x="6336792" y="2057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WS-F2-2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0789920" y="2057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336792" y="2359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a Divergence Case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36792" y="2761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Given strong Knowledge/Ability but an "Ending" Bridges read, confirm the Divergence Alert</a:t>
            </a:r>
            <a:endParaRPr lang="en-US" sz="860" dirty="0"/>
          </a:p>
        </p:txBody>
      </p:sp>
      <p:sp>
        <p:nvSpPr>
          <p:cNvPr id="18" name="Text 16"/>
          <p:cNvSpPr/>
          <p:nvPr/>
        </p:nvSpPr>
        <p:spPr>
          <a:xfrm>
            <a:off x="6336792" y="3108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Log a justified sentiment update citing specific evidence</a:t>
            </a:r>
            <a:endParaRPr lang="en-US" sz="860" dirty="0"/>
          </a:p>
        </p:txBody>
      </p:sp>
      <p:sp>
        <p:nvSpPr>
          <p:cNvPr id="19" name="Text 17"/>
          <p:cNvSpPr/>
          <p:nvPr/>
        </p:nvSpPr>
        <p:spPr>
          <a:xfrm>
            <a:off x="6336792" y="3456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Add an annotated Journey Map event for the diagnosis</a:t>
            </a:r>
            <a:endParaRPr lang="en-US" sz="860" dirty="0"/>
          </a:p>
        </p:txBody>
      </p:sp>
      <p:sp>
        <p:nvSpPr>
          <p:cNvPr id="20" name="Shape 18"/>
          <p:cNvSpPr/>
          <p:nvPr/>
        </p:nvSpPr>
        <p:spPr>
          <a:xfrm>
            <a:off x="548640" y="4206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.2716534587769977e+58" dist="8.518700470413739e+57" dir="7.052774768640002e+68">
              <a:srgbClr val="1B2E2B">
                <a:alpha val="1.8e+69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13232" y="4343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F6459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4343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WS-F2-3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166360" y="4343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13232" y="4645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Journey, Accept an AI Suggestion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13232" y="5047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Open a seeded journey and identify its touchpoint-completion percentage</a:t>
            </a:r>
            <a:endParaRPr lang="en-US" sz="860" dirty="0"/>
          </a:p>
        </p:txBody>
      </p:sp>
      <p:sp>
        <p:nvSpPr>
          <p:cNvPr id="26" name="Text 24"/>
          <p:cNvSpPr/>
          <p:nvPr/>
        </p:nvSpPr>
        <p:spPr>
          <a:xfrm>
            <a:off x="713232" y="5394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Identify which touchpoint has the lowest completion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713232" y="5742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Use the Journey Map Annotation Assistant, accept the suggestion, edit it, and log the source annotation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6172200" y="4206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.8849998926467873e+62" dist="1.081874959742545e+62" dir="4.2316648611840007e+73">
              <a:srgbClr val="1B2E2B">
                <a:alpha val="1.8000000000000002e+74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336792" y="4343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F6459"/>
          </a:solidFill>
          <a:ln/>
        </p:spPr>
      </p:sp>
      <p:sp>
        <p:nvSpPr>
          <p:cNvPr id="30" name="Text 28"/>
          <p:cNvSpPr/>
          <p:nvPr/>
        </p:nvSpPr>
        <p:spPr>
          <a:xfrm>
            <a:off x="6336792" y="4343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WS-F2-4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0789920" y="4343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336792" y="4645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a Resistance Type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336792" y="5047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Read 3 short resistance scenarios and classify each by type (recognition only, no logging)</a:t>
            </a:r>
            <a:endParaRPr lang="en-US" sz="860" dirty="0"/>
          </a:p>
        </p:txBody>
      </p:sp>
      <p:sp>
        <p:nvSpPr>
          <p:cNvPr id="34" name="Text 32"/>
          <p:cNvSpPr/>
          <p:nvPr/>
        </p:nvSpPr>
        <p:spPr>
          <a:xfrm>
            <a:off x="6336792" y="5394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Open the Manager-as-Coach team-scoped view for a seeded manager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36792" y="5742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Identify the team member with the lowest ADKAR score and the linked resistance entry</a:t>
            </a:r>
            <a:endParaRPr lang="en-US" sz="860" dirty="0"/>
          </a:p>
        </p:txBody>
      </p:sp>
      <p:sp>
        <p:nvSpPr>
          <p:cNvPr id="36" name="Text 34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· TRN-F3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9966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Sponsorship, Communication &amp; Risk Basics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0835640" y="365760"/>
            <a:ext cx="566928" cy="566928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5" name="Image 0" descr="/home/user/scm-process-register/docs-src/curriculum-deck/assets/comm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63656" y="493776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50876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810512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sponsor visibility and log sponsor actions</a:t>
            </a:r>
            <a:endParaRPr lang="en-US" sz="1080" dirty="0"/>
          </a:p>
        </p:txBody>
      </p:sp>
      <p:sp>
        <p:nvSpPr>
          <p:cNvPr id="8" name="Text 5"/>
          <p:cNvSpPr/>
          <p:nvPr/>
        </p:nvSpPr>
        <p:spPr>
          <a:xfrm>
            <a:off x="548640" y="2377440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communication matrix and recognize saturation risk</a:t>
            </a:r>
            <a:endParaRPr lang="en-US" sz="1080" dirty="0"/>
          </a:p>
        </p:txBody>
      </p:sp>
      <p:sp>
        <p:nvSpPr>
          <p:cNvPr id="9" name="Text 6"/>
          <p:cNvSpPr/>
          <p:nvPr/>
        </p:nvSpPr>
        <p:spPr>
          <a:xfrm>
            <a:off x="548640" y="2944368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and score change risk distinct from generic project risk</a:t>
            </a:r>
            <a:endParaRPr lang="en-US" sz="1080" dirty="0"/>
          </a:p>
        </p:txBody>
      </p:sp>
      <p:sp>
        <p:nvSpPr>
          <p:cNvPr id="10" name="Text 7"/>
          <p:cNvSpPr/>
          <p:nvPr/>
        </p:nvSpPr>
        <p:spPr>
          <a:xfrm>
            <a:off x="548640" y="3511296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Notification Center to monitor live alert conditions</a:t>
            </a:r>
            <a:endParaRPr lang="en-US" sz="1080" dirty="0"/>
          </a:p>
        </p:txBody>
      </p:sp>
      <p:sp>
        <p:nvSpPr>
          <p:cNvPr id="11" name="Text 8"/>
          <p:cNvSpPr/>
          <p:nvPr/>
        </p:nvSpPr>
        <p:spPr>
          <a:xfrm>
            <a:off x="548640" y="415137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AUDIENCE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4443984"/>
            <a:ext cx="5257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Managers, Communications Practitioners, PMO</a:t>
            </a:r>
            <a:endParaRPr lang="en-US" sz="1080" dirty="0"/>
          </a:p>
        </p:txBody>
      </p:sp>
      <p:sp>
        <p:nvSpPr>
          <p:cNvPr id="13" name="Text 10"/>
          <p:cNvSpPr/>
          <p:nvPr/>
        </p:nvSpPr>
        <p:spPr>
          <a:xfrm>
            <a:off x="5989320" y="150876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AGENDA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89320" y="178308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EAF2EF"/>
          </a:solidFill>
          <a:ln/>
        </p:spPr>
      </p:sp>
      <p:sp>
        <p:nvSpPr>
          <p:cNvPr id="15" name="Text 12"/>
          <p:cNvSpPr/>
          <p:nvPr/>
        </p:nvSpPr>
        <p:spPr>
          <a:xfrm>
            <a:off x="6126480" y="181051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· AM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 &amp; Coalition, Communications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6172200" y="199339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Sponsor &amp; Coalition — visibility tracker, coalition roster, sponsor actions, the weak-visibility alert (60m)</a:t>
            </a:r>
            <a:endParaRPr lang="en-US" sz="830" dirty="0"/>
          </a:p>
        </p:txBody>
      </p:sp>
      <p:sp>
        <p:nvSpPr>
          <p:cNvPr id="17" name="Text 14"/>
          <p:cNvSpPr/>
          <p:nvPr/>
        </p:nvSpPr>
        <p:spPr>
          <a:xfrm>
            <a:off x="6172200" y="221284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Communications — the message × audience × channel × timing matrix, saturation detection (60m)</a:t>
            </a:r>
            <a:endParaRPr lang="en-US" sz="830" dirty="0"/>
          </a:p>
        </p:txBody>
      </p:sp>
      <p:sp>
        <p:nvSpPr>
          <p:cNvPr id="18" name="Text 15"/>
          <p:cNvSpPr/>
          <p:nvPr/>
        </p:nvSpPr>
        <p:spPr>
          <a:xfrm>
            <a:off x="6172200" y="243230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QZ-F3-1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Sponsorship visibility + communication matrix (8 items, 15m)</a:t>
            </a:r>
            <a:endParaRPr lang="en-US" sz="830" dirty="0"/>
          </a:p>
        </p:txBody>
      </p:sp>
      <p:sp>
        <p:nvSpPr>
          <p:cNvPr id="19" name="Text 16"/>
          <p:cNvSpPr/>
          <p:nvPr/>
        </p:nvSpPr>
        <p:spPr>
          <a:xfrm>
            <a:off x="6172200" y="261518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WS-F3-1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Plan a Communication Wave (90m)</a:t>
            </a:r>
            <a:endParaRPr lang="en-US" sz="830" dirty="0"/>
          </a:p>
        </p:txBody>
      </p:sp>
      <p:sp>
        <p:nvSpPr>
          <p:cNvPr id="20" name="Shape 17"/>
          <p:cNvSpPr/>
          <p:nvPr/>
        </p:nvSpPr>
        <p:spPr>
          <a:xfrm>
            <a:off x="5989320" y="283464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EAF2EF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286207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· PM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&amp; the Notification Center</a:t>
            </a:r>
            <a:endParaRPr lang="en-US" sz="980" dirty="0"/>
          </a:p>
        </p:txBody>
      </p:sp>
      <p:sp>
        <p:nvSpPr>
          <p:cNvPr id="22" name="Text 19"/>
          <p:cNvSpPr/>
          <p:nvPr/>
        </p:nvSpPr>
        <p:spPr>
          <a:xfrm>
            <a:off x="6172200" y="304495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Change Risk Register — adoption/sponsorship/capacity/saturation categories, risk score, mitigation (60m)</a:t>
            </a:r>
            <a:endParaRPr lang="en-US" sz="830" dirty="0"/>
          </a:p>
        </p:txBody>
      </p:sp>
      <p:sp>
        <p:nvSpPr>
          <p:cNvPr id="23" name="Text 20"/>
          <p:cNvSpPr/>
          <p:nvPr/>
        </p:nvSpPr>
        <p:spPr>
          <a:xfrm>
            <a:off x="6172200" y="326440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Notification Center — the 9 live alert conditions, dismiss/restore, tracing an alert to its module (60m)</a:t>
            </a:r>
            <a:endParaRPr lang="en-US" sz="830" dirty="0"/>
          </a:p>
        </p:txBody>
      </p:sp>
      <p:sp>
        <p:nvSpPr>
          <p:cNvPr id="24" name="Text 21"/>
          <p:cNvSpPr/>
          <p:nvPr/>
        </p:nvSpPr>
        <p:spPr>
          <a:xfrm>
            <a:off x="6172200" y="348386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QZ-F3-2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Risk categories + live alert conditions (8 items, 15m)</a:t>
            </a:r>
            <a:endParaRPr lang="en-US" sz="830" dirty="0"/>
          </a:p>
        </p:txBody>
      </p:sp>
      <p:sp>
        <p:nvSpPr>
          <p:cNvPr id="25" name="Text 22"/>
          <p:cNvSpPr/>
          <p:nvPr/>
        </p:nvSpPr>
        <p:spPr>
          <a:xfrm>
            <a:off x="6172200" y="366674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WS-F3-2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Close the Loop on a Risk (90m)</a:t>
            </a:r>
            <a:endParaRPr lang="en-US" sz="830" dirty="0"/>
          </a:p>
        </p:txBody>
      </p:sp>
      <p:sp>
        <p:nvSpPr>
          <p:cNvPr id="26" name="Shape 23"/>
          <p:cNvSpPr/>
          <p:nvPr/>
        </p:nvSpPr>
        <p:spPr>
          <a:xfrm>
            <a:off x="5989320" y="388620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EAF2EF"/>
          </a:solidFill>
          <a:ln/>
        </p:spPr>
      </p:sp>
      <p:sp>
        <p:nvSpPr>
          <p:cNvPr id="27" name="Text 24"/>
          <p:cNvSpPr/>
          <p:nvPr/>
        </p:nvSpPr>
        <p:spPr>
          <a:xfrm>
            <a:off x="6126480" y="391363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6 · AM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&amp; Capability, at a Glance</a:t>
            </a:r>
            <a:endParaRPr lang="en-US" sz="980" dirty="0"/>
          </a:p>
        </p:txBody>
      </p:sp>
      <p:sp>
        <p:nvSpPr>
          <p:cNvPr id="28" name="Text 25"/>
          <p:cNvSpPr/>
          <p:nvPr/>
        </p:nvSpPr>
        <p:spPr>
          <a:xfrm>
            <a:off x="6172200" y="409651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Training &amp; Capability — curriculum records, the trained-vs-capable distinction (reading level) (45m)</a:t>
            </a:r>
            <a:endParaRPr lang="en-US" sz="830" dirty="0"/>
          </a:p>
        </p:txBody>
      </p:sp>
      <p:sp>
        <p:nvSpPr>
          <p:cNvPr id="29" name="Text 26"/>
          <p:cNvSpPr/>
          <p:nvPr/>
        </p:nvSpPr>
        <p:spPr>
          <a:xfrm>
            <a:off x="6172200" y="431596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Codebook — how resistance and communication data get tagged consistently (45m)</a:t>
            </a:r>
            <a:endParaRPr lang="en-US" sz="830" dirty="0"/>
          </a:p>
        </p:txBody>
      </p:sp>
      <p:sp>
        <p:nvSpPr>
          <p:cNvPr id="30" name="Text 27"/>
          <p:cNvSpPr/>
          <p:nvPr/>
        </p:nvSpPr>
        <p:spPr>
          <a:xfrm>
            <a:off x="6172200" y="453542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QZ-F3-3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Training records + codebook (8 items, 15m)</a:t>
            </a:r>
            <a:endParaRPr lang="en-US" sz="830" dirty="0"/>
          </a:p>
        </p:txBody>
      </p:sp>
      <p:sp>
        <p:nvSpPr>
          <p:cNvPr id="31" name="Text 28"/>
          <p:cNvSpPr/>
          <p:nvPr/>
        </p:nvSpPr>
        <p:spPr>
          <a:xfrm>
            <a:off x="6172200" y="471830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WS-F3-3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Read a Curriculum Record (90m)</a:t>
            </a:r>
            <a:endParaRPr lang="en-US" sz="830" dirty="0"/>
          </a:p>
        </p:txBody>
      </p:sp>
      <p:sp>
        <p:nvSpPr>
          <p:cNvPr id="32" name="Shape 29"/>
          <p:cNvSpPr/>
          <p:nvPr/>
        </p:nvSpPr>
        <p:spPr>
          <a:xfrm>
            <a:off x="5989320" y="493776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EAF2EF"/>
          </a:solidFill>
          <a:ln/>
        </p:spPr>
      </p:sp>
      <p:sp>
        <p:nvSpPr>
          <p:cNvPr id="33" name="Text 30"/>
          <p:cNvSpPr/>
          <p:nvPr/>
        </p:nvSpPr>
        <p:spPr>
          <a:xfrm>
            <a:off x="6126480" y="496519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6 · PM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Sustainment Basics</a:t>
            </a:r>
            <a:endParaRPr lang="en-US" sz="980" dirty="0"/>
          </a:p>
        </p:txBody>
      </p:sp>
      <p:sp>
        <p:nvSpPr>
          <p:cNvPr id="34" name="Text 31"/>
          <p:cNvSpPr/>
          <p:nvPr/>
        </p:nvSpPr>
        <p:spPr>
          <a:xfrm>
            <a:off x="6172200" y="514807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Reinforcement &amp; Sustainment — the 30/60/90-day checkpoint cadence (recognition level) (45m)</a:t>
            </a:r>
            <a:endParaRPr lang="en-US" sz="830" dirty="0"/>
          </a:p>
        </p:txBody>
      </p:sp>
      <p:sp>
        <p:nvSpPr>
          <p:cNvPr id="35" name="Text 32"/>
          <p:cNvSpPr/>
          <p:nvPr/>
        </p:nvSpPr>
        <p:spPr>
          <a:xfrm>
            <a:off x="6172200" y="536752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Putting It Together — reading a project's overall readiness across sponsor, comms, risk and training signals (45m)</a:t>
            </a:r>
            <a:endParaRPr lang="en-US" sz="830" dirty="0"/>
          </a:p>
        </p:txBody>
      </p:sp>
      <p:sp>
        <p:nvSpPr>
          <p:cNvPr id="36" name="Text 33"/>
          <p:cNvSpPr/>
          <p:nvPr/>
        </p:nvSpPr>
        <p:spPr>
          <a:xfrm>
            <a:off x="6172200" y="558698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QZ-F3-4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Sustainment cadence + readiness synthesis (8 items, 15m)</a:t>
            </a:r>
            <a:endParaRPr lang="en-US" sz="830" dirty="0"/>
          </a:p>
        </p:txBody>
      </p:sp>
      <p:sp>
        <p:nvSpPr>
          <p:cNvPr id="37" name="Text 34"/>
          <p:cNvSpPr/>
          <p:nvPr/>
        </p:nvSpPr>
        <p:spPr>
          <a:xfrm>
            <a:off x="6172200" y="576986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WS-F3-4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Assemble a Readiness Snapshot (90m)</a:t>
            </a:r>
            <a:endParaRPr lang="en-US" sz="830" dirty="0"/>
          </a:p>
        </p:txBody>
      </p:sp>
      <p:sp>
        <p:nvSpPr>
          <p:cNvPr id="38" name="Shape 35"/>
          <p:cNvSpPr/>
          <p:nvPr/>
        </p:nvSpPr>
        <p:spPr>
          <a:xfrm>
            <a:off x="5989320" y="5989320"/>
            <a:ext cx="5623560" cy="457200"/>
          </a:xfrm>
          <a:prstGeom prst="roundRect">
            <a:avLst>
              <a:gd name="adj" fmla="val 10000"/>
            </a:avLst>
          </a:prstGeom>
          <a:solidFill>
            <a:srgbClr val="15423A"/>
          </a:solidFill>
          <a:ln/>
        </p:spPr>
      </p:sp>
      <p:sp>
        <p:nvSpPr>
          <p:cNvPr id="39" name="Text 36"/>
          <p:cNvSpPr/>
          <p:nvPr/>
        </p:nvSpPr>
        <p:spPr>
          <a:xfrm>
            <a:off x="6126480" y="598932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EXM-F3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MCQ · 90 min · pass mark 75%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TRN-F3 · WORKSHOPS IN DETAIL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Sponsorship, Communication &amp; Risk Basics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.66394986366142e+66" dist="1.373981198873032e+66" dir="2.5389989167104004e+78">
              <a:srgbClr val="1B2E2B">
                <a:alpha val="1.8000000000000003e+79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057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F6459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057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WS-F3-1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166360" y="2057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13232" y="2359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 Communication Wave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13232" y="2761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Build a 3-message communication matrix for a target cohort</a:t>
            </a:r>
            <a:endParaRPr lang="en-US" sz="860" dirty="0"/>
          </a:p>
        </p:txBody>
      </p:sp>
      <p:sp>
        <p:nvSpPr>
          <p:cNvPr id="10" name="Text 8"/>
          <p:cNvSpPr/>
          <p:nvPr/>
        </p:nvSpPr>
        <p:spPr>
          <a:xfrm>
            <a:off x="713232" y="3108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Run the Change Saturation Advisor AI use case and interpret its flag</a:t>
            </a:r>
            <a:endParaRPr lang="en-US" sz="860" dirty="0"/>
          </a:p>
        </p:txBody>
      </p:sp>
      <p:sp>
        <p:nvSpPr>
          <p:cNvPr id="11" name="Text 9"/>
          <p:cNvSpPr/>
          <p:nvPr/>
        </p:nvSpPr>
        <p:spPr>
          <a:xfrm>
            <a:off x="713232" y="3456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Log a sponsor action addressing an identified visibility gap</a:t>
            </a:r>
            <a:endParaRPr lang="en-US" sz="860" dirty="0"/>
          </a:p>
        </p:txBody>
      </p:sp>
      <p:sp>
        <p:nvSpPr>
          <p:cNvPr id="12" name="Shape 10"/>
          <p:cNvSpPr/>
          <p:nvPr/>
        </p:nvSpPr>
        <p:spPr>
          <a:xfrm>
            <a:off x="6172200" y="1920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4.653216326850003e+70" dist="1.7449561225687507e+70" dir="1.5233993500262402e+83">
              <a:srgbClr val="1B2E2B">
                <a:alpha val="1.8000000000000004e+84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36792" y="2057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F6459"/>
          </a:solidFill>
          <a:ln/>
        </p:spPr>
      </p:sp>
      <p:sp>
        <p:nvSpPr>
          <p:cNvPr id="14" name="Text 12"/>
          <p:cNvSpPr/>
          <p:nvPr/>
        </p:nvSpPr>
        <p:spPr>
          <a:xfrm>
            <a:off x="6336792" y="2057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WS-F3-2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0789920" y="2057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336792" y="2359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Loop on a Risk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36792" y="2761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Log a saturation risk with likelihood/impact scoring</a:t>
            </a:r>
            <a:endParaRPr lang="en-US" sz="860" dirty="0"/>
          </a:p>
        </p:txBody>
      </p:sp>
      <p:sp>
        <p:nvSpPr>
          <p:cNvPr id="18" name="Text 16"/>
          <p:cNvSpPr/>
          <p:nvPr/>
        </p:nvSpPr>
        <p:spPr>
          <a:xfrm>
            <a:off x="6336792" y="3108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Add a mitigation action with an owner and due date</a:t>
            </a:r>
            <a:endParaRPr lang="en-US" sz="860" dirty="0"/>
          </a:p>
        </p:txBody>
      </p:sp>
      <p:sp>
        <p:nvSpPr>
          <p:cNvPr id="19" name="Text 17"/>
          <p:cNvSpPr/>
          <p:nvPr/>
        </p:nvSpPr>
        <p:spPr>
          <a:xfrm>
            <a:off x="6336792" y="3456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Verify the corresponding alert fires in the Notification Center</a:t>
            </a:r>
            <a:endParaRPr lang="en-US" sz="860" dirty="0"/>
          </a:p>
        </p:txBody>
      </p:sp>
      <p:sp>
        <p:nvSpPr>
          <p:cNvPr id="20" name="Shape 18"/>
          <p:cNvSpPr/>
          <p:nvPr/>
        </p:nvSpPr>
        <p:spPr>
          <a:xfrm>
            <a:off x="548640" y="4206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.909584735099504e+74" dist="2.2160942756623134e+74" dir="9.14039610015744e+87">
              <a:srgbClr val="1B2E2B">
                <a:alpha val="1.8000000000000005e+89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13232" y="4343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F6459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4343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WS-F3-3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166360" y="4343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13232" y="4645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Curriculum Record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13232" y="5047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Open a seeded curriculum record and identify completion % vs. certification status</a:t>
            </a:r>
            <a:endParaRPr lang="en-US" sz="860" dirty="0"/>
          </a:p>
        </p:txBody>
      </p:sp>
      <p:sp>
        <p:nvSpPr>
          <p:cNvPr id="26" name="Text 24"/>
          <p:cNvSpPr/>
          <p:nvPr/>
        </p:nvSpPr>
        <p:spPr>
          <a:xfrm>
            <a:off x="713232" y="5394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Identify one trainee marked "attended" but not yet "capable" and explain the gap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713232" y="5742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Look up 2 tags in the organization's default Codebook and explain what each is used for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6172200" y="4206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.50517261357637e+78" dist="2.814439730091138e+78" dir="5.484237660094465e+92">
              <a:srgbClr val="1B2E2B">
                <a:alpha val="1.8000000000000007e+94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336792" y="4343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F6459"/>
          </a:solidFill>
          <a:ln/>
        </p:spPr>
      </p:sp>
      <p:sp>
        <p:nvSpPr>
          <p:cNvPr id="30" name="Text 28"/>
          <p:cNvSpPr/>
          <p:nvPr/>
        </p:nvSpPr>
        <p:spPr>
          <a:xfrm>
            <a:off x="6336792" y="4343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WS-F3-4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0789920" y="4343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336792" y="4645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 a Readiness Snapshot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336792" y="5047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Open the sustainment checkpoint tracker and identify the next due checkpoint</a:t>
            </a:r>
            <a:endParaRPr lang="en-US" sz="860" dirty="0"/>
          </a:p>
        </p:txBody>
      </p:sp>
      <p:sp>
        <p:nvSpPr>
          <p:cNvPr id="34" name="Text 32"/>
          <p:cNvSpPr/>
          <p:nvPr/>
        </p:nvSpPr>
        <p:spPr>
          <a:xfrm>
            <a:off x="6336792" y="5394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Pull one signal each from sponsor visibility, communication saturation, risk register, and training completion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36792" y="5742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Draft a 4-line readiness snapshot combining all signals</a:t>
            </a:r>
            <a:endParaRPr lang="en-US" sz="860" dirty="0"/>
          </a:p>
        </p:txBody>
      </p:sp>
      <p:sp>
        <p:nvSpPr>
          <p:cNvPr id="36" name="Text 34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54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LVL-P  ·  LEVEL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48640" y="777240"/>
            <a:ext cx="822960" cy="822960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4" name="Image 0" descr="/home/user/scm-process-register/docs-src/curriculum-deck/assets/chalkboard-us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96012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7772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Practitioner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1600200" y="15087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3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a Change Program in journi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534924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2304288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AUDIENCE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77240" y="2606040"/>
            <a:ext cx="484632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 or certified Change Managers who will own a real Change Management Project end-to-end. Prerequisite: Foundation credential.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035040" y="2148840"/>
            <a:ext cx="562356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/>
          <p:nvPr/>
        </p:nvSpPr>
        <p:spPr>
          <a:xfrm>
            <a:off x="6263640" y="2304288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OUTCOME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263640" y="2606040"/>
            <a:ext cx="51206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 a program from charter through Phase Gate decisions, manage training/resistance/coaching data, and operate governed AI safely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420624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3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TRAININGS IN THIS LEVEL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48640" y="45720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TRN-P1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8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Governance — Charters, WBS &amp; Phase Gates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48640" y="4919472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TRN-P2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8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Training, Resistance &amp; Coaching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48640" y="5266944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TRN-P3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8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in Change Management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48640" y="5806440"/>
            <a:ext cx="11064240" cy="685800"/>
          </a:xfrm>
          <a:prstGeom prst="roundRect">
            <a:avLst>
              <a:gd name="adj" fmla="val 6667"/>
            </a:avLst>
          </a:prstGeom>
          <a:solidFill>
            <a:srgbClr val="15423A"/>
          </a:solidFill>
          <a:ln/>
        </p:spPr>
      </p:sp>
      <p:sp>
        <p:nvSpPr>
          <p:cNvPr id="18" name="Text 15"/>
          <p:cNvSpPr/>
          <p:nvPr/>
        </p:nvSpPr>
        <p:spPr>
          <a:xfrm>
            <a:off x="777240" y="5806440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EXM-LVL-P 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MCQ (drawn from TRN-P1–P3) + 1 integrated practical (Phase Gate + resistance pattern + AI activation decision) · 4.5h · pass mark 80% · unlocks Advanced enrollment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FE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PRACTITIONER · TRN-P1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9966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Governance — Charters, WBS &amp; Phase Gates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0835640" y="365760"/>
            <a:ext cx="566928" cy="566928"/>
          </a:xfrm>
          <a:prstGeom prst="ellipse">
            <a:avLst/>
          </a:prstGeom>
          <a:solidFill>
            <a:srgbClr val="15423A"/>
          </a:solidFill>
          <a:ln/>
        </p:spPr>
      </p:sp>
      <p:pic>
        <p:nvPicPr>
          <p:cNvPr id="5" name="Image 0" descr="/home/user/scm-process-register/docs-src/curriculum-deck/assets/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63656" y="493776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50876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810512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and manage a Change Management Project and its Initiative Registry record</a:t>
            </a:r>
            <a:endParaRPr lang="en-US" sz="1080" dirty="0"/>
          </a:p>
        </p:txBody>
      </p:sp>
      <p:sp>
        <p:nvSpPr>
          <p:cNvPr id="8" name="Text 5"/>
          <p:cNvSpPr/>
          <p:nvPr/>
        </p:nvSpPr>
        <p:spPr>
          <a:xfrm>
            <a:off x="548640" y="2377440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a Phase Template and build a WBS spanning PM / CM / Framework tracks</a:t>
            </a:r>
            <a:endParaRPr lang="en-US" sz="1080" dirty="0"/>
          </a:p>
        </p:txBody>
      </p:sp>
      <p:sp>
        <p:nvSpPr>
          <p:cNvPr id="9" name="Text 6"/>
          <p:cNvSpPr/>
          <p:nvPr/>
        </p:nvSpPr>
        <p:spPr>
          <a:xfrm>
            <a:off x="548640" y="2944368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and interpret a Phase Gate Joint Decision</a:t>
            </a:r>
            <a:endParaRPr lang="en-US" sz="1080" dirty="0"/>
          </a:p>
        </p:txBody>
      </p:sp>
      <p:sp>
        <p:nvSpPr>
          <p:cNvPr id="10" name="Text 7"/>
          <p:cNvSpPr/>
          <p:nvPr/>
        </p:nvSpPr>
        <p:spPr>
          <a:xfrm>
            <a:off x="548640" y="3511296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and manage CM Charter definitions and their compliance log</a:t>
            </a:r>
            <a:endParaRPr lang="en-US" sz="1080" dirty="0"/>
          </a:p>
        </p:txBody>
      </p:sp>
      <p:sp>
        <p:nvSpPr>
          <p:cNvPr id="11" name="Text 8"/>
          <p:cNvSpPr/>
          <p:nvPr/>
        </p:nvSpPr>
        <p:spPr>
          <a:xfrm>
            <a:off x="548640" y="415137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AUDIENCE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4443984"/>
            <a:ext cx="5257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Managers, PMO / Program Managers (Foundation credential required)</a:t>
            </a:r>
            <a:endParaRPr lang="en-US" sz="1080" dirty="0"/>
          </a:p>
        </p:txBody>
      </p:sp>
      <p:sp>
        <p:nvSpPr>
          <p:cNvPr id="13" name="Text 10"/>
          <p:cNvSpPr/>
          <p:nvPr/>
        </p:nvSpPr>
        <p:spPr>
          <a:xfrm>
            <a:off x="5989320" y="150876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AGENDA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89320" y="178308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DCEEE8"/>
          </a:solidFill>
          <a:ln/>
        </p:spPr>
      </p:sp>
      <p:sp>
        <p:nvSpPr>
          <p:cNvPr id="15" name="Text 12"/>
          <p:cNvSpPr/>
          <p:nvPr/>
        </p:nvSpPr>
        <p:spPr>
          <a:xfrm>
            <a:off x="6126480" y="181051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AM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Initiative Registry &amp; Charters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6172200" y="199339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Initiative Registry — metadata, Lewin macro-state, the justified-change pattern, Composite Readiness Index (60m)</a:t>
            </a:r>
            <a:endParaRPr lang="en-US" sz="830" dirty="0"/>
          </a:p>
        </p:txBody>
      </p:sp>
      <p:sp>
        <p:nvSpPr>
          <p:cNvPr id="17" name="Text 14"/>
          <p:cNvSpPr/>
          <p:nvPr/>
        </p:nvSpPr>
        <p:spPr>
          <a:xfrm>
            <a:off x="6172200" y="221284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CM Charter Registry — the 8 charters, action mapping, compliance logging, Mentoring Progression reference (60m)</a:t>
            </a:r>
            <a:endParaRPr lang="en-US" sz="830" dirty="0"/>
          </a:p>
        </p:txBody>
      </p:sp>
      <p:sp>
        <p:nvSpPr>
          <p:cNvPr id="18" name="Text 15"/>
          <p:cNvSpPr/>
          <p:nvPr/>
        </p:nvSpPr>
        <p:spPr>
          <a:xfrm>
            <a:off x="6172200" y="243230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QZ-P1-1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Lewin phases + charter structure (8 items, 15m)</a:t>
            </a:r>
            <a:endParaRPr lang="en-US" sz="830" dirty="0"/>
          </a:p>
        </p:txBody>
      </p:sp>
      <p:sp>
        <p:nvSpPr>
          <p:cNvPr id="19" name="Text 16"/>
          <p:cNvSpPr/>
          <p:nvPr/>
        </p:nvSpPr>
        <p:spPr>
          <a:xfrm>
            <a:off x="6172200" y="261518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WS-P1-1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Register and Charter a New Initiative (90m)</a:t>
            </a:r>
            <a:endParaRPr lang="en-US" sz="830" dirty="0"/>
          </a:p>
        </p:txBody>
      </p:sp>
      <p:sp>
        <p:nvSpPr>
          <p:cNvPr id="20" name="Shape 17"/>
          <p:cNvSpPr/>
          <p:nvPr/>
        </p:nvSpPr>
        <p:spPr>
          <a:xfrm>
            <a:off x="5989320" y="283464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DCEEE8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286207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PM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WBS, Gantt &amp; Phase Gates</a:t>
            </a:r>
            <a:endParaRPr lang="en-US" sz="980" dirty="0"/>
          </a:p>
        </p:txBody>
      </p:sp>
      <p:sp>
        <p:nvSpPr>
          <p:cNvPr id="22" name="Text 19"/>
          <p:cNvSpPr/>
          <p:nvPr/>
        </p:nvSpPr>
        <p:spPr>
          <a:xfrm>
            <a:off x="6172200" y="304495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WBS &amp; Gantt — 3 tracks, baseline vs. actual, schedule gap, Load Phase Template (60m)</a:t>
            </a:r>
            <a:endParaRPr lang="en-US" sz="830" dirty="0"/>
          </a:p>
        </p:txBody>
      </p:sp>
      <p:sp>
        <p:nvSpPr>
          <p:cNvPr id="23" name="Text 20"/>
          <p:cNvSpPr/>
          <p:nvPr/>
        </p:nvSpPr>
        <p:spPr>
          <a:xfrm>
            <a:off x="6172200" y="326440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Phase Checklists &amp; Phase Gates — checklist weighting, the Joint Decision Record, PM↔CM bridge (60m)</a:t>
            </a:r>
            <a:endParaRPr lang="en-US" sz="830" dirty="0"/>
          </a:p>
        </p:txBody>
      </p:sp>
      <p:sp>
        <p:nvSpPr>
          <p:cNvPr id="24" name="Text 21"/>
          <p:cNvSpPr/>
          <p:nvPr/>
        </p:nvSpPr>
        <p:spPr>
          <a:xfrm>
            <a:off x="6172200" y="348386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QZ-P1-2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WBS tracks + Phase Gate mechanics (8 items, 15m)</a:t>
            </a:r>
            <a:endParaRPr lang="en-US" sz="830" dirty="0"/>
          </a:p>
        </p:txBody>
      </p:sp>
      <p:sp>
        <p:nvSpPr>
          <p:cNvPr id="25" name="Text 22"/>
          <p:cNvSpPr/>
          <p:nvPr/>
        </p:nvSpPr>
        <p:spPr>
          <a:xfrm>
            <a:off x="6172200" y="366674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WS-P1-2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Run a Phase Gate (90m)</a:t>
            </a:r>
            <a:endParaRPr lang="en-US" sz="830" dirty="0"/>
          </a:p>
        </p:txBody>
      </p:sp>
      <p:sp>
        <p:nvSpPr>
          <p:cNvPr id="26" name="Shape 23"/>
          <p:cNvSpPr/>
          <p:nvPr/>
        </p:nvSpPr>
        <p:spPr>
          <a:xfrm>
            <a:off x="5989320" y="388620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DCEEE8"/>
          </a:solidFill>
          <a:ln/>
        </p:spPr>
      </p:sp>
      <p:sp>
        <p:nvSpPr>
          <p:cNvPr id="27" name="Text 24"/>
          <p:cNvSpPr/>
          <p:nvPr/>
        </p:nvSpPr>
        <p:spPr>
          <a:xfrm>
            <a:off x="6126480" y="391363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AM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&amp; Stakeholder Integration at Program Level</a:t>
            </a:r>
            <a:endParaRPr lang="en-US" sz="980" dirty="0"/>
          </a:p>
        </p:txBody>
      </p:sp>
      <p:sp>
        <p:nvSpPr>
          <p:cNvPr id="28" name="Text 25"/>
          <p:cNvSpPr/>
          <p:nvPr/>
        </p:nvSpPr>
        <p:spPr>
          <a:xfrm>
            <a:off x="6172200" y="409651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Change Risk Register — scoring, mitigation action plans, linking risk to Phase Gate readiness (60m)</a:t>
            </a:r>
            <a:endParaRPr lang="en-US" sz="830" dirty="0"/>
          </a:p>
        </p:txBody>
      </p:sp>
      <p:sp>
        <p:nvSpPr>
          <p:cNvPr id="29" name="Text 26"/>
          <p:cNvSpPr/>
          <p:nvPr/>
        </p:nvSpPr>
        <p:spPr>
          <a:xfrm>
            <a:off x="6172200" y="431596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Stakeholder &amp; Impact Mapping — refreshing the map at each Phase Gate (45m)</a:t>
            </a:r>
            <a:endParaRPr lang="en-US" sz="830" dirty="0"/>
          </a:p>
        </p:txBody>
      </p:sp>
      <p:sp>
        <p:nvSpPr>
          <p:cNvPr id="30" name="Text 27"/>
          <p:cNvSpPr/>
          <p:nvPr/>
        </p:nvSpPr>
        <p:spPr>
          <a:xfrm>
            <a:off x="6172200" y="453542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QZ-P1-3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Risk scoring + stakeholder refresh cadence (8 items, 15m)</a:t>
            </a:r>
            <a:endParaRPr lang="en-US" sz="830" dirty="0"/>
          </a:p>
        </p:txBody>
      </p:sp>
      <p:sp>
        <p:nvSpPr>
          <p:cNvPr id="31" name="Text 28"/>
          <p:cNvSpPr/>
          <p:nvPr/>
        </p:nvSpPr>
        <p:spPr>
          <a:xfrm>
            <a:off x="6172200" y="471830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WS-P1-3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Build a Mitigation Action Plan (90m)</a:t>
            </a:r>
            <a:endParaRPr lang="en-US" sz="830" dirty="0"/>
          </a:p>
        </p:txBody>
      </p:sp>
      <p:sp>
        <p:nvSpPr>
          <p:cNvPr id="32" name="Shape 29"/>
          <p:cNvSpPr/>
          <p:nvPr/>
        </p:nvSpPr>
        <p:spPr>
          <a:xfrm>
            <a:off x="5989320" y="493776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DCEEE8"/>
          </a:solidFill>
          <a:ln/>
        </p:spPr>
      </p:sp>
      <p:sp>
        <p:nvSpPr>
          <p:cNvPr id="33" name="Text 30"/>
          <p:cNvSpPr/>
          <p:nvPr/>
        </p:nvSpPr>
        <p:spPr>
          <a:xfrm>
            <a:off x="6126480" y="496519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PM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Communications Planning for a Gate</a:t>
            </a:r>
            <a:endParaRPr lang="en-US" sz="980" dirty="0"/>
          </a:p>
        </p:txBody>
      </p:sp>
      <p:sp>
        <p:nvSpPr>
          <p:cNvPr id="34" name="Text 31"/>
          <p:cNvSpPr/>
          <p:nvPr/>
        </p:nvSpPr>
        <p:spPr>
          <a:xfrm>
            <a:off x="6172200" y="514807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Communications — building a wave plan timed to a Phase Gate decision (60m)</a:t>
            </a:r>
            <a:endParaRPr lang="en-US" sz="830" dirty="0"/>
          </a:p>
        </p:txBody>
      </p:sp>
      <p:sp>
        <p:nvSpPr>
          <p:cNvPr id="35" name="Text 32"/>
          <p:cNvSpPr/>
          <p:nvPr/>
        </p:nvSpPr>
        <p:spPr>
          <a:xfrm>
            <a:off x="6172200" y="536752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Sponsor &amp; Coalition — briefing the sponsor before a gate (45m)</a:t>
            </a:r>
            <a:endParaRPr lang="en-US" sz="830" dirty="0"/>
          </a:p>
        </p:txBody>
      </p:sp>
      <p:sp>
        <p:nvSpPr>
          <p:cNvPr id="36" name="Text 33"/>
          <p:cNvSpPr/>
          <p:nvPr/>
        </p:nvSpPr>
        <p:spPr>
          <a:xfrm>
            <a:off x="6172200" y="558698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QZ-P1-4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Communication wave planning + sponsor briefing (8 items, 15m)</a:t>
            </a:r>
            <a:endParaRPr lang="en-US" sz="830" dirty="0"/>
          </a:p>
        </p:txBody>
      </p:sp>
      <p:sp>
        <p:nvSpPr>
          <p:cNvPr id="37" name="Text 34"/>
          <p:cNvSpPr/>
          <p:nvPr/>
        </p:nvSpPr>
        <p:spPr>
          <a:xfrm>
            <a:off x="6172200" y="576986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WS-P1-4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Time a Communication Wave to a Gate (90m)</a:t>
            </a:r>
            <a:endParaRPr lang="en-US" sz="830" dirty="0"/>
          </a:p>
        </p:txBody>
      </p:sp>
      <p:sp>
        <p:nvSpPr>
          <p:cNvPr id="38" name="Shape 35"/>
          <p:cNvSpPr/>
          <p:nvPr/>
        </p:nvSpPr>
        <p:spPr>
          <a:xfrm>
            <a:off x="5989320" y="5989320"/>
            <a:ext cx="5623560" cy="457200"/>
          </a:xfrm>
          <a:prstGeom prst="roundRect">
            <a:avLst>
              <a:gd name="adj" fmla="val 10000"/>
            </a:avLst>
          </a:prstGeom>
          <a:solidFill>
            <a:srgbClr val="15423A"/>
          </a:solidFill>
          <a:ln/>
        </p:spPr>
      </p:sp>
      <p:sp>
        <p:nvSpPr>
          <p:cNvPr id="39" name="Text 36"/>
          <p:cNvSpPr/>
          <p:nvPr/>
        </p:nvSpPr>
        <p:spPr>
          <a:xfrm>
            <a:off x="6126480" y="598932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EXM-P1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MCQ + 1 practical (record a Phase Gate end-to-end) · 120 min · pass mark 75%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TRN-P1 · WORKSHOPS IN DETAIL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Governance — Charters, WBS &amp; Phase Gates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9.53156921924199e+82" dist="3.574338457215745e+82" dir="3.2905425960566786e+97">
              <a:srgbClr val="1B2E2B">
                <a:alpha val="1.8000000000000008e+99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057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5423A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057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WS-P1-1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166360" y="2057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13232" y="2359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and Charter a New Initiative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13232" y="2761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Create a CM Project linked to a Main Project</a:t>
            </a:r>
            <a:endParaRPr lang="en-US" sz="860" dirty="0"/>
          </a:p>
        </p:txBody>
      </p:sp>
      <p:sp>
        <p:nvSpPr>
          <p:cNvPr id="10" name="Text 8"/>
          <p:cNvSpPr/>
          <p:nvPr/>
        </p:nvSpPr>
        <p:spPr>
          <a:xfrm>
            <a:off x="713232" y="3108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Set its Lewin macro-state with a written justification</a:t>
            </a:r>
            <a:endParaRPr lang="en-US" sz="860" dirty="0"/>
          </a:p>
        </p:txBody>
      </p:sp>
      <p:sp>
        <p:nvSpPr>
          <p:cNvPr id="11" name="Text 9"/>
          <p:cNvSpPr/>
          <p:nvPr/>
        </p:nvSpPr>
        <p:spPr>
          <a:xfrm>
            <a:off x="713232" y="3456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Log 2 charter-action compliance instances against CHTR-01 and CHTR-03</a:t>
            </a:r>
            <a:endParaRPr lang="en-US" sz="860" dirty="0"/>
          </a:p>
        </p:txBody>
      </p:sp>
      <p:sp>
        <p:nvSpPr>
          <p:cNvPr id="12" name="Shape 10"/>
          <p:cNvSpPr/>
          <p:nvPr/>
        </p:nvSpPr>
        <p:spPr>
          <a:xfrm>
            <a:off x="6172200" y="1920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2105092908437327e+87" dist="4.539409840663996e+86" dir="1.9743255576340073e+102">
              <a:srgbClr val="1B2E2B">
                <a:alpha val="1.800000000000001e+104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36792" y="2057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5423A"/>
          </a:solidFill>
          <a:ln/>
        </p:spPr>
      </p:sp>
      <p:sp>
        <p:nvSpPr>
          <p:cNvPr id="14" name="Text 12"/>
          <p:cNvSpPr/>
          <p:nvPr/>
        </p:nvSpPr>
        <p:spPr>
          <a:xfrm>
            <a:off x="6336792" y="2057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WS-P1-2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0789920" y="2057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336792" y="2359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Phase Gate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36792" y="2761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Load TPL-ERP-8 into a project's WBS from a chosen start date</a:t>
            </a:r>
            <a:endParaRPr lang="en-US" sz="860" dirty="0"/>
          </a:p>
        </p:txBody>
      </p:sp>
      <p:sp>
        <p:nvSpPr>
          <p:cNvPr id="18" name="Text 16"/>
          <p:cNvSpPr/>
          <p:nvPr/>
        </p:nvSpPr>
        <p:spPr>
          <a:xfrm>
            <a:off x="6336792" y="3108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Mark 2 tasks with actual dates to generate a schedule gap</a:t>
            </a:r>
            <a:endParaRPr lang="en-US" sz="860" dirty="0"/>
          </a:p>
        </p:txBody>
      </p:sp>
      <p:sp>
        <p:nvSpPr>
          <p:cNvPr id="19" name="Text 17"/>
          <p:cNvSpPr/>
          <p:nvPr/>
        </p:nvSpPr>
        <p:spPr>
          <a:xfrm>
            <a:off x="6336792" y="3456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Complete a weighted Phase Checklist</a:t>
            </a:r>
            <a:endParaRPr lang="en-US" sz="860" dirty="0"/>
          </a:p>
        </p:txBody>
      </p:sp>
      <p:sp>
        <p:nvSpPr>
          <p:cNvPr id="20" name="Shape 18"/>
          <p:cNvSpPr/>
          <p:nvPr/>
        </p:nvSpPr>
        <p:spPr>
          <a:xfrm>
            <a:off x="548640" y="4206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5373467993715405e+91" dist="5.765050497643275e+90" dir="1.1845953345804043e+107">
              <a:srgbClr val="1B2E2B">
                <a:alpha val="1.800000000000001e+109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13232" y="4343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5423A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4343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WS-P1-3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166360" y="4343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13232" y="4645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Mitigation Action Plan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13232" y="5047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Log a new change risk with a full 4-category score</a:t>
            </a:r>
            <a:endParaRPr lang="en-US" sz="860" dirty="0"/>
          </a:p>
        </p:txBody>
      </p:sp>
      <p:sp>
        <p:nvSpPr>
          <p:cNvPr id="26" name="Text 24"/>
          <p:cNvSpPr/>
          <p:nvPr/>
        </p:nvSpPr>
        <p:spPr>
          <a:xfrm>
            <a:off x="713232" y="5394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Build a Mitigation Action Plan with at least 2 actions and owners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713232" y="5742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Link the risk to the upcoming Phase Gate decision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6172200" y="4206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9524304352018566e+95" dist="7.321614132006959e+94" dir="7.107572007482426e+111">
              <a:srgbClr val="1B2E2B">
                <a:alpha val="1.800000000000001e+114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336792" y="4343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5423A"/>
          </a:solidFill>
          <a:ln/>
        </p:spPr>
      </p:sp>
      <p:sp>
        <p:nvSpPr>
          <p:cNvPr id="30" name="Text 28"/>
          <p:cNvSpPr/>
          <p:nvPr/>
        </p:nvSpPr>
        <p:spPr>
          <a:xfrm>
            <a:off x="6336792" y="4343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WS-P1-4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0789920" y="4343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336792" y="4645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a Communication Wave to a Gate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336792" y="5047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Build a 3-message communication wave ending 2 days before the Phase Gate</a:t>
            </a:r>
            <a:endParaRPr lang="en-US" sz="860" dirty="0"/>
          </a:p>
        </p:txBody>
      </p:sp>
      <p:sp>
        <p:nvSpPr>
          <p:cNvPr id="34" name="Text 32"/>
          <p:cNvSpPr/>
          <p:nvPr/>
        </p:nvSpPr>
        <p:spPr>
          <a:xfrm>
            <a:off x="6336792" y="5394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Check the wave against saturation risk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36792" y="5742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Log a sponsor briefing action ahead of the gate</a:t>
            </a:r>
            <a:endParaRPr lang="en-US" sz="860" dirty="0"/>
          </a:p>
        </p:txBody>
      </p:sp>
      <p:sp>
        <p:nvSpPr>
          <p:cNvPr id="36" name="Text 34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PRACTITIONER · TRN-P2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9966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Training, Resistance &amp; Coaching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0835640" y="365760"/>
            <a:ext cx="566928" cy="566928"/>
          </a:xfrm>
          <a:prstGeom prst="ellipse">
            <a:avLst/>
          </a:prstGeom>
          <a:solidFill>
            <a:srgbClr val="15423A"/>
          </a:solidFill>
          <a:ln/>
        </p:spPr>
      </p:sp>
      <p:pic>
        <p:nvPicPr>
          <p:cNvPr id="5" name="Image 0" descr="/home/user/scm-process-register/docs-src/curriculum-deck/assets/graduation-c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63656" y="493776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50876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810512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curriculum records and the trained-vs-capable distinction</a:t>
            </a:r>
            <a:endParaRPr lang="en-US" sz="1080" dirty="0"/>
          </a:p>
        </p:txBody>
      </p:sp>
      <p:sp>
        <p:nvSpPr>
          <p:cNvPr id="8" name="Text 5"/>
          <p:cNvSpPr/>
          <p:nvPr/>
        </p:nvSpPr>
        <p:spPr>
          <a:xfrm>
            <a:off x="548640" y="2377440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Log, classify and resolve resistance; use the Qualitative Coding Workbench</a:t>
            </a:r>
            <a:endParaRPr lang="en-US" sz="1080" dirty="0"/>
          </a:p>
        </p:txBody>
      </p:sp>
      <p:sp>
        <p:nvSpPr>
          <p:cNvPr id="9" name="Text 6"/>
          <p:cNvSpPr/>
          <p:nvPr/>
        </p:nvSpPr>
        <p:spPr>
          <a:xfrm>
            <a:off x="548640" y="2944368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Operate the Manager-as-Coach team-scoped view</a:t>
            </a:r>
            <a:endParaRPr lang="en-US" sz="1080" dirty="0"/>
          </a:p>
        </p:txBody>
      </p:sp>
      <p:sp>
        <p:nvSpPr>
          <p:cNvPr id="10" name="Text 7"/>
          <p:cNvSpPr/>
          <p:nvPr/>
        </p:nvSpPr>
        <p:spPr>
          <a:xfrm>
            <a:off x="548640" y="3511296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3-stage Mentoring Progression model (Trainee → Observer → Autonomous)</a:t>
            </a:r>
            <a:endParaRPr lang="en-US" sz="1080" dirty="0"/>
          </a:p>
        </p:txBody>
      </p:sp>
      <p:sp>
        <p:nvSpPr>
          <p:cNvPr id="11" name="Text 8"/>
          <p:cNvSpPr/>
          <p:nvPr/>
        </p:nvSpPr>
        <p:spPr>
          <a:xfrm>
            <a:off x="548640" y="415137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AUDIENCE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4443984"/>
            <a:ext cx="5257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Managers, Trainers, People Managers / Coaches (Foundation credential required)</a:t>
            </a:r>
            <a:endParaRPr lang="en-US" sz="1080" dirty="0"/>
          </a:p>
        </p:txBody>
      </p:sp>
      <p:sp>
        <p:nvSpPr>
          <p:cNvPr id="13" name="Text 10"/>
          <p:cNvSpPr/>
          <p:nvPr/>
        </p:nvSpPr>
        <p:spPr>
          <a:xfrm>
            <a:off x="5989320" y="150876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AGENDA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89320" y="178308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DCEEE8"/>
          </a:solidFill>
          <a:ln/>
        </p:spPr>
      </p:sp>
      <p:sp>
        <p:nvSpPr>
          <p:cNvPr id="15" name="Text 12"/>
          <p:cNvSpPr/>
          <p:nvPr/>
        </p:nvSpPr>
        <p:spPr>
          <a:xfrm>
            <a:off x="6126480" y="181051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AM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&amp; Capability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6172200" y="199339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Training &amp; Capability Building — curriculum fields, completion vs. certification, the needs banner (60m)</a:t>
            </a:r>
            <a:endParaRPr lang="en-US" sz="830" dirty="0"/>
          </a:p>
        </p:txBody>
      </p:sp>
      <p:sp>
        <p:nvSpPr>
          <p:cNvPr id="17" name="Text 14"/>
          <p:cNvSpPr/>
          <p:nvPr/>
        </p:nvSpPr>
        <p:spPr>
          <a:xfrm>
            <a:off x="6172200" y="221284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Mentoring Progression model — 3 stages, entry/exit criteria, the one-stage-back regression path (60m)</a:t>
            </a:r>
            <a:endParaRPr lang="en-US" sz="830" dirty="0"/>
          </a:p>
        </p:txBody>
      </p:sp>
      <p:sp>
        <p:nvSpPr>
          <p:cNvPr id="18" name="Text 15"/>
          <p:cNvSpPr/>
          <p:nvPr/>
        </p:nvSpPr>
        <p:spPr>
          <a:xfrm>
            <a:off x="6172200" y="243230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QZ-P2-1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Trained vs. capable + mentoring stages (8 items, 15m)</a:t>
            </a:r>
            <a:endParaRPr lang="en-US" sz="830" dirty="0"/>
          </a:p>
        </p:txBody>
      </p:sp>
      <p:sp>
        <p:nvSpPr>
          <p:cNvPr id="19" name="Text 16"/>
          <p:cNvSpPr/>
          <p:nvPr/>
        </p:nvSpPr>
        <p:spPr>
          <a:xfrm>
            <a:off x="6172200" y="261518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WS-P2-1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Build a Curriculum and Mentor a Trainee (90m)</a:t>
            </a:r>
            <a:endParaRPr lang="en-US" sz="830" dirty="0"/>
          </a:p>
        </p:txBody>
      </p:sp>
      <p:sp>
        <p:nvSpPr>
          <p:cNvPr id="20" name="Shape 17"/>
          <p:cNvSpPr/>
          <p:nvPr/>
        </p:nvSpPr>
        <p:spPr>
          <a:xfrm>
            <a:off x="5989320" y="283464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DCEEE8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286207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PM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Resistance &amp; Coaching</a:t>
            </a:r>
            <a:endParaRPr lang="en-US" sz="980" dirty="0"/>
          </a:p>
        </p:txBody>
      </p:sp>
      <p:sp>
        <p:nvSpPr>
          <p:cNvPr id="22" name="Text 19"/>
          <p:cNvSpPr/>
          <p:nvPr/>
        </p:nvSpPr>
        <p:spPr>
          <a:xfrm>
            <a:off x="6172200" y="304495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Resistance Management — type classification, systemic-pattern detection, Coding Workbench (60m)</a:t>
            </a:r>
            <a:endParaRPr lang="en-US" sz="830" dirty="0"/>
          </a:p>
        </p:txBody>
      </p:sp>
      <p:sp>
        <p:nvSpPr>
          <p:cNvPr id="23" name="Text 20"/>
          <p:cNvSpPr/>
          <p:nvPr/>
        </p:nvSpPr>
        <p:spPr>
          <a:xfrm>
            <a:off x="6172200" y="326440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Manager-as-Coach — team-scoped heatmap, manager readiness, coaching scripts (60m)</a:t>
            </a:r>
            <a:endParaRPr lang="en-US" sz="830" dirty="0"/>
          </a:p>
        </p:txBody>
      </p:sp>
      <p:sp>
        <p:nvSpPr>
          <p:cNvPr id="24" name="Text 21"/>
          <p:cNvSpPr/>
          <p:nvPr/>
        </p:nvSpPr>
        <p:spPr>
          <a:xfrm>
            <a:off x="6172200" y="348386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QZ-P2-2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Resistance types + coaching model (8 items, 15m)</a:t>
            </a:r>
            <a:endParaRPr lang="en-US" sz="830" dirty="0"/>
          </a:p>
        </p:txBody>
      </p:sp>
      <p:sp>
        <p:nvSpPr>
          <p:cNvPr id="25" name="Text 22"/>
          <p:cNvSpPr/>
          <p:nvPr/>
        </p:nvSpPr>
        <p:spPr>
          <a:xfrm>
            <a:off x="6172200" y="366674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WS-P2-2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Code a Pattern, Coach a Manager (90m)</a:t>
            </a:r>
            <a:endParaRPr lang="en-US" sz="830" dirty="0"/>
          </a:p>
        </p:txBody>
      </p:sp>
      <p:sp>
        <p:nvSpPr>
          <p:cNvPr id="26" name="Shape 23"/>
          <p:cNvSpPr/>
          <p:nvPr/>
        </p:nvSpPr>
        <p:spPr>
          <a:xfrm>
            <a:off x="5989320" y="388620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DCEEE8"/>
          </a:solidFill>
          <a:ln/>
        </p:spPr>
      </p:sp>
      <p:sp>
        <p:nvSpPr>
          <p:cNvPr id="27" name="Text 24"/>
          <p:cNvSpPr/>
          <p:nvPr/>
        </p:nvSpPr>
        <p:spPr>
          <a:xfrm>
            <a:off x="6126480" y="391363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AM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Pattern Detection at Scale</a:t>
            </a:r>
            <a:endParaRPr lang="en-US" sz="980" dirty="0"/>
          </a:p>
        </p:txBody>
      </p:sp>
      <p:sp>
        <p:nvSpPr>
          <p:cNvPr id="28" name="Text 25"/>
          <p:cNvSpPr/>
          <p:nvPr/>
        </p:nvSpPr>
        <p:spPr>
          <a:xfrm>
            <a:off x="6172200" y="409651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Qualitative Coding Workbench — batch-coding a set of resistance entries, not just one (60m)</a:t>
            </a:r>
            <a:endParaRPr lang="en-US" sz="830" dirty="0"/>
          </a:p>
        </p:txBody>
      </p:sp>
      <p:sp>
        <p:nvSpPr>
          <p:cNvPr id="29" name="Text 26"/>
          <p:cNvSpPr/>
          <p:nvPr/>
        </p:nvSpPr>
        <p:spPr>
          <a:xfrm>
            <a:off x="6172200" y="431596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Linking Resistance to Training Gaps — using the trained-vs-capable data to explain a resistance pattern (45m)</a:t>
            </a:r>
            <a:endParaRPr lang="en-US" sz="830" dirty="0"/>
          </a:p>
        </p:txBody>
      </p:sp>
      <p:sp>
        <p:nvSpPr>
          <p:cNvPr id="30" name="Text 27"/>
          <p:cNvSpPr/>
          <p:nvPr/>
        </p:nvSpPr>
        <p:spPr>
          <a:xfrm>
            <a:off x="6172200" y="453542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QZ-P2-3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Batch coding + resistance-training linkage (8 items, 15m)</a:t>
            </a:r>
            <a:endParaRPr lang="en-US" sz="830" dirty="0"/>
          </a:p>
        </p:txBody>
      </p:sp>
      <p:sp>
        <p:nvSpPr>
          <p:cNvPr id="31" name="Text 28"/>
          <p:cNvSpPr/>
          <p:nvPr/>
        </p:nvSpPr>
        <p:spPr>
          <a:xfrm>
            <a:off x="6172200" y="471830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WS-P2-3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Batch-Code a Resistance Set (90m)</a:t>
            </a:r>
            <a:endParaRPr lang="en-US" sz="830" dirty="0"/>
          </a:p>
        </p:txBody>
      </p:sp>
      <p:sp>
        <p:nvSpPr>
          <p:cNvPr id="32" name="Shape 29"/>
          <p:cNvSpPr/>
          <p:nvPr/>
        </p:nvSpPr>
        <p:spPr>
          <a:xfrm>
            <a:off x="5989320" y="493776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DCEEE8"/>
          </a:solidFill>
          <a:ln/>
        </p:spPr>
      </p:sp>
      <p:sp>
        <p:nvSpPr>
          <p:cNvPr id="33" name="Text 30"/>
          <p:cNvSpPr/>
          <p:nvPr/>
        </p:nvSpPr>
        <p:spPr>
          <a:xfrm>
            <a:off x="6126480" y="496519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PM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Coaching a Team, Not Just a Manager</a:t>
            </a:r>
            <a:endParaRPr lang="en-US" sz="980" dirty="0"/>
          </a:p>
        </p:txBody>
      </p:sp>
      <p:sp>
        <p:nvSpPr>
          <p:cNvPr id="34" name="Text 31"/>
          <p:cNvSpPr/>
          <p:nvPr/>
        </p:nvSpPr>
        <p:spPr>
          <a:xfrm>
            <a:off x="6172200" y="514807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Manager-as-Coach at team scale — reading a full team heatmap and prioritizing coaching effort (60m)</a:t>
            </a:r>
            <a:endParaRPr lang="en-US" sz="830" dirty="0"/>
          </a:p>
        </p:txBody>
      </p:sp>
      <p:sp>
        <p:nvSpPr>
          <p:cNvPr id="35" name="Text 32"/>
          <p:cNvSpPr/>
          <p:nvPr/>
        </p:nvSpPr>
        <p:spPr>
          <a:xfrm>
            <a:off x="6172200" y="536752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Mentoring Progression — advancing multiple mentees and handling a regression (45m)</a:t>
            </a:r>
            <a:endParaRPr lang="en-US" sz="830" dirty="0"/>
          </a:p>
        </p:txBody>
      </p:sp>
      <p:sp>
        <p:nvSpPr>
          <p:cNvPr id="36" name="Text 33"/>
          <p:cNvSpPr/>
          <p:nvPr/>
        </p:nvSpPr>
        <p:spPr>
          <a:xfrm>
            <a:off x="6172200" y="558698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QZ-P2-4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Team-scale coaching + mentee regression (8 items, 15m)</a:t>
            </a:r>
            <a:endParaRPr lang="en-US" sz="830" dirty="0"/>
          </a:p>
        </p:txBody>
      </p:sp>
      <p:sp>
        <p:nvSpPr>
          <p:cNvPr id="37" name="Text 34"/>
          <p:cNvSpPr/>
          <p:nvPr/>
        </p:nvSpPr>
        <p:spPr>
          <a:xfrm>
            <a:off x="6172200" y="576986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WS-P2-4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Prioritize and Coach a Team (90m)</a:t>
            </a:r>
            <a:endParaRPr lang="en-US" sz="830" dirty="0"/>
          </a:p>
        </p:txBody>
      </p:sp>
      <p:sp>
        <p:nvSpPr>
          <p:cNvPr id="38" name="Shape 35"/>
          <p:cNvSpPr/>
          <p:nvPr/>
        </p:nvSpPr>
        <p:spPr>
          <a:xfrm>
            <a:off x="5989320" y="5989320"/>
            <a:ext cx="5623560" cy="457200"/>
          </a:xfrm>
          <a:prstGeom prst="roundRect">
            <a:avLst>
              <a:gd name="adj" fmla="val 10000"/>
            </a:avLst>
          </a:prstGeom>
          <a:solidFill>
            <a:srgbClr val="15423A"/>
          </a:solidFill>
          <a:ln/>
        </p:spPr>
      </p:sp>
      <p:sp>
        <p:nvSpPr>
          <p:cNvPr id="39" name="Text 36"/>
          <p:cNvSpPr/>
          <p:nvPr/>
        </p:nvSpPr>
        <p:spPr>
          <a:xfrm>
            <a:off x="6126480" y="598932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EXM-P2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MCQ + 1 case study · 90 min · pass mark 75%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TRN-P2 · WORKSHOPS IN DETAIL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Training, Resistance &amp; Coaching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.4795866527063578e+99" dist="9.298449947648839e+98" dir="4.2645432044894554e+116">
              <a:srgbClr val="1B2E2B">
                <a:alpha val="1.800000000000001e+119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057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5423A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057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WS-P2-1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166360" y="2057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13232" y="2359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Curriculum and Mentor a Trainee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13232" y="2761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Add a curriculum record and track completion percentage</a:t>
            </a:r>
            <a:endParaRPr lang="en-US" sz="860" dirty="0"/>
          </a:p>
        </p:txBody>
      </p:sp>
      <p:sp>
        <p:nvSpPr>
          <p:cNvPr id="10" name="Text 8"/>
          <p:cNvSpPr/>
          <p:nvPr/>
        </p:nvSpPr>
        <p:spPr>
          <a:xfrm>
            <a:off x="713232" y="3108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Certify it with a justification distinct from completion</a:t>
            </a:r>
            <a:endParaRPr lang="en-US" sz="860" dirty="0"/>
          </a:p>
        </p:txBody>
      </p:sp>
      <p:sp>
        <p:nvSpPr>
          <p:cNvPr id="11" name="Text 9"/>
          <p:cNvSpPr/>
          <p:nvPr/>
        </p:nvSpPr>
        <p:spPr>
          <a:xfrm>
            <a:off x="713232" y="3456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Move a mentee from Trainee to Observer with logged competency evidence</a:t>
            </a:r>
            <a:endParaRPr lang="en-US" sz="860" dirty="0"/>
          </a:p>
        </p:txBody>
      </p:sp>
      <p:sp>
        <p:nvSpPr>
          <p:cNvPr id="12" name="Shape 10"/>
          <p:cNvSpPr/>
          <p:nvPr/>
        </p:nvSpPr>
        <p:spPr>
          <a:xfrm>
            <a:off x="6172200" y="1920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.149075048937074e+103" dist="1.1809031433514024e+103" dir="2.5587259226936733e+121">
              <a:srgbClr val="1B2E2B">
                <a:alpha val="1.800000000000001e+124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36792" y="2057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5423A"/>
          </a:solidFill>
          <a:ln/>
        </p:spPr>
      </p:sp>
      <p:sp>
        <p:nvSpPr>
          <p:cNvPr id="14" name="Text 12"/>
          <p:cNvSpPr/>
          <p:nvPr/>
        </p:nvSpPr>
        <p:spPr>
          <a:xfrm>
            <a:off x="6336792" y="2057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WS-P2-2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0789920" y="2057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336792" y="2359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a Pattern, Coach a Manager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36792" y="2761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Log 2 systemic-type resistance entries to trigger the pattern-detection banner</a:t>
            </a:r>
            <a:endParaRPr lang="en-US" sz="860" dirty="0"/>
          </a:p>
        </p:txBody>
      </p:sp>
      <p:sp>
        <p:nvSpPr>
          <p:cNvPr id="18" name="Text 16"/>
          <p:cNvSpPr/>
          <p:nvPr/>
        </p:nvSpPr>
        <p:spPr>
          <a:xfrm>
            <a:off x="6336792" y="3108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Tag both entries against the organization's codebook</a:t>
            </a:r>
            <a:endParaRPr lang="en-US" sz="860" dirty="0"/>
          </a:p>
        </p:txBody>
      </p:sp>
      <p:sp>
        <p:nvSpPr>
          <p:cNvPr id="19" name="Text 17"/>
          <p:cNvSpPr/>
          <p:nvPr/>
        </p:nvSpPr>
        <p:spPr>
          <a:xfrm>
            <a:off x="6336792" y="3456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Cross-reference one tag to an existing resistance-log barrier</a:t>
            </a:r>
            <a:endParaRPr lang="en-US" sz="860" dirty="0"/>
          </a:p>
        </p:txBody>
      </p:sp>
      <p:sp>
        <p:nvSpPr>
          <p:cNvPr id="20" name="Shape 18"/>
          <p:cNvSpPr/>
          <p:nvPr/>
        </p:nvSpPr>
        <p:spPr>
          <a:xfrm>
            <a:off x="548640" y="4206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.9993253121500844e+107" dist="1.499746992056281e+107" dir="1.535235553616204e+126">
              <a:srgbClr val="1B2E2B">
                <a:alpha val="1.800000000000001e+129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13232" y="4343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5423A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4343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WS-P2-3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166360" y="4343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13232" y="4645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Batch-Code a Resistance Set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13232" y="5047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Code 5 seeded resistance entries against the organization's Codebook</a:t>
            </a:r>
            <a:endParaRPr lang="en-US" sz="860" dirty="0"/>
          </a:p>
        </p:txBody>
      </p:sp>
      <p:sp>
        <p:nvSpPr>
          <p:cNvPr id="26" name="Text 24"/>
          <p:cNvSpPr/>
          <p:nvPr/>
        </p:nvSpPr>
        <p:spPr>
          <a:xfrm>
            <a:off x="713232" y="5394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Confirm the systemic-pattern banner fires correctly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713232" y="5742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Cross-reference the pattern against the curriculum's completion data for the affected team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6172200" y="4206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.079143146430607e+111" dist="1.904678679911477e+111" dir="9.211413321697224e+130">
              <a:srgbClr val="1B2E2B">
                <a:alpha val="1.800000000000001e+134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336792" y="4343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5423A"/>
          </a:solidFill>
          <a:ln/>
        </p:spPr>
      </p:sp>
      <p:sp>
        <p:nvSpPr>
          <p:cNvPr id="30" name="Text 28"/>
          <p:cNvSpPr/>
          <p:nvPr/>
        </p:nvSpPr>
        <p:spPr>
          <a:xfrm>
            <a:off x="6336792" y="4343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WS-P2-4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0789920" y="4343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336792" y="4645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 and Coach a Team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336792" y="5047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Open the team-scoped Manager-as-Coach heatmap and rank 4 team members by coaching priority</a:t>
            </a:r>
            <a:endParaRPr lang="en-US" sz="860" dirty="0"/>
          </a:p>
        </p:txBody>
      </p:sp>
      <p:sp>
        <p:nvSpPr>
          <p:cNvPr id="34" name="Text 32"/>
          <p:cNvSpPr/>
          <p:nvPr/>
        </p:nvSpPr>
        <p:spPr>
          <a:xfrm>
            <a:off x="6336792" y="5394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Log a coaching script action for the top-priority member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36792" y="5742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Advance one mentee from Observer to Autonomous with logged evidence</a:t>
            </a:r>
            <a:endParaRPr lang="en-US" sz="860" dirty="0"/>
          </a:p>
        </p:txBody>
      </p:sp>
      <p:sp>
        <p:nvSpPr>
          <p:cNvPr id="36" name="Text 34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PRACTITIONER · TRN-P3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9966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in Change Management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0835640" y="365760"/>
            <a:ext cx="566928" cy="566928"/>
          </a:xfrm>
          <a:prstGeom prst="ellipse">
            <a:avLst/>
          </a:prstGeom>
          <a:solidFill>
            <a:srgbClr val="15423A"/>
          </a:solidFill>
          <a:ln/>
        </p:spPr>
      </p:sp>
      <p:pic>
        <p:nvPicPr>
          <p:cNvPr id="5" name="Image 0" descr="/home/user/scm-process-register/docs-src/curriculum-deck/assets/shield-halv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63656" y="493776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50876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810512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Operate the AI Use Case Library's activation / override model (organization vs. project)</a:t>
            </a:r>
            <a:endParaRPr lang="en-US" sz="1080" dirty="0"/>
          </a:p>
        </p:txBody>
      </p:sp>
      <p:sp>
        <p:nvSpPr>
          <p:cNvPr id="8" name="Text 5"/>
          <p:cNvSpPr/>
          <p:nvPr/>
        </p:nvSpPr>
        <p:spPr>
          <a:xfrm>
            <a:off x="548640" y="2377440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Assistive / Augmented tier discipline correctly to a new use case</a:t>
            </a:r>
            <a:endParaRPr lang="en-US" sz="1080" dirty="0"/>
          </a:p>
        </p:txBody>
      </p:sp>
      <p:sp>
        <p:nvSpPr>
          <p:cNvPr id="9" name="Text 6"/>
          <p:cNvSpPr/>
          <p:nvPr/>
        </p:nvSpPr>
        <p:spPr>
          <a:xfrm>
            <a:off x="548640" y="2944368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and audit the AI Usage Log</a:t>
            </a:r>
            <a:endParaRPr lang="en-US" sz="1080" dirty="0"/>
          </a:p>
        </p:txBody>
      </p:sp>
      <p:sp>
        <p:nvSpPr>
          <p:cNvPr id="10" name="Text 7"/>
          <p:cNvSpPr/>
          <p:nvPr/>
        </p:nvSpPr>
        <p:spPr>
          <a:xfrm>
            <a:off x="548640" y="3511296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— safely — the optional Real LLM Provider Connection</a:t>
            </a:r>
            <a:endParaRPr lang="en-US" sz="1080" dirty="0"/>
          </a:p>
        </p:txBody>
      </p:sp>
      <p:sp>
        <p:nvSpPr>
          <p:cNvPr id="11" name="Text 8"/>
          <p:cNvSpPr/>
          <p:nvPr/>
        </p:nvSpPr>
        <p:spPr>
          <a:xfrm>
            <a:off x="548640" y="415137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AUDIENCE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4443984"/>
            <a:ext cx="5257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Managers, Organization Admins (Foundation credential required)</a:t>
            </a:r>
            <a:endParaRPr lang="en-US" sz="1080" dirty="0"/>
          </a:p>
        </p:txBody>
      </p:sp>
      <p:sp>
        <p:nvSpPr>
          <p:cNvPr id="13" name="Text 10"/>
          <p:cNvSpPr/>
          <p:nvPr/>
        </p:nvSpPr>
        <p:spPr>
          <a:xfrm>
            <a:off x="5989320" y="150876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AGENDA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89320" y="178308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DCEEE8"/>
          </a:solidFill>
          <a:ln/>
        </p:spPr>
      </p:sp>
      <p:sp>
        <p:nvSpPr>
          <p:cNvPr id="15" name="Text 12"/>
          <p:cNvSpPr/>
          <p:nvPr/>
        </p:nvSpPr>
        <p:spPr>
          <a:xfrm>
            <a:off x="6126480" y="181051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· AM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Governance Model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6172200" y="199339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Tiers &amp; catalog structure — Assistive vs. Augmented vs. out-of-scope Autonomous; prompt templates (60m)</a:t>
            </a:r>
            <a:endParaRPr lang="en-US" sz="830" dirty="0"/>
          </a:p>
        </p:txBody>
      </p:sp>
      <p:sp>
        <p:nvSpPr>
          <p:cNvPr id="17" name="Text 14"/>
          <p:cNvSpPr/>
          <p:nvPr/>
        </p:nvSpPr>
        <p:spPr>
          <a:xfrm>
            <a:off x="6172200" y="221284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Activation &amp; override — organization-level activation, project-level override, deactivation behavior (60m)</a:t>
            </a:r>
            <a:endParaRPr lang="en-US" sz="830" dirty="0"/>
          </a:p>
        </p:txBody>
      </p:sp>
      <p:sp>
        <p:nvSpPr>
          <p:cNvPr id="18" name="Text 15"/>
          <p:cNvSpPr/>
          <p:nvPr/>
        </p:nvSpPr>
        <p:spPr>
          <a:xfrm>
            <a:off x="6172200" y="243230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QZ-P3-1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AI tiers + activation model (8 items, 15m)</a:t>
            </a:r>
            <a:endParaRPr lang="en-US" sz="830" dirty="0"/>
          </a:p>
        </p:txBody>
      </p:sp>
      <p:sp>
        <p:nvSpPr>
          <p:cNvPr id="19" name="Text 16"/>
          <p:cNvSpPr/>
          <p:nvPr/>
        </p:nvSpPr>
        <p:spPr>
          <a:xfrm>
            <a:off x="6172200" y="261518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WS-P3-1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Govern a Use Case Rollout (90m)</a:t>
            </a:r>
            <a:endParaRPr lang="en-US" sz="830" dirty="0"/>
          </a:p>
        </p:txBody>
      </p:sp>
      <p:sp>
        <p:nvSpPr>
          <p:cNvPr id="20" name="Shape 17"/>
          <p:cNvSpPr/>
          <p:nvPr/>
        </p:nvSpPr>
        <p:spPr>
          <a:xfrm>
            <a:off x="5989320" y="283464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DCEEE8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286207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· PM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Audit &amp; Provider Connection</a:t>
            </a:r>
            <a:endParaRPr lang="en-US" sz="980" dirty="0"/>
          </a:p>
        </p:txBody>
      </p:sp>
      <p:sp>
        <p:nvSpPr>
          <p:cNvPr id="22" name="Text 19"/>
          <p:cNvSpPr/>
          <p:nvPr/>
        </p:nvSpPr>
        <p:spPr>
          <a:xfrm>
            <a:off x="6172200" y="304495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AI Usage Log — accepted / edited / rejected outcomes, what governance reporting looks for (60m)</a:t>
            </a:r>
            <a:endParaRPr lang="en-US" sz="830" dirty="0"/>
          </a:p>
        </p:txBody>
      </p:sp>
      <p:sp>
        <p:nvSpPr>
          <p:cNvPr id="23" name="Text 20"/>
          <p:cNvSpPr/>
          <p:nvPr/>
        </p:nvSpPr>
        <p:spPr>
          <a:xfrm>
            <a:off x="6172200" y="326440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Real LLM Provider Connection — browser-local key storage, fallback behavior, when (not) to configure (60m)</a:t>
            </a:r>
            <a:endParaRPr lang="en-US" sz="830" dirty="0"/>
          </a:p>
        </p:txBody>
      </p:sp>
      <p:sp>
        <p:nvSpPr>
          <p:cNvPr id="24" name="Text 21"/>
          <p:cNvSpPr/>
          <p:nvPr/>
        </p:nvSpPr>
        <p:spPr>
          <a:xfrm>
            <a:off x="6172200" y="348386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QZ-P3-2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Usage audit + provider connection (8 items, 15m)</a:t>
            </a:r>
            <a:endParaRPr lang="en-US" sz="830" dirty="0"/>
          </a:p>
        </p:txBody>
      </p:sp>
      <p:sp>
        <p:nvSpPr>
          <p:cNvPr id="25" name="Text 22"/>
          <p:cNvSpPr/>
          <p:nvPr/>
        </p:nvSpPr>
        <p:spPr>
          <a:xfrm>
            <a:off x="6172200" y="366674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WS-P3-2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Audit and Decide (90m)</a:t>
            </a:r>
            <a:endParaRPr lang="en-US" sz="830" dirty="0"/>
          </a:p>
        </p:txBody>
      </p:sp>
      <p:sp>
        <p:nvSpPr>
          <p:cNvPr id="26" name="Shape 23"/>
          <p:cNvSpPr/>
          <p:nvPr/>
        </p:nvSpPr>
        <p:spPr>
          <a:xfrm>
            <a:off x="5989320" y="388620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DCEEE8"/>
          </a:solidFill>
          <a:ln/>
        </p:spPr>
      </p:sp>
      <p:sp>
        <p:nvSpPr>
          <p:cNvPr id="27" name="Text 24"/>
          <p:cNvSpPr/>
          <p:nvPr/>
        </p:nvSpPr>
        <p:spPr>
          <a:xfrm>
            <a:off x="6126480" y="391363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6 · AM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at Scale — Conflicts &amp; Escalation</a:t>
            </a:r>
            <a:endParaRPr lang="en-US" sz="980" dirty="0"/>
          </a:p>
        </p:txBody>
      </p:sp>
      <p:sp>
        <p:nvSpPr>
          <p:cNvPr id="28" name="Text 25"/>
          <p:cNvSpPr/>
          <p:nvPr/>
        </p:nvSpPr>
        <p:spPr>
          <a:xfrm>
            <a:off x="6172200" y="409651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Resolving activation conflicts — when an org-level activation meets a project-level override (60m)</a:t>
            </a:r>
            <a:endParaRPr lang="en-US" sz="830" dirty="0"/>
          </a:p>
        </p:txBody>
      </p:sp>
      <p:sp>
        <p:nvSpPr>
          <p:cNvPr id="29" name="Text 26"/>
          <p:cNvSpPr/>
          <p:nvPr/>
        </p:nvSpPr>
        <p:spPr>
          <a:xfrm>
            <a:off x="6172200" y="431596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AI Use Case prompt templates — reading and safely adapting a template (45m)</a:t>
            </a:r>
            <a:endParaRPr lang="en-US" sz="830" dirty="0"/>
          </a:p>
        </p:txBody>
      </p:sp>
      <p:sp>
        <p:nvSpPr>
          <p:cNvPr id="30" name="Text 27"/>
          <p:cNvSpPr/>
          <p:nvPr/>
        </p:nvSpPr>
        <p:spPr>
          <a:xfrm>
            <a:off x="6172200" y="453542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QZ-P3-3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Activation conflicts + prompt templates (8 items, 15m)</a:t>
            </a:r>
            <a:endParaRPr lang="en-US" sz="830" dirty="0"/>
          </a:p>
        </p:txBody>
      </p:sp>
      <p:sp>
        <p:nvSpPr>
          <p:cNvPr id="31" name="Text 28"/>
          <p:cNvSpPr/>
          <p:nvPr/>
        </p:nvSpPr>
        <p:spPr>
          <a:xfrm>
            <a:off x="6172200" y="471830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WS-P3-3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Resolve an Activation Conflict (90m)</a:t>
            </a:r>
            <a:endParaRPr lang="en-US" sz="830" dirty="0"/>
          </a:p>
        </p:txBody>
      </p:sp>
      <p:sp>
        <p:nvSpPr>
          <p:cNvPr id="32" name="Shape 29"/>
          <p:cNvSpPr/>
          <p:nvPr/>
        </p:nvSpPr>
        <p:spPr>
          <a:xfrm>
            <a:off x="5989320" y="493776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DCEEE8"/>
          </a:solidFill>
          <a:ln/>
        </p:spPr>
      </p:sp>
      <p:sp>
        <p:nvSpPr>
          <p:cNvPr id="33" name="Text 30"/>
          <p:cNvSpPr/>
          <p:nvPr/>
        </p:nvSpPr>
        <p:spPr>
          <a:xfrm>
            <a:off x="6126480" y="496519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6 · PM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the Real LLM Provider Connection</a:t>
            </a:r>
            <a:endParaRPr lang="en-US" sz="980" dirty="0"/>
          </a:p>
        </p:txBody>
      </p:sp>
      <p:sp>
        <p:nvSpPr>
          <p:cNvPr id="34" name="Text 31"/>
          <p:cNvSpPr/>
          <p:nvPr/>
        </p:nvSpPr>
        <p:spPr>
          <a:xfrm>
            <a:off x="6172200" y="514807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Key lifecycle — configuring, rotating and removing a Real LLM Provider key; browser-local storage implications (45m)</a:t>
            </a:r>
            <a:endParaRPr lang="en-US" sz="830" dirty="0"/>
          </a:p>
        </p:txBody>
      </p:sp>
      <p:sp>
        <p:nvSpPr>
          <p:cNvPr id="35" name="Text 32"/>
          <p:cNvSpPr/>
          <p:nvPr/>
        </p:nvSpPr>
        <p:spPr>
          <a:xfrm>
            <a:off x="6172200" y="536752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Fallback behavior — what happens to AI suggestions when the connection is removed or fails (45m)</a:t>
            </a:r>
            <a:endParaRPr lang="en-US" sz="830" dirty="0"/>
          </a:p>
        </p:txBody>
      </p:sp>
      <p:sp>
        <p:nvSpPr>
          <p:cNvPr id="36" name="Text 33"/>
          <p:cNvSpPr/>
          <p:nvPr/>
        </p:nvSpPr>
        <p:spPr>
          <a:xfrm>
            <a:off x="6172200" y="558698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QZ-P3-4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Key lifecycle + fallback behavior (8 items, 15m)</a:t>
            </a:r>
            <a:endParaRPr lang="en-US" sz="830" dirty="0"/>
          </a:p>
        </p:txBody>
      </p:sp>
      <p:sp>
        <p:nvSpPr>
          <p:cNvPr id="37" name="Text 34"/>
          <p:cNvSpPr/>
          <p:nvPr/>
        </p:nvSpPr>
        <p:spPr>
          <a:xfrm>
            <a:off x="6172200" y="576986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WS-P3-4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Rotate a Provider Key and Verify Fallback (90m)</a:t>
            </a:r>
            <a:endParaRPr lang="en-US" sz="830" dirty="0"/>
          </a:p>
        </p:txBody>
      </p:sp>
      <p:sp>
        <p:nvSpPr>
          <p:cNvPr id="38" name="Shape 35"/>
          <p:cNvSpPr/>
          <p:nvPr/>
        </p:nvSpPr>
        <p:spPr>
          <a:xfrm>
            <a:off x="5989320" y="5989320"/>
            <a:ext cx="5623560" cy="457200"/>
          </a:xfrm>
          <a:prstGeom prst="roundRect">
            <a:avLst>
              <a:gd name="adj" fmla="val 10000"/>
            </a:avLst>
          </a:prstGeom>
          <a:solidFill>
            <a:srgbClr val="15423A"/>
          </a:solidFill>
          <a:ln/>
        </p:spPr>
      </p:sp>
      <p:sp>
        <p:nvSpPr>
          <p:cNvPr id="39" name="Text 36"/>
          <p:cNvSpPr/>
          <p:nvPr/>
        </p:nvSpPr>
        <p:spPr>
          <a:xfrm>
            <a:off x="6126480" y="598932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EXM-P3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MCQ + 1 governance-memo exercise · 90 min · pass mark 75%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TRN-P3 · WORKSHOPS IN DETAIL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in Change Management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.450511795966871e+115" dist="2.418941923487576e+115" dir="5.526847993018334e+135">
              <a:srgbClr val="1B2E2B">
                <a:alpha val="1.800000000000001e+139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057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5423A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057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WS-P3-1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166360" y="2057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13232" y="2359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 a Use Case Rollout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13232" y="2761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Activate 3 AI use cases for an Organization</a:t>
            </a:r>
            <a:endParaRPr lang="en-US" sz="860" dirty="0"/>
          </a:p>
        </p:txBody>
      </p:sp>
      <p:sp>
        <p:nvSpPr>
          <p:cNvPr id="10" name="Text 8"/>
          <p:cNvSpPr/>
          <p:nvPr/>
        </p:nvSpPr>
        <p:spPr>
          <a:xfrm>
            <a:off x="713232" y="3108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Override one use case off for a single sensitive project</a:t>
            </a:r>
            <a:endParaRPr lang="en-US" sz="860" dirty="0"/>
          </a:p>
        </p:txBody>
      </p:sp>
      <p:sp>
        <p:nvSpPr>
          <p:cNvPr id="11" name="Text 9"/>
          <p:cNvSpPr/>
          <p:nvPr/>
        </p:nvSpPr>
        <p:spPr>
          <a:xfrm>
            <a:off x="713232" y="3456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Write a short justification note for the override</a:t>
            </a:r>
            <a:endParaRPr lang="en-US" sz="860" dirty="0"/>
          </a:p>
        </p:txBody>
      </p:sp>
      <p:sp>
        <p:nvSpPr>
          <p:cNvPr id="12" name="Shape 10"/>
          <p:cNvSpPr/>
          <p:nvPr/>
        </p:nvSpPr>
        <p:spPr>
          <a:xfrm>
            <a:off x="6172200" y="1920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.192149980877925e+119" dist="3.0720562428292216e+119" dir="3.3161087958110005e+140">
              <a:srgbClr val="1B2E2B">
                <a:alpha val="1.800000000000001e+144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36792" y="2057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5423A"/>
          </a:solidFill>
          <a:ln/>
        </p:spPr>
      </p:sp>
      <p:sp>
        <p:nvSpPr>
          <p:cNvPr id="14" name="Text 12"/>
          <p:cNvSpPr/>
          <p:nvPr/>
        </p:nvSpPr>
        <p:spPr>
          <a:xfrm>
            <a:off x="6336792" y="2057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WS-P3-2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0789920" y="2057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336792" y="2359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and Decide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36792" y="2761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Review a sample AI Usage Log across several use cases</a:t>
            </a:r>
            <a:endParaRPr lang="en-US" sz="860" dirty="0"/>
          </a:p>
        </p:txBody>
      </p:sp>
      <p:sp>
        <p:nvSpPr>
          <p:cNvPr id="18" name="Text 16"/>
          <p:cNvSpPr/>
          <p:nvPr/>
        </p:nvSpPr>
        <p:spPr>
          <a:xfrm>
            <a:off x="6336792" y="3108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Identify the use case with the highest rejection rate</a:t>
            </a:r>
            <a:endParaRPr lang="en-US" sz="860" dirty="0"/>
          </a:p>
        </p:txBody>
      </p:sp>
      <p:sp>
        <p:nvSpPr>
          <p:cNvPr id="19" name="Text 17"/>
          <p:cNvSpPr/>
          <p:nvPr/>
        </p:nvSpPr>
        <p:spPr>
          <a:xfrm>
            <a:off x="6336792" y="3456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Draft a one-paragraph governance recommendation</a:t>
            </a:r>
            <a:endParaRPr lang="en-US" sz="860" dirty="0"/>
          </a:p>
        </p:txBody>
      </p:sp>
      <p:sp>
        <p:nvSpPr>
          <p:cNvPr id="20" name="Shape 18"/>
          <p:cNvSpPr/>
          <p:nvPr/>
        </p:nvSpPr>
        <p:spPr>
          <a:xfrm>
            <a:off x="548640" y="4206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0404030475714965e+124" dist="3.9015114283931116e+123" dir="1.9896652774866004e+145">
              <a:srgbClr val="1B2E2B">
                <a:alpha val="1.8000000000000009e+149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13232" y="4343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5423A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4343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WS-P3-3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166360" y="4343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13232" y="4645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an Activation Conflict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13232" y="5047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Given an org-level activation and a conflicting project override, determine which wins and why</a:t>
            </a:r>
            <a:endParaRPr lang="en-US" sz="860" dirty="0"/>
          </a:p>
        </p:txBody>
      </p:sp>
      <p:sp>
        <p:nvSpPr>
          <p:cNvPr id="26" name="Text 24"/>
          <p:cNvSpPr/>
          <p:nvPr/>
        </p:nvSpPr>
        <p:spPr>
          <a:xfrm>
            <a:off x="713232" y="5394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Document the resolution with a justification note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713232" y="5742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Open an AI Use Case prompt template and adapt it for a new scenario without changing its tier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6172200" y="4206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3213118704158005e+128" dist="4.954919514059251e+127" dir="1.1937991664919603e+150">
              <a:srgbClr val="1B2E2B">
                <a:alpha val="1.800000000000001e+154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336792" y="4343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5423A"/>
          </a:solidFill>
          <a:ln/>
        </p:spPr>
      </p:sp>
      <p:sp>
        <p:nvSpPr>
          <p:cNvPr id="30" name="Text 28"/>
          <p:cNvSpPr/>
          <p:nvPr/>
        </p:nvSpPr>
        <p:spPr>
          <a:xfrm>
            <a:off x="6336792" y="4343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WS-P3-4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0789920" y="4343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336792" y="4645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 a Provider Key and Verify Fallback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336792" y="5047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Configure a Real LLM Provider key for a test Organization</a:t>
            </a:r>
            <a:endParaRPr lang="en-US" sz="860" dirty="0"/>
          </a:p>
        </p:txBody>
      </p:sp>
      <p:sp>
        <p:nvSpPr>
          <p:cNvPr id="34" name="Text 32"/>
          <p:cNvSpPr/>
          <p:nvPr/>
        </p:nvSpPr>
        <p:spPr>
          <a:xfrm>
            <a:off x="6336792" y="5394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Rotate the key and confirm the old key no longer works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36792" y="5742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Remove the connection entirely and generate an AI suggestion, confirming fallback behavior</a:t>
            </a:r>
            <a:endParaRPr lang="en-US" sz="860" dirty="0"/>
          </a:p>
        </p:txBody>
      </p:sp>
      <p:sp>
        <p:nvSpPr>
          <p:cNvPr id="36" name="Text 34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26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LVL-A  ·  LEVEL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48640" y="777240"/>
            <a:ext cx="822960" cy="822960"/>
          </a:xfrm>
          <a:prstGeom prst="ellipse">
            <a:avLst/>
          </a:prstGeom>
          <a:solidFill>
            <a:srgbClr val="15423A"/>
          </a:solidFill>
          <a:ln/>
        </p:spPr>
      </p:sp>
      <p:pic>
        <p:nvPicPr>
          <p:cNvPr id="4" name="Image 0" descr="/home/user/scm-process-register/docs-src/curriculum-deck/assets/med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96012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7772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1600200" y="15087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3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Change Portfolios &amp; Sustaining Impact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534924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2304288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AUDIENCE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77240" y="2606040"/>
            <a:ext cx="484632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Change Managers, Change Management Leads, PMO Directors, Organization/Group Admins managing multiple concurrent initiatives. Prerequisite: Practitioner credential.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035040" y="2148840"/>
            <a:ext cx="562356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/>
          <p:nvPr/>
        </p:nvSpPr>
        <p:spPr>
          <a:xfrm>
            <a:off x="6263640" y="2304288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OUTCOME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263640" y="2606040"/>
            <a:ext cx="51206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portfolio-level readiness to executives, administer platform governance, and lead a full transformation program end-to-end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420624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3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TRAININGS IN THIS LEVEL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48640" y="45720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TRN-A1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8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Analytics, Benchmarking &amp; Executive Reporting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48640" y="4919472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TRN-A2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8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Sustainment, Governance &amp; Platform Administration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48640" y="5266944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TRN-A3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8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— Leading a Full Transformation Program End-to-End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48640" y="5806440"/>
            <a:ext cx="11064240" cy="685800"/>
          </a:xfrm>
          <a:prstGeom prst="roundRect">
            <a:avLst>
              <a:gd name="adj" fmla="val 6667"/>
            </a:avLst>
          </a:prstGeom>
          <a:solidFill>
            <a:srgbClr val="15423A"/>
          </a:solidFill>
          <a:ln/>
        </p:spPr>
      </p:sp>
      <p:sp>
        <p:nvSpPr>
          <p:cNvPr id="18" name="Text 15"/>
          <p:cNvSpPr/>
          <p:nvPr/>
        </p:nvSpPr>
        <p:spPr>
          <a:xfrm>
            <a:off x="777240" y="5806440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EXM-LVL-A 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facilitator rubric (4 workshops, 25 pts each) + 60-MCQ integrative written exam (TRN-A1–A2) · pass: written ≥80% AND rubric ≥75/100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FE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· TRN-A1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9966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Analytics, Benchmarking &amp; Executive Reporting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0835640" y="365760"/>
            <a:ext cx="566928" cy="566928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5" name="Image 0" descr="/home/user/scm-process-register/docs-src/curriculum-deck/assets/chart-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63656" y="493776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50876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810512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up readiness at Project / Organization / Group level correctly per RBAC</a:t>
            </a:r>
            <a:endParaRPr lang="en-US" sz="1080" dirty="0"/>
          </a:p>
        </p:txBody>
      </p:sp>
      <p:sp>
        <p:nvSpPr>
          <p:cNvPr id="8" name="Text 5"/>
          <p:cNvSpPr/>
          <p:nvPr/>
        </p:nvSpPr>
        <p:spPr>
          <a:xfrm>
            <a:off x="548640" y="2377440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the Composite Readiness Index and phase-based benchmarking standing</a:t>
            </a:r>
            <a:endParaRPr lang="en-US" sz="1080" dirty="0"/>
          </a:p>
        </p:txBody>
      </p:sp>
      <p:sp>
        <p:nvSpPr>
          <p:cNvPr id="9" name="Text 6"/>
          <p:cNvSpPr/>
          <p:nvPr/>
        </p:nvSpPr>
        <p:spPr>
          <a:xfrm>
            <a:off x="548640" y="2944368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Cross-Type Comparison Matrix to advise on a new transformation type</a:t>
            </a:r>
            <a:endParaRPr lang="en-US" sz="1080" dirty="0"/>
          </a:p>
        </p:txBody>
      </p:sp>
      <p:sp>
        <p:nvSpPr>
          <p:cNvPr id="10" name="Text 7"/>
          <p:cNvSpPr/>
          <p:nvPr/>
        </p:nvSpPr>
        <p:spPr>
          <a:xfrm>
            <a:off x="548640" y="3511296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and review an AI-drafted Executive Readiness Narrative</a:t>
            </a:r>
            <a:endParaRPr lang="en-US" sz="1080" dirty="0"/>
          </a:p>
        </p:txBody>
      </p:sp>
      <p:sp>
        <p:nvSpPr>
          <p:cNvPr id="11" name="Text 8"/>
          <p:cNvSpPr/>
          <p:nvPr/>
        </p:nvSpPr>
        <p:spPr>
          <a:xfrm>
            <a:off x="548640" y="415137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AUDIENCE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4443984"/>
            <a:ext cx="5257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Change Managers, Executive Viewers, PMO Directors (Practitioner credential required)</a:t>
            </a:r>
            <a:endParaRPr lang="en-US" sz="1080" dirty="0"/>
          </a:p>
        </p:txBody>
      </p:sp>
      <p:sp>
        <p:nvSpPr>
          <p:cNvPr id="13" name="Text 10"/>
          <p:cNvSpPr/>
          <p:nvPr/>
        </p:nvSpPr>
        <p:spPr>
          <a:xfrm>
            <a:off x="5989320" y="150876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AGENDA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89320" y="178308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F7E4D2"/>
          </a:solidFill>
          <a:ln/>
        </p:spPr>
      </p:sp>
      <p:sp>
        <p:nvSpPr>
          <p:cNvPr id="15" name="Text 12"/>
          <p:cNvSpPr/>
          <p:nvPr/>
        </p:nvSpPr>
        <p:spPr>
          <a:xfrm>
            <a:off x="6126480" y="181051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AM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&amp; Benchmarking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6172200" y="199339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Metrics &amp; Analytics Dashboard — roll-up levels, ADKAR heatmap, adoption curve, sentiment correlation (60m)</a:t>
            </a:r>
            <a:endParaRPr lang="en-US" sz="830" dirty="0"/>
          </a:p>
        </p:txBody>
      </p:sp>
      <p:sp>
        <p:nvSpPr>
          <p:cNvPr id="17" name="Text 14"/>
          <p:cNvSpPr/>
          <p:nvPr/>
        </p:nvSpPr>
        <p:spPr>
          <a:xfrm>
            <a:off x="6172200" y="221284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Benchmarking tab — reference bands by Lewin phase, peer average, Behind / In Line / Ahead standing (60m)</a:t>
            </a:r>
            <a:endParaRPr lang="en-US" sz="830" dirty="0"/>
          </a:p>
        </p:txBody>
      </p:sp>
      <p:sp>
        <p:nvSpPr>
          <p:cNvPr id="18" name="Text 15"/>
          <p:cNvSpPr/>
          <p:nvPr/>
        </p:nvSpPr>
        <p:spPr>
          <a:xfrm>
            <a:off x="6172200" y="243230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QZ-A1-1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Roll-up levels + benchmarking standing (8 items, 15m)</a:t>
            </a:r>
            <a:endParaRPr lang="en-US" sz="830" dirty="0"/>
          </a:p>
        </p:txBody>
      </p:sp>
      <p:sp>
        <p:nvSpPr>
          <p:cNvPr id="19" name="Text 16"/>
          <p:cNvSpPr/>
          <p:nvPr/>
        </p:nvSpPr>
        <p:spPr>
          <a:xfrm>
            <a:off x="6172200" y="261518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WS-A1-1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Benchmark a Portfolio (90m)</a:t>
            </a:r>
            <a:endParaRPr lang="en-US" sz="830" dirty="0"/>
          </a:p>
        </p:txBody>
      </p:sp>
      <p:sp>
        <p:nvSpPr>
          <p:cNvPr id="20" name="Shape 17"/>
          <p:cNvSpPr/>
          <p:nvPr/>
        </p:nvSpPr>
        <p:spPr>
          <a:xfrm>
            <a:off x="5989320" y="283464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F7E4D2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286207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PM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Journeys, Touchpoints &amp; Executive Narrative</a:t>
            </a:r>
            <a:endParaRPr lang="en-US" sz="980" dirty="0"/>
          </a:p>
        </p:txBody>
      </p:sp>
      <p:sp>
        <p:nvSpPr>
          <p:cNvPr id="22" name="Text 19"/>
          <p:cNvSpPr/>
          <p:nvPr/>
        </p:nvSpPr>
        <p:spPr>
          <a:xfrm>
            <a:off x="6172200" y="304495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Journeys, Touchpoints &amp; Analytics — the 8 journeys, live DASH-01/02 metrics, reference-only dashboards (60m)</a:t>
            </a:r>
            <a:endParaRPr lang="en-US" sz="830" dirty="0"/>
          </a:p>
        </p:txBody>
      </p:sp>
      <p:sp>
        <p:nvSpPr>
          <p:cNvPr id="23" name="Text 20"/>
          <p:cNvSpPr/>
          <p:nvPr/>
        </p:nvSpPr>
        <p:spPr>
          <a:xfrm>
            <a:off x="6172200" y="326440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Cross-Type Comparison Matrix + the Executive Readiness Narrative Generator AI use case (60m)</a:t>
            </a:r>
            <a:endParaRPr lang="en-US" sz="830" dirty="0"/>
          </a:p>
        </p:txBody>
      </p:sp>
      <p:sp>
        <p:nvSpPr>
          <p:cNvPr id="24" name="Text 21"/>
          <p:cNvSpPr/>
          <p:nvPr/>
        </p:nvSpPr>
        <p:spPr>
          <a:xfrm>
            <a:off x="6172200" y="348386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QZ-A1-2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Journey dashboards + cross-type matrix (8 items, 15m)</a:t>
            </a:r>
            <a:endParaRPr lang="en-US" sz="830" dirty="0"/>
          </a:p>
        </p:txBody>
      </p:sp>
      <p:sp>
        <p:nvSpPr>
          <p:cNvPr id="25" name="Text 22"/>
          <p:cNvSpPr/>
          <p:nvPr/>
        </p:nvSpPr>
        <p:spPr>
          <a:xfrm>
            <a:off x="6172200" y="366674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WS-A1-2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Brief the Steering Committee (90m)</a:t>
            </a:r>
            <a:endParaRPr lang="en-US" sz="830" dirty="0"/>
          </a:p>
        </p:txBody>
      </p:sp>
      <p:sp>
        <p:nvSpPr>
          <p:cNvPr id="26" name="Shape 23"/>
          <p:cNvSpPr/>
          <p:nvPr/>
        </p:nvSpPr>
        <p:spPr>
          <a:xfrm>
            <a:off x="5989320" y="388620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F7E4D2"/>
          </a:solidFill>
          <a:ln/>
        </p:spPr>
      </p:sp>
      <p:sp>
        <p:nvSpPr>
          <p:cNvPr id="27" name="Text 24"/>
          <p:cNvSpPr/>
          <p:nvPr/>
        </p:nvSpPr>
        <p:spPr>
          <a:xfrm>
            <a:off x="6126480" y="391363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AM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Group-Level Portfolio Rollups</a:t>
            </a:r>
            <a:endParaRPr lang="en-US" sz="980" dirty="0"/>
          </a:p>
        </p:txBody>
      </p:sp>
      <p:sp>
        <p:nvSpPr>
          <p:cNvPr id="28" name="Text 25"/>
          <p:cNvSpPr/>
          <p:nvPr/>
        </p:nvSpPr>
        <p:spPr>
          <a:xfrm>
            <a:off x="6172200" y="409651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Rolling up readiness at Group level across multiple Organizations (60m)</a:t>
            </a:r>
            <a:endParaRPr lang="en-US" sz="830" dirty="0"/>
          </a:p>
        </p:txBody>
      </p:sp>
      <p:sp>
        <p:nvSpPr>
          <p:cNvPr id="29" name="Text 26"/>
          <p:cNvSpPr/>
          <p:nvPr/>
        </p:nvSpPr>
        <p:spPr>
          <a:xfrm>
            <a:off x="6172200" y="431596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Cross-Type Matrix — advising on 2 different transformation types in the same portfolio (45m)</a:t>
            </a:r>
            <a:endParaRPr lang="en-US" sz="830" dirty="0"/>
          </a:p>
        </p:txBody>
      </p:sp>
      <p:sp>
        <p:nvSpPr>
          <p:cNvPr id="30" name="Text 27"/>
          <p:cNvSpPr/>
          <p:nvPr/>
        </p:nvSpPr>
        <p:spPr>
          <a:xfrm>
            <a:off x="6172200" y="453542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QZ-A1-3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Group rollups + cross-type advising (8 items, 15m)</a:t>
            </a:r>
            <a:endParaRPr lang="en-US" sz="830" dirty="0"/>
          </a:p>
        </p:txBody>
      </p:sp>
      <p:sp>
        <p:nvSpPr>
          <p:cNvPr id="31" name="Text 28"/>
          <p:cNvSpPr/>
          <p:nvPr/>
        </p:nvSpPr>
        <p:spPr>
          <a:xfrm>
            <a:off x="6172200" y="471830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WS-A1-3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Roll Up a Group Portfolio (90m)</a:t>
            </a:r>
            <a:endParaRPr lang="en-US" sz="830" dirty="0"/>
          </a:p>
        </p:txBody>
      </p:sp>
      <p:sp>
        <p:nvSpPr>
          <p:cNvPr id="32" name="Shape 29"/>
          <p:cNvSpPr/>
          <p:nvPr/>
        </p:nvSpPr>
        <p:spPr>
          <a:xfrm>
            <a:off x="5989320" y="493776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F7E4D2"/>
          </a:solidFill>
          <a:ln/>
        </p:spPr>
      </p:sp>
      <p:sp>
        <p:nvSpPr>
          <p:cNvPr id="33" name="Text 30"/>
          <p:cNvSpPr/>
          <p:nvPr/>
        </p:nvSpPr>
        <p:spPr>
          <a:xfrm>
            <a:off x="6126480" y="496519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PM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Multi-Project Executive Briefing</a:t>
            </a:r>
            <a:endParaRPr lang="en-US" sz="980" dirty="0"/>
          </a:p>
        </p:txBody>
      </p:sp>
      <p:sp>
        <p:nvSpPr>
          <p:cNvPr id="34" name="Text 31"/>
          <p:cNvSpPr/>
          <p:nvPr/>
        </p:nvSpPr>
        <p:spPr>
          <a:xfrm>
            <a:off x="6172200" y="514807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Assembling a multi-project executive narrative — combining several AI-drafted narratives into one briefing (60m)</a:t>
            </a:r>
            <a:endParaRPr lang="en-US" sz="830" dirty="0"/>
          </a:p>
        </p:txBody>
      </p:sp>
      <p:sp>
        <p:nvSpPr>
          <p:cNvPr id="35" name="Text 32"/>
          <p:cNvSpPr/>
          <p:nvPr/>
        </p:nvSpPr>
        <p:spPr>
          <a:xfrm>
            <a:off x="6172200" y="536752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Handling executive questions — defending a readiness number under scrutiny (45m)</a:t>
            </a:r>
            <a:endParaRPr lang="en-US" sz="830" dirty="0"/>
          </a:p>
        </p:txBody>
      </p:sp>
      <p:sp>
        <p:nvSpPr>
          <p:cNvPr id="36" name="Text 33"/>
          <p:cNvSpPr/>
          <p:nvPr/>
        </p:nvSpPr>
        <p:spPr>
          <a:xfrm>
            <a:off x="6172200" y="558698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QZ-A1-4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Multi-project narrative + defending a number (8 items, 15m)</a:t>
            </a:r>
            <a:endParaRPr lang="en-US" sz="830" dirty="0"/>
          </a:p>
        </p:txBody>
      </p:sp>
      <p:sp>
        <p:nvSpPr>
          <p:cNvPr id="37" name="Text 34"/>
          <p:cNvSpPr/>
          <p:nvPr/>
        </p:nvSpPr>
        <p:spPr>
          <a:xfrm>
            <a:off x="6172200" y="576986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WS-A1-4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Brief on a Multi-Project Portfolio (90m)</a:t>
            </a:r>
            <a:endParaRPr lang="en-US" sz="830" dirty="0"/>
          </a:p>
        </p:txBody>
      </p:sp>
      <p:sp>
        <p:nvSpPr>
          <p:cNvPr id="38" name="Shape 35"/>
          <p:cNvSpPr/>
          <p:nvPr/>
        </p:nvSpPr>
        <p:spPr>
          <a:xfrm>
            <a:off x="5989320" y="5989320"/>
            <a:ext cx="5623560" cy="457200"/>
          </a:xfrm>
          <a:prstGeom prst="roundRect">
            <a:avLst>
              <a:gd name="adj" fmla="val 10000"/>
            </a:avLst>
          </a:prstGeom>
          <a:solidFill>
            <a:srgbClr val="15423A"/>
          </a:solidFill>
          <a:ln/>
        </p:spPr>
      </p:sp>
      <p:sp>
        <p:nvSpPr>
          <p:cNvPr id="39" name="Text 36"/>
          <p:cNvSpPr/>
          <p:nvPr/>
        </p:nvSpPr>
        <p:spPr>
          <a:xfrm>
            <a:off x="6126480" y="598932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EXM-A1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MCQ + 1 executive-memo practical · 90 min · pass mark 75%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TRN-A1 · WORKSHOPS IN DETAIL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Analytics, Benchmarking &amp; Executive Reporting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6780660754280665e+132" dist="6.2927477828552495e+131" dir="7.162794998951762e+154">
              <a:srgbClr val="1B2E2B">
                <a:alpha val="1.800000000000001e+159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057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C2661C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057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WS-A1-1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166360" y="2057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13232" y="2359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a Portfolio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13232" y="2761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At Organization level, compare 3 seeded projects' Readiness Index against their phase bands</a:t>
            </a:r>
            <a:endParaRPr lang="en-US" sz="860" dirty="0"/>
          </a:p>
        </p:txBody>
      </p:sp>
      <p:sp>
        <p:nvSpPr>
          <p:cNvPr id="10" name="Text 8"/>
          <p:cNvSpPr/>
          <p:nvPr/>
        </p:nvSpPr>
        <p:spPr>
          <a:xfrm>
            <a:off x="713232" y="3108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Compare each against the peer average and record its standing</a:t>
            </a:r>
            <a:endParaRPr lang="en-US" sz="860" dirty="0"/>
          </a:p>
        </p:txBody>
      </p:sp>
      <p:sp>
        <p:nvSpPr>
          <p:cNvPr id="11" name="Text 9"/>
          <p:cNvSpPr/>
          <p:nvPr/>
        </p:nvSpPr>
        <p:spPr>
          <a:xfrm>
            <a:off x="713232" y="3456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Identify the one project reading "Behind" and articulate why</a:t>
            </a:r>
            <a:endParaRPr lang="en-US" sz="860" dirty="0"/>
          </a:p>
        </p:txBody>
      </p:sp>
      <p:sp>
        <p:nvSpPr>
          <p:cNvPr id="12" name="Shape 10"/>
          <p:cNvSpPr/>
          <p:nvPr/>
        </p:nvSpPr>
        <p:spPr>
          <a:xfrm>
            <a:off x="6172200" y="1920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.1311439157936445e+136" dist="7.991789684226167e+135" dir="4.297676999371057e+159">
              <a:srgbClr val="1B2E2B">
                <a:alpha val="1.800000000000001e+164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36792" y="2057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C2661C"/>
          </a:solidFill>
          <a:ln/>
        </p:spPr>
      </p:sp>
      <p:sp>
        <p:nvSpPr>
          <p:cNvPr id="14" name="Text 12"/>
          <p:cNvSpPr/>
          <p:nvPr/>
        </p:nvSpPr>
        <p:spPr>
          <a:xfrm>
            <a:off x="6336792" y="2057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WS-A1-2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0789920" y="2057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336792" y="2359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the Steering Committee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36792" y="2761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Compute JRN-01 touchpoint completion for a project</a:t>
            </a:r>
            <a:endParaRPr lang="en-US" sz="860" dirty="0"/>
          </a:p>
        </p:txBody>
      </p:sp>
      <p:sp>
        <p:nvSpPr>
          <p:cNvPr id="18" name="Text 16"/>
          <p:cNvSpPr/>
          <p:nvPr/>
        </p:nvSpPr>
        <p:spPr>
          <a:xfrm>
            <a:off x="6336792" y="3108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Generate an AI-drafted executive narrative and edit it for accuracy</a:t>
            </a:r>
            <a:endParaRPr lang="en-US" sz="860" dirty="0"/>
          </a:p>
        </p:txBody>
      </p:sp>
      <p:sp>
        <p:nvSpPr>
          <p:cNvPr id="19" name="Text 17"/>
          <p:cNvSpPr/>
          <p:nvPr/>
        </p:nvSpPr>
        <p:spPr>
          <a:xfrm>
            <a:off x="6336792" y="3456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Select the correct Cross-Type Matrix row to justify a timeline expectation</a:t>
            </a:r>
            <a:endParaRPr lang="en-US" sz="860" dirty="0"/>
          </a:p>
        </p:txBody>
      </p:sp>
      <p:sp>
        <p:nvSpPr>
          <p:cNvPr id="20" name="Shape 18"/>
          <p:cNvSpPr/>
          <p:nvPr/>
        </p:nvSpPr>
        <p:spPr>
          <a:xfrm>
            <a:off x="548640" y="4206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.7065527730579285e+140" dist="1.0149572898967231e+140" dir="2.5786061996226343e+164">
              <a:srgbClr val="1B2E2B">
                <a:alpha val="1.800000000000001e+169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13232" y="4343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C2661C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4343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WS-A1-3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166360" y="4343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13232" y="4645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Up a Group Portfolio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13232" y="5047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At Group level, roll up the Composite Readiness Index across 3 Organizations</a:t>
            </a:r>
            <a:endParaRPr lang="en-US" sz="860" dirty="0"/>
          </a:p>
        </p:txBody>
      </p:sp>
      <p:sp>
        <p:nvSpPr>
          <p:cNvPr id="26" name="Text 24"/>
          <p:cNvSpPr/>
          <p:nvPr/>
        </p:nvSpPr>
        <p:spPr>
          <a:xfrm>
            <a:off x="713232" y="5394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Identify the weakest Organization and its phase-based benchmarking standing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713232" y="5742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For 2 different transformation types in the portfolio, pull the correct Cross-Type Matrix row for each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6172200" y="4206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.4373220217835694e+144" dist="1.2889957581688384e+144" dir="1.5471637197735807e+169">
              <a:srgbClr val="1B2E2B">
                <a:alpha val="1.800000000000001e+174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336792" y="4343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C2661C"/>
          </a:solidFill>
          <a:ln/>
        </p:spPr>
      </p:sp>
      <p:sp>
        <p:nvSpPr>
          <p:cNvPr id="30" name="Text 28"/>
          <p:cNvSpPr/>
          <p:nvPr/>
        </p:nvSpPr>
        <p:spPr>
          <a:xfrm>
            <a:off x="6336792" y="4343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WS-A1-4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0789920" y="4343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336792" y="4645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on a Multi-Project Portfolio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336792" y="5047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Generate AI-drafted executive narratives for 2 projects and merge them into one briefing</a:t>
            </a:r>
            <a:endParaRPr lang="en-US" sz="860" dirty="0"/>
          </a:p>
        </p:txBody>
      </p:sp>
      <p:sp>
        <p:nvSpPr>
          <p:cNvPr id="34" name="Text 32"/>
          <p:cNvSpPr/>
          <p:nvPr/>
        </p:nvSpPr>
        <p:spPr>
          <a:xfrm>
            <a:off x="6336792" y="5394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Edit the merged narrative for accuracy and tone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36792" y="5742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Prepare 2 backup data points to defend the lowest readiness figure</a:t>
            </a:r>
            <a:endParaRPr lang="en-US" sz="860" dirty="0"/>
          </a:p>
        </p:txBody>
      </p:sp>
      <p:sp>
        <p:nvSpPr>
          <p:cNvPr id="36" name="Text 34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· TRN-A2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9966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Sustainment, Governance &amp; Platform Administration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0835640" y="365760"/>
            <a:ext cx="566928" cy="566928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5" name="Image 0" descr="/home/user/scm-process-register/docs-src/curriculum-deck/assets/ser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63656" y="493776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50876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810512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30/60/90-day sustainment checkpoints and institutionalize lessons learned</a:t>
            </a:r>
            <a:endParaRPr lang="en-US" sz="1080" dirty="0"/>
          </a:p>
        </p:txBody>
      </p:sp>
      <p:sp>
        <p:nvSpPr>
          <p:cNvPr id="8" name="Text 5"/>
          <p:cNvSpPr/>
          <p:nvPr/>
        </p:nvSpPr>
        <p:spPr>
          <a:xfrm>
            <a:off x="548640" y="2377440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Administer the runtime Permission Matrix and Justification Governance toggle</a:t>
            </a:r>
            <a:endParaRPr lang="en-US" sz="1080" dirty="0"/>
          </a:p>
        </p:txBody>
      </p:sp>
      <p:sp>
        <p:nvSpPr>
          <p:cNvPr id="9" name="Text 6"/>
          <p:cNvSpPr/>
          <p:nvPr/>
        </p:nvSpPr>
        <p:spPr>
          <a:xfrm>
            <a:off x="548640" y="2944368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multi-tenant hierarchy and manage cross-organization user scope</a:t>
            </a:r>
            <a:endParaRPr lang="en-US" sz="1080" dirty="0"/>
          </a:p>
        </p:txBody>
      </p:sp>
      <p:sp>
        <p:nvSpPr>
          <p:cNvPr id="10" name="Text 7"/>
          <p:cNvSpPr/>
          <p:nvPr/>
        </p:nvSpPr>
        <p:spPr>
          <a:xfrm>
            <a:off x="548640" y="3511296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Field Notes appropriately as a practitioner scratchpad, not a system-of-record substitute</a:t>
            </a:r>
            <a:endParaRPr lang="en-US" sz="1080" dirty="0"/>
          </a:p>
        </p:txBody>
      </p:sp>
      <p:sp>
        <p:nvSpPr>
          <p:cNvPr id="11" name="Text 8"/>
          <p:cNvSpPr/>
          <p:nvPr/>
        </p:nvSpPr>
        <p:spPr>
          <a:xfrm>
            <a:off x="548640" y="415137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AUDIENCE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4443984"/>
            <a:ext cx="5257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Change Managers, Organization / Group Admins, Super Admins (Practitioner credential required)</a:t>
            </a:r>
            <a:endParaRPr lang="en-US" sz="1080" dirty="0"/>
          </a:p>
        </p:txBody>
      </p:sp>
      <p:sp>
        <p:nvSpPr>
          <p:cNvPr id="13" name="Text 10"/>
          <p:cNvSpPr/>
          <p:nvPr/>
        </p:nvSpPr>
        <p:spPr>
          <a:xfrm>
            <a:off x="5989320" y="150876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AGENDA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89320" y="178308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F7E4D2"/>
          </a:solidFill>
          <a:ln/>
        </p:spPr>
      </p:sp>
      <p:sp>
        <p:nvSpPr>
          <p:cNvPr id="15" name="Text 12"/>
          <p:cNvSpPr/>
          <p:nvPr/>
        </p:nvSpPr>
        <p:spPr>
          <a:xfrm>
            <a:off x="6126480" y="181051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AM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Sustainment &amp; Field Notes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6172200" y="199339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Reinforcement &amp; Sustainment — checkpoints, regression risk, quick wins, the REX lessons-learned log (60m)</a:t>
            </a:r>
            <a:endParaRPr lang="en-US" sz="830" dirty="0"/>
          </a:p>
        </p:txBody>
      </p:sp>
      <p:sp>
        <p:nvSpPr>
          <p:cNvPr id="17" name="Text 14"/>
          <p:cNvSpPr/>
          <p:nvPr/>
        </p:nvSpPr>
        <p:spPr>
          <a:xfrm>
            <a:off x="6172200" y="221284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Field Notes — when to use it vs. a structured module (45m)</a:t>
            </a:r>
            <a:endParaRPr lang="en-US" sz="830" dirty="0"/>
          </a:p>
        </p:txBody>
      </p:sp>
      <p:sp>
        <p:nvSpPr>
          <p:cNvPr id="18" name="Text 15"/>
          <p:cNvSpPr/>
          <p:nvPr/>
        </p:nvSpPr>
        <p:spPr>
          <a:xfrm>
            <a:off x="6172200" y="243230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QZ-A2-1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Sustainment checkpoints + Field Notes scope (8 items, 15m)</a:t>
            </a:r>
            <a:endParaRPr lang="en-US" sz="830" dirty="0"/>
          </a:p>
        </p:txBody>
      </p:sp>
      <p:sp>
        <p:nvSpPr>
          <p:cNvPr id="19" name="Text 16"/>
          <p:cNvSpPr/>
          <p:nvPr/>
        </p:nvSpPr>
        <p:spPr>
          <a:xfrm>
            <a:off x="6172200" y="261518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WS-A2-1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Close Out a Program (90m)</a:t>
            </a:r>
            <a:endParaRPr lang="en-US" sz="830" dirty="0"/>
          </a:p>
        </p:txBody>
      </p:sp>
      <p:sp>
        <p:nvSpPr>
          <p:cNvPr id="20" name="Shape 17"/>
          <p:cNvSpPr/>
          <p:nvPr/>
        </p:nvSpPr>
        <p:spPr>
          <a:xfrm>
            <a:off x="5989320" y="283464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F7E4D2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286207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PM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Governance &amp; Administration</a:t>
            </a:r>
            <a:endParaRPr lang="en-US" sz="980" dirty="0"/>
          </a:p>
        </p:txBody>
      </p:sp>
      <p:sp>
        <p:nvSpPr>
          <p:cNvPr id="22" name="Text 19"/>
          <p:cNvSpPr/>
          <p:nvPr/>
        </p:nvSpPr>
        <p:spPr>
          <a:xfrm>
            <a:off x="6172200" y="304495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Permission Matrix &amp; Governance Settings — 9 roles × 8 capabilities, the Super-Admin-only edit gate (60m)</a:t>
            </a:r>
            <a:endParaRPr lang="en-US" sz="830" dirty="0"/>
          </a:p>
        </p:txBody>
      </p:sp>
      <p:sp>
        <p:nvSpPr>
          <p:cNvPr id="23" name="Text 20"/>
          <p:cNvSpPr/>
          <p:nvPr/>
        </p:nvSpPr>
        <p:spPr>
          <a:xfrm>
            <a:off x="6172200" y="326440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Multi-tenant hierarchy administration — Group/Organization scope, cascading delete, data isolation (60m)</a:t>
            </a:r>
            <a:endParaRPr lang="en-US" sz="830" dirty="0"/>
          </a:p>
        </p:txBody>
      </p:sp>
      <p:sp>
        <p:nvSpPr>
          <p:cNvPr id="24" name="Text 21"/>
          <p:cNvSpPr/>
          <p:nvPr/>
        </p:nvSpPr>
        <p:spPr>
          <a:xfrm>
            <a:off x="6172200" y="348386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QZ-A2-2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Permission Matrix + tenant isolation (8 items, 15m)</a:t>
            </a:r>
            <a:endParaRPr lang="en-US" sz="830" dirty="0"/>
          </a:p>
        </p:txBody>
      </p:sp>
      <p:sp>
        <p:nvSpPr>
          <p:cNvPr id="25" name="Text 22"/>
          <p:cNvSpPr/>
          <p:nvPr/>
        </p:nvSpPr>
        <p:spPr>
          <a:xfrm>
            <a:off x="6172200" y="366674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WS-A2-2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Administer a New Business Unit (90m)</a:t>
            </a:r>
            <a:endParaRPr lang="en-US" sz="830" dirty="0"/>
          </a:p>
        </p:txBody>
      </p:sp>
      <p:sp>
        <p:nvSpPr>
          <p:cNvPr id="26" name="Shape 23"/>
          <p:cNvSpPr/>
          <p:nvPr/>
        </p:nvSpPr>
        <p:spPr>
          <a:xfrm>
            <a:off x="5989320" y="388620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F7E4D2"/>
          </a:solidFill>
          <a:ln/>
        </p:spPr>
      </p:sp>
      <p:sp>
        <p:nvSpPr>
          <p:cNvPr id="27" name="Text 24"/>
          <p:cNvSpPr/>
          <p:nvPr/>
        </p:nvSpPr>
        <p:spPr>
          <a:xfrm>
            <a:off x="6126480" y="391363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AM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&amp; Tenant Lifecycle Administration</a:t>
            </a:r>
            <a:endParaRPr lang="en-US" sz="980" dirty="0"/>
          </a:p>
        </p:txBody>
      </p:sp>
      <p:sp>
        <p:nvSpPr>
          <p:cNvPr id="28" name="Text 25"/>
          <p:cNvSpPr/>
          <p:nvPr/>
        </p:nvSpPr>
        <p:spPr>
          <a:xfrm>
            <a:off x="6172200" y="409651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Standing up a new Group and its first Organizations, RBAC seeding (60m)</a:t>
            </a:r>
            <a:endParaRPr lang="en-US" sz="830" dirty="0"/>
          </a:p>
        </p:txBody>
      </p:sp>
      <p:sp>
        <p:nvSpPr>
          <p:cNvPr id="29" name="Text 26"/>
          <p:cNvSpPr/>
          <p:nvPr/>
        </p:nvSpPr>
        <p:spPr>
          <a:xfrm>
            <a:off x="6172200" y="431596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Deactivating and archiving a tenant safely — data retention and cascading effects (45m)</a:t>
            </a:r>
            <a:endParaRPr lang="en-US" sz="830" dirty="0"/>
          </a:p>
        </p:txBody>
      </p:sp>
      <p:sp>
        <p:nvSpPr>
          <p:cNvPr id="30" name="Text 27"/>
          <p:cNvSpPr/>
          <p:nvPr/>
        </p:nvSpPr>
        <p:spPr>
          <a:xfrm>
            <a:off x="6172200" y="453542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QZ-A2-3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Group setup + safe deactivation (8 items, 15m)</a:t>
            </a:r>
            <a:endParaRPr lang="en-US" sz="830" dirty="0"/>
          </a:p>
        </p:txBody>
      </p:sp>
      <p:sp>
        <p:nvSpPr>
          <p:cNvPr id="31" name="Text 28"/>
          <p:cNvSpPr/>
          <p:nvPr/>
        </p:nvSpPr>
        <p:spPr>
          <a:xfrm>
            <a:off x="6172200" y="471830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WS-A2-3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Stand Up a Group and Retire an Organization (90m)</a:t>
            </a:r>
            <a:endParaRPr lang="en-US" sz="830" dirty="0"/>
          </a:p>
        </p:txBody>
      </p:sp>
      <p:sp>
        <p:nvSpPr>
          <p:cNvPr id="32" name="Shape 29"/>
          <p:cNvSpPr/>
          <p:nvPr/>
        </p:nvSpPr>
        <p:spPr>
          <a:xfrm>
            <a:off x="5989320" y="493776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F7E4D2"/>
          </a:solidFill>
          <a:ln/>
        </p:spPr>
      </p:sp>
      <p:sp>
        <p:nvSpPr>
          <p:cNvPr id="33" name="Text 30"/>
          <p:cNvSpPr/>
          <p:nvPr/>
        </p:nvSpPr>
        <p:spPr>
          <a:xfrm>
            <a:off x="6126480" y="496519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PM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Policy Design</a:t>
            </a:r>
            <a:endParaRPr lang="en-US" sz="980" dirty="0"/>
          </a:p>
        </p:txBody>
      </p:sp>
      <p:sp>
        <p:nvSpPr>
          <p:cNvPr id="34" name="Text 31"/>
          <p:cNvSpPr/>
          <p:nvPr/>
        </p:nvSpPr>
        <p:spPr>
          <a:xfrm>
            <a:off x="6172200" y="514807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Designing a Justification Governance toggle policy for a new client, and the Super-Admin-only edit gate (60m)</a:t>
            </a:r>
            <a:endParaRPr lang="en-US" sz="830" dirty="0"/>
          </a:p>
        </p:txBody>
      </p:sp>
      <p:sp>
        <p:nvSpPr>
          <p:cNvPr id="35" name="Text 32"/>
          <p:cNvSpPr/>
          <p:nvPr/>
        </p:nvSpPr>
        <p:spPr>
          <a:xfrm>
            <a:off x="6172200" y="536752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Turning a REX lesson-learned into a permanent policy change (45m)</a:t>
            </a:r>
            <a:endParaRPr lang="en-US" sz="830" dirty="0"/>
          </a:p>
        </p:txBody>
      </p:sp>
      <p:sp>
        <p:nvSpPr>
          <p:cNvPr id="36" name="Text 33"/>
          <p:cNvSpPr/>
          <p:nvPr/>
        </p:nvSpPr>
        <p:spPr>
          <a:xfrm>
            <a:off x="6172200" y="558698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QZ-A2-4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Justification policy design + REX-to-policy (8 items, 15m)</a:t>
            </a:r>
            <a:endParaRPr lang="en-US" sz="830" dirty="0"/>
          </a:p>
        </p:txBody>
      </p:sp>
      <p:sp>
        <p:nvSpPr>
          <p:cNvPr id="37" name="Text 34"/>
          <p:cNvSpPr/>
          <p:nvPr/>
        </p:nvSpPr>
        <p:spPr>
          <a:xfrm>
            <a:off x="6172200" y="576986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WS-A2-4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Turn a Lesson Learned into Policy (90m)</a:t>
            </a:r>
            <a:endParaRPr lang="en-US" sz="830" dirty="0"/>
          </a:p>
        </p:txBody>
      </p:sp>
      <p:sp>
        <p:nvSpPr>
          <p:cNvPr id="38" name="Shape 35"/>
          <p:cNvSpPr/>
          <p:nvPr/>
        </p:nvSpPr>
        <p:spPr>
          <a:xfrm>
            <a:off x="5989320" y="5989320"/>
            <a:ext cx="5623560" cy="457200"/>
          </a:xfrm>
          <a:prstGeom prst="roundRect">
            <a:avLst>
              <a:gd name="adj" fmla="val 10000"/>
            </a:avLst>
          </a:prstGeom>
          <a:solidFill>
            <a:srgbClr val="15423A"/>
          </a:solidFill>
          <a:ln/>
        </p:spPr>
      </p:sp>
      <p:sp>
        <p:nvSpPr>
          <p:cNvPr id="39" name="Text 36"/>
          <p:cNvSpPr/>
          <p:nvPr/>
        </p:nvSpPr>
        <p:spPr>
          <a:xfrm>
            <a:off x="6126480" y="598932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EXM-A2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MCQ + 1 admin-configuration practical · 90 min · pass mark 75%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TRN-A2 · WORKSHOPS IN DETAIL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Sustainment, Governance &amp; Platform Administration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4.3653989676651333e+148" dist="1.6370246128744248e+148" dir="9.282982318641485e+173">
              <a:srgbClr val="1B2E2B">
                <a:alpha val="1.800000000000001e+179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057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C2661C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057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WS-A2-1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166360" y="2057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13232" y="2359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Out a Program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13232" y="2761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Record the 90-day sustainment checkpoint</a:t>
            </a:r>
            <a:endParaRPr lang="en-US" sz="860" dirty="0"/>
          </a:p>
        </p:txBody>
      </p:sp>
      <p:sp>
        <p:nvSpPr>
          <p:cNvPr id="10" name="Text 8"/>
          <p:cNvSpPr/>
          <p:nvPr/>
        </p:nvSpPr>
        <p:spPr>
          <a:xfrm>
            <a:off x="713232" y="3108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Log 2 lessons learned — one linked to a Rule/Charter, one left pending</a:t>
            </a:r>
            <a:endParaRPr lang="en-US" sz="860" dirty="0"/>
          </a:p>
        </p:txBody>
      </p:sp>
      <p:sp>
        <p:nvSpPr>
          <p:cNvPr id="11" name="Text 9"/>
          <p:cNvSpPr/>
          <p:nvPr/>
        </p:nvSpPr>
        <p:spPr>
          <a:xfrm>
            <a:off x="713232" y="3456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Toggle sustainment sign-off with a written justification</a:t>
            </a:r>
            <a:endParaRPr lang="en-US" sz="860" dirty="0"/>
          </a:p>
        </p:txBody>
      </p:sp>
      <p:sp>
        <p:nvSpPr>
          <p:cNvPr id="12" name="Shape 10"/>
          <p:cNvSpPr/>
          <p:nvPr/>
        </p:nvSpPr>
        <p:spPr>
          <a:xfrm>
            <a:off x="6172200" y="1920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.54405668893472e+152" dist="2.0790212583505195e+152" dir="5.569789391184891e+178">
              <a:srgbClr val="1B2E2B">
                <a:alpha val="1.8000000000000012e+184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36792" y="2057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C2661C"/>
          </a:solidFill>
          <a:ln/>
        </p:spPr>
      </p:sp>
      <p:sp>
        <p:nvSpPr>
          <p:cNvPr id="14" name="Text 12"/>
          <p:cNvSpPr/>
          <p:nvPr/>
        </p:nvSpPr>
        <p:spPr>
          <a:xfrm>
            <a:off x="6336792" y="2057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WS-A2-2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0789920" y="2057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336792" y="2359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Administer a New Business Unit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36792" y="2761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Create a new Organization under an existing Group</a:t>
            </a:r>
            <a:endParaRPr lang="en-US" sz="860" dirty="0"/>
          </a:p>
        </p:txBody>
      </p:sp>
      <p:sp>
        <p:nvSpPr>
          <p:cNvPr id="18" name="Text 16"/>
          <p:cNvSpPr/>
          <p:nvPr/>
        </p:nvSpPr>
        <p:spPr>
          <a:xfrm>
            <a:off x="6336792" y="3108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Grant a Change Manager the manageTemplates capability via the Permission Matrix</a:t>
            </a:r>
            <a:endParaRPr lang="en-US" sz="860" dirty="0"/>
          </a:p>
        </p:txBody>
      </p:sp>
      <p:sp>
        <p:nvSpPr>
          <p:cNvPr id="19" name="Text 17"/>
          <p:cNvSpPr/>
          <p:nvPr/>
        </p:nvSpPr>
        <p:spPr>
          <a:xfrm>
            <a:off x="6336792" y="3456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Verify tenant data isolation from a sibling Organization</a:t>
            </a:r>
            <a:endParaRPr lang="en-US" sz="860" dirty="0"/>
          </a:p>
        </p:txBody>
      </p:sp>
      <p:sp>
        <p:nvSpPr>
          <p:cNvPr id="20" name="Shape 18"/>
          <p:cNvSpPr/>
          <p:nvPr/>
        </p:nvSpPr>
        <p:spPr>
          <a:xfrm>
            <a:off x="548640" y="4206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.040951994947093e+156" dist="2.64035699810516e+156" dir="3.3418736347109347e+183">
              <a:srgbClr val="1B2E2B">
                <a:alpha val="1.8000000000000013e+189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13232" y="4343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C2661C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4343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WS-A2-3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166360" y="4343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13232" y="4645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a Group and Retire an Organization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13232" y="5047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Create a new Group and 2 child Organizations</a:t>
            </a:r>
            <a:endParaRPr lang="en-US" sz="860" dirty="0"/>
          </a:p>
        </p:txBody>
      </p:sp>
      <p:sp>
        <p:nvSpPr>
          <p:cNvPr id="26" name="Text 24"/>
          <p:cNvSpPr/>
          <p:nvPr/>
        </p:nvSpPr>
        <p:spPr>
          <a:xfrm>
            <a:off x="713232" y="5394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Seed each Organization with a Change Manager and a People Manager role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713232" y="5742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Deactivate a third, older Organization and record what happens to its data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6172200" y="4206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.942009033582808e+160" dist="3.353253387593553e+160" dir="2.0051241808265608e+188">
              <a:srgbClr val="1B2E2B">
                <a:alpha val="1.8000000000000013e+194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336792" y="4343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C2661C"/>
          </a:solidFill>
          <a:ln/>
        </p:spPr>
      </p:sp>
      <p:sp>
        <p:nvSpPr>
          <p:cNvPr id="30" name="Text 28"/>
          <p:cNvSpPr/>
          <p:nvPr/>
        </p:nvSpPr>
        <p:spPr>
          <a:xfrm>
            <a:off x="6336792" y="4343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WS-A2-4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0789920" y="4343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336792" y="4645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 Lesson Learned into Policy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336792" y="5047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Design a Justification Governance toggle policy for a new client scenario and document the rationale</a:t>
            </a:r>
            <a:endParaRPr lang="en-US" sz="860" dirty="0"/>
          </a:p>
        </p:txBody>
      </p:sp>
      <p:sp>
        <p:nvSpPr>
          <p:cNvPr id="34" name="Text 32"/>
          <p:cNvSpPr/>
          <p:nvPr/>
        </p:nvSpPr>
        <p:spPr>
          <a:xfrm>
            <a:off x="6336792" y="5394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Identify which capabilities should require justification and which should not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36792" y="5742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Take a seeded REX lesson-learned entry and translate it into a specific Permission Matrix change</a:t>
            </a:r>
            <a:endParaRPr lang="en-US" sz="860" dirty="0"/>
          </a:p>
        </p:txBody>
      </p:sp>
      <p:sp>
        <p:nvSpPr>
          <p:cNvPr id="36" name="Text 34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· TRN-A3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9966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— Leading a Full Transformation Program End-to-End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0835640" y="365760"/>
            <a:ext cx="566928" cy="566928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5" name="Image 0" descr="/home/user/scm-process-register/docs-src/curriculum-deck/assets/flag-checke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63656" y="493776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50876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810512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every module from M1–M22 into one coherent program simulation</a:t>
            </a:r>
            <a:endParaRPr lang="en-US" sz="1080" dirty="0"/>
          </a:p>
        </p:txBody>
      </p:sp>
      <p:sp>
        <p:nvSpPr>
          <p:cNvPr id="8" name="Text 5"/>
          <p:cNvSpPr/>
          <p:nvPr/>
        </p:nvSpPr>
        <p:spPr>
          <a:xfrm>
            <a:off x="548640" y="2377440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 a Phase Gate decision under Steering Committee questioning</a:t>
            </a:r>
            <a:endParaRPr lang="en-US" sz="1080" dirty="0"/>
          </a:p>
        </p:txBody>
      </p:sp>
      <p:sp>
        <p:nvSpPr>
          <p:cNvPr id="9" name="Text 6"/>
          <p:cNvSpPr/>
          <p:nvPr/>
        </p:nvSpPr>
        <p:spPr>
          <a:xfrm>
            <a:off x="548640" y="2944368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and resolve an injected multi-module crisis scenario</a:t>
            </a:r>
            <a:endParaRPr lang="en-US" sz="1080" dirty="0"/>
          </a:p>
        </p:txBody>
      </p:sp>
      <p:sp>
        <p:nvSpPr>
          <p:cNvPr id="10" name="Text 7"/>
          <p:cNvSpPr/>
          <p:nvPr/>
        </p:nvSpPr>
        <p:spPr>
          <a:xfrm>
            <a:off x="548640" y="3511296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a portfolio-level readiness briefing synthesizing all four frameworks</a:t>
            </a:r>
            <a:endParaRPr lang="en-US" sz="1080" dirty="0"/>
          </a:p>
        </p:txBody>
      </p:sp>
      <p:sp>
        <p:nvSpPr>
          <p:cNvPr id="11" name="Text 8"/>
          <p:cNvSpPr/>
          <p:nvPr/>
        </p:nvSpPr>
        <p:spPr>
          <a:xfrm>
            <a:off x="548640" y="415137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AUDIENCE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4443984"/>
            <a:ext cx="5257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Advanced-level candidates only — TRN-A1 and TRN-A2 completed</a:t>
            </a:r>
            <a:endParaRPr lang="en-US" sz="1080" dirty="0"/>
          </a:p>
        </p:txBody>
      </p:sp>
      <p:sp>
        <p:nvSpPr>
          <p:cNvPr id="13" name="Text 10"/>
          <p:cNvSpPr/>
          <p:nvPr/>
        </p:nvSpPr>
        <p:spPr>
          <a:xfrm>
            <a:off x="5989320" y="150876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AGENDA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89320" y="1783080"/>
            <a:ext cx="5623560" cy="1005840"/>
          </a:xfrm>
          <a:prstGeom prst="roundRect">
            <a:avLst>
              <a:gd name="adj" fmla="val 4545"/>
            </a:avLst>
          </a:prstGeom>
          <a:solidFill>
            <a:srgbClr val="F7E4D2"/>
          </a:solidFill>
          <a:ln/>
        </p:spPr>
      </p:sp>
      <p:sp>
        <p:nvSpPr>
          <p:cNvPr id="15" name="Text 12"/>
          <p:cNvSpPr/>
          <p:nvPr/>
        </p:nvSpPr>
        <p:spPr>
          <a:xfrm>
            <a:off x="6126480" y="181051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· AM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Setup Simulation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6172200" y="199339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Scenario briefing — a new manufacturing client launching an ERP + culture dual transformation (75m)</a:t>
            </a:r>
            <a:endParaRPr lang="en-US" sz="830" dirty="0"/>
          </a:p>
        </p:txBody>
      </p:sp>
      <p:sp>
        <p:nvSpPr>
          <p:cNvPr id="17" name="Text 14"/>
          <p:cNvSpPr/>
          <p:nvPr/>
        </p:nvSpPr>
        <p:spPr>
          <a:xfrm>
            <a:off x="6172200" y="221284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Team formation and role assignment (Change Manager, PMO, Sponsor-proxy) (45m)</a:t>
            </a:r>
            <a:endParaRPr lang="en-US" sz="830" dirty="0"/>
          </a:p>
        </p:txBody>
      </p:sp>
      <p:sp>
        <p:nvSpPr>
          <p:cNvPr id="18" name="Text 15"/>
          <p:cNvSpPr/>
          <p:nvPr/>
        </p:nvSpPr>
        <p:spPr>
          <a:xfrm>
            <a:off x="6172200" y="243230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QZ-A3-1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Scenario comprehension (8 items, 15m)</a:t>
            </a:r>
            <a:endParaRPr lang="en-US" sz="830" dirty="0"/>
          </a:p>
        </p:txBody>
      </p:sp>
      <p:sp>
        <p:nvSpPr>
          <p:cNvPr id="19" name="Text 16"/>
          <p:cNvSpPr/>
          <p:nvPr/>
        </p:nvSpPr>
        <p:spPr>
          <a:xfrm>
            <a:off x="6172200" y="2615184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WS-A3-1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Stand Up the Program (90m)</a:t>
            </a:r>
            <a:endParaRPr lang="en-US" sz="830" dirty="0"/>
          </a:p>
        </p:txBody>
      </p:sp>
      <p:sp>
        <p:nvSpPr>
          <p:cNvPr id="20" name="Shape 17"/>
          <p:cNvSpPr/>
          <p:nvPr/>
        </p:nvSpPr>
        <p:spPr>
          <a:xfrm>
            <a:off x="5989320" y="2834640"/>
            <a:ext cx="5623560" cy="786384"/>
          </a:xfrm>
          <a:prstGeom prst="roundRect">
            <a:avLst>
              <a:gd name="adj" fmla="val 5814"/>
            </a:avLst>
          </a:prstGeom>
          <a:solidFill>
            <a:srgbClr val="F7E4D2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2862072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· PM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Mid-Program Crisis Injection</a:t>
            </a:r>
            <a:endParaRPr lang="en-US" sz="980" dirty="0"/>
          </a:p>
        </p:txBody>
      </p:sp>
      <p:sp>
        <p:nvSpPr>
          <p:cNvPr id="22" name="Text 19"/>
          <p:cNvSpPr/>
          <p:nvPr/>
        </p:nvSpPr>
        <p:spPr>
          <a:xfrm>
            <a:off x="6172200" y="304495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Facilitator injects a crisis packet: Divergence Pattern, 2 systemic resistance entries, a saturation risk, a weak-sponsor-visibility signal (60m)</a:t>
            </a:r>
            <a:endParaRPr lang="en-US" sz="830" dirty="0"/>
          </a:p>
        </p:txBody>
      </p:sp>
      <p:sp>
        <p:nvSpPr>
          <p:cNvPr id="23" name="Text 20"/>
          <p:cNvSpPr/>
          <p:nvPr/>
        </p:nvSpPr>
        <p:spPr>
          <a:xfrm>
            <a:off x="6172200" y="3264408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QZ-A3-2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Crisis diagnosis (8 items, 15m)</a:t>
            </a:r>
            <a:endParaRPr lang="en-US" sz="830" dirty="0"/>
          </a:p>
        </p:txBody>
      </p:sp>
      <p:sp>
        <p:nvSpPr>
          <p:cNvPr id="24" name="Text 21"/>
          <p:cNvSpPr/>
          <p:nvPr/>
        </p:nvSpPr>
        <p:spPr>
          <a:xfrm>
            <a:off x="6172200" y="3447288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WS-A3-2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Triage the Crisis (120m)</a:t>
            </a:r>
            <a:endParaRPr lang="en-US" sz="830" dirty="0"/>
          </a:p>
        </p:txBody>
      </p:sp>
      <p:sp>
        <p:nvSpPr>
          <p:cNvPr id="25" name="Shape 22"/>
          <p:cNvSpPr/>
          <p:nvPr/>
        </p:nvSpPr>
        <p:spPr>
          <a:xfrm>
            <a:off x="5989320" y="3666744"/>
            <a:ext cx="5623560" cy="786384"/>
          </a:xfrm>
          <a:prstGeom prst="roundRect">
            <a:avLst>
              <a:gd name="adj" fmla="val 5814"/>
            </a:avLst>
          </a:prstGeom>
          <a:solidFill>
            <a:srgbClr val="F7E4D2"/>
          </a:solidFill>
          <a:ln/>
        </p:spPr>
      </p:sp>
      <p:sp>
        <p:nvSpPr>
          <p:cNvPr id="26" name="Text 23"/>
          <p:cNvSpPr/>
          <p:nvPr/>
        </p:nvSpPr>
        <p:spPr>
          <a:xfrm>
            <a:off x="6126480" y="3694176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6 · AM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Gate Defense</a:t>
            </a:r>
            <a:endParaRPr lang="en-US" sz="980" dirty="0"/>
          </a:p>
        </p:txBody>
      </p:sp>
      <p:sp>
        <p:nvSpPr>
          <p:cNvPr id="27" name="Text 24"/>
          <p:cNvSpPr/>
          <p:nvPr/>
        </p:nvSpPr>
        <p:spPr>
          <a:xfrm>
            <a:off x="6172200" y="3877056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Phase Gate mechanics recap and Steering Committee role-play briefing (45m)</a:t>
            </a:r>
            <a:endParaRPr lang="en-US" sz="830" dirty="0"/>
          </a:p>
        </p:txBody>
      </p:sp>
      <p:sp>
        <p:nvSpPr>
          <p:cNvPr id="28" name="Text 25"/>
          <p:cNvSpPr/>
          <p:nvPr/>
        </p:nvSpPr>
        <p:spPr>
          <a:xfrm>
            <a:off x="6172200" y="4096512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QZ-A3-3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Phase Gate defense readiness (8 items, 15m)</a:t>
            </a:r>
            <a:endParaRPr lang="en-US" sz="830" dirty="0"/>
          </a:p>
        </p:txBody>
      </p:sp>
      <p:sp>
        <p:nvSpPr>
          <p:cNvPr id="29" name="Text 26"/>
          <p:cNvSpPr/>
          <p:nvPr/>
        </p:nvSpPr>
        <p:spPr>
          <a:xfrm>
            <a:off x="6172200" y="4279392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WS-A3-3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Defend the Gate (150m)</a:t>
            </a:r>
            <a:endParaRPr lang="en-US" sz="830" dirty="0"/>
          </a:p>
        </p:txBody>
      </p:sp>
      <p:sp>
        <p:nvSpPr>
          <p:cNvPr id="30" name="Shape 27"/>
          <p:cNvSpPr/>
          <p:nvPr/>
        </p:nvSpPr>
        <p:spPr>
          <a:xfrm>
            <a:off x="5989320" y="4498848"/>
            <a:ext cx="5623560" cy="786384"/>
          </a:xfrm>
          <a:prstGeom prst="roundRect">
            <a:avLst>
              <a:gd name="adj" fmla="val 5814"/>
            </a:avLst>
          </a:prstGeom>
          <a:solidFill>
            <a:srgbClr val="F7E4D2"/>
          </a:solidFill>
          <a:ln/>
        </p:spPr>
      </p:sp>
      <p:sp>
        <p:nvSpPr>
          <p:cNvPr id="31" name="Text 28"/>
          <p:cNvSpPr/>
          <p:nvPr/>
        </p:nvSpPr>
        <p:spPr>
          <a:xfrm>
            <a:off x="6126480" y="4526280"/>
            <a:ext cx="5349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6 · PM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Briefing &amp; Program Close</a:t>
            </a:r>
            <a:endParaRPr lang="en-US" sz="980" dirty="0"/>
          </a:p>
        </p:txBody>
      </p:sp>
      <p:sp>
        <p:nvSpPr>
          <p:cNvPr id="32" name="Text 29"/>
          <p:cNvSpPr/>
          <p:nvPr/>
        </p:nvSpPr>
        <p:spPr>
          <a:xfrm>
            <a:off x="6172200" y="4709160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Executive-briefing best practices recap (45m)</a:t>
            </a:r>
            <a:endParaRPr lang="en-US" sz="830" dirty="0"/>
          </a:p>
        </p:txBody>
      </p:sp>
      <p:sp>
        <p:nvSpPr>
          <p:cNvPr id="33" name="Text 30"/>
          <p:cNvSpPr/>
          <p:nvPr/>
        </p:nvSpPr>
        <p:spPr>
          <a:xfrm>
            <a:off x="6172200" y="4928616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QZ-A3-4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Executive communication (8 items, 15m)</a:t>
            </a:r>
            <a:endParaRPr lang="en-US" sz="830" dirty="0"/>
          </a:p>
        </p:txBody>
      </p:sp>
      <p:sp>
        <p:nvSpPr>
          <p:cNvPr id="34" name="Text 31"/>
          <p:cNvSpPr/>
          <p:nvPr/>
        </p:nvSpPr>
        <p:spPr>
          <a:xfrm>
            <a:off x="6172200" y="5111496"/>
            <a:ext cx="5257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WS-A3-4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Brief and Close (150m)</a:t>
            </a:r>
            <a:endParaRPr lang="en-US" sz="830" dirty="0"/>
          </a:p>
        </p:txBody>
      </p:sp>
      <p:sp>
        <p:nvSpPr>
          <p:cNvPr id="35" name="Shape 32"/>
          <p:cNvSpPr/>
          <p:nvPr/>
        </p:nvSpPr>
        <p:spPr>
          <a:xfrm>
            <a:off x="5989320" y="5330952"/>
            <a:ext cx="5623560" cy="457200"/>
          </a:xfrm>
          <a:prstGeom prst="roundRect">
            <a:avLst>
              <a:gd name="adj" fmla="val 10000"/>
            </a:avLst>
          </a:prstGeom>
          <a:solidFill>
            <a:srgbClr val="15423A"/>
          </a:solidFill>
          <a:ln/>
        </p:spPr>
      </p:sp>
      <p:sp>
        <p:nvSpPr>
          <p:cNvPr id="36" name="Text 33"/>
          <p:cNvSpPr/>
          <p:nvPr/>
        </p:nvSpPr>
        <p:spPr>
          <a:xfrm>
            <a:off x="6126480" y="5330952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EXM-A3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Facilitator rubric across the 4 capstone workshops (25 pts each, 100 total) · pass mark 75/100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TRN-A3 · WORKSHOPS IN DETAIL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— Leading a Full Transformation Program End-to-End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1356351472650167e+165" dist="4.2586318022438123e+164" dir="1.2030745084959364e+193">
              <a:srgbClr val="1B2E2B">
                <a:alpha val="1.8000000000000013e+199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057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C2661C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057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WS-A3-1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166360" y="2057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13232" y="2359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the Program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13232" y="2761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Build the M1–M9 chain: hierarchy, charter, OBS, stakeholder map</a:t>
            </a:r>
            <a:endParaRPr lang="en-US" sz="860" dirty="0"/>
          </a:p>
        </p:txBody>
      </p:sp>
      <p:sp>
        <p:nvSpPr>
          <p:cNvPr id="10" name="Text 8"/>
          <p:cNvSpPr/>
          <p:nvPr/>
        </p:nvSpPr>
        <p:spPr>
          <a:xfrm>
            <a:off x="713232" y="3108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Set an initial ADKAR baseline for the scenario client</a:t>
            </a:r>
            <a:endParaRPr lang="en-US" sz="860" dirty="0"/>
          </a:p>
        </p:txBody>
      </p:sp>
      <p:sp>
        <p:nvSpPr>
          <p:cNvPr id="11" name="Text 9"/>
          <p:cNvSpPr/>
          <p:nvPr/>
        </p:nvSpPr>
        <p:spPr>
          <a:xfrm>
            <a:off x="713232" y="3456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Assign and document team roles for the simulation</a:t>
            </a:r>
            <a:endParaRPr lang="en-US" sz="860" dirty="0"/>
          </a:p>
        </p:txBody>
      </p:sp>
      <p:sp>
        <p:nvSpPr>
          <p:cNvPr id="12" name="Shape 10"/>
          <p:cNvSpPr/>
          <p:nvPr/>
        </p:nvSpPr>
        <p:spPr>
          <a:xfrm>
            <a:off x="6172200" y="1920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4422566370265713e+169" dist="5.408462388849642e+168" dir="7.218447050975619e+197">
              <a:srgbClr val="1B2E2B">
                <a:alpha val="1.8000000000000012e+204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36792" y="2057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C2661C"/>
          </a:solidFill>
          <a:ln/>
        </p:spPr>
      </p:sp>
      <p:sp>
        <p:nvSpPr>
          <p:cNvPr id="14" name="Text 12"/>
          <p:cNvSpPr/>
          <p:nvPr/>
        </p:nvSpPr>
        <p:spPr>
          <a:xfrm>
            <a:off x="6336792" y="2057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WS-A3-2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0789920" y="2057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120m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336792" y="2359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the Crisis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36792" y="2761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Diagnose the Divergence Pattern (M11) and the resistance entries (M16)</a:t>
            </a:r>
            <a:endParaRPr lang="en-US" sz="860" dirty="0"/>
          </a:p>
        </p:txBody>
      </p:sp>
      <p:sp>
        <p:nvSpPr>
          <p:cNvPr id="18" name="Text 16"/>
          <p:cNvSpPr/>
          <p:nvPr/>
        </p:nvSpPr>
        <p:spPr>
          <a:xfrm>
            <a:off x="6336792" y="3108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Assess the saturation risk (M12) and the sponsor-visibility signal (M13)</a:t>
            </a:r>
            <a:endParaRPr lang="en-US" sz="860" dirty="0"/>
          </a:p>
        </p:txBody>
      </p:sp>
      <p:sp>
        <p:nvSpPr>
          <p:cNvPr id="19" name="Text 17"/>
          <p:cNvSpPr/>
          <p:nvPr/>
        </p:nvSpPr>
        <p:spPr>
          <a:xfrm>
            <a:off x="6336792" y="3456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Log a justified response for each</a:t>
            </a:r>
            <a:endParaRPr lang="en-US" sz="860" dirty="0"/>
          </a:p>
        </p:txBody>
      </p:sp>
      <p:sp>
        <p:nvSpPr>
          <p:cNvPr id="20" name="Shape 18"/>
          <p:cNvSpPr/>
          <p:nvPr/>
        </p:nvSpPr>
        <p:spPr>
          <a:xfrm>
            <a:off x="548640" y="4206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8316659290237455e+173" dist="6.868747233839046e+172" dir="4.3310682305853715e+202">
              <a:srgbClr val="1B2E2B">
                <a:alpha val="1.800000000000001e+209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13232" y="4343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C2661C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4343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WS-A3-3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166360" y="4343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13232" y="4645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 the Gate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13232" y="5047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Record a Phase Gate Joint Decision reflecting the crisis-adjusted data</a:t>
            </a:r>
            <a:endParaRPr lang="en-US" sz="860" dirty="0"/>
          </a:p>
        </p:txBody>
      </p:sp>
      <p:sp>
        <p:nvSpPr>
          <p:cNvPr id="26" name="Text 24"/>
          <p:cNvSpPr/>
          <p:nvPr/>
        </p:nvSpPr>
        <p:spPr>
          <a:xfrm>
            <a:off x="713232" y="5394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Name and justify the Accountable role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713232" y="5742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Present the decision to a facilitator/peer panel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6172200" y="4206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.326215729860157e+177" dist="8.723308986975589e+176" dir="2.598640938351223e+207">
              <a:srgbClr val="1B2E2B">
                <a:alpha val="1.8000000000000013e+214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336792" y="4343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C2661C"/>
          </a:solidFill>
          <a:ln/>
        </p:spPr>
      </p:sp>
      <p:sp>
        <p:nvSpPr>
          <p:cNvPr id="30" name="Text 28"/>
          <p:cNvSpPr/>
          <p:nvPr/>
        </p:nvSpPr>
        <p:spPr>
          <a:xfrm>
            <a:off x="6336792" y="4343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WS-A3-4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0789920" y="4343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150m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336792" y="4645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and Close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336792" y="5047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Generate and edit an AI-assisted executive narrative</a:t>
            </a:r>
            <a:endParaRPr lang="en-US" sz="860" dirty="0"/>
          </a:p>
        </p:txBody>
      </p:sp>
      <p:sp>
        <p:nvSpPr>
          <p:cNvPr id="34" name="Text 32"/>
          <p:cNvSpPr/>
          <p:nvPr/>
        </p:nvSpPr>
        <p:spPr>
          <a:xfrm>
            <a:off x="6336792" y="5394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Present a 10-minute portfolio-level readiness briefing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36792" y="5742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Record a sustainment sign-off closing the simulated program</a:t>
            </a:r>
            <a:endParaRPr lang="en-US" sz="860" dirty="0"/>
          </a:p>
        </p:txBody>
      </p:sp>
      <p:sp>
        <p:nvSpPr>
          <p:cNvPr id="36" name="Text 34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NOTES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Facilitator logistics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1064240" cy="914400"/>
          </a:xfrm>
          <a:prstGeom prst="roundRect">
            <a:avLst>
              <a:gd name="adj" fmla="val 5000"/>
            </a:avLst>
          </a:prstGeom>
          <a:solidFill>
            <a:srgbClr val="EAF2EF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112264"/>
            <a:ext cx="621792" cy="621792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6" name="Image 0" descr="/home/user/scm-process-register/docs-src/curriculum-deck/assets/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225856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084832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size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617720" y="2084832"/>
            <a:ext cx="6858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at 12 participants per journi environment so every workshop step is individually completable, not just observed.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48640" y="3017520"/>
            <a:ext cx="11064240" cy="914400"/>
          </a:xfrm>
          <a:prstGeom prst="roundRect">
            <a:avLst>
              <a:gd name="adj" fmla="val 5000"/>
            </a:avLst>
          </a:prstGeom>
          <a:solidFill>
            <a:srgbClr val="EAF2EF"/>
          </a:solidFill>
          <a:ln/>
        </p:spPr>
      </p:sp>
      <p:sp>
        <p:nvSpPr>
          <p:cNvPr id="10" name="Shape 7"/>
          <p:cNvSpPr/>
          <p:nvPr/>
        </p:nvSpPr>
        <p:spPr>
          <a:xfrm>
            <a:off x="777240" y="3163824"/>
            <a:ext cx="621792" cy="621792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11" name="Image 1" descr="/home/user/scm-process-register/docs-src/curriculum-deck/assets/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331012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91640" y="3136392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617720" y="3136392"/>
            <a:ext cx="6858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cohort gets its own seeded Windows-installed journi instance (Atlas Industrial Group demo tenant); "Reset Demo Data" between cohorts, never mid-cohort.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48640" y="4069080"/>
            <a:ext cx="11064240" cy="914400"/>
          </a:xfrm>
          <a:prstGeom prst="roundRect">
            <a:avLst>
              <a:gd name="adj" fmla="val 5000"/>
            </a:avLst>
          </a:prstGeom>
          <a:solidFill>
            <a:srgbClr val="EAF2EF"/>
          </a:solidFill>
          <a:ln/>
        </p:spPr>
      </p:sp>
      <p:sp>
        <p:nvSpPr>
          <p:cNvPr id="15" name="Shape 11"/>
          <p:cNvSpPr/>
          <p:nvPr/>
        </p:nvSpPr>
        <p:spPr>
          <a:xfrm>
            <a:off x="777240" y="4215384"/>
            <a:ext cx="621792" cy="621792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16" name="Image 2" descr="/home/user/scm-process-register/docs-src/curriculum-deck/assets/user-gradua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" y="4361688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91640" y="4187952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Facilitator ratio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4617720" y="4187952"/>
            <a:ext cx="6858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lead facilitator per cohort; the Capstone (TRN-A3) requires a second facilitator to run the crisis-injection and panel-defense roles.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48640" y="5120640"/>
            <a:ext cx="11064240" cy="914400"/>
          </a:xfrm>
          <a:prstGeom prst="roundRect">
            <a:avLst>
              <a:gd name="adj" fmla="val 5000"/>
            </a:avLst>
          </a:prstGeom>
          <a:solidFill>
            <a:srgbClr val="EAF2EF"/>
          </a:solidFill>
          <a:ln/>
        </p:spPr>
      </p:sp>
      <p:sp>
        <p:nvSpPr>
          <p:cNvPr id="20" name="Shape 15"/>
          <p:cNvSpPr/>
          <p:nvPr/>
        </p:nvSpPr>
        <p:spPr>
          <a:xfrm>
            <a:off x="777240" y="5266944"/>
            <a:ext cx="621792" cy="621792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21" name="Image 3" descr="/home/user/scm-process-register/docs-src/curriculum-deck/assets/clo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5413248"/>
            <a:ext cx="329184" cy="32918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691640" y="5239512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Pacing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4617720" y="5239512"/>
            <a:ext cx="6858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Half-days run 3.5–4 hours including breaks; the golden-rule blocks (content → quiz → workshop → debrief) are not compressible.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54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PATHWAY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credentials, one continuous journey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520440" cy="3566160"/>
          </a:xfrm>
          <a:prstGeom prst="roundRect">
            <a:avLst>
              <a:gd name="adj" fmla="val 1299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1920240" y="2377440"/>
            <a:ext cx="777240" cy="777240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6" name="Image 0" descr="/home/user/scm-process-register/docs-src/curriculum-deck/assets/book-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0" y="256032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32461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365760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Certified Change Practitioner — Foundation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22960" y="525780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days · 3 trainings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114800" y="3611880"/>
            <a:ext cx="365760" cy="365760"/>
          </a:xfrm>
          <a:prstGeom prst="rightArrow">
            <a:avLst/>
          </a:prstGeom>
          <a:solidFill>
            <a:srgbClr val="C2661C"/>
          </a:solidFill>
          <a:ln/>
        </p:spPr>
      </p:sp>
      <p:sp>
        <p:nvSpPr>
          <p:cNvPr id="11" name="Shape 8"/>
          <p:cNvSpPr/>
          <p:nvPr/>
        </p:nvSpPr>
        <p:spPr>
          <a:xfrm>
            <a:off x="4480560" y="2103120"/>
            <a:ext cx="3520440" cy="3566160"/>
          </a:xfrm>
          <a:prstGeom prst="roundRect">
            <a:avLst>
              <a:gd name="adj" fmla="val 1299"/>
            </a:avLst>
          </a:prstGeom>
          <a:solidFill>
            <a:srgbClr val="FFFFFF"/>
          </a:solidFill>
          <a:ln/>
        </p:spPr>
      </p:sp>
      <p:sp>
        <p:nvSpPr>
          <p:cNvPr id="12" name="Shape 9"/>
          <p:cNvSpPr/>
          <p:nvPr/>
        </p:nvSpPr>
        <p:spPr>
          <a:xfrm>
            <a:off x="5852160" y="2377440"/>
            <a:ext cx="777240" cy="777240"/>
          </a:xfrm>
          <a:prstGeom prst="ellipse">
            <a:avLst/>
          </a:prstGeom>
          <a:solidFill>
            <a:srgbClr val="15423A"/>
          </a:solidFill>
          <a:ln/>
        </p:spPr>
      </p:sp>
      <p:pic>
        <p:nvPicPr>
          <p:cNvPr id="13" name="Image 1" descr="/home/user/scm-process-register/docs-src/curriculum-deck/assets/chalkboard-us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2560320"/>
            <a:ext cx="411480" cy="4114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663440" y="32461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Practitioner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4754880" y="365760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Certified Change Practitioner — Practitioner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4754880" y="525780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days · 3 trainings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8046720" y="3611880"/>
            <a:ext cx="365760" cy="365760"/>
          </a:xfrm>
          <a:prstGeom prst="rightArrow">
            <a:avLst/>
          </a:prstGeom>
          <a:solidFill>
            <a:srgbClr val="C2661C"/>
          </a:solidFill>
          <a:ln/>
        </p:spPr>
      </p:sp>
      <p:sp>
        <p:nvSpPr>
          <p:cNvPr id="18" name="Shape 14"/>
          <p:cNvSpPr/>
          <p:nvPr/>
        </p:nvSpPr>
        <p:spPr>
          <a:xfrm>
            <a:off x="8412480" y="2103120"/>
            <a:ext cx="3520440" cy="3566160"/>
          </a:xfrm>
          <a:prstGeom prst="roundRect">
            <a:avLst>
              <a:gd name="adj" fmla="val 1299"/>
            </a:avLst>
          </a:prstGeom>
          <a:solidFill>
            <a:srgbClr val="FFFFFF"/>
          </a:solidFill>
          <a:ln/>
        </p:spPr>
      </p:sp>
      <p:sp>
        <p:nvSpPr>
          <p:cNvPr id="19" name="Shape 15"/>
          <p:cNvSpPr/>
          <p:nvPr/>
        </p:nvSpPr>
        <p:spPr>
          <a:xfrm>
            <a:off x="9784080" y="2377440"/>
            <a:ext cx="777240" cy="777240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20" name="Image 2" descr="/home/user/scm-process-register/docs-src/curriculum-deck/assets/med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2560320"/>
            <a:ext cx="411480" cy="41148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595360" y="32461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8686800" y="365760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Certified Change Management Practitioner — Advanced</a:t>
            </a:r>
            <a:endParaRPr lang="en-US" sz="1050" dirty="0"/>
          </a:p>
        </p:txBody>
      </p:sp>
      <p:sp>
        <p:nvSpPr>
          <p:cNvPr id="23" name="Text 18"/>
          <p:cNvSpPr/>
          <p:nvPr/>
        </p:nvSpPr>
        <p:spPr>
          <a:xfrm>
            <a:off x="8686800" y="525780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days · 3 trainings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FE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25" name="Text 20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54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148840"/>
            <a:ext cx="777240" cy="777240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3" name="Image 0" descr="/home/user/scm-process-register/docs-src/curriculum-deck/assets/aw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322576"/>
            <a:ext cx="429768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30632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practice, not just the project.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685800" y="3886200"/>
            <a:ext cx="8686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8D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Academy — Human Change Management Curriculum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85800" y="6172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FA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POWERACT Consulting  ·  Confidential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2026-09-01T11:10:32Z</dcterms:created>
  <dcterms:modified xsi:type="dcterms:W3CDTF">2026-09-01T11:10:32Z</dcterms:modified>
</cp:coreProperties>
</file>
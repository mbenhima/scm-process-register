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curriculum-deck/assets/graduation-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Academy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85800" y="30632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Curriculum for Human Change Management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through hands-on workshops in journi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4297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8580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68880" y="4297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46888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51960" y="4297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25196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4297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03504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18120" y="42976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818120" y="4937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POWERACT Consulting  · 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levels, one continuous certification pathway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builds on the credential before it — Foundation fluency, Practitioner ownership, Advanced portfolio leadership.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3977640"/>
          </a:xfrm>
          <a:prstGeom prst="roundRect">
            <a:avLst>
              <a:gd name="adj" fmla="val 1266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04872"/>
            <a:ext cx="713232" cy="71323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curriculum-deck/assets/book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786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4672" y="3246120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 with journi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39776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 &amp; the journi Platform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04672" y="4507992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Emotional Readiness — ADKAR and the Human Journey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04672" y="5038344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Sponsorship, Communication &amp; Risk Basics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04672" y="5760720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 ·  3 trainings  ·  12 half-days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88536" y="2148840"/>
            <a:ext cx="3611880" cy="3977640"/>
          </a:xfrm>
          <a:prstGeom prst="roundRect">
            <a:avLst>
              <a:gd name="adj" fmla="val 1266"/>
            </a:avLst>
          </a:prstGeom>
          <a:solidFill>
            <a:srgbClr val="DCEEE8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44568" y="2404872"/>
            <a:ext cx="713232" cy="713232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16" name="Image 1" descr="/home/user/scm-process-register/docs-src/curriculum-deck/assets/chalkboard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57860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85816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544568" y="3246120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Change Program in journi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44568" y="39776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Governance — Charters, WBS &amp; Phase Gates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4544568" y="4507992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Resistance &amp; Coaching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4544568" y="5038344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in Change Management</a:t>
            </a:r>
            <a:endParaRPr lang="en-US" sz="1080" dirty="0"/>
          </a:p>
        </p:txBody>
      </p:sp>
      <p:sp>
        <p:nvSpPr>
          <p:cNvPr id="22" name="Text 18"/>
          <p:cNvSpPr/>
          <p:nvPr/>
        </p:nvSpPr>
        <p:spPr>
          <a:xfrm>
            <a:off x="4544568" y="5760720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 ·  3 trainings  ·  12 half-days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28432" y="2148840"/>
            <a:ext cx="3611880" cy="3977640"/>
          </a:xfrm>
          <a:prstGeom prst="roundRect">
            <a:avLst>
              <a:gd name="adj" fmla="val 1266"/>
            </a:avLst>
          </a:prstGeom>
          <a:solidFill>
            <a:srgbClr val="F7E4D2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84464" y="2404872"/>
            <a:ext cx="713232" cy="713232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25" name="Image 2" descr="/home/user/scm-process-register/docs-src/curriculum-deck/assets/me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78608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25712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8284464" y="3246120"/>
            <a:ext cx="3099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Change Portfolios &amp; Sustaining Impact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284464" y="397764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Analytics, Benchmarking &amp; Executive Reporting</a:t>
            </a:r>
            <a:endParaRPr lang="en-US" sz="1080" dirty="0"/>
          </a:p>
        </p:txBody>
      </p:sp>
      <p:sp>
        <p:nvSpPr>
          <p:cNvPr id="29" name="Text 24"/>
          <p:cNvSpPr/>
          <p:nvPr/>
        </p:nvSpPr>
        <p:spPr>
          <a:xfrm>
            <a:off x="8284464" y="4507992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Sustainment, Governance &amp; Platform Administration</a:t>
            </a:r>
            <a:endParaRPr lang="en-US" sz="1080" dirty="0"/>
          </a:p>
        </p:txBody>
      </p:sp>
      <p:sp>
        <p:nvSpPr>
          <p:cNvPr id="30" name="Text 25"/>
          <p:cNvSpPr/>
          <p:nvPr/>
        </p:nvSpPr>
        <p:spPr>
          <a:xfrm>
            <a:off x="8284464" y="5038344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Leading a Full Transformation Program End-to-End</a:t>
            </a:r>
            <a:endParaRPr lang="en-US" sz="1080" dirty="0"/>
          </a:p>
        </p:txBody>
      </p:sp>
      <p:sp>
        <p:nvSpPr>
          <p:cNvPr id="31" name="Text 26"/>
          <p:cNvSpPr/>
          <p:nvPr/>
        </p:nvSpPr>
        <p:spPr>
          <a:xfrm>
            <a:off x="8284464" y="5760720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 ·  3 trainings  ·  12 half-days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Rule: every half-day, one quiz, one workshop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always immediately checked, then immediately applied — no half-day passes without both.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0048" cy="2743200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0764" y="256032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7" name="Image 0" descr="/home/user/scm-process-register/docs-src/curriculum-deck/assets/book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27249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8328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 min per session. Concepts taught directly against the live journi application, not slides alone.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236976" y="3429000"/>
            <a:ext cx="292608" cy="320040"/>
          </a:xfrm>
          <a:prstGeom prst="rightArrow">
            <a:avLst/>
          </a:prstGeom>
          <a:solidFill>
            <a:srgbClr val="5C6D68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2331720"/>
            <a:ext cx="2670048" cy="2743200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0852" y="256032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13" name="Image 1" descr="/home/user/scm-process-register/docs-src/curriculum-deck/assets/circle-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272491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338328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21608" y="379476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min, 8 items. A short formative check — did the concept land before we apply it?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227064" y="3429000"/>
            <a:ext cx="292608" cy="320040"/>
          </a:xfrm>
          <a:prstGeom prst="rightArrow">
            <a:avLst/>
          </a:prstGeom>
          <a:solidFill>
            <a:srgbClr val="5C6D68"/>
          </a:solidFill>
          <a:ln/>
        </p:spPr>
      </p:sp>
      <p:sp>
        <p:nvSpPr>
          <p:cNvPr id="17" name="Shape 13"/>
          <p:cNvSpPr/>
          <p:nvPr/>
        </p:nvSpPr>
        <p:spPr>
          <a:xfrm>
            <a:off x="6528816" y="2331720"/>
            <a:ext cx="2670048" cy="2743200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20940" y="2560320"/>
            <a:ext cx="685800" cy="68580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9" name="Image 2" descr="/home/user/scm-process-register/docs-src/curriculum-deck/asset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532" y="272491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65976" y="338328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711696" y="379476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90–150 min. Hands-on in journi against a realistic scenario. This is where the skill is actually built.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217152" y="3429000"/>
            <a:ext cx="292608" cy="320040"/>
          </a:xfrm>
          <a:prstGeom prst="rightArrow">
            <a:avLst/>
          </a:prstGeom>
          <a:solidFill>
            <a:srgbClr val="5C6D68"/>
          </a:solidFill>
          <a:ln/>
        </p:spPr>
      </p:sp>
      <p:sp>
        <p:nvSpPr>
          <p:cNvPr id="23" name="Shape 18"/>
          <p:cNvSpPr/>
          <p:nvPr/>
        </p:nvSpPr>
        <p:spPr>
          <a:xfrm>
            <a:off x="9518904" y="2331720"/>
            <a:ext cx="2670048" cy="2743200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511028" y="2560320"/>
            <a:ext cx="685800" cy="68580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25" name="Image 3" descr="/home/user/scm-process-register/docs-src/curriculum-deck/assets/list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5620" y="2724912"/>
            <a:ext cx="356616" cy="3566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56064" y="338328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701784" y="3794760"/>
            <a:ext cx="2304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min. What worked, what didn't, and how it connects to the next half-day.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stack: formative Quiz (per half-day) → summative Training Exam (per training) → integrative Level Exam (per level, gates progression to the next level).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POLICY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marks, retakes and credentials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3200400"/>
                <a:gridCol w="1371600"/>
                <a:gridCol w="25603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6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Retake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half-day (36 total)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MCQ, closed-book, 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— no pass 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for facilitator pacing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Exam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training (9 total)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35–45 MCQ + 1 practical/case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free retake after 48h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Exam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level (3 total)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60–80 MCQ + integrated practical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retake after a 1-week remediation 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Rubric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TRN-A3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Facilitator-scored, 4 × 25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6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/ 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4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Re-attempt at next capstone cohort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awarded: journi Certified Change Practitioner — Foundation / Practitioner, and journi Certified Change Management Practitioner — Advanced, each on passing that level's Level Exam.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64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LVL-F  ·  LEVEL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curriculum-deck/assets/book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60020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 with journi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Change Managers, HR Business Partners, PMO members, People Managers — no prior journi experience required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148840"/>
            <a:ext cx="5623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3042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6060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journi with fluency, explain the 4 core frameworks, and read a project's stakeholder, ADKAR and emotional-readiness data correctly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206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IN THIS LEVEL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 &amp; the journi Platform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9194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TRN-F2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Emotional Readiness — ADKAR and the Human Journey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2669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TRN-F3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Sponsorship, Communication &amp; Risk Basics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15423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EXM-LVL-F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MCQ (drawn from TRN-F1–F3) + 1 guided practical in journi · 4h · pass mark 80% · unlocks Practitioner enrollment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TRN-F1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 &amp; the journi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curriculum-deck/asset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~70% of transformations fail on the human side and how ADKAR, Kotter, Lewin and Bridges/Kübler-Ross address it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journi's tenant hierarchy (Group / Organization / Project) and role-based access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Organizational Breakdown Structure (OBS) and the Macro Process / SIPOC / RACSI registry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Assistive / Augmented AI governance model and why Autonomous AI is out of scope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Change Managers, HR Business Partners, PMO members, People Managers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 Management, Why journi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human side of transformation — the ~70% stat, root causes, the 4 frameworks at a glance (75m)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tour — scope switcher, Sidebar sections, multilingual UI (EN/FR/AR) (45m)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QZ-F1-1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Framework definitions + platform navigation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Stand Up a Tenant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Backbone &amp; Governed AI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Processes, SIPOC &amp; RACSI — the 10 macro processes, E2E registry, reading a RACSI grid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 and the AI Use Case Library — resourcing roster vs. RBAC users; Assistive vs. Augmented tiers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QZ-F1-2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RACSI role codes + AI tier definitions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Read the Process Backbone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Program Layer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Initiative Registry &amp; CM Charters — how a program is registered and chartered, reading (not yet editing) a charter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WBS, Gantt &amp; Phase Gates at a glance — reading a program's schedule and phase-gate status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QZ-F1-3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Program layer terms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Read a Program's Status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Dashboards &amp; the Field Notebook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Metrics &amp; Analytics Dashboard — reading the ADKAR heatmap and adoption curve (reference-only at this level) (45m)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 Notes — the practitioner's scratchpad, and the multilingual UI (EN/FR/AR)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QZ-F1-4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Dashboard reading + Field Notes scope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Read a Dashboard, Log a Field Note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EXM-F1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MCQ + 2 short-answer · 75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TRN-F1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Foundations &amp; the journi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Tenant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Group and an Organization for a new manufacturing client scenario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Register a Main Project and a linked Change Management Project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the Organization's Default Language and explain the precedence rule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Process Backbone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a 4-role OBS roster with a reporting chain for the scenario project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Trace one End-to-End process chain through its ordered Macro Processes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 3 AI Use Case Library entries and classify tier + human checkpoint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Program's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 seeded Initiative Registry entry and its CM Charter, identify the Lewin macro-state and top charter action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the linked WBS/Gantt view and identify 2 tasks with a schedule gap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the current Phase Gate status and who owns the next decision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WS-F1-4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Dashboard, Log a Field Note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the Metrics &amp; Analytics Dashboard for the seeded project and identify the ADKAR heatmap's weakest block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the adoption curve's current trend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a Field Note capturing an observation from the review (not a structured record)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TRN-F2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Emotional Readiness — ADKAR and the Human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curriculum-deck/assets/chart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interpret the 5 ADKAR blocks with barrier diagnosis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stakeholder impact / influence and identify high-impact / low-influence risk populations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Bridges Transition and Kübler-Ross sentiment positions and recognize the Divergence Pattern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Journey Map as a synthesis of ADKAR, Bridges and Kübler-Ross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Managers, People Managers / Coaches, Training Leads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 &amp; ADKAR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&amp; Impact Mapping — 5-dimension scoring, influence, the High-Impact/Low-Influence flag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ADKAR Engine — 5 blocks, barrier diagnosis, stalled-block escalation, the Desire-diagnosis AI coach (60m)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QZ-F2-1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ADKAR blocks + impact scoring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Map and Score a Cohort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Readiness &amp; the Journey Map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Emotional &amp; Transition Layer — Bridges position, Kübler-Ross sentiment inference, the Divergence Pattern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Journey Map — reading the visual timeline, event types, organization-level zoom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QZ-F2-2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Bridges/Kübler-Ross + Divergence Pattern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Diagnose a Divergence Case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&amp; Touchpoints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Journeys &amp; Analytics — the 8 seeded journeys, touchpoint completion, reference dashboards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&amp; the AI Annotation Assistant — reading and accepting an AI-suggested journey annotation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QZ-F2-3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Journeys + AI annotation tier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Read a Journey, Accept an AI Suggestion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Resistance Early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Resistance Management — the type taxonomy, at recognition level (not yet coding it) (45m)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Manager-as-Coach — the team-scoped view a People Manager sees, and how it links to ADKAR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QZ-F2-4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Resistance types + Manager-as-Coach view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Recognize a Resistance Type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EXM-F2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MCQ + 2 case-based scenarios · 90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TRN-F2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Emotional Readiness — ADKAR and the Human Journey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Score a Cohort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a new stakeholder group to the seeded ERP scenario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Score its 5-dimension impact and influence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 the High-Impact / Low-Influence flag fires correctly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 Divergence Case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Given strong Knowledge/Ability but an "Ending" Bridges read, confirm the Divergence Alert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a justified sentiment update citing specific evidence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an annotated Journey Map event for the diagnosis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Journey, Accept an AI Suggestion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 seeded journey and identify its touchpoint-completion percentage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which touchpoint has the lowest completion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the Journey Map Annotation Assistant, accept the suggestion, edit it, and log the source annotation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WS-F2-4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 Resistance Type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3 short resistance scenarios and classify each by type (recognition only, no logging)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the Manager-as-Coach team-scoped view for a seeded manager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the team member with the lowest ADKAR score and the linked resistance entry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TRN-F3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Sponsorship, Communication &amp; Risk Basics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5" name="Image 0" descr="/home/user/scm-process-register/docs-src/curriculum-deck/assets/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sponsor visibility and log sponsor actions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communication matrix and recognize saturation risk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score change risk distinct from generic project risk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Notification Center to monitor live alert conditions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Managers, Communications Practitioners, PMO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&amp; Coalition, Communications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Sponsor &amp; Coalition — visibility tracker, coalition roster, sponsor actions, the weak-visibility alert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Communications — the message × audience × channel × timing matrix, saturation detection (60m)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QZ-F3-1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Sponsorship visibility + communication matrix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Plan a Communication Wave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the Notification Center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Risk Register — adoption/sponsorship/capacity/saturation categories, risk score, mitigation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 Center — the 9 live alert conditions, dismiss/restore, tracing an alert to its module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QZ-F3-2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Risk categories + live alert conditions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Close the Loop on a Risk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Capability, at a Glance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&amp; Capability — curriculum records, the trained-vs-capable distinction (reading level) (45m)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Codebook — how resistance and communication data get tagged consistently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QZ-F3-3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Training records + codebook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Read a Curriculum Record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EAF2EF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 Basics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Reinforcement &amp; Sustainment — the 30/60/90-day checkpoint cadence (recognition level) (45m)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Putting It Together — reading a project's overall readiness across sponsor, comms, risk and training signals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QZ-F3-4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Sustainment cadence + readiness synthesis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Assemble a Readiness Snapshot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EXM-F3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MCQ · 90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TRN-F3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Sponsorship, Communication &amp; Risk Basics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Communication Wave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a 3-message communication matrix for a target cohort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the Change Saturation Advisor AI use case and interpret its flag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 a sponsor action addressing an identified visibility gap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on a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a saturation risk with likelihood/impact scoring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a mitigation action with an owner and due date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the corresponding alert fires in the Notification Center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Curriculum Record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 seeded curriculum record and identify completion % vs. certification status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one trainee marked "attended" but not yet "capable" and explain the gap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Look up 2 tags in the organization's default Codebook and explain what each is used for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F6459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WS-F3-4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Readiness Snapshot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the sustainment checkpoint tracker and identify the next due checkpoint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Pull one signal each from sponsor visibility, communication saturation, risk register, and training completion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Draft a 4-line readiness snapshot combining all signals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LVL-P  ·  LEVEL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4" name="Image 0" descr="/home/user/scm-process-register/docs-src/curriculum-deck/assets/chalkboard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60020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Change Program in journi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or certified Change Managers who will own a real Change Management Project end-to-end. Prerequisite: Foundation credential.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148840"/>
            <a:ext cx="5623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3042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6060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 program from charter through Phase Gate decisions, manage training/resistance/coaching data, and operate governed AI safely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206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IN THIS LEVEL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TRN-P1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Governance — Charters, WBS &amp; Phase Gates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9194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TRN-P2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Resistance &amp; Coaching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2669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TRN-P3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in Change Management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15423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EXM-LVL-P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MCQ (drawn from TRN-P1–P3) + 1 integrated practical (Phase Gate + resistance pattern + AI activation decision) · 4.5h · pass mark 80% · unlocks Advanced enrollment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· TRN-P1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Governance — Charters, WBS &amp; Phase Gates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5" name="Image 0" descr="/home/user/scm-process-register/docs-src/curriculum-deck/asset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manage a Change Management Project and its Initiative Registry record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Phase Template and build a WBS spanning PM / CM / Framework tracks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interpret a Phase Gate Joint Decision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and manage CM Charter definitions and their compliance log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Managers, PMO / Program Managers (Foundation credential required)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Registry &amp; Charters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Initiative Registry — metadata, Lewin macro-state, the justified-change pattern, Composite Readiness Index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 Charter Registry — the 8 charters, action mapping, compliance logging, Mentoring Progression reference (60m)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QZ-P1-1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Lewin phases + charter structure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Register and Charter a New Initiative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WBS, Gantt &amp; Phase Gates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WBS &amp; Gantt — 3 tracks, baseline vs. actual, schedule gap, Load Phase Template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Checklists &amp; Phase Gates — checklist weighting, the Joint Decision Record, PM↔CM bridge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QZ-P1-2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WBS tracks + Phase Gate mechanics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Run a Phase Gate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Stakeholder Integration at Program Level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Risk Register — scoring, mitigation action plans, linking risk to Phase Gate readiness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Stakeholder &amp; Impact Mapping — refreshing the map at each Phase Gate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QZ-P1-3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Risk scoring + stakeholder refresh cadence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Build a Mitigation Action Plan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Planning for a Gate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Communications — building a wave plan timed to a Phase Gate decision (60m)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Sponsor &amp; Coalition — briefing the sponsor before a gate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QZ-P1-4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Communication wave planning + sponsor briefing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Time a Communication Wave to a Gate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EXM-P1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MCQ + 1 practical (record a Phase Gate end-to-end) · 120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TRN-P1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Governance — Charters, WBS &amp; Phase Gates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Charter a New Initiative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CM Project linked to a Main Project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its Lewin macro-state with a written justification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 2 charter-action compliance instances against CHTR-01 and CHTR-03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Phase 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TPL-ERP-8 into a project's WBS from a chosen start date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Mark 2 tasks with actual dates to generate a schedule gap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Complete a weighted Phase Checklist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Mitigation Action Plan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a new change risk with a full 4-category score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Mitigation Action Plan with at least 2 actions and owners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Link the risk to the upcoming Phase Gate decision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WS-P1-4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 Communication Wave to a Gate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a 3-message communication wave ending 2 days before the Phase Gate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the wave against saturation risk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 a sponsor briefing action ahead of the gate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· TRN-P2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Resistance &amp; Coaching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5" name="Image 0" descr="/home/user/scm-process-register/docs-src/curriculum-deck/assets/graduation-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curriculum records and the trained-vs-capable distinction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classify and resolve resistance; use the Qualitative Coding Workbench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the Manager-as-Coach team-scoped view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3-stage Mentoring Progression model (Trainee → Observer → Autonomous)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Managers, Trainers, People Managers / Coaches (Foundation credential required)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Capability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&amp; Capability Building — curriculum fields, completion vs. certification, the needs banner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Mentoring Progression model — 3 stages, entry/exit criteria, the one-stage-back regression path (60m)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QZ-P2-1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Trained vs. capable + mentoring stages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Build a Curriculum and Mentor a Trainee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&amp; Coaching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Resistance Management — type classification, systemic-pattern detection, Coding Workbench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Manager-as-Coach — team-scoped heatmap, manager readiness, coaching scripts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QZ-P2-2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Resistance types + coaching model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Code a Pattern, Coach a Manager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Pattern Detection at Scale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Qualitative Coding Workbench — batch-coding a set of resistance entries, not just one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Linking Resistance to Training Gaps — using the trained-vs-capable data to explain a resistance pattern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QZ-P2-3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Batch coding + resistance-training linkage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Batch-Code a Resistance Set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 Team, Not Just a Manager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Manager-as-Coach at team scale — reading a full team heatmap and prioritizing coaching effort (60m)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Mentoring Progression — advancing multiple mentees and handling a regression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QZ-P2-4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Team-scale coaching + mentee regression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Prioritize and Coach a Team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EXM-P2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MCQ + 1 case study · 90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TRN-P2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Resistance &amp; Coaching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Curriculum and Mentor a Trainee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a curriculum record and track completion percentage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Certify it with a justification distinct from completion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Move a mentee from Trainee to Observer with logged competency evidence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 Pattern, Coach a Manager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 2 systemic-type resistance entries to trigger the pattern-detection banner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Tag both entries against the organization's codebook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Cross-reference one tag to an existing resistance-log barrier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Batch-Code a Resistance 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Code 5 seeded resistance entries against the organization's Codebook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the systemic-pattern banner fires correctly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Cross-reference the pattern against the curriculum's completion data for the affected team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WS-P2-4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and Coach a Team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the team-scoped Manager-as-Coach heatmap and rank 4 team members by coaching priority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a coaching script action for the top-priority member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Advance one mentee from Observer to Autonomous with logged evidence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· TRN-P3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in Change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5" name="Image 0" descr="/home/user/scm-process-register/docs-src/curriculum-deck/assets/shield-halv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the AI Use Case Library's activation / override model (organization vs. project)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Assistive / Augmented tier discipline correctly to a new use case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audit the AI Usage Log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— safely — the optional Real LLM Provider Connection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Managers, Organization Admins (Foundation credential required)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Model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Tiers &amp; catalog structure — Assistive vs. Augmented vs. out-of-scope Autonomous; prompt templates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Activation &amp; override — organization-level activation, project-level override, deactivation behavior (60m)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QZ-P3-1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AI tiers + activation model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Govern a Use Case Rollout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Audit &amp; Provider Connection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Usage Log — accepted / edited / rejected outcomes, what governance reporting looks for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LLM Provider Connection — browser-local key storage, fallback behavior, when (not) to configure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QZ-P3-2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Usage audit + provider connection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Audit and Decide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at Scale — Conflicts &amp; Escalation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Resolving activation conflicts — when an org-level activation meets a project-level override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Use Case prompt templates — reading and safely adapting a template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QZ-P3-3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Activation conflicts + prompt templates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Resolve an Activation Conflict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DCEEE8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the Real LLM Provider Connection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lifecycle — configuring, rotating and removing a Real LLM Provider key; browser-local storage implications (45m)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behavior — what happens to AI suggestions when the connection is removed or fails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QZ-P3-4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Key lifecycle + fallback behavior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Rotate a Provider Key and Verify Fallback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EXM-P3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MCQ + 1 governance-memo exercise · 90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TRN-P3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in Change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 Use Case Rollout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Activate 3 AI use cases for an Organization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Override one use case off for a single sensitive project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a short justification note for the override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Decide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Review a sample AI Usage Log across several use cases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the use case with the highest rejection rate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Draft a one-paragraph governance recommendation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an Activation Conflict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Given an org-level activation and a conflicting project override, determine which wins and why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 the resolution with a justification note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 an AI Use Case prompt template and adapt it for a new scenario without changing its tier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15423A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WS-P3-4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Provider Key and Verify Fallback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Configure a Real LLM Provider key for a test Organization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Rotate the key and confirm the old key no longer works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Remove the connection entirely and generate an AI suggestion, confirming fallback behavior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26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LVL-A  ·  LEVEL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22960" cy="822960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4" name="Image 0" descr="/home/user/scm-process-register/docs-src/curriculum-deck/assets/me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60020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Change Portfolios &amp; Sustaining Impact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4924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042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Change Managers, Change Management Leads, PMO Directors, Organization/Group Admins managing multiple concurrent initiatives. Prerequisite: Practitioner credential.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148840"/>
            <a:ext cx="5623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3042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606040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portfolio-level readiness to executives, administer platform governance, and lead a full transformation program end-to-end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206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IN THIS LEVEL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TRN-A1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Analytics, Benchmarking &amp; Executive Reporting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49194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TRN-A2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Sustainment, Governance &amp; Platform Administration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26694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TRN-A3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8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Leading a Full Transformation Program End-to-End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15423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EXM-LVL-A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facilitator rubric (4 workshops, 25 pts each) + 60-MCQ integrative written exam (TRN-A1–A2) · pass: written ≥80% AND rubric ≥75/100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TRN-A1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Analytics, Benchmarking &amp; Executive Reporting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curriculum-deck/assets/chart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up readiness at Project / Organization / Group level correctly per RBAC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Composite Readiness Index and phase-based benchmarking standing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Cross-Type Comparison Matrix to advise on a new transformation type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and review an AI-drafted Executive Readiness Narrative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Change Managers, Executive Viewers, PMO Directors (Practitioner credential required)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Benchmarking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Metrics &amp; Analytics Dashboard — roll-up levels, ADKAR heatmap, adoption curve, sentiment correlation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Benchmarking tab — reference bands by Lewin phase, peer average, Behind / In Line / Ahead standing (60m)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QZ-A1-1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Roll-up levels + benchmarking standing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Benchmark a Portfolio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Journeys, Touchpoints &amp; Executive Narrative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Journeys, Touchpoints &amp; Analytics — the 8 journeys, live DASH-01/02 metrics, reference-only dashboards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Cross-Type Comparison Matrix + the Executive Readiness Narrative Generator AI use case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QZ-A1-2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Journey dashboards + cross-type matrix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Brief the Steering Committee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Portfolio Rollups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up readiness at Group level across multiple Organizations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Cross-Type Matrix — advising on 2 different transformation types in the same portfolio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QZ-A1-3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Group rollups + cross-type advising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Roll Up a Group Portfolio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Multi-Project Executive Briefing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Assembling a multi-project executive narrative — combining several AI-drafted narratives into one briefing (60m)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Handling executive questions — defending a readiness number under scrutiny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QZ-A1-4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Multi-project narrative + defending a number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Brief on a Multi-Project Portfolio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EXM-A1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MCQ + 1 executive-memo practical · 90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TRN-A1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Analytics, Benchmarking &amp; Executive Reporting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 Organization level, compare 3 seeded projects' Readiness Index against their phase bands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Compare each against the peer average and record its standing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the one project reading "Behind" and articulate why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11439157936445e+136" dist="7.991789684226167e+135" dir="4.297676999371057e+159">
              <a:srgbClr val="1B2E2B">
                <a:alpha val="1.800000000000001e+16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Steering Committee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JRN-01 touchpoint completion for a project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an AI-drafted executive narrative and edit it for accuracy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the correct Cross-Type Matrix row to justify a timeline expectation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065527730579285e+140" dist="1.0149572898967231e+140" dir="2.5786061996226343e+164">
              <a:srgbClr val="1B2E2B">
                <a:alpha val="1.800000000000001e+16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Up a Group Portfolio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 Group level, roll up the Composite Readiness Index across 3 Organizations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the weakest Organization and its phase-based benchmarking standing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2 different transformation types in the portfolio, pull the correct Cross-Type Matrix row for each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373220217835694e+144" dist="1.2889957581688384e+144" dir="1.5471637197735807e+169">
              <a:srgbClr val="1B2E2B">
                <a:alpha val="1.800000000000001e+17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WS-A1-4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on a Multi-Project Portfolio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AI-drafted executive narratives for 2 projects and merge them into one briefing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Edit the merged narrative for accuracy and tone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Prepare 2 backup data points to defend the lowest readiness figure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TRN-A2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Sustainment, Governance &amp; Platform Administration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curriculum-deck/asset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30/60/90-day sustainment checkpoints and institutionalize lessons learned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the runtime Permission Matrix and Justification Governance toggle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multi-tenant hierarchy and manage cross-organization user scope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Field Notes appropriately as a practitioner scratchpad, not a system-of-record substitute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Change Managers, Organization / Group Admins, Super Admins (Practitioner credential required)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 &amp; Field Notes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Reinforcement &amp; Sustainment — checkpoints, regression risk, quick wins, the REX lessons-learned log (60m)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 Notes — when to use it vs. a structured module (45m)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QZ-A2-1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Sustainment checkpoints + Field Notes scope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Close Out a Program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Governance &amp; Administration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Permission Matrix &amp; Governance Settings — 9 roles × 8 capabilities, the Super-Admin-only edit gate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hierarchy administration — Group/Organization scope, cascading delete, data isolation (60m)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83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QZ-A2-2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Permission Matrix + tenant isolation (8 items, 15m)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6172200" y="366674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Administer a New Business Unit (90m)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5989320" y="388620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27" name="Text 24"/>
          <p:cNvSpPr/>
          <p:nvPr/>
        </p:nvSpPr>
        <p:spPr>
          <a:xfrm>
            <a:off x="6126480" y="391363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Tenant Lifecycle Administration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Standing up a new Group and its first Organizations, RBAC seeding (60m)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31596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Deactivating and archiving a tenant safely — data retention and cascading effects (45m)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6172200" y="453542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QZ-A2-3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Group setup + safe deactivation (8 items, 15m)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6172200" y="4718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Stand Up a Group and Retire an Organization (90m)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5989320" y="493776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49651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Policy Design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6172200" y="514807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Designing a Justification Governance toggle policy for a new client, and the Super-Admin-only edit gate (60m)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6172200" y="536752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Turning a REX lesson-learned into a permanent policy change (45m)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6172200" y="55869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QZ-A2-4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Justification policy design + REX-to-policy (8 items, 15m)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6172200" y="576986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Turn a Lesson Learned into Policy (90m)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5989320" y="5989320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9" name="Text 36"/>
          <p:cNvSpPr/>
          <p:nvPr/>
        </p:nvSpPr>
        <p:spPr>
          <a:xfrm>
            <a:off x="6126480" y="598932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EXM-A2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MCQ + 1 admin-configuration practical · 90 min · pass mark 75%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TRN-A2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Sustainment, Governance &amp; Platform Administration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53989676651333e+148" dist="1.6370246128744248e+148" dir="9.282982318641485e+173">
              <a:srgbClr val="1B2E2B">
                <a:alpha val="1.800000000000001e+1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Out a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 the 90-day sustainment checkpoint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2 lessons learned — one linked to a Rule/Charter, one left pending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Toggle sustainment sign-off with a written justification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54405668893472e+152" dist="2.0790212583505195e+152" dir="5.569789391184891e+178">
              <a:srgbClr val="1B2E2B">
                <a:alpha val="1.8000000000000012e+18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a New Business Unit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new Organization under an existing Group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Grant a Change Manager the manageTemplates capability via the Permission Matrix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tenant data isolation from a sibling Organization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040951994947093e+156" dist="2.64035699810516e+156" dir="3.3418736347109347e+183">
              <a:srgbClr val="1B2E2B">
                <a:alpha val="1.8000000000000013e+18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Group and Retire an Organization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new Group and 2 child Organizations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Seed each Organization with a Change Manager and a People Manager role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Deactivate a third, older Organization and record what happens to its data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942009033582808e+160" dist="3.353253387593553e+160" dir="2.0051241808265608e+188">
              <a:srgbClr val="1B2E2B">
                <a:alpha val="1.8000000000000013e+19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WS-A2-4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Lesson Learned into Policy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Design a Justification Governance toggle policy for a new client scenario and document the rationale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which capabilities should require justification and which should not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Take a seeded REX lesson-learned entry and translate it into a specific Permission Matrix change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TRN-A3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Leading a Full Transformation Program End-to-End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835640" y="365760"/>
            <a:ext cx="566928" cy="566928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5" name="Image 0" descr="/home/user/scm-process-register/docs-src/curriculum-deck/assets/flag-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56" y="49377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810512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every module from M1–M22 into one coherent program simulation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 Phase Gate decision under Steering Committee questioning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548640" y="2944368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resolve an injected multi-module crisis scenario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548640" y="3511296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 portfolio-level readiness briefing synthesizing all four frameworks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443984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Advanced-level candidates only — TRN-A1 and TRN-A2 completed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989320" y="150876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AGENDA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1783080"/>
            <a:ext cx="5623560" cy="1005840"/>
          </a:xfrm>
          <a:prstGeom prst="roundRect">
            <a:avLst>
              <a:gd name="adj" fmla="val 4545"/>
            </a:avLst>
          </a:prstGeom>
          <a:solidFill>
            <a:srgbClr val="F7E4D2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81051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Setup Simulation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172200" y="199339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 briefing — a new manufacturing client launching an ERP + culture dual transformation (75m)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172200" y="2212848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formation and role assignment (Change Manager, PMO, Sponsor-proxy) (45m)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6172200" y="243230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QZ-A3-1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Scenario comprehension (8 items, 15m)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6172200" y="2615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WS-A3-1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Stand Up the Program (90m)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5989320" y="2834640"/>
            <a:ext cx="5623560" cy="786384"/>
          </a:xfrm>
          <a:prstGeom prst="roundRect">
            <a:avLst>
              <a:gd name="adj" fmla="val 5814"/>
            </a:avLst>
          </a:prstGeom>
          <a:solidFill>
            <a:srgbClr val="F7E4D2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286207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Mid-Program Crisis Injection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6172200" y="3044952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Facilitator injects a crisis packet: Divergence Pattern, 2 systemic resistance entries, a saturation risk, a weak-sponsor-visibility signal (60m)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6172200" y="3264408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QZ-A3-2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Crisis diagnosis (8 items, 15m)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172200" y="3447288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WS-A3-2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Triage the Crisis (120m)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5989320" y="3666744"/>
            <a:ext cx="5623560" cy="786384"/>
          </a:xfrm>
          <a:prstGeom prst="roundRect">
            <a:avLst>
              <a:gd name="adj" fmla="val 5814"/>
            </a:avLst>
          </a:prstGeom>
          <a:solidFill>
            <a:srgbClr val="F7E4D2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3694176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AM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 Defense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6172200" y="3877056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Gate mechanics recap and Steering Committee role-play briefing (45m)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6172200" y="4096512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QZ-A3-3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Phase Gate defense readiness (8 items, 15m)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6172200" y="4279392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WS-A3-3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Defend the Gate (150m)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5989320" y="4498848"/>
            <a:ext cx="5623560" cy="786384"/>
          </a:xfrm>
          <a:prstGeom prst="roundRect">
            <a:avLst>
              <a:gd name="adj" fmla="val 5814"/>
            </a:avLst>
          </a:prstGeom>
          <a:solidFill>
            <a:srgbClr val="F7E4D2"/>
          </a:solidFill>
          <a:ln/>
        </p:spPr>
      </p:sp>
      <p:sp>
        <p:nvSpPr>
          <p:cNvPr id="31" name="Text 28"/>
          <p:cNvSpPr/>
          <p:nvPr/>
        </p:nvSpPr>
        <p:spPr>
          <a:xfrm>
            <a:off x="6126480" y="452628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PM  </a:t>
            </a:r>
            <a:pPr indent="0" marL="0">
              <a:buNone/>
            </a:pPr>
            <a:r>
              <a:rPr lang="en-US" sz="98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&amp; Program Close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6172200" y="4709160"/>
            <a:ext cx="5257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Executive-briefing best practices recap (45m)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6172200" y="4928616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QZ-A3-4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Executive communication (8 items, 15m)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6172200" y="5111496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WS-A3-4  </a:t>
            </a:r>
            <a:pPr indent="0" marL="0">
              <a:buNone/>
            </a:pPr>
            <a:r>
              <a:rPr lang="en-US" sz="83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— Brief and Close (150m)</a:t>
            </a:r>
            <a:endParaRPr lang="en-US" sz="830" dirty="0"/>
          </a:p>
        </p:txBody>
      </p:sp>
      <p:sp>
        <p:nvSpPr>
          <p:cNvPr id="35" name="Shape 32"/>
          <p:cNvSpPr/>
          <p:nvPr/>
        </p:nvSpPr>
        <p:spPr>
          <a:xfrm>
            <a:off x="5989320" y="5330952"/>
            <a:ext cx="5623560" cy="457200"/>
          </a:xfrm>
          <a:prstGeom prst="roundRect">
            <a:avLst>
              <a:gd name="adj" fmla="val 10000"/>
            </a:avLst>
          </a:prstGeom>
          <a:solidFill>
            <a:srgbClr val="15423A"/>
          </a:solidFill>
          <a:ln/>
        </p:spPr>
      </p:sp>
      <p:sp>
        <p:nvSpPr>
          <p:cNvPr id="36" name="Text 33"/>
          <p:cNvSpPr/>
          <p:nvPr/>
        </p:nvSpPr>
        <p:spPr>
          <a:xfrm>
            <a:off x="6126480" y="5330952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EXM-A3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rubric across the 4 capstone workshops (25 pts each, 100 total) · pass mark 75/100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TRN-A3 · WORKSHOPS IN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Leading a Full Transformation Program End-to-End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356351472650167e+165" dist="4.2586318022438123e+164" dir="1.2030745084959364e+193">
              <a:srgbClr val="1B2E2B">
                <a:alpha val="1.8000000000000013e+19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16636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Program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the M1–M9 chain: hierarchy, charter, OBS, stakeholder map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1323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an initial ADKAR baseline for the scenario client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Assign and document team roles for the simulation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422566370265713e+169" dist="5.408462388849642e+168" dir="7.218447050975619e+197">
              <a:srgbClr val="1B2E2B">
                <a:alpha val="1.8000000000000012e+20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2057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57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89920" y="2057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36792" y="2359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the Crisis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761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Diagnose the Divergence Pattern (M11) and the resistance entries (M16)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336792" y="3108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Assess the saturation risk (M12) and the sponsor-visibility signal (M13)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336792" y="3456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 a justified response for each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8316659290237455e+173" dist="6.868747233839046e+172" dir="4.3310682305853715e+202">
              <a:srgbClr val="1B2E2B">
                <a:alpha val="1.800000000000001e+20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6636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Gate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Record a Phase Gate Joint Decision reflecting the crisis-adjusted data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71323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 and justify the Accountable role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Present the decision to a facilitator/peer panel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172200" y="4206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326215729860157e+177" dist="8.723308986975589e+176" dir="2.598640938351223e+207">
              <a:srgbClr val="1B2E2B">
                <a:alpha val="1.8000000000000013e+21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4343400"/>
            <a:ext cx="780898" cy="274320"/>
          </a:xfrm>
          <a:prstGeom prst="roundRect">
            <a:avLst>
              <a:gd name="adj" fmla="val 166667"/>
            </a:avLst>
          </a:prstGeom>
          <a:solidFill>
            <a:srgbClr val="C2661C"/>
          </a:solidFill>
          <a:ln/>
        </p:spPr>
      </p:sp>
      <p:sp>
        <p:nvSpPr>
          <p:cNvPr id="30" name="Text 28"/>
          <p:cNvSpPr/>
          <p:nvPr/>
        </p:nvSpPr>
        <p:spPr>
          <a:xfrm>
            <a:off x="6336792" y="4343400"/>
            <a:ext cx="780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WS-A3-4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789920" y="43434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36792" y="464515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and Close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5047488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and edit an AI-assisted executive narrative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6336792" y="5394960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Present a 10-minute portfolio-level readiness briefing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36792" y="5742432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Record a sustainment sign-off closing the simulated program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logistics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1226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curriculum-deck/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17720" y="208483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12 participants per journi environment so every workshop step is individually completable, not just observed.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6382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1" name="Image 1" descr="/home/user/scm-process-register/docs-src/curriculum-deck/asset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310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13639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313639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cohort gets its own seeded Windows-installed journi instance (Atlas Industrial Group demo tenant); "Reset Demo Data" between cohorts, never mid-cohort.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21538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16" name="Image 2" descr="/home/user/scm-process-register/docs-src/curriculum-deck/assets/user-gradu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3616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8795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ratio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617720" y="418795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lead facilitator per cohort; the Capstone (TRN-A3) requires a second facilitator to run the crisis-injection and panel-defense roles.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EAF2E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66944"/>
            <a:ext cx="621792" cy="621792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21" name="Image 3" descr="/home/user/scm-process-register/docs-src/curriculum-deck/asset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413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395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617720" y="5239512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Half-days run 3.5–4 hours including breaks; the golden-rule blocks (content → quiz → workshop → debrief) are not compressible.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PATHWAY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credentials, one continuous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5661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2377440"/>
            <a:ext cx="777240" cy="777240"/>
          </a:xfrm>
          <a:prstGeom prst="ellipse">
            <a:avLst/>
          </a:prstGeom>
          <a:solidFill>
            <a:srgbClr val="1F6459"/>
          </a:solidFill>
          <a:ln/>
        </p:spPr>
      </p:sp>
      <p:pic>
        <p:nvPicPr>
          <p:cNvPr id="6" name="Image 0" descr="/home/user/scm-process-register/docs-src/curriculum-deck/assets/book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560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Certified Change Practitioner — Foundation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· 3 trainings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0" y="3611880"/>
            <a:ext cx="365760" cy="365760"/>
          </a:xfrm>
          <a:prstGeom prst="rightArrow">
            <a:avLst/>
          </a:prstGeom>
          <a:solidFill>
            <a:srgbClr val="C2661C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103120"/>
            <a:ext cx="3520440" cy="35661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852160" y="2377440"/>
            <a:ext cx="777240" cy="777240"/>
          </a:xfrm>
          <a:prstGeom prst="ellipse">
            <a:avLst/>
          </a:prstGeom>
          <a:solidFill>
            <a:srgbClr val="15423A"/>
          </a:solidFill>
          <a:ln/>
        </p:spPr>
      </p:sp>
      <p:pic>
        <p:nvPicPr>
          <p:cNvPr id="13" name="Image 1" descr="/home/user/scm-process-register/docs-src/curriculum-deck/assets/chalkboard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603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54880" y="3657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Certified Change Practitioner — Practitioner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54880" y="5257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· 3 trainings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3611880"/>
            <a:ext cx="365760" cy="365760"/>
          </a:xfrm>
          <a:prstGeom prst="rightArrow">
            <a:avLst/>
          </a:prstGeom>
          <a:solidFill>
            <a:srgbClr val="C2661C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0" y="2103120"/>
            <a:ext cx="3520440" cy="35661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9784080" y="237744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20" name="Image 2" descr="/home/user/scm-process-register/docs-src/curriculum-deck/assets/me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5603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95360" y="32461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686800" y="36576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Certified Change Management Practitioner — Advanced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86800" y="5257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 · 3 trainings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Curriculum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14884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curriculum-deck/asset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32257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practice, not just the project.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85800" y="3886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Academy — Human Change Management Curriculum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  · 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2026-09-01T05:24:58Z</dcterms:created>
  <dcterms:modified xsi:type="dcterms:W3CDTF">2026-09-01T05:24:58Z</dcterms:modified>
</cp:coreProperties>
</file>
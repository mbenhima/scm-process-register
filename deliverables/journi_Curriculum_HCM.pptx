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4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640080"/>
            <a:ext cx="777240" cy="777240"/>
          </a:xfrm>
          <a:prstGeom prst="ellipse">
            <a:avLst/>
          </a:prstGeom>
          <a:solidFill>
            <a:srgbClr val="C2661C"/>
          </a:solidFill>
          <a:ln/>
        </p:spPr>
      </p:sp>
      <p:pic>
        <p:nvPicPr>
          <p:cNvPr id="3" name="Image 0" descr="/home/user/scm-process-register/docs-src/curriculum-deck/assets/graduation-c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813816"/>
            <a:ext cx="429768" cy="4297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2148840"/>
            <a:ext cx="10058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journi Academy</a:t>
            </a:r>
            <a:endParaRPr lang="en-US" sz="5000" dirty="0"/>
          </a:p>
        </p:txBody>
      </p:sp>
      <p:sp>
        <p:nvSpPr>
          <p:cNvPr id="5" name="Text 2"/>
          <p:cNvSpPr/>
          <p:nvPr/>
        </p:nvSpPr>
        <p:spPr>
          <a:xfrm>
            <a:off x="685800" y="306324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B8D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Detailed Curriculum for Human Change Management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685800" y="35661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C2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 through hands-on workshops in journi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685800" y="4297680"/>
            <a:ext cx="1737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200" dirty="0"/>
          </a:p>
        </p:txBody>
      </p:sp>
      <p:sp>
        <p:nvSpPr>
          <p:cNvPr id="8" name="Text 5"/>
          <p:cNvSpPr/>
          <p:nvPr/>
        </p:nvSpPr>
        <p:spPr>
          <a:xfrm>
            <a:off x="685800" y="493776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9FC2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LEVELS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2468880" y="4297680"/>
            <a:ext cx="1737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3200" dirty="0"/>
          </a:p>
        </p:txBody>
      </p:sp>
      <p:sp>
        <p:nvSpPr>
          <p:cNvPr id="10" name="Text 7"/>
          <p:cNvSpPr/>
          <p:nvPr/>
        </p:nvSpPr>
        <p:spPr>
          <a:xfrm>
            <a:off x="2468880" y="493776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9FC2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TRAININGS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4251960" y="4297680"/>
            <a:ext cx="1737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4251960" y="493776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9FC2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HALF-DAYS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6035040" y="4297680"/>
            <a:ext cx="1737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3200" dirty="0"/>
          </a:p>
        </p:txBody>
      </p:sp>
      <p:sp>
        <p:nvSpPr>
          <p:cNvPr id="14" name="Text 11"/>
          <p:cNvSpPr/>
          <p:nvPr/>
        </p:nvSpPr>
        <p:spPr>
          <a:xfrm>
            <a:off x="6035040" y="493776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9FC2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WORKSHOPS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7818120" y="4297680"/>
            <a:ext cx="1737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3200" dirty="0"/>
          </a:p>
        </p:txBody>
      </p:sp>
      <p:sp>
        <p:nvSpPr>
          <p:cNvPr id="16" name="Text 13"/>
          <p:cNvSpPr/>
          <p:nvPr/>
        </p:nvSpPr>
        <p:spPr>
          <a:xfrm>
            <a:off x="7818120" y="493776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9FC2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EXAMS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685800" y="62636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FA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 POWERACT Consulting  ·  Confidential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CURRICULUM OVERVIEW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7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levels, one continuous certification pathway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642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level builds on the credential before it — Foundation fluency, Practitioner ownership, Advanced portfolio leadership.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3611880" cy="3977640"/>
          </a:xfrm>
          <a:prstGeom prst="roundRect">
            <a:avLst>
              <a:gd name="adj" fmla="val 1266"/>
            </a:avLst>
          </a:prstGeom>
          <a:solidFill>
            <a:srgbClr val="EAF2EF"/>
          </a:solidFill>
          <a:ln/>
          <a:effectLst>
            <a:outerShdw sx="100000" sy="100000" kx="0" ky="0" algn="bl" rotWithShape="0" blurRad="101600" dist="38100" dir="5400000">
              <a:srgbClr val="1B2E2B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04672" y="2404872"/>
            <a:ext cx="713232" cy="713232"/>
          </a:xfrm>
          <a:prstGeom prst="ellipse">
            <a:avLst/>
          </a:prstGeom>
          <a:solidFill>
            <a:srgbClr val="1F6459"/>
          </a:solidFill>
          <a:ln/>
        </p:spPr>
      </p:sp>
      <p:pic>
        <p:nvPicPr>
          <p:cNvPr id="7" name="Image 0" descr="/home/user/scm-process-register/docs-src/curriculum-deck/assets/book-op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8408" y="2578608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645920" y="2468880"/>
            <a:ext cx="2240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804672" y="3246120"/>
            <a:ext cx="309981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Management Foundations with journi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804672" y="3977640"/>
            <a:ext cx="3099816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8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0000"/>
              </a:lnSpc>
              <a:buNone/>
            </a:pPr>
            <a:r>
              <a:rPr lang="en-US" sz="10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Management Foundations &amp; the journi Platform</a:t>
            </a:r>
            <a:endParaRPr lang="en-US" sz="1080" dirty="0"/>
          </a:p>
        </p:txBody>
      </p:sp>
      <p:sp>
        <p:nvSpPr>
          <p:cNvPr id="11" name="Text 8"/>
          <p:cNvSpPr/>
          <p:nvPr/>
        </p:nvSpPr>
        <p:spPr>
          <a:xfrm>
            <a:off x="804672" y="4507992"/>
            <a:ext cx="3099816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8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0000"/>
              </a:lnSpc>
              <a:buNone/>
            </a:pPr>
            <a:r>
              <a:rPr lang="en-US" sz="10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&amp; Emotional Readiness — ADKAR and the Human Journey</a:t>
            </a:r>
            <a:endParaRPr lang="en-US" sz="1080" dirty="0"/>
          </a:p>
        </p:txBody>
      </p:sp>
      <p:sp>
        <p:nvSpPr>
          <p:cNvPr id="12" name="Text 9"/>
          <p:cNvSpPr/>
          <p:nvPr/>
        </p:nvSpPr>
        <p:spPr>
          <a:xfrm>
            <a:off x="804672" y="5038344"/>
            <a:ext cx="3099816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8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0000"/>
              </a:lnSpc>
              <a:buNone/>
            </a:pPr>
            <a:r>
              <a:rPr lang="en-US" sz="10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Sponsorship, Communication &amp; Risk Basics</a:t>
            </a:r>
            <a:endParaRPr lang="en-US" sz="1080" dirty="0"/>
          </a:p>
        </p:txBody>
      </p:sp>
      <p:sp>
        <p:nvSpPr>
          <p:cNvPr id="13" name="Text 10"/>
          <p:cNvSpPr/>
          <p:nvPr/>
        </p:nvSpPr>
        <p:spPr>
          <a:xfrm>
            <a:off x="804672" y="5760720"/>
            <a:ext cx="309981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days  ·  3 trainings  ·  6 half-days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288536" y="2148840"/>
            <a:ext cx="3611880" cy="3977640"/>
          </a:xfrm>
          <a:prstGeom prst="roundRect">
            <a:avLst>
              <a:gd name="adj" fmla="val 1266"/>
            </a:avLst>
          </a:prstGeom>
          <a:solidFill>
            <a:srgbClr val="DCEEE8"/>
          </a:solidFill>
          <a:ln/>
          <a:effectLst>
            <a:outerShdw sx="100000" sy="100000" kx="0" ky="0" algn="bl" rotWithShape="0" blurRad="1290320000" dist="483870000" dir="324000000000">
              <a:srgbClr val="1B2E2B">
                <a:alpha val="1800000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544568" y="2404872"/>
            <a:ext cx="713232" cy="713232"/>
          </a:xfrm>
          <a:prstGeom prst="ellipse">
            <a:avLst/>
          </a:prstGeom>
          <a:solidFill>
            <a:srgbClr val="15423A"/>
          </a:solidFill>
          <a:ln/>
        </p:spPr>
      </p:sp>
      <p:pic>
        <p:nvPicPr>
          <p:cNvPr id="16" name="Image 1" descr="/home/user/scm-process-register/docs-src/curriculum-deck/assets/chalkboard-us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8304" y="2578608"/>
            <a:ext cx="365760" cy="36576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5385816" y="2468880"/>
            <a:ext cx="2240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Practitioner</a:t>
            </a:r>
            <a:endParaRPr lang="en-US" sz="1900" dirty="0"/>
          </a:p>
        </p:txBody>
      </p:sp>
      <p:sp>
        <p:nvSpPr>
          <p:cNvPr id="18" name="Text 14"/>
          <p:cNvSpPr/>
          <p:nvPr/>
        </p:nvSpPr>
        <p:spPr>
          <a:xfrm>
            <a:off x="4544568" y="3246120"/>
            <a:ext cx="309981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 a Change Program in journi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4544568" y="3977640"/>
            <a:ext cx="3099816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8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0000"/>
              </a:lnSpc>
              <a:buNone/>
            </a:pPr>
            <a:r>
              <a:rPr lang="en-US" sz="10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 Governance — Charters, WBS &amp; Phase Gates</a:t>
            </a:r>
            <a:endParaRPr lang="en-US" sz="1080" dirty="0"/>
          </a:p>
        </p:txBody>
      </p:sp>
      <p:sp>
        <p:nvSpPr>
          <p:cNvPr id="20" name="Text 16"/>
          <p:cNvSpPr/>
          <p:nvPr/>
        </p:nvSpPr>
        <p:spPr>
          <a:xfrm>
            <a:off x="4544568" y="4507992"/>
            <a:ext cx="3099816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8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0000"/>
              </a:lnSpc>
              <a:buNone/>
            </a:pPr>
            <a:r>
              <a:rPr lang="en-US" sz="10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Training, Resistance &amp; Coaching</a:t>
            </a:r>
            <a:endParaRPr lang="en-US" sz="1080" dirty="0"/>
          </a:p>
        </p:txBody>
      </p:sp>
      <p:sp>
        <p:nvSpPr>
          <p:cNvPr id="21" name="Text 17"/>
          <p:cNvSpPr/>
          <p:nvPr/>
        </p:nvSpPr>
        <p:spPr>
          <a:xfrm>
            <a:off x="4544568" y="5038344"/>
            <a:ext cx="3099816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8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0000"/>
              </a:lnSpc>
              <a:buNone/>
            </a:pPr>
            <a:r>
              <a:rPr lang="en-US" sz="10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in Change Management</a:t>
            </a:r>
            <a:endParaRPr lang="en-US" sz="1080" dirty="0"/>
          </a:p>
        </p:txBody>
      </p:sp>
      <p:sp>
        <p:nvSpPr>
          <p:cNvPr id="22" name="Text 18"/>
          <p:cNvSpPr/>
          <p:nvPr/>
        </p:nvSpPr>
        <p:spPr>
          <a:xfrm>
            <a:off x="4544568" y="5760720"/>
            <a:ext cx="309981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days  ·  3 trainings  ·  6 half-days</a:t>
            </a:r>
            <a:endParaRPr lang="en-US" sz="1000" dirty="0"/>
          </a:p>
        </p:txBody>
      </p:sp>
      <p:sp>
        <p:nvSpPr>
          <p:cNvPr id="23" name="Shape 19"/>
          <p:cNvSpPr/>
          <p:nvPr/>
        </p:nvSpPr>
        <p:spPr>
          <a:xfrm>
            <a:off x="8028432" y="2148840"/>
            <a:ext cx="3611880" cy="3977640"/>
          </a:xfrm>
          <a:prstGeom prst="roundRect">
            <a:avLst>
              <a:gd name="adj" fmla="val 1266"/>
            </a:avLst>
          </a:prstGeom>
          <a:solidFill>
            <a:srgbClr val="F7E4D2"/>
          </a:solidFill>
          <a:ln/>
          <a:effectLst>
            <a:outerShdw sx="100000" sy="100000" kx="0" ky="0" algn="bl" rotWithShape="0" blurRad="16387064000000" dist="6145149000000" dir="19440000000000000">
              <a:srgbClr val="1B2E2B">
                <a:alpha val="180000000000000"/>
              </a:srgbClr>
            </a:outerShdw>
          </a:effectLst>
        </p:spPr>
      </p:sp>
      <p:sp>
        <p:nvSpPr>
          <p:cNvPr id="24" name="Shape 20"/>
          <p:cNvSpPr/>
          <p:nvPr/>
        </p:nvSpPr>
        <p:spPr>
          <a:xfrm>
            <a:off x="8284464" y="2404872"/>
            <a:ext cx="713232" cy="713232"/>
          </a:xfrm>
          <a:prstGeom prst="ellipse">
            <a:avLst/>
          </a:prstGeom>
          <a:solidFill>
            <a:srgbClr val="C2661C"/>
          </a:solidFill>
          <a:ln/>
        </p:spPr>
      </p:sp>
      <p:pic>
        <p:nvPicPr>
          <p:cNvPr id="25" name="Image 2" descr="/home/user/scm-process-register/docs-src/curriculum-deck/assets/meda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8200" y="2578608"/>
            <a:ext cx="365760" cy="365760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9125712" y="2468880"/>
            <a:ext cx="2240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</a:t>
            </a:r>
            <a:endParaRPr lang="en-US" sz="1900" dirty="0"/>
          </a:p>
        </p:txBody>
      </p:sp>
      <p:sp>
        <p:nvSpPr>
          <p:cNvPr id="27" name="Text 22"/>
          <p:cNvSpPr/>
          <p:nvPr/>
        </p:nvSpPr>
        <p:spPr>
          <a:xfrm>
            <a:off x="8284464" y="3246120"/>
            <a:ext cx="309981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Leading Change Portfolios &amp; Sustaining Impact</a:t>
            </a:r>
            <a:endParaRPr lang="en-US" sz="1250" dirty="0"/>
          </a:p>
        </p:txBody>
      </p:sp>
      <p:sp>
        <p:nvSpPr>
          <p:cNvPr id="28" name="Text 23"/>
          <p:cNvSpPr/>
          <p:nvPr/>
        </p:nvSpPr>
        <p:spPr>
          <a:xfrm>
            <a:off x="8284464" y="3977640"/>
            <a:ext cx="3099816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8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0000"/>
              </a:lnSpc>
              <a:buNone/>
            </a:pPr>
            <a:r>
              <a:rPr lang="en-US" sz="10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Analytics, Benchmarking &amp; Executive Reporting</a:t>
            </a:r>
            <a:endParaRPr lang="en-US" sz="1080" dirty="0"/>
          </a:p>
        </p:txBody>
      </p:sp>
      <p:sp>
        <p:nvSpPr>
          <p:cNvPr id="29" name="Text 24"/>
          <p:cNvSpPr/>
          <p:nvPr/>
        </p:nvSpPr>
        <p:spPr>
          <a:xfrm>
            <a:off x="8284464" y="4507992"/>
            <a:ext cx="3099816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8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0000"/>
              </a:lnSpc>
              <a:buNone/>
            </a:pPr>
            <a:r>
              <a:rPr lang="en-US" sz="10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Sustainment, Governance &amp; Platform Administration</a:t>
            </a:r>
            <a:endParaRPr lang="en-US" sz="1080" dirty="0"/>
          </a:p>
        </p:txBody>
      </p:sp>
      <p:sp>
        <p:nvSpPr>
          <p:cNvPr id="30" name="Text 25"/>
          <p:cNvSpPr/>
          <p:nvPr/>
        </p:nvSpPr>
        <p:spPr>
          <a:xfrm>
            <a:off x="8284464" y="5038344"/>
            <a:ext cx="3099816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8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0000"/>
              </a:lnSpc>
              <a:buNone/>
            </a:pPr>
            <a:r>
              <a:rPr lang="en-US" sz="10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— Leading a Full Transformation Program End-to-End</a:t>
            </a:r>
            <a:endParaRPr lang="en-US" sz="1080" dirty="0"/>
          </a:p>
        </p:txBody>
      </p:sp>
      <p:sp>
        <p:nvSpPr>
          <p:cNvPr id="31" name="Text 26"/>
          <p:cNvSpPr/>
          <p:nvPr/>
        </p:nvSpPr>
        <p:spPr>
          <a:xfrm>
            <a:off x="8284464" y="5760720"/>
            <a:ext cx="309981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days  ·  3 trainings  ·  8 half-days</a:t>
            </a:r>
            <a:endParaRPr lang="en-US" sz="1000" dirty="0"/>
          </a:p>
        </p:txBody>
      </p:sp>
      <p:sp>
        <p:nvSpPr>
          <p:cNvPr id="32" name="Text 27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journi — Human Change Management Curriculum</a:t>
            </a:r>
            <a:endParaRPr lang="en-US" sz="900" dirty="0"/>
          </a:p>
        </p:txBody>
      </p:sp>
      <p:sp>
        <p:nvSpPr>
          <p:cNvPr id="33" name="Text 28"/>
          <p:cNvSpPr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6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Golden Rule: every half-day, one quiz, one workshop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642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is always immediately checked, then immediately applied — no half-day passes without both.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2670048" cy="2743200"/>
          </a:xfrm>
          <a:prstGeom prst="roundRect">
            <a:avLst>
              <a:gd name="adj" fmla="val 171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08115712800000000" dist="78043392300000000" dir="1.1664e+21">
              <a:srgbClr val="1B2E2B">
                <a:alpha val="1800000000000000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540764" y="2560320"/>
            <a:ext cx="685800" cy="685800"/>
          </a:xfrm>
          <a:prstGeom prst="ellipse">
            <a:avLst/>
          </a:prstGeom>
          <a:solidFill>
            <a:srgbClr val="1F6459"/>
          </a:solidFill>
          <a:ln/>
        </p:spPr>
      </p:sp>
      <p:pic>
        <p:nvPicPr>
          <p:cNvPr id="7" name="Image 0" descr="/home/user/scm-process-register/docs-src/curriculum-deck/assets/book-op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5356" y="2724912"/>
            <a:ext cx="356616" cy="35661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85800" y="3383280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731520" y="3794760"/>
            <a:ext cx="230428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8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60–75 min per session. Concepts taught directly against the live journi application, not slides alone.</a:t>
            </a:r>
            <a:endParaRPr lang="en-US" sz="1080" dirty="0"/>
          </a:p>
        </p:txBody>
      </p:sp>
      <p:sp>
        <p:nvSpPr>
          <p:cNvPr id="10" name="Shape 7"/>
          <p:cNvSpPr/>
          <p:nvPr/>
        </p:nvSpPr>
        <p:spPr>
          <a:xfrm>
            <a:off x="3236976" y="3429000"/>
            <a:ext cx="292608" cy="320040"/>
          </a:xfrm>
          <a:prstGeom prst="rightArrow">
            <a:avLst/>
          </a:prstGeom>
          <a:solidFill>
            <a:srgbClr val="5C6D68"/>
          </a:solidFill>
          <a:ln/>
        </p:spPr>
      </p:sp>
      <p:sp>
        <p:nvSpPr>
          <p:cNvPr id="11" name="Shape 8"/>
          <p:cNvSpPr/>
          <p:nvPr/>
        </p:nvSpPr>
        <p:spPr>
          <a:xfrm>
            <a:off x="3538728" y="2331720"/>
            <a:ext cx="2670048" cy="2743200"/>
          </a:xfrm>
          <a:prstGeom prst="roundRect">
            <a:avLst>
              <a:gd name="adj" fmla="val 171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.64306955256e+21" dist="991151082210000000000" dir="6.9984e+25">
              <a:srgbClr val="1B2E2B">
                <a:alpha val="1.8e+24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530852" y="2560320"/>
            <a:ext cx="685800" cy="685800"/>
          </a:xfrm>
          <a:prstGeom prst="ellipse">
            <a:avLst/>
          </a:prstGeom>
          <a:solidFill>
            <a:srgbClr val="C2661C"/>
          </a:solidFill>
          <a:ln/>
        </p:spPr>
      </p:sp>
      <p:pic>
        <p:nvPicPr>
          <p:cNvPr id="13" name="Image 1" descr="/home/user/scm-process-register/docs-src/curriculum-deck/assets/circle-ques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5444" y="2724912"/>
            <a:ext cx="356616" cy="35661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675888" y="3383280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3721608" y="3794760"/>
            <a:ext cx="230428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8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min, 8 items. A short formative check — did the concept land before we apply it?</a:t>
            </a:r>
            <a:endParaRPr lang="en-US" sz="1080" dirty="0"/>
          </a:p>
        </p:txBody>
      </p:sp>
      <p:sp>
        <p:nvSpPr>
          <p:cNvPr id="16" name="Shape 12"/>
          <p:cNvSpPr/>
          <p:nvPr/>
        </p:nvSpPr>
        <p:spPr>
          <a:xfrm>
            <a:off x="6227064" y="3429000"/>
            <a:ext cx="292608" cy="320040"/>
          </a:xfrm>
          <a:prstGeom prst="rightArrow">
            <a:avLst/>
          </a:prstGeom>
          <a:solidFill>
            <a:srgbClr val="5C6D68"/>
          </a:solidFill>
          <a:ln/>
        </p:spPr>
      </p:sp>
      <p:sp>
        <p:nvSpPr>
          <p:cNvPr id="17" name="Shape 13"/>
          <p:cNvSpPr/>
          <p:nvPr/>
        </p:nvSpPr>
        <p:spPr>
          <a:xfrm>
            <a:off x="6528816" y="2331720"/>
            <a:ext cx="2670048" cy="2743200"/>
          </a:xfrm>
          <a:prstGeom prst="roundRect">
            <a:avLst>
              <a:gd name="adj" fmla="val 171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.3566983317512e+25" dist="1.2587618744067e+25" dir="4.19904e+30">
              <a:srgbClr val="1B2E2B">
                <a:alpha val="1.8e+29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7520940" y="2560320"/>
            <a:ext cx="685800" cy="685800"/>
          </a:xfrm>
          <a:prstGeom prst="ellipse">
            <a:avLst/>
          </a:prstGeom>
          <a:solidFill>
            <a:srgbClr val="1F6459"/>
          </a:solidFill>
          <a:ln/>
        </p:spPr>
      </p:sp>
      <p:pic>
        <p:nvPicPr>
          <p:cNvPr id="19" name="Image 2" descr="/home/user/scm-process-register/docs-src/curriculum-deck/assets/user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5532" y="2724912"/>
            <a:ext cx="356616" cy="356616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665976" y="3383280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</a:t>
            </a:r>
            <a:endParaRPr lang="en-US" sz="1500" dirty="0"/>
          </a:p>
        </p:txBody>
      </p:sp>
      <p:sp>
        <p:nvSpPr>
          <p:cNvPr id="21" name="Text 16"/>
          <p:cNvSpPr/>
          <p:nvPr/>
        </p:nvSpPr>
        <p:spPr>
          <a:xfrm>
            <a:off x="6711696" y="3794760"/>
            <a:ext cx="230428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8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90–150 min. Hands-on in journi against a realistic scenario. This is where the skill is actually built.</a:t>
            </a:r>
            <a:endParaRPr lang="en-US" sz="1080" dirty="0"/>
          </a:p>
        </p:txBody>
      </p:sp>
      <p:sp>
        <p:nvSpPr>
          <p:cNvPr id="22" name="Shape 17"/>
          <p:cNvSpPr/>
          <p:nvPr/>
        </p:nvSpPr>
        <p:spPr>
          <a:xfrm>
            <a:off x="9217152" y="3429000"/>
            <a:ext cx="292608" cy="320040"/>
          </a:xfrm>
          <a:prstGeom prst="rightArrow">
            <a:avLst/>
          </a:prstGeom>
          <a:solidFill>
            <a:srgbClr val="5C6D68"/>
          </a:solidFill>
          <a:ln/>
        </p:spPr>
      </p:sp>
      <p:sp>
        <p:nvSpPr>
          <p:cNvPr id="23" name="Shape 18"/>
          <p:cNvSpPr/>
          <p:nvPr/>
        </p:nvSpPr>
        <p:spPr>
          <a:xfrm>
            <a:off x="9518904" y="2331720"/>
            <a:ext cx="2670048" cy="2743200"/>
          </a:xfrm>
          <a:prstGeom prst="roundRect">
            <a:avLst>
              <a:gd name="adj" fmla="val 171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4.2630068813240236e+29" dist="1.598627580496509e+29" dir="2.519424e+35">
              <a:srgbClr val="1B2E2B">
                <a:alpha val="1.7999999999999998e+34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10511028" y="2560320"/>
            <a:ext cx="685800" cy="685800"/>
          </a:xfrm>
          <a:prstGeom prst="ellipse">
            <a:avLst/>
          </a:prstGeom>
          <a:solidFill>
            <a:srgbClr val="C2661C"/>
          </a:solidFill>
          <a:ln/>
        </p:spPr>
      </p:sp>
      <p:pic>
        <p:nvPicPr>
          <p:cNvPr id="25" name="Image 3" descr="/home/user/scm-process-register/docs-src/curriculum-deck/assets/list-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75620" y="2724912"/>
            <a:ext cx="356616" cy="356616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9656064" y="3383280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Debrief</a:t>
            </a:r>
            <a:endParaRPr lang="en-US" sz="1500" dirty="0"/>
          </a:p>
        </p:txBody>
      </p:sp>
      <p:sp>
        <p:nvSpPr>
          <p:cNvPr id="27" name="Text 21"/>
          <p:cNvSpPr/>
          <p:nvPr/>
        </p:nvSpPr>
        <p:spPr>
          <a:xfrm>
            <a:off x="9701784" y="3794760"/>
            <a:ext cx="230428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8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min. What worked, what didn't, and how it connects to the next half-day.</a:t>
            </a:r>
            <a:endParaRPr lang="en-US" sz="1080" dirty="0"/>
          </a:p>
        </p:txBody>
      </p:sp>
      <p:sp>
        <p:nvSpPr>
          <p:cNvPr id="28" name="Text 22"/>
          <p:cNvSpPr/>
          <p:nvPr/>
        </p:nvSpPr>
        <p:spPr>
          <a:xfrm>
            <a:off x="548640" y="544068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00" b="1" i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 stack: formative Quiz (per half-day) → summative Training Exam (per training) → integrative Level Exam (per level, gates progression to the next level).</a:t>
            </a:r>
            <a:endParaRPr lang="en-US" sz="1300" dirty="0"/>
          </a:p>
        </p:txBody>
      </p:sp>
      <p:sp>
        <p:nvSpPr>
          <p:cNvPr id="29" name="Text 23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journi — Human Change Management Curriculum</a:t>
            </a:r>
            <a:endParaRPr lang="en-US" sz="900" dirty="0"/>
          </a:p>
        </p:txBody>
      </p:sp>
      <p:sp>
        <p:nvSpPr>
          <p:cNvPr id="30" name="Text 24"/>
          <p:cNvSpPr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 POLICY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7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marks, retakes and credentials</a:t>
            </a:r>
            <a:endParaRPr lang="en-US" sz="27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11064240" cy="2926080"/>
        </p:xfrm>
        <a:graphic>
          <a:graphicData uri="http://schemas.openxmlformats.org/drawingml/2006/table">
            <a:tbl>
              <a:tblPr/>
              <a:tblGrid>
                <a:gridCol w="1828800"/>
                <a:gridCol w="2103120"/>
                <a:gridCol w="3200400"/>
                <a:gridCol w="1371600"/>
                <a:gridCol w="2560320"/>
              </a:tblGrid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Assessment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42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Frequency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42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Typical Format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42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 Mark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66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Retake Policy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423A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622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Quiz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2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per half-day (20 total)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2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MCQ, closed-book, 15 min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C266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— no pass mark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4D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2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 — for facilitator pacing only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622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Training Exam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2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per training (9 total)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2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25–30 MCQ + 1 practical/case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C266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4D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2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free retake after 48h review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622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Level Exam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2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per level (3 total)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2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40–60 MCQ + integrated practical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C266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4D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2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retake after a 1-week remediation plan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622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Capstone Rubric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2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TRN-A3 only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2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Facilitator-scored, 4 × 25 pts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C266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 / 100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4D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2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Re-attempt at next capstone cohort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B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16636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i="1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Credentials awarded: journi Certified Change Practitioner — Foundation / Practitioner, and journi Certified Change Management Practitioner — Advanced, each on passing that level's Level Exam.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journi — Human Change Management Curriculum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F645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LVL-F  ·  LEVEL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48640" y="777240"/>
            <a:ext cx="822960" cy="822960"/>
          </a:xfrm>
          <a:prstGeom prst="ellipse">
            <a:avLst/>
          </a:prstGeom>
          <a:solidFill>
            <a:srgbClr val="C2661C"/>
          </a:solidFill>
          <a:ln/>
        </p:spPr>
      </p:sp>
      <p:pic>
        <p:nvPicPr>
          <p:cNvPr id="4" name="Image 0" descr="/home/user/scm-process-register/docs-src/curriculum-deck/assets/book-op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960120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00200" y="7772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1600200" y="15087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3F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Management Foundations with journi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548640" y="2148840"/>
            <a:ext cx="5349240" cy="187452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/>
        </p:spPr>
      </p:sp>
      <p:sp>
        <p:nvSpPr>
          <p:cNvPr id="8" name="Text 5"/>
          <p:cNvSpPr/>
          <p:nvPr/>
        </p:nvSpPr>
        <p:spPr>
          <a:xfrm>
            <a:off x="777240" y="2304288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AUDIENCE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777240" y="2606040"/>
            <a:ext cx="484632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Change Managers, HR Business Partners, PMO members, People Managers — no prior journi experience required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035040" y="2148840"/>
            <a:ext cx="5623560" cy="187452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/>
        </p:spPr>
      </p:sp>
      <p:sp>
        <p:nvSpPr>
          <p:cNvPr id="11" name="Text 8"/>
          <p:cNvSpPr/>
          <p:nvPr/>
        </p:nvSpPr>
        <p:spPr>
          <a:xfrm>
            <a:off x="6263640" y="2304288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OUTCOME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263640" y="2606040"/>
            <a:ext cx="512064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Navigate journi with fluency, explain the 4 core frameworks, and read a project's stakeholder, ADKAR and emotional-readiness data correctly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420624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E3F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TRAININGS IN THIS LEVEL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548640" y="457200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TRN-F1  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D8EA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Management Foundations &amp; the journi Platform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548640" y="4919472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TRN-F2  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D8EA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&amp; Emotional Readiness — ADKAR and the Human Journey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548640" y="5266944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TRN-F3  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D8EA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Sponsorship, Communication &amp; Risk Basics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48640" y="5806440"/>
            <a:ext cx="11064240" cy="685800"/>
          </a:xfrm>
          <a:prstGeom prst="roundRect">
            <a:avLst>
              <a:gd name="adj" fmla="val 6667"/>
            </a:avLst>
          </a:prstGeom>
          <a:solidFill>
            <a:srgbClr val="15423A"/>
          </a:solidFill>
          <a:ln/>
        </p:spPr>
      </p:sp>
      <p:sp>
        <p:nvSpPr>
          <p:cNvPr id="18" name="Text 15"/>
          <p:cNvSpPr/>
          <p:nvPr/>
        </p:nvSpPr>
        <p:spPr>
          <a:xfrm>
            <a:off x="777240" y="5806440"/>
            <a:ext cx="10607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EXM-LVL-F  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MCQ (drawn from TRN-F1–F3) + 1 guided practical in journi · 3h · pass mark 80% · unlocks Practitioner enrollment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FE3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journi — Human Change Management Curriculum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FE3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 · TRN-F1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99669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20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Management Foundations &amp; the journi Platform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10835640" y="365760"/>
            <a:ext cx="566928" cy="566928"/>
          </a:xfrm>
          <a:prstGeom prst="ellipse">
            <a:avLst/>
          </a:prstGeom>
          <a:solidFill>
            <a:srgbClr val="1F6459"/>
          </a:solidFill>
          <a:ln/>
        </p:spPr>
      </p:sp>
      <p:pic>
        <p:nvPicPr>
          <p:cNvPr id="5" name="Image 0" descr="/home/user/scm-process-register/docs-src/curriculum-deck/assets/site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63656" y="493776"/>
            <a:ext cx="310896" cy="31089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150876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GOALS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48640" y="1810512"/>
            <a:ext cx="5257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why ~70% of transformations fail on the human side and how ADKAR, Kotter, Lewin and Bridges/Kübler-Ross address it</a:t>
            </a:r>
            <a:endParaRPr lang="en-US" sz="1080" dirty="0"/>
          </a:p>
        </p:txBody>
      </p:sp>
      <p:sp>
        <p:nvSpPr>
          <p:cNvPr id="8" name="Text 5"/>
          <p:cNvSpPr/>
          <p:nvPr/>
        </p:nvSpPr>
        <p:spPr>
          <a:xfrm>
            <a:off x="548640" y="2377440"/>
            <a:ext cx="5257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Navigate journi's tenant hierarchy (Group / Organization / Project) and role-based access</a:t>
            </a:r>
            <a:endParaRPr lang="en-US" sz="1080" dirty="0"/>
          </a:p>
        </p:txBody>
      </p:sp>
      <p:sp>
        <p:nvSpPr>
          <p:cNvPr id="9" name="Text 6"/>
          <p:cNvSpPr/>
          <p:nvPr/>
        </p:nvSpPr>
        <p:spPr>
          <a:xfrm>
            <a:off x="548640" y="2944368"/>
            <a:ext cx="5257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Organizational Breakdown Structure (OBS) and the Macro Process / SIPOC / RACSI registry</a:t>
            </a:r>
            <a:endParaRPr lang="en-US" sz="1080" dirty="0"/>
          </a:p>
        </p:txBody>
      </p:sp>
      <p:sp>
        <p:nvSpPr>
          <p:cNvPr id="10" name="Text 7"/>
          <p:cNvSpPr/>
          <p:nvPr/>
        </p:nvSpPr>
        <p:spPr>
          <a:xfrm>
            <a:off x="548640" y="3511296"/>
            <a:ext cx="5257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Assistive / Augmented AI governance model and why Autonomous AI is out of scope</a:t>
            </a:r>
            <a:endParaRPr lang="en-US" sz="1080" dirty="0"/>
          </a:p>
        </p:txBody>
      </p:sp>
      <p:sp>
        <p:nvSpPr>
          <p:cNvPr id="11" name="Text 8"/>
          <p:cNvSpPr/>
          <p:nvPr/>
        </p:nvSpPr>
        <p:spPr>
          <a:xfrm>
            <a:off x="548640" y="4151376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AUDIENCE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48640" y="4443984"/>
            <a:ext cx="5257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8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Change Managers, HR Business Partners, PMO members, People Managers</a:t>
            </a:r>
            <a:endParaRPr lang="en-US" sz="1080" dirty="0"/>
          </a:p>
        </p:txBody>
      </p:sp>
      <p:sp>
        <p:nvSpPr>
          <p:cNvPr id="13" name="Text 10"/>
          <p:cNvSpPr/>
          <p:nvPr/>
        </p:nvSpPr>
        <p:spPr>
          <a:xfrm>
            <a:off x="5989320" y="1508760"/>
            <a:ext cx="5623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AGENDA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989320" y="1828800"/>
            <a:ext cx="5623560" cy="1353312"/>
          </a:xfrm>
          <a:prstGeom prst="roundRect">
            <a:avLst>
              <a:gd name="adj" fmla="val 3378"/>
            </a:avLst>
          </a:prstGeom>
          <a:solidFill>
            <a:srgbClr val="EAF2EF"/>
          </a:solidFill>
          <a:ln/>
        </p:spPr>
      </p:sp>
      <p:sp>
        <p:nvSpPr>
          <p:cNvPr id="15" name="Text 12"/>
          <p:cNvSpPr/>
          <p:nvPr/>
        </p:nvSpPr>
        <p:spPr>
          <a:xfrm>
            <a:off x="6126480" y="1865376"/>
            <a:ext cx="5349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AM  </a:t>
            </a:r>
            <a:pPr indent="0" marL="0">
              <a:buNone/>
            </a:pPr>
            <a:r>
              <a:rPr lang="en-US" sz="1080" b="1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Change Management, Why journi</a:t>
            </a:r>
            <a:endParaRPr lang="en-US" sz="1080" dirty="0"/>
          </a:p>
        </p:txBody>
      </p:sp>
      <p:sp>
        <p:nvSpPr>
          <p:cNvPr id="16" name="Text 13"/>
          <p:cNvSpPr/>
          <p:nvPr/>
        </p:nvSpPr>
        <p:spPr>
          <a:xfrm>
            <a:off x="6172200" y="2139696"/>
            <a:ext cx="5257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The human side of transformation — the ~70% stat, root causes, the 4 frameworks at a glance (75m)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6172200" y="2414016"/>
            <a:ext cx="5257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Platform tour — scope switcher, Sidebar sections, multilingual UI (EN/FR/AR) (45m)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6172200" y="2688336"/>
            <a:ext cx="5257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QZ-F1-1  </a:t>
            </a:r>
            <a:pPr indent="0" marL="0">
              <a:buNone/>
            </a:pPr>
            <a:r>
              <a:rPr lang="en-US" sz="90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— Framework definitions + platform navigation (8 items, 15m)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6172200" y="2944368"/>
            <a:ext cx="5257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WS-F1-1  </a:t>
            </a:r>
            <a:pPr indent="0" marL="0">
              <a:buNone/>
            </a:pPr>
            <a:r>
              <a:rPr lang="en-US" sz="90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— Stand Up a Tenant (90m)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5989320" y="3273552"/>
            <a:ext cx="5623560" cy="1353312"/>
          </a:xfrm>
          <a:prstGeom prst="roundRect">
            <a:avLst>
              <a:gd name="adj" fmla="val 3378"/>
            </a:avLst>
          </a:prstGeom>
          <a:solidFill>
            <a:srgbClr val="EAF2EF"/>
          </a:solidFill>
          <a:ln/>
        </p:spPr>
      </p:sp>
      <p:sp>
        <p:nvSpPr>
          <p:cNvPr id="21" name="Text 18"/>
          <p:cNvSpPr/>
          <p:nvPr/>
        </p:nvSpPr>
        <p:spPr>
          <a:xfrm>
            <a:off x="6126480" y="3310128"/>
            <a:ext cx="5349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PM  </a:t>
            </a:r>
            <a:pPr indent="0" marL="0">
              <a:buNone/>
            </a:pPr>
            <a:r>
              <a:rPr lang="en-US" sz="1080" b="1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Process Backbone &amp; Governed AI</a:t>
            </a:r>
            <a:endParaRPr lang="en-US" sz="1080" dirty="0"/>
          </a:p>
        </p:txBody>
      </p:sp>
      <p:sp>
        <p:nvSpPr>
          <p:cNvPr id="22" name="Text 19"/>
          <p:cNvSpPr/>
          <p:nvPr/>
        </p:nvSpPr>
        <p:spPr>
          <a:xfrm>
            <a:off x="6172200" y="3584448"/>
            <a:ext cx="5257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Macro Processes, SIPOC &amp; RACSI — the 10 macro processes, E2E registry, reading a RACSI grid (60m)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6172200" y="3858768"/>
            <a:ext cx="5257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OBS and the AI Use Case Library — resourcing roster vs. RBAC users; Assistive vs. Augmented tiers (60m)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6172200" y="4133088"/>
            <a:ext cx="5257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QZ-F1-2  </a:t>
            </a:r>
            <a:pPr indent="0" marL="0">
              <a:buNone/>
            </a:pPr>
            <a:r>
              <a:rPr lang="en-US" sz="90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— RACSI role codes + AI tier definitions (8 items, 15m)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6172200" y="4389120"/>
            <a:ext cx="5257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WS-F1-2  </a:t>
            </a:r>
            <a:pPr indent="0" marL="0">
              <a:buNone/>
            </a:pPr>
            <a:r>
              <a:rPr lang="en-US" sz="90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— Read the Process Backbone (90m)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5989320" y="4718304"/>
            <a:ext cx="5623560" cy="502920"/>
          </a:xfrm>
          <a:prstGeom prst="roundRect">
            <a:avLst>
              <a:gd name="adj" fmla="val 9091"/>
            </a:avLst>
          </a:prstGeom>
          <a:solidFill>
            <a:srgbClr val="15423A"/>
          </a:solidFill>
          <a:ln/>
        </p:spPr>
      </p:sp>
      <p:sp>
        <p:nvSpPr>
          <p:cNvPr id="27" name="Text 24"/>
          <p:cNvSpPr/>
          <p:nvPr/>
        </p:nvSpPr>
        <p:spPr>
          <a:xfrm>
            <a:off x="6126480" y="4718304"/>
            <a:ext cx="5349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EXM-F1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MCQ + 2 short-answer · 60 min · pass mark 75%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journi — Human Change Management Curriculum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TRN-F1 · WORKSHOPS IN DETAIL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00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Management Foundations &amp; the journi Platform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440680" cy="4434840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.41401873928151e+33" dist="2.0302570272305663e+33" dir="1.5116544e+40">
              <a:srgbClr val="1B2E2B">
                <a:alpha val="1.8e+39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2084832"/>
            <a:ext cx="780898" cy="274320"/>
          </a:xfrm>
          <a:prstGeom prst="roundRect">
            <a:avLst>
              <a:gd name="adj" fmla="val 166667"/>
            </a:avLst>
          </a:prstGeom>
          <a:solidFill>
            <a:srgbClr val="1F6459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084832"/>
            <a:ext cx="7808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WS-F1-1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800600" y="2084832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min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731520" y="2450592"/>
            <a:ext cx="5074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Up a Tenant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2944368"/>
            <a:ext cx="5074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31520" y="3182112"/>
            <a:ext cx="5074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Build a correct 4-level tenant hierarchy for a new client</a:t>
            </a:r>
            <a:endParaRPr lang="en-US" sz="930" dirty="0"/>
          </a:p>
        </p:txBody>
      </p:sp>
      <p:sp>
        <p:nvSpPr>
          <p:cNvPr id="11" name="Text 9"/>
          <p:cNvSpPr/>
          <p:nvPr/>
        </p:nvSpPr>
        <p:spPr>
          <a:xfrm>
            <a:off x="731520" y="3438144"/>
            <a:ext cx="5074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Configure an Organization's default language</a:t>
            </a:r>
            <a:endParaRPr lang="en-US" sz="930" dirty="0"/>
          </a:p>
        </p:txBody>
      </p:sp>
      <p:sp>
        <p:nvSpPr>
          <p:cNvPr id="12" name="Text 10"/>
          <p:cNvSpPr/>
          <p:nvPr/>
        </p:nvSpPr>
        <p:spPr>
          <a:xfrm>
            <a:off x="731520" y="3749040"/>
            <a:ext cx="5074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AGENDA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31520" y="3986784"/>
            <a:ext cx="5074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1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Create a Group and an Organization for a new manufacturing client scenario</a:t>
            </a:r>
            <a:endParaRPr lang="en-US" sz="910" dirty="0"/>
          </a:p>
        </p:txBody>
      </p:sp>
      <p:sp>
        <p:nvSpPr>
          <p:cNvPr id="14" name="Text 12"/>
          <p:cNvSpPr/>
          <p:nvPr/>
        </p:nvSpPr>
        <p:spPr>
          <a:xfrm>
            <a:off x="731520" y="4279392"/>
            <a:ext cx="5074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1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Register a Main Project and a linked Change Management Project</a:t>
            </a:r>
            <a:endParaRPr lang="en-US" sz="910" dirty="0"/>
          </a:p>
        </p:txBody>
      </p:sp>
      <p:sp>
        <p:nvSpPr>
          <p:cNvPr id="15" name="Text 13"/>
          <p:cNvSpPr/>
          <p:nvPr/>
        </p:nvSpPr>
        <p:spPr>
          <a:xfrm>
            <a:off x="731520" y="4572000"/>
            <a:ext cx="5074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1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Set the Organization's Default Language and explain the precedence rule</a:t>
            </a:r>
            <a:endParaRPr lang="en-US" sz="910" dirty="0"/>
          </a:p>
        </p:txBody>
      </p:sp>
      <p:sp>
        <p:nvSpPr>
          <p:cNvPr id="16" name="Text 14"/>
          <p:cNvSpPr/>
          <p:nvPr/>
        </p:nvSpPr>
        <p:spPr>
          <a:xfrm>
            <a:off x="731520" y="4864608"/>
            <a:ext cx="5074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1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Review the M2 user list and identify each seeded role's scope</a:t>
            </a:r>
            <a:endParaRPr lang="en-US" sz="910" dirty="0"/>
          </a:p>
        </p:txBody>
      </p:sp>
      <p:sp>
        <p:nvSpPr>
          <p:cNvPr id="17" name="Shape 15"/>
          <p:cNvSpPr/>
          <p:nvPr/>
        </p:nvSpPr>
        <p:spPr>
          <a:xfrm>
            <a:off x="6172200" y="1920240"/>
            <a:ext cx="5440680" cy="4434840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.875803798887518e+37" dist="2.578426424582819e+37" dir="9.069926400000001e+44">
              <a:srgbClr val="1B2E2B">
                <a:alpha val="1.8e+44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355080" y="2084832"/>
            <a:ext cx="780898" cy="274320"/>
          </a:xfrm>
          <a:prstGeom prst="roundRect">
            <a:avLst>
              <a:gd name="adj" fmla="val 166667"/>
            </a:avLst>
          </a:prstGeom>
          <a:solidFill>
            <a:srgbClr val="1F6459"/>
          </a:solidFill>
          <a:ln/>
        </p:spPr>
      </p:sp>
      <p:sp>
        <p:nvSpPr>
          <p:cNvPr id="19" name="Text 17"/>
          <p:cNvSpPr/>
          <p:nvPr/>
        </p:nvSpPr>
        <p:spPr>
          <a:xfrm>
            <a:off x="6355080" y="2084832"/>
            <a:ext cx="7808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WS-F1-2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10424160" y="2084832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min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355080" y="2450592"/>
            <a:ext cx="5074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Process Backbone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355080" y="2944368"/>
            <a:ext cx="5074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GOALS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355080" y="3182112"/>
            <a:ext cx="5074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Build an OBS roster and trace it into other modules</a:t>
            </a:r>
            <a:endParaRPr lang="en-US" sz="930" dirty="0"/>
          </a:p>
        </p:txBody>
      </p:sp>
      <p:sp>
        <p:nvSpPr>
          <p:cNvPr id="24" name="Text 22"/>
          <p:cNvSpPr/>
          <p:nvPr/>
        </p:nvSpPr>
        <p:spPr>
          <a:xfrm>
            <a:off x="6355080" y="3438144"/>
            <a:ext cx="5074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Correctly classify AI use cases by tier and checkpoint</a:t>
            </a:r>
            <a:endParaRPr lang="en-US" sz="930" dirty="0"/>
          </a:p>
        </p:txBody>
      </p:sp>
      <p:sp>
        <p:nvSpPr>
          <p:cNvPr id="25" name="Text 23"/>
          <p:cNvSpPr/>
          <p:nvPr/>
        </p:nvSpPr>
        <p:spPr>
          <a:xfrm>
            <a:off x="6355080" y="3749040"/>
            <a:ext cx="5074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AGENDA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355080" y="3986784"/>
            <a:ext cx="5074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1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Build a 4-role OBS roster with a reporting chain for the scenario project</a:t>
            </a:r>
            <a:endParaRPr lang="en-US" sz="910" dirty="0"/>
          </a:p>
        </p:txBody>
      </p:sp>
      <p:sp>
        <p:nvSpPr>
          <p:cNvPr id="27" name="Text 25"/>
          <p:cNvSpPr/>
          <p:nvPr/>
        </p:nvSpPr>
        <p:spPr>
          <a:xfrm>
            <a:off x="6355080" y="4279392"/>
            <a:ext cx="5074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1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Trace one End-to-End process chain through its ordered Macro Processes</a:t>
            </a:r>
            <a:endParaRPr lang="en-US" sz="910" dirty="0"/>
          </a:p>
        </p:txBody>
      </p:sp>
      <p:sp>
        <p:nvSpPr>
          <p:cNvPr id="28" name="Text 26"/>
          <p:cNvSpPr/>
          <p:nvPr/>
        </p:nvSpPr>
        <p:spPr>
          <a:xfrm>
            <a:off x="6355080" y="4572000"/>
            <a:ext cx="5074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1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Review 3 AI Use Case Library entries and classify tier + human checkpoint</a:t>
            </a:r>
            <a:endParaRPr lang="en-US" sz="910" dirty="0"/>
          </a:p>
        </p:txBody>
      </p:sp>
      <p:sp>
        <p:nvSpPr>
          <p:cNvPr id="29" name="Text 27"/>
          <p:cNvSpPr/>
          <p:nvPr/>
        </p:nvSpPr>
        <p:spPr>
          <a:xfrm>
            <a:off x="6355080" y="4864608"/>
            <a:ext cx="5074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1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Identify which module each use case plugs into</a:t>
            </a:r>
            <a:endParaRPr lang="en-US" sz="910" dirty="0"/>
          </a:p>
        </p:txBody>
      </p:sp>
      <p:sp>
        <p:nvSpPr>
          <p:cNvPr id="30" name="Text 28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journi — Human Change Management Curriculum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 · TRN-F2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99669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20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&amp; Emotional Readiness — ADKAR and the Human Journey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10835640" y="365760"/>
            <a:ext cx="566928" cy="566928"/>
          </a:xfrm>
          <a:prstGeom prst="ellipse">
            <a:avLst/>
          </a:prstGeom>
          <a:solidFill>
            <a:srgbClr val="1F6459"/>
          </a:solidFill>
          <a:ln/>
        </p:spPr>
      </p:sp>
      <p:pic>
        <p:nvPicPr>
          <p:cNvPr id="5" name="Image 0" descr="/home/user/scm-process-register/docs-src/curriculum-deck/assets/chart-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63656" y="493776"/>
            <a:ext cx="310896" cy="31089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150876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GOALS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48640" y="1810512"/>
            <a:ext cx="5257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and interpret the 5 ADKAR blocks with barrier diagnosis</a:t>
            </a:r>
            <a:endParaRPr lang="en-US" sz="1080" dirty="0"/>
          </a:p>
        </p:txBody>
      </p:sp>
      <p:sp>
        <p:nvSpPr>
          <p:cNvPr id="8" name="Text 5"/>
          <p:cNvSpPr/>
          <p:nvPr/>
        </p:nvSpPr>
        <p:spPr>
          <a:xfrm>
            <a:off x="548640" y="2377440"/>
            <a:ext cx="5257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stakeholder impact / influence and identify high-impact / low-influence risk populations</a:t>
            </a:r>
            <a:endParaRPr lang="en-US" sz="1080" dirty="0"/>
          </a:p>
        </p:txBody>
      </p:sp>
      <p:sp>
        <p:nvSpPr>
          <p:cNvPr id="9" name="Text 6"/>
          <p:cNvSpPr/>
          <p:nvPr/>
        </p:nvSpPr>
        <p:spPr>
          <a:xfrm>
            <a:off x="548640" y="2944368"/>
            <a:ext cx="5257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Bridges Transition and Kübler-Ross sentiment positions and recognize the Divergence Pattern</a:t>
            </a:r>
            <a:endParaRPr lang="en-US" sz="1080" dirty="0"/>
          </a:p>
        </p:txBody>
      </p:sp>
      <p:sp>
        <p:nvSpPr>
          <p:cNvPr id="10" name="Text 7"/>
          <p:cNvSpPr/>
          <p:nvPr/>
        </p:nvSpPr>
        <p:spPr>
          <a:xfrm>
            <a:off x="548640" y="3511296"/>
            <a:ext cx="5257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 the Journey Map as a synthesis of ADKAR, Bridges and Kübler-Ross</a:t>
            </a:r>
            <a:endParaRPr lang="en-US" sz="1080" dirty="0"/>
          </a:p>
        </p:txBody>
      </p:sp>
      <p:sp>
        <p:nvSpPr>
          <p:cNvPr id="11" name="Text 8"/>
          <p:cNvSpPr/>
          <p:nvPr/>
        </p:nvSpPr>
        <p:spPr>
          <a:xfrm>
            <a:off x="548640" y="4151376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AUDIENCE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48640" y="4443984"/>
            <a:ext cx="5257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8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Managers, People Managers / Coaches, Training Leads</a:t>
            </a:r>
            <a:endParaRPr lang="en-US" sz="1080" dirty="0"/>
          </a:p>
        </p:txBody>
      </p:sp>
      <p:sp>
        <p:nvSpPr>
          <p:cNvPr id="13" name="Text 10"/>
          <p:cNvSpPr/>
          <p:nvPr/>
        </p:nvSpPr>
        <p:spPr>
          <a:xfrm>
            <a:off x="5989320" y="1508760"/>
            <a:ext cx="5623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AGENDA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989320" y="1828800"/>
            <a:ext cx="5623560" cy="1353312"/>
          </a:xfrm>
          <a:prstGeom prst="roundRect">
            <a:avLst>
              <a:gd name="adj" fmla="val 3378"/>
            </a:avLst>
          </a:prstGeom>
          <a:solidFill>
            <a:srgbClr val="EAF2EF"/>
          </a:solidFill>
          <a:ln/>
        </p:spPr>
      </p:sp>
      <p:sp>
        <p:nvSpPr>
          <p:cNvPr id="15" name="Text 12"/>
          <p:cNvSpPr/>
          <p:nvPr/>
        </p:nvSpPr>
        <p:spPr>
          <a:xfrm>
            <a:off x="6126480" y="1865376"/>
            <a:ext cx="5349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AM  </a:t>
            </a:r>
            <a:pPr indent="0" marL="0">
              <a:buNone/>
            </a:pPr>
            <a:r>
              <a:rPr lang="en-US" sz="1080" b="1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 Mapping &amp; ADKAR</a:t>
            </a:r>
            <a:endParaRPr lang="en-US" sz="1080" dirty="0"/>
          </a:p>
        </p:txBody>
      </p:sp>
      <p:sp>
        <p:nvSpPr>
          <p:cNvPr id="16" name="Text 13"/>
          <p:cNvSpPr/>
          <p:nvPr/>
        </p:nvSpPr>
        <p:spPr>
          <a:xfrm>
            <a:off x="6172200" y="2139696"/>
            <a:ext cx="5257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Stakeholder &amp; Impact Mapping — 5-dimension scoring, influence, the High-Impact/Low-Influence flag (60m)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6172200" y="2414016"/>
            <a:ext cx="5257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ADKAR Engine — 5 blocks, barrier diagnosis, stalled-block escalation, the Desire-diagnosis AI coach (60m)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6172200" y="2688336"/>
            <a:ext cx="5257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QZ-F2-1  </a:t>
            </a:r>
            <a:pPr indent="0" marL="0">
              <a:buNone/>
            </a:pPr>
            <a:r>
              <a:rPr lang="en-US" sz="90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— ADKAR blocks + impact scoring (8 items, 15m)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6172200" y="2944368"/>
            <a:ext cx="5257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WS-F2-1  </a:t>
            </a:r>
            <a:pPr indent="0" marL="0">
              <a:buNone/>
            </a:pPr>
            <a:r>
              <a:rPr lang="en-US" sz="90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— Map and Score a Cohort (90m)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5989320" y="3273552"/>
            <a:ext cx="5623560" cy="1353312"/>
          </a:xfrm>
          <a:prstGeom prst="roundRect">
            <a:avLst>
              <a:gd name="adj" fmla="val 3378"/>
            </a:avLst>
          </a:prstGeom>
          <a:solidFill>
            <a:srgbClr val="EAF2EF"/>
          </a:solidFill>
          <a:ln/>
        </p:spPr>
      </p:sp>
      <p:sp>
        <p:nvSpPr>
          <p:cNvPr id="21" name="Text 18"/>
          <p:cNvSpPr/>
          <p:nvPr/>
        </p:nvSpPr>
        <p:spPr>
          <a:xfrm>
            <a:off x="6126480" y="3310128"/>
            <a:ext cx="5349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PM  </a:t>
            </a:r>
            <a:pPr indent="0" marL="0">
              <a:buNone/>
            </a:pPr>
            <a:r>
              <a:rPr lang="en-US" sz="1080" b="1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Emotional Readiness &amp; the Journey Map</a:t>
            </a:r>
            <a:endParaRPr lang="en-US" sz="1080" dirty="0"/>
          </a:p>
        </p:txBody>
      </p:sp>
      <p:sp>
        <p:nvSpPr>
          <p:cNvPr id="22" name="Text 19"/>
          <p:cNvSpPr/>
          <p:nvPr/>
        </p:nvSpPr>
        <p:spPr>
          <a:xfrm>
            <a:off x="6172200" y="3584448"/>
            <a:ext cx="5257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Emotional &amp; Transition Layer — Bridges position, Kübler-Ross sentiment inference, the Divergence Pattern (60m)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6172200" y="3858768"/>
            <a:ext cx="5257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Journey Map — reading the visual timeline, event types, organization-level zoom (60m)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6172200" y="4133088"/>
            <a:ext cx="5257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QZ-F2-2  </a:t>
            </a:r>
            <a:pPr indent="0" marL="0">
              <a:buNone/>
            </a:pPr>
            <a:r>
              <a:rPr lang="en-US" sz="90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— Bridges/Kübler-Ross + Divergence Pattern (8 items, 15m)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6172200" y="4389120"/>
            <a:ext cx="5257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WS-F2-2  </a:t>
            </a:r>
            <a:pPr indent="0" marL="0">
              <a:buNone/>
            </a:pPr>
            <a:r>
              <a:rPr lang="en-US" sz="90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— Diagnose a Divergence Case (90m)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5989320" y="4718304"/>
            <a:ext cx="5623560" cy="502920"/>
          </a:xfrm>
          <a:prstGeom prst="roundRect">
            <a:avLst>
              <a:gd name="adj" fmla="val 9091"/>
            </a:avLst>
          </a:prstGeom>
          <a:solidFill>
            <a:srgbClr val="15423A"/>
          </a:solidFill>
          <a:ln/>
        </p:spPr>
      </p:sp>
      <p:sp>
        <p:nvSpPr>
          <p:cNvPr id="27" name="Text 24"/>
          <p:cNvSpPr/>
          <p:nvPr/>
        </p:nvSpPr>
        <p:spPr>
          <a:xfrm>
            <a:off x="6126480" y="4718304"/>
            <a:ext cx="5349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EXM-F2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MCQ + 1 case-based scenario · 75 min · pass mark 75%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journi — Human Change Management Curriculum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TRN-F2 · WORKSHOPS IN DETAIL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00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&amp; Emotional Readiness — ADKAR and the Human Journey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440680" cy="4434840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.732270824587148e+41" dist="3.2746015592201804e+41" dir="5.44195584e+49">
              <a:srgbClr val="1B2E2B">
                <a:alpha val="1.8e+49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2084832"/>
            <a:ext cx="780898" cy="274320"/>
          </a:xfrm>
          <a:prstGeom prst="roundRect">
            <a:avLst>
              <a:gd name="adj" fmla="val 166667"/>
            </a:avLst>
          </a:prstGeom>
          <a:solidFill>
            <a:srgbClr val="1F6459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084832"/>
            <a:ext cx="7808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WS-F2-1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800600" y="2084832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min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731520" y="2450592"/>
            <a:ext cx="5074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and Score a Cohort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2944368"/>
            <a:ext cx="5074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31520" y="3182112"/>
            <a:ext cx="5074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Produce a correctly-flagged stakeholder map</a:t>
            </a:r>
            <a:endParaRPr lang="en-US" sz="930" dirty="0"/>
          </a:p>
        </p:txBody>
      </p:sp>
      <p:sp>
        <p:nvSpPr>
          <p:cNvPr id="11" name="Text 9"/>
          <p:cNvSpPr/>
          <p:nvPr/>
        </p:nvSpPr>
        <p:spPr>
          <a:xfrm>
            <a:off x="731520" y="3438144"/>
            <a:ext cx="5074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Score and justify an ADKAR baseline</a:t>
            </a:r>
            <a:endParaRPr lang="en-US" sz="930" dirty="0"/>
          </a:p>
        </p:txBody>
      </p:sp>
      <p:sp>
        <p:nvSpPr>
          <p:cNvPr id="12" name="Text 10"/>
          <p:cNvSpPr/>
          <p:nvPr/>
        </p:nvSpPr>
        <p:spPr>
          <a:xfrm>
            <a:off x="731520" y="3749040"/>
            <a:ext cx="5074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AGENDA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31520" y="3986784"/>
            <a:ext cx="5074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1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Add a new stakeholder group to the seeded ERP scenario</a:t>
            </a:r>
            <a:endParaRPr lang="en-US" sz="910" dirty="0"/>
          </a:p>
        </p:txBody>
      </p:sp>
      <p:sp>
        <p:nvSpPr>
          <p:cNvPr id="14" name="Text 12"/>
          <p:cNvSpPr/>
          <p:nvPr/>
        </p:nvSpPr>
        <p:spPr>
          <a:xfrm>
            <a:off x="731520" y="4279392"/>
            <a:ext cx="5074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1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Score its 5-dimension impact and influence</a:t>
            </a:r>
            <a:endParaRPr lang="en-US" sz="910" dirty="0"/>
          </a:p>
        </p:txBody>
      </p:sp>
      <p:sp>
        <p:nvSpPr>
          <p:cNvPr id="15" name="Text 13"/>
          <p:cNvSpPr/>
          <p:nvPr/>
        </p:nvSpPr>
        <p:spPr>
          <a:xfrm>
            <a:off x="731520" y="4572000"/>
            <a:ext cx="5074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1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Confirm the High-Impact / Low-Influence flag fires correctly</a:t>
            </a:r>
            <a:endParaRPr lang="en-US" sz="910" dirty="0"/>
          </a:p>
        </p:txBody>
      </p:sp>
      <p:sp>
        <p:nvSpPr>
          <p:cNvPr id="16" name="Text 14"/>
          <p:cNvSpPr/>
          <p:nvPr/>
        </p:nvSpPr>
        <p:spPr>
          <a:xfrm>
            <a:off x="731520" y="4864608"/>
            <a:ext cx="5074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1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Score and justify the cohort's ADKAR baseline across all 5 blocks</a:t>
            </a:r>
            <a:endParaRPr lang="en-US" sz="910" dirty="0"/>
          </a:p>
        </p:txBody>
      </p:sp>
      <p:sp>
        <p:nvSpPr>
          <p:cNvPr id="17" name="Shape 15"/>
          <p:cNvSpPr/>
          <p:nvPr/>
        </p:nvSpPr>
        <p:spPr>
          <a:xfrm>
            <a:off x="6172200" y="1920240"/>
            <a:ext cx="5440680" cy="4434840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.1089983947225678e+46" dist="4.158743980209629e+45" dir="3.2651735040000005e+54">
              <a:srgbClr val="1B2E2B">
                <a:alpha val="1.8e+54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355080" y="2084832"/>
            <a:ext cx="780898" cy="274320"/>
          </a:xfrm>
          <a:prstGeom prst="roundRect">
            <a:avLst>
              <a:gd name="adj" fmla="val 166667"/>
            </a:avLst>
          </a:prstGeom>
          <a:solidFill>
            <a:srgbClr val="1F6459"/>
          </a:solidFill>
          <a:ln/>
        </p:spPr>
      </p:sp>
      <p:sp>
        <p:nvSpPr>
          <p:cNvPr id="19" name="Text 17"/>
          <p:cNvSpPr/>
          <p:nvPr/>
        </p:nvSpPr>
        <p:spPr>
          <a:xfrm>
            <a:off x="6355080" y="2084832"/>
            <a:ext cx="7808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WS-F2-2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10424160" y="2084832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min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355080" y="2450592"/>
            <a:ext cx="5074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Diagnose a Divergence Case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355080" y="2944368"/>
            <a:ext cx="5074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GOALS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355080" y="3182112"/>
            <a:ext cx="5074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Recognize and respond to a Divergence Pattern</a:t>
            </a:r>
            <a:endParaRPr lang="en-US" sz="930" dirty="0"/>
          </a:p>
        </p:txBody>
      </p:sp>
      <p:sp>
        <p:nvSpPr>
          <p:cNvPr id="24" name="Text 22"/>
          <p:cNvSpPr/>
          <p:nvPr/>
        </p:nvSpPr>
        <p:spPr>
          <a:xfrm>
            <a:off x="6355080" y="3438144"/>
            <a:ext cx="5074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Add a justified Journey Map annotation</a:t>
            </a:r>
            <a:endParaRPr lang="en-US" sz="930" dirty="0"/>
          </a:p>
        </p:txBody>
      </p:sp>
      <p:sp>
        <p:nvSpPr>
          <p:cNvPr id="25" name="Text 23"/>
          <p:cNvSpPr/>
          <p:nvPr/>
        </p:nvSpPr>
        <p:spPr>
          <a:xfrm>
            <a:off x="6355080" y="3749040"/>
            <a:ext cx="5074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AGENDA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355080" y="3986784"/>
            <a:ext cx="5074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1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Given strong Knowledge/Ability but an "Ending" Bridges read, confirm the Divergence Alert</a:t>
            </a:r>
            <a:endParaRPr lang="en-US" sz="910" dirty="0"/>
          </a:p>
        </p:txBody>
      </p:sp>
      <p:sp>
        <p:nvSpPr>
          <p:cNvPr id="27" name="Text 25"/>
          <p:cNvSpPr/>
          <p:nvPr/>
        </p:nvSpPr>
        <p:spPr>
          <a:xfrm>
            <a:off x="6355080" y="4279392"/>
            <a:ext cx="5074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1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Log a justified sentiment update citing specific evidence</a:t>
            </a:r>
            <a:endParaRPr lang="en-US" sz="910" dirty="0"/>
          </a:p>
        </p:txBody>
      </p:sp>
      <p:sp>
        <p:nvSpPr>
          <p:cNvPr id="28" name="Text 26"/>
          <p:cNvSpPr/>
          <p:nvPr/>
        </p:nvSpPr>
        <p:spPr>
          <a:xfrm>
            <a:off x="6355080" y="4572000"/>
            <a:ext cx="5074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1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Add an annotated Journey Map event for the diagnosis</a:t>
            </a:r>
            <a:endParaRPr lang="en-US" sz="910" dirty="0"/>
          </a:p>
        </p:txBody>
      </p:sp>
      <p:sp>
        <p:nvSpPr>
          <p:cNvPr id="29" name="Text 27"/>
          <p:cNvSpPr/>
          <p:nvPr/>
        </p:nvSpPr>
        <p:spPr>
          <a:xfrm>
            <a:off x="6355080" y="4864608"/>
            <a:ext cx="5074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1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Explain the recommended loss-focused response vs. more training</a:t>
            </a:r>
            <a:endParaRPr lang="en-US" sz="910" dirty="0"/>
          </a:p>
        </p:txBody>
      </p:sp>
      <p:sp>
        <p:nvSpPr>
          <p:cNvPr id="30" name="Text 28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journi — Human Change Management Curriculum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 · TRN-F3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99669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20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Sponsorship, Communication &amp; Risk Basics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10835640" y="365760"/>
            <a:ext cx="566928" cy="566928"/>
          </a:xfrm>
          <a:prstGeom prst="ellipse">
            <a:avLst/>
          </a:prstGeom>
          <a:solidFill>
            <a:srgbClr val="1F6459"/>
          </a:solidFill>
          <a:ln/>
        </p:spPr>
      </p:sp>
      <p:pic>
        <p:nvPicPr>
          <p:cNvPr id="5" name="Image 0" descr="/home/user/scm-process-register/docs-src/curriculum-deck/assets/commen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63656" y="493776"/>
            <a:ext cx="310896" cy="31089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150876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GOALS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48640" y="1810512"/>
            <a:ext cx="5257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sponsor visibility and log sponsor actions</a:t>
            </a:r>
            <a:endParaRPr lang="en-US" sz="1080" dirty="0"/>
          </a:p>
        </p:txBody>
      </p:sp>
      <p:sp>
        <p:nvSpPr>
          <p:cNvPr id="8" name="Text 5"/>
          <p:cNvSpPr/>
          <p:nvPr/>
        </p:nvSpPr>
        <p:spPr>
          <a:xfrm>
            <a:off x="548640" y="2377440"/>
            <a:ext cx="5257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communication matrix and recognize saturation risk</a:t>
            </a:r>
            <a:endParaRPr lang="en-US" sz="1080" dirty="0"/>
          </a:p>
        </p:txBody>
      </p:sp>
      <p:sp>
        <p:nvSpPr>
          <p:cNvPr id="9" name="Text 6"/>
          <p:cNvSpPr/>
          <p:nvPr/>
        </p:nvSpPr>
        <p:spPr>
          <a:xfrm>
            <a:off x="548640" y="2944368"/>
            <a:ext cx="5257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and score change risk distinct from generic project risk</a:t>
            </a:r>
            <a:endParaRPr lang="en-US" sz="1080" dirty="0"/>
          </a:p>
        </p:txBody>
      </p:sp>
      <p:sp>
        <p:nvSpPr>
          <p:cNvPr id="10" name="Text 7"/>
          <p:cNvSpPr/>
          <p:nvPr/>
        </p:nvSpPr>
        <p:spPr>
          <a:xfrm>
            <a:off x="548640" y="3511296"/>
            <a:ext cx="5257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Notification Center to monitor live alert conditions</a:t>
            </a:r>
            <a:endParaRPr lang="en-US" sz="1080" dirty="0"/>
          </a:p>
        </p:txBody>
      </p:sp>
      <p:sp>
        <p:nvSpPr>
          <p:cNvPr id="11" name="Text 8"/>
          <p:cNvSpPr/>
          <p:nvPr/>
        </p:nvSpPr>
        <p:spPr>
          <a:xfrm>
            <a:off x="548640" y="4151376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AUDIENCE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48640" y="4443984"/>
            <a:ext cx="5257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8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Managers, Communications Practitioners, PMO</a:t>
            </a:r>
            <a:endParaRPr lang="en-US" sz="1080" dirty="0"/>
          </a:p>
        </p:txBody>
      </p:sp>
      <p:sp>
        <p:nvSpPr>
          <p:cNvPr id="13" name="Text 10"/>
          <p:cNvSpPr/>
          <p:nvPr/>
        </p:nvSpPr>
        <p:spPr>
          <a:xfrm>
            <a:off x="5989320" y="1508760"/>
            <a:ext cx="5623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AGENDA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989320" y="1828800"/>
            <a:ext cx="5623560" cy="1353312"/>
          </a:xfrm>
          <a:prstGeom prst="roundRect">
            <a:avLst>
              <a:gd name="adj" fmla="val 3378"/>
            </a:avLst>
          </a:prstGeom>
          <a:solidFill>
            <a:srgbClr val="EAF2EF"/>
          </a:solidFill>
          <a:ln/>
        </p:spPr>
      </p:sp>
      <p:sp>
        <p:nvSpPr>
          <p:cNvPr id="15" name="Text 12"/>
          <p:cNvSpPr/>
          <p:nvPr/>
        </p:nvSpPr>
        <p:spPr>
          <a:xfrm>
            <a:off x="6126480" y="1865376"/>
            <a:ext cx="5349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AM  </a:t>
            </a:r>
            <a:pPr indent="0" marL="0">
              <a:buNone/>
            </a:pPr>
            <a:r>
              <a:rPr lang="en-US" sz="1080" b="1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Sponsor &amp; Coalition, Communications</a:t>
            </a:r>
            <a:endParaRPr lang="en-US" sz="1080" dirty="0"/>
          </a:p>
        </p:txBody>
      </p:sp>
      <p:sp>
        <p:nvSpPr>
          <p:cNvPr id="16" name="Text 13"/>
          <p:cNvSpPr/>
          <p:nvPr/>
        </p:nvSpPr>
        <p:spPr>
          <a:xfrm>
            <a:off x="6172200" y="2139696"/>
            <a:ext cx="5257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Sponsor &amp; Coalition — visibility tracker, coalition roster, sponsor actions, the weak-visibility alert (60m)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6172200" y="2414016"/>
            <a:ext cx="5257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Communications — the message × audience × channel × timing matrix, saturation detection (60m)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6172200" y="2688336"/>
            <a:ext cx="5257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QZ-F3-1  </a:t>
            </a:r>
            <a:pPr indent="0" marL="0">
              <a:buNone/>
            </a:pPr>
            <a:r>
              <a:rPr lang="en-US" sz="90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— Sponsorship visibility + communication matrix (8 items, 15m)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6172200" y="2944368"/>
            <a:ext cx="5257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WS-F3-1  </a:t>
            </a:r>
            <a:pPr indent="0" marL="0">
              <a:buNone/>
            </a:pPr>
            <a:r>
              <a:rPr lang="en-US" sz="90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— Plan a Communication Wave (90m)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5989320" y="3273552"/>
            <a:ext cx="5623560" cy="1353312"/>
          </a:xfrm>
          <a:prstGeom prst="roundRect">
            <a:avLst>
              <a:gd name="adj" fmla="val 3378"/>
            </a:avLst>
          </a:prstGeom>
          <a:solidFill>
            <a:srgbClr val="EAF2EF"/>
          </a:solidFill>
          <a:ln/>
        </p:spPr>
      </p:sp>
      <p:sp>
        <p:nvSpPr>
          <p:cNvPr id="21" name="Text 18"/>
          <p:cNvSpPr/>
          <p:nvPr/>
        </p:nvSpPr>
        <p:spPr>
          <a:xfrm>
            <a:off x="6126480" y="3310128"/>
            <a:ext cx="5349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PM  </a:t>
            </a:r>
            <a:pPr indent="0" marL="0">
              <a:buNone/>
            </a:pPr>
            <a:r>
              <a:rPr lang="en-US" sz="1080" b="1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&amp; the Notification Center</a:t>
            </a:r>
            <a:endParaRPr lang="en-US" sz="1080" dirty="0"/>
          </a:p>
        </p:txBody>
      </p:sp>
      <p:sp>
        <p:nvSpPr>
          <p:cNvPr id="22" name="Text 19"/>
          <p:cNvSpPr/>
          <p:nvPr/>
        </p:nvSpPr>
        <p:spPr>
          <a:xfrm>
            <a:off x="6172200" y="3584448"/>
            <a:ext cx="5257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Change Risk Register — adoption/sponsorship/capacity/saturation categories, risk score, mitigation (60m)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6172200" y="3858768"/>
            <a:ext cx="5257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Notification Center — the 9 live alert conditions, dismiss/restore, tracing an alert to its module (60m)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6172200" y="4133088"/>
            <a:ext cx="5257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QZ-F3-2  </a:t>
            </a:r>
            <a:pPr indent="0" marL="0">
              <a:buNone/>
            </a:pPr>
            <a:r>
              <a:rPr lang="en-US" sz="90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— Risk categories + live alert conditions (8 items, 15m)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6172200" y="4389120"/>
            <a:ext cx="5257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WS-F3-2  </a:t>
            </a:r>
            <a:pPr indent="0" marL="0">
              <a:buNone/>
            </a:pPr>
            <a:r>
              <a:rPr lang="en-US" sz="90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— Close the Loop on a Risk (90m)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5989320" y="4718304"/>
            <a:ext cx="5623560" cy="502920"/>
          </a:xfrm>
          <a:prstGeom prst="roundRect">
            <a:avLst>
              <a:gd name="adj" fmla="val 9091"/>
            </a:avLst>
          </a:prstGeom>
          <a:solidFill>
            <a:srgbClr val="15423A"/>
          </a:solidFill>
          <a:ln/>
        </p:spPr>
      </p:sp>
      <p:sp>
        <p:nvSpPr>
          <p:cNvPr id="27" name="Text 24"/>
          <p:cNvSpPr/>
          <p:nvPr/>
        </p:nvSpPr>
        <p:spPr>
          <a:xfrm>
            <a:off x="6126480" y="4718304"/>
            <a:ext cx="5349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EXM-F3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MCQ · 60 min · pass mark 75%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journi — Human Change Management Curriculum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TRN-F3 · WORKSHOPS IN DETAIL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00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Sponsorship, Communication &amp; Risk Basics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440680" cy="4434840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.408427961297661e+50" dist="5.281604854866228e+49" dir="1.9591041024000004e+59">
              <a:srgbClr val="1B2E2B">
                <a:alpha val="1.8000000000000001e+59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2084832"/>
            <a:ext cx="780898" cy="274320"/>
          </a:xfrm>
          <a:prstGeom prst="roundRect">
            <a:avLst>
              <a:gd name="adj" fmla="val 166667"/>
            </a:avLst>
          </a:prstGeom>
          <a:solidFill>
            <a:srgbClr val="1F6459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084832"/>
            <a:ext cx="7808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WS-F3-1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800600" y="2084832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min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731520" y="2450592"/>
            <a:ext cx="5074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a Communication Wave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2944368"/>
            <a:ext cx="5074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31520" y="3182112"/>
            <a:ext cx="5074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Build a saturation-aware communication matrix</a:t>
            </a:r>
            <a:endParaRPr lang="en-US" sz="930" dirty="0"/>
          </a:p>
        </p:txBody>
      </p:sp>
      <p:sp>
        <p:nvSpPr>
          <p:cNvPr id="11" name="Text 9"/>
          <p:cNvSpPr/>
          <p:nvPr/>
        </p:nvSpPr>
        <p:spPr>
          <a:xfrm>
            <a:off x="731520" y="3438144"/>
            <a:ext cx="5074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Log a sponsor action addressing a visibility gap</a:t>
            </a:r>
            <a:endParaRPr lang="en-US" sz="930" dirty="0"/>
          </a:p>
        </p:txBody>
      </p:sp>
      <p:sp>
        <p:nvSpPr>
          <p:cNvPr id="12" name="Text 10"/>
          <p:cNvSpPr/>
          <p:nvPr/>
        </p:nvSpPr>
        <p:spPr>
          <a:xfrm>
            <a:off x="731520" y="3749040"/>
            <a:ext cx="5074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AGENDA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31520" y="3986784"/>
            <a:ext cx="5074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1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Build a 3-message communication matrix for a target cohort</a:t>
            </a:r>
            <a:endParaRPr lang="en-US" sz="910" dirty="0"/>
          </a:p>
        </p:txBody>
      </p:sp>
      <p:sp>
        <p:nvSpPr>
          <p:cNvPr id="14" name="Text 12"/>
          <p:cNvSpPr/>
          <p:nvPr/>
        </p:nvSpPr>
        <p:spPr>
          <a:xfrm>
            <a:off x="731520" y="4279392"/>
            <a:ext cx="5074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1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Run the Change Saturation Advisor AI use case and interpret its flag</a:t>
            </a:r>
            <a:endParaRPr lang="en-US" sz="910" dirty="0"/>
          </a:p>
        </p:txBody>
      </p:sp>
      <p:sp>
        <p:nvSpPr>
          <p:cNvPr id="15" name="Text 13"/>
          <p:cNvSpPr/>
          <p:nvPr/>
        </p:nvSpPr>
        <p:spPr>
          <a:xfrm>
            <a:off x="731520" y="4572000"/>
            <a:ext cx="5074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1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Log a sponsor action addressing an identified visibility gap</a:t>
            </a:r>
            <a:endParaRPr lang="en-US" sz="910" dirty="0"/>
          </a:p>
        </p:txBody>
      </p:sp>
      <p:sp>
        <p:nvSpPr>
          <p:cNvPr id="16" name="Text 14"/>
          <p:cNvSpPr/>
          <p:nvPr/>
        </p:nvSpPr>
        <p:spPr>
          <a:xfrm>
            <a:off x="731520" y="4864608"/>
            <a:ext cx="5074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1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Justify the linkage between each message and its ADKAR block</a:t>
            </a:r>
            <a:endParaRPr lang="en-US" sz="910" dirty="0"/>
          </a:p>
        </p:txBody>
      </p:sp>
      <p:sp>
        <p:nvSpPr>
          <p:cNvPr id="17" name="Shape 15"/>
          <p:cNvSpPr/>
          <p:nvPr/>
        </p:nvSpPr>
        <p:spPr>
          <a:xfrm>
            <a:off x="6172200" y="1920240"/>
            <a:ext cx="5440680" cy="4434840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.7887035108480297e+54" dist="6.70763816568011e+53" dir="1.1754624614400003e+64">
              <a:srgbClr val="1B2E2B">
                <a:alpha val="1.8e+64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355080" y="2084832"/>
            <a:ext cx="780898" cy="274320"/>
          </a:xfrm>
          <a:prstGeom prst="roundRect">
            <a:avLst>
              <a:gd name="adj" fmla="val 166667"/>
            </a:avLst>
          </a:prstGeom>
          <a:solidFill>
            <a:srgbClr val="1F6459"/>
          </a:solidFill>
          <a:ln/>
        </p:spPr>
      </p:sp>
      <p:sp>
        <p:nvSpPr>
          <p:cNvPr id="19" name="Text 17"/>
          <p:cNvSpPr/>
          <p:nvPr/>
        </p:nvSpPr>
        <p:spPr>
          <a:xfrm>
            <a:off x="6355080" y="2084832"/>
            <a:ext cx="7808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WS-F3-2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10424160" y="2084832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min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355080" y="2450592"/>
            <a:ext cx="5074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Loop on a Risk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355080" y="2944368"/>
            <a:ext cx="5074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GOALS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355080" y="3182112"/>
            <a:ext cx="5074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Log and mitigate a change risk end-to-end</a:t>
            </a:r>
            <a:endParaRPr lang="en-US" sz="930" dirty="0"/>
          </a:p>
        </p:txBody>
      </p:sp>
      <p:sp>
        <p:nvSpPr>
          <p:cNvPr id="24" name="Text 22"/>
          <p:cNvSpPr/>
          <p:nvPr/>
        </p:nvSpPr>
        <p:spPr>
          <a:xfrm>
            <a:off x="6355080" y="3438144"/>
            <a:ext cx="5074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Correctly interpret and clear a live alert</a:t>
            </a:r>
            <a:endParaRPr lang="en-US" sz="930" dirty="0"/>
          </a:p>
        </p:txBody>
      </p:sp>
      <p:sp>
        <p:nvSpPr>
          <p:cNvPr id="25" name="Text 23"/>
          <p:cNvSpPr/>
          <p:nvPr/>
        </p:nvSpPr>
        <p:spPr>
          <a:xfrm>
            <a:off x="6355080" y="3749040"/>
            <a:ext cx="5074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AGENDA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355080" y="3986784"/>
            <a:ext cx="5074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1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Log a saturation risk with likelihood/impact scoring</a:t>
            </a:r>
            <a:endParaRPr lang="en-US" sz="910" dirty="0"/>
          </a:p>
        </p:txBody>
      </p:sp>
      <p:sp>
        <p:nvSpPr>
          <p:cNvPr id="27" name="Text 25"/>
          <p:cNvSpPr/>
          <p:nvPr/>
        </p:nvSpPr>
        <p:spPr>
          <a:xfrm>
            <a:off x="6355080" y="4279392"/>
            <a:ext cx="5074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1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Add a mitigation action with an owner and due date</a:t>
            </a:r>
            <a:endParaRPr lang="en-US" sz="910" dirty="0"/>
          </a:p>
        </p:txBody>
      </p:sp>
      <p:sp>
        <p:nvSpPr>
          <p:cNvPr id="28" name="Text 26"/>
          <p:cNvSpPr/>
          <p:nvPr/>
        </p:nvSpPr>
        <p:spPr>
          <a:xfrm>
            <a:off x="6355080" y="4572000"/>
            <a:ext cx="5074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1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Verify the corresponding alert fires in the Notification Center</a:t>
            </a:r>
            <a:endParaRPr lang="en-US" sz="910" dirty="0"/>
          </a:p>
        </p:txBody>
      </p:sp>
      <p:sp>
        <p:nvSpPr>
          <p:cNvPr id="29" name="Text 27"/>
          <p:cNvSpPr/>
          <p:nvPr/>
        </p:nvSpPr>
        <p:spPr>
          <a:xfrm>
            <a:off x="6355080" y="4864608"/>
            <a:ext cx="5074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1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Dismiss the alert once mitigated and explain when Restore applies</a:t>
            </a:r>
            <a:endParaRPr lang="en-US" sz="910" dirty="0"/>
          </a:p>
        </p:txBody>
      </p:sp>
      <p:sp>
        <p:nvSpPr>
          <p:cNvPr id="30" name="Text 28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journi — Human Change Management Curriculum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54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LVL-P  ·  LEVEL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48640" y="777240"/>
            <a:ext cx="822960" cy="822960"/>
          </a:xfrm>
          <a:prstGeom prst="ellipse">
            <a:avLst/>
          </a:prstGeom>
          <a:solidFill>
            <a:srgbClr val="C2661C"/>
          </a:solidFill>
          <a:ln/>
        </p:spPr>
      </p:sp>
      <p:pic>
        <p:nvPicPr>
          <p:cNvPr id="4" name="Image 0" descr="/home/user/scm-process-register/docs-src/curriculum-deck/assets/chalkboard-us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960120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00200" y="7772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Practitioner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1600200" y="15087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3F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 a Change Program in journi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548640" y="2148840"/>
            <a:ext cx="5349240" cy="187452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/>
        </p:spPr>
      </p:sp>
      <p:sp>
        <p:nvSpPr>
          <p:cNvPr id="8" name="Text 5"/>
          <p:cNvSpPr/>
          <p:nvPr/>
        </p:nvSpPr>
        <p:spPr>
          <a:xfrm>
            <a:off x="777240" y="2304288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AUDIENCE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777240" y="2606040"/>
            <a:ext cx="484632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Assigned or certified Change Managers who will own a real Change Management Project end-to-end. Prerequisite: Foundation credential.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035040" y="2148840"/>
            <a:ext cx="5623560" cy="187452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/>
        </p:spPr>
      </p:sp>
      <p:sp>
        <p:nvSpPr>
          <p:cNvPr id="11" name="Text 8"/>
          <p:cNvSpPr/>
          <p:nvPr/>
        </p:nvSpPr>
        <p:spPr>
          <a:xfrm>
            <a:off x="6263640" y="2304288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OUTCOME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263640" y="2606040"/>
            <a:ext cx="512064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 a program from charter through Phase Gate decisions, manage training/resistance/coaching data, and operate governed AI safely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420624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E3F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TRAININGS IN THIS LEVEL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548640" y="457200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TRN-P1  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D8EA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 Governance — Charters, WBS &amp; Phase Gates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548640" y="4919472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TRN-P2  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D8EA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Training, Resistance &amp; Coaching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548640" y="5266944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TRN-P3  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D8EA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in Change Management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48640" y="5806440"/>
            <a:ext cx="11064240" cy="685800"/>
          </a:xfrm>
          <a:prstGeom prst="roundRect">
            <a:avLst>
              <a:gd name="adj" fmla="val 6667"/>
            </a:avLst>
          </a:prstGeom>
          <a:solidFill>
            <a:srgbClr val="15423A"/>
          </a:solidFill>
          <a:ln/>
        </p:spPr>
      </p:sp>
      <p:sp>
        <p:nvSpPr>
          <p:cNvPr id="18" name="Text 15"/>
          <p:cNvSpPr/>
          <p:nvPr/>
        </p:nvSpPr>
        <p:spPr>
          <a:xfrm>
            <a:off x="777240" y="5806440"/>
            <a:ext cx="10607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EXM-LVL-P  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MCQ (drawn from TRN-P1–P3) + 1 integrated practical (Phase Gate + resistance pattern + AI activation decision) · 3.5h · pass mark 80% · unlocks Advanced enrollment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FE3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journi — Human Change Management Curriculum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FE3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PRACTITIONER · TRN-P1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99669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2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 Governance — Charters, WBS &amp; Phase Gates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10835640" y="365760"/>
            <a:ext cx="566928" cy="566928"/>
          </a:xfrm>
          <a:prstGeom prst="ellipse">
            <a:avLst/>
          </a:prstGeom>
          <a:solidFill>
            <a:srgbClr val="15423A"/>
          </a:solidFill>
          <a:ln/>
        </p:spPr>
      </p:sp>
      <p:pic>
        <p:nvPicPr>
          <p:cNvPr id="5" name="Image 0" descr="/home/user/scm-process-register/docs-src/curriculum-deck/assets/rou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63656" y="493776"/>
            <a:ext cx="310896" cy="31089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150876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GOALS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48640" y="1810512"/>
            <a:ext cx="5257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and manage a Change Management Project and its Initiative Registry record</a:t>
            </a:r>
            <a:endParaRPr lang="en-US" sz="1080" dirty="0"/>
          </a:p>
        </p:txBody>
      </p:sp>
      <p:sp>
        <p:nvSpPr>
          <p:cNvPr id="8" name="Text 5"/>
          <p:cNvSpPr/>
          <p:nvPr/>
        </p:nvSpPr>
        <p:spPr>
          <a:xfrm>
            <a:off x="548640" y="2377440"/>
            <a:ext cx="5257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a Phase Template and build a WBS spanning PM / CM / Framework tracks</a:t>
            </a:r>
            <a:endParaRPr lang="en-US" sz="1080" dirty="0"/>
          </a:p>
        </p:txBody>
      </p:sp>
      <p:sp>
        <p:nvSpPr>
          <p:cNvPr id="9" name="Text 6"/>
          <p:cNvSpPr/>
          <p:nvPr/>
        </p:nvSpPr>
        <p:spPr>
          <a:xfrm>
            <a:off x="548640" y="2944368"/>
            <a:ext cx="5257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and interpret a Phase Gate Joint Decision</a:t>
            </a:r>
            <a:endParaRPr lang="en-US" sz="1080" dirty="0"/>
          </a:p>
        </p:txBody>
      </p:sp>
      <p:sp>
        <p:nvSpPr>
          <p:cNvPr id="10" name="Text 7"/>
          <p:cNvSpPr/>
          <p:nvPr/>
        </p:nvSpPr>
        <p:spPr>
          <a:xfrm>
            <a:off x="548640" y="3511296"/>
            <a:ext cx="5257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 and manage CM Charter definitions and their compliance log</a:t>
            </a:r>
            <a:endParaRPr lang="en-US" sz="1080" dirty="0"/>
          </a:p>
        </p:txBody>
      </p:sp>
      <p:sp>
        <p:nvSpPr>
          <p:cNvPr id="11" name="Text 8"/>
          <p:cNvSpPr/>
          <p:nvPr/>
        </p:nvSpPr>
        <p:spPr>
          <a:xfrm>
            <a:off x="548640" y="4151376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AUDIENCE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48640" y="4443984"/>
            <a:ext cx="5257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8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Managers, PMO / Program Managers (Foundation credential required)</a:t>
            </a:r>
            <a:endParaRPr lang="en-US" sz="1080" dirty="0"/>
          </a:p>
        </p:txBody>
      </p:sp>
      <p:sp>
        <p:nvSpPr>
          <p:cNvPr id="13" name="Text 10"/>
          <p:cNvSpPr/>
          <p:nvPr/>
        </p:nvSpPr>
        <p:spPr>
          <a:xfrm>
            <a:off x="5989320" y="1508760"/>
            <a:ext cx="5623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AGENDA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989320" y="1828800"/>
            <a:ext cx="5623560" cy="1353312"/>
          </a:xfrm>
          <a:prstGeom prst="roundRect">
            <a:avLst>
              <a:gd name="adj" fmla="val 3378"/>
            </a:avLst>
          </a:prstGeom>
          <a:solidFill>
            <a:srgbClr val="DCEEE8"/>
          </a:solidFill>
          <a:ln/>
        </p:spPr>
      </p:sp>
      <p:sp>
        <p:nvSpPr>
          <p:cNvPr id="15" name="Text 12"/>
          <p:cNvSpPr/>
          <p:nvPr/>
        </p:nvSpPr>
        <p:spPr>
          <a:xfrm>
            <a:off x="6126480" y="1865376"/>
            <a:ext cx="5349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AM  </a:t>
            </a:r>
            <a:pPr indent="0" marL="0">
              <a:buNone/>
            </a:pPr>
            <a:r>
              <a:rPr lang="en-US" sz="1080" b="1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Initiative Registry &amp; Charters</a:t>
            </a:r>
            <a:endParaRPr lang="en-US" sz="1080" dirty="0"/>
          </a:p>
        </p:txBody>
      </p:sp>
      <p:sp>
        <p:nvSpPr>
          <p:cNvPr id="16" name="Text 13"/>
          <p:cNvSpPr/>
          <p:nvPr/>
        </p:nvSpPr>
        <p:spPr>
          <a:xfrm>
            <a:off x="6172200" y="2139696"/>
            <a:ext cx="5257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Initiative Registry — metadata, Lewin macro-state, the justified-change pattern, Composite Readiness Index (60m)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6172200" y="2414016"/>
            <a:ext cx="5257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CM Charter Registry — the 8 charters, action mapping, compliance logging, Mentoring Progression reference (60m)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6172200" y="2688336"/>
            <a:ext cx="5257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QZ-P1-1  </a:t>
            </a:r>
            <a:pPr indent="0" marL="0">
              <a:buNone/>
            </a:pPr>
            <a:r>
              <a:rPr lang="en-US" sz="90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— Lewin phases + charter structure (8 items, 15m)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6172200" y="2944368"/>
            <a:ext cx="5257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WS-P1-1  </a:t>
            </a:r>
            <a:pPr indent="0" marL="0">
              <a:buNone/>
            </a:pPr>
            <a:r>
              <a:rPr lang="en-US" sz="90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— Register and Charter a New Initiative (90m)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5989320" y="3273552"/>
            <a:ext cx="5623560" cy="1353312"/>
          </a:xfrm>
          <a:prstGeom prst="roundRect">
            <a:avLst>
              <a:gd name="adj" fmla="val 3378"/>
            </a:avLst>
          </a:prstGeom>
          <a:solidFill>
            <a:srgbClr val="DCEEE8"/>
          </a:solidFill>
          <a:ln/>
        </p:spPr>
      </p:sp>
      <p:sp>
        <p:nvSpPr>
          <p:cNvPr id="21" name="Text 18"/>
          <p:cNvSpPr/>
          <p:nvPr/>
        </p:nvSpPr>
        <p:spPr>
          <a:xfrm>
            <a:off x="6126480" y="3310128"/>
            <a:ext cx="5349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PM  </a:t>
            </a:r>
            <a:pPr indent="0" marL="0">
              <a:buNone/>
            </a:pPr>
            <a:r>
              <a:rPr lang="en-US" sz="1080" b="1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WBS, Gantt &amp; Phase Gates</a:t>
            </a:r>
            <a:endParaRPr lang="en-US" sz="1080" dirty="0"/>
          </a:p>
        </p:txBody>
      </p:sp>
      <p:sp>
        <p:nvSpPr>
          <p:cNvPr id="22" name="Text 19"/>
          <p:cNvSpPr/>
          <p:nvPr/>
        </p:nvSpPr>
        <p:spPr>
          <a:xfrm>
            <a:off x="6172200" y="3584448"/>
            <a:ext cx="5257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WBS &amp; Gantt — 3 tracks, baseline vs. actual, schedule gap, Load Phase Template (60m)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6172200" y="3858768"/>
            <a:ext cx="5257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Phase Checklists &amp; Phase Gates — checklist weighting, the Joint Decision Record, PM↔CM bridge (60m)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6172200" y="4133088"/>
            <a:ext cx="5257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QZ-P1-2  </a:t>
            </a:r>
            <a:pPr indent="0" marL="0">
              <a:buNone/>
            </a:pPr>
            <a:r>
              <a:rPr lang="en-US" sz="90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— WBS tracks + Phase Gate mechanics (8 items, 15m)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6172200" y="4389120"/>
            <a:ext cx="5257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WS-P1-2  </a:t>
            </a:r>
            <a:pPr indent="0" marL="0">
              <a:buNone/>
            </a:pPr>
            <a:r>
              <a:rPr lang="en-US" sz="90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— Run a Phase Gate (90m)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5989320" y="4718304"/>
            <a:ext cx="5623560" cy="502920"/>
          </a:xfrm>
          <a:prstGeom prst="roundRect">
            <a:avLst>
              <a:gd name="adj" fmla="val 9091"/>
            </a:avLst>
          </a:prstGeom>
          <a:solidFill>
            <a:srgbClr val="15423A"/>
          </a:solidFill>
          <a:ln/>
        </p:spPr>
      </p:sp>
      <p:sp>
        <p:nvSpPr>
          <p:cNvPr id="27" name="Text 24"/>
          <p:cNvSpPr/>
          <p:nvPr/>
        </p:nvSpPr>
        <p:spPr>
          <a:xfrm>
            <a:off x="6126480" y="4718304"/>
            <a:ext cx="5349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EXM-P1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MCQ + 1 practical (record a Phase Gate end-to-end) · 90 min · pass mark 75%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journi — Human Change Management Curriculum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TRN-P1 · WORKSHOPS IN DETAIL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0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 Governance — Charters, WBS &amp; Phase Gates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440680" cy="4434840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.2716534587769977e+58" dist="8.518700470413739e+57" dir="7.052774768640002e+68">
              <a:srgbClr val="1B2E2B">
                <a:alpha val="1.8e+69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2084832"/>
            <a:ext cx="780898" cy="274320"/>
          </a:xfrm>
          <a:prstGeom prst="roundRect">
            <a:avLst>
              <a:gd name="adj" fmla="val 166667"/>
            </a:avLst>
          </a:prstGeom>
          <a:solidFill>
            <a:srgbClr val="15423A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084832"/>
            <a:ext cx="7808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WS-P1-1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800600" y="2084832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min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731520" y="2450592"/>
            <a:ext cx="5074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and Charter a New Initiative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2944368"/>
            <a:ext cx="5074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31520" y="3182112"/>
            <a:ext cx="5074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Correctly set up a governed CM Project record</a:t>
            </a:r>
            <a:endParaRPr lang="en-US" sz="930" dirty="0"/>
          </a:p>
        </p:txBody>
      </p:sp>
      <p:sp>
        <p:nvSpPr>
          <p:cNvPr id="11" name="Text 9"/>
          <p:cNvSpPr/>
          <p:nvPr/>
        </p:nvSpPr>
        <p:spPr>
          <a:xfrm>
            <a:off x="731520" y="3438144"/>
            <a:ext cx="5074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Log charter-action compliance evidence</a:t>
            </a:r>
            <a:endParaRPr lang="en-US" sz="930" dirty="0"/>
          </a:p>
        </p:txBody>
      </p:sp>
      <p:sp>
        <p:nvSpPr>
          <p:cNvPr id="12" name="Text 10"/>
          <p:cNvSpPr/>
          <p:nvPr/>
        </p:nvSpPr>
        <p:spPr>
          <a:xfrm>
            <a:off x="731520" y="3749040"/>
            <a:ext cx="5074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AGENDA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31520" y="3986784"/>
            <a:ext cx="5074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1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Create a CM Project linked to a Main Project</a:t>
            </a:r>
            <a:endParaRPr lang="en-US" sz="910" dirty="0"/>
          </a:p>
        </p:txBody>
      </p:sp>
      <p:sp>
        <p:nvSpPr>
          <p:cNvPr id="14" name="Text 12"/>
          <p:cNvSpPr/>
          <p:nvPr/>
        </p:nvSpPr>
        <p:spPr>
          <a:xfrm>
            <a:off x="731520" y="4279392"/>
            <a:ext cx="5074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1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Set its Lewin macro-state with a written justification</a:t>
            </a:r>
            <a:endParaRPr lang="en-US" sz="910" dirty="0"/>
          </a:p>
        </p:txBody>
      </p:sp>
      <p:sp>
        <p:nvSpPr>
          <p:cNvPr id="15" name="Text 13"/>
          <p:cNvSpPr/>
          <p:nvPr/>
        </p:nvSpPr>
        <p:spPr>
          <a:xfrm>
            <a:off x="731520" y="4572000"/>
            <a:ext cx="5074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1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Log 2 charter-action compliance instances against CHTR-01 and CHTR-03</a:t>
            </a:r>
            <a:endParaRPr lang="en-US" sz="910" dirty="0"/>
          </a:p>
        </p:txBody>
      </p:sp>
      <p:sp>
        <p:nvSpPr>
          <p:cNvPr id="16" name="Text 14"/>
          <p:cNvSpPr/>
          <p:nvPr/>
        </p:nvSpPr>
        <p:spPr>
          <a:xfrm>
            <a:off x="731520" y="4864608"/>
            <a:ext cx="5074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1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Compute the project's Composite Readiness Index by hand and verify it against the dashboard</a:t>
            </a:r>
            <a:endParaRPr lang="en-US" sz="910" dirty="0"/>
          </a:p>
        </p:txBody>
      </p:sp>
      <p:sp>
        <p:nvSpPr>
          <p:cNvPr id="17" name="Shape 15"/>
          <p:cNvSpPr/>
          <p:nvPr/>
        </p:nvSpPr>
        <p:spPr>
          <a:xfrm>
            <a:off x="6172200" y="1920240"/>
            <a:ext cx="5440680" cy="4434840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.8849998926467873e+62" dist="1.081874959742545e+62" dir="4.2316648611840007e+73">
              <a:srgbClr val="1B2E2B">
                <a:alpha val="1.8000000000000002e+74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355080" y="2084832"/>
            <a:ext cx="780898" cy="274320"/>
          </a:xfrm>
          <a:prstGeom prst="roundRect">
            <a:avLst>
              <a:gd name="adj" fmla="val 166667"/>
            </a:avLst>
          </a:prstGeom>
          <a:solidFill>
            <a:srgbClr val="15423A"/>
          </a:solidFill>
          <a:ln/>
        </p:spPr>
      </p:sp>
      <p:sp>
        <p:nvSpPr>
          <p:cNvPr id="19" name="Text 17"/>
          <p:cNvSpPr/>
          <p:nvPr/>
        </p:nvSpPr>
        <p:spPr>
          <a:xfrm>
            <a:off x="6355080" y="2084832"/>
            <a:ext cx="7808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WS-P1-2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10424160" y="2084832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min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355080" y="2450592"/>
            <a:ext cx="5074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 Phase Gate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355080" y="2944368"/>
            <a:ext cx="5074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GOALS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355080" y="3182112"/>
            <a:ext cx="5074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Build a working WBS from a template</a:t>
            </a:r>
            <a:endParaRPr lang="en-US" sz="930" dirty="0"/>
          </a:p>
        </p:txBody>
      </p:sp>
      <p:sp>
        <p:nvSpPr>
          <p:cNvPr id="24" name="Text 22"/>
          <p:cNvSpPr/>
          <p:nvPr/>
        </p:nvSpPr>
        <p:spPr>
          <a:xfrm>
            <a:off x="6355080" y="3438144"/>
            <a:ext cx="5074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Record a defensible Phase Gate decision</a:t>
            </a:r>
            <a:endParaRPr lang="en-US" sz="930" dirty="0"/>
          </a:p>
        </p:txBody>
      </p:sp>
      <p:sp>
        <p:nvSpPr>
          <p:cNvPr id="25" name="Text 23"/>
          <p:cNvSpPr/>
          <p:nvPr/>
        </p:nvSpPr>
        <p:spPr>
          <a:xfrm>
            <a:off x="6355080" y="3749040"/>
            <a:ext cx="5074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AGENDA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355080" y="3986784"/>
            <a:ext cx="5074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1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Load TPL-ERP-8 into a project's WBS from a chosen start date</a:t>
            </a:r>
            <a:endParaRPr lang="en-US" sz="910" dirty="0"/>
          </a:p>
        </p:txBody>
      </p:sp>
      <p:sp>
        <p:nvSpPr>
          <p:cNvPr id="27" name="Text 25"/>
          <p:cNvSpPr/>
          <p:nvPr/>
        </p:nvSpPr>
        <p:spPr>
          <a:xfrm>
            <a:off x="6355080" y="4279392"/>
            <a:ext cx="5074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1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Mark 2 tasks with actual dates to generate a schedule gap</a:t>
            </a:r>
            <a:endParaRPr lang="en-US" sz="910" dirty="0"/>
          </a:p>
        </p:txBody>
      </p:sp>
      <p:sp>
        <p:nvSpPr>
          <p:cNvPr id="28" name="Text 26"/>
          <p:cNvSpPr/>
          <p:nvPr/>
        </p:nvSpPr>
        <p:spPr>
          <a:xfrm>
            <a:off x="6355080" y="4572000"/>
            <a:ext cx="5074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1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Complete a weighted Phase Checklist</a:t>
            </a:r>
            <a:endParaRPr lang="en-US" sz="910" dirty="0"/>
          </a:p>
        </p:txBody>
      </p:sp>
      <p:sp>
        <p:nvSpPr>
          <p:cNvPr id="29" name="Text 27"/>
          <p:cNvSpPr/>
          <p:nvPr/>
        </p:nvSpPr>
        <p:spPr>
          <a:xfrm>
            <a:off x="6355080" y="4864608"/>
            <a:ext cx="5074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1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Record a Phase Gate Joint Decision naming an Accountable role, independent of either input's author</a:t>
            </a:r>
            <a:endParaRPr lang="en-US" sz="910" dirty="0"/>
          </a:p>
        </p:txBody>
      </p:sp>
      <p:sp>
        <p:nvSpPr>
          <p:cNvPr id="30" name="Text 28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journi — Human Change Management Curriculum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PRACTITIONER · TRN-P2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99669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2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Training, Resistance &amp; Coaching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10835640" y="365760"/>
            <a:ext cx="566928" cy="566928"/>
          </a:xfrm>
          <a:prstGeom prst="ellipse">
            <a:avLst/>
          </a:prstGeom>
          <a:solidFill>
            <a:srgbClr val="15423A"/>
          </a:solidFill>
          <a:ln/>
        </p:spPr>
      </p:sp>
      <p:pic>
        <p:nvPicPr>
          <p:cNvPr id="5" name="Image 0" descr="/home/user/scm-process-register/docs-src/curriculum-deck/assets/graduation-c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63656" y="493776"/>
            <a:ext cx="310896" cy="31089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150876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GOALS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48640" y="1810512"/>
            <a:ext cx="5257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curriculum records and the trained-vs-capable distinction</a:t>
            </a:r>
            <a:endParaRPr lang="en-US" sz="1080" dirty="0"/>
          </a:p>
        </p:txBody>
      </p:sp>
      <p:sp>
        <p:nvSpPr>
          <p:cNvPr id="8" name="Text 5"/>
          <p:cNvSpPr/>
          <p:nvPr/>
        </p:nvSpPr>
        <p:spPr>
          <a:xfrm>
            <a:off x="548640" y="2377440"/>
            <a:ext cx="5257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Log, classify and resolve resistance; use the Qualitative Coding Workbench</a:t>
            </a:r>
            <a:endParaRPr lang="en-US" sz="1080" dirty="0"/>
          </a:p>
        </p:txBody>
      </p:sp>
      <p:sp>
        <p:nvSpPr>
          <p:cNvPr id="9" name="Text 6"/>
          <p:cNvSpPr/>
          <p:nvPr/>
        </p:nvSpPr>
        <p:spPr>
          <a:xfrm>
            <a:off x="548640" y="2944368"/>
            <a:ext cx="5257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Operate the Manager-as-Coach team-scoped view</a:t>
            </a:r>
            <a:endParaRPr lang="en-US" sz="1080" dirty="0"/>
          </a:p>
        </p:txBody>
      </p:sp>
      <p:sp>
        <p:nvSpPr>
          <p:cNvPr id="10" name="Text 7"/>
          <p:cNvSpPr/>
          <p:nvPr/>
        </p:nvSpPr>
        <p:spPr>
          <a:xfrm>
            <a:off x="548640" y="3511296"/>
            <a:ext cx="5257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the 3-stage Mentoring Progression model (Trainee → Observer → Autonomous)</a:t>
            </a:r>
            <a:endParaRPr lang="en-US" sz="1080" dirty="0"/>
          </a:p>
        </p:txBody>
      </p:sp>
      <p:sp>
        <p:nvSpPr>
          <p:cNvPr id="11" name="Text 8"/>
          <p:cNvSpPr/>
          <p:nvPr/>
        </p:nvSpPr>
        <p:spPr>
          <a:xfrm>
            <a:off x="548640" y="4151376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AUDIENCE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48640" y="4443984"/>
            <a:ext cx="5257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8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Managers, Trainers, People Managers / Coaches (Foundation credential required)</a:t>
            </a:r>
            <a:endParaRPr lang="en-US" sz="1080" dirty="0"/>
          </a:p>
        </p:txBody>
      </p:sp>
      <p:sp>
        <p:nvSpPr>
          <p:cNvPr id="13" name="Text 10"/>
          <p:cNvSpPr/>
          <p:nvPr/>
        </p:nvSpPr>
        <p:spPr>
          <a:xfrm>
            <a:off x="5989320" y="1508760"/>
            <a:ext cx="5623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AGENDA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989320" y="1828800"/>
            <a:ext cx="5623560" cy="1353312"/>
          </a:xfrm>
          <a:prstGeom prst="roundRect">
            <a:avLst>
              <a:gd name="adj" fmla="val 3378"/>
            </a:avLst>
          </a:prstGeom>
          <a:solidFill>
            <a:srgbClr val="DCEEE8"/>
          </a:solidFill>
          <a:ln/>
        </p:spPr>
      </p:sp>
      <p:sp>
        <p:nvSpPr>
          <p:cNvPr id="15" name="Text 12"/>
          <p:cNvSpPr/>
          <p:nvPr/>
        </p:nvSpPr>
        <p:spPr>
          <a:xfrm>
            <a:off x="6126480" y="1865376"/>
            <a:ext cx="5349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AM  </a:t>
            </a:r>
            <a:pPr indent="0" marL="0">
              <a:buNone/>
            </a:pPr>
            <a:r>
              <a:rPr lang="en-US" sz="1080" b="1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&amp; Capability</a:t>
            </a:r>
            <a:endParaRPr lang="en-US" sz="1080" dirty="0"/>
          </a:p>
        </p:txBody>
      </p:sp>
      <p:sp>
        <p:nvSpPr>
          <p:cNvPr id="16" name="Text 13"/>
          <p:cNvSpPr/>
          <p:nvPr/>
        </p:nvSpPr>
        <p:spPr>
          <a:xfrm>
            <a:off x="6172200" y="2139696"/>
            <a:ext cx="5257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Training &amp; Capability Building — curriculum fields, completion vs. certification, the needs banner (60m)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6172200" y="2414016"/>
            <a:ext cx="5257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Mentoring Progression model — 3 stages, entry/exit criteria, the one-stage-back regression path (60m)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6172200" y="2688336"/>
            <a:ext cx="5257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QZ-P2-1  </a:t>
            </a:r>
            <a:pPr indent="0" marL="0">
              <a:buNone/>
            </a:pPr>
            <a:r>
              <a:rPr lang="en-US" sz="90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— Trained vs. capable + mentoring stages (8 items, 15m)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6172200" y="2944368"/>
            <a:ext cx="5257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WS-P2-1  </a:t>
            </a:r>
            <a:pPr indent="0" marL="0">
              <a:buNone/>
            </a:pPr>
            <a:r>
              <a:rPr lang="en-US" sz="90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— Build a Curriculum and Mentor a Trainee (90m)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5989320" y="3273552"/>
            <a:ext cx="5623560" cy="1353312"/>
          </a:xfrm>
          <a:prstGeom prst="roundRect">
            <a:avLst>
              <a:gd name="adj" fmla="val 3378"/>
            </a:avLst>
          </a:prstGeom>
          <a:solidFill>
            <a:srgbClr val="DCEEE8"/>
          </a:solidFill>
          <a:ln/>
        </p:spPr>
      </p:sp>
      <p:sp>
        <p:nvSpPr>
          <p:cNvPr id="21" name="Text 18"/>
          <p:cNvSpPr/>
          <p:nvPr/>
        </p:nvSpPr>
        <p:spPr>
          <a:xfrm>
            <a:off x="6126480" y="3310128"/>
            <a:ext cx="5349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PM  </a:t>
            </a:r>
            <a:pPr indent="0" marL="0">
              <a:buNone/>
            </a:pPr>
            <a:r>
              <a:rPr lang="en-US" sz="1080" b="1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Resistance &amp; Coaching</a:t>
            </a:r>
            <a:endParaRPr lang="en-US" sz="1080" dirty="0"/>
          </a:p>
        </p:txBody>
      </p:sp>
      <p:sp>
        <p:nvSpPr>
          <p:cNvPr id="22" name="Text 19"/>
          <p:cNvSpPr/>
          <p:nvPr/>
        </p:nvSpPr>
        <p:spPr>
          <a:xfrm>
            <a:off x="6172200" y="3584448"/>
            <a:ext cx="5257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Resistance Management — type classification, systemic-pattern detection, Coding Workbench (60m)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6172200" y="3858768"/>
            <a:ext cx="5257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Manager-as-Coach — team-scoped heatmap, manager readiness, coaching scripts (60m)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6172200" y="4133088"/>
            <a:ext cx="5257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QZ-P2-2  </a:t>
            </a:r>
            <a:pPr indent="0" marL="0">
              <a:buNone/>
            </a:pPr>
            <a:r>
              <a:rPr lang="en-US" sz="90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— Resistance types + coaching model (8 items, 15m)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6172200" y="4389120"/>
            <a:ext cx="5257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WS-P2-2  </a:t>
            </a:r>
            <a:pPr indent="0" marL="0">
              <a:buNone/>
            </a:pPr>
            <a:r>
              <a:rPr lang="en-US" sz="90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— Code a Pattern, Coach a Manager (90m)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5989320" y="4718304"/>
            <a:ext cx="5623560" cy="502920"/>
          </a:xfrm>
          <a:prstGeom prst="roundRect">
            <a:avLst>
              <a:gd name="adj" fmla="val 9091"/>
            </a:avLst>
          </a:prstGeom>
          <a:solidFill>
            <a:srgbClr val="15423A"/>
          </a:solidFill>
          <a:ln/>
        </p:spPr>
      </p:sp>
      <p:sp>
        <p:nvSpPr>
          <p:cNvPr id="27" name="Text 24"/>
          <p:cNvSpPr/>
          <p:nvPr/>
        </p:nvSpPr>
        <p:spPr>
          <a:xfrm>
            <a:off x="6126480" y="4718304"/>
            <a:ext cx="5349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EXM-P2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MCQ + 1 case study · 75 min · pass mark 75%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journi — Human Change Management Curriculum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TRN-P2 · WORKSHOPS IN DETAIL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0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Training, Resistance &amp; Coaching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440680" cy="4434840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.66394986366142e+66" dist="1.373981198873032e+66" dir="2.5389989167104004e+78">
              <a:srgbClr val="1B2E2B">
                <a:alpha val="1.8000000000000003e+79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2084832"/>
            <a:ext cx="780898" cy="274320"/>
          </a:xfrm>
          <a:prstGeom prst="roundRect">
            <a:avLst>
              <a:gd name="adj" fmla="val 166667"/>
            </a:avLst>
          </a:prstGeom>
          <a:solidFill>
            <a:srgbClr val="15423A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084832"/>
            <a:ext cx="7808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WS-P2-1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800600" y="2084832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min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731520" y="2450592"/>
            <a:ext cx="5074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Curriculum and Mentor a Trainee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2944368"/>
            <a:ext cx="5074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31520" y="3182112"/>
            <a:ext cx="5074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Distinguish attendance from demonstrated capability</a:t>
            </a:r>
            <a:endParaRPr lang="en-US" sz="930" dirty="0"/>
          </a:p>
        </p:txBody>
      </p:sp>
      <p:sp>
        <p:nvSpPr>
          <p:cNvPr id="11" name="Text 9"/>
          <p:cNvSpPr/>
          <p:nvPr/>
        </p:nvSpPr>
        <p:spPr>
          <a:xfrm>
            <a:off x="731520" y="3438144"/>
            <a:ext cx="5074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Advance a mentee correctly through the 3-stage model</a:t>
            </a:r>
            <a:endParaRPr lang="en-US" sz="930" dirty="0"/>
          </a:p>
        </p:txBody>
      </p:sp>
      <p:sp>
        <p:nvSpPr>
          <p:cNvPr id="12" name="Text 10"/>
          <p:cNvSpPr/>
          <p:nvPr/>
        </p:nvSpPr>
        <p:spPr>
          <a:xfrm>
            <a:off x="731520" y="3749040"/>
            <a:ext cx="5074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AGENDA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31520" y="3986784"/>
            <a:ext cx="5074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1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Add a curriculum record and track completion percentage</a:t>
            </a:r>
            <a:endParaRPr lang="en-US" sz="910" dirty="0"/>
          </a:p>
        </p:txBody>
      </p:sp>
      <p:sp>
        <p:nvSpPr>
          <p:cNvPr id="14" name="Text 12"/>
          <p:cNvSpPr/>
          <p:nvPr/>
        </p:nvSpPr>
        <p:spPr>
          <a:xfrm>
            <a:off x="731520" y="4279392"/>
            <a:ext cx="5074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1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Certify it with a justification distinct from completion</a:t>
            </a:r>
            <a:endParaRPr lang="en-US" sz="910" dirty="0"/>
          </a:p>
        </p:txBody>
      </p:sp>
      <p:sp>
        <p:nvSpPr>
          <p:cNvPr id="15" name="Text 13"/>
          <p:cNvSpPr/>
          <p:nvPr/>
        </p:nvSpPr>
        <p:spPr>
          <a:xfrm>
            <a:off x="731520" y="4572000"/>
            <a:ext cx="5074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1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Move a mentee from Trainee to Observer with logged competency evidence</a:t>
            </a:r>
            <a:endParaRPr lang="en-US" sz="910" dirty="0"/>
          </a:p>
        </p:txBody>
      </p:sp>
      <p:sp>
        <p:nvSpPr>
          <p:cNvPr id="16" name="Text 14"/>
          <p:cNvSpPr/>
          <p:nvPr/>
        </p:nvSpPr>
        <p:spPr>
          <a:xfrm>
            <a:off x="731520" y="4864608"/>
            <a:ext cx="5074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1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Explain the regression path if a critical error occurs at Observer stage</a:t>
            </a:r>
            <a:endParaRPr lang="en-US" sz="910" dirty="0"/>
          </a:p>
        </p:txBody>
      </p:sp>
      <p:sp>
        <p:nvSpPr>
          <p:cNvPr id="17" name="Shape 15"/>
          <p:cNvSpPr/>
          <p:nvPr/>
        </p:nvSpPr>
        <p:spPr>
          <a:xfrm>
            <a:off x="6172200" y="1920240"/>
            <a:ext cx="5440680" cy="4434840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4.653216326850003e+70" dist="1.7449561225687507e+70" dir="1.5233993500262402e+83">
              <a:srgbClr val="1B2E2B">
                <a:alpha val="1.8000000000000004e+84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355080" y="2084832"/>
            <a:ext cx="780898" cy="274320"/>
          </a:xfrm>
          <a:prstGeom prst="roundRect">
            <a:avLst>
              <a:gd name="adj" fmla="val 166667"/>
            </a:avLst>
          </a:prstGeom>
          <a:solidFill>
            <a:srgbClr val="15423A"/>
          </a:solidFill>
          <a:ln/>
        </p:spPr>
      </p:sp>
      <p:sp>
        <p:nvSpPr>
          <p:cNvPr id="19" name="Text 17"/>
          <p:cNvSpPr/>
          <p:nvPr/>
        </p:nvSpPr>
        <p:spPr>
          <a:xfrm>
            <a:off x="6355080" y="2084832"/>
            <a:ext cx="7808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WS-P2-2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10424160" y="2084832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min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355080" y="2450592"/>
            <a:ext cx="5074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a Pattern, Coach a Manager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355080" y="2944368"/>
            <a:ext cx="5074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GOALS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355080" y="3182112"/>
            <a:ext cx="5074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Surface a systemic resistance pattern</a:t>
            </a:r>
            <a:endParaRPr lang="en-US" sz="930" dirty="0"/>
          </a:p>
        </p:txBody>
      </p:sp>
      <p:sp>
        <p:nvSpPr>
          <p:cNvPr id="24" name="Text 22"/>
          <p:cNvSpPr/>
          <p:nvPr/>
        </p:nvSpPr>
        <p:spPr>
          <a:xfrm>
            <a:off x="6355080" y="3438144"/>
            <a:ext cx="5074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Log a justified manager-readiness update</a:t>
            </a:r>
            <a:endParaRPr lang="en-US" sz="930" dirty="0"/>
          </a:p>
        </p:txBody>
      </p:sp>
      <p:sp>
        <p:nvSpPr>
          <p:cNvPr id="25" name="Text 23"/>
          <p:cNvSpPr/>
          <p:nvPr/>
        </p:nvSpPr>
        <p:spPr>
          <a:xfrm>
            <a:off x="6355080" y="3749040"/>
            <a:ext cx="5074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AGENDA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355080" y="3986784"/>
            <a:ext cx="5074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1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Log 2 systemic-type resistance entries to trigger the pattern-detection banner</a:t>
            </a:r>
            <a:endParaRPr lang="en-US" sz="910" dirty="0"/>
          </a:p>
        </p:txBody>
      </p:sp>
      <p:sp>
        <p:nvSpPr>
          <p:cNvPr id="27" name="Text 25"/>
          <p:cNvSpPr/>
          <p:nvPr/>
        </p:nvSpPr>
        <p:spPr>
          <a:xfrm>
            <a:off x="6355080" y="4279392"/>
            <a:ext cx="5074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1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Tag both entries against the organization's codebook</a:t>
            </a:r>
            <a:endParaRPr lang="en-US" sz="910" dirty="0"/>
          </a:p>
        </p:txBody>
      </p:sp>
      <p:sp>
        <p:nvSpPr>
          <p:cNvPr id="28" name="Text 26"/>
          <p:cNvSpPr/>
          <p:nvPr/>
        </p:nvSpPr>
        <p:spPr>
          <a:xfrm>
            <a:off x="6355080" y="4572000"/>
            <a:ext cx="5074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1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Cross-reference one tag to an existing resistance-log barrier</a:t>
            </a:r>
            <a:endParaRPr lang="en-US" sz="910" dirty="0"/>
          </a:p>
        </p:txBody>
      </p:sp>
      <p:sp>
        <p:nvSpPr>
          <p:cNvPr id="29" name="Text 27"/>
          <p:cNvSpPr/>
          <p:nvPr/>
        </p:nvSpPr>
        <p:spPr>
          <a:xfrm>
            <a:off x="6355080" y="4864608"/>
            <a:ext cx="5074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1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Log a manager-readiness rating with supporting justification</a:t>
            </a:r>
            <a:endParaRPr lang="en-US" sz="910" dirty="0"/>
          </a:p>
        </p:txBody>
      </p:sp>
      <p:sp>
        <p:nvSpPr>
          <p:cNvPr id="30" name="Text 28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journi — Human Change Management Curriculum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PRACTITIONER · TRN-P3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99669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2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in Change Management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10835640" y="365760"/>
            <a:ext cx="566928" cy="566928"/>
          </a:xfrm>
          <a:prstGeom prst="ellipse">
            <a:avLst/>
          </a:prstGeom>
          <a:solidFill>
            <a:srgbClr val="15423A"/>
          </a:solidFill>
          <a:ln/>
        </p:spPr>
      </p:sp>
      <p:pic>
        <p:nvPicPr>
          <p:cNvPr id="5" name="Image 0" descr="/home/user/scm-process-register/docs-src/curriculum-deck/assets/shield-halv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63656" y="493776"/>
            <a:ext cx="310896" cy="31089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150876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GOALS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48640" y="1810512"/>
            <a:ext cx="5257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Operate the AI Use Case Library's activation / override model (organization vs. project)</a:t>
            </a:r>
            <a:endParaRPr lang="en-US" sz="1080" dirty="0"/>
          </a:p>
        </p:txBody>
      </p:sp>
      <p:sp>
        <p:nvSpPr>
          <p:cNvPr id="8" name="Text 5"/>
          <p:cNvSpPr/>
          <p:nvPr/>
        </p:nvSpPr>
        <p:spPr>
          <a:xfrm>
            <a:off x="548640" y="2377440"/>
            <a:ext cx="5257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the Assistive / Augmented tier discipline correctly to a new use case</a:t>
            </a:r>
            <a:endParaRPr lang="en-US" sz="1080" dirty="0"/>
          </a:p>
        </p:txBody>
      </p:sp>
      <p:sp>
        <p:nvSpPr>
          <p:cNvPr id="9" name="Text 6"/>
          <p:cNvSpPr/>
          <p:nvPr/>
        </p:nvSpPr>
        <p:spPr>
          <a:xfrm>
            <a:off x="548640" y="2944368"/>
            <a:ext cx="5257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and audit the AI Usage Log</a:t>
            </a:r>
            <a:endParaRPr lang="en-US" sz="1080" dirty="0"/>
          </a:p>
        </p:txBody>
      </p:sp>
      <p:sp>
        <p:nvSpPr>
          <p:cNvPr id="10" name="Text 7"/>
          <p:cNvSpPr/>
          <p:nvPr/>
        </p:nvSpPr>
        <p:spPr>
          <a:xfrm>
            <a:off x="548640" y="3511296"/>
            <a:ext cx="5257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— safely — the optional Real LLM Provider Connection</a:t>
            </a:r>
            <a:endParaRPr lang="en-US" sz="1080" dirty="0"/>
          </a:p>
        </p:txBody>
      </p:sp>
      <p:sp>
        <p:nvSpPr>
          <p:cNvPr id="11" name="Text 8"/>
          <p:cNvSpPr/>
          <p:nvPr/>
        </p:nvSpPr>
        <p:spPr>
          <a:xfrm>
            <a:off x="548640" y="4151376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AUDIENCE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48640" y="4443984"/>
            <a:ext cx="5257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8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Managers, Organization Admins (Foundation credential required)</a:t>
            </a:r>
            <a:endParaRPr lang="en-US" sz="1080" dirty="0"/>
          </a:p>
        </p:txBody>
      </p:sp>
      <p:sp>
        <p:nvSpPr>
          <p:cNvPr id="13" name="Text 10"/>
          <p:cNvSpPr/>
          <p:nvPr/>
        </p:nvSpPr>
        <p:spPr>
          <a:xfrm>
            <a:off x="5989320" y="1508760"/>
            <a:ext cx="5623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AGENDA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989320" y="1828800"/>
            <a:ext cx="5623560" cy="1353312"/>
          </a:xfrm>
          <a:prstGeom prst="roundRect">
            <a:avLst>
              <a:gd name="adj" fmla="val 3378"/>
            </a:avLst>
          </a:prstGeom>
          <a:solidFill>
            <a:srgbClr val="DCEEE8"/>
          </a:solidFill>
          <a:ln/>
        </p:spPr>
      </p:sp>
      <p:sp>
        <p:nvSpPr>
          <p:cNvPr id="15" name="Text 12"/>
          <p:cNvSpPr/>
          <p:nvPr/>
        </p:nvSpPr>
        <p:spPr>
          <a:xfrm>
            <a:off x="6126480" y="1865376"/>
            <a:ext cx="5349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AM  </a:t>
            </a:r>
            <a:pPr indent="0" marL="0">
              <a:buNone/>
            </a:pPr>
            <a:r>
              <a:rPr lang="en-US" sz="1080" b="1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Governance Model</a:t>
            </a:r>
            <a:endParaRPr lang="en-US" sz="1080" dirty="0"/>
          </a:p>
        </p:txBody>
      </p:sp>
      <p:sp>
        <p:nvSpPr>
          <p:cNvPr id="16" name="Text 13"/>
          <p:cNvSpPr/>
          <p:nvPr/>
        </p:nvSpPr>
        <p:spPr>
          <a:xfrm>
            <a:off x="6172200" y="2139696"/>
            <a:ext cx="5257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Tiers &amp; catalog structure — Assistive vs. Augmented vs. out-of-scope Autonomous; prompt templates (60m)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6172200" y="2414016"/>
            <a:ext cx="5257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Activation &amp; override — organization-level activation, project-level override, deactivation behavior (60m)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6172200" y="2688336"/>
            <a:ext cx="5257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QZ-P3-1  </a:t>
            </a:r>
            <a:pPr indent="0" marL="0">
              <a:buNone/>
            </a:pPr>
            <a:r>
              <a:rPr lang="en-US" sz="90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— AI tiers + activation model (8 items, 15m)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6172200" y="2944368"/>
            <a:ext cx="5257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WS-P3-1  </a:t>
            </a:r>
            <a:pPr indent="0" marL="0">
              <a:buNone/>
            </a:pPr>
            <a:r>
              <a:rPr lang="en-US" sz="90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— Govern a Use Case Rollout (90m)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5989320" y="3273552"/>
            <a:ext cx="5623560" cy="1353312"/>
          </a:xfrm>
          <a:prstGeom prst="roundRect">
            <a:avLst>
              <a:gd name="adj" fmla="val 3378"/>
            </a:avLst>
          </a:prstGeom>
          <a:solidFill>
            <a:srgbClr val="DCEEE8"/>
          </a:solidFill>
          <a:ln/>
        </p:spPr>
      </p:sp>
      <p:sp>
        <p:nvSpPr>
          <p:cNvPr id="21" name="Text 18"/>
          <p:cNvSpPr/>
          <p:nvPr/>
        </p:nvSpPr>
        <p:spPr>
          <a:xfrm>
            <a:off x="6126480" y="3310128"/>
            <a:ext cx="5349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PM  </a:t>
            </a:r>
            <a:pPr indent="0" marL="0">
              <a:buNone/>
            </a:pPr>
            <a:r>
              <a:rPr lang="en-US" sz="1080" b="1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Audit &amp; Provider Connection</a:t>
            </a:r>
            <a:endParaRPr lang="en-US" sz="1080" dirty="0"/>
          </a:p>
        </p:txBody>
      </p:sp>
      <p:sp>
        <p:nvSpPr>
          <p:cNvPr id="22" name="Text 19"/>
          <p:cNvSpPr/>
          <p:nvPr/>
        </p:nvSpPr>
        <p:spPr>
          <a:xfrm>
            <a:off x="6172200" y="3584448"/>
            <a:ext cx="5257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AI Usage Log — accepted / edited / rejected outcomes, what governance reporting looks for (60m)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6172200" y="3858768"/>
            <a:ext cx="5257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Real LLM Provider Connection — browser-local key storage, fallback behavior, when (not) to configure (60m)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6172200" y="4133088"/>
            <a:ext cx="5257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QZ-P3-2  </a:t>
            </a:r>
            <a:pPr indent="0" marL="0">
              <a:buNone/>
            </a:pPr>
            <a:r>
              <a:rPr lang="en-US" sz="90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— Usage audit + provider connection (8 items, 15m)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6172200" y="4389120"/>
            <a:ext cx="5257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WS-P3-2  </a:t>
            </a:r>
            <a:pPr indent="0" marL="0">
              <a:buNone/>
            </a:pPr>
            <a:r>
              <a:rPr lang="en-US" sz="90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— Audit and Decide (90m)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5989320" y="4718304"/>
            <a:ext cx="5623560" cy="502920"/>
          </a:xfrm>
          <a:prstGeom prst="roundRect">
            <a:avLst>
              <a:gd name="adj" fmla="val 9091"/>
            </a:avLst>
          </a:prstGeom>
          <a:solidFill>
            <a:srgbClr val="15423A"/>
          </a:solidFill>
          <a:ln/>
        </p:spPr>
      </p:sp>
      <p:sp>
        <p:nvSpPr>
          <p:cNvPr id="27" name="Text 24"/>
          <p:cNvSpPr/>
          <p:nvPr/>
        </p:nvSpPr>
        <p:spPr>
          <a:xfrm>
            <a:off x="6126480" y="4718304"/>
            <a:ext cx="5349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EXM-P3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MCQ + 1 governance-memo exercise · 60 min · pass mark 75%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journi — Human Change Management Curriculum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TRN-P3 · WORKSHOPS IN DETAIL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0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in Change Management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440680" cy="4434840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.909584735099504e+74" dist="2.2160942756623134e+74" dir="9.14039610015744e+87">
              <a:srgbClr val="1B2E2B">
                <a:alpha val="1.8000000000000005e+89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2084832"/>
            <a:ext cx="780898" cy="274320"/>
          </a:xfrm>
          <a:prstGeom prst="roundRect">
            <a:avLst>
              <a:gd name="adj" fmla="val 166667"/>
            </a:avLst>
          </a:prstGeom>
          <a:solidFill>
            <a:srgbClr val="15423A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084832"/>
            <a:ext cx="7808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WS-P3-1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800600" y="2084832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min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731520" y="2450592"/>
            <a:ext cx="5074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 a Use Case Rollout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2944368"/>
            <a:ext cx="5074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31520" y="3182112"/>
            <a:ext cx="5074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Activate use cases correctly at the right scope</a:t>
            </a:r>
            <a:endParaRPr lang="en-US" sz="930" dirty="0"/>
          </a:p>
        </p:txBody>
      </p:sp>
      <p:sp>
        <p:nvSpPr>
          <p:cNvPr id="11" name="Text 9"/>
          <p:cNvSpPr/>
          <p:nvPr/>
        </p:nvSpPr>
        <p:spPr>
          <a:xfrm>
            <a:off x="731520" y="3438144"/>
            <a:ext cx="5074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Justify a project-level override</a:t>
            </a:r>
            <a:endParaRPr lang="en-US" sz="930" dirty="0"/>
          </a:p>
        </p:txBody>
      </p:sp>
      <p:sp>
        <p:nvSpPr>
          <p:cNvPr id="12" name="Text 10"/>
          <p:cNvSpPr/>
          <p:nvPr/>
        </p:nvSpPr>
        <p:spPr>
          <a:xfrm>
            <a:off x="731520" y="3749040"/>
            <a:ext cx="5074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AGENDA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31520" y="3986784"/>
            <a:ext cx="5074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1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Activate 3 AI use cases for an Organization</a:t>
            </a:r>
            <a:endParaRPr lang="en-US" sz="910" dirty="0"/>
          </a:p>
        </p:txBody>
      </p:sp>
      <p:sp>
        <p:nvSpPr>
          <p:cNvPr id="14" name="Text 12"/>
          <p:cNvSpPr/>
          <p:nvPr/>
        </p:nvSpPr>
        <p:spPr>
          <a:xfrm>
            <a:off x="731520" y="4279392"/>
            <a:ext cx="5074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1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Override one use case off for a single sensitive project</a:t>
            </a:r>
            <a:endParaRPr lang="en-US" sz="910" dirty="0"/>
          </a:p>
        </p:txBody>
      </p:sp>
      <p:sp>
        <p:nvSpPr>
          <p:cNvPr id="15" name="Text 13"/>
          <p:cNvSpPr/>
          <p:nvPr/>
        </p:nvSpPr>
        <p:spPr>
          <a:xfrm>
            <a:off x="731520" y="4572000"/>
            <a:ext cx="5074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1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Write a short justification note for the override</a:t>
            </a:r>
            <a:endParaRPr lang="en-US" sz="910" dirty="0"/>
          </a:p>
        </p:txBody>
      </p:sp>
      <p:sp>
        <p:nvSpPr>
          <p:cNvPr id="16" name="Text 14"/>
          <p:cNvSpPr/>
          <p:nvPr/>
        </p:nvSpPr>
        <p:spPr>
          <a:xfrm>
            <a:off x="731520" y="4864608"/>
            <a:ext cx="5074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1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Explain what happens to prior AI-generated content on deactivation</a:t>
            </a:r>
            <a:endParaRPr lang="en-US" sz="910" dirty="0"/>
          </a:p>
        </p:txBody>
      </p:sp>
      <p:sp>
        <p:nvSpPr>
          <p:cNvPr id="17" name="Shape 15"/>
          <p:cNvSpPr/>
          <p:nvPr/>
        </p:nvSpPr>
        <p:spPr>
          <a:xfrm>
            <a:off x="6172200" y="1920240"/>
            <a:ext cx="5440680" cy="4434840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.50517261357637e+78" dist="2.814439730091138e+78" dir="5.484237660094465e+92">
              <a:srgbClr val="1B2E2B">
                <a:alpha val="1.8000000000000007e+94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355080" y="2084832"/>
            <a:ext cx="780898" cy="274320"/>
          </a:xfrm>
          <a:prstGeom prst="roundRect">
            <a:avLst>
              <a:gd name="adj" fmla="val 166667"/>
            </a:avLst>
          </a:prstGeom>
          <a:solidFill>
            <a:srgbClr val="15423A"/>
          </a:solidFill>
          <a:ln/>
        </p:spPr>
      </p:sp>
      <p:sp>
        <p:nvSpPr>
          <p:cNvPr id="19" name="Text 17"/>
          <p:cNvSpPr/>
          <p:nvPr/>
        </p:nvSpPr>
        <p:spPr>
          <a:xfrm>
            <a:off x="6355080" y="2084832"/>
            <a:ext cx="7808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WS-P3-2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10424160" y="2084832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min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355080" y="2450592"/>
            <a:ext cx="5074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and Decide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355080" y="2944368"/>
            <a:ext cx="5074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GOALS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355080" y="3182112"/>
            <a:ext cx="5074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Read a usage log for governance signal</a:t>
            </a:r>
            <a:endParaRPr lang="en-US" sz="930" dirty="0"/>
          </a:p>
        </p:txBody>
      </p:sp>
      <p:sp>
        <p:nvSpPr>
          <p:cNvPr id="24" name="Text 22"/>
          <p:cNvSpPr/>
          <p:nvPr/>
        </p:nvSpPr>
        <p:spPr>
          <a:xfrm>
            <a:off x="6355080" y="3438144"/>
            <a:ext cx="5074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Produce a short governance recommendation</a:t>
            </a:r>
            <a:endParaRPr lang="en-US" sz="930" dirty="0"/>
          </a:p>
        </p:txBody>
      </p:sp>
      <p:sp>
        <p:nvSpPr>
          <p:cNvPr id="25" name="Text 23"/>
          <p:cNvSpPr/>
          <p:nvPr/>
        </p:nvSpPr>
        <p:spPr>
          <a:xfrm>
            <a:off x="6355080" y="3749040"/>
            <a:ext cx="5074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AGENDA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355080" y="3986784"/>
            <a:ext cx="5074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1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Review a sample AI Usage Log across several use cases</a:t>
            </a:r>
            <a:endParaRPr lang="en-US" sz="910" dirty="0"/>
          </a:p>
        </p:txBody>
      </p:sp>
      <p:sp>
        <p:nvSpPr>
          <p:cNvPr id="27" name="Text 25"/>
          <p:cNvSpPr/>
          <p:nvPr/>
        </p:nvSpPr>
        <p:spPr>
          <a:xfrm>
            <a:off x="6355080" y="4279392"/>
            <a:ext cx="5074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1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Identify the use case with the highest rejection rate</a:t>
            </a:r>
            <a:endParaRPr lang="en-US" sz="910" dirty="0"/>
          </a:p>
        </p:txBody>
      </p:sp>
      <p:sp>
        <p:nvSpPr>
          <p:cNvPr id="28" name="Text 26"/>
          <p:cNvSpPr/>
          <p:nvPr/>
        </p:nvSpPr>
        <p:spPr>
          <a:xfrm>
            <a:off x="6355080" y="4572000"/>
            <a:ext cx="5074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1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Draft a one-paragraph governance recommendation</a:t>
            </a:r>
            <a:endParaRPr lang="en-US" sz="910" dirty="0"/>
          </a:p>
        </p:txBody>
      </p:sp>
      <p:sp>
        <p:nvSpPr>
          <p:cNvPr id="29" name="Text 27"/>
          <p:cNvSpPr/>
          <p:nvPr/>
        </p:nvSpPr>
        <p:spPr>
          <a:xfrm>
            <a:off x="6355080" y="4864608"/>
            <a:ext cx="5074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1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State where the Real LLM Provider Connection's API key is (and is not) stored</a:t>
            </a:r>
            <a:endParaRPr lang="en-US" sz="910" dirty="0"/>
          </a:p>
        </p:txBody>
      </p:sp>
      <p:sp>
        <p:nvSpPr>
          <p:cNvPr id="30" name="Text 28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journi — Human Change Management Curriculum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26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LVL-A  ·  LEVEL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48640" y="777240"/>
            <a:ext cx="822960" cy="822960"/>
          </a:xfrm>
          <a:prstGeom prst="ellipse">
            <a:avLst/>
          </a:prstGeom>
          <a:solidFill>
            <a:srgbClr val="15423A"/>
          </a:solidFill>
          <a:ln/>
        </p:spPr>
      </p:sp>
      <p:pic>
        <p:nvPicPr>
          <p:cNvPr id="4" name="Image 0" descr="/home/user/scm-process-register/docs-src/curriculum-deck/assets/med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960120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00200" y="7772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1600200" y="15087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3F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Leading Change Portfolios &amp; Sustaining Impact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548640" y="2148840"/>
            <a:ext cx="5349240" cy="187452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/>
        </p:spPr>
      </p:sp>
      <p:sp>
        <p:nvSpPr>
          <p:cNvPr id="8" name="Text 5"/>
          <p:cNvSpPr/>
          <p:nvPr/>
        </p:nvSpPr>
        <p:spPr>
          <a:xfrm>
            <a:off x="777240" y="2304288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AUDIENCE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777240" y="2606040"/>
            <a:ext cx="484632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 Change Managers, Change Management Leads, PMO Directors, Organization/Group Admins managing multiple concurrent initiatives. Prerequisite: Practitioner credential.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035040" y="2148840"/>
            <a:ext cx="5623560" cy="187452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/>
        </p:spPr>
      </p:sp>
      <p:sp>
        <p:nvSpPr>
          <p:cNvPr id="11" name="Text 8"/>
          <p:cNvSpPr/>
          <p:nvPr/>
        </p:nvSpPr>
        <p:spPr>
          <a:xfrm>
            <a:off x="6263640" y="2304288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OUTCOME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263640" y="2606040"/>
            <a:ext cx="512064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portfolio-level readiness to executives, administer platform governance, and lead a full transformation program end-to-end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420624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E3F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TRAININGS IN THIS LEVEL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548640" y="457200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TRN-A1  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D8EA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Analytics, Benchmarking &amp; Executive Reporting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548640" y="4919472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TRN-A2  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D8EA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Sustainment, Governance &amp; Platform Administration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548640" y="5266944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TRN-A3  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D8EA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— Leading a Full Transformation Program End-to-End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48640" y="5806440"/>
            <a:ext cx="11064240" cy="685800"/>
          </a:xfrm>
          <a:prstGeom prst="roundRect">
            <a:avLst>
              <a:gd name="adj" fmla="val 6667"/>
            </a:avLst>
          </a:prstGeom>
          <a:solidFill>
            <a:srgbClr val="15423A"/>
          </a:solidFill>
          <a:ln/>
        </p:spPr>
      </p:sp>
      <p:sp>
        <p:nvSpPr>
          <p:cNvPr id="18" name="Text 15"/>
          <p:cNvSpPr/>
          <p:nvPr/>
        </p:nvSpPr>
        <p:spPr>
          <a:xfrm>
            <a:off x="777240" y="5806440"/>
            <a:ext cx="10607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EXM-LVL-A  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facilitator rubric (4 workshops, 25 pts each) + 40-MCQ integrative written exam (TRN-A1–A2) · pass: written ≥80% AND rubric ≥75/100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FE3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journi — Human Change Management Curriculum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FE3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· TRN-A1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99669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20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Analytics, Benchmarking &amp; Executive Reporting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10835640" y="365760"/>
            <a:ext cx="566928" cy="566928"/>
          </a:xfrm>
          <a:prstGeom prst="ellipse">
            <a:avLst/>
          </a:prstGeom>
          <a:solidFill>
            <a:srgbClr val="C2661C"/>
          </a:solidFill>
          <a:ln/>
        </p:spPr>
      </p:sp>
      <p:pic>
        <p:nvPicPr>
          <p:cNvPr id="5" name="Image 0" descr="/home/user/scm-process-register/docs-src/curriculum-deck/assets/chart-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63656" y="493776"/>
            <a:ext cx="310896" cy="31089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150876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GOALS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48640" y="1810512"/>
            <a:ext cx="5257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 up readiness at Project / Organization / Group level correctly per RBAC</a:t>
            </a:r>
            <a:endParaRPr lang="en-US" sz="1080" dirty="0"/>
          </a:p>
        </p:txBody>
      </p:sp>
      <p:sp>
        <p:nvSpPr>
          <p:cNvPr id="8" name="Text 5"/>
          <p:cNvSpPr/>
          <p:nvPr/>
        </p:nvSpPr>
        <p:spPr>
          <a:xfrm>
            <a:off x="548640" y="2377440"/>
            <a:ext cx="5257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 the Composite Readiness Index and phase-based benchmarking standing</a:t>
            </a:r>
            <a:endParaRPr lang="en-US" sz="1080" dirty="0"/>
          </a:p>
        </p:txBody>
      </p:sp>
      <p:sp>
        <p:nvSpPr>
          <p:cNvPr id="9" name="Text 6"/>
          <p:cNvSpPr/>
          <p:nvPr/>
        </p:nvSpPr>
        <p:spPr>
          <a:xfrm>
            <a:off x="548640" y="2944368"/>
            <a:ext cx="5257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Cross-Type Comparison Matrix to advise on a new transformation type</a:t>
            </a:r>
            <a:endParaRPr lang="en-US" sz="1080" dirty="0"/>
          </a:p>
        </p:txBody>
      </p:sp>
      <p:sp>
        <p:nvSpPr>
          <p:cNvPr id="10" name="Text 7"/>
          <p:cNvSpPr/>
          <p:nvPr/>
        </p:nvSpPr>
        <p:spPr>
          <a:xfrm>
            <a:off x="548640" y="3511296"/>
            <a:ext cx="5257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 and review an AI-drafted Executive Readiness Narrative</a:t>
            </a:r>
            <a:endParaRPr lang="en-US" sz="1080" dirty="0"/>
          </a:p>
        </p:txBody>
      </p:sp>
      <p:sp>
        <p:nvSpPr>
          <p:cNvPr id="11" name="Text 8"/>
          <p:cNvSpPr/>
          <p:nvPr/>
        </p:nvSpPr>
        <p:spPr>
          <a:xfrm>
            <a:off x="548640" y="4151376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AUDIENCE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48640" y="4443984"/>
            <a:ext cx="5257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8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 Change Managers, Executive Viewers, PMO Directors (Practitioner credential required)</a:t>
            </a:r>
            <a:endParaRPr lang="en-US" sz="1080" dirty="0"/>
          </a:p>
        </p:txBody>
      </p:sp>
      <p:sp>
        <p:nvSpPr>
          <p:cNvPr id="13" name="Text 10"/>
          <p:cNvSpPr/>
          <p:nvPr/>
        </p:nvSpPr>
        <p:spPr>
          <a:xfrm>
            <a:off x="5989320" y="1508760"/>
            <a:ext cx="5623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AGENDA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989320" y="1828800"/>
            <a:ext cx="5623560" cy="1353312"/>
          </a:xfrm>
          <a:prstGeom prst="roundRect">
            <a:avLst>
              <a:gd name="adj" fmla="val 3378"/>
            </a:avLst>
          </a:prstGeom>
          <a:solidFill>
            <a:srgbClr val="F7E4D2"/>
          </a:solidFill>
          <a:ln/>
        </p:spPr>
      </p:sp>
      <p:sp>
        <p:nvSpPr>
          <p:cNvPr id="15" name="Text 12"/>
          <p:cNvSpPr/>
          <p:nvPr/>
        </p:nvSpPr>
        <p:spPr>
          <a:xfrm>
            <a:off x="6126480" y="1865376"/>
            <a:ext cx="5349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AM  </a:t>
            </a:r>
            <a:pPr indent="0" marL="0">
              <a:buNone/>
            </a:pPr>
            <a:r>
              <a:rPr lang="en-US" sz="1080" b="1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&amp; Benchmarking</a:t>
            </a:r>
            <a:endParaRPr lang="en-US" sz="1080" dirty="0"/>
          </a:p>
        </p:txBody>
      </p:sp>
      <p:sp>
        <p:nvSpPr>
          <p:cNvPr id="16" name="Text 13"/>
          <p:cNvSpPr/>
          <p:nvPr/>
        </p:nvSpPr>
        <p:spPr>
          <a:xfrm>
            <a:off x="6172200" y="2139696"/>
            <a:ext cx="5257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Metrics &amp; Analytics Dashboard — roll-up levels, ADKAR heatmap, adoption curve, sentiment correlation (60m)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6172200" y="2414016"/>
            <a:ext cx="5257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Benchmarking tab — reference bands by Lewin phase, peer average, Behind / In Line / Ahead standing (60m)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6172200" y="2688336"/>
            <a:ext cx="5257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QZ-A1-1  </a:t>
            </a:r>
            <a:pPr indent="0" marL="0">
              <a:buNone/>
            </a:pPr>
            <a:r>
              <a:rPr lang="en-US" sz="90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— Roll-up levels + benchmarking standing (8 items, 15m)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6172200" y="2944368"/>
            <a:ext cx="5257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WS-A1-1  </a:t>
            </a:r>
            <a:pPr indent="0" marL="0">
              <a:buNone/>
            </a:pPr>
            <a:r>
              <a:rPr lang="en-US" sz="90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— Benchmark a Portfolio (90m)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5989320" y="3273552"/>
            <a:ext cx="5623560" cy="1353312"/>
          </a:xfrm>
          <a:prstGeom prst="roundRect">
            <a:avLst>
              <a:gd name="adj" fmla="val 3378"/>
            </a:avLst>
          </a:prstGeom>
          <a:solidFill>
            <a:srgbClr val="F7E4D2"/>
          </a:solidFill>
          <a:ln/>
        </p:spPr>
      </p:sp>
      <p:sp>
        <p:nvSpPr>
          <p:cNvPr id="21" name="Text 18"/>
          <p:cNvSpPr/>
          <p:nvPr/>
        </p:nvSpPr>
        <p:spPr>
          <a:xfrm>
            <a:off x="6126480" y="3310128"/>
            <a:ext cx="5349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PM  </a:t>
            </a:r>
            <a:pPr indent="0" marL="0">
              <a:buNone/>
            </a:pPr>
            <a:r>
              <a:rPr lang="en-US" sz="1080" b="1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Journeys, Touchpoints &amp; Executive Narrative</a:t>
            </a:r>
            <a:endParaRPr lang="en-US" sz="1080" dirty="0"/>
          </a:p>
        </p:txBody>
      </p:sp>
      <p:sp>
        <p:nvSpPr>
          <p:cNvPr id="22" name="Text 19"/>
          <p:cNvSpPr/>
          <p:nvPr/>
        </p:nvSpPr>
        <p:spPr>
          <a:xfrm>
            <a:off x="6172200" y="3584448"/>
            <a:ext cx="5257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Journeys, Touchpoints &amp; Analytics — the 8 journeys, live DASH-01/02 metrics, reference-only dashboards (60m)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6172200" y="3858768"/>
            <a:ext cx="5257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Cross-Type Comparison Matrix + the Executive Readiness Narrative Generator AI use case (60m)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6172200" y="4133088"/>
            <a:ext cx="5257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QZ-A1-2  </a:t>
            </a:r>
            <a:pPr indent="0" marL="0">
              <a:buNone/>
            </a:pPr>
            <a:r>
              <a:rPr lang="en-US" sz="90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— Journey dashboards + cross-type matrix (8 items, 15m)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6172200" y="4389120"/>
            <a:ext cx="5257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WS-A1-2  </a:t>
            </a:r>
            <a:pPr indent="0" marL="0">
              <a:buNone/>
            </a:pPr>
            <a:r>
              <a:rPr lang="en-US" sz="90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— Brief the Steering Committee (90m)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5989320" y="4718304"/>
            <a:ext cx="5623560" cy="502920"/>
          </a:xfrm>
          <a:prstGeom prst="roundRect">
            <a:avLst>
              <a:gd name="adj" fmla="val 9091"/>
            </a:avLst>
          </a:prstGeom>
          <a:solidFill>
            <a:srgbClr val="15423A"/>
          </a:solidFill>
          <a:ln/>
        </p:spPr>
      </p:sp>
      <p:sp>
        <p:nvSpPr>
          <p:cNvPr id="27" name="Text 24"/>
          <p:cNvSpPr/>
          <p:nvPr/>
        </p:nvSpPr>
        <p:spPr>
          <a:xfrm>
            <a:off x="6126480" y="4718304"/>
            <a:ext cx="5349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EXM-A1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MCQ + 1 executive-memo practical · 75 min · pass mark 75%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journi — Human Change Management Curriculum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TRN-A1 · WORKSHOPS IN DETAIL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00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Analytics, Benchmarking &amp; Executive Reporting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440680" cy="4434840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9.53156921924199e+82" dist="3.574338457215745e+82" dir="3.2905425960566786e+97">
              <a:srgbClr val="1B2E2B">
                <a:alpha val="1.8000000000000008e+99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2084832"/>
            <a:ext cx="780898" cy="274320"/>
          </a:xfrm>
          <a:prstGeom prst="roundRect">
            <a:avLst>
              <a:gd name="adj" fmla="val 166667"/>
            </a:avLst>
          </a:prstGeom>
          <a:solidFill>
            <a:srgbClr val="C2661C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084832"/>
            <a:ext cx="7808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WS-A1-1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800600" y="2084832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min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731520" y="2450592"/>
            <a:ext cx="5074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a Portfolio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2944368"/>
            <a:ext cx="5074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31520" y="3182112"/>
            <a:ext cx="5074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Correctly interpret readiness against a reference band</a:t>
            </a:r>
            <a:endParaRPr lang="en-US" sz="930" dirty="0"/>
          </a:p>
        </p:txBody>
      </p:sp>
      <p:sp>
        <p:nvSpPr>
          <p:cNvPr id="11" name="Text 9"/>
          <p:cNvSpPr/>
          <p:nvPr/>
        </p:nvSpPr>
        <p:spPr>
          <a:xfrm>
            <a:off x="731520" y="3438144"/>
            <a:ext cx="5074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Export a defensible analytics artifact</a:t>
            </a:r>
            <a:endParaRPr lang="en-US" sz="930" dirty="0"/>
          </a:p>
        </p:txBody>
      </p:sp>
      <p:sp>
        <p:nvSpPr>
          <p:cNvPr id="12" name="Text 10"/>
          <p:cNvSpPr/>
          <p:nvPr/>
        </p:nvSpPr>
        <p:spPr>
          <a:xfrm>
            <a:off x="731520" y="3749040"/>
            <a:ext cx="5074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AGENDA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31520" y="3986784"/>
            <a:ext cx="5074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1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At Organization level, compare 3 seeded projects' Readiness Index against their phase bands</a:t>
            </a:r>
            <a:endParaRPr lang="en-US" sz="910" dirty="0"/>
          </a:p>
        </p:txBody>
      </p:sp>
      <p:sp>
        <p:nvSpPr>
          <p:cNvPr id="14" name="Text 12"/>
          <p:cNvSpPr/>
          <p:nvPr/>
        </p:nvSpPr>
        <p:spPr>
          <a:xfrm>
            <a:off x="731520" y="4279392"/>
            <a:ext cx="5074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1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Compare each against the peer average and record its standing</a:t>
            </a:r>
            <a:endParaRPr lang="en-US" sz="910" dirty="0"/>
          </a:p>
        </p:txBody>
      </p:sp>
      <p:sp>
        <p:nvSpPr>
          <p:cNvPr id="15" name="Text 13"/>
          <p:cNvSpPr/>
          <p:nvPr/>
        </p:nvSpPr>
        <p:spPr>
          <a:xfrm>
            <a:off x="731520" y="4572000"/>
            <a:ext cx="5074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1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Identify the one project reading "Behind" and articulate why</a:t>
            </a:r>
            <a:endParaRPr lang="en-US" sz="910" dirty="0"/>
          </a:p>
        </p:txBody>
      </p:sp>
      <p:sp>
        <p:nvSpPr>
          <p:cNvPr id="16" name="Text 14"/>
          <p:cNvSpPr/>
          <p:nvPr/>
        </p:nvSpPr>
        <p:spPr>
          <a:xfrm>
            <a:off x="731520" y="4864608"/>
            <a:ext cx="5074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1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Export the ADKAR heatmap to CSV</a:t>
            </a:r>
            <a:endParaRPr lang="en-US" sz="910" dirty="0"/>
          </a:p>
        </p:txBody>
      </p:sp>
      <p:sp>
        <p:nvSpPr>
          <p:cNvPr id="17" name="Shape 15"/>
          <p:cNvSpPr/>
          <p:nvPr/>
        </p:nvSpPr>
        <p:spPr>
          <a:xfrm>
            <a:off x="6172200" y="1920240"/>
            <a:ext cx="5440680" cy="4434840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.2105092908437327e+87" dist="4.539409840663996e+86" dir="1.9743255576340073e+102">
              <a:srgbClr val="1B2E2B">
                <a:alpha val="1.800000000000001e+104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355080" y="2084832"/>
            <a:ext cx="780898" cy="274320"/>
          </a:xfrm>
          <a:prstGeom prst="roundRect">
            <a:avLst>
              <a:gd name="adj" fmla="val 166667"/>
            </a:avLst>
          </a:prstGeom>
          <a:solidFill>
            <a:srgbClr val="C2661C"/>
          </a:solidFill>
          <a:ln/>
        </p:spPr>
      </p:sp>
      <p:sp>
        <p:nvSpPr>
          <p:cNvPr id="19" name="Text 17"/>
          <p:cNvSpPr/>
          <p:nvPr/>
        </p:nvSpPr>
        <p:spPr>
          <a:xfrm>
            <a:off x="6355080" y="2084832"/>
            <a:ext cx="7808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WS-A1-2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10424160" y="2084832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min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355080" y="2450592"/>
            <a:ext cx="5074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Brief the Steering Committee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355080" y="2944368"/>
            <a:ext cx="5074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GOALS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355080" y="3182112"/>
            <a:ext cx="5074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Compute a real touchpoint-completion metric</a:t>
            </a:r>
            <a:endParaRPr lang="en-US" sz="930" dirty="0"/>
          </a:p>
        </p:txBody>
      </p:sp>
      <p:sp>
        <p:nvSpPr>
          <p:cNvPr id="24" name="Text 22"/>
          <p:cNvSpPr/>
          <p:nvPr/>
        </p:nvSpPr>
        <p:spPr>
          <a:xfrm>
            <a:off x="6355080" y="3438144"/>
            <a:ext cx="5074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Produce an executive-ready narrative</a:t>
            </a:r>
            <a:endParaRPr lang="en-US" sz="930" dirty="0"/>
          </a:p>
        </p:txBody>
      </p:sp>
      <p:sp>
        <p:nvSpPr>
          <p:cNvPr id="25" name="Text 23"/>
          <p:cNvSpPr/>
          <p:nvPr/>
        </p:nvSpPr>
        <p:spPr>
          <a:xfrm>
            <a:off x="6355080" y="3749040"/>
            <a:ext cx="5074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AGENDA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355080" y="3986784"/>
            <a:ext cx="5074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1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Compute JRN-01 touchpoint completion for a project</a:t>
            </a:r>
            <a:endParaRPr lang="en-US" sz="910" dirty="0"/>
          </a:p>
        </p:txBody>
      </p:sp>
      <p:sp>
        <p:nvSpPr>
          <p:cNvPr id="27" name="Text 25"/>
          <p:cNvSpPr/>
          <p:nvPr/>
        </p:nvSpPr>
        <p:spPr>
          <a:xfrm>
            <a:off x="6355080" y="4279392"/>
            <a:ext cx="5074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1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Generate an AI-drafted executive narrative and edit it for accuracy</a:t>
            </a:r>
            <a:endParaRPr lang="en-US" sz="910" dirty="0"/>
          </a:p>
        </p:txBody>
      </p:sp>
      <p:sp>
        <p:nvSpPr>
          <p:cNvPr id="28" name="Text 26"/>
          <p:cNvSpPr/>
          <p:nvPr/>
        </p:nvSpPr>
        <p:spPr>
          <a:xfrm>
            <a:off x="6355080" y="4572000"/>
            <a:ext cx="5074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1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Select the correct Cross-Type Matrix row to justify a timeline expectation</a:t>
            </a:r>
            <a:endParaRPr lang="en-US" sz="910" dirty="0"/>
          </a:p>
        </p:txBody>
      </p:sp>
      <p:sp>
        <p:nvSpPr>
          <p:cNvPr id="29" name="Text 27"/>
          <p:cNvSpPr/>
          <p:nvPr/>
        </p:nvSpPr>
        <p:spPr>
          <a:xfrm>
            <a:off x="6355080" y="4864608"/>
            <a:ext cx="5074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1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Present the 3 findings as a 5-minute mock briefing</a:t>
            </a:r>
            <a:endParaRPr lang="en-US" sz="910" dirty="0"/>
          </a:p>
        </p:txBody>
      </p:sp>
      <p:sp>
        <p:nvSpPr>
          <p:cNvPr id="30" name="Text 28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journi — Human Change Management Curriculum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· TRN-A2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99669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20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Sustainment, Governance &amp; Platform Administration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10835640" y="365760"/>
            <a:ext cx="566928" cy="566928"/>
          </a:xfrm>
          <a:prstGeom prst="ellipse">
            <a:avLst/>
          </a:prstGeom>
          <a:solidFill>
            <a:srgbClr val="C2661C"/>
          </a:solidFill>
          <a:ln/>
        </p:spPr>
      </p:sp>
      <p:pic>
        <p:nvPicPr>
          <p:cNvPr id="5" name="Image 0" descr="/home/user/scm-process-register/docs-src/curriculum-deck/assets/ser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63656" y="493776"/>
            <a:ext cx="310896" cy="31089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150876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GOALS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48640" y="1810512"/>
            <a:ext cx="5257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30/60/90-day sustainment checkpoints and institutionalize lessons learned</a:t>
            </a:r>
            <a:endParaRPr lang="en-US" sz="1080" dirty="0"/>
          </a:p>
        </p:txBody>
      </p:sp>
      <p:sp>
        <p:nvSpPr>
          <p:cNvPr id="8" name="Text 5"/>
          <p:cNvSpPr/>
          <p:nvPr/>
        </p:nvSpPr>
        <p:spPr>
          <a:xfrm>
            <a:off x="548640" y="2377440"/>
            <a:ext cx="5257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Administer the runtime Permission Matrix and Justification Governance toggle</a:t>
            </a:r>
            <a:endParaRPr lang="en-US" sz="1080" dirty="0"/>
          </a:p>
        </p:txBody>
      </p:sp>
      <p:sp>
        <p:nvSpPr>
          <p:cNvPr id="9" name="Text 6"/>
          <p:cNvSpPr/>
          <p:nvPr/>
        </p:nvSpPr>
        <p:spPr>
          <a:xfrm>
            <a:off x="548640" y="2944368"/>
            <a:ext cx="5257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multi-tenant hierarchy and manage cross-organization user scope</a:t>
            </a:r>
            <a:endParaRPr lang="en-US" sz="1080" dirty="0"/>
          </a:p>
        </p:txBody>
      </p:sp>
      <p:sp>
        <p:nvSpPr>
          <p:cNvPr id="10" name="Text 7"/>
          <p:cNvSpPr/>
          <p:nvPr/>
        </p:nvSpPr>
        <p:spPr>
          <a:xfrm>
            <a:off x="548640" y="3511296"/>
            <a:ext cx="5257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Field Notes appropriately as a practitioner scratchpad, not a system-of-record substitute</a:t>
            </a:r>
            <a:endParaRPr lang="en-US" sz="1080" dirty="0"/>
          </a:p>
        </p:txBody>
      </p:sp>
      <p:sp>
        <p:nvSpPr>
          <p:cNvPr id="11" name="Text 8"/>
          <p:cNvSpPr/>
          <p:nvPr/>
        </p:nvSpPr>
        <p:spPr>
          <a:xfrm>
            <a:off x="548640" y="4151376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AUDIENCE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48640" y="4443984"/>
            <a:ext cx="5257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8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 Change Managers, Organization / Group Admins, Super Admins (Practitioner credential required)</a:t>
            </a:r>
            <a:endParaRPr lang="en-US" sz="1080" dirty="0"/>
          </a:p>
        </p:txBody>
      </p:sp>
      <p:sp>
        <p:nvSpPr>
          <p:cNvPr id="13" name="Text 10"/>
          <p:cNvSpPr/>
          <p:nvPr/>
        </p:nvSpPr>
        <p:spPr>
          <a:xfrm>
            <a:off x="5989320" y="1508760"/>
            <a:ext cx="5623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AGENDA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989320" y="1828800"/>
            <a:ext cx="5623560" cy="1353312"/>
          </a:xfrm>
          <a:prstGeom prst="roundRect">
            <a:avLst>
              <a:gd name="adj" fmla="val 3378"/>
            </a:avLst>
          </a:prstGeom>
          <a:solidFill>
            <a:srgbClr val="F7E4D2"/>
          </a:solidFill>
          <a:ln/>
        </p:spPr>
      </p:sp>
      <p:sp>
        <p:nvSpPr>
          <p:cNvPr id="15" name="Text 12"/>
          <p:cNvSpPr/>
          <p:nvPr/>
        </p:nvSpPr>
        <p:spPr>
          <a:xfrm>
            <a:off x="6126480" y="1865376"/>
            <a:ext cx="5349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AM  </a:t>
            </a:r>
            <a:pPr indent="0" marL="0">
              <a:buNone/>
            </a:pPr>
            <a:r>
              <a:rPr lang="en-US" sz="1080" b="1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Sustainment &amp; Field Notes</a:t>
            </a:r>
            <a:endParaRPr lang="en-US" sz="1080" dirty="0"/>
          </a:p>
        </p:txBody>
      </p:sp>
      <p:sp>
        <p:nvSpPr>
          <p:cNvPr id="16" name="Text 13"/>
          <p:cNvSpPr/>
          <p:nvPr/>
        </p:nvSpPr>
        <p:spPr>
          <a:xfrm>
            <a:off x="6172200" y="2139696"/>
            <a:ext cx="5257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Reinforcement &amp; Sustainment — checkpoints, regression risk, quick wins, the REX lessons-learned log (60m)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6172200" y="2414016"/>
            <a:ext cx="5257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Field Notes — when to use it vs. a structured module (45m)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6172200" y="2688336"/>
            <a:ext cx="5257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QZ-A2-1  </a:t>
            </a:r>
            <a:pPr indent="0" marL="0">
              <a:buNone/>
            </a:pPr>
            <a:r>
              <a:rPr lang="en-US" sz="90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— Sustainment checkpoints + Field Notes scope (8 items, 15m)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6172200" y="2944368"/>
            <a:ext cx="5257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WS-A2-1  </a:t>
            </a:r>
            <a:pPr indent="0" marL="0">
              <a:buNone/>
            </a:pPr>
            <a:r>
              <a:rPr lang="en-US" sz="90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— Close Out a Program (90m)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5989320" y="3273552"/>
            <a:ext cx="5623560" cy="1353312"/>
          </a:xfrm>
          <a:prstGeom prst="roundRect">
            <a:avLst>
              <a:gd name="adj" fmla="val 3378"/>
            </a:avLst>
          </a:prstGeom>
          <a:solidFill>
            <a:srgbClr val="F7E4D2"/>
          </a:solidFill>
          <a:ln/>
        </p:spPr>
      </p:sp>
      <p:sp>
        <p:nvSpPr>
          <p:cNvPr id="21" name="Text 18"/>
          <p:cNvSpPr/>
          <p:nvPr/>
        </p:nvSpPr>
        <p:spPr>
          <a:xfrm>
            <a:off x="6126480" y="3310128"/>
            <a:ext cx="5349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PM  </a:t>
            </a:r>
            <a:pPr indent="0" marL="0">
              <a:buNone/>
            </a:pPr>
            <a:r>
              <a:rPr lang="en-US" sz="1080" b="1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Governance &amp; Administration</a:t>
            </a:r>
            <a:endParaRPr lang="en-US" sz="1080" dirty="0"/>
          </a:p>
        </p:txBody>
      </p:sp>
      <p:sp>
        <p:nvSpPr>
          <p:cNvPr id="22" name="Text 19"/>
          <p:cNvSpPr/>
          <p:nvPr/>
        </p:nvSpPr>
        <p:spPr>
          <a:xfrm>
            <a:off x="6172200" y="3584448"/>
            <a:ext cx="5257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Permission Matrix &amp; Governance Settings — 9 roles × 8 capabilities, the Super-Admin-only edit gate (60m)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6172200" y="3858768"/>
            <a:ext cx="5257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Multi-tenant hierarchy administration — Group/Organization scope, cascading delete, data isolation (60m)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6172200" y="4133088"/>
            <a:ext cx="5257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QZ-A2-2  </a:t>
            </a:r>
            <a:pPr indent="0" marL="0">
              <a:buNone/>
            </a:pPr>
            <a:r>
              <a:rPr lang="en-US" sz="90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— Permission Matrix + tenant isolation (8 items, 15m)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6172200" y="4389120"/>
            <a:ext cx="5257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WS-A2-2  </a:t>
            </a:r>
            <a:pPr indent="0" marL="0">
              <a:buNone/>
            </a:pPr>
            <a:r>
              <a:rPr lang="en-US" sz="90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— Administer a New Business Unit (90m)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5989320" y="4718304"/>
            <a:ext cx="5623560" cy="502920"/>
          </a:xfrm>
          <a:prstGeom prst="roundRect">
            <a:avLst>
              <a:gd name="adj" fmla="val 9091"/>
            </a:avLst>
          </a:prstGeom>
          <a:solidFill>
            <a:srgbClr val="15423A"/>
          </a:solidFill>
          <a:ln/>
        </p:spPr>
      </p:sp>
      <p:sp>
        <p:nvSpPr>
          <p:cNvPr id="27" name="Text 24"/>
          <p:cNvSpPr/>
          <p:nvPr/>
        </p:nvSpPr>
        <p:spPr>
          <a:xfrm>
            <a:off x="6126480" y="4718304"/>
            <a:ext cx="5349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EXM-A2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MCQ + 1 admin-configuration practical · 75 min · pass mark 75%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journi — Human Change Management Curriculum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TRN-A2 · WORKSHOPS IN DETAIL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00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Sustainment, Governance &amp; Platform Administration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440680" cy="4434840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.5373467993715405e+91" dist="5.765050497643275e+90" dir="1.1845953345804043e+107">
              <a:srgbClr val="1B2E2B">
                <a:alpha val="1.800000000000001e+109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2084832"/>
            <a:ext cx="780898" cy="274320"/>
          </a:xfrm>
          <a:prstGeom prst="roundRect">
            <a:avLst>
              <a:gd name="adj" fmla="val 166667"/>
            </a:avLst>
          </a:prstGeom>
          <a:solidFill>
            <a:srgbClr val="C2661C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084832"/>
            <a:ext cx="7808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WS-A2-1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800600" y="2084832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min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731520" y="2450592"/>
            <a:ext cx="5074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Out a Program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2944368"/>
            <a:ext cx="5074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31520" y="3182112"/>
            <a:ext cx="5074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Complete a sustainment cycle correctly</a:t>
            </a:r>
            <a:endParaRPr lang="en-US" sz="930" dirty="0"/>
          </a:p>
        </p:txBody>
      </p:sp>
      <p:sp>
        <p:nvSpPr>
          <p:cNvPr id="11" name="Text 9"/>
          <p:cNvSpPr/>
          <p:nvPr/>
        </p:nvSpPr>
        <p:spPr>
          <a:xfrm>
            <a:off x="731520" y="3438144"/>
            <a:ext cx="5074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Institutionalize a lesson learned properly</a:t>
            </a:r>
            <a:endParaRPr lang="en-US" sz="930" dirty="0"/>
          </a:p>
        </p:txBody>
      </p:sp>
      <p:sp>
        <p:nvSpPr>
          <p:cNvPr id="12" name="Text 10"/>
          <p:cNvSpPr/>
          <p:nvPr/>
        </p:nvSpPr>
        <p:spPr>
          <a:xfrm>
            <a:off x="731520" y="3749040"/>
            <a:ext cx="5074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AGENDA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31520" y="3986784"/>
            <a:ext cx="5074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1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Record the 90-day sustainment checkpoint</a:t>
            </a:r>
            <a:endParaRPr lang="en-US" sz="910" dirty="0"/>
          </a:p>
        </p:txBody>
      </p:sp>
      <p:sp>
        <p:nvSpPr>
          <p:cNvPr id="14" name="Text 12"/>
          <p:cNvSpPr/>
          <p:nvPr/>
        </p:nvSpPr>
        <p:spPr>
          <a:xfrm>
            <a:off x="731520" y="4279392"/>
            <a:ext cx="5074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1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Log 2 lessons learned — one linked to a Rule/Charter, one left pending</a:t>
            </a:r>
            <a:endParaRPr lang="en-US" sz="910" dirty="0"/>
          </a:p>
        </p:txBody>
      </p:sp>
      <p:sp>
        <p:nvSpPr>
          <p:cNvPr id="15" name="Text 13"/>
          <p:cNvSpPr/>
          <p:nvPr/>
        </p:nvSpPr>
        <p:spPr>
          <a:xfrm>
            <a:off x="731520" y="4572000"/>
            <a:ext cx="5074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1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Toggle sustainment sign-off with a written justification</a:t>
            </a:r>
            <a:endParaRPr lang="en-US" sz="910" dirty="0"/>
          </a:p>
        </p:txBody>
      </p:sp>
      <p:sp>
        <p:nvSpPr>
          <p:cNvPr id="16" name="Text 14"/>
          <p:cNvSpPr/>
          <p:nvPr/>
        </p:nvSpPr>
        <p:spPr>
          <a:xfrm>
            <a:off x="731520" y="4864608"/>
            <a:ext cx="5074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1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Explain why a Field Note is not a substitute for a structured record</a:t>
            </a:r>
            <a:endParaRPr lang="en-US" sz="910" dirty="0"/>
          </a:p>
        </p:txBody>
      </p:sp>
      <p:sp>
        <p:nvSpPr>
          <p:cNvPr id="17" name="Shape 15"/>
          <p:cNvSpPr/>
          <p:nvPr/>
        </p:nvSpPr>
        <p:spPr>
          <a:xfrm>
            <a:off x="6172200" y="1920240"/>
            <a:ext cx="5440680" cy="4434840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.9524304352018566e+95" dist="7.321614132006959e+94" dir="7.107572007482426e+111">
              <a:srgbClr val="1B2E2B">
                <a:alpha val="1.800000000000001e+114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355080" y="2084832"/>
            <a:ext cx="780898" cy="274320"/>
          </a:xfrm>
          <a:prstGeom prst="roundRect">
            <a:avLst>
              <a:gd name="adj" fmla="val 166667"/>
            </a:avLst>
          </a:prstGeom>
          <a:solidFill>
            <a:srgbClr val="C2661C"/>
          </a:solidFill>
          <a:ln/>
        </p:spPr>
      </p:sp>
      <p:sp>
        <p:nvSpPr>
          <p:cNvPr id="19" name="Text 17"/>
          <p:cNvSpPr/>
          <p:nvPr/>
        </p:nvSpPr>
        <p:spPr>
          <a:xfrm>
            <a:off x="6355080" y="2084832"/>
            <a:ext cx="7808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WS-A2-2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10424160" y="2084832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min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355080" y="2450592"/>
            <a:ext cx="5074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Administer a New Business Unit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355080" y="2944368"/>
            <a:ext cx="5074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GOALS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355080" y="3182112"/>
            <a:ext cx="5074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Safely extend the tenant hierarchy</a:t>
            </a:r>
            <a:endParaRPr lang="en-US" sz="930" dirty="0"/>
          </a:p>
        </p:txBody>
      </p:sp>
      <p:sp>
        <p:nvSpPr>
          <p:cNvPr id="24" name="Text 22"/>
          <p:cNvSpPr/>
          <p:nvPr/>
        </p:nvSpPr>
        <p:spPr>
          <a:xfrm>
            <a:off x="6355080" y="3438144"/>
            <a:ext cx="5074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Grant a scoped capability without over-provisioning</a:t>
            </a:r>
            <a:endParaRPr lang="en-US" sz="930" dirty="0"/>
          </a:p>
        </p:txBody>
      </p:sp>
      <p:sp>
        <p:nvSpPr>
          <p:cNvPr id="25" name="Text 23"/>
          <p:cNvSpPr/>
          <p:nvPr/>
        </p:nvSpPr>
        <p:spPr>
          <a:xfrm>
            <a:off x="6355080" y="3749040"/>
            <a:ext cx="5074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AGENDA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355080" y="3986784"/>
            <a:ext cx="5074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1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Create a new Organization under an existing Group</a:t>
            </a:r>
            <a:endParaRPr lang="en-US" sz="910" dirty="0"/>
          </a:p>
        </p:txBody>
      </p:sp>
      <p:sp>
        <p:nvSpPr>
          <p:cNvPr id="27" name="Text 25"/>
          <p:cNvSpPr/>
          <p:nvPr/>
        </p:nvSpPr>
        <p:spPr>
          <a:xfrm>
            <a:off x="6355080" y="4279392"/>
            <a:ext cx="5074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1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Grant a Change Manager the manageTemplates capability via the Permission Matrix</a:t>
            </a:r>
            <a:endParaRPr lang="en-US" sz="910" dirty="0"/>
          </a:p>
        </p:txBody>
      </p:sp>
      <p:sp>
        <p:nvSpPr>
          <p:cNvPr id="28" name="Text 26"/>
          <p:cNvSpPr/>
          <p:nvPr/>
        </p:nvSpPr>
        <p:spPr>
          <a:xfrm>
            <a:off x="6355080" y="4572000"/>
            <a:ext cx="5074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1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Verify tenant data isolation from a sibling Organization</a:t>
            </a:r>
            <a:endParaRPr lang="en-US" sz="910" dirty="0"/>
          </a:p>
        </p:txBody>
      </p:sp>
      <p:sp>
        <p:nvSpPr>
          <p:cNvPr id="29" name="Text 27"/>
          <p:cNvSpPr/>
          <p:nvPr/>
        </p:nvSpPr>
        <p:spPr>
          <a:xfrm>
            <a:off x="6355080" y="4864608"/>
            <a:ext cx="5074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1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Explain the cascading-delete behavior at each hierarchy level</a:t>
            </a:r>
            <a:endParaRPr lang="en-US" sz="910" dirty="0"/>
          </a:p>
        </p:txBody>
      </p:sp>
      <p:sp>
        <p:nvSpPr>
          <p:cNvPr id="30" name="Text 28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journi — Human Change Management Curriculum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· TRN-A3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99669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20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— Leading a Full Transformation Program End-to-End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10835640" y="365760"/>
            <a:ext cx="566928" cy="566928"/>
          </a:xfrm>
          <a:prstGeom prst="ellipse">
            <a:avLst/>
          </a:prstGeom>
          <a:solidFill>
            <a:srgbClr val="C2661C"/>
          </a:solidFill>
          <a:ln/>
        </p:spPr>
      </p:sp>
      <p:pic>
        <p:nvPicPr>
          <p:cNvPr id="5" name="Image 0" descr="/home/user/scm-process-register/docs-src/curriculum-deck/assets/flag-checke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63656" y="493776"/>
            <a:ext cx="310896" cy="31089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1508760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GOALS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48640" y="1810512"/>
            <a:ext cx="5257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 every module from M1–M22 into one coherent program simulation</a:t>
            </a:r>
            <a:endParaRPr lang="en-US" sz="1080" dirty="0"/>
          </a:p>
        </p:txBody>
      </p:sp>
      <p:sp>
        <p:nvSpPr>
          <p:cNvPr id="8" name="Text 5"/>
          <p:cNvSpPr/>
          <p:nvPr/>
        </p:nvSpPr>
        <p:spPr>
          <a:xfrm>
            <a:off x="548640" y="2377440"/>
            <a:ext cx="5257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Defend a Phase Gate decision under Steering Committee questioning</a:t>
            </a:r>
            <a:endParaRPr lang="en-US" sz="1080" dirty="0"/>
          </a:p>
        </p:txBody>
      </p:sp>
      <p:sp>
        <p:nvSpPr>
          <p:cNvPr id="9" name="Text 6"/>
          <p:cNvSpPr/>
          <p:nvPr/>
        </p:nvSpPr>
        <p:spPr>
          <a:xfrm>
            <a:off x="548640" y="2944368"/>
            <a:ext cx="5257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Diagnose and resolve an injected multi-module crisis scenario</a:t>
            </a:r>
            <a:endParaRPr lang="en-US" sz="1080" dirty="0"/>
          </a:p>
        </p:txBody>
      </p:sp>
      <p:sp>
        <p:nvSpPr>
          <p:cNvPr id="10" name="Text 7"/>
          <p:cNvSpPr/>
          <p:nvPr/>
        </p:nvSpPr>
        <p:spPr>
          <a:xfrm>
            <a:off x="548640" y="3511296"/>
            <a:ext cx="5257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 a portfolio-level readiness briefing synthesizing all four frameworks</a:t>
            </a:r>
            <a:endParaRPr lang="en-US" sz="1080" dirty="0"/>
          </a:p>
        </p:txBody>
      </p:sp>
      <p:sp>
        <p:nvSpPr>
          <p:cNvPr id="11" name="Text 8"/>
          <p:cNvSpPr/>
          <p:nvPr/>
        </p:nvSpPr>
        <p:spPr>
          <a:xfrm>
            <a:off x="548640" y="4151376"/>
            <a:ext cx="5212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AUDIENCE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48640" y="4443984"/>
            <a:ext cx="5257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8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Advanced-level candidates only — TRN-A1 and TRN-A2 completed</a:t>
            </a:r>
            <a:endParaRPr lang="en-US" sz="1080" dirty="0"/>
          </a:p>
        </p:txBody>
      </p:sp>
      <p:sp>
        <p:nvSpPr>
          <p:cNvPr id="13" name="Text 10"/>
          <p:cNvSpPr/>
          <p:nvPr/>
        </p:nvSpPr>
        <p:spPr>
          <a:xfrm>
            <a:off x="5989320" y="1508760"/>
            <a:ext cx="5623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AGENDA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989320" y="1828800"/>
            <a:ext cx="5623560" cy="1078992"/>
          </a:xfrm>
          <a:prstGeom prst="roundRect">
            <a:avLst>
              <a:gd name="adj" fmla="val 4237"/>
            </a:avLst>
          </a:prstGeom>
          <a:solidFill>
            <a:srgbClr val="F7E4D2"/>
          </a:solidFill>
          <a:ln/>
        </p:spPr>
      </p:sp>
      <p:sp>
        <p:nvSpPr>
          <p:cNvPr id="15" name="Text 12"/>
          <p:cNvSpPr/>
          <p:nvPr/>
        </p:nvSpPr>
        <p:spPr>
          <a:xfrm>
            <a:off x="6126480" y="1865376"/>
            <a:ext cx="5349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AM  </a:t>
            </a:r>
            <a:pPr indent="0" marL="0">
              <a:buNone/>
            </a:pPr>
            <a:r>
              <a:rPr lang="en-US" sz="980" b="1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 Setup Simulation</a:t>
            </a:r>
            <a:endParaRPr lang="en-US" sz="980" dirty="0"/>
          </a:p>
        </p:txBody>
      </p:sp>
      <p:sp>
        <p:nvSpPr>
          <p:cNvPr id="16" name="Text 13"/>
          <p:cNvSpPr/>
          <p:nvPr/>
        </p:nvSpPr>
        <p:spPr>
          <a:xfrm>
            <a:off x="6172200" y="2084832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Scenario briefing — a new manufacturing client launching an ERP + culture dual transformation (75m)</a:t>
            </a:r>
            <a:endParaRPr lang="en-US" sz="830" dirty="0"/>
          </a:p>
        </p:txBody>
      </p:sp>
      <p:sp>
        <p:nvSpPr>
          <p:cNvPr id="17" name="Text 14"/>
          <p:cNvSpPr/>
          <p:nvPr/>
        </p:nvSpPr>
        <p:spPr>
          <a:xfrm>
            <a:off x="6172200" y="2304288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Team formation and role assignment (Change Manager, PMO, Sponsor-proxy) (45m)</a:t>
            </a:r>
            <a:endParaRPr lang="en-US" sz="830" dirty="0"/>
          </a:p>
        </p:txBody>
      </p:sp>
      <p:sp>
        <p:nvSpPr>
          <p:cNvPr id="18" name="Text 15"/>
          <p:cNvSpPr/>
          <p:nvPr/>
        </p:nvSpPr>
        <p:spPr>
          <a:xfrm>
            <a:off x="6172200" y="2523744"/>
            <a:ext cx="5257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QZ-A3-1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— Scenario comprehension (8 items, 15m)</a:t>
            </a:r>
            <a:endParaRPr lang="en-US" sz="830" dirty="0"/>
          </a:p>
        </p:txBody>
      </p:sp>
      <p:sp>
        <p:nvSpPr>
          <p:cNvPr id="19" name="Text 16"/>
          <p:cNvSpPr/>
          <p:nvPr/>
        </p:nvSpPr>
        <p:spPr>
          <a:xfrm>
            <a:off x="6172200" y="2724912"/>
            <a:ext cx="5257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WS-A3-1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— Stand Up the Program (90m)</a:t>
            </a:r>
            <a:endParaRPr lang="en-US" sz="830" dirty="0"/>
          </a:p>
        </p:txBody>
      </p:sp>
      <p:sp>
        <p:nvSpPr>
          <p:cNvPr id="20" name="Shape 17"/>
          <p:cNvSpPr/>
          <p:nvPr/>
        </p:nvSpPr>
        <p:spPr>
          <a:xfrm>
            <a:off x="5989320" y="2962656"/>
            <a:ext cx="5623560" cy="859536"/>
          </a:xfrm>
          <a:prstGeom prst="roundRect">
            <a:avLst>
              <a:gd name="adj" fmla="val 5319"/>
            </a:avLst>
          </a:prstGeom>
          <a:solidFill>
            <a:srgbClr val="F7E4D2"/>
          </a:solidFill>
          <a:ln/>
        </p:spPr>
      </p:sp>
      <p:sp>
        <p:nvSpPr>
          <p:cNvPr id="21" name="Text 18"/>
          <p:cNvSpPr/>
          <p:nvPr/>
        </p:nvSpPr>
        <p:spPr>
          <a:xfrm>
            <a:off x="6126480" y="2999232"/>
            <a:ext cx="5349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PM  </a:t>
            </a:r>
            <a:pPr indent="0" marL="0">
              <a:buNone/>
            </a:pPr>
            <a:r>
              <a:rPr lang="en-US" sz="980" b="1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Mid-Program Crisis Injection</a:t>
            </a:r>
            <a:endParaRPr lang="en-US" sz="980" dirty="0"/>
          </a:p>
        </p:txBody>
      </p:sp>
      <p:sp>
        <p:nvSpPr>
          <p:cNvPr id="22" name="Text 19"/>
          <p:cNvSpPr/>
          <p:nvPr/>
        </p:nvSpPr>
        <p:spPr>
          <a:xfrm>
            <a:off x="6172200" y="3218688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Facilitator injects a crisis packet: Divergence Pattern, 2 systemic resistance entries, a saturation risk, a weak-sponsor-visibility signal (60m)</a:t>
            </a:r>
            <a:endParaRPr lang="en-US" sz="830" dirty="0"/>
          </a:p>
        </p:txBody>
      </p:sp>
      <p:sp>
        <p:nvSpPr>
          <p:cNvPr id="23" name="Text 20"/>
          <p:cNvSpPr/>
          <p:nvPr/>
        </p:nvSpPr>
        <p:spPr>
          <a:xfrm>
            <a:off x="6172200" y="3438144"/>
            <a:ext cx="5257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QZ-A3-2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— Crisis diagnosis (8 items, 15m)</a:t>
            </a:r>
            <a:endParaRPr lang="en-US" sz="830" dirty="0"/>
          </a:p>
        </p:txBody>
      </p:sp>
      <p:sp>
        <p:nvSpPr>
          <p:cNvPr id="24" name="Text 21"/>
          <p:cNvSpPr/>
          <p:nvPr/>
        </p:nvSpPr>
        <p:spPr>
          <a:xfrm>
            <a:off x="6172200" y="3639312"/>
            <a:ext cx="5257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WS-A3-2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— Triage the Crisis (120m)</a:t>
            </a:r>
            <a:endParaRPr lang="en-US" sz="830" dirty="0"/>
          </a:p>
        </p:txBody>
      </p:sp>
      <p:sp>
        <p:nvSpPr>
          <p:cNvPr id="25" name="Shape 22"/>
          <p:cNvSpPr/>
          <p:nvPr/>
        </p:nvSpPr>
        <p:spPr>
          <a:xfrm>
            <a:off x="5989320" y="3877056"/>
            <a:ext cx="5623560" cy="859536"/>
          </a:xfrm>
          <a:prstGeom prst="roundRect">
            <a:avLst>
              <a:gd name="adj" fmla="val 5319"/>
            </a:avLst>
          </a:prstGeom>
          <a:solidFill>
            <a:srgbClr val="F7E4D2"/>
          </a:solidFill>
          <a:ln/>
        </p:spPr>
      </p:sp>
      <p:sp>
        <p:nvSpPr>
          <p:cNvPr id="26" name="Text 23"/>
          <p:cNvSpPr/>
          <p:nvPr/>
        </p:nvSpPr>
        <p:spPr>
          <a:xfrm>
            <a:off x="6126480" y="3913632"/>
            <a:ext cx="5349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AM  </a:t>
            </a:r>
            <a:pPr indent="0" marL="0">
              <a:buNone/>
            </a:pPr>
            <a:r>
              <a:rPr lang="en-US" sz="980" b="1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Gate Defense</a:t>
            </a:r>
            <a:endParaRPr lang="en-US" sz="980" dirty="0"/>
          </a:p>
        </p:txBody>
      </p:sp>
      <p:sp>
        <p:nvSpPr>
          <p:cNvPr id="27" name="Text 24"/>
          <p:cNvSpPr/>
          <p:nvPr/>
        </p:nvSpPr>
        <p:spPr>
          <a:xfrm>
            <a:off x="6172200" y="4133088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Phase Gate mechanics recap and Steering Committee role-play briefing (45m)</a:t>
            </a:r>
            <a:endParaRPr lang="en-US" sz="830" dirty="0"/>
          </a:p>
        </p:txBody>
      </p:sp>
      <p:sp>
        <p:nvSpPr>
          <p:cNvPr id="28" name="Text 25"/>
          <p:cNvSpPr/>
          <p:nvPr/>
        </p:nvSpPr>
        <p:spPr>
          <a:xfrm>
            <a:off x="6172200" y="4352544"/>
            <a:ext cx="5257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QZ-A3-3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— Phase Gate defense readiness (8 items, 15m)</a:t>
            </a:r>
            <a:endParaRPr lang="en-US" sz="830" dirty="0"/>
          </a:p>
        </p:txBody>
      </p:sp>
      <p:sp>
        <p:nvSpPr>
          <p:cNvPr id="29" name="Text 26"/>
          <p:cNvSpPr/>
          <p:nvPr/>
        </p:nvSpPr>
        <p:spPr>
          <a:xfrm>
            <a:off x="6172200" y="4553712"/>
            <a:ext cx="5257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WS-A3-3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— Defend the Gate (150m)</a:t>
            </a:r>
            <a:endParaRPr lang="en-US" sz="830" dirty="0"/>
          </a:p>
        </p:txBody>
      </p:sp>
      <p:sp>
        <p:nvSpPr>
          <p:cNvPr id="30" name="Shape 27"/>
          <p:cNvSpPr/>
          <p:nvPr/>
        </p:nvSpPr>
        <p:spPr>
          <a:xfrm>
            <a:off x="5989320" y="4791456"/>
            <a:ext cx="5623560" cy="859536"/>
          </a:xfrm>
          <a:prstGeom prst="roundRect">
            <a:avLst>
              <a:gd name="adj" fmla="val 5319"/>
            </a:avLst>
          </a:prstGeom>
          <a:solidFill>
            <a:srgbClr val="F7E4D2"/>
          </a:solidFill>
          <a:ln/>
        </p:spPr>
      </p:sp>
      <p:sp>
        <p:nvSpPr>
          <p:cNvPr id="31" name="Text 28"/>
          <p:cNvSpPr/>
          <p:nvPr/>
        </p:nvSpPr>
        <p:spPr>
          <a:xfrm>
            <a:off x="6126480" y="4828032"/>
            <a:ext cx="5349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PM  </a:t>
            </a:r>
            <a:pPr indent="0" marL="0">
              <a:buNone/>
            </a:pPr>
            <a:r>
              <a:rPr lang="en-US" sz="980" b="1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Briefing &amp; Program Close</a:t>
            </a:r>
            <a:endParaRPr lang="en-US" sz="980" dirty="0"/>
          </a:p>
        </p:txBody>
      </p:sp>
      <p:sp>
        <p:nvSpPr>
          <p:cNvPr id="32" name="Text 29"/>
          <p:cNvSpPr/>
          <p:nvPr/>
        </p:nvSpPr>
        <p:spPr>
          <a:xfrm>
            <a:off x="6172200" y="5047488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Executive-briefing best practices recap (45m)</a:t>
            </a:r>
            <a:endParaRPr lang="en-US" sz="830" dirty="0"/>
          </a:p>
        </p:txBody>
      </p:sp>
      <p:sp>
        <p:nvSpPr>
          <p:cNvPr id="33" name="Text 30"/>
          <p:cNvSpPr/>
          <p:nvPr/>
        </p:nvSpPr>
        <p:spPr>
          <a:xfrm>
            <a:off x="6172200" y="5266944"/>
            <a:ext cx="5257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QZ-A3-4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— Executive communication (8 items, 15m)</a:t>
            </a:r>
            <a:endParaRPr lang="en-US" sz="830" dirty="0"/>
          </a:p>
        </p:txBody>
      </p:sp>
      <p:sp>
        <p:nvSpPr>
          <p:cNvPr id="34" name="Text 31"/>
          <p:cNvSpPr/>
          <p:nvPr/>
        </p:nvSpPr>
        <p:spPr>
          <a:xfrm>
            <a:off x="6172200" y="5468112"/>
            <a:ext cx="5257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WS-A3-4  </a:t>
            </a:r>
            <a:pPr indent="0" marL="0">
              <a:buNone/>
            </a:pPr>
            <a:r>
              <a:rPr lang="en-US" sz="83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— Brief and Close (150m)</a:t>
            </a:r>
            <a:endParaRPr lang="en-US" sz="830" dirty="0"/>
          </a:p>
        </p:txBody>
      </p:sp>
      <p:sp>
        <p:nvSpPr>
          <p:cNvPr id="35" name="Shape 32"/>
          <p:cNvSpPr/>
          <p:nvPr/>
        </p:nvSpPr>
        <p:spPr>
          <a:xfrm>
            <a:off x="5989320" y="5705856"/>
            <a:ext cx="5623560" cy="502920"/>
          </a:xfrm>
          <a:prstGeom prst="roundRect">
            <a:avLst>
              <a:gd name="adj" fmla="val 9091"/>
            </a:avLst>
          </a:prstGeom>
          <a:solidFill>
            <a:srgbClr val="15423A"/>
          </a:solidFill>
          <a:ln/>
        </p:spPr>
      </p:sp>
      <p:sp>
        <p:nvSpPr>
          <p:cNvPr id="36" name="Text 33"/>
          <p:cNvSpPr/>
          <p:nvPr/>
        </p:nvSpPr>
        <p:spPr>
          <a:xfrm>
            <a:off x="6126480" y="5705856"/>
            <a:ext cx="5349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EXM-A3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Facilitator rubric across the 4 capstone workshops (25 pts each, 100 total) · pass mark 75/100</a:t>
            </a:r>
            <a:endParaRPr lang="en-US" sz="1000" dirty="0"/>
          </a:p>
        </p:txBody>
      </p:sp>
      <p:sp>
        <p:nvSpPr>
          <p:cNvPr id="37" name="Text 34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journi — Human Change Management Curriculum</a:t>
            </a:r>
            <a:endParaRPr lang="en-US" sz="900" dirty="0"/>
          </a:p>
        </p:txBody>
      </p:sp>
      <p:sp>
        <p:nvSpPr>
          <p:cNvPr id="38" name="Text 35"/>
          <p:cNvSpPr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TRN-A3 · WORKSHOPS IN DETAIL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00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— Leading a Full Transformation Program End-to-End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440680" cy="214884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.4795866527063578e+99" dist="9.298449947648839e+98" dir="4.2645432044894554e+116">
              <a:srgbClr val="1B2E2B">
                <a:alpha val="1.800000000000001e+119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2057400"/>
            <a:ext cx="780898" cy="274320"/>
          </a:xfrm>
          <a:prstGeom prst="roundRect">
            <a:avLst>
              <a:gd name="adj" fmla="val 166667"/>
            </a:avLst>
          </a:prstGeom>
          <a:solidFill>
            <a:srgbClr val="C2661C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2057400"/>
            <a:ext cx="7808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WS-A3-1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5166360" y="205740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90m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13232" y="235915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Up the Program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13232" y="2761488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Build the M1–M9 chain: hierarchy, charter, OBS, stakeholder map</a:t>
            </a:r>
            <a:endParaRPr lang="en-US" sz="860" dirty="0"/>
          </a:p>
        </p:txBody>
      </p:sp>
      <p:sp>
        <p:nvSpPr>
          <p:cNvPr id="10" name="Text 8"/>
          <p:cNvSpPr/>
          <p:nvPr/>
        </p:nvSpPr>
        <p:spPr>
          <a:xfrm>
            <a:off x="713232" y="3108960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Set an initial ADKAR baseline for the scenario client</a:t>
            </a:r>
            <a:endParaRPr lang="en-US" sz="860" dirty="0"/>
          </a:p>
        </p:txBody>
      </p:sp>
      <p:sp>
        <p:nvSpPr>
          <p:cNvPr id="11" name="Text 9"/>
          <p:cNvSpPr/>
          <p:nvPr/>
        </p:nvSpPr>
        <p:spPr>
          <a:xfrm>
            <a:off x="713232" y="345643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Assign and document team roles for the simulation</a:t>
            </a:r>
            <a:endParaRPr lang="en-US" sz="860" dirty="0"/>
          </a:p>
        </p:txBody>
      </p:sp>
      <p:sp>
        <p:nvSpPr>
          <p:cNvPr id="12" name="Shape 10"/>
          <p:cNvSpPr/>
          <p:nvPr/>
        </p:nvSpPr>
        <p:spPr>
          <a:xfrm>
            <a:off x="6172200" y="1920240"/>
            <a:ext cx="5440680" cy="214884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.149075048937074e+103" dist="1.1809031433514024e+103" dir="2.5587259226936733e+121">
              <a:srgbClr val="1B2E2B">
                <a:alpha val="1.800000000000001e+124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336792" y="2057400"/>
            <a:ext cx="780898" cy="274320"/>
          </a:xfrm>
          <a:prstGeom prst="roundRect">
            <a:avLst>
              <a:gd name="adj" fmla="val 166667"/>
            </a:avLst>
          </a:prstGeom>
          <a:solidFill>
            <a:srgbClr val="C2661C"/>
          </a:solidFill>
          <a:ln/>
        </p:spPr>
      </p:sp>
      <p:sp>
        <p:nvSpPr>
          <p:cNvPr id="14" name="Text 12"/>
          <p:cNvSpPr/>
          <p:nvPr/>
        </p:nvSpPr>
        <p:spPr>
          <a:xfrm>
            <a:off x="6336792" y="2057400"/>
            <a:ext cx="7808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WS-A3-2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0789920" y="205740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120m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336792" y="235915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the Crisis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336792" y="2761488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Diagnose the Divergence Pattern (M11) and the resistance entries (M16)</a:t>
            </a:r>
            <a:endParaRPr lang="en-US" sz="860" dirty="0"/>
          </a:p>
        </p:txBody>
      </p:sp>
      <p:sp>
        <p:nvSpPr>
          <p:cNvPr id="18" name="Text 16"/>
          <p:cNvSpPr/>
          <p:nvPr/>
        </p:nvSpPr>
        <p:spPr>
          <a:xfrm>
            <a:off x="6336792" y="3108960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Assess the saturation risk (M12) and the sponsor-visibility signal (M13)</a:t>
            </a:r>
            <a:endParaRPr lang="en-US" sz="860" dirty="0"/>
          </a:p>
        </p:txBody>
      </p:sp>
      <p:sp>
        <p:nvSpPr>
          <p:cNvPr id="19" name="Text 17"/>
          <p:cNvSpPr/>
          <p:nvPr/>
        </p:nvSpPr>
        <p:spPr>
          <a:xfrm>
            <a:off x="6336792" y="345643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Log a justified response for each</a:t>
            </a:r>
            <a:endParaRPr lang="en-US" sz="860" dirty="0"/>
          </a:p>
        </p:txBody>
      </p:sp>
      <p:sp>
        <p:nvSpPr>
          <p:cNvPr id="20" name="Shape 18"/>
          <p:cNvSpPr/>
          <p:nvPr/>
        </p:nvSpPr>
        <p:spPr>
          <a:xfrm>
            <a:off x="548640" y="4206240"/>
            <a:ext cx="5440680" cy="214884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.9993253121500844e+107" dist="1.499746992056281e+107" dir="1.535235553616204e+126">
              <a:srgbClr val="1B2E2B">
                <a:alpha val="1.800000000000001e+129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13232" y="4343400"/>
            <a:ext cx="780898" cy="274320"/>
          </a:xfrm>
          <a:prstGeom prst="roundRect">
            <a:avLst>
              <a:gd name="adj" fmla="val 166667"/>
            </a:avLst>
          </a:prstGeom>
          <a:solidFill>
            <a:srgbClr val="C2661C"/>
          </a:solidFill>
          <a:ln/>
        </p:spPr>
      </p:sp>
      <p:sp>
        <p:nvSpPr>
          <p:cNvPr id="22" name="Text 20"/>
          <p:cNvSpPr/>
          <p:nvPr/>
        </p:nvSpPr>
        <p:spPr>
          <a:xfrm>
            <a:off x="713232" y="4343400"/>
            <a:ext cx="7808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WS-A3-3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166360" y="434340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150m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13232" y="464515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Defend the Gate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13232" y="5047488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Record a Phase Gate Joint Decision reflecting the crisis-adjusted data</a:t>
            </a:r>
            <a:endParaRPr lang="en-US" sz="860" dirty="0"/>
          </a:p>
        </p:txBody>
      </p:sp>
      <p:sp>
        <p:nvSpPr>
          <p:cNvPr id="26" name="Text 24"/>
          <p:cNvSpPr/>
          <p:nvPr/>
        </p:nvSpPr>
        <p:spPr>
          <a:xfrm>
            <a:off x="713232" y="5394960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Name and justify the Accountable role</a:t>
            </a:r>
            <a:endParaRPr lang="en-US" sz="860" dirty="0"/>
          </a:p>
        </p:txBody>
      </p:sp>
      <p:sp>
        <p:nvSpPr>
          <p:cNvPr id="27" name="Text 25"/>
          <p:cNvSpPr/>
          <p:nvPr/>
        </p:nvSpPr>
        <p:spPr>
          <a:xfrm>
            <a:off x="713232" y="574243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Present the decision to a facilitator/peer panel</a:t>
            </a:r>
            <a:endParaRPr lang="en-US" sz="860" dirty="0"/>
          </a:p>
        </p:txBody>
      </p:sp>
      <p:sp>
        <p:nvSpPr>
          <p:cNvPr id="28" name="Shape 26"/>
          <p:cNvSpPr/>
          <p:nvPr/>
        </p:nvSpPr>
        <p:spPr>
          <a:xfrm>
            <a:off x="6172200" y="4206240"/>
            <a:ext cx="5440680" cy="214884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.079143146430607e+111" dist="1.904678679911477e+111" dir="9.211413321697224e+130">
              <a:srgbClr val="1B2E2B">
                <a:alpha val="1.800000000000001e+134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336792" y="4343400"/>
            <a:ext cx="780898" cy="274320"/>
          </a:xfrm>
          <a:prstGeom prst="roundRect">
            <a:avLst>
              <a:gd name="adj" fmla="val 166667"/>
            </a:avLst>
          </a:prstGeom>
          <a:solidFill>
            <a:srgbClr val="C2661C"/>
          </a:solidFill>
          <a:ln/>
        </p:spPr>
      </p:sp>
      <p:sp>
        <p:nvSpPr>
          <p:cNvPr id="30" name="Text 28"/>
          <p:cNvSpPr/>
          <p:nvPr/>
        </p:nvSpPr>
        <p:spPr>
          <a:xfrm>
            <a:off x="6336792" y="4343400"/>
            <a:ext cx="7808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WS-A3-4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10789920" y="434340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150m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336792" y="464515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Brief and Close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336792" y="5047488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Generate and edit an AI-assisted executive narrative</a:t>
            </a:r>
            <a:endParaRPr lang="en-US" sz="860" dirty="0"/>
          </a:p>
        </p:txBody>
      </p:sp>
      <p:sp>
        <p:nvSpPr>
          <p:cNvPr id="34" name="Text 32"/>
          <p:cNvSpPr/>
          <p:nvPr/>
        </p:nvSpPr>
        <p:spPr>
          <a:xfrm>
            <a:off x="6336792" y="5394960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Present a 10-minute portfolio-level readiness briefing</a:t>
            </a:r>
            <a:endParaRPr lang="en-US" sz="860" dirty="0"/>
          </a:p>
        </p:txBody>
      </p:sp>
      <p:sp>
        <p:nvSpPr>
          <p:cNvPr id="35" name="Text 33"/>
          <p:cNvSpPr/>
          <p:nvPr/>
        </p:nvSpPr>
        <p:spPr>
          <a:xfrm>
            <a:off x="6336792" y="5742432"/>
            <a:ext cx="5111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Record a sustainment sign-off closing the simulated program</a:t>
            </a:r>
            <a:endParaRPr lang="en-US" sz="860" dirty="0"/>
          </a:p>
        </p:txBody>
      </p:sp>
      <p:sp>
        <p:nvSpPr>
          <p:cNvPr id="36" name="Text 34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journi — Human Change Management Curriculum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NOTES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27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Facilitator logistics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11064240" cy="914400"/>
          </a:xfrm>
          <a:prstGeom prst="roundRect">
            <a:avLst>
              <a:gd name="adj" fmla="val 5000"/>
            </a:avLst>
          </a:prstGeom>
          <a:solidFill>
            <a:srgbClr val="EAF2EF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2112264"/>
            <a:ext cx="621792" cy="621792"/>
          </a:xfrm>
          <a:prstGeom prst="ellipse">
            <a:avLst/>
          </a:prstGeom>
          <a:solidFill>
            <a:srgbClr val="1F6459"/>
          </a:solidFill>
          <a:ln/>
        </p:spPr>
      </p:sp>
      <p:pic>
        <p:nvPicPr>
          <p:cNvPr id="6" name="Image 0" descr="/home/user/scm-process-register/docs-src/curriculum-deck/assets/us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" y="2258568"/>
            <a:ext cx="329184" cy="3291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2084832"/>
            <a:ext cx="2743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Cohort size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617720" y="2084832"/>
            <a:ext cx="6858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 at 12 participants per journi environment so every workshop step is individually completable, not just observed.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48640" y="3017520"/>
            <a:ext cx="11064240" cy="914400"/>
          </a:xfrm>
          <a:prstGeom prst="roundRect">
            <a:avLst>
              <a:gd name="adj" fmla="val 5000"/>
            </a:avLst>
          </a:prstGeom>
          <a:solidFill>
            <a:srgbClr val="EAF2EF"/>
          </a:solidFill>
          <a:ln/>
        </p:spPr>
      </p:sp>
      <p:sp>
        <p:nvSpPr>
          <p:cNvPr id="10" name="Shape 7"/>
          <p:cNvSpPr/>
          <p:nvPr/>
        </p:nvSpPr>
        <p:spPr>
          <a:xfrm>
            <a:off x="777240" y="3163824"/>
            <a:ext cx="621792" cy="621792"/>
          </a:xfrm>
          <a:prstGeom prst="ellipse">
            <a:avLst/>
          </a:prstGeom>
          <a:solidFill>
            <a:srgbClr val="1F6459"/>
          </a:solidFill>
          <a:ln/>
        </p:spPr>
      </p:sp>
      <p:pic>
        <p:nvPicPr>
          <p:cNvPr id="11" name="Image 1" descr="/home/user/scm-process-register/docs-src/curriculum-deck/assets/ser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3310128"/>
            <a:ext cx="329184" cy="32918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691640" y="3136392"/>
            <a:ext cx="2743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4617720" y="3136392"/>
            <a:ext cx="6858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cohort gets its own seeded Windows-installed journi instance (Atlas Industrial Group demo tenant); "Reset Demo Data" between cohorts, never mid-cohort.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548640" y="4069080"/>
            <a:ext cx="11064240" cy="914400"/>
          </a:xfrm>
          <a:prstGeom prst="roundRect">
            <a:avLst>
              <a:gd name="adj" fmla="val 5000"/>
            </a:avLst>
          </a:prstGeom>
          <a:solidFill>
            <a:srgbClr val="EAF2EF"/>
          </a:solidFill>
          <a:ln/>
        </p:spPr>
      </p:sp>
      <p:sp>
        <p:nvSpPr>
          <p:cNvPr id="15" name="Shape 11"/>
          <p:cNvSpPr/>
          <p:nvPr/>
        </p:nvSpPr>
        <p:spPr>
          <a:xfrm>
            <a:off x="777240" y="4215384"/>
            <a:ext cx="621792" cy="621792"/>
          </a:xfrm>
          <a:prstGeom prst="ellipse">
            <a:avLst/>
          </a:prstGeom>
          <a:solidFill>
            <a:srgbClr val="1F6459"/>
          </a:solidFill>
          <a:ln/>
        </p:spPr>
      </p:sp>
      <p:pic>
        <p:nvPicPr>
          <p:cNvPr id="16" name="Image 2" descr="/home/user/scm-process-register/docs-src/curriculum-deck/assets/user-gradua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544" y="4361688"/>
            <a:ext cx="329184" cy="32918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691640" y="4187952"/>
            <a:ext cx="2743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Facilitator ratio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4617720" y="4187952"/>
            <a:ext cx="6858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lead facilitator per cohort; the Capstone (TRN-A3) requires a second facilitator to run the crisis-injection and panel-defense roles.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548640" y="5120640"/>
            <a:ext cx="11064240" cy="914400"/>
          </a:xfrm>
          <a:prstGeom prst="roundRect">
            <a:avLst>
              <a:gd name="adj" fmla="val 5000"/>
            </a:avLst>
          </a:prstGeom>
          <a:solidFill>
            <a:srgbClr val="EAF2EF"/>
          </a:solidFill>
          <a:ln/>
        </p:spPr>
      </p:sp>
      <p:sp>
        <p:nvSpPr>
          <p:cNvPr id="20" name="Shape 15"/>
          <p:cNvSpPr/>
          <p:nvPr/>
        </p:nvSpPr>
        <p:spPr>
          <a:xfrm>
            <a:off x="777240" y="5266944"/>
            <a:ext cx="621792" cy="621792"/>
          </a:xfrm>
          <a:prstGeom prst="ellipse">
            <a:avLst/>
          </a:prstGeom>
          <a:solidFill>
            <a:srgbClr val="1F6459"/>
          </a:solidFill>
          <a:ln/>
        </p:spPr>
      </p:sp>
      <p:pic>
        <p:nvPicPr>
          <p:cNvPr id="21" name="Image 3" descr="/home/user/scm-process-register/docs-src/curriculum-deck/assets/clo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44" y="5413248"/>
            <a:ext cx="329184" cy="32918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691640" y="5239512"/>
            <a:ext cx="2743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Pacing</a:t>
            </a:r>
            <a:endParaRPr lang="en-US" sz="1400" dirty="0"/>
          </a:p>
        </p:txBody>
      </p:sp>
      <p:sp>
        <p:nvSpPr>
          <p:cNvPr id="23" name="Text 17"/>
          <p:cNvSpPr/>
          <p:nvPr/>
        </p:nvSpPr>
        <p:spPr>
          <a:xfrm>
            <a:off x="4617720" y="5239512"/>
            <a:ext cx="6858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Half-days run 3.5–4 hours including breaks; the golden-rule blocks (content → quiz → workshop → debrief) are not compressible.</a:t>
            </a:r>
            <a:endParaRPr lang="en-US" sz="1150" dirty="0"/>
          </a:p>
        </p:txBody>
      </p:sp>
      <p:sp>
        <p:nvSpPr>
          <p:cNvPr id="24" name="Text 18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journi — Human Change Management Curriculum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54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PATHWAY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credentials, one continuous journey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3520440" cy="3566160"/>
          </a:xfrm>
          <a:prstGeom prst="roundRect">
            <a:avLst>
              <a:gd name="adj" fmla="val 1299"/>
            </a:avLst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1920240" y="2377440"/>
            <a:ext cx="777240" cy="777240"/>
          </a:xfrm>
          <a:prstGeom prst="ellipse">
            <a:avLst/>
          </a:prstGeom>
          <a:solidFill>
            <a:srgbClr val="1F6459"/>
          </a:solidFill>
          <a:ln/>
        </p:spPr>
      </p:sp>
      <p:pic>
        <p:nvPicPr>
          <p:cNvPr id="6" name="Image 0" descr="/home/user/scm-process-register/docs-src/curriculum-deck/assets/book-op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03120" y="2560320"/>
            <a:ext cx="411480" cy="4114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1520" y="324612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22960" y="3657600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journi Certified Change Practitioner — Foundation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22960" y="5257800"/>
            <a:ext cx="2971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days · 3 trainings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114800" y="3611880"/>
            <a:ext cx="365760" cy="365760"/>
          </a:xfrm>
          <a:prstGeom prst="rightArrow">
            <a:avLst/>
          </a:prstGeom>
          <a:solidFill>
            <a:srgbClr val="C2661C"/>
          </a:solidFill>
          <a:ln/>
        </p:spPr>
      </p:sp>
      <p:sp>
        <p:nvSpPr>
          <p:cNvPr id="11" name="Shape 8"/>
          <p:cNvSpPr/>
          <p:nvPr/>
        </p:nvSpPr>
        <p:spPr>
          <a:xfrm>
            <a:off x="4480560" y="2103120"/>
            <a:ext cx="3520440" cy="3566160"/>
          </a:xfrm>
          <a:prstGeom prst="roundRect">
            <a:avLst>
              <a:gd name="adj" fmla="val 1299"/>
            </a:avLst>
          </a:prstGeom>
          <a:solidFill>
            <a:srgbClr val="FFFFFF"/>
          </a:solidFill>
          <a:ln/>
        </p:spPr>
      </p:sp>
      <p:sp>
        <p:nvSpPr>
          <p:cNvPr id="12" name="Shape 9"/>
          <p:cNvSpPr/>
          <p:nvPr/>
        </p:nvSpPr>
        <p:spPr>
          <a:xfrm>
            <a:off x="5852160" y="2377440"/>
            <a:ext cx="777240" cy="777240"/>
          </a:xfrm>
          <a:prstGeom prst="ellipse">
            <a:avLst/>
          </a:prstGeom>
          <a:solidFill>
            <a:srgbClr val="15423A"/>
          </a:solidFill>
          <a:ln/>
        </p:spPr>
      </p:sp>
      <p:pic>
        <p:nvPicPr>
          <p:cNvPr id="13" name="Image 1" descr="/home/user/scm-process-register/docs-src/curriculum-deck/assets/chalkboard-us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2560320"/>
            <a:ext cx="411480" cy="41148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663440" y="324612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5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Practitioner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4754880" y="3657600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journi Certified Change Practitioner — Practitioner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4754880" y="5257800"/>
            <a:ext cx="2971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days · 3 trainings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8046720" y="3611880"/>
            <a:ext cx="365760" cy="365760"/>
          </a:xfrm>
          <a:prstGeom prst="rightArrow">
            <a:avLst/>
          </a:prstGeom>
          <a:solidFill>
            <a:srgbClr val="C2661C"/>
          </a:solidFill>
          <a:ln/>
        </p:spPr>
      </p:sp>
      <p:sp>
        <p:nvSpPr>
          <p:cNvPr id="18" name="Shape 14"/>
          <p:cNvSpPr/>
          <p:nvPr/>
        </p:nvSpPr>
        <p:spPr>
          <a:xfrm>
            <a:off x="8412480" y="2103120"/>
            <a:ext cx="3520440" cy="3566160"/>
          </a:xfrm>
          <a:prstGeom prst="roundRect">
            <a:avLst>
              <a:gd name="adj" fmla="val 1299"/>
            </a:avLst>
          </a:prstGeom>
          <a:solidFill>
            <a:srgbClr val="FFFFFF"/>
          </a:solidFill>
          <a:ln/>
        </p:spPr>
      </p:sp>
      <p:sp>
        <p:nvSpPr>
          <p:cNvPr id="19" name="Shape 15"/>
          <p:cNvSpPr/>
          <p:nvPr/>
        </p:nvSpPr>
        <p:spPr>
          <a:xfrm>
            <a:off x="9784080" y="2377440"/>
            <a:ext cx="777240" cy="777240"/>
          </a:xfrm>
          <a:prstGeom prst="ellipse">
            <a:avLst/>
          </a:prstGeom>
          <a:solidFill>
            <a:srgbClr val="C2661C"/>
          </a:solidFill>
          <a:ln/>
        </p:spPr>
      </p:sp>
      <p:pic>
        <p:nvPicPr>
          <p:cNvPr id="20" name="Image 2" descr="/home/user/scm-process-register/docs-src/curriculum-deck/assets/meda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6960" y="2560320"/>
            <a:ext cx="411480" cy="41148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8595360" y="324612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26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</a:t>
            </a:r>
            <a:endParaRPr lang="en-US" sz="1600" dirty="0"/>
          </a:p>
        </p:txBody>
      </p:sp>
      <p:sp>
        <p:nvSpPr>
          <p:cNvPr id="22" name="Text 17"/>
          <p:cNvSpPr/>
          <p:nvPr/>
        </p:nvSpPr>
        <p:spPr>
          <a:xfrm>
            <a:off x="8686800" y="3657600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6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journi Certified Change Management Practitioner — Advanced</a:t>
            </a:r>
            <a:endParaRPr lang="en-US" sz="1050" dirty="0"/>
          </a:p>
        </p:txBody>
      </p:sp>
      <p:sp>
        <p:nvSpPr>
          <p:cNvPr id="23" name="Text 18"/>
          <p:cNvSpPr/>
          <p:nvPr/>
        </p:nvSpPr>
        <p:spPr>
          <a:xfrm>
            <a:off x="8686800" y="5257800"/>
            <a:ext cx="2971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C6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days · 3 trainings</a:t>
            </a:r>
            <a:endParaRPr lang="en-US" sz="1000" dirty="0"/>
          </a:p>
        </p:txBody>
      </p:sp>
      <p:sp>
        <p:nvSpPr>
          <p:cNvPr id="24" name="Text 19"/>
          <p:cNvSpPr/>
          <p:nvPr/>
        </p:nvSpPr>
        <p:spPr>
          <a:xfrm>
            <a:off x="54864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FE3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journi — Human Change Management Curriculum</a:t>
            </a:r>
            <a:endParaRPr lang="en-US" sz="900" dirty="0"/>
          </a:p>
        </p:txBody>
      </p:sp>
      <p:sp>
        <p:nvSpPr>
          <p:cNvPr id="25" name="Text 20"/>
          <p:cNvSpPr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FE3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54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2148840"/>
            <a:ext cx="777240" cy="777240"/>
          </a:xfrm>
          <a:prstGeom prst="ellipse">
            <a:avLst/>
          </a:prstGeom>
          <a:solidFill>
            <a:srgbClr val="C2661C"/>
          </a:solidFill>
          <a:ln/>
        </p:spPr>
      </p:sp>
      <p:pic>
        <p:nvPicPr>
          <p:cNvPr id="3" name="Image 0" descr="/home/user/scm-process-register/docs-src/curriculum-deck/assets/aw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2322576"/>
            <a:ext cx="429768" cy="4297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306324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practice, not just the project.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685800" y="3886200"/>
            <a:ext cx="8686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B8D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journi Academy — Human Change Management Curriculum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85800" y="6172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FA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POWERACT Consulting  ·  Confidential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2026-08-31T23:04:02Z</dcterms:created>
  <dcterms:modified xsi:type="dcterms:W3CDTF">2026-08-31T23:04:02Z</dcterms:modified>
</cp:coreProperties>
</file>
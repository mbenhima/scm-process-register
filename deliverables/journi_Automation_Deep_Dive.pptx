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1.png"/><Relationship Id="rId5" Type="http://schemas.openxmlformats.org/officeDocument/2006/relationships/image" Target="../media/image-13-1.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423A"/>
        </a:solidFill>
      </p:bgPr>
    </p:bg>
    <p:spTree>
      <p:nvGrpSpPr>
        <p:cNvPr id="1" name=""/>
        <p:cNvGrpSpPr/>
        <p:nvPr/>
      </p:nvGrpSpPr>
      <p:grpSpPr>
        <a:xfrm>
          <a:off x="0" y="0"/>
          <a:ext cx="0" cy="0"/>
          <a:chOff x="0" y="0"/>
          <a:chExt cx="0" cy="0"/>
        </a:xfrm>
      </p:grpSpPr>
      <p:sp>
        <p:nvSpPr>
          <p:cNvPr id="2" name="Shape 0"/>
          <p:cNvSpPr/>
          <p:nvPr/>
        </p:nvSpPr>
        <p:spPr>
          <a:xfrm>
            <a:off x="685800" y="640080"/>
            <a:ext cx="777240" cy="777240"/>
          </a:xfrm>
          <a:prstGeom prst="ellipse">
            <a:avLst/>
          </a:prstGeom>
          <a:solidFill>
            <a:srgbClr val="C2661C"/>
          </a:solidFill>
          <a:ln/>
        </p:spPr>
      </p:sp>
      <p:pic>
        <p:nvPicPr>
          <p:cNvPr id="3" name="Image 0" descr="/home/user/scm-process-register/docs-src/type-decks/assets/robot.png">    </p:cNvPr>
          <p:cNvPicPr>
            <a:picLocks noChangeAspect="1"/>
          </p:cNvPicPr>
          <p:nvPr/>
        </p:nvPicPr>
        <p:blipFill>
          <a:blip r:embed="rId1"/>
          <a:stretch>
            <a:fillRect/>
          </a:stretch>
        </p:blipFill>
        <p:spPr>
          <a:xfrm>
            <a:off x="850392" y="804672"/>
            <a:ext cx="448056" cy="448056"/>
          </a:xfrm>
          <a:prstGeom prst="rect">
            <a:avLst/>
          </a:prstGeom>
        </p:spPr>
      </p:pic>
      <p:sp>
        <p:nvSpPr>
          <p:cNvPr id="4" name="Text 1"/>
          <p:cNvSpPr/>
          <p:nvPr/>
        </p:nvSpPr>
        <p:spPr>
          <a:xfrm>
            <a:off x="640080" y="2011680"/>
            <a:ext cx="10698480" cy="100584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Business Process Automation</a:t>
            </a:r>
            <a:endParaRPr lang="en-US" sz="4000" dirty="0"/>
          </a:p>
        </p:txBody>
      </p:sp>
      <p:sp>
        <p:nvSpPr>
          <p:cNvPr id="5" name="Text 2"/>
          <p:cNvSpPr/>
          <p:nvPr/>
        </p:nvSpPr>
        <p:spPr>
          <a:xfrm>
            <a:off x="685800" y="2926080"/>
            <a:ext cx="10058400" cy="502920"/>
          </a:xfrm>
          <a:prstGeom prst="rect">
            <a:avLst/>
          </a:prstGeom>
          <a:noFill/>
          <a:ln/>
        </p:spPr>
        <p:txBody>
          <a:bodyPr wrap="square" rtlCol="0" anchor="ctr"/>
          <a:lstStyle/>
          <a:p>
            <a:pPr indent="0" marL="0">
              <a:buNone/>
            </a:pPr>
            <a:r>
              <a:rPr lang="en-US" sz="1900" i="1" dirty="0">
                <a:solidFill>
                  <a:srgbClr val="B8D4CE"/>
                </a:solidFill>
                <a:latin typeface="Calibri" pitchFamily="34" charset="0"/>
                <a:ea typeface="Calibri" pitchFamily="34" charset="-122"/>
                <a:cs typeface="Calibri" pitchFamily="34" charset="-120"/>
              </a:rPr>
              <a:t>Kenitra Invoice-Matching Automation</a:t>
            </a:r>
            <a:endParaRPr lang="en-US" sz="1900" dirty="0"/>
          </a:p>
        </p:txBody>
      </p:sp>
      <p:sp>
        <p:nvSpPr>
          <p:cNvPr id="6" name="Text 3"/>
          <p:cNvSpPr/>
          <p:nvPr/>
        </p:nvSpPr>
        <p:spPr>
          <a:xfrm>
            <a:off x="685800" y="3520440"/>
            <a:ext cx="10058400" cy="685800"/>
          </a:xfrm>
          <a:prstGeom prst="rect">
            <a:avLst/>
          </a:prstGeom>
          <a:noFill/>
          <a:ln/>
        </p:spPr>
        <p:txBody>
          <a:bodyPr wrap="square" rtlCol="0" anchor="ctr"/>
          <a:lstStyle/>
          <a:p>
            <a:pPr indent="0" marL="0">
              <a:lnSpc>
                <a:spcPct val="125000"/>
              </a:lnSpc>
              <a:buNone/>
            </a:pPr>
            <a:r>
              <a:rPr lang="en-US" sz="1350" dirty="0">
                <a:solidFill>
                  <a:srgbClr val="9FC2BC"/>
                </a:solidFill>
                <a:latin typeface="Calibri" pitchFamily="34" charset="0"/>
                <a:ea typeface="Calibri" pitchFamily="34" charset="-122"/>
                <a:cs typeface="Calibri" pitchFamily="34" charset="-120"/>
              </a:rPr>
              <a:t>A narrow, well-scoped RPA project with no judgment calls — journi's deliberate low-resistance, fast-moving contrast case.</a:t>
            </a:r>
            <a:endParaRPr lang="en-US" sz="1350" dirty="0"/>
          </a:p>
        </p:txBody>
      </p:sp>
      <p:sp>
        <p:nvSpPr>
          <p:cNvPr id="7" name="Text 4"/>
          <p:cNvSpPr/>
          <p:nvPr/>
        </p:nvSpPr>
        <p:spPr>
          <a:xfrm>
            <a:off x="685800" y="4526280"/>
            <a:ext cx="2194560" cy="685800"/>
          </a:xfrm>
          <a:prstGeom prst="rect">
            <a:avLst/>
          </a:prstGeom>
          <a:noFill/>
          <a:ln/>
        </p:spPr>
        <p:txBody>
          <a:bodyPr wrap="square" rtlCol="0" anchor="ctr"/>
          <a:lstStyle/>
          <a:p>
            <a:pPr indent="0" marL="0">
              <a:buNone/>
            </a:pPr>
            <a:r>
              <a:rPr lang="en-US" sz="3000" b="1" dirty="0">
                <a:solidFill>
                  <a:srgbClr val="C2661C"/>
                </a:solidFill>
                <a:latin typeface="Calibri" pitchFamily="34" charset="0"/>
                <a:ea typeface="Calibri" pitchFamily="34" charset="-122"/>
                <a:cs typeface="Calibri" pitchFamily="34" charset="-120"/>
              </a:rPr>
              <a:t>7</a:t>
            </a:r>
            <a:endParaRPr lang="en-US" sz="3000" dirty="0"/>
          </a:p>
        </p:txBody>
      </p:sp>
      <p:sp>
        <p:nvSpPr>
          <p:cNvPr id="8" name="Text 5"/>
          <p:cNvSpPr/>
          <p:nvPr/>
        </p:nvSpPr>
        <p:spPr>
          <a:xfrm>
            <a:off x="685800" y="5148072"/>
            <a:ext cx="2194560" cy="274320"/>
          </a:xfrm>
          <a:prstGeom prst="rect">
            <a:avLst/>
          </a:prstGeom>
          <a:noFill/>
          <a:ln/>
        </p:spPr>
        <p:txBody>
          <a:bodyPr wrap="square" rtlCol="0" anchor="ctr"/>
          <a:lstStyle/>
          <a:p>
            <a:pPr indent="0" marL="0">
              <a:buNone/>
            </a:pPr>
            <a:r>
              <a:rPr lang="en-US" sz="1000" b="1" spc="100" kern="0" dirty="0">
                <a:solidFill>
                  <a:srgbClr val="9FC2BC"/>
                </a:solidFill>
                <a:latin typeface="Calibri" pitchFamily="34" charset="0"/>
                <a:ea typeface="Calibri" pitchFamily="34" charset="-122"/>
                <a:cs typeface="Calibri" pitchFamily="34" charset="-120"/>
              </a:rPr>
              <a:t>PHASES</a:t>
            </a:r>
            <a:endParaRPr lang="en-US" sz="1000" dirty="0"/>
          </a:p>
        </p:txBody>
      </p:sp>
      <p:sp>
        <p:nvSpPr>
          <p:cNvPr id="9" name="Text 6"/>
          <p:cNvSpPr/>
          <p:nvPr/>
        </p:nvSpPr>
        <p:spPr>
          <a:xfrm>
            <a:off x="2971800" y="4526280"/>
            <a:ext cx="2194560" cy="685800"/>
          </a:xfrm>
          <a:prstGeom prst="rect">
            <a:avLst/>
          </a:prstGeom>
          <a:noFill/>
          <a:ln/>
        </p:spPr>
        <p:txBody>
          <a:bodyPr wrap="square" rtlCol="0" anchor="ctr"/>
          <a:lstStyle/>
          <a:p>
            <a:pPr indent="0" marL="0">
              <a:buNone/>
            </a:pPr>
            <a:r>
              <a:rPr lang="en-US" sz="3000" b="1" dirty="0">
                <a:solidFill>
                  <a:srgbClr val="C2661C"/>
                </a:solidFill>
                <a:latin typeface="Calibri" pitchFamily="34" charset="0"/>
                <a:ea typeface="Calibri" pitchFamily="34" charset="-122"/>
                <a:cs typeface="Calibri" pitchFamily="34" charset="-120"/>
              </a:rPr>
              <a:t>19</a:t>
            </a:r>
            <a:endParaRPr lang="en-US" sz="3000" dirty="0"/>
          </a:p>
        </p:txBody>
      </p:sp>
      <p:sp>
        <p:nvSpPr>
          <p:cNvPr id="10" name="Text 7"/>
          <p:cNvSpPr/>
          <p:nvPr/>
        </p:nvSpPr>
        <p:spPr>
          <a:xfrm>
            <a:off x="2971800" y="5148072"/>
            <a:ext cx="2194560" cy="274320"/>
          </a:xfrm>
          <a:prstGeom prst="rect">
            <a:avLst/>
          </a:prstGeom>
          <a:noFill/>
          <a:ln/>
        </p:spPr>
        <p:txBody>
          <a:bodyPr wrap="square" rtlCol="0" anchor="ctr"/>
          <a:lstStyle/>
          <a:p>
            <a:pPr indent="0" marL="0">
              <a:buNone/>
            </a:pPr>
            <a:r>
              <a:rPr lang="en-US" sz="1000" b="1" spc="100" kern="0" dirty="0">
                <a:solidFill>
                  <a:srgbClr val="9FC2BC"/>
                </a:solidFill>
                <a:latin typeface="Calibri" pitchFamily="34" charset="0"/>
                <a:ea typeface="Calibri" pitchFamily="34" charset="-122"/>
                <a:cs typeface="Calibri" pitchFamily="34" charset="-120"/>
              </a:rPr>
              <a:t>WEEKS</a:t>
            </a:r>
            <a:endParaRPr lang="en-US" sz="1000" dirty="0"/>
          </a:p>
        </p:txBody>
      </p:sp>
      <p:sp>
        <p:nvSpPr>
          <p:cNvPr id="11" name="Text 8"/>
          <p:cNvSpPr/>
          <p:nvPr/>
        </p:nvSpPr>
        <p:spPr>
          <a:xfrm>
            <a:off x="5257800" y="4526280"/>
            <a:ext cx="2194560" cy="685800"/>
          </a:xfrm>
          <a:prstGeom prst="rect">
            <a:avLst/>
          </a:prstGeom>
          <a:noFill/>
          <a:ln/>
        </p:spPr>
        <p:txBody>
          <a:bodyPr wrap="square" rtlCol="0" anchor="ctr"/>
          <a:lstStyle/>
          <a:p>
            <a:pPr indent="0" marL="0">
              <a:buNone/>
            </a:pPr>
            <a:r>
              <a:rPr lang="en-US" sz="3000" b="1" dirty="0">
                <a:solidFill>
                  <a:srgbClr val="C2661C"/>
                </a:solidFill>
                <a:latin typeface="Calibri" pitchFamily="34" charset="0"/>
                <a:ea typeface="Calibri" pitchFamily="34" charset="-122"/>
                <a:cs typeface="Calibri" pitchFamily="34" charset="-120"/>
              </a:rPr>
              <a:t>6</a:t>
            </a:r>
            <a:endParaRPr lang="en-US" sz="3000" dirty="0"/>
          </a:p>
        </p:txBody>
      </p:sp>
      <p:sp>
        <p:nvSpPr>
          <p:cNvPr id="12" name="Text 9"/>
          <p:cNvSpPr/>
          <p:nvPr/>
        </p:nvSpPr>
        <p:spPr>
          <a:xfrm>
            <a:off x="5257800" y="5148072"/>
            <a:ext cx="2194560" cy="274320"/>
          </a:xfrm>
          <a:prstGeom prst="rect">
            <a:avLst/>
          </a:prstGeom>
          <a:noFill/>
          <a:ln/>
        </p:spPr>
        <p:txBody>
          <a:bodyPr wrap="square" rtlCol="0" anchor="ctr"/>
          <a:lstStyle/>
          <a:p>
            <a:pPr indent="0" marL="0">
              <a:buNone/>
            </a:pPr>
            <a:r>
              <a:rPr lang="en-US" sz="1000" b="1" spc="100" kern="0" dirty="0">
                <a:solidFill>
                  <a:srgbClr val="9FC2BC"/>
                </a:solidFill>
                <a:latin typeface="Calibri" pitchFamily="34" charset="0"/>
                <a:ea typeface="Calibri" pitchFamily="34" charset="-122"/>
                <a:cs typeface="Calibri" pitchFamily="34" charset="-120"/>
              </a:rPr>
              <a:t>EXCEPTIONS</a:t>
            </a:r>
            <a:endParaRPr lang="en-US" sz="1000" dirty="0"/>
          </a:p>
        </p:txBody>
      </p:sp>
      <p:sp>
        <p:nvSpPr>
          <p:cNvPr id="13" name="Text 10"/>
          <p:cNvSpPr/>
          <p:nvPr/>
        </p:nvSpPr>
        <p:spPr>
          <a:xfrm>
            <a:off x="7543800" y="4526280"/>
            <a:ext cx="2194560" cy="685800"/>
          </a:xfrm>
          <a:prstGeom prst="rect">
            <a:avLst/>
          </a:prstGeom>
          <a:noFill/>
          <a:ln/>
        </p:spPr>
        <p:txBody>
          <a:bodyPr wrap="square" rtlCol="0" anchor="ctr"/>
          <a:lstStyle/>
          <a:p>
            <a:pPr indent="0" marL="0">
              <a:buNone/>
            </a:pPr>
            <a:r>
              <a:rPr lang="en-US" sz="3000" b="1" dirty="0">
                <a:solidFill>
                  <a:srgbClr val="C2661C"/>
                </a:solidFill>
                <a:latin typeface="Calibri" pitchFamily="34" charset="0"/>
                <a:ea typeface="Calibri" pitchFamily="34" charset="-122"/>
                <a:cs typeface="Calibri" pitchFamily="34" charset="-120"/>
              </a:rPr>
              <a:t>3</a:t>
            </a:r>
            <a:endParaRPr lang="en-US" sz="3000" dirty="0"/>
          </a:p>
        </p:txBody>
      </p:sp>
      <p:sp>
        <p:nvSpPr>
          <p:cNvPr id="14" name="Text 11"/>
          <p:cNvSpPr/>
          <p:nvPr/>
        </p:nvSpPr>
        <p:spPr>
          <a:xfrm>
            <a:off x="7543800" y="5148072"/>
            <a:ext cx="2194560" cy="274320"/>
          </a:xfrm>
          <a:prstGeom prst="rect">
            <a:avLst/>
          </a:prstGeom>
          <a:noFill/>
          <a:ln/>
        </p:spPr>
        <p:txBody>
          <a:bodyPr wrap="square" rtlCol="0" anchor="ctr"/>
          <a:lstStyle/>
          <a:p>
            <a:pPr indent="0" marL="0">
              <a:buNone/>
            </a:pPr>
            <a:r>
              <a:rPr lang="en-US" sz="1000" b="1" spc="100" kern="0" dirty="0">
                <a:solidFill>
                  <a:srgbClr val="9FC2BC"/>
                </a:solidFill>
                <a:latin typeface="Calibri" pitchFamily="34" charset="0"/>
                <a:ea typeface="Calibri" pitchFamily="34" charset="-122"/>
                <a:cs typeface="Calibri" pitchFamily="34" charset="-120"/>
              </a:rPr>
              <a:t>TRAINING TIERS</a:t>
            </a:r>
            <a:endParaRPr lang="en-US" sz="1000" dirty="0"/>
          </a:p>
        </p:txBody>
      </p:sp>
      <p:sp>
        <p:nvSpPr>
          <p:cNvPr id="15" name="Text 12"/>
          <p:cNvSpPr/>
          <p:nvPr/>
        </p:nvSpPr>
        <p:spPr>
          <a:xfrm>
            <a:off x="685800" y="6263640"/>
            <a:ext cx="9144000" cy="365760"/>
          </a:xfrm>
          <a:prstGeom prst="rect">
            <a:avLst/>
          </a:prstGeom>
          <a:noFill/>
          <a:ln/>
        </p:spPr>
        <p:txBody>
          <a:bodyPr wrap="square" rtlCol="0" anchor="ctr"/>
          <a:lstStyle/>
          <a:p>
            <a:pPr indent="0" marL="0">
              <a:buNone/>
            </a:pPr>
            <a:r>
              <a:rPr lang="en-US" sz="1150" dirty="0">
                <a:solidFill>
                  <a:srgbClr val="7FA39A"/>
                </a:solidFill>
                <a:latin typeface="Calibri" pitchFamily="34" charset="0"/>
                <a:ea typeface="Calibri" pitchFamily="34" charset="-122"/>
                <a:cs typeface="Calibri" pitchFamily="34" charset="-120"/>
              </a:rPr>
              <a:t>Manufacturing Sector · Bouregreg Group Scenario Library · Confidential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0 — PURPOSE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What This Guide Is, and How to Use It</a:t>
            </a:r>
            <a:endParaRPr lang="en-US" sz="2400" dirty="0"/>
          </a:p>
        </p:txBody>
      </p:sp>
      <p:sp>
        <p:nvSpPr>
          <p:cNvPr id="4" name="Text 2"/>
          <p:cNvSpPr/>
          <p:nvPr/>
        </p:nvSpPr>
        <p:spPr>
          <a:xfrm>
            <a:off x="548640" y="1965960"/>
            <a:ext cx="11064240" cy="27432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WHAT THIS GUIDE IS</a:t>
            </a:r>
            <a:endParaRPr lang="en-US" sz="1100" dirty="0"/>
          </a:p>
        </p:txBody>
      </p:sp>
      <p:sp>
        <p:nvSpPr>
          <p:cNvPr id="5" name="Text 3"/>
          <p:cNvSpPr/>
          <p:nvPr/>
        </p:nvSpPr>
        <p:spPr>
          <a:xfrm>
            <a:off x="548640" y="2286000"/>
            <a:ext cx="11064240" cy="155448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This deck follows the Kenitra Invoice-Matching Automation program — journi's Business Process Automation archetype case — from tenant setup through CoE handover, the shortest and cleanest program in the entire scenario library.</a:t>
            </a:r>
            <a:endParaRPr lang="en-US" sz="1300" dirty="0"/>
          </a:p>
        </p:txBody>
      </p:sp>
      <p:sp>
        <p:nvSpPr>
          <p:cNvPr id="6" name="Text 4"/>
          <p:cNvSpPr/>
          <p:nvPr/>
        </p:nvSpPr>
        <p:spPr>
          <a:xfrm>
            <a:off x="548640" y="3977640"/>
            <a:ext cx="11064240" cy="27432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HOW TO USE IT</a:t>
            </a:r>
            <a:endParaRPr lang="en-US" sz="1100" dirty="0"/>
          </a:p>
        </p:txBody>
      </p:sp>
      <p:sp>
        <p:nvSpPr>
          <p:cNvPr id="7" name="Text 5"/>
          <p:cNvSpPr/>
          <p:nvPr/>
        </p:nvSpPr>
        <p:spPr>
          <a:xfrm>
            <a:off x="548640" y="4297680"/>
            <a:ext cx="11064240" cy="137160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This program runs inside the same Bouregreg Group tenant as every other archetype in this series. A reader with the tenant already set up skips straight to CM Project creation.</a:t>
            </a:r>
            <a:endParaRPr lang="en-US" sz="13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0 — A NOTE ON FIDELITY</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Verified Against journi's Real Source</a:t>
            </a:r>
            <a:endParaRPr lang="en-US" sz="2400" dirty="0"/>
          </a:p>
        </p:txBody>
      </p:sp>
      <p:sp>
        <p:nvSpPr>
          <p:cNvPr id="4" name="Shape 2"/>
          <p:cNvSpPr/>
          <p:nvPr/>
        </p:nvSpPr>
        <p:spPr>
          <a:xfrm>
            <a:off x="548640" y="2011680"/>
            <a:ext cx="11064240" cy="2011680"/>
          </a:xfrm>
          <a:prstGeom prst="roundRect">
            <a:avLst>
              <a:gd name="adj" fmla="val 2273"/>
            </a:avLst>
          </a:prstGeom>
          <a:solidFill>
            <a:srgbClr val="EAF2EF"/>
          </a:solidFill>
          <a:ln/>
        </p:spPr>
      </p:sp>
      <p:sp>
        <p:nvSpPr>
          <p:cNvPr id="5" name="Text 3"/>
          <p:cNvSpPr/>
          <p:nvPr/>
        </p:nvSpPr>
        <p:spPr>
          <a:xfrm>
            <a:off x="777240" y="2240280"/>
            <a:ext cx="10607040" cy="1554480"/>
          </a:xfrm>
          <a:prstGeom prst="rect">
            <a:avLst/>
          </a:prstGeom>
          <a:noFill/>
          <a:ln/>
        </p:spPr>
        <p:txBody>
          <a:bodyPr wrap="square" rtlCol="0" anchor="ctr"/>
          <a:lstStyle/>
          <a:p>
            <a:pPr indent="0" marL="0">
              <a:lnSpc>
                <a:spcPct val="130000"/>
              </a:lnSpc>
              <a:buNone/>
            </a:pPr>
            <a:r>
              <a:rPr lang="en-US" sz="1350" dirty="0">
                <a:solidFill>
                  <a:srgbClr val="16221F"/>
                </a:solidFill>
                <a:latin typeface="Calibri" pitchFamily="34" charset="0"/>
                <a:ea typeface="Calibri" pitchFamily="34" charset="-122"/>
                <a:cs typeface="Calibri" pitchFamily="34" charset="-120"/>
              </a:rPr>
              <a:t>This is journi's own stated case with no alerts in its real record. This deck states that plainly, the same way it documents every real exception in the series' other guides — a clean record reported as a clean record, not dramatized, with six realistic contingency patterns shown as hypothetical precisely because none of them actually occurred.</a:t>
            </a:r>
            <a:endParaRPr lang="en-US" sz="1350" dirty="0"/>
          </a:p>
        </p:txBody>
      </p:sp>
      <p:sp>
        <p:nvSpPr>
          <p:cNvPr id="6" name="Text 4"/>
          <p:cNvSpPr/>
          <p:nvPr/>
        </p:nvSpPr>
        <p:spPr>
          <a:xfrm>
            <a:off x="548640" y="4297680"/>
            <a:ext cx="11064240" cy="27432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RACSI CODES USED THROUGHOUT</a:t>
            </a:r>
            <a:endParaRPr lang="en-US" sz="1100" dirty="0"/>
          </a:p>
        </p:txBody>
      </p:sp>
      <p:sp>
        <p:nvSpPr>
          <p:cNvPr id="7" name="Text 5"/>
          <p:cNvSpPr/>
          <p:nvPr/>
        </p:nvSpPr>
        <p:spPr>
          <a:xfrm>
            <a:off x="548640" y="4617720"/>
            <a:ext cx="11064240" cy="731520"/>
          </a:xfrm>
          <a:prstGeom prst="rect">
            <a:avLst/>
          </a:prstGeom>
          <a:noFill/>
          <a:ln/>
        </p:spPr>
        <p:txBody>
          <a:bodyPr wrap="square" rtlCol="0" anchor="ctr"/>
          <a:lstStyle/>
          <a:p>
            <a:pPr indent="0" marL="0">
              <a:lnSpc>
                <a:spcPct val="125000"/>
              </a:lnSpc>
              <a:buNone/>
            </a:pPr>
            <a:r>
              <a:rPr lang="en-US" sz="1250" dirty="0">
                <a:solidFill>
                  <a:srgbClr val="5C6D68"/>
                </a:solidFill>
                <a:latin typeface="Calibri" pitchFamily="34" charset="0"/>
                <a:ea typeface="Calibri" pitchFamily="34" charset="-122"/>
                <a:cs typeface="Calibri" pitchFamily="34" charset="-120"/>
              </a:rPr>
              <a:t>ES = Executive Sponsor · CM = Change Manager · PM = Program/Project Manager · FPO = Functional Process Owner · ITL = IT/Technical Lead · SUP = Supervisor · EU = End User</a:t>
            </a:r>
            <a:endParaRPr lang="en-US" sz="125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1 — EXECUTIVE SUMMARY</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Why This Case Matters</a:t>
            </a:r>
            <a:endParaRPr lang="en-US" sz="2400" dirty="0"/>
          </a:p>
        </p:txBody>
      </p:sp>
      <p:sp>
        <p:nvSpPr>
          <p:cNvPr id="4" name="Shape 2"/>
          <p:cNvSpPr/>
          <p:nvPr/>
        </p:nvSpPr>
        <p:spPr>
          <a:xfrm>
            <a:off x="548640" y="2011680"/>
            <a:ext cx="11064240" cy="3200400"/>
          </a:xfrm>
          <a:prstGeom prst="roundRect">
            <a:avLst>
              <a:gd name="adj" fmla="val 1429"/>
            </a:avLst>
          </a:prstGeom>
          <a:solidFill>
            <a:srgbClr val="FFFFFF"/>
          </a:solidFill>
          <a:ln/>
          <a:effectLst>
            <a:outerShdw sx="100000" sy="100000" kx="0" ky="0" algn="bl" rotWithShape="0" blurRad="101600" dist="38100" dir="5400000">
              <a:srgbClr val="1B2E2B">
                <a:alpha val="18000"/>
              </a:srgbClr>
            </a:outerShdw>
          </a:effectLst>
        </p:spPr>
      </p:sp>
      <p:sp>
        <p:nvSpPr>
          <p:cNvPr id="5" name="Text 3"/>
          <p:cNvSpPr/>
          <p:nvPr/>
        </p:nvSpPr>
        <p:spPr>
          <a:xfrm>
            <a:off x="822960" y="2286000"/>
            <a:ext cx="10515600" cy="265176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Every other guide in this series shows a program working through a real risk. This one proves the opposite point just as concretely: not every Change Management Project needs a recovery playbook, when the scope is narrow, the team is already bought in, and the Sponsor is visibly active from day one.</a:t>
            </a:r>
            <a:endParaRPr lang="en-US" sz="1500" dirty="0"/>
          </a:p>
        </p:txBody>
      </p:sp>
      <p:sp>
        <p:nvSpPr>
          <p:cNvPr id="6" name="Text 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1 — EXECUTIVE SUMMARY</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The Case, in Brief</a:t>
            </a:r>
            <a:endParaRPr lang="en-US" sz="2400" dirty="0"/>
          </a:p>
        </p:txBody>
      </p:sp>
      <p:sp>
        <p:nvSpPr>
          <p:cNvPr id="4" name="Shape 2"/>
          <p:cNvSpPr/>
          <p:nvPr/>
        </p:nvSpPr>
        <p:spPr>
          <a:xfrm>
            <a:off x="548640" y="2011680"/>
            <a:ext cx="11064240" cy="1463040"/>
          </a:xfrm>
          <a:prstGeom prst="roundRect">
            <a:avLst>
              <a:gd name="adj" fmla="val 3125"/>
            </a:avLst>
          </a:prstGeom>
          <a:solidFill>
            <a:srgbClr val="EAF2EF"/>
          </a:solidFill>
          <a:ln/>
        </p:spPr>
      </p:sp>
      <p:sp>
        <p:nvSpPr>
          <p:cNvPr id="5" name="Text 3"/>
          <p:cNvSpPr/>
          <p:nvPr/>
        </p:nvSpPr>
        <p:spPr>
          <a:xfrm>
            <a:off x="777240" y="2148840"/>
            <a:ext cx="5120640" cy="457200"/>
          </a:xfrm>
          <a:prstGeom prst="rect">
            <a:avLst/>
          </a:prstGeom>
          <a:noFill/>
          <a:ln/>
        </p:spPr>
        <p:txBody>
          <a:bodyPr wrap="square" rtlCol="0" anchor="ctr"/>
          <a:lstStyle/>
          <a:p>
            <a:pPr indent="0" marL="0">
              <a:buNone/>
            </a:pPr>
            <a:r>
              <a:rPr lang="en-US" sz="1400" b="1" dirty="0">
                <a:solidFill>
                  <a:srgbClr val="1F6459"/>
                </a:solidFill>
                <a:latin typeface="Calibri" pitchFamily="34" charset="0"/>
                <a:ea typeface="Calibri" pitchFamily="34" charset="-122"/>
                <a:cs typeface="Calibri" pitchFamily="34" charset="-120"/>
              </a:rPr>
              <a:t>18 staff, Kenitra accounts payable</a:t>
            </a:r>
            <a:endParaRPr lang="en-US" sz="1400" dirty="0"/>
          </a:p>
        </p:txBody>
      </p:sp>
      <p:sp>
        <p:nvSpPr>
          <p:cNvPr id="6" name="Text 4"/>
          <p:cNvSpPr/>
          <p:nvPr/>
        </p:nvSpPr>
        <p:spPr>
          <a:xfrm>
            <a:off x="6035040" y="2148840"/>
            <a:ext cx="5120640" cy="457200"/>
          </a:xfrm>
          <a:prstGeom prst="rect">
            <a:avLst/>
          </a:prstGeom>
          <a:noFill/>
          <a:ln/>
        </p:spPr>
        <p:txBody>
          <a:bodyPr wrap="square" rtlCol="0" anchor="ctr"/>
          <a:lstStyle/>
          <a:p>
            <a:pPr indent="0" marL="0">
              <a:buNone/>
            </a:pPr>
            <a:r>
              <a:rPr lang="en-US" sz="1400" b="1" dirty="0">
                <a:solidFill>
                  <a:srgbClr val="1F6459"/>
                </a:solidFill>
                <a:latin typeface="Calibri" pitchFamily="34" charset="0"/>
                <a:ea typeface="Calibri" pitchFamily="34" charset="-122"/>
                <a:cs typeface="Calibri" pitchFamily="34" charset="-120"/>
              </a:rPr>
              <a:t>19 weeks (guide numbering)</a:t>
            </a:r>
            <a:endParaRPr lang="en-US" sz="1400" dirty="0"/>
          </a:p>
        </p:txBody>
      </p:sp>
      <p:sp>
        <p:nvSpPr>
          <p:cNvPr id="7" name="Text 5"/>
          <p:cNvSpPr/>
          <p:nvPr/>
        </p:nvSpPr>
        <p:spPr>
          <a:xfrm>
            <a:off x="548640" y="3657600"/>
            <a:ext cx="11064240" cy="2011680"/>
          </a:xfrm>
          <a:prstGeom prst="rect">
            <a:avLst/>
          </a:prstGeom>
          <a:noFill/>
          <a:ln/>
        </p:spPr>
        <p:txBody>
          <a:bodyPr wrap="square" rtlCol="0" anchor="ctr"/>
          <a:lstStyle/>
          <a:p>
            <a:pPr indent="0" marL="0">
              <a:lnSpc>
                <a:spcPct val="135000"/>
              </a:lnSpc>
              <a:buNone/>
            </a:pPr>
            <a:r>
              <a:rPr lang="en-US" sz="1400" dirty="0">
                <a:solidFill>
                  <a:srgbClr val="16221F"/>
                </a:solidFill>
                <a:latin typeface="Calibri" pitchFamily="34" charset="0"/>
                <a:ea typeface="Calibri" pitchFamily="34" charset="-122"/>
                <a:cs typeface="Calibri" pitchFamily="34" charset="-120"/>
              </a:rPr>
              <a:t>A robotic process automation project matches supplier invoices against purchase orders at the Kenitra plant — a repetitive task with no judgment calls, automated in 19 weeks against an already-bought-in 18-person team.</a:t>
            </a:r>
            <a:endParaRPr lang="en-US" sz="14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1 — EXECUTIVE SUMMARY</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What This Guide Proves, Concretely</a:t>
            </a:r>
            <a:endParaRPr lang="en-US" sz="2400" dirty="0"/>
          </a:p>
        </p:txBody>
      </p:sp>
      <p:sp>
        <p:nvSpPr>
          <p:cNvPr id="4" name="Shape 2"/>
          <p:cNvSpPr/>
          <p:nvPr/>
        </p:nvSpPr>
        <p:spPr>
          <a:xfrm>
            <a:off x="548640" y="2011680"/>
            <a:ext cx="11064240" cy="3200400"/>
          </a:xfrm>
          <a:prstGeom prst="roundRect">
            <a:avLst>
              <a:gd name="adj" fmla="val 1429"/>
            </a:avLst>
          </a:prstGeom>
          <a:solidFill>
            <a:srgbClr val="FFFFFF"/>
          </a:solidFill>
          <a:ln/>
          <a:effectLst>
            <a:outerShdw sx="100000" sy="100000" kx="0" ky="0" algn="bl" rotWithShape="0" blurRad="1290320000" dist="483870000" dir="324000000000">
              <a:srgbClr val="1B2E2B">
                <a:alpha val="1800000000"/>
              </a:srgbClr>
            </a:outerShdw>
          </a:effectLst>
        </p:spPr>
      </p:sp>
      <p:sp>
        <p:nvSpPr>
          <p:cNvPr id="5" name="Text 3"/>
          <p:cNvSpPr/>
          <p:nvPr/>
        </p:nvSpPr>
        <p:spPr>
          <a:xfrm>
            <a:off x="822960" y="2286000"/>
            <a:ext cx="10515600" cy="2651760"/>
          </a:xfrm>
          <a:prstGeom prst="rect">
            <a:avLst/>
          </a:prstGeom>
          <a:noFill/>
          <a:ln/>
        </p:spPr>
        <p:txBody>
          <a:bodyPr wrap="square" rtlCol="0" anchor="ctr"/>
          <a:lstStyle/>
          <a:p>
            <a:pPr indent="0" marL="0">
              <a:lnSpc>
                <a:spcPct val="140000"/>
              </a:lnSpc>
              <a:buNone/>
            </a:pPr>
            <a:r>
              <a:rPr lang="en-US" sz="1500" i="1" dirty="0">
                <a:solidFill>
                  <a:srgbClr val="16221F"/>
                </a:solidFill>
                <a:latin typeface="Calibri" pitchFamily="34" charset="0"/>
                <a:ea typeface="Calibri" pitchFamily="34" charset="-122"/>
                <a:cs typeface="Calibri" pitchFamily="34" charset="-120"/>
              </a:rPr>
              <a:t>A closed program with zero of journi's 9 live alerts fired, a real two-week shadow-mode validation before go-live, and six honestly-labeled hypothetical contingencies showing exactly how this program could have gone differently, had the conditions been less favorable.</a:t>
            </a:r>
            <a:endParaRPr lang="en-US" sz="1500" dirty="0"/>
          </a:p>
        </p:txBody>
      </p:sp>
      <p:sp>
        <p:nvSpPr>
          <p:cNvPr id="6" name="Text 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2 — THE FOUR FRAMEWORKS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Weighting for This Archetype</a:t>
            </a:r>
            <a:endParaRPr lang="en-US" sz="2400" dirty="0"/>
          </a:p>
        </p:txBody>
      </p:sp>
      <p:sp>
        <p:nvSpPr>
          <p:cNvPr id="4" name="Shape 2"/>
          <p:cNvSpPr/>
          <p:nvPr/>
        </p:nvSpPr>
        <p:spPr>
          <a:xfrm>
            <a:off x="548640" y="2011680"/>
            <a:ext cx="11064240" cy="3200400"/>
          </a:xfrm>
          <a:prstGeom prst="roundRect">
            <a:avLst>
              <a:gd name="adj" fmla="val 1429"/>
            </a:avLst>
          </a:prstGeom>
          <a:solidFill>
            <a:srgbClr val="EAF2EF"/>
          </a:solidFill>
          <a:ln/>
        </p:spPr>
      </p:sp>
      <p:sp>
        <p:nvSpPr>
          <p:cNvPr id="5" name="Text 3"/>
          <p:cNvSpPr/>
          <p:nvPr/>
        </p:nvSpPr>
        <p:spPr>
          <a:xfrm>
            <a:off x="822960" y="2286000"/>
            <a:ext cx="10515600" cy="2651760"/>
          </a:xfrm>
          <a:prstGeom prst="rect">
            <a:avLst/>
          </a:prstGeom>
          <a:noFill/>
          <a:ln/>
        </p:spPr>
        <p:txBody>
          <a:bodyPr wrap="square" rtlCol="0" anchor="ctr"/>
          <a:lstStyle/>
          <a:p>
            <a:pPr indent="0" marL="0">
              <a:lnSpc>
                <a:spcPct val="135000"/>
              </a:lnSpc>
              <a:buNone/>
            </a:pPr>
            <a:r>
              <a:rPr lang="en-US" sz="1400" dirty="0">
                <a:solidFill>
                  <a:srgbClr val="16221F"/>
                </a:solidFill>
                <a:latin typeface="Calibri" pitchFamily="34" charset="0"/>
                <a:ea typeface="Calibri" pitchFamily="34" charset="-122"/>
                <a:cs typeface="Calibri" pitchFamily="34" charset="-120"/>
              </a:rPr>
              <a:t>All four frameworks read favorably from the start, by design. This is journi's deliberate contrast case: a narrow scope, an already-bought-in team, and a visibly active Sponsor mean no framework carries unusual risk — the point being that not every program needs a recovery playbook.</a:t>
            </a:r>
            <a:endParaRPr lang="en-US" sz="1400" dirty="0"/>
          </a:p>
        </p:txBody>
      </p:sp>
      <p:sp>
        <p:nvSpPr>
          <p:cNvPr id="6" name="Text 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2 — THE FOUR FRAMEWORKS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The Composite Readiness Index, Read for This Case</a:t>
            </a:r>
            <a:endParaRPr lang="en-US" sz="2200" dirty="0"/>
          </a:p>
        </p:txBody>
      </p:sp>
      <p:sp>
        <p:nvSpPr>
          <p:cNvPr id="4" name="Shape 2"/>
          <p:cNvSpPr/>
          <p:nvPr/>
        </p:nvSpPr>
        <p:spPr>
          <a:xfrm>
            <a:off x="548640" y="2011680"/>
            <a:ext cx="11064240" cy="3200400"/>
          </a:xfrm>
          <a:prstGeom prst="roundRect">
            <a:avLst>
              <a:gd name="adj" fmla="val 1429"/>
            </a:avLst>
          </a:prstGeom>
          <a:solidFill>
            <a:srgbClr val="FFFFFF"/>
          </a:solidFill>
          <a:ln/>
          <a:effectLst>
            <a:outerShdw sx="100000" sy="100000" kx="0" ky="0" algn="bl" rotWithShape="0" blurRad="16387064000000" dist="6145149000000" dir="19440000000000000">
              <a:srgbClr val="1B2E2B">
                <a:alpha val="180000000000000"/>
              </a:srgbClr>
            </a:outerShdw>
          </a:effectLst>
        </p:spPr>
      </p:sp>
      <p:sp>
        <p:nvSpPr>
          <p:cNvPr id="5" name="Text 3"/>
          <p:cNvSpPr/>
          <p:nvPr/>
        </p:nvSpPr>
        <p:spPr>
          <a:xfrm>
            <a:off x="822960" y="2286000"/>
            <a:ext cx="10515600" cy="2651760"/>
          </a:xfrm>
          <a:prstGeom prst="rect">
            <a:avLst/>
          </a:prstGeom>
          <a:noFill/>
          <a:ln/>
        </p:spPr>
        <p:txBody>
          <a:bodyPr wrap="square" rtlCol="0" anchor="ctr"/>
          <a:lstStyle/>
          <a:p>
            <a:pPr indent="0" marL="0">
              <a:lnSpc>
                <a:spcPct val="135000"/>
              </a:lnSpc>
              <a:buNone/>
            </a:pPr>
            <a:r>
              <a:rPr lang="en-US" sz="1400" dirty="0">
                <a:solidFill>
                  <a:srgbClr val="16221F"/>
                </a:solidFill>
                <a:latin typeface="Calibri" pitchFamily="34" charset="0"/>
                <a:ea typeface="Calibri" pitchFamily="34" charset="-122"/>
                <a:cs typeface="Calibri" pitchFamily="34" charset="-120"/>
              </a:rPr>
              <a:t>The Composite Readiness Index reads high and rising from Week 1 with no dip worth naming — Benchmarking reads "Ahead" for most of the program's life, and this guide's own honesty standard applies here just as strictly as anywhere else: a clean trend is reported as a clean trend.</a:t>
            </a:r>
            <a:endParaRPr lang="en-US" sz="1400" dirty="0"/>
          </a:p>
        </p:txBody>
      </p:sp>
      <p:sp>
        <p:nvSpPr>
          <p:cNvPr id="6" name="Text 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3 — TENANT AND ADMIN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The Existing Tenant, and Reading Paths by Role</a:t>
            </a:r>
            <a:endParaRPr lang="en-US" sz="2200" dirty="0"/>
          </a:p>
        </p:txBody>
      </p:sp>
      <p:sp>
        <p:nvSpPr>
          <p:cNvPr id="4" name="Text 2"/>
          <p:cNvSpPr/>
          <p:nvPr/>
        </p:nvSpPr>
        <p:spPr>
          <a:xfrm>
            <a:off x="548640" y="1965960"/>
            <a:ext cx="11064240" cy="27432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THE EXISTING TENANT</a:t>
            </a:r>
            <a:endParaRPr lang="en-US" sz="1100" dirty="0"/>
          </a:p>
        </p:txBody>
      </p:sp>
      <p:sp>
        <p:nvSpPr>
          <p:cNvPr id="5" name="Text 3"/>
          <p:cNvSpPr/>
          <p:nvPr/>
        </p:nvSpPr>
        <p:spPr>
          <a:xfrm>
            <a:off x="548640" y="2286000"/>
            <a:ext cx="11064240" cy="640080"/>
          </a:xfrm>
          <a:prstGeom prst="rect">
            <a:avLst/>
          </a:prstGeom>
          <a:noFill/>
          <a:ln/>
        </p:spPr>
        <p:txBody>
          <a:bodyPr wrap="square" rtlCol="0" anchor="ctr"/>
          <a:lstStyle/>
          <a:p>
            <a:pPr indent="0" marL="0">
              <a:lnSpc>
                <a:spcPct val="125000"/>
              </a:lnSpc>
              <a:buNone/>
            </a:pPr>
            <a:r>
              <a:rPr lang="en-US" sz="1300" dirty="0">
                <a:solidFill>
                  <a:srgbClr val="16221F"/>
                </a:solidFill>
                <a:latin typeface="Calibri" pitchFamily="34" charset="0"/>
                <a:ea typeface="Calibri" pitchFamily="34" charset="-122"/>
                <a:cs typeface="Calibri" pitchFamily="34" charset="-120"/>
              </a:rPr>
              <a:t>This program runs inside the same tenant journi's Master User Guide builds, under the existing Bouregreg Manufacturing Maroc Organization — no new Organization needed.</a:t>
            </a:r>
            <a:endParaRPr lang="en-US" sz="1300" dirty="0"/>
          </a:p>
        </p:txBody>
      </p:sp>
      <p:sp>
        <p:nvSpPr>
          <p:cNvPr id="6" name="Text 4"/>
          <p:cNvSpPr/>
          <p:nvPr/>
        </p:nvSpPr>
        <p:spPr>
          <a:xfrm>
            <a:off x="548640" y="3108960"/>
            <a:ext cx="11064240" cy="27432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READING PATHS, BY ROLE</a:t>
            </a:r>
            <a:endParaRPr lang="en-US" sz="1100" dirty="0"/>
          </a:p>
        </p:txBody>
      </p:sp>
      <p:sp>
        <p:nvSpPr>
          <p:cNvPr id="7" name="Text 5"/>
          <p:cNvSpPr/>
          <p:nvPr/>
        </p:nvSpPr>
        <p:spPr>
          <a:xfrm>
            <a:off x="548640" y="3429000"/>
            <a:ext cx="11064240" cy="2377440"/>
          </a:xfrm>
          <a:prstGeom prst="rect">
            <a:avLst/>
          </a:prstGeom>
          <a:noFill/>
          <a:ln/>
        </p:spPr>
        <p:txBody>
          <a:bodyPr wrap="square" rtlCol="0" anchor="t"/>
          <a:lstStyle/>
          <a:p>
            <a:pPr indent="0" marL="0">
              <a:lnSpc>
                <a:spcPct val="130000"/>
              </a:lnSpc>
              <a:spcAft>
                <a:spcPts val="800"/>
              </a:spcAft>
              <a:buNone/>
            </a:pPr>
            <a:r>
              <a:rPr lang="en-US" sz="1300" b="1" dirty="0">
                <a:solidFill>
                  <a:srgbClr val="1F6459"/>
                </a:solidFill>
                <a:latin typeface="Calibri" pitchFamily="34" charset="0"/>
                <a:ea typeface="Calibri" pitchFamily="34" charset="-122"/>
                <a:cs typeface="Calibri" pitchFamily="34" charset="-120"/>
              </a:rPr>
              <a:t>›  </a:t>
            </a:r>
            <a:pPr indent="0" marL="0">
              <a:lnSpc>
                <a:spcPct val="130000"/>
              </a:lnSpc>
              <a:spcAft>
                <a:spcPts val="800"/>
              </a:spcAft>
              <a:buNone/>
            </a:pPr>
            <a:r>
              <a:rPr lang="en-US" sz="1300" dirty="0">
                <a:solidFill>
                  <a:srgbClr val="16221F"/>
                </a:solidFill>
                <a:latin typeface="Calibri" pitchFamily="34" charset="0"/>
                <a:ea typeface="Calibri" pitchFamily="34" charset="-122"/>
                <a:cs typeface="Calibri" pitchFamily="34" charset="-120"/>
              </a:rPr>
              <a:t>A Change Manager running this program day to day: Part 2 once, then Part 4 in full.</a:t>
            </a:r>
            <a:endParaRPr lang="en-US" sz="1300" dirty="0"/>
          </a:p>
          <a:p>
            <a:pPr indent="0" marL="0">
              <a:lnSpc>
                <a:spcPct val="130000"/>
              </a:lnSpc>
              <a:spcAft>
                <a:spcPts val="800"/>
              </a:spcAft>
              <a:buNone/>
            </a:pPr>
            <a:r>
              <a:rPr lang="en-US" sz="1300" b="1" dirty="0">
                <a:solidFill>
                  <a:srgbClr val="1F6459"/>
                </a:solidFill>
                <a:latin typeface="Calibri" pitchFamily="34" charset="0"/>
                <a:ea typeface="Calibri" pitchFamily="34" charset="-122"/>
                <a:cs typeface="Calibri" pitchFamily="34" charset="-120"/>
              </a:rPr>
              <a:t>›  </a:t>
            </a:r>
            <a:pPr indent="0" marL="0">
              <a:lnSpc>
                <a:spcPct val="130000"/>
              </a:lnSpc>
              <a:spcAft>
                <a:spcPts val="800"/>
              </a:spcAft>
              <a:buNone/>
            </a:pPr>
            <a:r>
              <a:rPr lang="en-US" sz="1300" dirty="0">
                <a:solidFill>
                  <a:srgbClr val="16221F"/>
                </a:solidFill>
                <a:latin typeface="Calibri" pitchFamily="34" charset="0"/>
                <a:ea typeface="Calibri" pitchFamily="34" charset="-122"/>
                <a:cs typeface="Calibri" pitchFamily="34" charset="-120"/>
              </a:rPr>
              <a:t>A Program/Project Manager: Part 4's PM Track column and the Master WBS &amp; Gantt.</a:t>
            </a:r>
            <a:endParaRPr lang="en-US" sz="1300" dirty="0"/>
          </a:p>
          <a:p>
            <a:pPr indent="0" marL="0">
              <a:lnSpc>
                <a:spcPct val="130000"/>
              </a:lnSpc>
              <a:spcAft>
                <a:spcPts val="800"/>
              </a:spcAft>
              <a:buNone/>
            </a:pPr>
            <a:r>
              <a:rPr lang="en-US" sz="1300" b="1" dirty="0">
                <a:solidFill>
                  <a:srgbClr val="1F6459"/>
                </a:solidFill>
                <a:latin typeface="Calibri" pitchFamily="34" charset="0"/>
                <a:ea typeface="Calibri" pitchFamily="34" charset="-122"/>
                <a:cs typeface="Calibri" pitchFamily="34" charset="-120"/>
              </a:rPr>
              <a:t>›  </a:t>
            </a:r>
            <a:pPr indent="0" marL="0">
              <a:lnSpc>
                <a:spcPct val="130000"/>
              </a:lnSpc>
              <a:spcAft>
                <a:spcPts val="800"/>
              </a:spcAft>
              <a:buNone/>
            </a:pPr>
            <a:r>
              <a:rPr lang="en-US" sz="1300" dirty="0">
                <a:solidFill>
                  <a:srgbClr val="16221F"/>
                </a:solidFill>
                <a:latin typeface="Calibri" pitchFamily="34" charset="0"/>
                <a:ea typeface="Calibri" pitchFamily="34" charset="-122"/>
                <a:cs typeface="Calibri" pitchFamily="34" charset="-120"/>
              </a:rPr>
              <a:t>An Executive Sponsor: Part 1, then Part 4's phase-opening narratives.</a:t>
            </a:r>
            <a:endParaRPr lang="en-US" sz="1300" dirty="0"/>
          </a:p>
          <a:p>
            <a:pPr indent="0" marL="0">
              <a:lnSpc>
                <a:spcPct val="130000"/>
              </a:lnSpc>
              <a:spcAft>
                <a:spcPts val="800"/>
              </a:spcAft>
              <a:buNone/>
            </a:pPr>
            <a:r>
              <a:rPr lang="en-US" sz="1300" b="1" dirty="0">
                <a:solidFill>
                  <a:srgbClr val="1F6459"/>
                </a:solidFill>
                <a:latin typeface="Calibri" pitchFamily="34" charset="0"/>
                <a:ea typeface="Calibri" pitchFamily="34" charset="-122"/>
                <a:cs typeface="Calibri" pitchFamily="34" charset="-120"/>
              </a:rPr>
              <a:t>›  </a:t>
            </a:r>
            <a:pPr indent="0" marL="0">
              <a:lnSpc>
                <a:spcPct val="130000"/>
              </a:lnSpc>
              <a:spcAft>
                <a:spcPts val="800"/>
              </a:spcAft>
              <a:buNone/>
            </a:pPr>
            <a:r>
              <a:rPr lang="en-US" sz="1300" dirty="0">
                <a:solidFill>
                  <a:srgbClr val="16221F"/>
                </a:solidFill>
                <a:latin typeface="Calibri" pitchFamily="34" charset="0"/>
                <a:ea typeface="Calibri" pitchFamily="34" charset="-122"/>
                <a:cs typeface="Calibri" pitchFamily="34" charset="-120"/>
              </a:rPr>
              <a:t>A Super Admin or Org Admin: Part 3.</a:t>
            </a:r>
            <a:endParaRPr lang="en-US" sz="13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3 — TENANT AND ADMIN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The RACSI Team for This Program</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914400"/>
        </p:xfrm>
        <a:graphic>
          <a:graphicData uri="http://schemas.openxmlformats.org/drawingml/2006/table">
            <a:tbl>
              <a:tblPr/>
              <a:tblGrid>
                <a:gridCol w="3108960"/>
                <a:gridCol w="1645920"/>
                <a:gridCol w="63093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RACSI Code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Hakim Berrada</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Sponsor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Salma Ouazzani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Change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Amine Sqalli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Program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Yassine Kabbaj</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ITL</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IT/Technical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Nawal Fassi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FPO, SUP</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Functional Process Owner and Supervisor, combined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3 — TENANT AND ADMIN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Creating the CM Project</a:t>
            </a:r>
            <a:endParaRPr lang="en-US" sz="2400" dirty="0"/>
          </a:p>
        </p:txBody>
      </p:sp>
      <p:sp>
        <p:nvSpPr>
          <p:cNvPr id="4" name="Shape 2"/>
          <p:cNvSpPr/>
          <p:nvPr/>
        </p:nvSpPr>
        <p:spPr>
          <a:xfrm>
            <a:off x="548640" y="2057400"/>
            <a:ext cx="11064240" cy="868680"/>
          </a:xfrm>
          <a:prstGeom prst="roundRect">
            <a:avLst>
              <a:gd name="adj" fmla="val 5263"/>
            </a:avLst>
          </a:prstGeom>
          <a:solidFill>
            <a:srgbClr val="EAF2EF"/>
          </a:solidFill>
          <a:ln/>
        </p:spPr>
      </p:sp>
      <p:sp>
        <p:nvSpPr>
          <p:cNvPr id="5" name="Text 3"/>
          <p:cNvSpPr/>
          <p:nvPr/>
        </p:nvSpPr>
        <p:spPr>
          <a:xfrm>
            <a:off x="731520" y="2221992"/>
            <a:ext cx="457200" cy="548640"/>
          </a:xfrm>
          <a:prstGeom prst="rect">
            <a:avLst/>
          </a:prstGeom>
          <a:noFill/>
          <a:ln/>
        </p:spPr>
        <p:txBody>
          <a:bodyPr wrap="square" rtlCol="0" anchor="ctr"/>
          <a:lstStyle/>
          <a:p>
            <a:pPr indent="0" marL="0">
              <a:buNone/>
            </a:pPr>
            <a:r>
              <a:rPr lang="en-US" sz="2000" b="1" dirty="0">
                <a:solidFill>
                  <a:srgbClr val="1F6459"/>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371600" y="2130552"/>
            <a:ext cx="10058400" cy="731520"/>
          </a:xfrm>
          <a:prstGeom prst="rect">
            <a:avLst/>
          </a:prstGeom>
          <a:noFill/>
          <a:ln/>
        </p:spPr>
        <p:txBody>
          <a:bodyPr wrap="square" rtlCol="0" anchor="ctr"/>
          <a:lstStyle/>
          <a:p>
            <a:pPr indent="0" marL="0">
              <a:lnSpc>
                <a:spcPct val="120000"/>
              </a:lnSpc>
              <a:buNone/>
            </a:pPr>
            <a:r>
              <a:rPr lang="en-US" sz="1200" dirty="0">
                <a:solidFill>
                  <a:srgbClr val="16221F"/>
                </a:solidFill>
                <a:latin typeface="Calibri" pitchFamily="34" charset="0"/>
                <a:ea typeface="Calibri" pitchFamily="34" charset="-122"/>
                <a:cs typeface="Calibri" pitchFamily="34" charset="-120"/>
              </a:rPr>
              <a:t>On Module 1 — Hierarchy, create the Kenitra Invoice-Matching Automation CM Project under the existing Bouregreg Manufacturing Maroc Organization.</a:t>
            </a:r>
            <a:endParaRPr lang="en-US" sz="1200" dirty="0"/>
          </a:p>
        </p:txBody>
      </p:sp>
      <p:sp>
        <p:nvSpPr>
          <p:cNvPr id="7" name="Shape 5"/>
          <p:cNvSpPr/>
          <p:nvPr/>
        </p:nvSpPr>
        <p:spPr>
          <a:xfrm>
            <a:off x="548640" y="3044952"/>
            <a:ext cx="11064240" cy="868680"/>
          </a:xfrm>
          <a:prstGeom prst="roundRect">
            <a:avLst>
              <a:gd name="adj" fmla="val 5263"/>
            </a:avLst>
          </a:prstGeom>
          <a:solidFill>
            <a:srgbClr val="FFFFFF"/>
          </a:solidFill>
          <a:ln/>
        </p:spPr>
      </p:sp>
      <p:sp>
        <p:nvSpPr>
          <p:cNvPr id="8" name="Text 6"/>
          <p:cNvSpPr/>
          <p:nvPr/>
        </p:nvSpPr>
        <p:spPr>
          <a:xfrm>
            <a:off x="731520" y="3209544"/>
            <a:ext cx="457200" cy="548640"/>
          </a:xfrm>
          <a:prstGeom prst="rect">
            <a:avLst/>
          </a:prstGeom>
          <a:noFill/>
          <a:ln/>
        </p:spPr>
        <p:txBody>
          <a:bodyPr wrap="square" rtlCol="0" anchor="ctr"/>
          <a:lstStyle/>
          <a:p>
            <a:pPr indent="0" marL="0">
              <a:buNone/>
            </a:pPr>
            <a:r>
              <a:rPr lang="en-US" sz="2000" b="1" dirty="0">
                <a:solidFill>
                  <a:srgbClr val="1F6459"/>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371600" y="3118104"/>
            <a:ext cx="10058400" cy="731520"/>
          </a:xfrm>
          <a:prstGeom prst="rect">
            <a:avLst/>
          </a:prstGeom>
          <a:noFill/>
          <a:ln/>
        </p:spPr>
        <p:txBody>
          <a:bodyPr wrap="square" rtlCol="0" anchor="ctr"/>
          <a:lstStyle/>
          <a:p>
            <a:pPr indent="0" marL="0">
              <a:lnSpc>
                <a:spcPct val="120000"/>
              </a:lnSpc>
              <a:buNone/>
            </a:pPr>
            <a:r>
              <a:rPr lang="en-US" sz="1200" dirty="0">
                <a:solidFill>
                  <a:srgbClr val="16221F"/>
                </a:solidFill>
                <a:latin typeface="Calibri" pitchFamily="34" charset="0"/>
                <a:ea typeface="Calibri" pitchFamily="34" charset="-122"/>
                <a:cs typeface="Calibri" pitchFamily="34" charset="-120"/>
              </a:rPr>
              <a:t>Set Change type: Business Process Automation. Target population: "Kenitra accounts payable, 18 staff." Business driver: "A repetitive task with no judgment calls — a strong automation candidate."</a:t>
            </a:r>
            <a:endParaRPr lang="en-US" sz="1200" dirty="0"/>
          </a:p>
        </p:txBody>
      </p:sp>
      <p:sp>
        <p:nvSpPr>
          <p:cNvPr id="10" name="Shape 8"/>
          <p:cNvSpPr/>
          <p:nvPr/>
        </p:nvSpPr>
        <p:spPr>
          <a:xfrm>
            <a:off x="548640" y="4032504"/>
            <a:ext cx="11064240" cy="868680"/>
          </a:xfrm>
          <a:prstGeom prst="roundRect">
            <a:avLst>
              <a:gd name="adj" fmla="val 5263"/>
            </a:avLst>
          </a:prstGeom>
          <a:solidFill>
            <a:srgbClr val="EAF2EF"/>
          </a:solidFill>
          <a:ln/>
        </p:spPr>
      </p:sp>
      <p:sp>
        <p:nvSpPr>
          <p:cNvPr id="11" name="Text 9"/>
          <p:cNvSpPr/>
          <p:nvPr/>
        </p:nvSpPr>
        <p:spPr>
          <a:xfrm>
            <a:off x="731520" y="4197096"/>
            <a:ext cx="457200" cy="548640"/>
          </a:xfrm>
          <a:prstGeom prst="rect">
            <a:avLst/>
          </a:prstGeom>
          <a:noFill/>
          <a:ln/>
        </p:spPr>
        <p:txBody>
          <a:bodyPr wrap="square" rtlCol="0" anchor="ctr"/>
          <a:lstStyle/>
          <a:p>
            <a:pPr indent="0" marL="0">
              <a:buNone/>
            </a:pPr>
            <a:r>
              <a:rPr lang="en-US" sz="2000" b="1" dirty="0">
                <a:solidFill>
                  <a:srgbClr val="1F6459"/>
                </a:solidFill>
                <a:latin typeface="Calibri" pitchFamily="34" charset="0"/>
                <a:ea typeface="Calibri" pitchFamily="34" charset="-122"/>
                <a:cs typeface="Calibri" pitchFamily="34" charset="-120"/>
              </a:rPr>
              <a:t>3</a:t>
            </a:r>
            <a:endParaRPr lang="en-US" sz="2000" dirty="0"/>
          </a:p>
        </p:txBody>
      </p:sp>
      <p:sp>
        <p:nvSpPr>
          <p:cNvPr id="12" name="Text 10"/>
          <p:cNvSpPr/>
          <p:nvPr/>
        </p:nvSpPr>
        <p:spPr>
          <a:xfrm>
            <a:off x="1371600" y="4105656"/>
            <a:ext cx="10058400" cy="731520"/>
          </a:xfrm>
          <a:prstGeom prst="rect">
            <a:avLst/>
          </a:prstGeom>
          <a:noFill/>
          <a:ln/>
        </p:spPr>
        <p:txBody>
          <a:bodyPr wrap="square" rtlCol="0" anchor="ctr"/>
          <a:lstStyle/>
          <a:p>
            <a:pPr indent="0" marL="0">
              <a:lnSpc>
                <a:spcPct val="120000"/>
              </a:lnSpc>
              <a:buNone/>
            </a:pPr>
            <a:r>
              <a:rPr lang="en-US" sz="1200" dirty="0">
                <a:solidFill>
                  <a:srgbClr val="16221F"/>
                </a:solidFill>
                <a:latin typeface="Calibri" pitchFamily="34" charset="0"/>
                <a:ea typeface="Calibri" pitchFamily="34" charset="-122"/>
                <a:cs typeface="Calibri" pitchFamily="34" charset="-120"/>
              </a:rPr>
              <a:t>Save. Lewin opens at Unfreeze — the team already bought in, unlike every resistance-driven case elsewhere in this series.</a:t>
            </a:r>
            <a:endParaRPr lang="en-US" sz="1200" dirty="0"/>
          </a:p>
        </p:txBody>
      </p:sp>
      <p:sp>
        <p:nvSpPr>
          <p:cNvPr id="13" name="Shape 11"/>
          <p:cNvSpPr/>
          <p:nvPr/>
        </p:nvSpPr>
        <p:spPr>
          <a:xfrm>
            <a:off x="548640" y="5020056"/>
            <a:ext cx="11064240" cy="868680"/>
          </a:xfrm>
          <a:prstGeom prst="roundRect">
            <a:avLst>
              <a:gd name="adj" fmla="val 5263"/>
            </a:avLst>
          </a:prstGeom>
          <a:solidFill>
            <a:srgbClr val="FFFFFF"/>
          </a:solidFill>
          <a:ln/>
        </p:spPr>
      </p:sp>
      <p:sp>
        <p:nvSpPr>
          <p:cNvPr id="14" name="Text 12"/>
          <p:cNvSpPr/>
          <p:nvPr/>
        </p:nvSpPr>
        <p:spPr>
          <a:xfrm>
            <a:off x="731520" y="5184648"/>
            <a:ext cx="457200" cy="548640"/>
          </a:xfrm>
          <a:prstGeom prst="rect">
            <a:avLst/>
          </a:prstGeom>
          <a:noFill/>
          <a:ln/>
        </p:spPr>
        <p:txBody>
          <a:bodyPr wrap="square" rtlCol="0" anchor="ctr"/>
          <a:lstStyle/>
          <a:p>
            <a:pPr indent="0" marL="0">
              <a:buNone/>
            </a:pPr>
            <a:r>
              <a:rPr lang="en-US" sz="2000" b="1" dirty="0">
                <a:solidFill>
                  <a:srgbClr val="1F6459"/>
                </a:solidFill>
                <a:latin typeface="Calibri" pitchFamily="34" charset="0"/>
                <a:ea typeface="Calibri" pitchFamily="34" charset="-122"/>
                <a:cs typeface="Calibri" pitchFamily="34" charset="-120"/>
              </a:rPr>
              <a:t>4</a:t>
            </a:r>
            <a:endParaRPr lang="en-US" sz="2000" dirty="0"/>
          </a:p>
        </p:txBody>
      </p:sp>
      <p:sp>
        <p:nvSpPr>
          <p:cNvPr id="15" name="Text 13"/>
          <p:cNvSpPr/>
          <p:nvPr/>
        </p:nvSpPr>
        <p:spPr>
          <a:xfrm>
            <a:off x="1371600" y="5093208"/>
            <a:ext cx="10058400" cy="731520"/>
          </a:xfrm>
          <a:prstGeom prst="rect">
            <a:avLst/>
          </a:prstGeom>
          <a:noFill/>
          <a:ln/>
        </p:spPr>
        <p:txBody>
          <a:bodyPr wrap="square" rtlCol="0" anchor="ctr"/>
          <a:lstStyle/>
          <a:p>
            <a:pPr indent="0" marL="0">
              <a:lnSpc>
                <a:spcPct val="120000"/>
              </a:lnSpc>
              <a:buNone/>
            </a:pPr>
            <a:r>
              <a:rPr lang="en-US" sz="1200" dirty="0">
                <a:solidFill>
                  <a:srgbClr val="16221F"/>
                </a:solidFill>
                <a:latin typeface="Calibri" pitchFamily="34" charset="0"/>
                <a:ea typeface="Calibri" pitchFamily="34" charset="-122"/>
                <a:cs typeface="Calibri" pitchFamily="34" charset="-120"/>
              </a:rPr>
              <a:t>On Module 17 — WBS &amp; Gantt, load the TPL-BPA-7 phase template: Automation-Opportunity Assessment, Architecture Design, Build, UAT &amp; Shadow-Mode, Production Go-Live, Exception Tuning, CoE Handover.</a:t>
            </a:r>
            <a:endParaRPr lang="en-US" sz="1200" dirty="0"/>
          </a:p>
        </p:txBody>
      </p:sp>
      <p:sp>
        <p:nvSpPr>
          <p:cNvPr id="16" name="Text 1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17" name="Text 1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3 — TENANT AND ADMIN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Charters for This Program</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914400"/>
        </p:xfrm>
        <a:graphic>
          <a:graphicData uri="http://schemas.openxmlformats.org/drawingml/2006/table">
            <a:tbl>
              <a:tblPr/>
              <a:tblGrid>
                <a:gridCol w="5029200"/>
                <a:gridCol w="3200400"/>
                <a:gridCol w="28346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Charter</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Accountable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Review Cadence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CHTR-01 Sponsorship / Leadership Charter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Hakim Berrada (ES)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Per Phase Gate</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CHTR-08 Pulse / Interview Charter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Salma Ouazzani (CM)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Per phase gate + ad hoc</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3 — TENANT AND ADMIN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Setup Checklist</a:t>
            </a:r>
            <a:endParaRPr lang="en-US" sz="2400" dirty="0"/>
          </a:p>
        </p:txBody>
      </p:sp>
      <p:sp>
        <p:nvSpPr>
          <p:cNvPr id="4" name="Shape 2"/>
          <p:cNvSpPr/>
          <p:nvPr/>
        </p:nvSpPr>
        <p:spPr>
          <a:xfrm>
            <a:off x="548640" y="2148840"/>
            <a:ext cx="292608" cy="292608"/>
          </a:xfrm>
          <a:prstGeom prst="roundRect">
            <a:avLst>
              <a:gd name="adj" fmla="val 18750"/>
            </a:avLst>
          </a:prstGeom>
          <a:solidFill>
            <a:srgbClr val="EAF2EF"/>
          </a:solidFill>
          <a:ln w="19050">
            <a:solidFill>
              <a:srgbClr val="1F6459"/>
            </a:solidFill>
            <a:prstDash val="solid"/>
          </a:ln>
        </p:spPr>
      </p:sp>
      <p:pic>
        <p:nvPicPr>
          <p:cNvPr id="5" name="Image 0" descr="/home/user/scm-process-register/docs-src/type-decks/assets/check.png">    </p:cNvPr>
          <p:cNvPicPr>
            <a:picLocks noChangeAspect="1"/>
          </p:cNvPicPr>
          <p:nvPr/>
        </p:nvPicPr>
        <p:blipFill>
          <a:blip r:embed="rId1"/>
          <a:stretch>
            <a:fillRect/>
          </a:stretch>
        </p:blipFill>
        <p:spPr>
          <a:xfrm>
            <a:off x="603504" y="2203704"/>
            <a:ext cx="182880" cy="182880"/>
          </a:xfrm>
          <a:prstGeom prst="rect">
            <a:avLst/>
          </a:prstGeom>
        </p:spPr>
      </p:pic>
      <p:sp>
        <p:nvSpPr>
          <p:cNvPr id="6" name="Text 3"/>
          <p:cNvSpPr/>
          <p:nvPr/>
        </p:nvSpPr>
        <p:spPr>
          <a:xfrm>
            <a:off x="1005840" y="2103120"/>
            <a:ext cx="10607040" cy="502920"/>
          </a:xfrm>
          <a:prstGeom prst="rect">
            <a:avLst/>
          </a:prstGeom>
          <a:noFill/>
          <a:ln/>
        </p:spPr>
        <p:txBody>
          <a:bodyPr wrap="square" rtlCol="0" anchor="ctr"/>
          <a:lstStyle/>
          <a:p>
            <a:pPr indent="0" marL="0">
              <a:buNone/>
            </a:pPr>
            <a:r>
              <a:rPr lang="en-US" sz="1300" dirty="0">
                <a:solidFill>
                  <a:srgbClr val="16221F"/>
                </a:solidFill>
                <a:latin typeface="Calibri" pitchFamily="34" charset="0"/>
                <a:ea typeface="Calibri" pitchFamily="34" charset="-122"/>
                <a:cs typeface="Calibri" pitchFamily="34" charset="-120"/>
              </a:rPr>
              <a:t>Base tenant confirmed (Bouregreg Group, existing Organization)</a:t>
            </a:r>
            <a:endParaRPr lang="en-US" sz="1300" dirty="0"/>
          </a:p>
        </p:txBody>
      </p:sp>
      <p:sp>
        <p:nvSpPr>
          <p:cNvPr id="7" name="Shape 4"/>
          <p:cNvSpPr/>
          <p:nvPr/>
        </p:nvSpPr>
        <p:spPr>
          <a:xfrm>
            <a:off x="548640" y="2715768"/>
            <a:ext cx="292608" cy="292608"/>
          </a:xfrm>
          <a:prstGeom prst="roundRect">
            <a:avLst>
              <a:gd name="adj" fmla="val 18750"/>
            </a:avLst>
          </a:prstGeom>
          <a:solidFill>
            <a:srgbClr val="EAF2EF"/>
          </a:solidFill>
          <a:ln w="19050">
            <a:solidFill>
              <a:srgbClr val="1F6459"/>
            </a:solidFill>
            <a:prstDash val="solid"/>
          </a:ln>
        </p:spPr>
      </p:sp>
      <p:pic>
        <p:nvPicPr>
          <p:cNvPr id="8" name="Image 1" descr="/home/user/scm-process-register/docs-src/type-decks/assets/check.png">    </p:cNvPr>
          <p:cNvPicPr>
            <a:picLocks noChangeAspect="1"/>
          </p:cNvPicPr>
          <p:nvPr/>
        </p:nvPicPr>
        <p:blipFill>
          <a:blip r:embed="rId2"/>
          <a:stretch>
            <a:fillRect/>
          </a:stretch>
        </p:blipFill>
        <p:spPr>
          <a:xfrm>
            <a:off x="603504" y="2770632"/>
            <a:ext cx="182880" cy="182880"/>
          </a:xfrm>
          <a:prstGeom prst="rect">
            <a:avLst/>
          </a:prstGeom>
        </p:spPr>
      </p:pic>
      <p:sp>
        <p:nvSpPr>
          <p:cNvPr id="9" name="Text 5"/>
          <p:cNvSpPr/>
          <p:nvPr/>
        </p:nvSpPr>
        <p:spPr>
          <a:xfrm>
            <a:off x="1005840" y="2670048"/>
            <a:ext cx="10607040" cy="502920"/>
          </a:xfrm>
          <a:prstGeom prst="rect">
            <a:avLst/>
          </a:prstGeom>
          <a:noFill/>
          <a:ln/>
        </p:spPr>
        <p:txBody>
          <a:bodyPr wrap="square" rtlCol="0" anchor="ctr"/>
          <a:lstStyle/>
          <a:p>
            <a:pPr indent="0" marL="0">
              <a:buNone/>
            </a:pPr>
            <a:r>
              <a:rPr lang="en-US" sz="1300" dirty="0">
                <a:solidFill>
                  <a:srgbClr val="16221F"/>
                </a:solidFill>
                <a:latin typeface="Calibri" pitchFamily="34" charset="0"/>
                <a:ea typeface="Calibri" pitchFamily="34" charset="-122"/>
                <a:cs typeface="Calibri" pitchFamily="34" charset="-120"/>
              </a:rPr>
              <a:t>Automation program team accounts created</a:t>
            </a:r>
            <a:endParaRPr lang="en-US" sz="1300" dirty="0"/>
          </a:p>
        </p:txBody>
      </p:sp>
      <p:sp>
        <p:nvSpPr>
          <p:cNvPr id="10" name="Shape 6"/>
          <p:cNvSpPr/>
          <p:nvPr/>
        </p:nvSpPr>
        <p:spPr>
          <a:xfrm>
            <a:off x="548640" y="3282696"/>
            <a:ext cx="292608" cy="292608"/>
          </a:xfrm>
          <a:prstGeom prst="roundRect">
            <a:avLst>
              <a:gd name="adj" fmla="val 18750"/>
            </a:avLst>
          </a:prstGeom>
          <a:solidFill>
            <a:srgbClr val="EAF2EF"/>
          </a:solidFill>
          <a:ln w="19050">
            <a:solidFill>
              <a:srgbClr val="1F6459"/>
            </a:solidFill>
            <a:prstDash val="solid"/>
          </a:ln>
        </p:spPr>
      </p:sp>
      <p:pic>
        <p:nvPicPr>
          <p:cNvPr id="11" name="Image 2" descr="/home/user/scm-process-register/docs-src/type-decks/assets/check.png">    </p:cNvPr>
          <p:cNvPicPr>
            <a:picLocks noChangeAspect="1"/>
          </p:cNvPicPr>
          <p:nvPr/>
        </p:nvPicPr>
        <p:blipFill>
          <a:blip r:embed="rId3"/>
          <a:stretch>
            <a:fillRect/>
          </a:stretch>
        </p:blipFill>
        <p:spPr>
          <a:xfrm>
            <a:off x="603504" y="3337560"/>
            <a:ext cx="182880" cy="182880"/>
          </a:xfrm>
          <a:prstGeom prst="rect">
            <a:avLst/>
          </a:prstGeom>
        </p:spPr>
      </p:pic>
      <p:sp>
        <p:nvSpPr>
          <p:cNvPr id="12" name="Text 7"/>
          <p:cNvSpPr/>
          <p:nvPr/>
        </p:nvSpPr>
        <p:spPr>
          <a:xfrm>
            <a:off x="1005840" y="3236976"/>
            <a:ext cx="10607040" cy="502920"/>
          </a:xfrm>
          <a:prstGeom prst="rect">
            <a:avLst/>
          </a:prstGeom>
          <a:noFill/>
          <a:ln/>
        </p:spPr>
        <p:txBody>
          <a:bodyPr wrap="square" rtlCol="0" anchor="ctr"/>
          <a:lstStyle/>
          <a:p>
            <a:pPr indent="0" marL="0">
              <a:buNone/>
            </a:pPr>
            <a:r>
              <a:rPr lang="en-US" sz="1300" dirty="0">
                <a:solidFill>
                  <a:srgbClr val="16221F"/>
                </a:solidFill>
                <a:latin typeface="Calibri" pitchFamily="34" charset="0"/>
                <a:ea typeface="Calibri" pitchFamily="34" charset="-122"/>
                <a:cs typeface="Calibri" pitchFamily="34" charset="-120"/>
              </a:rPr>
              <a:t>CM Project created, Lewin opened at Unfreeze</a:t>
            </a:r>
            <a:endParaRPr lang="en-US" sz="1300" dirty="0"/>
          </a:p>
        </p:txBody>
      </p:sp>
      <p:sp>
        <p:nvSpPr>
          <p:cNvPr id="13" name="Shape 8"/>
          <p:cNvSpPr/>
          <p:nvPr/>
        </p:nvSpPr>
        <p:spPr>
          <a:xfrm>
            <a:off x="548640" y="3849624"/>
            <a:ext cx="292608" cy="292608"/>
          </a:xfrm>
          <a:prstGeom prst="roundRect">
            <a:avLst>
              <a:gd name="adj" fmla="val 18750"/>
            </a:avLst>
          </a:prstGeom>
          <a:solidFill>
            <a:srgbClr val="EAF2EF"/>
          </a:solidFill>
          <a:ln w="19050">
            <a:solidFill>
              <a:srgbClr val="1F6459"/>
            </a:solidFill>
            <a:prstDash val="solid"/>
          </a:ln>
        </p:spPr>
      </p:sp>
      <p:pic>
        <p:nvPicPr>
          <p:cNvPr id="14" name="Image 3" descr="/home/user/scm-process-register/docs-src/type-decks/assets/check.png">    </p:cNvPr>
          <p:cNvPicPr>
            <a:picLocks noChangeAspect="1"/>
          </p:cNvPicPr>
          <p:nvPr/>
        </p:nvPicPr>
        <p:blipFill>
          <a:blip r:embed="rId4"/>
          <a:stretch>
            <a:fillRect/>
          </a:stretch>
        </p:blipFill>
        <p:spPr>
          <a:xfrm>
            <a:off x="603504" y="3904488"/>
            <a:ext cx="182880" cy="182880"/>
          </a:xfrm>
          <a:prstGeom prst="rect">
            <a:avLst/>
          </a:prstGeom>
        </p:spPr>
      </p:pic>
      <p:sp>
        <p:nvSpPr>
          <p:cNvPr id="15" name="Text 9"/>
          <p:cNvSpPr/>
          <p:nvPr/>
        </p:nvSpPr>
        <p:spPr>
          <a:xfrm>
            <a:off x="1005840" y="3803904"/>
            <a:ext cx="10607040" cy="502920"/>
          </a:xfrm>
          <a:prstGeom prst="rect">
            <a:avLst/>
          </a:prstGeom>
          <a:noFill/>
          <a:ln/>
        </p:spPr>
        <p:txBody>
          <a:bodyPr wrap="square" rtlCol="0" anchor="ctr"/>
          <a:lstStyle/>
          <a:p>
            <a:pPr indent="0" marL="0">
              <a:buNone/>
            </a:pPr>
            <a:r>
              <a:rPr lang="en-US" sz="1300" dirty="0">
                <a:solidFill>
                  <a:srgbClr val="16221F"/>
                </a:solidFill>
                <a:latin typeface="Calibri" pitchFamily="34" charset="0"/>
                <a:ea typeface="Calibri" pitchFamily="34" charset="-122"/>
                <a:cs typeface="Calibri" pitchFamily="34" charset="-120"/>
              </a:rPr>
              <a:t>TPL-BPA-7 phase template loaded on M17</a:t>
            </a:r>
            <a:endParaRPr lang="en-US" sz="1300" dirty="0"/>
          </a:p>
        </p:txBody>
      </p:sp>
      <p:sp>
        <p:nvSpPr>
          <p:cNvPr id="16" name="Shape 10"/>
          <p:cNvSpPr/>
          <p:nvPr/>
        </p:nvSpPr>
        <p:spPr>
          <a:xfrm>
            <a:off x="548640" y="4416552"/>
            <a:ext cx="292608" cy="292608"/>
          </a:xfrm>
          <a:prstGeom prst="roundRect">
            <a:avLst>
              <a:gd name="adj" fmla="val 18750"/>
            </a:avLst>
          </a:prstGeom>
          <a:solidFill>
            <a:srgbClr val="EAF2EF"/>
          </a:solidFill>
          <a:ln w="19050">
            <a:solidFill>
              <a:srgbClr val="1F6459"/>
            </a:solidFill>
            <a:prstDash val="solid"/>
          </a:ln>
        </p:spPr>
      </p:sp>
      <p:pic>
        <p:nvPicPr>
          <p:cNvPr id="17" name="Image 4" descr="/home/user/scm-process-register/docs-src/type-decks/assets/check.png">    </p:cNvPr>
          <p:cNvPicPr>
            <a:picLocks noChangeAspect="1"/>
          </p:cNvPicPr>
          <p:nvPr/>
        </p:nvPicPr>
        <p:blipFill>
          <a:blip r:embed="rId5"/>
          <a:stretch>
            <a:fillRect/>
          </a:stretch>
        </p:blipFill>
        <p:spPr>
          <a:xfrm>
            <a:off x="603504" y="4471416"/>
            <a:ext cx="182880" cy="182880"/>
          </a:xfrm>
          <a:prstGeom prst="rect">
            <a:avLst/>
          </a:prstGeom>
        </p:spPr>
      </p:pic>
      <p:sp>
        <p:nvSpPr>
          <p:cNvPr id="18" name="Text 11"/>
          <p:cNvSpPr/>
          <p:nvPr/>
        </p:nvSpPr>
        <p:spPr>
          <a:xfrm>
            <a:off x="1005840" y="4370832"/>
            <a:ext cx="10607040" cy="502920"/>
          </a:xfrm>
          <a:prstGeom prst="rect">
            <a:avLst/>
          </a:prstGeom>
          <a:noFill/>
          <a:ln/>
        </p:spPr>
        <p:txBody>
          <a:bodyPr wrap="square" rtlCol="0" anchor="ctr"/>
          <a:lstStyle/>
          <a:p>
            <a:pPr indent="0" marL="0">
              <a:buNone/>
            </a:pPr>
            <a:r>
              <a:rPr lang="en-US" sz="1300" dirty="0">
                <a:solidFill>
                  <a:srgbClr val="16221F"/>
                </a:solidFill>
                <a:latin typeface="Calibri" pitchFamily="34" charset="0"/>
                <a:ea typeface="Calibri" pitchFamily="34" charset="-122"/>
                <a:cs typeface="Calibri" pitchFamily="34" charset="-120"/>
              </a:rPr>
              <a:t>Applicable Charters reviewed and accountable owners confirmed</a:t>
            </a:r>
            <a:endParaRPr lang="en-US" sz="1300" dirty="0"/>
          </a:p>
        </p:txBody>
      </p:sp>
      <p:sp>
        <p:nvSpPr>
          <p:cNvPr id="19"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20"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4 — WEEK-BY-WEEK TIMELINE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7 Phases, In Order</a:t>
            </a:r>
            <a:endParaRPr lang="en-US" sz="2200" dirty="0"/>
          </a:p>
        </p:txBody>
      </p:sp>
      <p:sp>
        <p:nvSpPr>
          <p:cNvPr id="4" name="Shape 2"/>
          <p:cNvSpPr/>
          <p:nvPr/>
        </p:nvSpPr>
        <p:spPr>
          <a:xfrm>
            <a:off x="548640" y="2103120"/>
            <a:ext cx="2697480" cy="566928"/>
          </a:xfrm>
          <a:prstGeom prst="chevron">
            <a:avLst/>
          </a:prstGeom>
          <a:solidFill>
            <a:srgbClr val="1F6459"/>
          </a:solidFill>
          <a:ln/>
        </p:spPr>
      </p:sp>
      <p:sp>
        <p:nvSpPr>
          <p:cNvPr id="5" name="Text 3"/>
          <p:cNvSpPr/>
          <p:nvPr/>
        </p:nvSpPr>
        <p:spPr>
          <a:xfrm>
            <a:off x="59436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Automation-Opportunity Assessment</a:t>
            </a:r>
            <a:endParaRPr lang="en-US" sz="950" dirty="0"/>
          </a:p>
        </p:txBody>
      </p:sp>
      <p:sp>
        <p:nvSpPr>
          <p:cNvPr id="6" name="Shape 4"/>
          <p:cNvSpPr/>
          <p:nvPr/>
        </p:nvSpPr>
        <p:spPr>
          <a:xfrm>
            <a:off x="3337560" y="2103120"/>
            <a:ext cx="2697480" cy="566928"/>
          </a:xfrm>
          <a:prstGeom prst="chevron">
            <a:avLst/>
          </a:prstGeom>
          <a:solidFill>
            <a:srgbClr val="1F6459"/>
          </a:solidFill>
          <a:ln/>
        </p:spPr>
      </p:sp>
      <p:sp>
        <p:nvSpPr>
          <p:cNvPr id="7" name="Text 5"/>
          <p:cNvSpPr/>
          <p:nvPr/>
        </p:nvSpPr>
        <p:spPr>
          <a:xfrm>
            <a:off x="338328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Architecture Design</a:t>
            </a:r>
            <a:endParaRPr lang="en-US" sz="950" dirty="0"/>
          </a:p>
        </p:txBody>
      </p:sp>
      <p:sp>
        <p:nvSpPr>
          <p:cNvPr id="8" name="Shape 6"/>
          <p:cNvSpPr/>
          <p:nvPr/>
        </p:nvSpPr>
        <p:spPr>
          <a:xfrm>
            <a:off x="6126480" y="2103120"/>
            <a:ext cx="2697480" cy="566928"/>
          </a:xfrm>
          <a:prstGeom prst="chevron">
            <a:avLst/>
          </a:prstGeom>
          <a:solidFill>
            <a:srgbClr val="1F6459"/>
          </a:solidFill>
          <a:ln/>
        </p:spPr>
      </p:sp>
      <p:sp>
        <p:nvSpPr>
          <p:cNvPr id="9" name="Text 7"/>
          <p:cNvSpPr/>
          <p:nvPr/>
        </p:nvSpPr>
        <p:spPr>
          <a:xfrm>
            <a:off x="617220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Build</a:t>
            </a:r>
            <a:endParaRPr lang="en-US" sz="950" dirty="0"/>
          </a:p>
        </p:txBody>
      </p:sp>
      <p:sp>
        <p:nvSpPr>
          <p:cNvPr id="10" name="Shape 8"/>
          <p:cNvSpPr/>
          <p:nvPr/>
        </p:nvSpPr>
        <p:spPr>
          <a:xfrm>
            <a:off x="8915400" y="2103120"/>
            <a:ext cx="2697480" cy="566928"/>
          </a:xfrm>
          <a:prstGeom prst="chevron">
            <a:avLst/>
          </a:prstGeom>
          <a:solidFill>
            <a:srgbClr val="1F6459"/>
          </a:solidFill>
          <a:ln/>
        </p:spPr>
      </p:sp>
      <p:sp>
        <p:nvSpPr>
          <p:cNvPr id="11" name="Text 9"/>
          <p:cNvSpPr/>
          <p:nvPr/>
        </p:nvSpPr>
        <p:spPr>
          <a:xfrm>
            <a:off x="896112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UAT &amp; Shadow-Mode</a:t>
            </a:r>
            <a:endParaRPr lang="en-US" sz="950" dirty="0"/>
          </a:p>
        </p:txBody>
      </p:sp>
      <p:sp>
        <p:nvSpPr>
          <p:cNvPr id="12" name="Shape 10"/>
          <p:cNvSpPr/>
          <p:nvPr/>
        </p:nvSpPr>
        <p:spPr>
          <a:xfrm>
            <a:off x="548640" y="2798064"/>
            <a:ext cx="3627120" cy="566928"/>
          </a:xfrm>
          <a:prstGeom prst="chevron">
            <a:avLst/>
          </a:prstGeom>
          <a:solidFill>
            <a:srgbClr val="1F6459"/>
          </a:solidFill>
          <a:ln/>
        </p:spPr>
      </p:sp>
      <p:sp>
        <p:nvSpPr>
          <p:cNvPr id="13" name="Text 11"/>
          <p:cNvSpPr/>
          <p:nvPr/>
        </p:nvSpPr>
        <p:spPr>
          <a:xfrm>
            <a:off x="59436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Production Go-Live</a:t>
            </a:r>
            <a:endParaRPr lang="en-US" sz="950" dirty="0"/>
          </a:p>
        </p:txBody>
      </p:sp>
      <p:sp>
        <p:nvSpPr>
          <p:cNvPr id="14" name="Shape 12"/>
          <p:cNvSpPr/>
          <p:nvPr/>
        </p:nvSpPr>
        <p:spPr>
          <a:xfrm>
            <a:off x="4267200" y="2798064"/>
            <a:ext cx="3627120" cy="566928"/>
          </a:xfrm>
          <a:prstGeom prst="chevron">
            <a:avLst/>
          </a:prstGeom>
          <a:solidFill>
            <a:srgbClr val="1F6459"/>
          </a:solidFill>
          <a:ln/>
        </p:spPr>
      </p:sp>
      <p:sp>
        <p:nvSpPr>
          <p:cNvPr id="15" name="Text 13"/>
          <p:cNvSpPr/>
          <p:nvPr/>
        </p:nvSpPr>
        <p:spPr>
          <a:xfrm>
            <a:off x="431292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Exception Tuning</a:t>
            </a:r>
            <a:endParaRPr lang="en-US" sz="950" dirty="0"/>
          </a:p>
        </p:txBody>
      </p:sp>
      <p:sp>
        <p:nvSpPr>
          <p:cNvPr id="16" name="Shape 14"/>
          <p:cNvSpPr/>
          <p:nvPr/>
        </p:nvSpPr>
        <p:spPr>
          <a:xfrm>
            <a:off x="7985760" y="2798064"/>
            <a:ext cx="3627120" cy="566928"/>
          </a:xfrm>
          <a:prstGeom prst="chevron">
            <a:avLst/>
          </a:prstGeom>
          <a:solidFill>
            <a:srgbClr val="1F6459"/>
          </a:solidFill>
          <a:ln/>
        </p:spPr>
      </p:sp>
      <p:sp>
        <p:nvSpPr>
          <p:cNvPr id="17" name="Text 15"/>
          <p:cNvSpPr/>
          <p:nvPr/>
        </p:nvSpPr>
        <p:spPr>
          <a:xfrm>
            <a:off x="803148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 CoE Handover</a:t>
            </a:r>
            <a:endParaRPr lang="en-US" sz="950" dirty="0"/>
          </a:p>
        </p:txBody>
      </p:sp>
      <p:sp>
        <p:nvSpPr>
          <p:cNvPr id="18" name="Text 16"/>
          <p:cNvSpPr/>
          <p:nvPr/>
        </p:nvSpPr>
        <p:spPr>
          <a:xfrm>
            <a:off x="548640" y="5212080"/>
            <a:ext cx="11064240" cy="731520"/>
          </a:xfrm>
          <a:prstGeom prst="rect">
            <a:avLst/>
          </a:prstGeom>
          <a:noFill/>
          <a:ln/>
        </p:spPr>
        <p:txBody>
          <a:bodyPr wrap="square" rtlCol="0" anchor="ctr"/>
          <a:lstStyle/>
          <a:p>
            <a:pPr indent="0" marL="0">
              <a:lnSpc>
                <a:spcPct val="125000"/>
              </a:lnSpc>
              <a:buNone/>
            </a:pPr>
            <a:r>
              <a:rPr lang="en-US" sz="1250" i="1" dirty="0">
                <a:solidFill>
                  <a:srgbClr val="5C6D68"/>
                </a:solidFill>
                <a:latin typeface="Calibri" pitchFamily="34" charset="0"/>
                <a:ea typeface="Calibri" pitchFamily="34" charset="-122"/>
                <a:cs typeface="Calibri" pitchFamily="34" charset="-120"/>
              </a:rPr>
              <a:t>Total program length: 19 weeks (guide numbering). Every phase below is walked in detail across the next slides — normal flow first, then six exceptions in full operational detail.</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6459"/>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1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Automation-Opportunity Assessment</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1–4</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Confirms the invoice-matching task is genuinely low-exception and judgment-free — the specific test every automation candidate has to pass before Architecture Design begins.</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1 · AUTOMATION-OPPORTUNITY ASSESSMENT</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Key Moments in This Phase</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Kickoff; Lewin opens at Unfreeze.</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3</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Historical invoice data sampled to confirm low exception rate.</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4</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Opportunity assessment gate closes.</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1 · AUTOMATION-OPPORTUNITY ASSESSMENT</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208115712800000000" dist="78043392300000000" dir="1.1664e+21">
              <a:srgbClr val="1B2E2B">
                <a:alpha val="18000000000000000000"/>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Unfreeze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2.64306955256e+21" dist="991151082210000000000" dir="6.9984e+25">
              <a:srgbClr val="1B2E2B">
                <a:alpha val="1.8e+2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Awareness</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3.3566983317512e+25" dist="1.2587618744067e+25" dir="4.19904e+30">
              <a:srgbClr val="1B2E2B">
                <a:alpha val="1.8e+2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Exploration</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4.2630068813240236e+29" dist="1.598627580496509e+29" dir="2.519424e+35">
              <a:srgbClr val="1B2E2B">
                <a:alpha val="1.7999999999999998e+3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Commitment</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F6459"/>
                </a:solidFill>
                <a:latin typeface="Calibri" pitchFamily="34" charset="0"/>
                <a:ea typeface="Calibri" pitchFamily="34" charset="-122"/>
                <a:cs typeface="Calibri" pitchFamily="34" charset="-120"/>
              </a:rPr>
              <a:t>Exception-rate sampling: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Confirm the task is genuinely low-judgment before committing design effort.</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6459"/>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2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Architecture Design</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4–9</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Designs the bot's architecture against the confirmed opportunity — where a licensing or platform constraint (Exception C5) could realistically surface.</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2 · ARCHITECTURE DESIGN</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Key Moments in This Phase</a:t>
            </a:r>
            <a:endParaRPr lang="en-US" sz="2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5</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Bot architecture drafted against the purchase-order matching logic.</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9</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Architecture design signed off.</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2 · ARCHITECTURE DESIGN</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5.41401873928151e+33" dist="2.0302570272305663e+33" dir="1.5116544e+40">
              <a:srgbClr val="1B2E2B">
                <a:alpha val="1.8e+39"/>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Unfreeze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6.875803798887518e+37" dist="2.578426424582819e+37" dir="9.069926400000001e+44">
              <a:srgbClr val="1B2E2B">
                <a:alpha val="1.8e+4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Knowledge</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8.732270824587148e+41" dist="3.2746015592201804e+41" dir="5.44195584e+49">
              <a:srgbClr val="1B2E2B">
                <a:alpha val="1.8e+4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Exploration</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1.1089983947225678e+46" dist="4.158743980209629e+45" dir="3.2651735040000005e+54">
              <a:srgbClr val="1B2E2B">
                <a:alpha val="1.8e+5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Commitment</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F6459"/>
                </a:solidFill>
                <a:latin typeface="Calibri" pitchFamily="34" charset="0"/>
                <a:ea typeface="Calibri" pitchFamily="34" charset="-122"/>
                <a:cs typeface="Calibri" pitchFamily="34" charset="-120"/>
              </a:rPr>
              <a:t>Bot architecture design against real system constraints: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Design against actual platform/licensing limits, not assumed ones.</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6459"/>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3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Build</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9–12</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Builds the bot against the signed-off architecture — the phase this guide's contingency patterns C1, C4, and C5 all map to.</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3 · BUILD</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Key Moments in This Phase</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10</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Development against the purchase-order matching logic.</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12</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Build gate closes; internal testing confirms exception-handling rules.</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3 · BUILD</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1.408427961297661e+50" dist="5.281604854866228e+49" dir="1.9591041024000004e+59">
              <a:srgbClr val="1B2E2B">
                <a:alpha val="1.8000000000000001e+59"/>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Change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1.7887035108480297e+54" dist="6.70763816568011e+53" dir="1.1754624614400003e+64">
              <a:srgbClr val="1B2E2B">
                <a:alpha val="1.8e+6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Knowledge</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2.2716534587769977e+58" dist="8.518700470413739e+57" dir="7.052774768640002e+68">
              <a:srgbClr val="1B2E2B">
                <a:alpha val="1.8e+6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Exploration</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2.8849998926467873e+62" dist="1.081874959742545e+62" dir="4.2316648611840007e+73">
              <a:srgbClr val="1B2E2B">
                <a:alpha val="1.8000000000000002e+7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Commitment</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F6459"/>
                </a:solidFill>
                <a:latin typeface="Calibri" pitchFamily="34" charset="0"/>
                <a:ea typeface="Calibri" pitchFamily="34" charset="-122"/>
                <a:cs typeface="Calibri" pitchFamily="34" charset="-120"/>
              </a:rPr>
              <a:t>Iterative build against the matching logic: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Build the bot's core matching logic and exception-handling rules together.</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6459"/>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4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UAT &amp; Shadow-Mode</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12–14</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Runs the bot alongside the manual process for two weeks — a real, not simulated, validation before any production dependency.</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4 · UAT &amp; SHADOW-MODE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Key Moments in This Phase</a:t>
            </a:r>
            <a:endParaRPr lang="en-US" sz="2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12</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Shadow-mode begins; bot runs in parallel with the manual process.</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14</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Shadow-mode closes clean; UAT gate passes.</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4 · UAT &amp; SHADOW-MODE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3.66394986366142e+66" dist="1.373981198873032e+66" dir="2.5389989167104004e+78">
              <a:srgbClr val="1B2E2B">
                <a:alpha val="1.8000000000000003e+79"/>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Change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4.653216326850003e+70" dist="1.7449561225687507e+70" dir="1.5233993500262402e+83">
              <a:srgbClr val="1B2E2B">
                <a:alpha val="1.8000000000000004e+8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Knowledge → Ability</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5.909584735099504e+74" dist="2.2160942756623134e+74" dir="9.14039610015744e+87">
              <a:srgbClr val="1B2E2B">
                <a:alpha val="1.8000000000000005e+8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Exploration</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7.50517261357637e+78" dist="2.814439730091138e+78" dir="5.484237660094465e+92">
              <a:srgbClr val="1B2E2B">
                <a:alpha val="1.8000000000000007e+9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Commitment</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F6459"/>
                </a:solidFill>
                <a:latin typeface="Calibri" pitchFamily="34" charset="0"/>
                <a:ea typeface="Calibri" pitchFamily="34" charset="-122"/>
                <a:cs typeface="Calibri" pitchFamily="34" charset="-120"/>
              </a:rPr>
              <a:t>Two-week parallel shadow-mode run: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Validate the bot against real production data with a real fallback still active.</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F6459"/>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5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Production Go-Live</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14–16</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Cuts the manual process over to the bot in production — the shortest go-live window in the scenario library.</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5 · PRODUCTION GO-LIVE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Key Moments in This Phase</a:t>
            </a:r>
            <a:endParaRPr lang="en-US" sz="2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14</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Production go-live.</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16</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Go-live gate closes; stability confirmed.</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5 · PRODUCTION GO-LIVE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9.53156921924199e+82" dist="3.574338457215745e+82" dir="3.2905425960566786e+97">
              <a:srgbClr val="1B2E2B">
                <a:alpha val="1.8000000000000008e+99"/>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Change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1.2105092908437327e+87" dist="4.539409840663996e+86" dir="1.9743255576340073e+102">
              <a:srgbClr val="1B2E2B">
                <a:alpha val="1.800000000000001e+10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Ability</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1.5373467993715405e+91" dist="5.765050497643275e+90" dir="1.1845953345804043e+107">
              <a:srgbClr val="1B2E2B">
                <a:alpha val="1.800000000000001e+10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New Beginning</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1.9524304352018566e+95" dist="7.321614132006959e+94" dir="7.107572007482426e+111">
              <a:srgbClr val="1B2E2B">
                <a:alpha val="1.800000000000001e+11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Commitment</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F6459"/>
                </a:solidFill>
                <a:latin typeface="Calibri" pitchFamily="34" charset="0"/>
                <a:ea typeface="Calibri" pitchFamily="34" charset="-122"/>
                <a:cs typeface="Calibri" pitchFamily="34" charset="-120"/>
              </a:rPr>
              <a:t>Direct production cutover: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Cut over once shadow-mode has already proven the bot clean.</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F6459"/>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6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Exception Tuning</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16–18</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Tunes the bot's exception-handling rules against real production volume, not just the test sample.</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6 · EXCEPTION TUNING</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Key Moments in This Phase</a:t>
            </a:r>
            <a:endParaRPr lang="en-US" sz="2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16</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Real-volume exception patterns reviewed.</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18</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Exception-handling rules finalized and stable.</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6 · EXCEPTION TUNING</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2.4795866527063578e+99" dist="9.298449947648839e+98" dir="4.2645432044894554e+116">
              <a:srgbClr val="1B2E2B">
                <a:alpha val="1.800000000000001e+119"/>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Change → Refreeze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3.149075048937074e+103" dist="1.1809031433514024e+103" dir="2.5587259226936733e+121">
              <a:srgbClr val="1B2E2B">
                <a:alpha val="1.800000000000001e+12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Ability → Reinforcement</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3.9993253121500844e+107" dist="1.499746992056281e+107" dir="1.535235553616204e+126">
              <a:srgbClr val="1B2E2B">
                <a:alpha val="1.800000000000001e+12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New Beginning</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5.079143146430607e+111" dist="1.904678679911477e+111" dir="9.211413321697224e+130">
              <a:srgbClr val="1B2E2B">
                <a:alpha val="1.800000000000001e+13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Commitment</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F6459"/>
                </a:solidFill>
                <a:latin typeface="Calibri" pitchFamily="34" charset="0"/>
                <a:ea typeface="Calibri" pitchFamily="34" charset="-122"/>
                <a:cs typeface="Calibri" pitchFamily="34" charset="-120"/>
              </a:rPr>
              <a:t>Real-volume exception review: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Tune rules against real production volume, which always differs from the test sample.</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F6459"/>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7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CoE Handover</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18–19</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Hands the bot's ongoing monitoring to the Center of Excellence — the handover Exception C6 warns can happen on paper without genuinely transferring.</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7 · COE HANDOVER</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Key Moments in This Phase</a:t>
            </a:r>
            <a:endParaRPr lang="en-US" sz="2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18</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CoE handover package delivered.</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19</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Program closes with zero alerts fired.</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7 · COE HANDOVER</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6.450511795966871e+115" dist="2.418941923487576e+115" dir="5.526847993018334e+135">
              <a:srgbClr val="1B2E2B">
                <a:alpha val="1.800000000000001e+139"/>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Refreeze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8.192149980877925e+119" dist="3.0720562428292216e+119" dir="3.3161087958110005e+140">
              <a:srgbClr val="1B2E2B">
                <a:alpha val="1.800000000000001e+14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Reinforcement</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1.0404030475714965e+124" dist="3.9015114283931116e+123" dir="1.9896652774866004e+145">
              <a:srgbClr val="1B2E2B">
                <a:alpha val="1.8000000000000009e+14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New Beginning</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1.3213118704158005e+128" dist="4.954919514059251e+127" dir="1.1937991664919603e+150">
              <a:srgbClr val="1B2E2B">
                <a:alpha val="1.800000000000001e+15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Commitment</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F6459"/>
                </a:solidFill>
                <a:latin typeface="Calibri" pitchFamily="34" charset="0"/>
                <a:ea typeface="Calibri" pitchFamily="34" charset="-122"/>
                <a:cs typeface="Calibri" pitchFamily="34" charset="-120"/>
              </a:rPr>
              <a:t>Genuine capacity-backed handover: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Ensure ongoing monitoring ownership actually transfers, not just the paperwork.</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4 — MASTER WBS &amp; GANTT</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Every Phase, Across the Four Frameworks</a:t>
            </a:r>
            <a:endParaRPr lang="en-US" sz="2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2834640"/>
                <a:gridCol w="1554480"/>
                <a:gridCol w="1737360"/>
                <a:gridCol w="1737360"/>
                <a:gridCol w="1554480"/>
                <a:gridCol w="164592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Lewin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ADKAR</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Bridges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Kübler-Ross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Automation-Opportunity Assessment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1–4</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Unfreeze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Awareness</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Exploration</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Commitment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Architecture Design</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4–9</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Unfreeze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Knowledge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Exploration</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Commitment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Build</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9–12</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Change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Knowledge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Exploration</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Commitment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UAT &amp; Shadow-Mode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12–14</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Change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Knowledge → Ability</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Exploration</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Commitment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Production Go-Live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14–16</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Change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Ability</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New Beginning</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Commitment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Exception Tuning</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16–18</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Change → Refreeze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Ability → Reinforcement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New Beginning</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Commitment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CoE Handover</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18–19</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Refreeze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Reinforcement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New Beginning</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Commitment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4 — MASTER WBS &amp; GANTT</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Every Phase, Techniques and Tools</a:t>
            </a:r>
            <a:endParaRPr lang="en-US" sz="2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2377440"/>
                <a:gridCol w="1280160"/>
                <a:gridCol w="2377440"/>
                <a:gridCol w="3291840"/>
                <a:gridCol w="182880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Technique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Goal</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Tool</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Automation-Opportunity Assessment</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1–4</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Exception-rate sampling</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Confirm the task is genuinely low-judgment before committing design effort.</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M21 (Field Notes)</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Architecture Design</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4–9</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Bot architecture design against real system constraints</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Design against actual platform/licensing limits, not assumed ones.</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M17 (WBS &amp; Gantt)</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Build</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9–12</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Iterative build against the matching logic</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Build the bot's core matching logic and exception-handling rules together.</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M21 (Field Notes)</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UAT &amp; Shadow-Mode</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12–14</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Two-week parallel shadow-mode run</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Validate the bot against real production data with a real fallback still active.</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M9 (Training)</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Production Go-Live</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14–16</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Direct production cutover</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Cut over once shadow-mode has already proven the bot clean.</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M3 (Initiative Registry)</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Exception Tuning</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16–18</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Real-volume exception review</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Tune rules against real production volume, which always differs from the test sample.</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M14 (Analytics)</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CoE Handover</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18–19</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Genuine capacity-backed handover</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Ensure ongoing monitoring ownership actually transfers, not just the paperwork.</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M12 (Sustainment)</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F6459"/>
        </a:solidFill>
      </p:bgPr>
    </p:bg>
    <p:spTree>
      <p:nvGrpSpPr>
        <p:cNvPr id="1" name=""/>
        <p:cNvGrpSpPr/>
        <p:nvPr/>
      </p:nvGrpSpPr>
      <p:grpSpPr>
        <a:xfrm>
          <a:off x="0" y="0"/>
          <a:ext cx="0" cy="0"/>
          <a:chOff x="0" y="0"/>
          <a:chExt cx="0" cy="0"/>
        </a:xfrm>
      </p:grpSpPr>
      <p:sp>
        <p:nvSpPr>
          <p:cNvPr id="2" name="Text 0"/>
          <p:cNvSpPr/>
          <p:nvPr/>
        </p:nvSpPr>
        <p:spPr>
          <a:xfrm>
            <a:off x="548640" y="2377440"/>
            <a:ext cx="11064240" cy="365760"/>
          </a:xfrm>
          <a:prstGeom prst="rect">
            <a:avLst/>
          </a:prstGeom>
          <a:noFill/>
          <a:ln/>
        </p:spPr>
        <p:txBody>
          <a:bodyPr wrap="square" rtlCol="0" anchor="ctr"/>
          <a:lstStyle/>
          <a:p>
            <a:pPr algn="ctr" indent="0" marL="0">
              <a:buNone/>
            </a:pPr>
            <a:r>
              <a:rPr lang="en-US" sz="1300" b="1" spc="200" kern="0" dirty="0">
                <a:solidFill>
                  <a:srgbClr val="F0F0F0"/>
                </a:solidFill>
                <a:latin typeface="Calibri" pitchFamily="34" charset="0"/>
                <a:ea typeface="Calibri" pitchFamily="34" charset="-122"/>
                <a:cs typeface="Calibri" pitchFamily="34" charset="-120"/>
              </a:rPr>
              <a:t>PART 4 — SIX EXCEPTIONS, IN DETAIL</a:t>
            </a:r>
            <a:endParaRPr lang="en-US" sz="1300" dirty="0"/>
          </a:p>
        </p:txBody>
      </p:sp>
      <p:sp>
        <p:nvSpPr>
          <p:cNvPr id="3" name="Text 1"/>
          <p:cNvSpPr/>
          <p:nvPr/>
        </p:nvSpPr>
        <p:spPr>
          <a:xfrm>
            <a:off x="548640" y="2834640"/>
            <a:ext cx="11064240" cy="91440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Six Realistic Contingencies — None of Which Actually Occurred</a:t>
            </a:r>
            <a:endParaRPr lang="en-US" sz="2600" dirty="0"/>
          </a:p>
        </p:txBody>
      </p:sp>
      <p:sp>
        <p:nvSpPr>
          <p:cNvPr id="4"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5"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C1 · BUILD, WEEKS 9–12</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1900" b="1" dirty="0">
                <a:solidFill>
                  <a:srgbClr val="1F6459"/>
                </a:solidFill>
                <a:latin typeface="Calibri" pitchFamily="34" charset="0"/>
                <a:ea typeface="Calibri" pitchFamily="34" charset="-122"/>
                <a:cs typeface="Calibri" pitchFamily="34" charset="-120"/>
              </a:rPr>
              <a:t>Hidden Exception Volume Underestimated</a:t>
            </a:r>
            <a:endParaRPr lang="en-US" sz="1900" dirty="0"/>
          </a:p>
        </p:txBody>
      </p:sp>
      <p:sp>
        <p:nvSpPr>
          <p:cNvPr id="4" name="Text 2"/>
          <p:cNvSpPr/>
          <p:nvPr/>
        </p:nvSpPr>
        <p:spPr>
          <a:xfrm>
            <a:off x="548640" y="19202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DESCRIPTION</a:t>
            </a:r>
            <a:endParaRPr lang="en-US" sz="1000" dirty="0"/>
          </a:p>
        </p:txBody>
      </p:sp>
      <p:sp>
        <p:nvSpPr>
          <p:cNvPr id="5" name="Text 3"/>
          <p:cNvSpPr/>
          <p:nvPr/>
        </p:nvSpPr>
        <p:spPr>
          <a:xfrm>
            <a:off x="548640" y="2194560"/>
            <a:ext cx="5257800" cy="17373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The Phase 1 suitability assessment concludes the task is low-exception; internal testing then reveals a meaningfully higher real exception rate, because the historical sample under-represented a seasonal invoice pattern.</a:t>
            </a:r>
            <a:endParaRPr lang="en-US" sz="1080" dirty="0"/>
          </a:p>
        </p:txBody>
      </p:sp>
      <p:sp>
        <p:nvSpPr>
          <p:cNvPr id="6" name="Text 4"/>
          <p:cNvSpPr/>
          <p:nvPr/>
        </p:nvSpPr>
        <p:spPr>
          <a:xfrm>
            <a:off x="548640" y="39776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TRIGGER</a:t>
            </a:r>
            <a:endParaRPr lang="en-US" sz="1000" dirty="0"/>
          </a:p>
        </p:txBody>
      </p:sp>
      <p:sp>
        <p:nvSpPr>
          <p:cNvPr id="7" name="Text 5"/>
          <p:cNvSpPr/>
          <p:nvPr/>
        </p:nvSpPr>
        <p:spPr>
          <a:xfrm>
            <a:off x="548640" y="4251960"/>
            <a:ext cx="5257800" cy="8229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Internal test exception rate exceeds the threshold set during architecture design.</a:t>
            </a:r>
            <a:endParaRPr lang="en-US" sz="1080" dirty="0"/>
          </a:p>
        </p:txBody>
      </p:sp>
      <p:sp>
        <p:nvSpPr>
          <p:cNvPr id="8" name="Text 6"/>
          <p:cNvSpPr/>
          <p:nvPr/>
        </p:nvSpPr>
        <p:spPr>
          <a:xfrm>
            <a:off x="6126480" y="192024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TIMELINE IMPACT</a:t>
            </a:r>
            <a:endParaRPr lang="en-US" sz="1000" dirty="0"/>
          </a:p>
        </p:txBody>
      </p:sp>
      <p:sp>
        <p:nvSpPr>
          <p:cNvPr id="9" name="Text 7"/>
          <p:cNvSpPr/>
          <p:nvPr/>
        </p:nvSpPr>
        <p:spPr>
          <a:xfrm>
            <a:off x="6126480" y="2194560"/>
            <a:ext cx="5486400" cy="91440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Would delay the Build gate by one to two weeks, and push shadow-mode from two weeks to three.</a:t>
            </a:r>
            <a:endParaRPr lang="en-US" sz="1080" dirty="0"/>
          </a:p>
        </p:txBody>
      </p:sp>
      <p:sp>
        <p:nvSpPr>
          <p:cNvPr id="10" name="Text 8"/>
          <p:cNvSpPr/>
          <p:nvPr/>
        </p:nvSpPr>
        <p:spPr>
          <a:xfrm>
            <a:off x="6126480" y="320040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RECOVERY TASKS</a:t>
            </a:r>
            <a:endParaRPr lang="en-US" sz="1000" dirty="0"/>
          </a:p>
        </p:txBody>
      </p:sp>
      <p:sp>
        <p:nvSpPr>
          <p:cNvPr id="11" name="Text 9"/>
          <p:cNvSpPr/>
          <p:nvPr/>
        </p:nvSpPr>
        <p:spPr>
          <a:xfrm>
            <a:off x="6126480" y="3474720"/>
            <a:ext cx="5486400" cy="1188720"/>
          </a:xfrm>
          <a:prstGeom prst="rect">
            <a:avLst/>
          </a:prstGeom>
          <a:noFill/>
          <a:ln/>
        </p:spPr>
        <p:txBody>
          <a:bodyPr wrap="square" rtlCol="0" anchor="ctr"/>
          <a:lstStyle/>
          <a:p>
            <a:pPr indent="0" marL="0">
              <a:lnSpc>
                <a:spcPct val="118000"/>
              </a:lnSpc>
              <a:buNone/>
            </a:pPr>
            <a:r>
              <a:rPr lang="en-US" sz="1050" dirty="0">
                <a:solidFill>
                  <a:srgbClr val="16221F"/>
                </a:solidFill>
                <a:latin typeface="Calibri" pitchFamily="34" charset="0"/>
                <a:ea typeface="Calibri" pitchFamily="34" charset="-122"/>
                <a:cs typeface="Calibri" pitchFamily="34" charset="-120"/>
              </a:rPr>
              <a:t>Redesign exception-handling rules for the newly discovered seasonal pattern before declaring Build complete.</a:t>
            </a:r>
            <a:endParaRPr lang="en-US" sz="1050" dirty="0"/>
          </a:p>
        </p:txBody>
      </p:sp>
      <p:sp>
        <p:nvSpPr>
          <p:cNvPr id="12" name="Shape 10"/>
          <p:cNvSpPr/>
          <p:nvPr/>
        </p:nvSpPr>
        <p:spPr>
          <a:xfrm>
            <a:off x="548640" y="5166360"/>
            <a:ext cx="11064240" cy="960120"/>
          </a:xfrm>
          <a:prstGeom prst="roundRect">
            <a:avLst>
              <a:gd name="adj" fmla="val 4762"/>
            </a:avLst>
          </a:prstGeom>
          <a:solidFill>
            <a:srgbClr val="EAF2EF"/>
          </a:solidFill>
          <a:ln/>
        </p:spPr>
      </p:sp>
      <p:sp>
        <p:nvSpPr>
          <p:cNvPr id="13" name="Text 11"/>
          <p:cNvSpPr/>
          <p:nvPr/>
        </p:nvSpPr>
        <p:spPr>
          <a:xfrm>
            <a:off x="777240" y="5285232"/>
            <a:ext cx="10607040" cy="731520"/>
          </a:xfrm>
          <a:prstGeom prst="rect">
            <a:avLst/>
          </a:prstGeom>
          <a:noFill/>
          <a:ln/>
        </p:spPr>
        <p:txBody>
          <a:bodyPr wrap="square" rtlCol="0" anchor="t"/>
          <a:lstStyle/>
          <a:p>
            <a:pPr indent="0" marL="0">
              <a:lnSpc>
                <a:spcPct val="120000"/>
              </a:lnSpc>
              <a:buNone/>
            </a:pPr>
            <a:r>
              <a:rPr lang="en-US" sz="1020" b="1" dirty="0">
                <a:solidFill>
                  <a:srgbClr val="1F6459"/>
                </a:solidFill>
                <a:latin typeface="Calibri" pitchFamily="34" charset="0"/>
                <a:ea typeface="Calibri" pitchFamily="34" charset="-122"/>
                <a:cs typeface="Calibri" pitchFamily="34" charset="-120"/>
              </a:rPr>
              <a:t>OUTPUTS: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An expanded exception-handling rule set; a validated seasonal-pattern test case.   </a:t>
            </a:r>
            <a:pPr indent="0" marL="0">
              <a:lnSpc>
                <a:spcPct val="120000"/>
              </a:lnSpc>
              <a:buNone/>
            </a:pPr>
            <a:r>
              <a:rPr lang="en-US" sz="1020" b="1" dirty="0">
                <a:solidFill>
                  <a:srgbClr val="1F6459"/>
                </a:solidFill>
                <a:latin typeface="Calibri" pitchFamily="34" charset="0"/>
                <a:ea typeface="Calibri" pitchFamily="34" charset="-122"/>
                <a:cs typeface="Calibri" pitchFamily="34" charset="-120"/>
              </a:rPr>
              <a:t>RACSI: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R = PM, ITL · A = CM · C = FPO · S = ES · I = SUP, EU</a:t>
            </a:r>
            <a:endParaRPr lang="en-US" sz="1020" dirty="0"/>
          </a:p>
        </p:txBody>
      </p:sp>
      <p:sp>
        <p:nvSpPr>
          <p:cNvPr id="14"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C2 · UAT &amp; SHADOW-MODE, WEEKS 12–14</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1900" b="1" dirty="0">
                <a:solidFill>
                  <a:srgbClr val="1F6459"/>
                </a:solidFill>
                <a:latin typeface="Calibri" pitchFamily="34" charset="0"/>
                <a:ea typeface="Calibri" pitchFamily="34" charset="-122"/>
                <a:cs typeface="Calibri" pitchFamily="34" charset="-120"/>
              </a:rPr>
              <a:t>Shadow-Mode Discrepancy Traced to a Data Quality Issue, Not the Bot</a:t>
            </a:r>
            <a:endParaRPr lang="en-US" sz="1900" dirty="0"/>
          </a:p>
        </p:txBody>
      </p:sp>
      <p:sp>
        <p:nvSpPr>
          <p:cNvPr id="4" name="Text 2"/>
          <p:cNvSpPr/>
          <p:nvPr/>
        </p:nvSpPr>
        <p:spPr>
          <a:xfrm>
            <a:off x="548640" y="19202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DESCRIPTION</a:t>
            </a:r>
            <a:endParaRPr lang="en-US" sz="1000" dirty="0"/>
          </a:p>
        </p:txBody>
      </p:sp>
      <p:sp>
        <p:nvSpPr>
          <p:cNvPr id="5" name="Text 3"/>
          <p:cNvSpPr/>
          <p:nvPr/>
        </p:nvSpPr>
        <p:spPr>
          <a:xfrm>
            <a:off x="548640" y="2194560"/>
            <a:ext cx="5257800" cy="17373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shadow-mode discrepancy initially looks like a bot logic error; investigation instead finds the discrepancy traces to inconsistent supplier-name formatting in the source system — a data-quality issue the bot correctly flagged.</a:t>
            </a:r>
            <a:endParaRPr lang="en-US" sz="1080" dirty="0"/>
          </a:p>
        </p:txBody>
      </p:sp>
      <p:sp>
        <p:nvSpPr>
          <p:cNvPr id="6" name="Text 4"/>
          <p:cNvSpPr/>
          <p:nvPr/>
        </p:nvSpPr>
        <p:spPr>
          <a:xfrm>
            <a:off x="548640" y="39776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TRIGGER</a:t>
            </a:r>
            <a:endParaRPr lang="en-US" sz="1000" dirty="0"/>
          </a:p>
        </p:txBody>
      </p:sp>
      <p:sp>
        <p:nvSpPr>
          <p:cNvPr id="7" name="Text 5"/>
          <p:cNvSpPr/>
          <p:nvPr/>
        </p:nvSpPr>
        <p:spPr>
          <a:xfrm>
            <a:off x="548640" y="4251960"/>
            <a:ext cx="5257800" cy="8229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shadow-mode discrepancy rate above the expected noise floor.</a:t>
            </a:r>
            <a:endParaRPr lang="en-US" sz="1080" dirty="0"/>
          </a:p>
        </p:txBody>
      </p:sp>
      <p:sp>
        <p:nvSpPr>
          <p:cNvPr id="8" name="Text 6"/>
          <p:cNvSpPr/>
          <p:nvPr/>
        </p:nvSpPr>
        <p:spPr>
          <a:xfrm>
            <a:off x="6126480" y="192024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TIMELINE IMPACT</a:t>
            </a:r>
            <a:endParaRPr lang="en-US" sz="1000" dirty="0"/>
          </a:p>
        </p:txBody>
      </p:sp>
      <p:sp>
        <p:nvSpPr>
          <p:cNvPr id="9" name="Text 7"/>
          <p:cNvSpPr/>
          <p:nvPr/>
        </p:nvSpPr>
        <p:spPr>
          <a:xfrm>
            <a:off x="6126480" y="2194560"/>
            <a:ext cx="5486400" cy="91440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No phase-gate delay if resolved within shadow-mode's existing window.</a:t>
            </a:r>
            <a:endParaRPr lang="en-US" sz="1080" dirty="0"/>
          </a:p>
        </p:txBody>
      </p:sp>
      <p:sp>
        <p:nvSpPr>
          <p:cNvPr id="10" name="Text 8"/>
          <p:cNvSpPr/>
          <p:nvPr/>
        </p:nvSpPr>
        <p:spPr>
          <a:xfrm>
            <a:off x="6126480" y="320040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RECOVERY TASKS</a:t>
            </a:r>
            <a:endParaRPr lang="en-US" sz="1000" dirty="0"/>
          </a:p>
        </p:txBody>
      </p:sp>
      <p:sp>
        <p:nvSpPr>
          <p:cNvPr id="11" name="Text 9"/>
          <p:cNvSpPr/>
          <p:nvPr/>
        </p:nvSpPr>
        <p:spPr>
          <a:xfrm>
            <a:off x="6126480" y="3474720"/>
            <a:ext cx="5486400" cy="1188720"/>
          </a:xfrm>
          <a:prstGeom prst="rect">
            <a:avLst/>
          </a:prstGeom>
          <a:noFill/>
          <a:ln/>
        </p:spPr>
        <p:txBody>
          <a:bodyPr wrap="square" rtlCol="0" anchor="ctr"/>
          <a:lstStyle/>
          <a:p>
            <a:pPr indent="0" marL="0">
              <a:lnSpc>
                <a:spcPct val="118000"/>
              </a:lnSpc>
              <a:buNone/>
            </a:pPr>
            <a:r>
              <a:rPr lang="en-US" sz="1050" dirty="0">
                <a:solidFill>
                  <a:srgbClr val="16221F"/>
                </a:solidFill>
                <a:latin typeface="Calibri" pitchFamily="34" charset="0"/>
                <a:ea typeface="Calibri" pitchFamily="34" charset="-122"/>
                <a:cs typeface="Calibri" pitchFamily="34" charset="-120"/>
              </a:rPr>
              <a:t>Investigate the discrepancy's true source before assuming bot error; correct the upstream data-quality issue.</a:t>
            </a:r>
            <a:endParaRPr lang="en-US" sz="1050" dirty="0"/>
          </a:p>
        </p:txBody>
      </p:sp>
      <p:sp>
        <p:nvSpPr>
          <p:cNvPr id="12" name="Shape 10"/>
          <p:cNvSpPr/>
          <p:nvPr/>
        </p:nvSpPr>
        <p:spPr>
          <a:xfrm>
            <a:off x="548640" y="5166360"/>
            <a:ext cx="11064240" cy="960120"/>
          </a:xfrm>
          <a:prstGeom prst="roundRect">
            <a:avLst>
              <a:gd name="adj" fmla="val 4762"/>
            </a:avLst>
          </a:prstGeom>
          <a:solidFill>
            <a:srgbClr val="EAF2EF"/>
          </a:solidFill>
          <a:ln/>
        </p:spPr>
      </p:sp>
      <p:sp>
        <p:nvSpPr>
          <p:cNvPr id="13" name="Text 11"/>
          <p:cNvSpPr/>
          <p:nvPr/>
        </p:nvSpPr>
        <p:spPr>
          <a:xfrm>
            <a:off x="777240" y="5285232"/>
            <a:ext cx="10607040" cy="731520"/>
          </a:xfrm>
          <a:prstGeom prst="rect">
            <a:avLst/>
          </a:prstGeom>
          <a:noFill/>
          <a:ln/>
        </p:spPr>
        <p:txBody>
          <a:bodyPr wrap="square" rtlCol="0" anchor="t"/>
          <a:lstStyle/>
          <a:p>
            <a:pPr indent="0" marL="0">
              <a:lnSpc>
                <a:spcPct val="120000"/>
              </a:lnSpc>
              <a:buNone/>
            </a:pPr>
            <a:r>
              <a:rPr lang="en-US" sz="1020" b="1" dirty="0">
                <a:solidFill>
                  <a:srgbClr val="1F6459"/>
                </a:solidFill>
                <a:latin typeface="Calibri" pitchFamily="34" charset="0"/>
                <a:ea typeface="Calibri" pitchFamily="34" charset="-122"/>
                <a:cs typeface="Calibri" pitchFamily="34" charset="-120"/>
              </a:rPr>
              <a:t>OUTPUTS: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A confirmed root cause; an unmodified, already-correct bot.   </a:t>
            </a:r>
            <a:pPr indent="0" marL="0">
              <a:lnSpc>
                <a:spcPct val="120000"/>
              </a:lnSpc>
              <a:buNone/>
            </a:pPr>
            <a:r>
              <a:rPr lang="en-US" sz="1020" b="1" dirty="0">
                <a:solidFill>
                  <a:srgbClr val="1F6459"/>
                </a:solidFill>
                <a:latin typeface="Calibri" pitchFamily="34" charset="0"/>
                <a:ea typeface="Calibri" pitchFamily="34" charset="-122"/>
                <a:cs typeface="Calibri" pitchFamily="34" charset="-120"/>
              </a:rPr>
              <a:t>RACSI: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R = ITL · A = CM · C = FPO · S = PM · I = ES, SUP</a:t>
            </a:r>
            <a:endParaRPr lang="en-US" sz="1020" dirty="0"/>
          </a:p>
        </p:txBody>
      </p:sp>
      <p:sp>
        <p:nvSpPr>
          <p:cNvPr id="14"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C3 · ARCHITECTURE DESIGN–UAT, WEEKS 4–14</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1900" b="1" dirty="0">
                <a:solidFill>
                  <a:srgbClr val="1F6459"/>
                </a:solidFill>
                <a:latin typeface="Calibri" pitchFamily="34" charset="0"/>
                <a:ea typeface="Calibri" pitchFamily="34" charset="-122"/>
                <a:cs typeface="Calibri" pitchFamily="34" charset="-120"/>
              </a:rPr>
              <a:t>A Single Vocal Staff Member Resists Despite Overall Buy-In</a:t>
            </a:r>
            <a:endParaRPr lang="en-US" sz="1900" dirty="0"/>
          </a:p>
        </p:txBody>
      </p:sp>
      <p:sp>
        <p:nvSpPr>
          <p:cNvPr id="4" name="Text 2"/>
          <p:cNvSpPr/>
          <p:nvPr/>
        </p:nvSpPr>
        <p:spPr>
          <a:xfrm>
            <a:off x="548640" y="19202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DESCRIPTION</a:t>
            </a:r>
            <a:endParaRPr lang="en-US" sz="1000" dirty="0"/>
          </a:p>
        </p:txBody>
      </p:sp>
      <p:sp>
        <p:nvSpPr>
          <p:cNvPr id="5" name="Text 3"/>
          <p:cNvSpPr/>
          <p:nvPr/>
        </p:nvSpPr>
        <p:spPr>
          <a:xfrm>
            <a:off x="548640" y="2194560"/>
            <a:ext cx="5257800" cy="17373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One of the 18 AP staff — often the person who has done the manual match longest — resists individually, even though the rest of the team and the Sponsor are genuinely supportive.</a:t>
            </a:r>
            <a:endParaRPr lang="en-US" sz="1080" dirty="0"/>
          </a:p>
        </p:txBody>
      </p:sp>
      <p:sp>
        <p:nvSpPr>
          <p:cNvPr id="6" name="Text 4"/>
          <p:cNvSpPr/>
          <p:nvPr/>
        </p:nvSpPr>
        <p:spPr>
          <a:xfrm>
            <a:off x="548640" y="39776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TRIGGER</a:t>
            </a:r>
            <a:endParaRPr lang="en-US" sz="1000" dirty="0"/>
          </a:p>
        </p:txBody>
      </p:sp>
      <p:sp>
        <p:nvSpPr>
          <p:cNvPr id="7" name="Text 5"/>
          <p:cNvSpPr/>
          <p:nvPr/>
        </p:nvSpPr>
        <p:spPr>
          <a:xfrm>
            <a:off x="548640" y="4251960"/>
            <a:ext cx="5257800" cy="8229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single resistance entry from one staff member, with no similar entries from the rest of the cohort.</a:t>
            </a:r>
            <a:endParaRPr lang="en-US" sz="1080" dirty="0"/>
          </a:p>
        </p:txBody>
      </p:sp>
      <p:sp>
        <p:nvSpPr>
          <p:cNvPr id="8" name="Text 6"/>
          <p:cNvSpPr/>
          <p:nvPr/>
        </p:nvSpPr>
        <p:spPr>
          <a:xfrm>
            <a:off x="6126480" y="192024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TIMELINE IMPACT</a:t>
            </a:r>
            <a:endParaRPr lang="en-US" sz="1000" dirty="0"/>
          </a:p>
        </p:txBody>
      </p:sp>
      <p:sp>
        <p:nvSpPr>
          <p:cNvPr id="9" name="Text 7"/>
          <p:cNvSpPr/>
          <p:nvPr/>
        </p:nvSpPr>
        <p:spPr>
          <a:xfrm>
            <a:off x="6126480" y="2194560"/>
            <a:ext cx="5486400" cy="91440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None to the program timeline if handled directly and early.</a:t>
            </a:r>
            <a:endParaRPr lang="en-US" sz="1080" dirty="0"/>
          </a:p>
        </p:txBody>
      </p:sp>
      <p:sp>
        <p:nvSpPr>
          <p:cNvPr id="10" name="Text 8"/>
          <p:cNvSpPr/>
          <p:nvPr/>
        </p:nvSpPr>
        <p:spPr>
          <a:xfrm>
            <a:off x="6126480" y="320040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RECOVERY TASKS</a:t>
            </a:r>
            <a:endParaRPr lang="en-US" sz="1000" dirty="0"/>
          </a:p>
        </p:txBody>
      </p:sp>
      <p:sp>
        <p:nvSpPr>
          <p:cNvPr id="11" name="Text 9"/>
          <p:cNvSpPr/>
          <p:nvPr/>
        </p:nvSpPr>
        <p:spPr>
          <a:xfrm>
            <a:off x="6126480" y="3474720"/>
            <a:ext cx="5486400" cy="1188720"/>
          </a:xfrm>
          <a:prstGeom prst="rect">
            <a:avLst/>
          </a:prstGeom>
          <a:noFill/>
          <a:ln/>
        </p:spPr>
        <p:txBody>
          <a:bodyPr wrap="square" rtlCol="0" anchor="ctr"/>
          <a:lstStyle/>
          <a:p>
            <a:pPr indent="0" marL="0">
              <a:lnSpc>
                <a:spcPct val="118000"/>
              </a:lnSpc>
              <a:buNone/>
            </a:pPr>
            <a:r>
              <a:rPr lang="en-US" sz="1050" dirty="0">
                <a:solidFill>
                  <a:srgbClr val="16221F"/>
                </a:solidFill>
                <a:latin typeface="Calibri" pitchFamily="34" charset="0"/>
                <a:ea typeface="Calibri" pitchFamily="34" charset="-122"/>
                <a:cs typeface="Calibri" pitchFamily="34" charset="-120"/>
              </a:rPr>
              <a:t>Address the individual concern directly and early, before it becomes a Phase 5 go-live morale issue.</a:t>
            </a:r>
            <a:endParaRPr lang="en-US" sz="1050" dirty="0"/>
          </a:p>
        </p:txBody>
      </p:sp>
      <p:sp>
        <p:nvSpPr>
          <p:cNvPr id="12" name="Shape 10"/>
          <p:cNvSpPr/>
          <p:nvPr/>
        </p:nvSpPr>
        <p:spPr>
          <a:xfrm>
            <a:off x="548640" y="5166360"/>
            <a:ext cx="11064240" cy="960120"/>
          </a:xfrm>
          <a:prstGeom prst="roundRect">
            <a:avLst>
              <a:gd name="adj" fmla="val 4762"/>
            </a:avLst>
          </a:prstGeom>
          <a:solidFill>
            <a:srgbClr val="EAF2EF"/>
          </a:solidFill>
          <a:ln/>
        </p:spPr>
      </p:sp>
      <p:sp>
        <p:nvSpPr>
          <p:cNvPr id="13" name="Text 11"/>
          <p:cNvSpPr/>
          <p:nvPr/>
        </p:nvSpPr>
        <p:spPr>
          <a:xfrm>
            <a:off x="777240" y="5285232"/>
            <a:ext cx="10607040" cy="731520"/>
          </a:xfrm>
          <a:prstGeom prst="rect">
            <a:avLst/>
          </a:prstGeom>
          <a:noFill/>
          <a:ln/>
        </p:spPr>
        <p:txBody>
          <a:bodyPr wrap="square" rtlCol="0" anchor="t"/>
          <a:lstStyle/>
          <a:p>
            <a:pPr indent="0" marL="0">
              <a:lnSpc>
                <a:spcPct val="120000"/>
              </a:lnSpc>
              <a:buNone/>
            </a:pPr>
            <a:r>
              <a:rPr lang="en-US" sz="1020" b="1" dirty="0">
                <a:solidFill>
                  <a:srgbClr val="1F6459"/>
                </a:solidFill>
                <a:latin typeface="Calibri" pitchFamily="34" charset="0"/>
                <a:ea typeface="Calibri" pitchFamily="34" charset="-122"/>
                <a:cs typeface="Calibri" pitchFamily="34" charset="-120"/>
              </a:rPr>
              <a:t>OUTPUTS: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A resolved individual concern; no broader team impact.   </a:t>
            </a:r>
            <a:pPr indent="0" marL="0">
              <a:lnSpc>
                <a:spcPct val="120000"/>
              </a:lnSpc>
              <a:buNone/>
            </a:pPr>
            <a:r>
              <a:rPr lang="en-US" sz="1020" b="1" dirty="0">
                <a:solidFill>
                  <a:srgbClr val="1F6459"/>
                </a:solidFill>
                <a:latin typeface="Calibri" pitchFamily="34" charset="0"/>
                <a:ea typeface="Calibri" pitchFamily="34" charset="-122"/>
                <a:cs typeface="Calibri" pitchFamily="34" charset="-120"/>
              </a:rPr>
              <a:t>RACSI: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R = CM, FPO · A = CM · C = ES · S = SUP · I = PM, EU</a:t>
            </a:r>
            <a:endParaRPr lang="en-US" sz="1020" dirty="0"/>
          </a:p>
        </p:txBody>
      </p:sp>
      <p:sp>
        <p:nvSpPr>
          <p:cNvPr id="14"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C4 · BUILD, WEEKS 9–12</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1900" b="1" dirty="0">
                <a:solidFill>
                  <a:srgbClr val="1F6459"/>
                </a:solidFill>
                <a:latin typeface="Calibri" pitchFamily="34" charset="0"/>
                <a:ea typeface="Calibri" pitchFamily="34" charset="-122"/>
                <a:cs typeface="Calibri" pitchFamily="34" charset="-120"/>
              </a:rPr>
              <a:t>IT Change-Freeze Delays Integration</a:t>
            </a:r>
            <a:endParaRPr lang="en-US" sz="1900" dirty="0"/>
          </a:p>
        </p:txBody>
      </p:sp>
      <p:sp>
        <p:nvSpPr>
          <p:cNvPr id="4" name="Text 2"/>
          <p:cNvSpPr/>
          <p:nvPr/>
        </p:nvSpPr>
        <p:spPr>
          <a:xfrm>
            <a:off x="548640" y="19202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DESCRIPTION</a:t>
            </a:r>
            <a:endParaRPr lang="en-US" sz="1000" dirty="0"/>
          </a:p>
        </p:txBody>
      </p:sp>
      <p:sp>
        <p:nvSpPr>
          <p:cNvPr id="5" name="Text 3"/>
          <p:cNvSpPr/>
          <p:nvPr/>
        </p:nvSpPr>
        <p:spPr>
          <a:xfrm>
            <a:off x="548640" y="2194560"/>
            <a:ext cx="5257800" cy="17373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Bouregreg Group's IT function declares a change freeze — commonly tied to a fiscal period close — that blocks the bot's integration work during Build.</a:t>
            </a:r>
            <a:endParaRPr lang="en-US" sz="1080" dirty="0"/>
          </a:p>
        </p:txBody>
      </p:sp>
      <p:sp>
        <p:nvSpPr>
          <p:cNvPr id="6" name="Text 4"/>
          <p:cNvSpPr/>
          <p:nvPr/>
        </p:nvSpPr>
        <p:spPr>
          <a:xfrm>
            <a:off x="548640" y="39776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TRIGGER</a:t>
            </a:r>
            <a:endParaRPr lang="en-US" sz="1000" dirty="0"/>
          </a:p>
        </p:txBody>
      </p:sp>
      <p:sp>
        <p:nvSpPr>
          <p:cNvPr id="7" name="Text 5"/>
          <p:cNvSpPr/>
          <p:nvPr/>
        </p:nvSpPr>
        <p:spPr>
          <a:xfrm>
            <a:off x="548640" y="4251960"/>
            <a:ext cx="5257800" cy="8229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An IT-declared change freeze overlapping Build's planned integration window.</a:t>
            </a:r>
            <a:endParaRPr lang="en-US" sz="1080" dirty="0"/>
          </a:p>
        </p:txBody>
      </p:sp>
      <p:sp>
        <p:nvSpPr>
          <p:cNvPr id="8" name="Text 6"/>
          <p:cNvSpPr/>
          <p:nvPr/>
        </p:nvSpPr>
        <p:spPr>
          <a:xfrm>
            <a:off x="6126480" y="192024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TIMELINE IMPACT</a:t>
            </a:r>
            <a:endParaRPr lang="en-US" sz="1000" dirty="0"/>
          </a:p>
        </p:txBody>
      </p:sp>
      <p:sp>
        <p:nvSpPr>
          <p:cNvPr id="9" name="Text 7"/>
          <p:cNvSpPr/>
          <p:nvPr/>
        </p:nvSpPr>
        <p:spPr>
          <a:xfrm>
            <a:off x="6126480" y="2194560"/>
            <a:ext cx="5486400" cy="91440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direct delay equal to the freeze's duration, typically one to three weeks, pushed straight through to UAT and go-live.</a:t>
            </a:r>
            <a:endParaRPr lang="en-US" sz="1080" dirty="0"/>
          </a:p>
        </p:txBody>
      </p:sp>
      <p:sp>
        <p:nvSpPr>
          <p:cNvPr id="10" name="Text 8"/>
          <p:cNvSpPr/>
          <p:nvPr/>
        </p:nvSpPr>
        <p:spPr>
          <a:xfrm>
            <a:off x="6126480" y="320040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RECOVERY TASKS</a:t>
            </a:r>
            <a:endParaRPr lang="en-US" sz="1000" dirty="0"/>
          </a:p>
        </p:txBody>
      </p:sp>
      <p:sp>
        <p:nvSpPr>
          <p:cNvPr id="11" name="Text 9"/>
          <p:cNvSpPr/>
          <p:nvPr/>
        </p:nvSpPr>
        <p:spPr>
          <a:xfrm>
            <a:off x="6126480" y="3474720"/>
            <a:ext cx="5486400" cy="1188720"/>
          </a:xfrm>
          <a:prstGeom prst="rect">
            <a:avLst/>
          </a:prstGeom>
          <a:noFill/>
          <a:ln/>
        </p:spPr>
        <p:txBody>
          <a:bodyPr wrap="square" rtlCol="0" anchor="ctr"/>
          <a:lstStyle/>
          <a:p>
            <a:pPr indent="0" marL="0">
              <a:lnSpc>
                <a:spcPct val="118000"/>
              </a:lnSpc>
              <a:buNone/>
            </a:pPr>
            <a:r>
              <a:rPr lang="en-US" sz="1050" dirty="0">
                <a:solidFill>
                  <a:srgbClr val="16221F"/>
                </a:solidFill>
                <a:latin typeface="Calibri" pitchFamily="34" charset="0"/>
                <a:ea typeface="Calibri" pitchFamily="34" charset="-122"/>
                <a:cs typeface="Calibri" pitchFamily="34" charset="-120"/>
              </a:rPr>
              <a:t>Plan integration work around known freeze windows where possible; escalate for an exception where the freeze cannot be avoided.</a:t>
            </a:r>
            <a:endParaRPr lang="en-US" sz="1050" dirty="0"/>
          </a:p>
        </p:txBody>
      </p:sp>
      <p:sp>
        <p:nvSpPr>
          <p:cNvPr id="12" name="Shape 10"/>
          <p:cNvSpPr/>
          <p:nvPr/>
        </p:nvSpPr>
        <p:spPr>
          <a:xfrm>
            <a:off x="548640" y="5166360"/>
            <a:ext cx="11064240" cy="960120"/>
          </a:xfrm>
          <a:prstGeom prst="roundRect">
            <a:avLst>
              <a:gd name="adj" fmla="val 4762"/>
            </a:avLst>
          </a:prstGeom>
          <a:solidFill>
            <a:srgbClr val="EAF2EF"/>
          </a:solidFill>
          <a:ln/>
        </p:spPr>
      </p:sp>
      <p:sp>
        <p:nvSpPr>
          <p:cNvPr id="13" name="Text 11"/>
          <p:cNvSpPr/>
          <p:nvPr/>
        </p:nvSpPr>
        <p:spPr>
          <a:xfrm>
            <a:off x="777240" y="5285232"/>
            <a:ext cx="10607040" cy="731520"/>
          </a:xfrm>
          <a:prstGeom prst="rect">
            <a:avLst/>
          </a:prstGeom>
          <a:noFill/>
          <a:ln/>
        </p:spPr>
        <p:txBody>
          <a:bodyPr wrap="square" rtlCol="0" anchor="t"/>
          <a:lstStyle/>
          <a:p>
            <a:pPr indent="0" marL="0">
              <a:lnSpc>
                <a:spcPct val="120000"/>
              </a:lnSpc>
              <a:buNone/>
            </a:pPr>
            <a:r>
              <a:rPr lang="en-US" sz="1020" b="1" dirty="0">
                <a:solidFill>
                  <a:srgbClr val="1F6459"/>
                </a:solidFill>
                <a:latin typeface="Calibri" pitchFamily="34" charset="0"/>
                <a:ea typeface="Calibri" pitchFamily="34" charset="-122"/>
                <a:cs typeface="Calibri" pitchFamily="34" charset="-120"/>
              </a:rPr>
              <a:t>OUTPUTS: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A revised integration schedule; a documented freeze-driven delay.   </a:t>
            </a:r>
            <a:pPr indent="0" marL="0">
              <a:lnSpc>
                <a:spcPct val="120000"/>
              </a:lnSpc>
              <a:buNone/>
            </a:pPr>
            <a:r>
              <a:rPr lang="en-US" sz="1020" b="1" dirty="0">
                <a:solidFill>
                  <a:srgbClr val="1F6459"/>
                </a:solidFill>
                <a:latin typeface="Calibri" pitchFamily="34" charset="0"/>
                <a:ea typeface="Calibri" pitchFamily="34" charset="-122"/>
                <a:cs typeface="Calibri" pitchFamily="34" charset="-120"/>
              </a:rPr>
              <a:t>RACSI: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R = PM, ITL · A = PM · C = CM · S = ES · I = FPO, SUP, EU</a:t>
            </a:r>
            <a:endParaRPr lang="en-US" sz="1020" dirty="0"/>
          </a:p>
        </p:txBody>
      </p:sp>
      <p:sp>
        <p:nvSpPr>
          <p:cNvPr id="14"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C5 · BUILD, WEEKS 9–12</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1900" b="1" dirty="0">
                <a:solidFill>
                  <a:srgbClr val="1F6459"/>
                </a:solidFill>
                <a:latin typeface="Calibri" pitchFamily="34" charset="0"/>
                <a:ea typeface="Calibri" pitchFamily="34" charset="-122"/>
                <a:cs typeface="Calibri" pitchFamily="34" charset="-120"/>
              </a:rPr>
              <a:t>Platform Licensing or Technical Limitation Discovered Mid-Build</a:t>
            </a:r>
            <a:endParaRPr lang="en-US" sz="1900" dirty="0"/>
          </a:p>
        </p:txBody>
      </p:sp>
      <p:sp>
        <p:nvSpPr>
          <p:cNvPr id="4" name="Text 2"/>
          <p:cNvSpPr/>
          <p:nvPr/>
        </p:nvSpPr>
        <p:spPr>
          <a:xfrm>
            <a:off x="548640" y="19202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DESCRIPTION</a:t>
            </a:r>
            <a:endParaRPr lang="en-US" sz="1000" dirty="0"/>
          </a:p>
        </p:txBody>
      </p:sp>
      <p:sp>
        <p:nvSpPr>
          <p:cNvPr id="5" name="Text 3"/>
          <p:cNvSpPr/>
          <p:nvPr/>
        </p:nvSpPr>
        <p:spPr>
          <a:xfrm>
            <a:off x="548640" y="2194560"/>
            <a:ext cx="5257800" cy="17373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The RPA platform's licensing terms or a technical limitation (a rate limit on the legacy system's API) is discovered mid-Build to constrain the bot's design in a way Architecture Design didn't anticipate.</a:t>
            </a:r>
            <a:endParaRPr lang="en-US" sz="1080" dirty="0"/>
          </a:p>
        </p:txBody>
      </p:sp>
      <p:sp>
        <p:nvSpPr>
          <p:cNvPr id="6" name="Text 4"/>
          <p:cNvSpPr/>
          <p:nvPr/>
        </p:nvSpPr>
        <p:spPr>
          <a:xfrm>
            <a:off x="548640" y="39776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TRIGGER</a:t>
            </a:r>
            <a:endParaRPr lang="en-US" sz="1000" dirty="0"/>
          </a:p>
        </p:txBody>
      </p:sp>
      <p:sp>
        <p:nvSpPr>
          <p:cNvPr id="7" name="Text 5"/>
          <p:cNvSpPr/>
          <p:nvPr/>
        </p:nvSpPr>
        <p:spPr>
          <a:xfrm>
            <a:off x="548640" y="4251960"/>
            <a:ext cx="5257800" cy="8229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platform constraint discovered during active development that the signed-off architecture didn't account for.</a:t>
            </a:r>
            <a:endParaRPr lang="en-US" sz="1080" dirty="0"/>
          </a:p>
        </p:txBody>
      </p:sp>
      <p:sp>
        <p:nvSpPr>
          <p:cNvPr id="8" name="Text 6"/>
          <p:cNvSpPr/>
          <p:nvPr/>
        </p:nvSpPr>
        <p:spPr>
          <a:xfrm>
            <a:off x="6126480" y="192024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TIMELINE IMPACT</a:t>
            </a:r>
            <a:endParaRPr lang="en-US" sz="1000" dirty="0"/>
          </a:p>
        </p:txBody>
      </p:sp>
      <p:sp>
        <p:nvSpPr>
          <p:cNvPr id="9" name="Text 7"/>
          <p:cNvSpPr/>
          <p:nvPr/>
        </p:nvSpPr>
        <p:spPr>
          <a:xfrm>
            <a:off x="6126480" y="2194560"/>
            <a:ext cx="5486400" cy="91440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Reopens part of the Architecture Design gate, typically adding one to two weeks.</a:t>
            </a:r>
            <a:endParaRPr lang="en-US" sz="1080" dirty="0"/>
          </a:p>
        </p:txBody>
      </p:sp>
      <p:sp>
        <p:nvSpPr>
          <p:cNvPr id="10" name="Text 8"/>
          <p:cNvSpPr/>
          <p:nvPr/>
        </p:nvSpPr>
        <p:spPr>
          <a:xfrm>
            <a:off x="6126480" y="320040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RECOVERY TASKS</a:t>
            </a:r>
            <a:endParaRPr lang="en-US" sz="1000" dirty="0"/>
          </a:p>
        </p:txBody>
      </p:sp>
      <p:sp>
        <p:nvSpPr>
          <p:cNvPr id="11" name="Text 9"/>
          <p:cNvSpPr/>
          <p:nvPr/>
        </p:nvSpPr>
        <p:spPr>
          <a:xfrm>
            <a:off x="6126480" y="3474720"/>
            <a:ext cx="5486400" cy="1188720"/>
          </a:xfrm>
          <a:prstGeom prst="rect">
            <a:avLst/>
          </a:prstGeom>
          <a:noFill/>
          <a:ln/>
        </p:spPr>
        <p:txBody>
          <a:bodyPr wrap="square" rtlCol="0" anchor="ctr"/>
          <a:lstStyle/>
          <a:p>
            <a:pPr indent="0" marL="0">
              <a:lnSpc>
                <a:spcPct val="118000"/>
              </a:lnSpc>
              <a:buNone/>
            </a:pPr>
            <a:r>
              <a:rPr lang="en-US" sz="1050" dirty="0">
                <a:solidFill>
                  <a:srgbClr val="16221F"/>
                </a:solidFill>
                <a:latin typeface="Calibri" pitchFamily="34" charset="0"/>
                <a:ea typeface="Calibri" pitchFamily="34" charset="-122"/>
                <a:cs typeface="Calibri" pitchFamily="34" charset="-120"/>
              </a:rPr>
              <a:t>Adjust the design within the newly discovered constraint rather than treat it as a blocking failure.</a:t>
            </a:r>
            <a:endParaRPr lang="en-US" sz="1050" dirty="0"/>
          </a:p>
        </p:txBody>
      </p:sp>
      <p:sp>
        <p:nvSpPr>
          <p:cNvPr id="12" name="Shape 10"/>
          <p:cNvSpPr/>
          <p:nvPr/>
        </p:nvSpPr>
        <p:spPr>
          <a:xfrm>
            <a:off x="548640" y="5166360"/>
            <a:ext cx="11064240" cy="960120"/>
          </a:xfrm>
          <a:prstGeom prst="roundRect">
            <a:avLst>
              <a:gd name="adj" fmla="val 4762"/>
            </a:avLst>
          </a:prstGeom>
          <a:solidFill>
            <a:srgbClr val="EAF2EF"/>
          </a:solidFill>
          <a:ln/>
        </p:spPr>
      </p:sp>
      <p:sp>
        <p:nvSpPr>
          <p:cNvPr id="13" name="Text 11"/>
          <p:cNvSpPr/>
          <p:nvPr/>
        </p:nvSpPr>
        <p:spPr>
          <a:xfrm>
            <a:off x="777240" y="5285232"/>
            <a:ext cx="10607040" cy="731520"/>
          </a:xfrm>
          <a:prstGeom prst="rect">
            <a:avLst/>
          </a:prstGeom>
          <a:noFill/>
          <a:ln/>
        </p:spPr>
        <p:txBody>
          <a:bodyPr wrap="square" rtlCol="0" anchor="t"/>
          <a:lstStyle/>
          <a:p>
            <a:pPr indent="0" marL="0">
              <a:lnSpc>
                <a:spcPct val="120000"/>
              </a:lnSpc>
              <a:buNone/>
            </a:pPr>
            <a:r>
              <a:rPr lang="en-US" sz="1020" b="1" dirty="0">
                <a:solidFill>
                  <a:srgbClr val="1F6459"/>
                </a:solidFill>
                <a:latin typeface="Calibri" pitchFamily="34" charset="0"/>
                <a:ea typeface="Calibri" pitchFamily="34" charset="-122"/>
                <a:cs typeface="Calibri" pitchFamily="34" charset="-120"/>
              </a:rPr>
              <a:t>OUTPUTS: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A revised architecture; a documented platform constraint for future automation projects.   </a:t>
            </a:r>
            <a:pPr indent="0" marL="0">
              <a:lnSpc>
                <a:spcPct val="120000"/>
              </a:lnSpc>
              <a:buNone/>
            </a:pPr>
            <a:r>
              <a:rPr lang="en-US" sz="1020" b="1" dirty="0">
                <a:solidFill>
                  <a:srgbClr val="1F6459"/>
                </a:solidFill>
                <a:latin typeface="Calibri" pitchFamily="34" charset="0"/>
                <a:ea typeface="Calibri" pitchFamily="34" charset="-122"/>
                <a:cs typeface="Calibri" pitchFamily="34" charset="-120"/>
              </a:rPr>
              <a:t>RACSI: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R = ITL · A = PM · C = CM · S = FPO · I = ES, SUP, EU</a:t>
            </a:r>
            <a:endParaRPr lang="en-US" sz="1020" dirty="0"/>
          </a:p>
        </p:txBody>
      </p:sp>
      <p:sp>
        <p:nvSpPr>
          <p:cNvPr id="14"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C6 · COE HANDOVER, WEEKS 18–19</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1900" b="1" dirty="0">
                <a:solidFill>
                  <a:srgbClr val="1F6459"/>
                </a:solidFill>
                <a:latin typeface="Calibri" pitchFamily="34" charset="0"/>
                <a:ea typeface="Calibri" pitchFamily="34" charset="-122"/>
                <a:cs typeface="Calibri" pitchFamily="34" charset="-120"/>
              </a:rPr>
              <a:t>Post-Go-Live Complacency: CoE Ownership Never Really Transfers</a:t>
            </a:r>
            <a:endParaRPr lang="en-US" sz="1900" dirty="0"/>
          </a:p>
        </p:txBody>
      </p:sp>
      <p:sp>
        <p:nvSpPr>
          <p:cNvPr id="4" name="Text 2"/>
          <p:cNvSpPr/>
          <p:nvPr/>
        </p:nvSpPr>
        <p:spPr>
          <a:xfrm>
            <a:off x="548640" y="19202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DESCRIPTION</a:t>
            </a:r>
            <a:endParaRPr lang="en-US" sz="1000" dirty="0"/>
          </a:p>
        </p:txBody>
      </p:sp>
      <p:sp>
        <p:nvSpPr>
          <p:cNvPr id="5" name="Text 3"/>
          <p:cNvSpPr/>
          <p:nvPr/>
        </p:nvSpPr>
        <p:spPr>
          <a:xfrm>
            <a:off x="548640" y="2194560"/>
            <a:ext cx="5257800" cy="17373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The Center of Excellence handover happens on paper — the package delivered, sign-off toggled — but day-to-day monitoring quietly stays with Yassine Kabbaj rather than genuinely transferring, because the CoE was never given real capacity for it.</a:t>
            </a:r>
            <a:endParaRPr lang="en-US" sz="1080" dirty="0"/>
          </a:p>
        </p:txBody>
      </p:sp>
      <p:sp>
        <p:nvSpPr>
          <p:cNvPr id="6" name="Text 4"/>
          <p:cNvSpPr/>
          <p:nvPr/>
        </p:nvSpPr>
        <p:spPr>
          <a:xfrm>
            <a:off x="548640" y="39776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TRIGGER</a:t>
            </a:r>
            <a:endParaRPr lang="en-US" sz="1000" dirty="0"/>
          </a:p>
        </p:txBody>
      </p:sp>
      <p:sp>
        <p:nvSpPr>
          <p:cNvPr id="7" name="Text 5"/>
          <p:cNvSpPr/>
          <p:nvPr/>
        </p:nvSpPr>
        <p:spPr>
          <a:xfrm>
            <a:off x="548640" y="4251960"/>
            <a:ext cx="5257800" cy="8229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sustainment checkpoint (M12) shows the named CoE owner has logged no monitoring activity since handover.</a:t>
            </a:r>
            <a:endParaRPr lang="en-US" sz="1080" dirty="0"/>
          </a:p>
        </p:txBody>
      </p:sp>
      <p:sp>
        <p:nvSpPr>
          <p:cNvPr id="8" name="Text 6"/>
          <p:cNvSpPr/>
          <p:nvPr/>
        </p:nvSpPr>
        <p:spPr>
          <a:xfrm>
            <a:off x="6126480" y="192024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TIMELINE IMPACT</a:t>
            </a:r>
            <a:endParaRPr lang="en-US" sz="1000" dirty="0"/>
          </a:p>
        </p:txBody>
      </p:sp>
      <p:sp>
        <p:nvSpPr>
          <p:cNvPr id="9" name="Text 7"/>
          <p:cNvSpPr/>
          <p:nvPr/>
        </p:nvSpPr>
        <p:spPr>
          <a:xfrm>
            <a:off x="6126480" y="2194560"/>
            <a:ext cx="5486400" cy="91440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No impact to this program's own 19-week timeline, since it manifests after formal close.</a:t>
            </a:r>
            <a:endParaRPr lang="en-US" sz="1080" dirty="0"/>
          </a:p>
        </p:txBody>
      </p:sp>
      <p:sp>
        <p:nvSpPr>
          <p:cNvPr id="10" name="Text 8"/>
          <p:cNvSpPr/>
          <p:nvPr/>
        </p:nvSpPr>
        <p:spPr>
          <a:xfrm>
            <a:off x="6126480" y="320040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RECOVERY TASKS</a:t>
            </a:r>
            <a:endParaRPr lang="en-US" sz="1000" dirty="0"/>
          </a:p>
        </p:txBody>
      </p:sp>
      <p:sp>
        <p:nvSpPr>
          <p:cNvPr id="11" name="Text 9"/>
          <p:cNvSpPr/>
          <p:nvPr/>
        </p:nvSpPr>
        <p:spPr>
          <a:xfrm>
            <a:off x="6126480" y="3474720"/>
            <a:ext cx="5486400" cy="1188720"/>
          </a:xfrm>
          <a:prstGeom prst="rect">
            <a:avLst/>
          </a:prstGeom>
          <a:noFill/>
          <a:ln/>
        </p:spPr>
        <p:txBody>
          <a:bodyPr wrap="square" rtlCol="0" anchor="ctr"/>
          <a:lstStyle/>
          <a:p>
            <a:pPr indent="0" marL="0">
              <a:lnSpc>
                <a:spcPct val="118000"/>
              </a:lnSpc>
              <a:buNone/>
            </a:pPr>
            <a:r>
              <a:rPr lang="en-US" sz="1050" dirty="0">
                <a:solidFill>
                  <a:srgbClr val="16221F"/>
                </a:solidFill>
                <a:latin typeface="Calibri" pitchFamily="34" charset="0"/>
                <a:ea typeface="Calibri" pitchFamily="34" charset="-122"/>
                <a:cs typeface="Calibri" pitchFamily="34" charset="-120"/>
              </a:rPr>
              <a:t>A post-handover checkpoint specifically verifying logged monitoring activity, not just a signed handover document.</a:t>
            </a:r>
            <a:endParaRPr lang="en-US" sz="1050" dirty="0"/>
          </a:p>
        </p:txBody>
      </p:sp>
      <p:sp>
        <p:nvSpPr>
          <p:cNvPr id="12" name="Shape 10"/>
          <p:cNvSpPr/>
          <p:nvPr/>
        </p:nvSpPr>
        <p:spPr>
          <a:xfrm>
            <a:off x="548640" y="5166360"/>
            <a:ext cx="11064240" cy="960120"/>
          </a:xfrm>
          <a:prstGeom prst="roundRect">
            <a:avLst>
              <a:gd name="adj" fmla="val 4762"/>
            </a:avLst>
          </a:prstGeom>
          <a:solidFill>
            <a:srgbClr val="EAF2EF"/>
          </a:solidFill>
          <a:ln/>
        </p:spPr>
      </p:sp>
      <p:sp>
        <p:nvSpPr>
          <p:cNvPr id="13" name="Text 11"/>
          <p:cNvSpPr/>
          <p:nvPr/>
        </p:nvSpPr>
        <p:spPr>
          <a:xfrm>
            <a:off x="777240" y="5285232"/>
            <a:ext cx="10607040" cy="731520"/>
          </a:xfrm>
          <a:prstGeom prst="rect">
            <a:avLst/>
          </a:prstGeom>
          <a:noFill/>
          <a:ln/>
        </p:spPr>
        <p:txBody>
          <a:bodyPr wrap="square" rtlCol="0" anchor="t"/>
          <a:lstStyle/>
          <a:p>
            <a:pPr indent="0" marL="0">
              <a:lnSpc>
                <a:spcPct val="120000"/>
              </a:lnSpc>
              <a:buNone/>
            </a:pPr>
            <a:r>
              <a:rPr lang="en-US" sz="1020" b="1" dirty="0">
                <a:solidFill>
                  <a:srgbClr val="1F6459"/>
                </a:solidFill>
                <a:latin typeface="Calibri" pitchFamily="34" charset="0"/>
                <a:ea typeface="Calibri" pitchFamily="34" charset="-122"/>
                <a:cs typeface="Calibri" pitchFamily="34" charset="-120"/>
              </a:rPr>
              <a:t>OUTPUTS: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A verified, capacity-backed CoE handover; an early catch of any silent non-transfer.   </a:t>
            </a:r>
            <a:pPr indent="0" marL="0">
              <a:lnSpc>
                <a:spcPct val="120000"/>
              </a:lnSpc>
              <a:buNone/>
            </a:pPr>
            <a:r>
              <a:rPr lang="en-US" sz="1020" b="1" dirty="0">
                <a:solidFill>
                  <a:srgbClr val="1F6459"/>
                </a:solidFill>
                <a:latin typeface="Calibri" pitchFamily="34" charset="0"/>
                <a:ea typeface="Calibri" pitchFamily="34" charset="-122"/>
                <a:cs typeface="Calibri" pitchFamily="34" charset="-120"/>
              </a:rPr>
              <a:t>RACSI: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R = FPO · A = ES · C = PM, ITL · S = CM · I = SUP, EU</a:t>
            </a:r>
            <a:endParaRPr lang="en-US" sz="1020" dirty="0"/>
          </a:p>
        </p:txBody>
      </p:sp>
      <p:sp>
        <p:nvSpPr>
          <p:cNvPr id="14"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5 — TRAINING PROGRAM</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What This Training Covers</a:t>
            </a:r>
            <a:endParaRPr lang="en-US" sz="2400" dirty="0"/>
          </a:p>
        </p:txBody>
      </p:sp>
      <p:sp>
        <p:nvSpPr>
          <p:cNvPr id="4" name="Shape 2"/>
          <p:cNvSpPr/>
          <p:nvPr/>
        </p:nvSpPr>
        <p:spPr>
          <a:xfrm>
            <a:off x="548640" y="2011680"/>
            <a:ext cx="11064240" cy="2926080"/>
          </a:xfrm>
          <a:prstGeom prst="roundRect">
            <a:avLst>
              <a:gd name="adj" fmla="val 1563"/>
            </a:avLst>
          </a:prstGeom>
          <a:solidFill>
            <a:srgbClr val="EAF2EF"/>
          </a:solidFill>
          <a:ln/>
        </p:spPr>
      </p:sp>
      <p:sp>
        <p:nvSpPr>
          <p:cNvPr id="5" name="Text 3"/>
          <p:cNvSpPr/>
          <p:nvPr/>
        </p:nvSpPr>
        <p:spPr>
          <a:xfrm>
            <a:off x="822960" y="2286000"/>
            <a:ext cx="10515600" cy="2377440"/>
          </a:xfrm>
          <a:prstGeom prst="rect">
            <a:avLst/>
          </a:prstGeom>
          <a:noFill/>
          <a:ln/>
        </p:spPr>
        <p:txBody>
          <a:bodyPr wrap="square" rtlCol="0" anchor="ctr"/>
          <a:lstStyle/>
          <a:p>
            <a:pPr indent="0" marL="0">
              <a:lnSpc>
                <a:spcPct val="135000"/>
              </a:lnSpc>
              <a:buNone/>
            </a:pPr>
            <a:r>
              <a:rPr lang="en-US" sz="1450" dirty="0">
                <a:solidFill>
                  <a:srgbClr val="16221F"/>
                </a:solidFill>
                <a:latin typeface="Calibri" pitchFamily="34" charset="0"/>
                <a:ea typeface="Calibri" pitchFamily="34" charset="-122"/>
                <a:cs typeface="Calibri" pitchFamily="34" charset="-120"/>
              </a:rPr>
              <a:t>Per the E2E-BPA chain, MP-05 is present but light-touch — this archetype's training focuses on operating alongside the bot and handling its flagged exceptions, not persuasion for an already-bought-in team.</a:t>
            </a:r>
            <a:endParaRPr lang="en-US" sz="1450" dirty="0"/>
          </a:p>
        </p:txBody>
      </p:sp>
      <p:sp>
        <p:nvSpPr>
          <p:cNvPr id="6" name="Text 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5 · TIER 1 OF 3</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300" b="1" dirty="0">
                <a:solidFill>
                  <a:srgbClr val="1F6459"/>
                </a:solidFill>
                <a:latin typeface="Calibri" pitchFamily="34" charset="0"/>
                <a:ea typeface="Calibri" pitchFamily="34" charset="-122"/>
                <a:cs typeface="Calibri" pitchFamily="34" charset="-120"/>
              </a:rPr>
              <a:t>Strategic Management</a:t>
            </a:r>
            <a:endParaRPr lang="en-US" sz="2300" dirty="0"/>
          </a:p>
        </p:txBody>
      </p:sp>
      <p:sp>
        <p:nvSpPr>
          <p:cNvPr id="4" name="Text 2"/>
          <p:cNvSpPr/>
          <p:nvPr/>
        </p:nvSpPr>
        <p:spPr>
          <a:xfrm>
            <a:off x="548640" y="1417320"/>
            <a:ext cx="11064240" cy="50292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Cohort: Hakim Berrada (Sponsor)  ·  Weeks 1–3</a:t>
            </a:r>
            <a:endParaRPr lang="en-US" sz="1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64240" cy="914400"/>
        </p:xfrm>
        <a:graphic>
          <a:graphicData uri="http://schemas.openxmlformats.org/drawingml/2006/table">
            <a:tbl>
              <a:tblPr/>
              <a:tblGrid>
                <a:gridCol w="4114800"/>
                <a:gridCol w="6949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Curriculum Entry</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Content Focus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Sponsoring a Low-Risk Automation Project</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Why visible sponsorship still matters even when the team is already bought in.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Reading a Clean Program's Own Data</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How to confirm a clean record honestly, without assuming it will simply continue.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5 · TIER 2 OF 3</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300" b="1" dirty="0">
                <a:solidFill>
                  <a:srgbClr val="1F6459"/>
                </a:solidFill>
                <a:latin typeface="Calibri" pitchFamily="34" charset="0"/>
                <a:ea typeface="Calibri" pitchFamily="34" charset="-122"/>
                <a:cs typeface="Calibri" pitchFamily="34" charset="-120"/>
              </a:rPr>
              <a:t>Operational Management</a:t>
            </a:r>
            <a:endParaRPr lang="en-US" sz="2300" dirty="0"/>
          </a:p>
        </p:txBody>
      </p:sp>
      <p:sp>
        <p:nvSpPr>
          <p:cNvPr id="4" name="Text 2"/>
          <p:cNvSpPr/>
          <p:nvPr/>
        </p:nvSpPr>
        <p:spPr>
          <a:xfrm>
            <a:off x="548640" y="1417320"/>
            <a:ext cx="11064240" cy="50292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Cohort: Nawal Fassi (FPO/SUP), Amine Sqalli (PM)  ·  Weeks 3–6</a:t>
            </a:r>
            <a:endParaRPr lang="en-US" sz="1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64240" cy="914400"/>
        </p:xfrm>
        <a:graphic>
          <a:graphicData uri="http://schemas.openxmlformats.org/drawingml/2006/table">
            <a:tbl>
              <a:tblPr/>
              <a:tblGrid>
                <a:gridCol w="4114800"/>
                <a:gridCol w="6949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Curriculum Entry</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Content Focus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Operating the Bot's Exception Queue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Handling the specific invoice-matching exceptions the bot flags rather than auto-resolves.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Shadow-Mode Validation Procedure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How to compare bot output against the manual process during the two-week parallel run.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5 · TIER 3 OF 3</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300" b="1" dirty="0">
                <a:solidFill>
                  <a:srgbClr val="1F6459"/>
                </a:solidFill>
                <a:latin typeface="Calibri" pitchFamily="34" charset="0"/>
                <a:ea typeface="Calibri" pitchFamily="34" charset="-122"/>
                <a:cs typeface="Calibri" pitchFamily="34" charset="-120"/>
              </a:rPr>
              <a:t>Operations (Frontline)</a:t>
            </a:r>
            <a:endParaRPr lang="en-US" sz="2300" dirty="0"/>
          </a:p>
        </p:txBody>
      </p:sp>
      <p:sp>
        <p:nvSpPr>
          <p:cNvPr id="4" name="Text 2"/>
          <p:cNvSpPr/>
          <p:nvPr/>
        </p:nvSpPr>
        <p:spPr>
          <a:xfrm>
            <a:off x="548640" y="1417320"/>
            <a:ext cx="11064240" cy="50292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Cohort: All 18 Kenitra AP staff  ·  Weeks 5–13</a:t>
            </a:r>
            <a:endParaRPr lang="en-US" sz="1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64240" cy="914400"/>
        </p:xfrm>
        <a:graphic>
          <a:graphicData uri="http://schemas.openxmlformats.org/drawingml/2006/table">
            <a:tbl>
              <a:tblPr/>
              <a:tblGrid>
                <a:gridCol w="4114800"/>
                <a:gridCol w="6949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Curriculum Entry</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Content Focus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F6459"/>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Working Alongside the Automated Match</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What changes and what stays the same in daily AP work once the bot is live.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Escalating a Flagged Exception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The specific steps for routing a bot-flagged invoice back to a human reviewer.</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5 — TRAINING PROGRAM</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Why This Curriculum Is Shaped This Way</a:t>
            </a:r>
            <a:endParaRPr lang="en-US" sz="2200" dirty="0"/>
          </a:p>
        </p:txBody>
      </p:sp>
      <p:sp>
        <p:nvSpPr>
          <p:cNvPr id="4" name="Shape 2"/>
          <p:cNvSpPr/>
          <p:nvPr/>
        </p:nvSpPr>
        <p:spPr>
          <a:xfrm>
            <a:off x="548640" y="2011680"/>
            <a:ext cx="11064240" cy="2926080"/>
          </a:xfrm>
          <a:prstGeom prst="roundRect">
            <a:avLst>
              <a:gd name="adj" fmla="val 1563"/>
            </a:avLst>
          </a:prstGeom>
          <a:solidFill>
            <a:srgbClr val="FFFFFF"/>
          </a:solidFill>
          <a:ln/>
          <a:effectLst>
            <a:outerShdw sx="100000" sy="100000" kx="0" ky="0" algn="bl" rotWithShape="0" blurRad="1.6780660754280665e+132" dist="6.2927477828552495e+131" dir="7.162794998951762e+154">
              <a:srgbClr val="1B2E2B">
                <a:alpha val="1.800000000000001e+159"/>
              </a:srgbClr>
            </a:outerShdw>
          </a:effectLst>
        </p:spPr>
      </p:sp>
      <p:sp>
        <p:nvSpPr>
          <p:cNvPr id="5" name="Text 3"/>
          <p:cNvSpPr/>
          <p:nvPr/>
        </p:nvSpPr>
        <p:spPr>
          <a:xfrm>
            <a:off x="822960" y="2286000"/>
            <a:ext cx="10515600" cy="2377440"/>
          </a:xfrm>
          <a:prstGeom prst="rect">
            <a:avLst/>
          </a:prstGeom>
          <a:noFill/>
          <a:ln/>
        </p:spPr>
        <p:txBody>
          <a:bodyPr wrap="square" rtlCol="0" anchor="ctr"/>
          <a:lstStyle/>
          <a:p>
            <a:pPr indent="0" marL="0">
              <a:lnSpc>
                <a:spcPct val="135000"/>
              </a:lnSpc>
              <a:buNone/>
            </a:pPr>
            <a:r>
              <a:rPr lang="en-US" sz="1400" i="1" dirty="0">
                <a:solidFill>
                  <a:srgbClr val="16221F"/>
                </a:solidFill>
                <a:latin typeface="Calibri" pitchFamily="34" charset="0"/>
                <a:ea typeface="Calibri" pitchFamily="34" charset="-122"/>
                <a:cs typeface="Calibri" pitchFamily="34" charset="-120"/>
              </a:rPr>
              <a:t>This program's training curriculum is deliberately the lightest in the series — proof that not every automation needs an elaborate change program when the scope is narrow and the team is already on board.</a:t>
            </a:r>
            <a:endParaRPr lang="en-US" sz="1400" dirty="0"/>
          </a:p>
        </p:txBody>
      </p:sp>
      <p:sp>
        <p:nvSpPr>
          <p:cNvPr id="6" name="Text 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CROSS-REFERENCE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F6459"/>
                </a:solidFill>
                <a:latin typeface="Calibri" pitchFamily="34" charset="0"/>
                <a:ea typeface="Calibri" pitchFamily="34" charset="-122"/>
                <a:cs typeface="Calibri" pitchFamily="34" charset="-120"/>
              </a:rPr>
              <a:t>Which journi Modules Dominate This Archetype</a:t>
            </a:r>
            <a:endParaRPr lang="en-US" sz="2200" dirty="0"/>
          </a:p>
        </p:txBody>
      </p:sp>
      <p:sp>
        <p:nvSpPr>
          <p:cNvPr id="4" name="Shape 2"/>
          <p:cNvSpPr/>
          <p:nvPr/>
        </p:nvSpPr>
        <p:spPr>
          <a:xfrm>
            <a:off x="548640" y="2057400"/>
            <a:ext cx="11064240" cy="713232"/>
          </a:xfrm>
          <a:prstGeom prst="roundRect">
            <a:avLst>
              <a:gd name="adj" fmla="val 6410"/>
            </a:avLst>
          </a:prstGeom>
          <a:solidFill>
            <a:srgbClr val="EAF2EF"/>
          </a:solidFill>
          <a:ln/>
        </p:spPr>
      </p:sp>
      <p:sp>
        <p:nvSpPr>
          <p:cNvPr id="5" name="Text 3"/>
          <p:cNvSpPr/>
          <p:nvPr/>
        </p:nvSpPr>
        <p:spPr>
          <a:xfrm>
            <a:off x="777240" y="2130552"/>
            <a:ext cx="3017520" cy="566928"/>
          </a:xfrm>
          <a:prstGeom prst="rect">
            <a:avLst/>
          </a:prstGeom>
          <a:noFill/>
          <a:ln/>
        </p:spPr>
        <p:txBody>
          <a:bodyPr wrap="square" rtlCol="0" anchor="ctr"/>
          <a:lstStyle/>
          <a:p>
            <a:pPr indent="0" marL="0">
              <a:lnSpc>
                <a:spcPct val="110000"/>
              </a:lnSpc>
              <a:buNone/>
            </a:pPr>
            <a:r>
              <a:rPr lang="en-US" sz="1200" b="1" dirty="0">
                <a:solidFill>
                  <a:srgbClr val="1F6459"/>
                </a:solidFill>
                <a:latin typeface="Calibri" pitchFamily="34" charset="0"/>
                <a:ea typeface="Calibri" pitchFamily="34" charset="-122"/>
                <a:cs typeface="Calibri" pitchFamily="34" charset="-120"/>
              </a:rPr>
              <a:t>M17 (WBS &amp; Gantt)</a:t>
            </a:r>
            <a:endParaRPr lang="en-US" sz="1200" dirty="0"/>
          </a:p>
        </p:txBody>
      </p:sp>
      <p:sp>
        <p:nvSpPr>
          <p:cNvPr id="6" name="Text 4"/>
          <p:cNvSpPr/>
          <p:nvPr/>
        </p:nvSpPr>
        <p:spPr>
          <a:xfrm>
            <a:off x="3886200" y="2130552"/>
            <a:ext cx="7543800" cy="566928"/>
          </a:xfrm>
          <a:prstGeom prst="rect">
            <a:avLst/>
          </a:prstGeom>
          <a:noFill/>
          <a:ln/>
        </p:spPr>
        <p:txBody>
          <a:bodyPr wrap="square" rtlCol="0" anchor="ctr"/>
          <a:lstStyle/>
          <a:p>
            <a:pPr indent="0" marL="0">
              <a:lnSpc>
                <a:spcPct val="115000"/>
              </a:lnSpc>
              <a:buNone/>
            </a:pPr>
            <a:r>
              <a:rPr lang="en-US" sz="1100" dirty="0">
                <a:solidFill>
                  <a:srgbClr val="16221F"/>
                </a:solidFill>
                <a:latin typeface="Calibri" pitchFamily="34" charset="0"/>
                <a:ea typeface="Calibri" pitchFamily="34" charset="-122"/>
                <a:cs typeface="Calibri" pitchFamily="34" charset="-120"/>
              </a:rPr>
              <a:t>The shortest phase template in the library — closed in as few as 18–19 weeks.</a:t>
            </a:r>
            <a:endParaRPr lang="en-US" sz="1100" dirty="0"/>
          </a:p>
        </p:txBody>
      </p:sp>
      <p:sp>
        <p:nvSpPr>
          <p:cNvPr id="7" name="Shape 5"/>
          <p:cNvSpPr/>
          <p:nvPr/>
        </p:nvSpPr>
        <p:spPr>
          <a:xfrm>
            <a:off x="548640" y="2843784"/>
            <a:ext cx="11064240" cy="713232"/>
          </a:xfrm>
          <a:prstGeom prst="roundRect">
            <a:avLst>
              <a:gd name="adj" fmla="val 6410"/>
            </a:avLst>
          </a:prstGeom>
          <a:solidFill>
            <a:srgbClr val="EAF2EF"/>
          </a:solidFill>
          <a:ln/>
        </p:spPr>
      </p:sp>
      <p:sp>
        <p:nvSpPr>
          <p:cNvPr id="8" name="Text 6"/>
          <p:cNvSpPr/>
          <p:nvPr/>
        </p:nvSpPr>
        <p:spPr>
          <a:xfrm>
            <a:off x="777240" y="2916936"/>
            <a:ext cx="3017520" cy="566928"/>
          </a:xfrm>
          <a:prstGeom prst="rect">
            <a:avLst/>
          </a:prstGeom>
          <a:noFill/>
          <a:ln/>
        </p:spPr>
        <p:txBody>
          <a:bodyPr wrap="square" rtlCol="0" anchor="ctr"/>
          <a:lstStyle/>
          <a:p>
            <a:pPr indent="0" marL="0">
              <a:lnSpc>
                <a:spcPct val="110000"/>
              </a:lnSpc>
              <a:buNone/>
            </a:pPr>
            <a:r>
              <a:rPr lang="en-US" sz="1200" b="1" dirty="0">
                <a:solidFill>
                  <a:srgbClr val="1F6459"/>
                </a:solidFill>
                <a:latin typeface="Calibri" pitchFamily="34" charset="0"/>
                <a:ea typeface="Calibri" pitchFamily="34" charset="-122"/>
                <a:cs typeface="Calibri" pitchFamily="34" charset="-120"/>
              </a:rPr>
              <a:t>M5 (ADKAR Engine)</a:t>
            </a:r>
            <a:endParaRPr lang="en-US" sz="1200" dirty="0"/>
          </a:p>
        </p:txBody>
      </p:sp>
      <p:sp>
        <p:nvSpPr>
          <p:cNvPr id="9" name="Text 7"/>
          <p:cNvSpPr/>
          <p:nvPr/>
        </p:nvSpPr>
        <p:spPr>
          <a:xfrm>
            <a:off x="3886200" y="2916936"/>
            <a:ext cx="7543800" cy="566928"/>
          </a:xfrm>
          <a:prstGeom prst="rect">
            <a:avLst/>
          </a:prstGeom>
          <a:noFill/>
          <a:ln/>
        </p:spPr>
        <p:txBody>
          <a:bodyPr wrap="square" rtlCol="0" anchor="ctr"/>
          <a:lstStyle/>
          <a:p>
            <a:pPr indent="0" marL="0">
              <a:lnSpc>
                <a:spcPct val="115000"/>
              </a:lnSpc>
              <a:buNone/>
            </a:pPr>
            <a:r>
              <a:rPr lang="en-US" sz="1100" dirty="0">
                <a:solidFill>
                  <a:srgbClr val="16221F"/>
                </a:solidFill>
                <a:latin typeface="Calibri" pitchFamily="34" charset="0"/>
                <a:ea typeface="Calibri" pitchFamily="34" charset="-122"/>
                <a:cs typeface="Calibri" pitchFamily="34" charset="-120"/>
              </a:rPr>
              <a:t>A light-touch score, since the team starts already bought in.</a:t>
            </a:r>
            <a:endParaRPr lang="en-US" sz="1100" dirty="0"/>
          </a:p>
        </p:txBody>
      </p:sp>
      <p:sp>
        <p:nvSpPr>
          <p:cNvPr id="10" name="Shape 8"/>
          <p:cNvSpPr/>
          <p:nvPr/>
        </p:nvSpPr>
        <p:spPr>
          <a:xfrm>
            <a:off x="548640" y="3630168"/>
            <a:ext cx="11064240" cy="713232"/>
          </a:xfrm>
          <a:prstGeom prst="roundRect">
            <a:avLst>
              <a:gd name="adj" fmla="val 6410"/>
            </a:avLst>
          </a:prstGeom>
          <a:solidFill>
            <a:srgbClr val="EAF2EF"/>
          </a:solidFill>
          <a:ln/>
        </p:spPr>
      </p:sp>
      <p:sp>
        <p:nvSpPr>
          <p:cNvPr id="11" name="Text 9"/>
          <p:cNvSpPr/>
          <p:nvPr/>
        </p:nvSpPr>
        <p:spPr>
          <a:xfrm>
            <a:off x="777240" y="3703320"/>
            <a:ext cx="3017520" cy="566928"/>
          </a:xfrm>
          <a:prstGeom prst="rect">
            <a:avLst/>
          </a:prstGeom>
          <a:noFill/>
          <a:ln/>
        </p:spPr>
        <p:txBody>
          <a:bodyPr wrap="square" rtlCol="0" anchor="ctr"/>
          <a:lstStyle/>
          <a:p>
            <a:pPr indent="0" marL="0">
              <a:lnSpc>
                <a:spcPct val="110000"/>
              </a:lnSpc>
              <a:buNone/>
            </a:pPr>
            <a:r>
              <a:rPr lang="en-US" sz="1200" b="1" dirty="0">
                <a:solidFill>
                  <a:srgbClr val="1F6459"/>
                </a:solidFill>
                <a:latin typeface="Calibri" pitchFamily="34" charset="0"/>
                <a:ea typeface="Calibri" pitchFamily="34" charset="-122"/>
                <a:cs typeface="Calibri" pitchFamily="34" charset="-120"/>
              </a:rPr>
              <a:t>M7 (Sponsor &amp; Coalition)</a:t>
            </a:r>
            <a:endParaRPr lang="en-US" sz="1200" dirty="0"/>
          </a:p>
        </p:txBody>
      </p:sp>
      <p:sp>
        <p:nvSpPr>
          <p:cNvPr id="12" name="Text 10"/>
          <p:cNvSpPr/>
          <p:nvPr/>
        </p:nvSpPr>
        <p:spPr>
          <a:xfrm>
            <a:off x="3886200" y="3703320"/>
            <a:ext cx="7543800" cy="566928"/>
          </a:xfrm>
          <a:prstGeom prst="rect">
            <a:avLst/>
          </a:prstGeom>
          <a:noFill/>
          <a:ln/>
        </p:spPr>
        <p:txBody>
          <a:bodyPr wrap="square" rtlCol="0" anchor="ctr"/>
          <a:lstStyle/>
          <a:p>
            <a:pPr indent="0" marL="0">
              <a:lnSpc>
                <a:spcPct val="115000"/>
              </a:lnSpc>
              <a:buNone/>
            </a:pPr>
            <a:r>
              <a:rPr lang="en-US" sz="1100" dirty="0">
                <a:solidFill>
                  <a:srgbClr val="16221F"/>
                </a:solidFill>
                <a:latin typeface="Calibri" pitchFamily="34" charset="0"/>
                <a:ea typeface="Calibri" pitchFamily="34" charset="-122"/>
                <a:cs typeface="Calibri" pitchFamily="34" charset="-120"/>
              </a:rPr>
              <a:t>A visibly active Sponsor from day one — the opposite pattern of the Cultural case.</a:t>
            </a:r>
            <a:endParaRPr lang="en-US" sz="1100" dirty="0"/>
          </a:p>
        </p:txBody>
      </p:sp>
      <p:sp>
        <p:nvSpPr>
          <p:cNvPr id="13" name="Shape 11"/>
          <p:cNvSpPr/>
          <p:nvPr/>
        </p:nvSpPr>
        <p:spPr>
          <a:xfrm>
            <a:off x="548640" y="4416552"/>
            <a:ext cx="11064240" cy="713232"/>
          </a:xfrm>
          <a:prstGeom prst="roundRect">
            <a:avLst>
              <a:gd name="adj" fmla="val 6410"/>
            </a:avLst>
          </a:prstGeom>
          <a:solidFill>
            <a:srgbClr val="EAF2EF"/>
          </a:solidFill>
          <a:ln/>
        </p:spPr>
      </p:sp>
      <p:sp>
        <p:nvSpPr>
          <p:cNvPr id="14" name="Text 12"/>
          <p:cNvSpPr/>
          <p:nvPr/>
        </p:nvSpPr>
        <p:spPr>
          <a:xfrm>
            <a:off x="777240" y="4489704"/>
            <a:ext cx="3017520" cy="566928"/>
          </a:xfrm>
          <a:prstGeom prst="rect">
            <a:avLst/>
          </a:prstGeom>
          <a:noFill/>
          <a:ln/>
        </p:spPr>
        <p:txBody>
          <a:bodyPr wrap="square" rtlCol="0" anchor="ctr"/>
          <a:lstStyle/>
          <a:p>
            <a:pPr indent="0" marL="0">
              <a:lnSpc>
                <a:spcPct val="110000"/>
              </a:lnSpc>
              <a:buNone/>
            </a:pPr>
            <a:r>
              <a:rPr lang="en-US" sz="1200" b="1" dirty="0">
                <a:solidFill>
                  <a:srgbClr val="1F6459"/>
                </a:solidFill>
                <a:latin typeface="Calibri" pitchFamily="34" charset="0"/>
                <a:ea typeface="Calibri" pitchFamily="34" charset="-122"/>
                <a:cs typeface="Calibri" pitchFamily="34" charset="-120"/>
              </a:rPr>
              <a:t>M21 (Field Notes)</a:t>
            </a:r>
            <a:endParaRPr lang="en-US" sz="1200" dirty="0"/>
          </a:p>
        </p:txBody>
      </p:sp>
      <p:sp>
        <p:nvSpPr>
          <p:cNvPr id="15" name="Text 13"/>
          <p:cNvSpPr/>
          <p:nvPr/>
        </p:nvSpPr>
        <p:spPr>
          <a:xfrm>
            <a:off x="3886200" y="4489704"/>
            <a:ext cx="7543800" cy="566928"/>
          </a:xfrm>
          <a:prstGeom prst="rect">
            <a:avLst/>
          </a:prstGeom>
          <a:noFill/>
          <a:ln/>
        </p:spPr>
        <p:txBody>
          <a:bodyPr wrap="square" rtlCol="0" anchor="ctr"/>
          <a:lstStyle/>
          <a:p>
            <a:pPr indent="0" marL="0">
              <a:lnSpc>
                <a:spcPct val="115000"/>
              </a:lnSpc>
              <a:buNone/>
            </a:pPr>
            <a:r>
              <a:rPr lang="en-US" sz="1100" dirty="0">
                <a:solidFill>
                  <a:srgbClr val="16221F"/>
                </a:solidFill>
                <a:latin typeface="Calibri" pitchFamily="34" charset="0"/>
                <a:ea typeface="Calibri" pitchFamily="34" charset="-122"/>
                <a:cs typeface="Calibri" pitchFamily="34" charset="-120"/>
              </a:rPr>
              <a:t>Routine logging — this archetype's data is notable for how little it needs to escalate.</a:t>
            </a:r>
            <a:endParaRPr lang="en-US" sz="1100" dirty="0"/>
          </a:p>
        </p:txBody>
      </p:sp>
      <p:sp>
        <p:nvSpPr>
          <p:cNvPr id="16" name="Shape 14"/>
          <p:cNvSpPr/>
          <p:nvPr/>
        </p:nvSpPr>
        <p:spPr>
          <a:xfrm>
            <a:off x="548640" y="5202936"/>
            <a:ext cx="11064240" cy="713232"/>
          </a:xfrm>
          <a:prstGeom prst="roundRect">
            <a:avLst>
              <a:gd name="adj" fmla="val 6410"/>
            </a:avLst>
          </a:prstGeom>
          <a:solidFill>
            <a:srgbClr val="EAF2EF"/>
          </a:solidFill>
          <a:ln/>
        </p:spPr>
      </p:sp>
      <p:sp>
        <p:nvSpPr>
          <p:cNvPr id="17" name="Text 15"/>
          <p:cNvSpPr/>
          <p:nvPr/>
        </p:nvSpPr>
        <p:spPr>
          <a:xfrm>
            <a:off x="777240" y="5276088"/>
            <a:ext cx="3017520" cy="566928"/>
          </a:xfrm>
          <a:prstGeom prst="rect">
            <a:avLst/>
          </a:prstGeom>
          <a:noFill/>
          <a:ln/>
        </p:spPr>
        <p:txBody>
          <a:bodyPr wrap="square" rtlCol="0" anchor="ctr"/>
          <a:lstStyle/>
          <a:p>
            <a:pPr indent="0" marL="0">
              <a:lnSpc>
                <a:spcPct val="110000"/>
              </a:lnSpc>
              <a:buNone/>
            </a:pPr>
            <a:r>
              <a:rPr lang="en-US" sz="1200" b="1" dirty="0">
                <a:solidFill>
                  <a:srgbClr val="1F6459"/>
                </a:solidFill>
                <a:latin typeface="Calibri" pitchFamily="34" charset="0"/>
                <a:ea typeface="Calibri" pitchFamily="34" charset="-122"/>
                <a:cs typeface="Calibri" pitchFamily="34" charset="-120"/>
              </a:rPr>
              <a:t>M14 (Analytics)</a:t>
            </a:r>
            <a:endParaRPr lang="en-US" sz="1200" dirty="0"/>
          </a:p>
        </p:txBody>
      </p:sp>
      <p:sp>
        <p:nvSpPr>
          <p:cNvPr id="18" name="Text 16"/>
          <p:cNvSpPr/>
          <p:nvPr/>
        </p:nvSpPr>
        <p:spPr>
          <a:xfrm>
            <a:off x="3886200" y="5276088"/>
            <a:ext cx="7543800" cy="566928"/>
          </a:xfrm>
          <a:prstGeom prst="rect">
            <a:avLst/>
          </a:prstGeom>
          <a:noFill/>
          <a:ln/>
        </p:spPr>
        <p:txBody>
          <a:bodyPr wrap="square" rtlCol="0" anchor="ctr"/>
          <a:lstStyle/>
          <a:p>
            <a:pPr indent="0" marL="0">
              <a:lnSpc>
                <a:spcPct val="115000"/>
              </a:lnSpc>
              <a:buNone/>
            </a:pPr>
            <a:r>
              <a:rPr lang="en-US" sz="1100" dirty="0">
                <a:solidFill>
                  <a:srgbClr val="16221F"/>
                </a:solidFill>
                <a:latin typeface="Calibri" pitchFamily="34" charset="0"/>
                <a:ea typeface="Calibri" pitchFamily="34" charset="-122"/>
                <a:cs typeface="Calibri" pitchFamily="34" charset="-120"/>
              </a:rPr>
              <a:t>Confirms a rising, unremarkable CRI trend rather than tracking a recovery.</a:t>
            </a:r>
            <a:endParaRPr lang="en-US" sz="1100" dirty="0"/>
          </a:p>
        </p:txBody>
      </p:sp>
      <p:sp>
        <p:nvSpPr>
          <p:cNvPr id="19" name="Shape 17"/>
          <p:cNvSpPr/>
          <p:nvPr/>
        </p:nvSpPr>
        <p:spPr>
          <a:xfrm>
            <a:off x="548640" y="5989320"/>
            <a:ext cx="11064240" cy="713232"/>
          </a:xfrm>
          <a:prstGeom prst="roundRect">
            <a:avLst>
              <a:gd name="adj" fmla="val 6410"/>
            </a:avLst>
          </a:prstGeom>
          <a:solidFill>
            <a:srgbClr val="EAF2EF"/>
          </a:solidFill>
          <a:ln/>
        </p:spPr>
      </p:sp>
      <p:sp>
        <p:nvSpPr>
          <p:cNvPr id="20" name="Text 18"/>
          <p:cNvSpPr/>
          <p:nvPr/>
        </p:nvSpPr>
        <p:spPr>
          <a:xfrm>
            <a:off x="777240" y="6062472"/>
            <a:ext cx="3017520" cy="566928"/>
          </a:xfrm>
          <a:prstGeom prst="rect">
            <a:avLst/>
          </a:prstGeom>
          <a:noFill/>
          <a:ln/>
        </p:spPr>
        <p:txBody>
          <a:bodyPr wrap="square" rtlCol="0" anchor="ctr"/>
          <a:lstStyle/>
          <a:p>
            <a:pPr indent="0" marL="0">
              <a:lnSpc>
                <a:spcPct val="110000"/>
              </a:lnSpc>
              <a:buNone/>
            </a:pPr>
            <a:r>
              <a:rPr lang="en-US" sz="1200" b="1" dirty="0">
                <a:solidFill>
                  <a:srgbClr val="1F6459"/>
                </a:solidFill>
                <a:latin typeface="Calibri" pitchFamily="34" charset="0"/>
                <a:ea typeface="Calibri" pitchFamily="34" charset="-122"/>
                <a:cs typeface="Calibri" pitchFamily="34" charset="-120"/>
              </a:rPr>
              <a:t>M12 (Sustainment)</a:t>
            </a:r>
            <a:endParaRPr lang="en-US" sz="1200" dirty="0"/>
          </a:p>
        </p:txBody>
      </p:sp>
      <p:sp>
        <p:nvSpPr>
          <p:cNvPr id="21" name="Text 19"/>
          <p:cNvSpPr/>
          <p:nvPr/>
        </p:nvSpPr>
        <p:spPr>
          <a:xfrm>
            <a:off x="3886200" y="6062472"/>
            <a:ext cx="7543800" cy="566928"/>
          </a:xfrm>
          <a:prstGeom prst="rect">
            <a:avLst/>
          </a:prstGeom>
          <a:noFill/>
          <a:ln/>
        </p:spPr>
        <p:txBody>
          <a:bodyPr wrap="square" rtlCol="0" anchor="ctr"/>
          <a:lstStyle/>
          <a:p>
            <a:pPr indent="0" marL="0">
              <a:lnSpc>
                <a:spcPct val="115000"/>
              </a:lnSpc>
              <a:buNone/>
            </a:pPr>
            <a:r>
              <a:rPr lang="en-US" sz="1100" dirty="0">
                <a:solidFill>
                  <a:srgbClr val="16221F"/>
                </a:solidFill>
                <a:latin typeface="Calibri" pitchFamily="34" charset="0"/>
                <a:ea typeface="Calibri" pitchFamily="34" charset="-122"/>
                <a:cs typeface="Calibri" pitchFamily="34" charset="-120"/>
              </a:rPr>
              <a:t>The CoE handover checkpoint — the one place this clean program still needs real verification.</a:t>
            </a:r>
            <a:endParaRPr lang="en-US" sz="1100" dirty="0"/>
          </a:p>
        </p:txBody>
      </p:sp>
      <p:sp>
        <p:nvSpPr>
          <p:cNvPr id="22" name="Text 20"/>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23" name="Text 21"/>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F6459"/>
        </a:solidFill>
      </p:bgPr>
    </p:bg>
    <p:spTree>
      <p:nvGrpSpPr>
        <p:cNvPr id="1" name=""/>
        <p:cNvGrpSpPr/>
        <p:nvPr/>
      </p:nvGrpSpPr>
      <p:grpSpPr>
        <a:xfrm>
          <a:off x="0" y="0"/>
          <a:ext cx="0" cy="0"/>
          <a:chOff x="0" y="0"/>
          <a:chExt cx="0" cy="0"/>
        </a:xfrm>
      </p:grpSpPr>
      <p:sp>
        <p:nvSpPr>
          <p:cNvPr id="2" name="Text 0"/>
          <p:cNvSpPr/>
          <p:nvPr/>
        </p:nvSpPr>
        <p:spPr>
          <a:xfrm>
            <a:off x="548640" y="457200"/>
            <a:ext cx="100584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ALERTS &amp; PROOF</a:t>
            </a:r>
            <a:endParaRPr lang="en-US" sz="1250" dirty="0"/>
          </a:p>
        </p:txBody>
      </p:sp>
      <p:sp>
        <p:nvSpPr>
          <p:cNvPr id="3" name="Text 1"/>
          <p:cNvSpPr/>
          <p:nvPr/>
        </p:nvSpPr>
        <p:spPr>
          <a:xfrm>
            <a:off x="548640" y="804672"/>
            <a:ext cx="10972800" cy="77724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What This Case Proves By Not Firing</a:t>
            </a:r>
            <a:endParaRPr lang="en-US" sz="2700" dirty="0"/>
          </a:p>
        </p:txBody>
      </p:sp>
      <p:sp>
        <p:nvSpPr>
          <p:cNvPr id="4" name="Shape 2"/>
          <p:cNvSpPr/>
          <p:nvPr/>
        </p:nvSpPr>
        <p:spPr>
          <a:xfrm>
            <a:off x="548640" y="1920240"/>
            <a:ext cx="11064240" cy="1737360"/>
          </a:xfrm>
          <a:prstGeom prst="roundRect">
            <a:avLst>
              <a:gd name="adj" fmla="val 2632"/>
            </a:avLst>
          </a:prstGeom>
          <a:solidFill>
            <a:srgbClr val="FFFFFF"/>
          </a:solidFill>
          <a:ln/>
        </p:spPr>
      </p:sp>
      <p:sp>
        <p:nvSpPr>
          <p:cNvPr id="5" name="Text 3"/>
          <p:cNvSpPr/>
          <p:nvPr/>
        </p:nvSpPr>
        <p:spPr>
          <a:xfrm>
            <a:off x="777240" y="2103120"/>
            <a:ext cx="1060704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NO LIVE ALERT FIRES IN THIS PROGRAM'S REAL RECORD</a:t>
            </a:r>
            <a:endParaRPr lang="en-US" sz="1050" dirty="0"/>
          </a:p>
        </p:txBody>
      </p:sp>
      <p:sp>
        <p:nvSpPr>
          <p:cNvPr id="6" name="Text 4"/>
          <p:cNvSpPr/>
          <p:nvPr/>
        </p:nvSpPr>
        <p:spPr>
          <a:xfrm>
            <a:off x="777240" y="2423160"/>
            <a:ext cx="10607040" cy="1097280"/>
          </a:xfrm>
          <a:prstGeom prst="rect">
            <a:avLst/>
          </a:prstGeom>
          <a:noFill/>
          <a:ln/>
        </p:spPr>
        <p:txBody>
          <a:bodyPr wrap="square" rtlCol="0" anchor="ctr"/>
          <a:lstStyle/>
          <a:p>
            <a:pPr indent="0" marL="0">
              <a:lnSpc>
                <a:spcPct val="135000"/>
              </a:lnSpc>
              <a:buNone/>
            </a:pPr>
            <a:r>
              <a:rPr lang="en-US" sz="1400" b="1" dirty="0">
                <a:solidFill>
                  <a:srgbClr val="16221F"/>
                </a:solidFill>
                <a:latin typeface="Calibri" pitchFamily="34" charset="0"/>
                <a:ea typeface="Calibri" pitchFamily="34" charset="-122"/>
                <a:cs typeface="Calibri" pitchFamily="34" charset="-120"/>
              </a:rPr>
              <a:t>Stated plainly, not manufactured — a clean record reported as a clean record.</a:t>
            </a:r>
            <a:endParaRPr lang="en-US" sz="1400" dirty="0"/>
          </a:p>
        </p:txBody>
      </p:sp>
      <p:sp>
        <p:nvSpPr>
          <p:cNvPr id="7" name="Shape 5"/>
          <p:cNvSpPr/>
          <p:nvPr/>
        </p:nvSpPr>
        <p:spPr>
          <a:xfrm>
            <a:off x="548640" y="3840480"/>
            <a:ext cx="11064240" cy="2286000"/>
          </a:xfrm>
          <a:prstGeom prst="roundRect">
            <a:avLst>
              <a:gd name="adj" fmla="val 2000"/>
            </a:avLst>
          </a:prstGeom>
          <a:solidFill>
            <a:srgbClr val="FFFFFF"/>
          </a:solidFill>
          <a:ln/>
        </p:spPr>
      </p:sp>
      <p:sp>
        <p:nvSpPr>
          <p:cNvPr id="8" name="Text 6"/>
          <p:cNvSpPr/>
          <p:nvPr/>
        </p:nvSpPr>
        <p:spPr>
          <a:xfrm>
            <a:off x="777240" y="3977640"/>
            <a:ext cx="10607040" cy="274320"/>
          </a:xfrm>
          <a:prstGeom prst="rect">
            <a:avLst/>
          </a:prstGeom>
          <a:noFill/>
          <a:ln/>
        </p:spPr>
        <p:txBody>
          <a:bodyPr wrap="square" rtlCol="0" anchor="ctr"/>
          <a:lstStyle/>
          <a:p>
            <a:pPr indent="0" marL="0">
              <a:buNone/>
            </a:pPr>
            <a:r>
              <a:rPr lang="en-US" sz="1050" b="1" spc="100" kern="0" dirty="0">
                <a:solidFill>
                  <a:srgbClr val="1F6459"/>
                </a:solidFill>
                <a:latin typeface="Calibri" pitchFamily="34" charset="0"/>
                <a:ea typeface="Calibri" pitchFamily="34" charset="-122"/>
                <a:cs typeface="Calibri" pitchFamily="34" charset="-120"/>
              </a:rPr>
              <a:t>WHY</a:t>
            </a:r>
            <a:endParaRPr lang="en-US" sz="1050" dirty="0"/>
          </a:p>
        </p:txBody>
      </p:sp>
      <p:sp>
        <p:nvSpPr>
          <p:cNvPr id="9" name="Text 7"/>
          <p:cNvSpPr/>
          <p:nvPr/>
        </p:nvSpPr>
        <p:spPr>
          <a:xfrm>
            <a:off x="777240" y="4279392"/>
            <a:ext cx="10607040" cy="173736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None. Closed by design without any of journi's 9 live alerts firing — the clean-close contrast case that proves not every program needs a recovery playbook.</a:t>
            </a:r>
            <a:endParaRPr lang="en-US" sz="1300" dirty="0"/>
          </a:p>
        </p:txBody>
      </p:sp>
      <p:sp>
        <p:nvSpPr>
          <p:cNvPr id="10" name="Text 8"/>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11" name="Text 9"/>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KEY TAKEAWAYS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F6459"/>
                </a:solidFill>
                <a:latin typeface="Calibri" pitchFamily="34" charset="0"/>
                <a:ea typeface="Calibri" pitchFamily="34" charset="-122"/>
                <a:cs typeface="Calibri" pitchFamily="34" charset="-120"/>
              </a:rPr>
              <a:t>What to Remember About This Archetype</a:t>
            </a:r>
            <a:endParaRPr lang="en-US" sz="2400" dirty="0"/>
          </a:p>
        </p:txBody>
      </p:sp>
      <p:sp>
        <p:nvSpPr>
          <p:cNvPr id="4" name="Text 2"/>
          <p:cNvSpPr/>
          <p:nvPr/>
        </p:nvSpPr>
        <p:spPr>
          <a:xfrm>
            <a:off x="548640" y="2103120"/>
            <a:ext cx="11064240" cy="3200400"/>
          </a:xfrm>
          <a:prstGeom prst="rect">
            <a:avLst/>
          </a:prstGeom>
          <a:noFill/>
          <a:ln/>
        </p:spPr>
        <p:txBody>
          <a:bodyPr wrap="square" rtlCol="0" anchor="t"/>
          <a:lstStyle/>
          <a:p>
            <a:pPr indent="0" marL="0">
              <a:lnSpc>
                <a:spcPct val="140000"/>
              </a:lnSpc>
              <a:spcAft>
                <a:spcPts val="800"/>
              </a:spcAft>
              <a:buNone/>
            </a:pPr>
            <a:r>
              <a:rPr lang="en-US" sz="1350" b="1" dirty="0">
                <a:solidFill>
                  <a:srgbClr val="1F6459"/>
                </a:solidFill>
                <a:latin typeface="Calibri" pitchFamily="34" charset="0"/>
                <a:ea typeface="Calibri" pitchFamily="34" charset="-122"/>
                <a:cs typeface="Calibri" pitchFamily="34" charset="-120"/>
              </a:rPr>
              <a:t>›  </a:t>
            </a:r>
            <a:pPr indent="0" marL="0">
              <a:lnSpc>
                <a:spcPct val="140000"/>
              </a:lnSpc>
              <a:spcAft>
                <a:spcPts val="800"/>
              </a:spcAft>
              <a:buNone/>
            </a:pPr>
            <a:r>
              <a:rPr lang="en-US" sz="1350" dirty="0">
                <a:solidFill>
                  <a:srgbClr val="16221F"/>
                </a:solidFill>
                <a:latin typeface="Calibri" pitchFamily="34" charset="0"/>
                <a:ea typeface="Calibri" pitchFamily="34" charset="-122"/>
                <a:cs typeface="Calibri" pitchFamily="34" charset="-120"/>
              </a:rPr>
              <a:t>A closed program with zero of journi's 9 live alerts fired, a real two-week shadow-mode validation before go-live, and six honestly-labeled hypothetical contingencies showing exactly how this program could have gone differently, had the conditions been less favorable.</a:t>
            </a:r>
            <a:endParaRPr lang="en-US" sz="1350" dirty="0"/>
          </a:p>
          <a:p>
            <a:pPr indent="0" marL="0">
              <a:lnSpc>
                <a:spcPct val="140000"/>
              </a:lnSpc>
              <a:spcAft>
                <a:spcPts val="800"/>
              </a:spcAft>
              <a:buNone/>
            </a:pPr>
            <a:r>
              <a:rPr lang="en-US" sz="1350" b="1" dirty="0">
                <a:solidFill>
                  <a:srgbClr val="1F6459"/>
                </a:solidFill>
                <a:latin typeface="Calibri" pitchFamily="34" charset="0"/>
                <a:ea typeface="Calibri" pitchFamily="34" charset="-122"/>
                <a:cs typeface="Calibri" pitchFamily="34" charset="-120"/>
              </a:rPr>
              <a:t>›  </a:t>
            </a:r>
            <a:pPr indent="0" marL="0">
              <a:lnSpc>
                <a:spcPct val="140000"/>
              </a:lnSpc>
              <a:spcAft>
                <a:spcPts val="800"/>
              </a:spcAft>
              <a:buNone/>
            </a:pPr>
            <a:r>
              <a:rPr lang="en-US" sz="1350" dirty="0">
                <a:solidFill>
                  <a:srgbClr val="16221F"/>
                </a:solidFill>
                <a:latin typeface="Calibri" pitchFamily="34" charset="0"/>
                <a:ea typeface="Calibri" pitchFamily="34" charset="-122"/>
                <a:cs typeface="Calibri" pitchFamily="34" charset="-120"/>
              </a:rPr>
              <a:t>All four frameworks read favorably from the start, by design. This is journi's deliberate contrast case: a narrow scope, an already-bought-in team, and a visibly active Sponsor mean no framework carries unusual risk — the point being that not every program needs a recovery playbook.</a:t>
            </a:r>
            <a:endParaRPr lang="en-US" sz="1350" dirty="0"/>
          </a:p>
          <a:p>
            <a:pPr indent="0" marL="0">
              <a:lnSpc>
                <a:spcPct val="140000"/>
              </a:lnSpc>
              <a:spcAft>
                <a:spcPts val="800"/>
              </a:spcAft>
              <a:buNone/>
            </a:pPr>
            <a:r>
              <a:rPr lang="en-US" sz="1350" b="1" dirty="0">
                <a:solidFill>
                  <a:srgbClr val="1F6459"/>
                </a:solidFill>
                <a:latin typeface="Calibri" pitchFamily="34" charset="0"/>
                <a:ea typeface="Calibri" pitchFamily="34" charset="-122"/>
                <a:cs typeface="Calibri" pitchFamily="34" charset="-120"/>
              </a:rPr>
              <a:t>›  </a:t>
            </a:r>
            <a:pPr indent="0" marL="0">
              <a:lnSpc>
                <a:spcPct val="140000"/>
              </a:lnSpc>
              <a:spcAft>
                <a:spcPts val="800"/>
              </a:spcAft>
              <a:buNone/>
            </a:pPr>
            <a:r>
              <a:rPr lang="en-US" sz="1350" dirty="0">
                <a:solidFill>
                  <a:srgbClr val="16221F"/>
                </a:solidFill>
                <a:latin typeface="Calibri" pitchFamily="34" charset="0"/>
                <a:ea typeface="Calibri" pitchFamily="34" charset="-122"/>
                <a:cs typeface="Calibri" pitchFamily="34" charset="-120"/>
              </a:rPr>
              <a:t>None. Closed by design without any of journi's 9 live alerts firing — the clean-close contrast case that proves not every program needs a recovery playbook.</a:t>
            </a:r>
            <a:endParaRPr lang="en-US" sz="1350" dirty="0"/>
          </a:p>
        </p:txBody>
      </p:sp>
      <p:sp>
        <p:nvSpPr>
          <p:cNvPr id="5" name="Text 3"/>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Business Process Automation (Kenitra Invoice-Matching Automation)</a:t>
            </a:r>
            <a:endParaRPr lang="en-US" sz="900" dirty="0"/>
          </a:p>
        </p:txBody>
      </p:sp>
      <p:sp>
        <p:nvSpPr>
          <p:cNvPr id="6"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5423A"/>
        </a:solidFill>
      </p:bgPr>
    </p:bg>
    <p:spTree>
      <p:nvGrpSpPr>
        <p:cNvPr id="1" name=""/>
        <p:cNvGrpSpPr/>
        <p:nvPr/>
      </p:nvGrpSpPr>
      <p:grpSpPr>
        <a:xfrm>
          <a:off x="0" y="0"/>
          <a:ext cx="0" cy="0"/>
          <a:chOff x="0" y="0"/>
          <a:chExt cx="0" cy="0"/>
        </a:xfrm>
      </p:grpSpPr>
      <p:sp>
        <p:nvSpPr>
          <p:cNvPr id="2" name="Shape 0"/>
          <p:cNvSpPr/>
          <p:nvPr/>
        </p:nvSpPr>
        <p:spPr>
          <a:xfrm>
            <a:off x="685800" y="2011680"/>
            <a:ext cx="777240" cy="777240"/>
          </a:xfrm>
          <a:prstGeom prst="ellipse">
            <a:avLst/>
          </a:prstGeom>
          <a:solidFill>
            <a:srgbClr val="C2661C"/>
          </a:solidFill>
          <a:ln/>
        </p:spPr>
      </p:sp>
      <p:pic>
        <p:nvPicPr>
          <p:cNvPr id="3" name="Image 0" descr="/home/user/scm-process-register/docs-src/type-decks/assets/robot.png">    </p:cNvPr>
          <p:cNvPicPr>
            <a:picLocks noChangeAspect="1"/>
          </p:cNvPicPr>
          <p:nvPr/>
        </p:nvPicPr>
        <p:blipFill>
          <a:blip r:embed="rId1"/>
          <a:stretch>
            <a:fillRect/>
          </a:stretch>
        </p:blipFill>
        <p:spPr>
          <a:xfrm>
            <a:off x="850392" y="2176272"/>
            <a:ext cx="448056" cy="448056"/>
          </a:xfrm>
          <a:prstGeom prst="rect">
            <a:avLst/>
          </a:prstGeom>
        </p:spPr>
      </p:pic>
      <p:sp>
        <p:nvSpPr>
          <p:cNvPr id="4" name="Text 1"/>
          <p:cNvSpPr/>
          <p:nvPr/>
        </p:nvSpPr>
        <p:spPr>
          <a:xfrm>
            <a:off x="640080" y="2926080"/>
            <a:ext cx="1024128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Business Process Automation</a:t>
            </a:r>
            <a:endParaRPr lang="en-US" sz="3000" dirty="0"/>
          </a:p>
        </p:txBody>
      </p:sp>
      <p:sp>
        <p:nvSpPr>
          <p:cNvPr id="5" name="Text 2"/>
          <p:cNvSpPr/>
          <p:nvPr/>
        </p:nvSpPr>
        <p:spPr>
          <a:xfrm>
            <a:off x="685800" y="3657600"/>
            <a:ext cx="9875520" cy="457200"/>
          </a:xfrm>
          <a:prstGeom prst="rect">
            <a:avLst/>
          </a:prstGeom>
          <a:noFill/>
          <a:ln/>
        </p:spPr>
        <p:txBody>
          <a:bodyPr wrap="square" rtlCol="0" anchor="ctr"/>
          <a:lstStyle/>
          <a:p>
            <a:pPr indent="0" marL="0">
              <a:buNone/>
            </a:pPr>
            <a:r>
              <a:rPr lang="en-US" sz="1600" i="1" dirty="0">
                <a:solidFill>
                  <a:srgbClr val="B8D4CE"/>
                </a:solidFill>
                <a:latin typeface="Calibri" pitchFamily="34" charset="0"/>
                <a:ea typeface="Calibri" pitchFamily="34" charset="-122"/>
                <a:cs typeface="Calibri" pitchFamily="34" charset="-120"/>
              </a:rPr>
              <a:t>Kenitra Invoice-Matching Automation</a:t>
            </a:r>
            <a:endParaRPr lang="en-US" sz="1600" dirty="0"/>
          </a:p>
        </p:txBody>
      </p:sp>
      <p:sp>
        <p:nvSpPr>
          <p:cNvPr id="6" name="Text 3"/>
          <p:cNvSpPr/>
          <p:nvPr/>
        </p:nvSpPr>
        <p:spPr>
          <a:xfrm>
            <a:off x="685800" y="6172200"/>
            <a:ext cx="9144000" cy="365760"/>
          </a:xfrm>
          <a:prstGeom prst="rect">
            <a:avLst/>
          </a:prstGeom>
          <a:noFill/>
          <a:ln/>
        </p:spPr>
        <p:txBody>
          <a:bodyPr wrap="square" rtlCol="0" anchor="ctr"/>
          <a:lstStyle/>
          <a:p>
            <a:pPr indent="0" marL="0">
              <a:buNone/>
            </a:pPr>
            <a:r>
              <a:rPr lang="en-US" sz="1150" dirty="0">
                <a:solidFill>
                  <a:srgbClr val="7FA39A"/>
                </a:solidFill>
                <a:latin typeface="Calibri" pitchFamily="34" charset="0"/>
                <a:ea typeface="Calibri" pitchFamily="34" charset="-122"/>
                <a:cs typeface="Calibri" pitchFamily="34" charset="-120"/>
              </a:rPr>
              <a:t>Manufacturing Sector · Bouregreg Group Scenario Library · Confidential</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2026-09-05T17:34:56Z</dcterms:created>
  <dcterms:modified xsi:type="dcterms:W3CDTF">2026-09-05T17:34:56Z</dcterms:modified>
</cp:coreProperties>
</file>
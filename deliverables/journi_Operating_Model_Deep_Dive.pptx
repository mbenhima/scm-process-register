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</p:sldIdLst>
  <p:notesMasterIdLst>
    <p:notesMasterId r:id="rId5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notesMaster" Target="notesMasters/notesMaster1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1.png"/><Relationship Id="rId4" Type="http://schemas.openxmlformats.org/officeDocument/2006/relationships/image" Target="../media/image-13-1.png"/><Relationship Id="rId5" Type="http://schemas.openxmlformats.org/officeDocument/2006/relationships/image" Target="../media/image-13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4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40080"/>
            <a:ext cx="777240" cy="777240"/>
          </a:xfrm>
          <a:prstGeom prst="ellipse">
            <a:avLst/>
          </a:prstGeom>
          <a:solidFill>
            <a:srgbClr val="C2661C"/>
          </a:solidFill>
          <a:ln/>
        </p:spPr>
      </p:sp>
      <p:pic>
        <p:nvPicPr>
          <p:cNvPr id="3" name="Image 0" descr="/home/user/scm-process-register/docs-src/type-decks/assets/site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804672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01168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Model Redesign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85800" y="29260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B8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Operating Model Redesign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685800" y="352044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FC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Realigning reporting lines from site-based to function-based — where the real risk is reversion under pressure, not initial adoption.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85800" y="45262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85800" y="514807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FC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971800" y="45262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2971800" y="514807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FC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257800" y="45262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5257800" y="514807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FC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543800" y="45262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7543800" y="514807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FC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TIERS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85800" y="6263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Sector · Bouregreg Group Scenario Library · Confidential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 — PURPOSE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Guide Is, and How to Use It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GUIDE 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11064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follows the Regional Operating Model Redesign — journi's Operating Model archetype case — from tenant setup through standing rhythm handover, realigning reporting lines from site-based to function-based across Bouregreg Group's three sites.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IT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4297680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program runs inside the same Bouregreg Group tenant as every other archetype in this series, once the ERP program's own Build phase exposes the site-based structure's duplication. A reader with the tenant already set up skips straight to CM Project creation.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Operating Model Redesign (Regional Operating Model Redesign)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 — A NOTE ON FIDELITY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Against journi's Real Source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2011680"/>
          </a:xfrm>
          <a:prstGeom prst="roundRect">
            <a:avLst>
              <a:gd name="adj" fmla="val 2273"/>
            </a:avLst>
          </a:prstGeom>
          <a:solidFill>
            <a:srgbClr val="EAF2E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240280"/>
            <a:ext cx="10607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journi module, field, and role named here is verified against journi's real source. This is journi's own stated case for ALT-002 (Regression Risk Score Critical) and ALT-015 (Sustainment Sign-Off Blocked) — this deck shows exactly how a real regression is caught, not glossed over.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42976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RACSI CODES USED THROUGHOUT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46177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= Executive Sponsor · CM = Change Manager · PM = Program/Project Manager · FPO = Functional Process Owner · ITL = IT/Technical Lead · SUP = Supervisor · EU = End User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Operating Model Redesign (Regional Operating Model Redesign)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Case Matters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E2B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286000"/>
            <a:ext cx="10515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Heads can pass every earlier checkpoint and still revert to old decision-making under real operational pressure — this archetype is built specifically to prove that reversion under pressure, not initial adoption, is the real test of an operating-model redesign.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Operating Model Redesign (Regional Operating Model Redesign)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Case, in Brief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1463040"/>
          </a:xfrm>
          <a:prstGeom prst="roundRect">
            <a:avLst>
              <a:gd name="adj" fmla="val 3125"/>
            </a:avLst>
          </a:prstGeom>
          <a:solidFill>
            <a:srgbClr val="EAF2E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1488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 staff, people managers across 3 sites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35040" y="21488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weeks (guide numbering)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11064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Bouregreg Group realigns reporting lines across all three sites from site-based to function-based — Finance, Operations, and Quality each reporting centrally rather than to a site director — once the ERP program exposes how much duplicated decision-making the site-based structure was causing.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Operating Model Redesign (Regional Operating Model Redesign)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Guide Proves, Concretely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90320000" dist="483870000" dir="324000000000">
              <a:srgbClr val="1B2E2B">
                <a:alpha val="18000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286000"/>
            <a:ext cx="10515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30-day sustainment checkpoint landing High regression risk, and a training-completion record (100% by Week 25) that proves Reinforcement, not Knowledge, was the actual gap — not glossed over as a clean success.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Operating Model Redesign (Regional Operating Model Redesign)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THE FOUR FRAMEWORKS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Weighting for This Archetype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3200400"/>
          </a:xfrm>
          <a:prstGeom prst="roundRect">
            <a:avLst>
              <a:gd name="adj" fmla="val 1429"/>
            </a:avLst>
          </a:prstGeom>
          <a:solidFill>
            <a:srgbClr val="EAF2E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286000"/>
            <a:ext cx="10515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ADKAR Reinforcement dominates. Function Heads can pass every earlier checkpoint and still revert to old decision-making under real operational pressure — this archetype is built specifically to show that failure mode, not initial adoption, is the real test.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Operating Model Redesign (Regional Operating Model Redesign)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THE FOUR FRAMEWORKS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Composite Readiness Index, Read for This Case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6387064000000" dist="6145149000000" dir="19440000000000000">
              <a:srgbClr val="1B2E2B">
                <a:alpha val="1800000000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286000"/>
            <a:ext cx="10515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Composite Readiness Index reads strong through Pilot Transition, then drops sharply at the 30-day post-Full-Transition checkpoint — a real, not gradual, regression, which is exactly the kind of signal a checkpoint exists to catch rather than a slow drift a trend line would eventually show anyway.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Operating Model Redesign (Regional Operating Model Redesign)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TENANT AND ADMIN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Existing Tenant, and Reading Paths by Role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EXISTING TENANT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program runs inside the same tenant journi's Master User Guide builds, under the existing Bouregreg Manufacturing Maroc Organization — no new Organization needed.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PATHS, BY ROLE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429000"/>
            <a:ext cx="110642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Change Manager running this program day to day: Part 2 once, then Part 4 in full.</a:t>
            </a:r>
            <a:endParaRPr lang="en-US" sz="130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Program/Project Manager: Part 4's PM Track column and the Master WBS &amp; Gantt.</a:t>
            </a:r>
            <a:endParaRPr lang="en-US" sz="130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Executive Sponsor: Part 1, then Part 4's phase-opening narratives.</a:t>
            </a:r>
            <a:endParaRPr lang="en-US" sz="130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 Admin or Org Admin: Part 3.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Operating Model Redesign (Regional Operating Model Redesign)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TENANT AND ADMIN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RACSI Team for This Program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645920"/>
                <a:gridCol w="6309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F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RACSI Code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F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F8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Yassine Berrada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Sponsor — COO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Salma Idrissi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Manager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Rachid Alaoui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 Manager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Amina Sqalli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 Function Head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Nabil Ouazzani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IT/Technical Lead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Loubna Tazi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Casablanca pilot site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Operating Model Redesign (Regional Operating Model Redesign)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TENANT AND ADMIN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the CM Project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11064240" cy="868680"/>
          </a:xfrm>
          <a:prstGeom prst="roundRect">
            <a:avLst>
              <a:gd name="adj" fmla="val 5263"/>
            </a:avLst>
          </a:prstGeom>
          <a:solidFill>
            <a:srgbClr val="EAF2E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221992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2130552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Module 1 — Hierarchy, create the Regional Operating Model Redesign CM Project under the existing Bouregreg Manufacturing Maroc Organization.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044952"/>
            <a:ext cx="1106424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209544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3118104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Change type: Operating Model Redesign. Target population: "All people-manager-level staff across three sites, 95 staff." Business driver: "The ERP program exposed how much duplicated decision-making the site-based structure was causing."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032504"/>
            <a:ext cx="11064240" cy="868680"/>
          </a:xfrm>
          <a:prstGeom prst="roundRect">
            <a:avLst>
              <a:gd name="adj" fmla="val 5263"/>
            </a:avLst>
          </a:prstGeom>
          <a:solidFill>
            <a:srgbClr val="EAF2EF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197096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71600" y="4105656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Save. Lewin opens at Unfreeze, once the ERP program's own Build phase has exposed the duplication.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5020056"/>
            <a:ext cx="1106424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5184648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71600" y="5093208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Module 17 — WBS &amp; Gantt, load the TPL-OM-7 phase template: Current Operating Model Assessment, TOM Design, Detailed Org Design, Pilot Transition, Full Transition, Governance Adoption Tracking, Standing Rhythm Handover.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Operating Model Redesign (Regional Operating Model Redesign)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TENANT AND ADMIN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Charters for This Program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1106424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3200400"/>
                <a:gridCol w="2834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F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F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Cadence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F8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CHTR-01 Sponsorship / Leadership Charter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Yassine Berrada (ES)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Phase Gate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CHTR-04 Organizational Impact Charter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Salma Idrissi (CM)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scope change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CHTR-08 Pulse / Interview Charter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Salma Idrissi (CM)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phase gate + ad hoc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Operating Model Redesign (Regional Operating Model Redesign)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TENANT AND ADMIN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Checklist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EAF2EF"/>
          </a:solidFill>
          <a:ln w="19050">
            <a:solidFill>
              <a:srgbClr val="2E5F8A"/>
            </a:solidFill>
            <a:prstDash val="solid"/>
          </a:ln>
        </p:spPr>
      </p:sp>
      <p:pic>
        <p:nvPicPr>
          <p:cNvPr id="5" name="Image 0" descr="/home/user/scm-process-register/docs-src/type-decks/asset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2203704"/>
            <a:ext cx="182880" cy="182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210312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tenant confirmed (Bouregreg Group, existing Organization)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71576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EAF2EF"/>
          </a:solidFill>
          <a:ln w="19050">
            <a:solidFill>
              <a:srgbClr val="2E5F8A"/>
            </a:solidFill>
            <a:prstDash val="solid"/>
          </a:ln>
        </p:spPr>
      </p:sp>
      <p:pic>
        <p:nvPicPr>
          <p:cNvPr id="8" name="Image 1" descr="/home/user/scm-process-register/docs-src/type-decks/asset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770632"/>
            <a:ext cx="182880" cy="1828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267004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Model program team accounts created across all three sites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48640" y="328269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EAF2EF"/>
          </a:solidFill>
          <a:ln w="19050">
            <a:solidFill>
              <a:srgbClr val="2E5F8A"/>
            </a:solidFill>
            <a:prstDash val="solid"/>
          </a:ln>
        </p:spPr>
      </p:sp>
      <p:pic>
        <p:nvPicPr>
          <p:cNvPr id="11" name="Image 2" descr="/home/user/scm-process-register/docs-src/type-decks/asset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3337560"/>
            <a:ext cx="182880" cy="1828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5840" y="3236976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Project created, Lewin opened at Unfreeze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548640" y="384962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EAF2EF"/>
          </a:solidFill>
          <a:ln w="19050">
            <a:solidFill>
              <a:srgbClr val="2E5F8A"/>
            </a:solidFill>
            <a:prstDash val="solid"/>
          </a:ln>
        </p:spPr>
      </p:sp>
      <p:pic>
        <p:nvPicPr>
          <p:cNvPr id="14" name="Image 3" descr="/home/user/scm-process-register/docs-src/type-decks/asset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3904488"/>
            <a:ext cx="182880" cy="1828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05840" y="3803904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TPL-OM-7 phase template loaded on M17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548640" y="441655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EAF2EF"/>
          </a:solidFill>
          <a:ln w="19050">
            <a:solidFill>
              <a:srgbClr val="2E5F8A"/>
            </a:solidFill>
            <a:prstDash val="solid"/>
          </a:ln>
        </p:spPr>
      </p:sp>
      <p:pic>
        <p:nvPicPr>
          <p:cNvPr id="17" name="Image 4" descr="/home/user/scm-process-register/docs-src/type-decks/asset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" y="4471416"/>
            <a:ext cx="182880" cy="1828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05840" y="437083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Applicable Charters reviewed and accountable owners confirmed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Operating Model Redesign (Regional Operating Model Redesign)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WEEK-BY-WEEK TIMELINE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Phases, In Order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97480" cy="566928"/>
          </a:xfrm>
          <a:prstGeom prst="chevron">
            <a:avLst/>
          </a:prstGeom>
          <a:solidFill>
            <a:srgbClr val="2E5F8A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2103120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Current Operating Model Assessment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337560" y="2103120"/>
            <a:ext cx="2697480" cy="566928"/>
          </a:xfrm>
          <a:prstGeom prst="chevron">
            <a:avLst/>
          </a:prstGeom>
          <a:solidFill>
            <a:srgbClr val="2E5F8A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0" y="2103120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TOM Design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126480" y="2103120"/>
            <a:ext cx="2697480" cy="566928"/>
          </a:xfrm>
          <a:prstGeom prst="chevron">
            <a:avLst/>
          </a:prstGeom>
          <a:solidFill>
            <a:srgbClr val="2E5F8A"/>
          </a:solidFill>
          <a:ln/>
        </p:spPr>
      </p:sp>
      <p:sp>
        <p:nvSpPr>
          <p:cNvPr id="9" name="Text 7"/>
          <p:cNvSpPr/>
          <p:nvPr/>
        </p:nvSpPr>
        <p:spPr>
          <a:xfrm>
            <a:off x="6172200" y="2103120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Detailed Org Design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915400" y="2103120"/>
            <a:ext cx="2697480" cy="566928"/>
          </a:xfrm>
          <a:prstGeom prst="chevron">
            <a:avLst/>
          </a:prstGeom>
          <a:solidFill>
            <a:srgbClr val="2E5F8A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0" y="2103120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Pilot Transition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2798064"/>
            <a:ext cx="3627120" cy="566928"/>
          </a:xfrm>
          <a:prstGeom prst="chevron">
            <a:avLst/>
          </a:prstGeom>
          <a:solidFill>
            <a:srgbClr val="2E5F8A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798064"/>
            <a:ext cx="353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Full Transition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267200" y="2798064"/>
            <a:ext cx="3627120" cy="566928"/>
          </a:xfrm>
          <a:prstGeom prst="chevron">
            <a:avLst/>
          </a:prstGeom>
          <a:solidFill>
            <a:srgbClr val="2E5F8A"/>
          </a:solidFill>
          <a:ln/>
        </p:spPr>
      </p:sp>
      <p:sp>
        <p:nvSpPr>
          <p:cNvPr id="15" name="Text 13"/>
          <p:cNvSpPr/>
          <p:nvPr/>
        </p:nvSpPr>
        <p:spPr>
          <a:xfrm>
            <a:off x="4312920" y="2798064"/>
            <a:ext cx="353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Governance Adoption Tracking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985760" y="2798064"/>
            <a:ext cx="3627120" cy="566928"/>
          </a:xfrm>
          <a:prstGeom prst="chevron">
            <a:avLst/>
          </a:prstGeom>
          <a:solidFill>
            <a:srgbClr val="2E5F8A"/>
          </a:solidFill>
          <a:ln/>
        </p:spPr>
      </p:sp>
      <p:sp>
        <p:nvSpPr>
          <p:cNvPr id="17" name="Text 15"/>
          <p:cNvSpPr/>
          <p:nvPr/>
        </p:nvSpPr>
        <p:spPr>
          <a:xfrm>
            <a:off x="8031480" y="2798064"/>
            <a:ext cx="353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Standing Rhythm Handover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8640" y="52120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program length: 34 weeks (guide numbering). Every phase below is walked in detail across the next slides — normal flow first, then six exceptions in full operational detail.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Operating Model Redesign (Regional Operating Model Redesign)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E5F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OF 7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Operating Model Assessment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1–8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3383280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6888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10607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Assesses exactly how much duplicated decision-making the site-based structure causes, once the ERP program's Build phase makes it visible.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Operating Model Redesign (Regional Operating Model Redesign)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CURRENT OPERATING MODEL 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Moments in This Phase</a:t>
            </a:r>
            <a:endParaRPr lang="en-US" sz="2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235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F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F8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Kickoff; Lewin opens at Unfreeze.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Decision-duplication mapped across all three sites.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 gate closes.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Operating Model Redesign (Regional Operating Model Redesign)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CURRENT OPERATING MODEL 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Snapshot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208115712800000000" dist="78043392300000000" dir="1.1664e+21">
              <a:srgbClr val="1B2E2B">
                <a:alpha val="180000000000000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Unfreeze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55848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2.64306955256e+21" dist="991151082210000000000" dir="6.9984e+25">
              <a:srgbClr val="1B2E2B">
                <a:alpha val="1.8e+24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93008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93008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63056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3.3566983317512e+25" dist="1.2587618744067e+25" dir="4.19904e+30">
              <a:srgbClr val="1B2E2B">
                <a:alpha val="1.8e+29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0216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0216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70264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4.2630068813240236e+29" dist="1.598627580496509e+29" dir="2.519424e+35">
              <a:srgbClr val="1B2E2B">
                <a:alpha val="1.7999999999999998e+34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07424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KÜBLER-ROSS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07424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1106424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80060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TECHNIQUE THIS PHASE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510235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Decision-duplication mapping: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site-based structure's duplicated decision-making visible and countable.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Operating Model Redesign (Regional Operating Model Redesign)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E5F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OF 7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Design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6–14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3383280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6888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10607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 the target function-based operating model — Finance, Operations, and Quality reporting centrally.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Operating Model Redesign (Regional Operating Model Redesign)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TOM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Moments in This Phase</a:t>
            </a:r>
            <a:endParaRPr lang="en-US" sz="2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235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F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F8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operating model drafted against the assessment findings.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 design signed off.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Operating Model Redesign (Regional Operating Model Redesign)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TOM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Snapshot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5.41401873928151e+33" dist="2.0302570272305663e+33" dir="1.5116544e+40">
              <a:srgbClr val="1B2E2B">
                <a:alpha val="1.8e+39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Unfreeze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55848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6.875803798887518e+37" dist="2.578426424582819e+37" dir="9.069926400000001e+44">
              <a:srgbClr val="1B2E2B">
                <a:alpha val="1.8e+44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93008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93008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→ Knowledge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63056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8.732270824587148e+41" dist="3.2746015592201804e+41" dir="5.44195584e+49">
              <a:srgbClr val="1B2E2B">
                <a:alpha val="1.8e+49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0216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0216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70264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1.1089983947225678e+46" dist="4.158743980209629e+45" dir="3.2651735040000005e+54">
              <a:srgbClr val="1B2E2B">
                <a:alpha val="1.8e+54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07424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KÜBLER-ROSS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07424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1106424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80060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TECHNIQUE THIS PHASE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510235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operating model drafting: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function-based reporting structure against the assessment's own findings.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Operating Model Redesign (Regional Operating Model Redesign)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E5F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OF 7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Org Design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12–18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3383280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6888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10607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the specific reporting lines, decision rights, and role changes the redesign requires.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Operating Model Redesign (Regional Operating Model Redesign)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DETAILED ORG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Moments in This Phase</a:t>
            </a:r>
            <a:endParaRPr lang="en-US" sz="2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235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F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F8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Decision-rights matrix drafted per function.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Detailed org design gate closes.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Operating Model Redesign (Regional Operating Model Redesign)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DETAILED ORG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Snapshot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1.408427961297661e+50" dist="5.281604854866228e+49" dir="1.9591041024000004e+59">
              <a:srgbClr val="1B2E2B">
                <a:alpha val="1.8000000000000001e+59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Unfreeze → Change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55848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1.7887035108480297e+54" dist="6.70763816568011e+53" dir="1.1754624614400003e+64">
              <a:srgbClr val="1B2E2B">
                <a:alpha val="1.8e+64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93008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93008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63056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2.2716534587769977e+58" dist="8.518700470413739e+57" dir="7.052774768640002e+68">
              <a:srgbClr val="1B2E2B">
                <a:alpha val="1.8e+69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0216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0216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→ Neutral Zone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70264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2.8849998926467873e+62" dist="1.081874959742545e+62" dir="4.2316648611840007e+73">
              <a:srgbClr val="1B2E2B">
                <a:alpha val="1.8000000000000002e+74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07424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KÜBLER-ROSS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07424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Resistance/Anger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1106424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80060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TECHNIQUE THIS PHASE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510235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Decision-rights matrix design: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exactly which decisions route where under the new structure.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Operating Model Redesign (Regional Operating Model Redesign)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E5F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OF 7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Transition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17–22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3383280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6888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10607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Pilots the new reporting structure at Casablanca Finance first — Exception E2's pilot-success-masks-risk pattern originates here.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Operating Model Redesign (Regional Operating Model Redesign)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PILOT TRANSITION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Moments in This Phase</a:t>
            </a:r>
            <a:endParaRPr lang="en-US" sz="2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235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F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F8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Casablanca Finance transitions first.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22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 succeeds cleanly — but on a pressure profile unlike Kenitra or Settat's.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Operating Model Redesign (Regional Operating Model Redesign)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PILOT TRANSITION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Snapshot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3.66394986366142e+66" dist="1.373981198873032e+66" dir="2.5389989167104004e+78">
              <a:srgbClr val="1B2E2B">
                <a:alpha val="1.8000000000000003e+79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55848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4.653216326850003e+70" dist="1.7449561225687507e+70" dir="1.5233993500262402e+83">
              <a:srgbClr val="1B2E2B">
                <a:alpha val="1.8000000000000004e+84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93008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93008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→ Ability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63056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5.909584735099504e+74" dist="2.2160942756623134e+74" dir="9.14039610015744e+87">
              <a:srgbClr val="1B2E2B">
                <a:alpha val="1.8000000000000005e+89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0216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0216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Zone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70264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7.50517261357637e+78" dist="2.814439730091138e+78" dir="5.484237660094465e+92">
              <a:srgbClr val="1B2E2B">
                <a:alpha val="1.8000000000000007e+94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07424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KÜBLER-ROSS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07424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Resistance/Anger → Exploration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1106424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80060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TECHNIQUE THIS PHASE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510235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Single-site piloting: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De-risk the full transition by testing on one site before all three.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Operating Model Redesign (Regional Operating Model Redesign)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E5F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OF 7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Transition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21–27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3383280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6888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10607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the new reporting structure to Kenitra and Settat — where the pilot's clean success starts to look different.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Operating Model Redesign (Regional Operating Model Redesign)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· FULL TRANSITION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Moments in This Phase</a:t>
            </a:r>
            <a:endParaRPr lang="en-US" sz="22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235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F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F8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23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Amina Sqalli, now receiving escalations from all three sites, shows early capacity strain — Exception E3 opens.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24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site director continues deciding unofficially — Exception E4 opens.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27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transition gate closes.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Operating Model Redesign (Regional Operating Model Redesign)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· FULL TRANSITION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Snapshot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9.53156921924199e+82" dist="3.574338457215745e+82" dir="3.2905425960566786e+97">
              <a:srgbClr val="1B2E2B">
                <a:alpha val="1.8000000000000008e+99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55848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1.2105092908437327e+87" dist="4.539409840663996e+86" dir="1.9743255576340073e+102">
              <a:srgbClr val="1B2E2B">
                <a:alpha val="1.800000000000001e+104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93008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93008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63056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1.5373467993715405e+91" dist="5.765050497643275e+90" dir="1.1845953345804043e+107">
              <a:srgbClr val="1B2E2B">
                <a:alpha val="1.800000000000001e+109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0216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0216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Zone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70264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1.9524304352018566e+95" dist="7.321614132006959e+94" dir="7.107572007482426e+111">
              <a:srgbClr val="1B2E2B">
                <a:alpha val="1.800000000000001e+114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07424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KÜBLER-ROSS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07424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1106424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80060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TECHNIQUE THIS PHASE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510235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 multi-site rollout: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piloted structure to the remaining two sites.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Operating Model Redesign (Regional Operating Model Redesign)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E5F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OF 7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Adoption Tracking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26–32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3383280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6888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10607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the new governance rhythm's real adoption — where the program's defining regression actually lands.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Operating Model Redesign (Regional Operating Model Redesign)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· GOVERNANCE ADOPTION TRACKING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Moments in This Phase</a:t>
            </a:r>
            <a:endParaRPr lang="en-US" sz="22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235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F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F8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26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first 30-day sustainment checkpoint lands High regression risk — Exception E1 opens, firing ALT-002/ALT-015.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29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 traced to Kenitra and Settat's unpredictable operational-pressure profile.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32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clean checkpoint follows; sign-off unblocks.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Operating Model Redesign (Regional Operating Model Redesign)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· GOVERNANCE ADOPTION TRACKING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Snapshot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2.4795866527063578e+99" dist="9.298449947648839e+98" dir="4.2645432044894554e+116">
              <a:srgbClr val="1B2E2B">
                <a:alpha val="1.800000000000001e+119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55848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3.149075048937074e+103" dist="1.1809031433514024e+103" dir="2.5587259226936733e+121">
              <a:srgbClr val="1B2E2B">
                <a:alpha val="1.800000000000001e+124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93008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93008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→ Reinforcement (regression)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63056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3.9993253121500844e+107" dist="1.499746992056281e+107" dir="1.535235553616204e+126">
              <a:srgbClr val="1B2E2B">
                <a:alpha val="1.800000000000001e+129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0216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0216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Zone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70264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5.079143146430607e+111" dist="1.904678679911477e+111" dir="9.211413321697224e+130">
              <a:srgbClr val="1B2E2B">
                <a:alpha val="1.800000000000001e+134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07424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KÜBLER-ROSS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07424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1106424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80060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TECHNIQUE THIS PHASE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510235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sustainment checkpoint: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a real reversion under operational pressure before it becomes permanent.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Operating Model Redesign (Regional Operating Model Redesign)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2E5F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 OF 7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Rhythm Handover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30–34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3383280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6888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10607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the new reporting structure off to a standing monthly governance rhythm — tested by a second, smaller regression signal.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Operating Model Redesign (Regional Operating Model Redesign)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 · STANDING RHYTHM HANDOVER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Moments in This Phase</a:t>
            </a:r>
            <a:endParaRPr lang="en-US" sz="22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235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F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F8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31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Standing monthly rhythm confirmed and documented.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34+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follow-up check three months later finds a partial slip at one site — Exception E6 opens.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Operating Model Redesign (Regional Operating Model Redesign)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 · STANDING RHYTHM HANDOVER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Snapshot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6.450511795966871e+115" dist="2.418941923487576e+115" dir="5.526847993018334e+135">
              <a:srgbClr val="1B2E2B">
                <a:alpha val="1.800000000000001e+139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Refreeze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55848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8.192149980877925e+119" dist="3.0720562428292216e+119" dir="3.3161087958110005e+140">
              <a:srgbClr val="1B2E2B">
                <a:alpha val="1.800000000000001e+144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93008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93008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63056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1.0404030475714965e+124" dist="3.9015114283931116e+123" dir="1.9896652774866004e+145">
              <a:srgbClr val="1B2E2B">
                <a:alpha val="1.8000000000000009e+149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0216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0216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Beginning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70264" y="2194560"/>
            <a:ext cx="2670048" cy="2194560"/>
          </a:xfrm>
          <a:prstGeom prst="roundRect">
            <a:avLst>
              <a:gd name="adj" fmla="val 2083"/>
            </a:avLst>
          </a:prstGeom>
          <a:solidFill>
            <a:srgbClr val="EAF2EF"/>
          </a:solidFill>
          <a:ln/>
          <a:effectLst>
            <a:outerShdw sx="100000" sy="100000" kx="0" ky="0" algn="bl" rotWithShape="0" blurRad="1.3213118704158005e+128" dist="4.954919514059251e+127" dir="1.1937991664919603e+150">
              <a:srgbClr val="1B2E2B">
                <a:alpha val="1.800000000000001e+154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07424" y="2331720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4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KÜBLER-ROSS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07424" y="2743200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1106424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80060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TECHNIQUE THIS PHASE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5102352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monthly governance rhythm: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a dedicated program team's oversight with a durable, ongoing rhythm.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Operating Model Redesign (Regional Operating Model Redesign)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MASTER WBS &amp; GANTT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Phase, Across the Four Frameworks</a:t>
            </a:r>
            <a:endParaRPr lang="en-US" sz="22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554480"/>
                <a:gridCol w="1737360"/>
                <a:gridCol w="1737360"/>
                <a:gridCol w="155448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Week(s)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Lewin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ADKAR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Bridges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Kübler-Ross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Operating Model Assessment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1–8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Unfreeze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Awareness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 Design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6–14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Unfreeze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Awareness → Knowledge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Detailed Org Design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12–18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Unfreeze → Change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Ending → Neutral Zone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Resistance/Anger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 Transition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17–22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→ 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 Zone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Resistance/Anger → Exploration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Transition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21–27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 Zone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 Adoption Tracking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26–32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Ability → Reinforcement (regression)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 Zone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Standing Rhythm Handover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30–34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Refreeze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Reinforcement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Beginning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Operating Model Redesign (Regional Operating Model Redesign)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MASTER WBS &amp; GANTT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Phase, Techniques and Tools</a:t>
            </a:r>
            <a:endParaRPr lang="en-US" sz="22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280160"/>
                <a:gridCol w="2377440"/>
                <a:gridCol w="329184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Week(s)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42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Operating Model Assessment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1–8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Decision-duplication mapping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 the site-based structure's duplicated decision-making visible and countable.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M4 (Stakeholder Mapping)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 Design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6–14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operating model drafting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a function-based reporting structure against the assessment's own findings.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M17 (WBS &amp; Gantt)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Detailed Org Design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12–18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Decision-rights matrix design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Specify exactly which decisions route where under the new structure.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M21 (Field Notes)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 Transition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17–22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Single-site piloting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De-risk the full transition by testing on one site before all three.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M5 (ADKAR Engine)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Transition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21–27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Staged multi-site rollout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 the piloted structure to the remaining two sites.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M17 (WBS &amp; Gantt)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 Adoption Tracking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26–32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30-day sustainment checkpoint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Catch a real reversion under operational pressure before it becomes permanent.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M12 (Sustainment)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Standing Rhythm Handover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30–34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Standing monthly governance rhythm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 a dedicated program team's oversight with a durable, ongoing rhythm.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M12 (Sustainment)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Operating Model Redesign (Regional Operating Model Redesign)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2E5F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SIX EXCEPTIONS, IN DETAIL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28346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Realistic Ways This Program Could Have Gone Differently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Operating Model Redesign (Regional Operating Model Redesign)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 · GOVERNANCE ADOPTION TRACKING, WEEKS 26–32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Risk Score Critical / Sustainment Sign-Off Blocked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5257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program's first 30-day sustainment checkpoint found decisions at several sites quietly reverting to the old site-director escalation path under real operational pressure — ALT-002's exact condition, with ALT-015 following automatically.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4251960"/>
            <a:ext cx="5257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sustainment checkpoint on M12 is marked complete with regression risk logged as High.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6126480" y="19202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IMPACT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26480" y="21945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sign-off until a clean checkpoint follows — roughly one further monitoring cycle.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6126480" y="32004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TASKS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26480" y="347472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the reversion to Kenitra/Settat's unpredictable operational-pressure profile; reinforce the new decision-rights matrix directly with the reverting sites.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5166360"/>
            <a:ext cx="11064240" cy="960120"/>
          </a:xfrm>
          <a:prstGeom prst="roundRect">
            <a:avLst>
              <a:gd name="adj" fmla="val 4762"/>
            </a:avLst>
          </a:prstGeom>
          <a:solidFill>
            <a:srgbClr val="EAF2E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285232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2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</a:t>
            </a:r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follow-up checkpoint; an unblocked sustainment sign-off.   </a:t>
            </a:r>
            <a:pPr indent="0" marL="0">
              <a:lnSpc>
                <a:spcPct val="120000"/>
              </a:lnSpc>
              <a:buNone/>
            </a:pPr>
            <a:r>
              <a:rPr lang="en-US" sz="102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RACSI: </a:t>
            </a:r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CM, SUP · A = CM · C = FPO · S = PM · I = ES, EU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Operating Model Redesign (Regional Operating Model Redesign)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 · PILOT–FULL TRANSITION, WEEKS 22–25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Success Masks a Site-Specific Risk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5257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Casablanca Finance's pilot succeeds cleanly, but Casablanca's steady, predictable finance-cycle pressure profile doesn't resemble Kenitra or Settat's plant-floor pressure profile — the exact difference that later drives Exception E1's regression at those sites specifically.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4251960"/>
            <a:ext cx="5257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pilot site's clean success is used to assume readiness at sites with a materially different pressure profile.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6126480" y="19202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IMPACT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26480" y="21945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delay if caught before Full Transition — a planning correction, not a schedule change.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6126480" y="32004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TASKS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26480" y="347472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assess each remaining site's own pressure profile rather than assume the pilot's success generalizes.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5166360"/>
            <a:ext cx="11064240" cy="960120"/>
          </a:xfrm>
          <a:prstGeom prst="roundRect">
            <a:avLst>
              <a:gd name="adj" fmla="val 4762"/>
            </a:avLst>
          </a:prstGeom>
          <a:solidFill>
            <a:srgbClr val="EAF2E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285232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2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</a:t>
            </a:r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site-specific readiness assessment ahead of Full Transition.   </a:t>
            </a:r>
            <a:pPr indent="0" marL="0">
              <a:lnSpc>
                <a:spcPct val="120000"/>
              </a:lnSpc>
              <a:buNone/>
            </a:pPr>
            <a:r>
              <a:rPr lang="en-US" sz="102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RACSI: </a:t>
            </a:r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CM, PM · A = CM · C = SUP · S = FPO · I = ES, EU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Operating Model Redesign (Regional Operating Model Redesign)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 · FULL TRANSITION, WEEKS 23–26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Head Overwhelmed by Centralized Decision Volume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5257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Amina Sqalli, now receiving escalations from all three sites rather than one, cannot process the real decision volume alone — a capacity problem distinct from E1's habit-reversion problem, though both can look similar from outside.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4251960"/>
            <a:ext cx="5257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Head's escalation backlog grows visibly following multi-site centralization.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6126480" y="19202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IMPACT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26480" y="21945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roughly one to two weeks while additional decision-support capacity is arranged.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6126480" y="32004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TASKS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26480" y="347472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delegated decision authority for lower-stakes items; confirm the distinction between a capacity problem and a habit-reversion problem before prescribing a fix.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5166360"/>
            <a:ext cx="11064240" cy="960120"/>
          </a:xfrm>
          <a:prstGeom prst="roundRect">
            <a:avLst>
              <a:gd name="adj" fmla="val 4762"/>
            </a:avLst>
          </a:prstGeom>
          <a:solidFill>
            <a:srgbClr val="EAF2E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285232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2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</a:t>
            </a:r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revised decision-delegation threshold; a sustainable Function Head workload.   </a:t>
            </a:r>
            <a:pPr indent="0" marL="0">
              <a:lnSpc>
                <a:spcPct val="120000"/>
              </a:lnSpc>
              <a:buNone/>
            </a:pPr>
            <a:r>
              <a:rPr lang="en-US" sz="102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RACSI: </a:t>
            </a:r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FPO, PM · A = CM · C = ES · S = SUP · I = ITL, EU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Operating Model Redesign (Regional Operating Model Redesign)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E4 · FULL TRANSITION–GOVERNANCE TRACKING, WEEKS 24–30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Site Director Continues Deciding Unofficially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5257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site director who lost formal decision authority continues making the same decisions informally — staff still bring them the question out of habit, and the director, not wanting to seem unhelpful, answers rather than redirecting.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4251960"/>
            <a:ext cx="5257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observed flowing through the old informal path despite the formal structure change.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6126480" y="19202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IMPACT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26480" y="21945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formal delay, but requires a direct conversation before it hardens into a permanent workaround.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6126480" y="32004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TASKS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26480" y="347472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 conversation with the site director about redirecting rather than answering; reinforce the new path with staff directly.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5166360"/>
            <a:ext cx="11064240" cy="960120"/>
          </a:xfrm>
          <a:prstGeom prst="roundRect">
            <a:avLst>
              <a:gd name="adj" fmla="val 4762"/>
            </a:avLst>
          </a:prstGeom>
          <a:solidFill>
            <a:srgbClr val="EAF2E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285232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2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</a:t>
            </a:r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corrected decision-routing pattern.   </a:t>
            </a:r>
            <a:pPr indent="0" marL="0">
              <a:lnSpc>
                <a:spcPct val="120000"/>
              </a:lnSpc>
              <a:buNone/>
            </a:pPr>
            <a:r>
              <a:rPr lang="en-US" sz="102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RACSI: </a:t>
            </a:r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CM, ES · A = ES · C = FPO · S = PM · I = SUP, EU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Operating Model Redesign (Regional Operating Model Redesign)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E5 · FULL TRANSITION, WEEKS 23–26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Reporting-Line Systems Lag Behind the Organizational Change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5257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and IT systems still show the old site-based reporting lines for several weeks after the organizational change takes effect, creating confusion about who formally approves what.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4251960"/>
            <a:ext cx="5257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systems audit finds the org chart in HR/IT systems doesn't match the new reporting lines.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6126480" y="19202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IMPACT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26480" y="21945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roughly one week while systems are updated to match the organizational change.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6126480" y="32004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TASKS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26480" y="347472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HR and IT systems promptly; communicate the interim gap directly so staff aren't confused by the mismatch.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5166360"/>
            <a:ext cx="11064240" cy="960120"/>
          </a:xfrm>
          <a:prstGeom prst="roundRect">
            <a:avLst>
              <a:gd name="adj" fmla="val 4762"/>
            </a:avLst>
          </a:prstGeom>
          <a:solidFill>
            <a:srgbClr val="EAF2E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285232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2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</a:t>
            </a:r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Systems-of-record matching the real organizational structure.   </a:t>
            </a:r>
            <a:pPr indent="0" marL="0">
              <a:lnSpc>
                <a:spcPct val="120000"/>
              </a:lnSpc>
              <a:buNone/>
            </a:pPr>
            <a:r>
              <a:rPr lang="en-US" sz="102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RACSI: </a:t>
            </a:r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ITL · A = PM · C = CM · S = FPO · I = ES, SUP, EU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Operating Model Redesign (Regional Operating Model Redesign)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E6 · STANDING RHYTHM HANDOVER, WEEKS 34+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Second, Smaller Regression Signal After Handover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5257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follow-up check three months after handover finds a partial slip at one site — not the full reversion E1 caught, but a specific decision type quietly drifting back, testing whether the standing monthly rhythm actually catches what the dedicated program team used to.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4251960"/>
            <a:ext cx="5257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standing-rhythm governance check finds a partial, decision-type-specific drift.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6126480" y="19202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IMPACT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26480" y="21945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formal delay — resolved within the standing rhythm's own next cycle.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6126480" y="32004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TASKS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26480" y="347472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the specific decision type directly; confirm the standing rhythm itself is catching what it's designed to catch.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5166360"/>
            <a:ext cx="11064240" cy="960120"/>
          </a:xfrm>
          <a:prstGeom prst="roundRect">
            <a:avLst>
              <a:gd name="adj" fmla="val 4762"/>
            </a:avLst>
          </a:prstGeom>
          <a:solidFill>
            <a:srgbClr val="EAF2E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285232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2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</a:t>
            </a:r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corrected drift; confirmed standing-rhythm effectiveness.   </a:t>
            </a:r>
            <a:pPr indent="0" marL="0">
              <a:lnSpc>
                <a:spcPct val="120000"/>
              </a:lnSpc>
              <a:buNone/>
            </a:pPr>
            <a:r>
              <a:rPr lang="en-US" sz="102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RACSI: </a:t>
            </a:r>
            <a:pPr indent="0" marL="0">
              <a:lnSpc>
                <a:spcPct val="120000"/>
              </a:lnSpc>
              <a:buNone/>
            </a:pPr>
            <a:r>
              <a:rPr lang="en-US" sz="102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SUP, FPO · A = ES · C = CM · S = PM · I = ITL, EU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Operating Model Redesign (Regional Operating Model Redesign)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— TRAINING PROGRAM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Training Covers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2926080"/>
          </a:xfrm>
          <a:prstGeom prst="roundRect">
            <a:avLst>
              <a:gd name="adj" fmla="val 1563"/>
            </a:avLst>
          </a:prstGeom>
          <a:solidFill>
            <a:srgbClr val="EAF2E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286000"/>
            <a:ext cx="10515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the E2E-OM chain, MP-05 is present — this training focuses on the new reporting-line mechanics and decision rights, not on convincing anyone the structure is correct.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Operating Model Redesign (Regional Operating Model Redesign)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TIER 1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Management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Cohort: Yassine Berrada (Sponsor)  ·  Weeks 1–14</a:t>
            </a:r>
            <a:endParaRPr lang="en-US" sz="12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1106424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6949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Curriculum Entry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F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Focus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F8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Sponsoring a Reporting-Line Change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an operating model redesign needs sustained reinforcement, not a one-time announcement, to hold.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Reading M12's Regression-Risk Flag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to read a sustainment checkpoint as real evidence — a blocked sign-off is the system working, not failing.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Operating Model Redesign (Regional Operating Model Redesign)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TIER 2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Management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Cohort: Amina Sqalli (FPO), Loubna Tazi (SUP), other site directors' successors  ·  Weeks 8–22</a:t>
            </a:r>
            <a:endParaRPr lang="en-US" sz="12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1106424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6949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Curriculum Entry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F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Focus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F8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the New Decision-Rights Matrix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Exactly which decisions route where under the new structure — the direct prerequisite to avoiding Exception E1's reversion.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Redirecting Under Pressure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 coaching for the exact moment E1's regression happens — practicing the new routing rather than defaulting to habit.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Operating Model Redesign (Regional Operating Model Redesign)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TIER 3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(Frontline)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Cohort: All 95 people-manager-level staff  ·  Weeks 15–25</a:t>
            </a:r>
            <a:endParaRPr lang="en-US" sz="12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1106424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6949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Curriculum Entry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F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Focus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F8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Using the New Reporting Structure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to escalate to under the new model, reinforced with the same decision-rights reference card later redeployed in E1's recovery.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Operating Model Redesign (Regional Operating Model Redesign)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— TRAINING PROGRAM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Curriculum Is Shaped This Way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292608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6780660754280665e+132" dist="6.2927477828552495e+131" dir="7.162794998951762e+154">
              <a:srgbClr val="1B2E2B">
                <a:alpha val="1.800000000000001e+159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286000"/>
            <a:ext cx="10515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i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completion reaches 100% by Week 25 — before the Week 26 checkpoint reveals the regression. A fully trained population can still regress under real operational pressure, because Knowledge and Ability were never this case's binding constraint — Reinforcement was.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Operating Model Redesign (Regional Operating Model Redesign)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journi Modules Dominate This Archetype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EAF2E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130552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M12 (Sustainment)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86200" y="2130552"/>
            <a:ext cx="7543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30-day post-transition checkpoint — where a High regression risk fires ALT-002.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843784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EAF2E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916936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(ADKAR Engine)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86200" y="2916936"/>
            <a:ext cx="7543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tracked separately from Ability, since this archetype is where the two diverge.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630168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EAF2EF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70332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M17 (WBS &amp; Gantt)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86200" y="3703320"/>
            <a:ext cx="7543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TPL-OM-7 template — Pilot Transition de-risks Full Transition, one site at a time.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416552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EAF2E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489704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 (Emotional &amp; Transition Layer)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86200" y="4489704"/>
            <a:ext cx="7543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premature "New Beginning" reading is exactly what a regression later contradicts.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5202936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EAF2E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276088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M21 (Field Notes)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86200" y="5276088"/>
            <a:ext cx="7543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decision-rights matrix and site-specific readiness findings, documented directly.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989320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EAF2EF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6062472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M14 (Analytics)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86200" y="6062472"/>
            <a:ext cx="7543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Composite Readiness Index drop at the 30-day checkpoint — a real, not gradual, signal.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Operating Model Redesign (Regional Operating Model Redesign)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2E5F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&amp; PROOF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Case Fires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10312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THIS CASE EXERCISES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ALT-002 (Regression Risk Score Critical)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ALT-015 (Sustainment Sign-Off Blocked)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840480"/>
            <a:ext cx="1106424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97764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4279392"/>
            <a:ext cx="10607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run past its first sustainment checkpoint with High regression risk — the clearest real-data proof in the library that training completion alone does not guarantee reinforcement.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Operating Model Redesign (Regional Operating Model Redesign)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6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Remember About This Archetype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110642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40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30-day sustainment checkpoint landing High regression risk, and a training-completion record (100% by Week 25) that proves Reinforcement, not Knowledge, was the actual gap — not glossed over as a clean success.</a:t>
            </a:r>
            <a:endParaRPr lang="en-US" sz="1350" dirty="0"/>
          </a:p>
          <a:p>
            <a:pPr indent="0" marL="0">
              <a:lnSpc>
                <a:spcPct val="1400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40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ADKAR Reinforcement dominates. Function Heads can pass every earlier checkpoint and still revert to old decision-making under real operational pressure — this archetype is built specifically to show that failure mode, not initial adoption, is the real test.</a:t>
            </a:r>
            <a:endParaRPr lang="en-US" sz="1350" dirty="0"/>
          </a:p>
          <a:p>
            <a:pPr indent="0" marL="0">
              <a:lnSpc>
                <a:spcPct val="1400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1F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lnSpc>
                <a:spcPct val="140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16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run past its first sustainment checkpoint with High regression risk — the clearest real-data proof in the library that training completion alone does not guarantee reinforcement.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Operating Model Redesign (Regional Operating Model Redesign)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55680" y="65288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54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011680"/>
            <a:ext cx="777240" cy="777240"/>
          </a:xfrm>
          <a:prstGeom prst="ellipse">
            <a:avLst/>
          </a:prstGeom>
          <a:solidFill>
            <a:srgbClr val="C2661C"/>
          </a:solidFill>
          <a:ln/>
        </p:spPr>
      </p:sp>
      <p:pic>
        <p:nvPicPr>
          <p:cNvPr id="3" name="Image 0" descr="/home/user/scm-process-register/docs-src/type-decks/assets/site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176272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92608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Model Redesign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85800" y="365760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8D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Operating Model Redesign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85800" y="6172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Sector · Bouregreg Group Scenario Library · Confidential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53</Slides>
  <Notes>53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2026-09-05T17:35:01Z</dcterms:created>
  <dcterms:modified xsi:type="dcterms:W3CDTF">2026-09-05T17:35:01Z</dcterms:modified>
</cp:coreProperties>
</file>
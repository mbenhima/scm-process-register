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frameworks-deck/asset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8046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journi's Four Frameworks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· Prosci ADKAR · Bridges' Transition Model · Kübler-Ross Change Curve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5800" y="3566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journi reads one population through four independent lenses at once — and combines them into a single, defensible readiness picture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44348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85800" y="5074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71800" y="44348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971800" y="5074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TOTAL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44348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257800" y="5074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MODULES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43800" y="44348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543800" y="5074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FOUR, NOT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 tells you one thing. journi needs four.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framework answers a question the other three cannot — together they cover the organization, the individual's skill, the individual's emotional position, and the individual's sentiment.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13432"/>
            <a:ext cx="603504" cy="603504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7" name="Image 0" descr="/home/user/scm-process-register/docs-src/frameworks-deck/asset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505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altitude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60520" y="2148840"/>
            <a:ext cx="7223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organization itself unfrozen, changing, or refrozen?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191256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90320000" dist="483870000" dir="324000000000">
              <a:srgbClr val="1B2E2B">
                <a:alpha val="18000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355848"/>
            <a:ext cx="603504" cy="603504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13" name="Image 1" descr="/home/user/scm-process-register/docs-src/frameworks-deck/assets/book-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930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2826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45920" y="36027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altitude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160520" y="3191256"/>
            <a:ext cx="7223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specific cohort have the awareness, desire, knowledge, ability, and reinforcement to actually do the new thing?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233672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387064000000" dist="6145149000000" dir="19440000000000000">
              <a:srgbClr val="1B2E2B">
                <a:alpha val="18000000000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398264"/>
            <a:ext cx="603504" cy="603504"/>
          </a:xfrm>
          <a:prstGeom prst="ellipse">
            <a:avLst/>
          </a:prstGeom>
          <a:solidFill>
            <a:srgbClr val="2E5F8A"/>
          </a:solidFill>
          <a:ln/>
        </p:spPr>
      </p:sp>
      <p:pic>
        <p:nvPicPr>
          <p:cNvPr id="19" name="Image 2" descr="/home/user/scm-process-register/docs-src/frameworks-deck/asset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3542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3251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45920" y="4645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altitude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160520" y="4233672"/>
            <a:ext cx="7223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this cohort, psychologically, in letting go of the old way and starting the new one?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276088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8115712800000000" dist="78043392300000000" dir="1.1664e+21">
              <a:srgbClr val="1B2E2B">
                <a:alpha val="1800000000000000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7240" y="5440680"/>
            <a:ext cx="603504" cy="603504"/>
          </a:xfrm>
          <a:prstGeom prst="ellipse">
            <a:avLst/>
          </a:prstGeom>
          <a:solidFill>
            <a:srgbClr val="6B4C8A"/>
          </a:solidFill>
          <a:ln/>
        </p:spPr>
      </p:sp>
      <p:pic>
        <p:nvPicPr>
          <p:cNvPr id="25" name="Image 3" descr="/home/user/scm-process-register/docs-src/frameworks-deck/assets/chart-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57784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45920" y="5367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645920" y="5687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altitude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160520" y="5276088"/>
            <a:ext cx="7223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cohort actually feel about the change, right now?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frameworks, in journi's own stage vocabulary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36576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Stages (in order)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 — one reading per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 → Change → Refreeze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(Initiative Registry)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Prosci ADKAR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/ cohort — five independently-scored blocks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→ Desire → Knowledge → Ability → Reinforcement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(ADKAR Engine)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Bridges' Transition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/ cohort — emotional 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→ Neutral Zone → New Beginning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(Emotional &amp; Transition Layer)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Kübler-Ross Change Curve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/ cohort — sentiment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→ Resistance/Anger → Exploration → Commitment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(Emotional &amp; Transition Layer)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is the only one of the four scored once per project. ADKAR, Bridges, and Kübler-Ross are all scored per cohort, so a single project can carry several distinct readings at once — one per stakeholder group.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COMBINE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readings, one traceable record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never asks a Change Manager to reconcile the four frameworks by hand — every one of them writes to a specific module, and journi's own computed metrics (Section 36) do the reconciliation live.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cohort's Lewin phase (M3) sets the organizational backdrop every other reading is interpreted against.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(M5) and the emotional layer (M6) are cross-referenced automatically — the Divergence Pattern Detector watches exactly this intersection (Slide 35).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 (M14) blends ADKAR and Kübler-Ross with training completion into one number the Steering Committee reviews at every phase gate.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is optional: every one of journi's 8 registered transformation-archetype lifecycles logs all four, just weighted differently by archetype (Slide 38).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1 OF 4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" name="Image 0" descr="/home/user/scm-process-register/docs-src/frameworks-deck/asset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86868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Lewin's Change Model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9164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organizational altitude — one reading per project, scored on M3 (Initiative Registry).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3614928" cy="777240"/>
          </a:xfrm>
          <a:prstGeom prst="chevron">
            <a:avLst/>
          </a:prstGeom>
          <a:solidFill>
            <a:srgbClr val="1F645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206240"/>
            <a:ext cx="3614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73296" y="4206240"/>
            <a:ext cx="3614928" cy="777240"/>
          </a:xfrm>
          <a:prstGeom prst="chevron">
            <a:avLst/>
          </a:prstGeom>
          <a:solidFill>
            <a:srgbClr val="2C7A6B"/>
          </a:solidFill>
          <a:ln/>
        </p:spPr>
      </p:sp>
      <p:sp>
        <p:nvSpPr>
          <p:cNvPr id="10" name="Text 7"/>
          <p:cNvSpPr/>
          <p:nvPr/>
        </p:nvSpPr>
        <p:spPr>
          <a:xfrm>
            <a:off x="4273296" y="4206240"/>
            <a:ext cx="3614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97952" y="4206240"/>
            <a:ext cx="3614928" cy="777240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12" name="Text 9"/>
          <p:cNvSpPr/>
          <p:nvPr/>
        </p:nvSpPr>
        <p:spPr>
          <a:xfrm>
            <a:off x="7997952" y="4206240"/>
            <a:ext cx="3614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Refreeze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· STAGE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5" name="Image 0" descr="/home/user/scm-process-register/docs-src/frameworks-deck/asset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acknowledges the current way of working can no longer hold — the business driver is named, the case for change is made, and the project is registered. Nothing has changed yet; the point is breaking the status quo's grip.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Bouregreg ERP Adoption Program opens Unfreeze in Week 1, justification: "Board-approved business case; three-site manual reconciliation cost is the driver." The Kenitra Automation program opens the same week its narrow, low-resistance scope is confirmed.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CM Project's Lewin macro-state opens at Unfreeze the moment it is created on M1 and saved to M3. Under Bouregreg Group's Governance Setting, opening Unfreeze requires a written justification note, logged to the project's audit trail — not a silent default.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(Kübler-Ross) and low Awareness (ADKAR) are exactly what Unfreeze is meant to break — this is why Unfreeze rarely opens alone; it is usually accompanied by a first communication wave logged on M8.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· STAGE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2C7A6B"/>
          </a:solidFill>
          <a:ln/>
        </p:spPr>
      </p:sp>
      <p:pic>
        <p:nvPicPr>
          <p:cNvPr id="5" name="Image 0" descr="/home/user/scm-process-register/docs-src/frameworks-deck/assets/shuff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transition is underway — new processes, systems, structures, or values are being built, piloted, and rolled out. This is the longest of Lewin's three stages in every one of journi's 8 archetype lifecycles.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Loi 09-08 Compliance Program's Lewin state stays at Change from Week 1 through Week 63 — every one of its seven TPL-COMP-7 phases (regulatory analysis through first monitoring cycle) runs inside this one long Change state.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Build, Pilot, Rollout, or Implementation phase across journi's 7- and 8-phase templates runs under a Lewin state of Change. A phase-gate closing at M17 does not itself move Lewin — Lewin is a deliberate, justified update on M3.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ADKAR's Knowledge and Ability blocks are built directly, and where Bridges' Neutral Zone and Kübler-Ross's Resistance/Anger and Exploration stages are most active — Change is the stage every other framework does its heaviest lifting in.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· STAGE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Refreeze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5" name="Image 0" descr="/home/user/scm-process-register/docs-src/frameworks-deck/assets/anch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way of working is locked in as the new normal — not just delivered, but confirmed to hold without active management. This is the stage journi is strictest about: closing it early is the single most common Lewin misuse this guide series warns against.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&amp; Skills program closes Refreeze only in Week 43, after two consecutive sustainment checkpoints confirm the skill holds without active coaching — not at Week 29 when full deployment finished, and not at Week 31 when competency was verified.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Refreeze closes only once real evidence — a sustainment checkpoint, a clean monitoring cycle, a certification audit — supports it, never against a calendar date alone. Under Governance Setting, the justification note is mandatory and auditable.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population can look "done" — attendance complete, competency verified — while Reinforcement (ADKAR) is still the weakest block. Refreeze closing before Reinforcement is real is exactly how the Operating Model guide's Exception E1 regression happens.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IN JOURNI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Initiative Registry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of record for every change initiative — business driver, scope, target population, and Lewin macro-state, one reading per project.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driver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macro-state (Unfreeze / Change / Refreeze)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EDIT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0" y="3383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write access. A Lewin phase change is a scored/state change, so under Bouregreg Group's Governance Setting it requires a written justification, logged to the project's audit trail — the same discipline applied to every ADKAR and emotional-layer score change.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4709160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F7E4D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BOUREGREG SCENARIO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51206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Bouregreg ERP Adoption Program's project detail page: Lewin opened at Unfreeze in Part 1, and every later Part of the Master User Guide watches this one field move through Change and toward Refreeze.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ACROSS THE PORTFOLIO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closes Refreeze differs by archetype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Lewin's three stages are the same everywhere — but the evidence that justifies moving to Refreeze is archetype-specific, not generic.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Closes Refreeze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Hypercare exits clean and the Sustain phase's own checkpoint confirms adoption holds.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Sustainment handoff after rollout, once the resistance record shows no open entries.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 handover, once exception tuning is complete and the bot runs without manual override.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closes in this program's life — certification surveillance runs ongoing, by design.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Institutionalization, only once the CRI trend — not the calendar — supports 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clean 30-day sustainment checkpoint, after any earlier regression is resolved.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monitoring cycle confirms controls hold under real operating conditions.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&amp; 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consecutive sustainment checkpoints confirm the skill holds without coaching.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" name="Image 0" descr="/home/user/scm-process-register/docs-src/frameworks-deck/assets/circle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969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Refreeze Too Early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116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PITFALL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Manager closes Lewin at Refreeze because the project's calendar milestone says the program is "done" — go-live happened, training attendance hit 100%, the rollout finished — without checking whether the underlying ADKAR and emotional-layer readings actually support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34747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Refreeze is the stage with the fewest built-in checks: unlike a Phase Gate on M17, nothing in journi blocks a Lewin update on M3 from being saved. The discipline has to come from the Change Manager's own justification-note habit, not from a system lock.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5720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JOURNI'S ANSWER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7240" y="484632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requires a written justification on every Lewin change under Governance Setting — a permanent, auditable trail. The Composite Readiness Index (Slide 36) and a real sustainment checkpoint on M12 are the two pieces of evidence this guide series treats as the minimum bar before Refreeze, not the calendar.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2 OF 4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" name="Image 0" descr="/home/user/scm-process-register/docs-src/frameworks-deck/assets/book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86868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Prosci ADKAR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9164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individual/cohort altitude — five independently-scored blocks, 1-5 each, on M5 (ADKAR Engine).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2125066" cy="777240"/>
          </a:xfrm>
          <a:prstGeom prst="chevron">
            <a:avLst/>
          </a:prstGeom>
          <a:solidFill>
            <a:srgbClr val="1F645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206240"/>
            <a:ext cx="212506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83434" y="4206240"/>
            <a:ext cx="2125066" cy="777240"/>
          </a:xfrm>
          <a:prstGeom prst="chevron">
            <a:avLst/>
          </a:prstGeom>
          <a:solidFill>
            <a:srgbClr val="2C7A6B"/>
          </a:solidFill>
          <a:ln/>
        </p:spPr>
      </p:sp>
      <p:sp>
        <p:nvSpPr>
          <p:cNvPr id="10" name="Text 7"/>
          <p:cNvSpPr/>
          <p:nvPr/>
        </p:nvSpPr>
        <p:spPr>
          <a:xfrm>
            <a:off x="2783434" y="4206240"/>
            <a:ext cx="212506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18227" y="4206240"/>
            <a:ext cx="2125066" cy="777240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12" name="Text 9"/>
          <p:cNvSpPr/>
          <p:nvPr/>
        </p:nvSpPr>
        <p:spPr>
          <a:xfrm>
            <a:off x="5018227" y="4206240"/>
            <a:ext cx="212506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53021" y="4206240"/>
            <a:ext cx="2125066" cy="777240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14" name="Text 11"/>
          <p:cNvSpPr/>
          <p:nvPr/>
        </p:nvSpPr>
        <p:spPr>
          <a:xfrm>
            <a:off x="7253021" y="4206240"/>
            <a:ext cx="212506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487814" y="4206240"/>
            <a:ext cx="2125066" cy="777240"/>
          </a:xfrm>
          <a:prstGeom prst="chevron">
            <a:avLst/>
          </a:prstGeom>
          <a:solidFill>
            <a:srgbClr val="6B4C8A"/>
          </a:solidFill>
          <a:ln/>
        </p:spPr>
      </p:sp>
      <p:sp>
        <p:nvSpPr>
          <p:cNvPr id="16" name="Text 13"/>
          <p:cNvSpPr/>
          <p:nvPr/>
        </p:nvSpPr>
        <p:spPr>
          <a:xfrm>
            <a:off x="9487814" y="4206240"/>
            <a:ext cx="212506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· BLOCK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5" name="Image 0" descr="/home/user/scm-process-register/docs-src/frameworks-deck/asset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cohort understand why the change is happening at all? Awareness is the floor every other block builds on — a cohort cannot develop real Desire, Knowledge, or Ability for a change it does not yet understand the reason for.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program's Awareness reads 2 at baseline (Week 3) — HR, Sales, and Customer Service staff know a data-protection law exists but not what it requires of them specifically. By Week 14, following the regulatory requirement mapping, it reads 4.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1-5 on M5, per cohort. A score of 2 or below requires a mandatory barrier-reason note and auto-escalates — journi will not let a low Awareness score pass silently into the Composite Readiness Index.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opposes Kübler-Ross's Denial stage — a communications wave logged on M8 is usually the direct lever a Change Manager pulls to move Awareness, which is also the fastest of the five blocks to shift.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· BLOCK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2C7A6B"/>
          </a:solidFill>
          <a:ln/>
        </p:spPr>
      </p:sp>
      <p:pic>
        <p:nvPicPr>
          <p:cNvPr id="5" name="Image 0" descr="/home/user/scm-process-register/docs-src/frameworks-deck/asset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cohort actually want to make the change personally, not just understand it intellectually? Desire is the block most exposed to "what's in it for me" — and the one most likely to stall on a specific, named fear.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Bouregreg's Tangier Dispatch cohort logs a Desire score of 2 in Week 25, with the barrier note: "Recurring fear about job security post-integration, first surfaced in Week 7 diagnosis, unresolved" — triggering the program's own Exception E2.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1-5 on M5. Because a Desire stall is almost always tied to a specific, nameable fear, its barrier-reason note (mandatory below 2) is the field this guide series' exception write-ups quote most often verbatim.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archetype most dependent on Desire is Cultural — the Tangier integration case's Exception E2 (Desire Stall) is a direct, named fear ("recurring fear about job security post-integration") logged straight from this field.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· BLOCK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5" name="Image 0" descr="/home/user/scm-process-register/docs-src/frameworks-deck/assets/graduation-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cohort know *how* to do the new thing — the specific steps, not just that a change is coming? Knowledge is what training (M9) is built to produce, and it is the first of the five blocks a curriculum can move directly.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&amp; Skills program's Knowledge score climbs sharply during Training Delivery (Weeks 15-29), moving from 1 at baseline to 4 by the time full two-plant deployment closes — the direct, intended effect of the curriculum.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1-5 on M5, and cross-referenced automatically with M6's Bridges reading — Knowledge climbing while Bridges still reads "Ending" is exactly the combination ALT-001 (Divergence Pattern Detected) is built to catch.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logged on M9 is the direct evidence a Change Manager cites when raising a Knowledge score — this is the block with the tightest, most auditable link to a specific journi module outside M5 itself.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· BLOCK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2E5F8A"/>
          </a:solidFill>
          <a:ln/>
        </p:spPr>
      </p:sp>
      <p:pic>
        <p:nvPicPr>
          <p:cNvPr id="5" name="Image 0" descr="/home/user/scm-process-register/docs-src/frameworks-deck/assets/hand-f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cohort actually perform the new behavior under real conditions — not just describe it? Ability is Knowledge tested against reality, and the gap between the two is exactly what a pilot cohort or shadow-mode period is designed to surface.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program's Kenitra AP cohort reaches Ability 4 by Week 32, confirmed through two weeks of shadow-mode running the bot alongside the manual process — not assumed from training completion alone.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1-5 on M5. Ability is the second input, alongside Knowledge, that ALT-001's Divergence Pattern Detector watches — both at 4 or above while Bridges reads "Ending" signals a cohort that has learned but not yet emotionally moved.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block a Practical Application phase (as in the Training &amp; Skills archetype) or a UAT/shadow-mode period (Automation) is purpose-built to raise — competency verification exists specifically to confirm Ability, not just attendance.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· BLOCK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6B4C8A"/>
          </a:solidFill>
          <a:ln/>
        </p:spPr>
      </p:sp>
      <p:pic>
        <p:nvPicPr>
          <p:cNvPr id="5" name="Image 0" descr="/home/user/scm-process-register/docs-src/frameworks-deck/assets/shield-hal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new behavior hold once active support stops? Reinforcement is the slowest-moving, most decay-prone block — and the one this guide series treats as the true test of whether a program actually finished, not just delivered.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&amp; Skills program engineers Reinforcement deliberately through two dedicated phases — Practical Application and On-the-Job Coaching — rather than leaving it to chance, the only archetype in the series to do so explicitly.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1-5 on M5, and the direct input alongside a clean M12 sustainment checkpoint that justifies closing Lewin at Refreeze. A program can score 4-5 on every other block and still fail here.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block the Operating Model guide's Exception E1 shows failing in real time — a function head reverts to old decision-making under operational pressure precisely because Reinforcement, not Knowledge or Ability, was never engineered.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IN JOURNI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ADKAR Engine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cohorts across the five ADKAR blocks — Awareness, Desire, Knowledge, Ability, Reinforcement — with mandatory barrier-point diagnosis on any low score.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block scores, 1-5 each: Awareness, Desire, Knowledge, Ability, Reinforcement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barrier-reason note, mandatory on any score of 2 or below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EDIT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0" y="3383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write access, with a mandatory justification on every score change under Bouregreg Group's Governance Setting — the same auditable discipline Lewin and the emotional layer both apply.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4709160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F7E4D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BOUREGREG SCENARIO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51206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Driss El Amrani logs the Bouregreg ERP program's baseline ADKAR pulse here in Week 1, then re-scores each block through the program's Build, Test, and Train phases as training and go-live proceed.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 ADKAR PULSE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example: three sites, one blended number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Bouregreg ERP program's Composite Readiness Index reads a misleading blend until it is disaggregated by site — the exact failure mode Exception E6 (Cohort Divergence Across Sites) is built to catch.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24688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 Reading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Signals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Casablanca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Beginning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Genuinely ready — proximity to the program team helped.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Kenitra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track, following recovery from an earlier E4 regression.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Behind, following the E1 Desire stall — needs a second training wave.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blended M14 reading (78% / 68% / 54% disaggregated) would have hidden Settat's real gap entirely — the reason this guide series treats per-cohort ADKAR scoring, not a single project-level average, as the non-negotiable unit of analysis.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" name="Image 0" descr="/home/user/scm-process-register/docs-src/frameworks-deck/assets/circle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969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Away a Cohort's Real Gap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116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PITFALL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Manager reports one project-level ADKAR average to the Steering Committee, blending a strong site or department with a struggling one — the strong number masks the struggling one instead of surfacing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34747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M14's Composite Readiness Index is computed at the project level by default, and a single clean-looking number is easier to report than three uneven ones — the path of least resistance in a status meeting is exactly the path that hides the real risk.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5720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JOURNI'S ANSWER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7240" y="484632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M4's Stakeholder Mapping carries site/department tags precisely so a Change Manager can disaggregate M14's blended number by cohort at any time — the Bouregreg ERP program's own Exception E6 shows this disaggregation step performed explicitly, not left implicit.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3 OF 4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" name="Image 0" descr="/home/user/scm-process-register/docs-src/frameworks-deck/asset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86868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Bridges' Transition Model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9164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altitude — where a cohort stands, psychologically, in letting go and starting over. Logged on M6.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3614928" cy="777240"/>
          </a:xfrm>
          <a:prstGeom prst="chevron">
            <a:avLst/>
          </a:prstGeom>
          <a:solidFill>
            <a:srgbClr val="B4463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206240"/>
            <a:ext cx="3614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73296" y="4206240"/>
            <a:ext cx="3614928" cy="777240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10" name="Text 7"/>
          <p:cNvSpPr/>
          <p:nvPr/>
        </p:nvSpPr>
        <p:spPr>
          <a:xfrm>
            <a:off x="4273296" y="4206240"/>
            <a:ext cx="3614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97952" y="4206240"/>
            <a:ext cx="3614928" cy="777240"/>
          </a:xfrm>
          <a:prstGeom prst="chevron">
            <a:avLst/>
          </a:prstGeom>
          <a:solidFill>
            <a:srgbClr val="1F6459"/>
          </a:solidFill>
          <a:ln/>
        </p:spPr>
      </p:sp>
      <p:sp>
        <p:nvSpPr>
          <p:cNvPr id="12" name="Text 9"/>
          <p:cNvSpPr/>
          <p:nvPr/>
        </p:nvSpPr>
        <p:spPr>
          <a:xfrm>
            <a:off x="7997952" y="4206240"/>
            <a:ext cx="3614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Beginning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· STAGE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5" name="Image 0" descr="/home/user/scm-process-register/docs-src/frameworks-deck/assets/door-clo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has not yet let go of the old way of working, psychologically — even if they can already describe the new one. Ending is about loss, not information, and it is the stage most often mistaken for simple resistance.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Bouregreg ERP program's Casablanca finance cohort reads Ending through most of Build, even as their Knowledge score climbs to 4 — ALT-001 fires at Week 28, correctly flagging the gap before it reaches go-live.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M6, alongside a justification note. Ending is the specific Bridges reading ALT-001's Divergence Pattern Detector watches for, paired against high Knowledge and Ability on M5 — the combination that signals a cohort trained but not yet emotionally moved.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cohort can score 4-5 on Knowledge and Ability while still reading Ending on Bridges — this is not a contradiction in the data, it is the exact real-world pattern of someone who has learned a skill but not yet accepted why the old one had to go.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· STAGE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5" name="Image 0" descr="/home/user/scm-process-register/docs-src/frameworks-deck/asset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 is gone, the new way is not yet fully trusted or habitual — a genuinely uncomfortable, in-between state. Bridges treats this as necessary, not a problem to rush past; real transition happens here, not around 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Model program's Function Heads read Neutral Zone from Week 48 (detailed org design) through the pilot transition at Week 52 — deliberately not rushed to New Beginning until the pilot site's own evidence supports it.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M6. This is the longest-held Bridges reading across every one of journi's 8 archetype lifecycles — most cohorts spend more calendar time in Neutral Zone than in either Ending or New Beginning.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Rushing a cohort out of Neutral Zone before Reinforcement (ADKAR) is real is a direct path to the Operating Model guide's Exception E1 — a premature "New Beginning" reading that reverts under the first real operational pressure.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· STAGE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Beginning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5" name="Image 0" descr="/home/user/scm-process-register/docs-src/frameworks-deck/assets/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has genuinely adopted the new identity, not just the new process — they describe themselves, unprompted, in terms of the new way of working. This is the emotional counterpart to Lewin's Refreeze.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QMS program's Settat quality function reaches New Beginning only after the certifying audit passes clean in Week 46 — not at mock-up audit (Week 38), when the reading was still provisionally Neutral Zone pending real external validation.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M6. Like Refreeze, journi treats a New Beginning reading claimed without supporting evidence as a real risk — this guide series consistently pairs it with a sustainment checkpoint on M12, not the reading alone.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Beginning reading that later reverts to Neutral Zone or Ending is exactly what a regression checkpoint (M12) is built to catch — the Operating Model program's Exception E1 shows precisely this reversal, caught and logged rather than hidden.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IN JOURNI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— Emotional &amp; Transition Layer (Bridges half)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transition position, cross-referenced automatically with ADKAR — the module where journi's Divergence Pattern alert gets its second input.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stage: Ending / Neutral Zone / New Beginning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justification note on every stage change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EDIT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0" y="3383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write access; individual-level detail restricted the same way as M4 and M5 — visible only to Super Admin, Group Admin, Org Admin, Change Manager, and People Manager roles.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4709160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F7E4D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BOUREGREG SCENARIO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51206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Bouregreg ERP program's Divergence Pattern alert actually gets its second input — if Knowledge and Ability read high on M5 while Bridges is still logged Ending here, the two modules together are what ALT-001 is watching.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" name="Image 0" descr="/home/user/scm-process-register/docs-src/frameworks-deck/assets/circle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969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Rushing Past the Neutral Zone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116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PITFALL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Manager marks a cohort "New Beginning" the moment go-live happens or training completes — treating Bridges as a calendar milestone rather than a genuine emotional state that has to actually be reached.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34747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 is uncomfortable to sit in, for the cohort and for whoever is reporting status upward — a Steering Committee wants to hear "we've arrived," and New Beginning sounds better in a status readout than an honest Neutral Zone reading.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5720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JOURNI'S ANSWER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7240" y="484632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requires a justification note on every Bridges change, the same auditable discipline as Lewin and ADKAR — and this guide series consistently pairs a New Beginning claim with a real M12 sustainment checkpoint, never the reading in isolation.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4 OF 4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" name="Image 0" descr="/home/user/scm-process-register/docs-src/frameworks-deck/assets/chart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86868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Change Curve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9164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sentiment altitude — a simplified four-stage model of how a cohort actually feels. Logged on M6, alongside Bridges.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2683764" cy="777240"/>
          </a:xfrm>
          <a:prstGeom prst="chevron">
            <a:avLst/>
          </a:prstGeom>
          <a:solidFill>
            <a:srgbClr val="5C6D68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206240"/>
            <a:ext cx="26837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42132" y="4206240"/>
            <a:ext cx="2683764" cy="777240"/>
          </a:xfrm>
          <a:prstGeom prst="chevron">
            <a:avLst/>
          </a:prstGeom>
          <a:solidFill>
            <a:srgbClr val="B4463B"/>
          </a:solidFill>
          <a:ln/>
        </p:spPr>
      </p:sp>
      <p:sp>
        <p:nvSpPr>
          <p:cNvPr id="10" name="Text 7"/>
          <p:cNvSpPr/>
          <p:nvPr/>
        </p:nvSpPr>
        <p:spPr>
          <a:xfrm>
            <a:off x="3342132" y="4206240"/>
            <a:ext cx="26837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Resistance/Anger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35624" y="4206240"/>
            <a:ext cx="2683764" cy="777240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12" name="Text 9"/>
          <p:cNvSpPr/>
          <p:nvPr/>
        </p:nvSpPr>
        <p:spPr>
          <a:xfrm>
            <a:off x="6135624" y="4206240"/>
            <a:ext cx="26837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929116" y="4206240"/>
            <a:ext cx="2683764" cy="777240"/>
          </a:xfrm>
          <a:prstGeom prst="chevron">
            <a:avLst/>
          </a:prstGeom>
          <a:solidFill>
            <a:srgbClr val="1F6459"/>
          </a:solidFill>
          <a:ln/>
        </p:spPr>
      </p:sp>
      <p:sp>
        <p:nvSpPr>
          <p:cNvPr id="14" name="Text 11"/>
          <p:cNvSpPr/>
          <p:nvPr/>
        </p:nvSpPr>
        <p:spPr>
          <a:xfrm>
            <a:off x="8929116" y="4206240"/>
            <a:ext cx="26837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· STAGE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5C6D68"/>
          </a:solidFill>
          <a:ln/>
        </p:spPr>
      </p:sp>
      <p:pic>
        <p:nvPicPr>
          <p:cNvPr id="5" name="Image 0" descr="/home/user/scm-process-register/docs-src/frameworks-deck/assets/face-f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does not believe the change is really happening, or that it applies to them specifically — a sentiment state, distinct from ADKAR's Awareness, which measures understanding rather than belief.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Kenitra Automation program's AP staff never register Denial at all — a narrow, well-scoped project with an already-bought-in team starts past this stage, part of why the program closes without any alert firing.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on M6 alongside Bridges. Denial is the sentiment counterpart to Lewin's Unfreeze stage — both describe the same early moment from a different altitude, organizational versus individual.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communications wave (M8) is the direct lever for moving a cohort out of Denial, the same lever used against low Awareness — the two are related but not identical, which is exactly why journi tracks them as separate fields.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· STAGE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/ Anger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5" name="Image 0" descr="/home/user/scm-process-register/docs-src/frameworks-deck/assets/triangle-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actively pushes back — verbally, in behavior, or by working around the new way rather than adopting it. journi treats this as real, trackable data, not a discipline problem to suppress.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BPR guide's Order-to-Cash program logs its third open resistance entry during the Weeks 20-24 pilot, firing ALT-004 — resolved through a co-designed accuracy safeguard the resisting staff themselves helped define.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sentiment stage is the direct counterpart to the Resistance Log on M10 — three or more open entries there is what fires ALT-004 (Resistance Escalation Threshold Breached), the alert most directly tied to this Kübler-Ross stage.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BPR-type program is the archetype most built around this stage by design — the Order-to-Cash Process Redesign case is engineered so finance staff who privately own today's manual workarounds resist a redesign that makes those workarounds obsolete.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· STAGE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5" name="Image 0" descr="/home/user/scm-process-register/docs-src/frameworks-deck/assets/magnifying-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starts testing the new way of working, tentatively — trying it out rather than fighting it, but not yet fully committed either. This is where genuine curiosity starts to outweigh resistance.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&amp; Skills program's Kenitra pilot cohort moves into Exploration during Weeks 15-19, the same window their hands-on delivery runs — sentiment and skill development advancing together, not sequentially.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on M6. Exploration typically overlaps with Bridges' Neutral Zone — the two frameworks describe the same in-between period from the emotional-position angle (Bridges) and the sentiment angle (Kübler-Ross) respectively.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cohort, in any archetype, is specifically designed to happen during Exploration — the QMS program's mock-up audit, the Automation program's shadow-mode period, and the Training &amp; Skills program's pilot delivery all land here by design.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· STAGE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698480" y="502920"/>
            <a:ext cx="685800" cy="6858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5" name="Image 0" descr="/home/user/scm-process-register/docs-src/frameworks-deck/asset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658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genuinely embraces the new way of working and would choose it again — the sentiment counterpart to Bridges' New Beginning and Lewin's Refreeze, completing the same emotional arc from a third angle.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326"/>
            </a:avLst>
          </a:prstGeom>
          <a:solidFill>
            <a:srgbClr val="EAF2E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program's HR, Sales, and Customer Service cohorts reach Commitment by the first monitoring cycle (Week 52) — verified not by self-report but by controls holding under real operating conditions for the first time.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JOURNI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2286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on M6. Commitment is one of the two direct inputs (alongside training completion) to the Composite Readiness Index's Kübler-Ross-sentiment term — a real, weighted 25% of the number the Steering Committee reviews at every phase gate.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7E4D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AGAINST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Commitment reading that has not been tested against real operating pressure is exactly the risk a sustainment checkpoint on M12 exists to catch — the same discipline applied to a premature New Beginning or Refreeze claim.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IN JOURNI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— Emotional &amp; Transition Layer (Kübler-Ross half)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sentiment, cross-referenced with ADKAR and Bridges — a 25% weighted input to the Composite Readiness Index.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sentiment: Denial / Resistance-Anger / Exploration / Commitment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justification note on every sentiment change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EDIT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0" y="3383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write access; individual-level detail restricted the same way as M4 and M5 — visible only to Super Admin, Group Admin, Org Admin, Change Manager, and People Manager roles.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4709160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F7E4D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BOUREGREG SCENARIO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51206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module, two frameworks: M6 carries both the Bridges transition stage and the Kübler-Ross sentiment reading side by side, each independently scored and justified — not a single blended emotional field.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" name="Image 0" descr="/home/user/scm-process-register/docs-src/frameworks-deck/assets/circle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969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Resistance as a Problem to Suppress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116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PITFALL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Manager reads a Resistance/Anger sentiment, or open entries on the Resistance Log, as something to shut down quickly — closing entries without addressing the underlying cause, or discouraging staff from raising concerns at all.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2004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34747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feels, to a program under schedule pressure, like an obstacle to route around rather than data to use — closing the log entry looks like progress, even when the underlying cause is still live and will resurface later.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5720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JOURNI'S ANSWER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7240" y="484632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journi's ALT-004 fires specifically to force attention at three open entries, before resistance becomes unmanageable — and this guide series' own BPR case shows the better path: a co-designed recovery, built with the resisting staff, not around them.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PERSON, FOUR READINGS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Interaction Map: how a single cohort is read at once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journi's own Framework Interaction Map (v2.3) traces exactly how a signal in one framework propagates to the others — not four disconnected scores.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70048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64306955256e+21" dist="991151082210000000000" dir="6.9984e+25">
              <a:srgbClr val="1B2E2B">
                <a:alpha val="1.8e+2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63624" y="2697480"/>
            <a:ext cx="640080" cy="64008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7" name="Image 0" descr="/home/user/scm-process-register/docs-src/frameworks-deck/asset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84378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2900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46120" y="3200400"/>
            <a:ext cx="256032" cy="320040"/>
          </a:xfrm>
          <a:prstGeom prst="rightArrow">
            <a:avLst/>
          </a:prstGeom>
          <a:solidFill>
            <a:srgbClr val="5C6D68"/>
          </a:solidFill>
          <a:ln/>
        </p:spPr>
      </p:sp>
      <p:sp>
        <p:nvSpPr>
          <p:cNvPr id="11" name="Shape 8"/>
          <p:cNvSpPr/>
          <p:nvPr/>
        </p:nvSpPr>
        <p:spPr>
          <a:xfrm>
            <a:off x="3511296" y="2468880"/>
            <a:ext cx="2670048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3566983317512e+25" dist="1.2587618744067e+25" dir="4.19904e+30">
              <a:srgbClr val="1B2E2B">
                <a:alpha val="1.8e+2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697480"/>
            <a:ext cx="640080" cy="64008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13" name="Image 1" descr="/home/user/scm-process-register/docs-src/frameworks-deck/assets/book-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84378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2736" y="342900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02736" y="37947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Know. 4 / Abil. 4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08776" y="3200400"/>
            <a:ext cx="256032" cy="320040"/>
          </a:xfrm>
          <a:prstGeom prst="rightArrow">
            <a:avLst/>
          </a:prstGeom>
          <a:solidFill>
            <a:srgbClr val="5C6D68"/>
          </a:solidFill>
          <a:ln/>
        </p:spPr>
      </p:sp>
      <p:sp>
        <p:nvSpPr>
          <p:cNvPr id="17" name="Shape 13"/>
          <p:cNvSpPr/>
          <p:nvPr/>
        </p:nvSpPr>
        <p:spPr>
          <a:xfrm>
            <a:off x="6473952" y="2468880"/>
            <a:ext cx="2670048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2630068813240236e+29" dist="1.598627580496509e+29" dir="2.519424e+35">
              <a:srgbClr val="1B2E2B">
                <a:alpha val="1.7999999999999998e+34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88936" y="2697480"/>
            <a:ext cx="640080" cy="640080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19" name="Image 2" descr="/home/user/scm-process-register/docs-src/frameworks-deck/asset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84378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65392" y="342900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565392" y="37947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171432" y="3200400"/>
            <a:ext cx="256032" cy="320040"/>
          </a:xfrm>
          <a:prstGeom prst="rightArrow">
            <a:avLst/>
          </a:prstGeom>
          <a:solidFill>
            <a:srgbClr val="5C6D68"/>
          </a:solidFill>
          <a:ln/>
        </p:spPr>
      </p:sp>
      <p:sp>
        <p:nvSpPr>
          <p:cNvPr id="23" name="Shape 18"/>
          <p:cNvSpPr/>
          <p:nvPr/>
        </p:nvSpPr>
        <p:spPr>
          <a:xfrm>
            <a:off x="9436608" y="2468880"/>
            <a:ext cx="2670048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41401873928151e+33" dist="2.0302570272305663e+33" dir="1.5116544e+40">
              <a:srgbClr val="1B2E2B">
                <a:alpha val="1.8e+39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451592" y="2697480"/>
            <a:ext cx="640080" cy="640080"/>
          </a:xfrm>
          <a:prstGeom prst="ellipse">
            <a:avLst/>
          </a:prstGeom>
          <a:solidFill>
            <a:srgbClr val="6B4C8A"/>
          </a:solidFill>
          <a:ln/>
        </p:spPr>
      </p:sp>
      <p:pic>
        <p:nvPicPr>
          <p:cNvPr id="25" name="Image 3" descr="/home/user/scm-process-register/docs-src/frameworks-deck/assets/chart-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7896" y="2843784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28048" y="342900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528048" y="37947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together, not separately: Change + high Knowledge/Ability + Ending + Exploration is a cohort that has learned the new skill and started experimenting with it, but has not yet let go of the old identity — exactly the pattern ALT-001 is built to surface, before it reaches go-live.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ALT-001: Divergence Pattern Detected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alert computed directly, live, from two frameworks at once — not a single-module trigger.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3291840"/>
          </a:xfrm>
          <a:prstGeom prst="roundRect">
            <a:avLst>
              <a:gd name="adj" fmla="val 1389"/>
            </a:avLst>
          </a:prstGeom>
          <a:solidFill>
            <a:srgbClr val="EAF2E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COMPUTED RULE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≥ 4 AND Ability ≥ 4 on M5, while Bridges reads exactly "Ending" on M6, for the same cohort.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 · Escalation: L2 — Change Manager · SLA: acknowledge within 48h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separate module — it is computed live from M5 and M6 data and surfaces exclusively as ALT-001 in the Notification Center.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532120" cy="3291840"/>
          </a:xfrm>
          <a:prstGeom prst="roundRect">
            <a:avLst>
              <a:gd name="adj" fmla="val 1389"/>
            </a:avLst>
          </a:prstGeom>
          <a:solidFill>
            <a:srgbClr val="F7E4D2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860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COMBINATION MATTERS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cohort can be fully trained and technically capable, and still not have emotionally accepted the old way is gone. Attendance and competency data alone would miss this entirely — only the Bridges cross-reference surfaces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411480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case: the Bouregreg ERP program's Casablanca finance cohort fires ALT-001 at Week 28 (Test phase) — Exception E2 in the Master User Guide, caught and resolved before go-live rather than discovered after.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three inputs, recalculated live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3846"/>
            </a:avLst>
          </a:prstGeom>
          <a:solidFill>
            <a:srgbClr val="1542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ADKAR% × 0.50  +  Kübler-Ross sentiment% × 0.25  +  Training completion% × 0.25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M14 (Analytics) · Recalculated live as any of its three inputs change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611880" cy="2651760"/>
          </a:xfrm>
          <a:prstGeom prst="roundRect">
            <a:avLst>
              <a:gd name="adj" fmla="val 1724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1B2E2B">
                <a:alpha val="1.8e+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6576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five-block score, per cohort — the heaviest-weighted input, since it directly measures whether people can actually do the new thing.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288536" y="3520440"/>
            <a:ext cx="3611880" cy="2651760"/>
          </a:xfrm>
          <a:prstGeom prst="roundRect">
            <a:avLst>
              <a:gd name="adj" fmla="val 1724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732270824587148e+41" dist="3.2746015592201804e+41" dir="5.44195584e+49">
              <a:srgbClr val="1B2E2B">
                <a:alpha val="1.8e+49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71416" y="36576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71416" y="4206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Sentiment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71416" y="45720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cohort feels right now — a real, not cosmetic, quarter-weight in the final number.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28432" y="3520440"/>
            <a:ext cx="3611880" cy="2651760"/>
          </a:xfrm>
          <a:prstGeom prst="roundRect">
            <a:avLst>
              <a:gd name="adj" fmla="val 1724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1B2E2B">
                <a:alpha val="1.8e+5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11312" y="36576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11312" y="4206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11312" y="45720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on M9 — the one input that is not itself a framework score, grounding the index in a concrete, auditable fact.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CRI trend, not just the number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M14's benchmarking view reads a project's CRI trend against the pace this guide series treats as expected for its archetype and week — In Line, Ahead, or Behind.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1B2E2B">
                <a:alpha val="1.8000000000000001e+5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96312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96312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0" y="2331720"/>
            <a:ext cx="8503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 trend tracks the expected curve for this archetype and week — the default, unremarkable reading most weeks should show.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1B2E2B">
                <a:alpha val="1.8e+6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776472"/>
            <a:ext cx="630936" cy="274320"/>
          </a:xfrm>
          <a:prstGeom prst="roundRect">
            <a:avLst>
              <a:gd name="adj" fmla="val 166667"/>
            </a:avLst>
          </a:prstGeom>
          <a:solidFill>
            <a:srgbClr val="2E5F8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76472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0" y="3611880"/>
            <a:ext cx="8503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 trend outpaces the expected curve — worth naming explicitly rather than assuming it will simply continue, since an early lead can mask a later-surfacing gap (as in Exception E6's disaggregation).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1B2E2B">
                <a:alpha val="1.8e+6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5056632"/>
            <a:ext cx="705917" cy="274320"/>
          </a:xfrm>
          <a:prstGeom prst="roundRect">
            <a:avLst>
              <a:gd name="adj" fmla="val 166667"/>
            </a:avLst>
          </a:prstGeom>
          <a:solidFill>
            <a:srgbClr val="B4463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56632"/>
            <a:ext cx="705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0" y="4892040"/>
            <a:ext cx="8503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 trend lags the expected curve — the reading that should trigger a specific recovery task, not just a note for the next status meeting.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DIFFERS BY ARCHETYPE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frameworks, read with different emphasis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logs all four frameworks on every one of its 8 registered transformation-archetype lifecycles — but which one dominates the real risk differs by type.</a:t>
            </a:r>
            <a:endParaRPr lang="en-US" sz="12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Framework(s)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 + Lewin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system cutover needs both organizational readiness and individual capability at once.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Kübler-Ross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privately own the workarounds being redesigned away — resistance is the central risk.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 (light touch)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narrow, low-resistance scope means all four frameworks read favorably from the start.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Lewin (Refreeze never closes)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surveillance runs ongoing — the organizational state never fully "sets."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 + Kübler-Ross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and emotional integration matter more than any specific skill.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 Reinforcement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Reversion under operational pressure, not initial adoption, is the real risk.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 (Awareness + Ability)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Checkable behaviors matter; Desire matters far less than in any other archetype.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&amp; Skills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 (all five blocks)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entire program exists to move a population through the ADKAR arc itself.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MODULES EACH FRAMEWORK TOUCHES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cross-reference</a:t>
            </a:r>
            <a:endParaRPr lang="en-US" sz="25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 Into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(Initiative Registry)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Gate context on M17; the organizational backdrop for every other reading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(ADKAR Engine)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M14's Composite Readiness Index (50% weight); ALT-001's Knowledge/Ability 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(Emotional &amp; Transition Layer)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ALT-001's emotional-position input; sustainment evidence for Refreeze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Kübler-Ross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(Emotional &amp; Transition Layer)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M14's Composite Readiness Index (25% weight); ALT-004 via the Resistance Log (M10)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(M9), the CRI's third input, is the one piece of evidence in the index that is not itself a framework score — a deliberate design choice keeping the index grounded in something concrete and auditable.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THE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9 live alerts trace to which framework</a:t>
            </a:r>
            <a:endParaRPr lang="en-US" sz="2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Link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ALT-001 Divergence Pattern Detected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 (Knowledge, Ability) + Bridges (Ending) — computed jointly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ALT-002 Regression Risk Score Critical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 Reinforcement, via a High-risk M12 sustainment checkpoint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ALT-003 Sponsor Coverage Gap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framework score directly — damages Bridges and Kübler-Ross fastest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ALT-004 Resistance Escalation Threshold Breached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Kübler-Ross (Resistance/Anger), via the Resistance Log (M10)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ALT-008 Change Saturation Threshold Breached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Portfolio-level — not tied to a single framework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ALT-009 Phase Gate No-Go / Conditional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Lewin — a Phase Gate is the organizational-transition checkpoint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ALT-010 Guiding Coalition Gap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framework score directly — a Sponsor &amp; Coalition (M7) structural gap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ALT-011 Communication Overload Detected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Portfolio-level — not tied to a single framework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ALT-015 Sustainment Sign-Off Blocked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 Reinforcement + Lewin Refreeze, blocked until the regression clears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PATHS BY 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stakeholder should actually watch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67712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6" name="Image 0" descr="/home/user/scm-process-register/docs-src/frameworks-deck/asset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41401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2199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09160" y="2221992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Notification Center bell first, then M14 for the trend behind whatever fired — the day-to-day owner of all four frameworks.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82112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346704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1" name="Image 1" descr="/home/user/scm-process-register/docs-src/frameworks-deck/assets/user-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493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30098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/ Steering Committee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09160" y="3300984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M14's benchmarking view for the blended readiness trend; ALT-003, ALT-004, ALT-009, and ALT-010 name them directly as a recipient.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61104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425696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6" name="Image 2" descr="/home/user/scm-process-register/docs-src/frameworks-deck/assets/users-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57200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7997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/ Program Manager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709160" y="4379976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ALT-008 and ALT-009 are PM-facing by design — saturation and gate outcomes are portfolio- and schedule-level concerns first.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340096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504688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1" name="Image 3" descr="/home/user/scm-process-register/docs-src/frameworks-deck/assets/shield-halv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65099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45896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09160" y="5458968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9 live alerts route here by default; their standing responsibility is tenant configuration, not day-to-day alert triage.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Four Frameworks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0116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frameworks-deck/asset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762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926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lenses. One traceable record.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85800" y="374904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never asks anyone to reconcile Lewin, ADKAR, Bridges, and Kübler-Ross by hand — every reading is scored, justified, and computed into one auditable picture.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2026-09-05T15:11:09Z</dcterms:created>
  <dcterms:modified xsi:type="dcterms:W3CDTF">2026-09-05T15:11:09Z</dcterms:modified>
</cp:coreProperties>
</file>
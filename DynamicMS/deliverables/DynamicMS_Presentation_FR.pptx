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881360" y="4480560"/>
            <a:ext cx="2194560" cy="2194560"/>
          </a:xfrm>
          <a:prstGeom prst="ellipse">
            <a:avLst/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600" b="1" i="0">
                <a:solidFill>
                  <a:srgbClr val="3A3A3C"/>
                </a:solidFill>
                <a:latin typeface="Cambria"/>
              </a:rPr>
              <a:t>POWERACT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60120"/>
            <a:ext cx="45720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E07B00"/>
                </a:solidFill>
                <a:latin typeface="Calibri"/>
              </a:rPr>
              <a:t>C O N S U L T I N 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DYNAMICMS 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914400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3A3A3C"/>
                </a:solidFill>
                <a:latin typeface="Cambria"/>
              </a:rPr>
              <a:t>DynamicMS — Système de management intégré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8686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58595B"/>
                </a:solidFill>
                <a:latin typeface="Calibri"/>
              </a:rPr>
              <a:t>Déploiements complets SMQ et QHSE pour chaque secteur, grandes entreprises et PME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808184"/>
                </a:solidFill>
                <a:latin typeface="Calibri"/>
              </a:rPr>
              <a:t>POWERACT Consulting ·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DYNAMICMS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2996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Ce que fait l'application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748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80720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Le cycle de vie d'un système de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58444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Les principaux écrans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5196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36168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Un déploiement complet par secteur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29200"/>
            <a:ext cx="8229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E07B00"/>
                </a:solidFill>
                <a:latin typeface="Cambri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138928"/>
            <a:ext cx="82296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0" i="0">
                <a:solidFill>
                  <a:srgbClr val="3A3A3C"/>
                </a:solidFill>
                <a:latin typeface="Calibri"/>
              </a:rPr>
              <a:t>Installation et prochaines étapes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Sommaire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Une application pour tout le cycle de vie d'un système de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De l'analyse du contexte à l'amélioration continue, chaque étape est attribuée, enregistrée et tracée.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workflow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19" y="2743200"/>
            <a:ext cx="56692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19" y="3520440"/>
            <a:ext cx="2926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3A3A3C"/>
                </a:solidFill>
                <a:latin typeface="Cambria"/>
              </a:rPr>
              <a:t>Cycle de vie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4069080"/>
            <a:ext cx="29260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12 phases de bout en bout, 162 macro-processus et 1 572 étapes de workflow, chacune avec son formulaire.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4688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hield-alert-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743200"/>
            <a:ext cx="566928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63440" y="3520440"/>
            <a:ext cx="2926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3A3A3C"/>
                </a:solidFill>
                <a:latin typeface="Cambria"/>
              </a:rPr>
              <a:t>Gouvernance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69080"/>
            <a:ext cx="29260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Règles métier, contrôles COSO, risques, RACSI et KPI liés aux étapes qu'ils encadrent.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24688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clipboard-check-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59" y="2743200"/>
            <a:ext cx="566928" cy="5669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66759" y="3520440"/>
            <a:ext cx="292608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000" b="1" i="0">
                <a:solidFill>
                  <a:srgbClr val="3A3A3C"/>
                </a:solidFill>
                <a:latin typeface="Cambria"/>
              </a:rPr>
              <a:t>Preuves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4069080"/>
            <a:ext cx="2926080" cy="1463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58595B"/>
                </a:solidFill>
                <a:latin typeface="Calibri"/>
              </a:rPr>
              <a:t>Non-conformités, audits, documents et registres, avec versions et piste d'audit.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Présentation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DONNÉES DE DÉMONSTRATION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La base initialisée contient 120 déploiements complets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889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organisations dans 2 groupes et 1 PME indépendante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617720" y="201168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7889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projets complets : SMQ et QHSE pour chacune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82880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21040" y="201168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84 603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788920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étapes de workflow avec leurs valeurs saisies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1 141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09159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utilisateurs répartis sur 19 rôles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749039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617720" y="393192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709159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langues : anglais, français, arabe (de droite à gauche)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19" y="3749039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21040" y="3931920"/>
            <a:ext cx="301752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600" b="1" i="0">
                <a:solidFill>
                  <a:srgbClr val="E07B00"/>
                </a:solidFill>
                <a:latin typeface="Cambria"/>
              </a:rPr>
              <a:t>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709159"/>
            <a:ext cx="3017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 i="0">
                <a:solidFill>
                  <a:srgbClr val="58595B"/>
                </a:solidFill>
                <a:latin typeface="Calibri"/>
              </a:rPr>
              <a:t>secteurs : 29 secteurs plus universel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Comptages après npm run seed ; toutes les valeurs sont des données de démonstration fictives.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Données de démonstration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77724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Le cycle de vie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73152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Douze processus de bout en bout exécutés dans l'ordre ; des jalons clôturent les phases.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Le cycle de vie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PROCESSUS DE BOUT EN 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Un déploiement traverse douze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Chaque phase regroupe les macro-processus activés pour l'organisation ; un jalon avec sa liste de contrôle la clôture.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77240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Du contexte à la stratégie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6311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33471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1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Du leadership à l'engagement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489704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9704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Du risque à la résilience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345936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De la conformité à la réussite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7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02167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Des personnes aux capacités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39" y="246888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058399" y="257860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399" y="288036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De l'infrastructure au bien-être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De la connaissance à la maîtrise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96311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33471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33471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Des exigences à la livraison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52544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89704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De la vérification à la préparation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345936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De la surveillance à l'évaluation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7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202167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02167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De l'audit à l'assurance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21239" y="4160520"/>
            <a:ext cx="169164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058399" y="4270248"/>
            <a:ext cx="146304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1" i="0" spc="100">
                <a:solidFill>
                  <a:srgbClr val="E07B00"/>
                </a:solidFill>
                <a:latin typeface="Calibri"/>
              </a:rPr>
              <a:t>E2E-12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399" y="4572000"/>
            <a:ext cx="146304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3A3A3C"/>
                </a:solidFill>
                <a:latin typeface="Calibri"/>
              </a:rPr>
              <a:t>De la correction à l'innovation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Cartes teintées : phases avec jalon dans tous les parcours PME (E2E-01, E2E-09, E2E-10).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 cycle de vie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77724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Les principaux écrans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73152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Écrans capturés sur le déploiement SMQ de Horizon Holding Universelle.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ACCUEIL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L'état du déploiement en un coup d'œil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Avancement par phase de bout en bout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Tendance du KPI au regard de sa cible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Prochaines étapes pour mes rôles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CYCLE DE VIE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Douze phases exécutées dans l'ordre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Une carte par phase avec les étapes terminées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Statut et décision du jalon sur chaque carte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Macro-processus de la phase choisie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JALONS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Un jalon clôture chaque phase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Critères de sortie et liste de contrôle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Go seulement quand toutes les étapes sont terminées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En attente et No-Go exigent un commentaire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ÉTAPE DE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Chaque étape a son formulaire de saisie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20 types de formulaires pour 1 572 étapes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Noms explicites, description brève et détaillée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Générer un document, joindre des fichiers avec historique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TABLEAUX D'ENREGISTREMENTS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Une ligne par élément, chacune avec sa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Ajouter, modifier ou supprimer des lignes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Personnes et unités issues de l'OBS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Les plans deviennent des actions, les objectifs un registre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MATRICE DE DÉCISION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Des notes expliquées critère par critère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Poids et notes de 1 à 5 avec les faits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Note pondérée calculée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Échelle de notation affichée sur l'étape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TRAÇABILITÉ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Les étapes terminées gardent leurs preuves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step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Qui a terminé l'étape et quand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La réouverture exige une justification écrite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 jalon franchi verrouille la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MACRO-PROCESSUS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Le SIPOC de chaque macro-processus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sip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Fournisseurs, entrées, processus, sorties,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Tâches et étapes dans l'ordre d'exécution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KPI, règles et cas d'usage IA du processus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BPMN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Diagrammes générés à partir de la conception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bp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 couloir par rôle, une tâche par étape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Palette dans son propre panneau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Export et import de fichiers .bpmn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RISQUES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Risques, dangers et aspects sur une carte thermique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Probabilité × impact sur une échelle de 1 à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Le QHSE ajoute dangers SST et aspects environnementaux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Traitement et score résiduel par entrée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KPI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KPI mesurés chaque mois au regard de la cible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KPI du catalogue, du secteur et de 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Une valeur hors cible déclenche une alerte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KPI personnalisés avec règles de mesure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RACSI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Un seul approbateur par activité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ac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Activités de chaque phase et 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Réalise, consulté, soutien, informé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Règle imposée par la base de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RACSI PAR MACRO-PROCESSUS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Cinq colonnes, par défaut pour toutes les étapes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acsi-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Modifié sur la page du macro-processus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 RACSI d'étape seulement si une étape diffère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Vérifié avant de commencer (liste de préparation)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NON-CONFORMITÉS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De la détection au retour d'expérience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n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Cinq étapes, une à la fois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Propriétaire et évaluateur distincts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La clôture exige le retour d'expérience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Documents générés à partir des données du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docu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Word, PDF et Excel, page de garde et sommaire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Brouillon, revue, publié, remplacé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Structure modifiable, mise en page, droits par rôle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DOCUMENTS EXIGÉS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Ce que demandent ISO 9001, 14001 et 45001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manda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Tenir à jour (document) ou conserver (enregistrement)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Le document qui répond à chaque exigence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Créer un document manquant en un clic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MODÈLES SMI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37 modèles remplis avec les données du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templ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Politiques, périmètre, manuel, registres, procédures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Sections avec leur source de données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Copier et adapter, ou créer des modèles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RECHERCHE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Une seule recherche pour toute l'application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Étapes, enregistrements, documents, personnes et aide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Groupés par type, dans les droits de l'utilisateur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Bouton du menu ou Ctrl+K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CONCEPTION DES PROCESSUS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Créer, modifier, retirer et restaurer chaque élément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design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Fonctions, phases, macro-processus, tâches, étapes, jalons, listes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Chaque enregistrement est une version : comparer et restaurer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Les projets en cours gardent leur version de départ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RÔLES 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Rôles liés aux fonctions, tenus par des personnes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 rôle couvre une ou plusieurs fonctions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Une personne tient un ou plusieurs rôles (titulaire, suppléant, intérim)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Vues par rôle, par fonction et par personne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SPÉCIFICATION DU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Un champ par aspect du 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Rôle, contexte, tâche, contraintes, exemples, format, etc.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Chaque champ versionné ; restaurer toute 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 cas d'usage incomplet ne peut pas être activé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AUDITS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Programme d'audit et constats qualifiés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audi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Fréquence dans une liste ou personnalisée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Majeure, mineure, observation, piste de progrès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Fiche détaillée pour chaque non-conformité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REGISTRES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Registres et enregistrements plus détaillés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egister-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Équipements de mesure, modifications, compétences, obligations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Tous les champs d'une entrée dans son détail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Documents construits à partir des mêmes données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BESOINS ET ATTENTES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Un besoin rattaché à une ou plusieurs parties intéressées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nee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Saisi, pris dans la bibliothèque ou proposé par l'IA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Type, obligation de conformité et réponse pour chaque besoin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Registres et documents alimentés à la clôture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TABLEAUX D'ENREGISTREMENTS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Colonnes qualifiées, listes avec Personnalisé, grand éditeur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ow-ed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« Enjeu externe », « Partie intéressée », et non « Élément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Chaque choix : une liste avec une entrée Personnalisé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Chaque ligne s'ouvre dans une grande fenêtre, avec retour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PLANIFICATION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Organigramme des tâches et diagramme de Gantt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 nœud par phase avec ses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Dépendances tracées entre phases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Éléments en retard en rouge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ALERTES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Déclenchées une fois, envoyées sur le chemin d'escalade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Dédoublonnées par enregistrement et période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Journal d'envoi application et e-mail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Types d'alertes activés par organisation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CAS D'USAGE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Suggestions de l'IA avec point de contrôle humain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Chaque cas d'usage relié à son étape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Prompt construit à partir de l'étape, visible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Acceptée, modifiée ou rejetée, et journalisée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MODÈLES D'IA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Modèles de langage standard ou personnalisés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l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Claude, OpenAI, Azure, Gemini, Mistral ou personnalisé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Clés chiffrées, test de connexion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Moteur intégré en solution de repli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PORTEFEUILLE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Tous les projets du groupe, étape par étape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portfol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Une ligne par projet, une colonne par 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Autres organisations en lecture seule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Export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BENCHMARKING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Organisations classées sur des indicateurs partagés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Même catalogue pour toutes les vues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Seules les organisations qui partagent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Masqué sous trois 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NOUVEAU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Catalogue, manuel ou avec l'IA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new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Modèles par secteur, mode et parcours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Le score de complexité recommande le parcours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Chaque élément de l'IA accepté ou rejeté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RAPPORTS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Rapports en trois langues et quatre formats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09928"/>
            <a:ext cx="7781544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f-re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037" y="1783080"/>
            <a:ext cx="7073628" cy="42245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732520" y="187451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915400" y="203911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PDF, Excel, Word et CSV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3200400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915400" y="3364992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Éléments de revue de direction (ISO 9001 § 9.3.2)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4526279"/>
            <a:ext cx="28346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15400" y="4690871"/>
            <a:ext cx="2514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 i="0">
                <a:solidFill>
                  <a:srgbClr val="3A3A3C"/>
                </a:solidFill>
                <a:latin typeface="Calibri"/>
              </a:rPr>
              <a:t>Rapports arabes de droite à gauche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Les principaux écrans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3A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1280160"/>
            <a:ext cx="4389120" cy="4389120"/>
          </a:xfrm>
          <a:prstGeom prst="ellipse">
            <a:avLst/>
          </a:prstGeom>
          <a:noFill/>
          <a:ln w="76200">
            <a:solidFill>
              <a:srgbClr val="F893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777240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Un déploiement complet par secteur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73152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800" b="0" i="0">
                <a:solidFill>
                  <a:srgbClr val="E3E3E4"/>
                </a:solidFill>
                <a:latin typeface="Calibri"/>
              </a:rPr>
              <a:t>Pour chaque secteur : le cycle de vie de la grande entreprise et les chiffres de la PME correspondante.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E3E3E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E3E3E4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AEC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AEC et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Bâtiment &amp; Construction  ·  Nova Bâtiment &amp; Construction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A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19650, EN 1090, CE Marking (CPR)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AER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Aéronautique et défense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Aérostructures  ·  Nova Aérostructures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A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AS9100D, NADCAP, ITAR/EAR, AS9120B, EASA/FAA  ·  Pack sectoriel: DMS-AERO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AUT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Automobile et transport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Systèmes Automobiles  ·  Nova Systèmes Automobiles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A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IATF 16949, ISO 26262, ISO/SAE 21434, ASPICE, AEC-Q  ·  Pack sectoriel: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CON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Produits de consommation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Produits de Consommation  ·  Nova Produits de Consommation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ISO 22716, FDA CGMP, ISO 13485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CPG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Produits de grande consommation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Biens de Consommation  ·  Nova Biens de Consommation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C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22000, FDA 21 CFR 110, FSSC 22000, HACCP  ·  Pack sectoriel: DMS-FOOD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DST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Distribution  ·  Nova Distribution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D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GDP, IFS Logistic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ELE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Électronique et haute technologie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Électronique  ·  Nova Électronique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IPC-A-610, IPC-J-STD-001, ISO 9001, RoHS, REACH  ·  Pack sectoriel: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ENG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Énergie et services publics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Énergie &amp; Services Publics  ·  Nova Énergie &amp; Services Publics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E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55001, IEC 62443, NERC CIP, IEC 62351  ·  Pack sectoriel: DMS-PROC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FAB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Fabrication et assemblage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Construction Métallique  ·  Nova Construction Métallique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F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EN 1090, ISO 3834, ISO 14554, DIN EN 1090-2  ·  Pack sectoriel: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FNB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Agroalimentaire et boissons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Agroalimentaire  ·  Nova Agroalimentaire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FN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HACCP, ISO 22000, FSSC 22000, BRCGS, IFS Food  ·  Pack sectoriel: DMS-FOOD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HCA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Santé (établissements de soins)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Cliniques  ·  Nova Cliniques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H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JCI, ISO 9001, HIPAA, GDPR, NHA  ·  Pack sectoriel: DMS-LSCI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HLS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Santé et sciences de la vie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Dispositifs MedTech  ·  Nova Dispositifs MedTech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H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13485, FDA 21 CFR Part 820, EU MDR 2017/745  ·  Pack sectoriel: DMS-LSCI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Machines industrielles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Machines Industrielles  ·  Nova Machines Industrielles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I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EN ISO 12100, EN ISO 13849-1, EN 62061, CE Marking  ·  Pack sectoriel: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INF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Infrastructures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Infrastructures  ·  Nova Infrastructures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I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55001, EN 1090, EN 1990, CE Marking  ·  Pack sectoriel: DMS-PROC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Logistique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Logistique  ·  Nova Logistique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TAPA FSR/TSR, IFS Logistics, GDP, AEO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MFG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Industrie manufacturière (générique)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Industrie  ·  Nova Industrie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MF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ISO 14001, ISO 45001, CE Marking  ·  Pack sectoriel: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PCH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Procédés/pétrochimie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Pétrochimie  ·  Nova Pétrochimie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API 510, API 570, ASME VIII, NBIC, ISO 14644  ·  Pack sectoriel: DMS-PROC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PCI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Industries de procédés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Industries de Procédés  ·  Nova Industries de Procédés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22000, FDA FSMA, HACCP, GMP  ·  Pack sectoriel: DMS-FOOD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PED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Enseignement privé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Écoles Privées  ·  Nova Écoles Privées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National Accreditation, ISO 21001, Reg. Educ. Authority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PHA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Laboratoires Pharma  ·  Nova Laboratoires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GMP, ICH Q7/Q9/Q10, ISO 14644  ·  Pack sectoriel: DMS-LSCI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PHM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Pharmaceutique et procédés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Procédés Pharma  ·  Nova Procédés 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GMP (EU Annex 1), ICH Q7/Q9/Q10, ISO 14644, WHO TRS 961  ·  Pack sectoriel: DMS-LSCI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PPG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Procédés/produits emballés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Aliments Emballés  ·  Nova Aliments Emballés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22000, FDA FSVP, HACCP, Codex Alim., GFSI  ·  Pack sectoriel: DMS-FOOD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PUED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Enseignement public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Éducation Publique  ·  Nova Éducation Publique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PU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Ministry of Education, National Curriculum, ISO 21001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RET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Commerce de détail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Magasins de Détail  ·  Nova Magasins de Détail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R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PCI DSS 4.0, GDPR, ISO 27001, ISO 45001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RFA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Distribution, chaussure et habillement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Mode &amp; Chaussure  ·  Nova Mode &amp; Chaussure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R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GOTS, OEKO-TEX 100, SA8000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SEM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Semi-conducteurs et fabrication électronique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Semi-conducteurs  ·  Nova Semi-conducteurs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S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IATF 16949, AEC-Q100, IEC 61508, ISO 14001  ·  Pack sectoriel: DMS-AUTO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SHB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Construction navale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Chantiers Navals  ·  Nova Chantiers Navals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SH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SOLAS, MARPOL, IMO GBS, IACS  ·  Pack sectoriel: DMS-MARI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Économie sociale et solidaire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Coopératives Équitables  ·  Nova Coopératives Équitables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593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Fairtrade, WFTO, SA8000, ISO 26000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TEL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Télécommunications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Réseaux Télécoms  ·  Nova Réseaux Télécoms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747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89%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Léger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TL 9000, ISO 9001, ISO 27001, ISO 22301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SECTEUR · 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 i="0">
                <a:solidFill>
                  <a:srgbClr val="3A3A3C"/>
                </a:solidFill>
                <a:latin typeface="Cambria"/>
              </a:rPr>
              <a:t>Universel (tous secteurs)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515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Horizon Holding Universelle  ·  Atlas PME Universelle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75688"/>
            <a:ext cx="7370064" cy="39867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sector-U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826" y="2148840"/>
            <a:ext cx="6430571" cy="38404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2057400"/>
            <a:ext cx="3246120" cy="2788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503919" y="2148840"/>
            <a:ext cx="128016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58595B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48672" y="21945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Grande entreprise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21945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PME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19" y="25603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48672" y="25603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111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80192" y="25603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292607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Macro-processus QHSE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48672" y="292607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121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80192" y="292607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3291839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48672" y="3291839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1057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80192" y="3291839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365760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Étapes QHSE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48672" y="365760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1155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80192" y="365760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620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402336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Avancement QMS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48672" y="402336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402336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19" y="4389120"/>
            <a:ext cx="14173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58595B"/>
                </a:solidFill>
                <a:latin typeface="Calibri"/>
              </a:rPr>
              <a:t>Parcours PME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48672" y="4389120"/>
            <a:ext cx="73152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80192" y="4389120"/>
            <a:ext cx="86868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A3A3C"/>
                </a:solidFill>
                <a:latin typeface="Cambria"/>
              </a:rPr>
              <a:t>Standard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4983480"/>
            <a:ext cx="3246120" cy="1005840"/>
          </a:xfrm>
          <a:prstGeom prst="roundRect">
            <a:avLst>
              <a:gd name="adj" fmla="val 5000"/>
            </a:avLst>
          </a:prstGeom>
          <a:solidFill>
            <a:srgbClr val="FD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503919" y="5047488"/>
            <a:ext cx="29260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3A3A3C"/>
                </a:solidFill>
                <a:latin typeface="Calibri"/>
              </a:rPr>
              <a:t>Normes incontournables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19" y="5303520"/>
            <a:ext cx="2926080" cy="6858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3A3A3C"/>
                </a:solidFill>
                <a:latin typeface="Calibri"/>
              </a:rPr>
              <a:t>ISO 9001, ISO 14001, ISO 45001  ·  Pack sectoriel: aucun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  <a:latin typeface="Calibri"/>
              </a:rPr>
              <a:t>Écran Cycle de vie du déploiement SMQ : cartes de phase avec étapes terminées et statut des jalons.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Un déploiement complet par secteur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1" i="0" spc="200">
                <a:solidFill>
                  <a:srgbClr val="E07B00"/>
                </a:solidFill>
                <a:latin typeface="Calibri"/>
              </a:rPr>
              <a:t>PROCHAINES ÉTAPES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3000" b="1" i="0">
                <a:solidFill>
                  <a:srgbClr val="3A3A3C"/>
                </a:solidFill>
                <a:latin typeface="Cambria"/>
              </a:rPr>
              <a:t>Installer, initialiser et lancer en trois commandes par dossier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server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31136"/>
            <a:ext cx="566928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1640" y="2286000"/>
            <a:ext cx="96012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A3A3C"/>
                </a:solidFill>
                <a:latin typeface="Calibri"/>
              </a:rPr>
              <a:t>server : npm install · npm run seed · npm run dev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0896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globe-gr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36976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91640" y="3291840"/>
            <a:ext cx="96012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A3A3C"/>
                </a:solidFill>
                <a:latin typeface="Calibri"/>
              </a:rPr>
              <a:t>web : npm install · npm run 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14800"/>
            <a:ext cx="1088136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01600" dist="19050" dir="5400000" algn="t" rotWithShape="0">
              <a:srgbClr val="3A3A3C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list-checks-gr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42816"/>
            <a:ext cx="566928" cy="566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91640" y="4297680"/>
            <a:ext cx="96012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A3A3C"/>
                </a:solidFill>
                <a:latin typeface="Calibri"/>
              </a:rPr>
              <a:t>Ouvrez http://localhost:5173 et connectez-vous avec un compte de démonstration (mot de passe Demo@2026)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58595B"/>
                </a:solidFill>
                <a:latin typeface="Calibri"/>
              </a:rPr>
              <a:t>Les guides utilisateur indiquent, pour chaque étape des cinq scénarios, les valeurs à saisir.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808184"/>
                </a:solidFill>
                <a:latin typeface="Calibri"/>
              </a:rPr>
              <a:t>POWERACT Consulting  ·  Prochaines étapes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91440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/>
            <a:r>
              <a:rPr sz="1000" b="0" i="0">
                <a:solidFill>
                  <a:srgbClr val="808184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
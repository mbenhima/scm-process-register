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4480560"/>
            <a:ext cx="2194560" cy="219456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3A3A3C"/>
                </a:solidFill>
                <a:latin typeface="Cambria"/>
              </a:rPr>
              <a:t>POWERACT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E07B00"/>
                </a:solidFill>
                <a:latin typeface="Calibri"/>
              </a:rPr>
              <a:t>C O N S U L T I N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91440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3A3A3C"/>
                </a:solidFill>
                <a:latin typeface="Cambria"/>
              </a:rPr>
              <a:t>DynamicMS — Système de management intégré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51960"/>
            <a:ext cx="8686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58595B"/>
                </a:solidFill>
                <a:latin typeface="Calibri"/>
              </a:rPr>
              <a:t>Déploiements complets SMQ et QHSE pour chaque secteur, grandes entreprises et PME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808184"/>
                </a:solidFill>
                <a:latin typeface="Calibri"/>
              </a:rPr>
              <a:t>POWERACT Consulting ·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2996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Ce que fait l'application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0720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Le cycle de vie d'un système de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8444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Les principaux écrans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36168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Un déploiement complet par secteur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3892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Installation et prochaines étapes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Sommaire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PRÉSENTATION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Une application pour tout le cycle de vie d'un système de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De l'analyse du contexte à l'amélioration continue, chaque étape est attribuée, enregistrée et tracée.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workflow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74320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1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Cycle de vie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12 phases de bout en bout, 162 macro-processus et 1 572 étapes de workflow, chacune avec son formulaire.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hield-alert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43200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3440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Gouvernance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Règles métier, contrôles COSO, risques, RACSI et KPI liés aux étapes qu'ils encadrent.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clipboard-check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59" y="2743200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75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Preuves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Non-conformités, audits, documents et registres, avec versions et piste d'audit.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Présentation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DONNÉES DE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La base initialisée contient 120 déploiements complets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organisations dans 2 groupes et 1 PME indépendante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projets complets : SMQ et QHSE pour chacune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84 603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étapes de workflow avec leurs valeurs saisies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1 141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utilisateurs répartis sur 19 rôles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772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langues : anglais, français, arabe (de droite à gauche)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4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secteurs : 29 secteurs plus universel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Comptages après npm run seed ; toutes les valeurs sont des données de démonstration fictives.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Données de démonstration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 cycle de vie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Douze processus de bout en bout exécutés dans l'ordre ; des jalons clôturent les phases.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Le cycle de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PROCESSUS DE BOUT EN 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Un déploiement traverse douze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Chaque phase regroupe les macro-processus activés pour l'organisation ; un jalon avec sa liste de contrôle la clôture.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contexte à la stratégie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6311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33471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1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leadership à l'engagement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risque à la résilience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45936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conformité à la réussite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02167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Des personnes aux capacités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39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58399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9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l'infrastructure au bien-être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connaissance à la maîtrise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96311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33471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3471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Des exigences à la livraison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52544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9704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vérification à la préparation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45936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surveillance à l'évaluation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7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02167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7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l'audit à l'assurance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21239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58399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399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correction à l'innovation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Cartes teintées : phases avec jalon dans tous les parcours PME (E2E-01, E2E-09, E2E-10).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 cycle de vie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Les principaux écrans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Écrans capturés sur le déploiement SMQ de Horizon Holding Universelle.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ACCUEIL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L'état du déploiement en un coup d'œil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Avancement par phase de bout en bout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Tendance du KPI au regard de sa cible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Prochaines étapes pour mes rôles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CYCLE DE VIE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Douze phases exécutées dans l'ordre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carte par phase avec les étapes terminées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Statut et décision du jalon sur chaque carte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Macro-processus de la phase choisie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JALONS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 jalon clôture chaque phase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Critères de sortie et liste de contrôle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Go seulement quand toutes les étapes sont terminées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En attente et No-Go exigent un commentaire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ÉTAPE DE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Chaque étape a son formulaire de saisie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20 types de formulaires pour 1 572 étapes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Noms explicites, description brève et détaillée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Générer un document, joindre des fichiers avec historique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TABLEAUX D'ENREGISTREMENTS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Une ligne par élément, chacune avec sa 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Ajouter, modifier ou supprimer des lignes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Personnes et unités issues de l'OBS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Les plans deviennent des actions, les objectifs un registre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MATRICE DE DÉCISION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Des notes expliquées critère par critère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Poids et notes de 1 à 5 avec les faits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Note pondérée calculée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Échelle de notation affichée sur l'étape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TRAÇABILITÉ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Les étapes terminées gardent leurs preuves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Qui a terminé l'étape et quand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La réouverture exige une justification écrite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jalon franchi verrouille la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MACRO-PROCESSUS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Le SIPOC de chaque macro-processus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i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Fournisseurs, entrées, processus, sorties, clients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Tâches et étapes dans l'ordre d'exécution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KPI, règles et cas d'usage IA du processus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BPMN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Diagrammes générés à partir de la conception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couloir par rôle, une tâche par étape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Palette dans son propre panneau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et import de fichiers .bpmn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RISQUES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Risques, dangers et aspects sur une carte thermique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Probabilité × impact sur une échelle de 1 à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 QHSE ajoute dangers SST et aspects environnementaux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Traitement et score résiduel par entrée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KPI mesurés chaque mois au regard de la cible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du catalogue, du secteur et de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valeur hors cible déclenche une alerte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personnalisés avec règles de mesure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 seul approbateur par activité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Activités de chaque phase et macro-processus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Réalise, consulté, soutien, informé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Règle imposée par la base de données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 PAR MACRO-PROCESSUS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Cinq colonnes, par défaut pour toutes les étapes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-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Modifié sur la page du macro-processus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RACSI d'étape seulement si une étape diffère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Vérifié avant de commencer (liste de préparation)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NON-CONFORMITÉS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De la détection au retour d'expérience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Cinq étapes, une à la fois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Propriétaire et évaluateur distincts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La clôture exige le retour d'expérience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Documents générés à partir des données du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Word, PDF et Excel, page de garde et sommaire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Brouillon, revue, publié, remplacé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Structure modifiable, mise en page, droits par 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DOCUMENTS EXIGÉS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Ce que demandent ISO 9001, 14001 et 45001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manda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Tenir à jour (document) ou conserver (enregistrement)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 document qui répond à chaque exigence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Créer un document manquant en un clic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MODÈLES SMI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37 modèles remplis avec les données du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Politiques, périmètre, manuel, registres, procédures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Sections avec leur source de données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Copier et adapter, ou créer des modèles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PLANIFICATION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Organigramme des tâches et diagramme de Gantt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nœud par phase avec ses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Dépendances tracées entre phases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Éléments en retard en rouge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ALERTES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Déclenchées une fois, envoyées sur le chemin d'escalade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Dédoublonnées par enregistrement et période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Journal d'envoi application et e-mail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Types d'alertes activés par organisation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CAS D'USAGE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Suggestions de l'IA avec point de contrôle humain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Chaque cas d'usage relié à son étape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Prompt construit à partir de l'étape, visible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Acceptée, modifiée ou rejetée, et journalisée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MODÈLES D'IA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Modèles de langage standard ou personnalisés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Claude, OpenAI, Azure, Gemini, Mistral ou personnalisé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Clés chiffrées, test de connexion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Moteur intégré en solution de repli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PORTEFEUILLE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Tous les projets du groupe, étape par étape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ligne par projet, une colonne par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Autres organisations en lecture seule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Organisations classées sur des indicateurs partagés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Même catalogue pour toutes les vues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Seules les organisations qui partagent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Masqué sous trois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NOUVEAU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Catalogue, manuel ou avec l'IA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ew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Modèles par secteur, mode et parcours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 score de complexité recommande le parcours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Chaque élément de l'IA accepté ou rejeté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RAPPORTS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Rapports en trois langues et quatre formats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PDF, Excel, Word et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Éléments de revue de direction (ISO 9001 § 9.3.2)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Rapports arabes de droite à gauche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Un déploiement complet par secteur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Pour chaque secteur : le cycle de vie de la grande entreprise et les chiffres de la PME correspondante.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AEC et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Bâtiment &amp; Construction  ·  Nova Bâtiment &amp;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19650, EN 1090, CE Marking (CPR)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Aéronautique et défense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Aérostructures  ·  Nova Aérostructures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AS9100D, NADCAP, ITAR/EAR, AS9120B, EASA/FAA  ·  Pack sectoriel: DMS-AERO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Automobile et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Systèmes Automobiles  ·  Nova Systèmes Automobiles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IATF 16949, ISO 26262, ISO/SAE 21434, ASPICE, AEC-Q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Produits de consommation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Produits de Consommation  ·  Nova Produits de Consommation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22716, FDA CGMP, ISO 13485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CPG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Produits de grande consommation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Biens de Consommation  ·  Nova Biens de Consommation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21 CFR 110, FSSC 22000, HACCP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DST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Distribution  ·  Nova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D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GDP, IFS Logistic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Électronique et haute technologie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Électronique  ·  Nova Électronique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IPC-A-610, IPC-J-STD-001, ISO 9001, RoHS, REACH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ENG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Énergie et services publics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Énergie &amp; Services Publics  ·  Nova Énergie &amp; Services Publics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IEC 62443, NERC CIP, IEC 62351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FAB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Fabrication et assemblage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Construction Métallique  ·  Nova Construction Métallique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1090, ISO 3834, ISO 14554, DIN EN 1090-2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FNB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Agroalimentaire et boissons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Agroalimentaire  ·  Nova Agroalimentaire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HACCP, ISO 22000, FSSC 22000, BRCGS, IFS Food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HCA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Santé (établissements de soins)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Cliniques  ·  Nova Cliniques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JCI, ISO 9001, HIPAA, GDPR, NHA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HLS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Santé et sciences de la vie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Dispositifs MedTech  ·  Nova Dispositifs MedTech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13485, FDA 21 CFR Part 820, EU MDR 2017/745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Machines industrielles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Machines Industrielles  ·  Nova Machines Industrielles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ISO 12100, EN ISO 13849-1, EN 62061, CE Marking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INF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Infrastructures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Infrastructures  ·  Nova Infrastructures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EN 1090, EN 1990, CE Marking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Logistique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Logistique  ·  Nova Logistique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TAPA FSR/TSR, IFS Logistics, GDP, AEO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MFG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Industrie manufacturière (générique)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Industrie  ·  Nova Industrie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MF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45001, CE Marking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Procédés/pétrochimie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Pétrochimie  ·  Nova Pétrochimie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API 510, API 570, ASME VIII, NBIC, ISO 14644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Industries de procédés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Industries de Procédés  ·  Nova Industries de Procédés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FSMA, HACCP, GMP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Enseignement privé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Écoles Privées  ·  Nova Écoles Privées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National Accreditation, ISO 21001, Reg. Educ. Authority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Laboratoires Pharma  ·  Nova Laboratoires Pharma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GMP, ICH Q7/Q9/Q10, ISO 14644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Pharmaceutique et procédés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Procédés Pharma  ·  Nova Procédés Pharma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 (EU Annex 1), ICH Q7/Q9/Q10, ISO 14644, WHO TRS 961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Procédés/produits emballés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Aliments Emballés  ·  Nova Aliments Emballés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FSVP, HACCP, Codex Alim., GFSI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Enseignement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Éducation Publique  ·  Nova Éducation Publique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Ministry of Education, National Curriculum, ISO 21001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Commerce de détail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Magasins de Détail  ·  Nova Magasins de Détail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PCI DSS 4.0, GDPR, ISO 27001, ISO 45001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RFA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Distribution, chaussure et habillement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Mode &amp; Chaussure  ·  Nova Mode &amp; Chaussure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GOTS, OEKO-TEX 100, SA8000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Semi-conducteurs et fabrication électronique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Semi-conducteurs  ·  Nova Semi-conducteurs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IATF 16949, AEC-Q100, IEC 61508, ISO 14001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SHB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Construction navale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Chantiers Navals  ·  Nova Chantiers Navals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H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SOLAS, MARPOL, IMO GBS, IACS  ·  Pack sectoriel: DMS-MARI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Économie sociale et solidaire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Coopératives Équitables  ·  Nova Coopératives Équitables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Fairtrade, WFTO, SA8000, ISO 26000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Télécommunications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Réseaux Télécoms  ·  Nova Réseaux Télécoms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TL 9000, ISO 9001, ISO 27001, ISO 22301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UNI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Universel (tous secteurs)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Holding Universelle  ·  Atlas PME Universelle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U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1057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PROCHAINES ÉTAPES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Installer, initialiser et lancer en trois commandes par dossier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erver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3113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228600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server : npm install · npm run seed · npm run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lobe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369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329184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web : npm install · npm run 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list-checks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4281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429768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Ouvrez http://localhost:5173 et connectez-vous avec un compte de démonstration (mot de passe Demo@2026)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Les guides utilisateur indiquent, pour chaque étape des cinq scénarios, les valeurs à saisir.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Prochaines étapes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
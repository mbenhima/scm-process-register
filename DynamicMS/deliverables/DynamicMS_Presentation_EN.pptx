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1097280"/>
            <a:ext cx="3840480" cy="3840480"/>
          </a:xfrm>
          <a:prstGeom prst="ellipse">
            <a:avLst/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881360" y="4480560"/>
            <a:ext cx="2194560" cy="2194560"/>
          </a:xfrm>
          <a:prstGeom prst="ellipse">
            <a:avLst/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600" b="1" i="0">
                <a:solidFill>
                  <a:srgbClr val="3A3A3C"/>
                </a:solidFill>
                <a:latin typeface="Cambria"/>
              </a:rPr>
              <a:t>POWERACT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60120"/>
            <a:ext cx="45720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E07B00"/>
                </a:solidFill>
                <a:latin typeface="Calibri"/>
              </a:rPr>
              <a:t>C O N S U L T I N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DYNAMICMS 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91440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3A3A3C"/>
                </a:solidFill>
                <a:latin typeface="Cambria"/>
              </a:rPr>
              <a:t>DynamicMS — Integrated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51960"/>
            <a:ext cx="8686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58595B"/>
                </a:solidFill>
                <a:latin typeface="Calibri"/>
              </a:rPr>
              <a:t>Full QMS and QHSE runs for every sector, large companies and SMEs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808184"/>
                </a:solidFill>
                <a:latin typeface="Calibri"/>
              </a:rPr>
              <a:t>POWERACT Consulting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DYNAMICMS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02996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What the application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80720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The lifecycle of a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58444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The main screens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36168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One full run per sector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02920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13892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Installation and next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One application runs the whole lifecycle of a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From context analysis to continual improvement, every step is assigned, recorded and traced.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workflow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2743200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0119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12 end-to-end phases, 162 macro processes and 1,572 workflow steps, each with its own input 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hield-alert-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743200"/>
            <a:ext cx="56692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63440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Business rules, COSO controls, risks, RACSI and KPIs linked to the steps they govern.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clipboard-check-gr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59" y="2743200"/>
            <a:ext cx="566928" cy="566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66759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Nonconformities, audits, documents and registers, with versions and an audit trail.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Overview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DEMONSTRATION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The seeded database holds 120 complete runs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organizations in 2 groups and 1 independent SME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1772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120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full-run projects: QMS and QHSE for each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104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84,603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workflow steps with their recorded values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1,141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users across 19 roles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1772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languages: English, French, Arabic (right-to-left)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2104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sectors: 29 verticals plus universal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Counts after running npm run seed; every value is fictional demonstration data.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Demonstration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The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Twelve end-to-end processes run in order; gates close the phases.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The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END-TO-END PROCESSES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A run moves through twelve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Each phase groups the macro processes activated for the organization; a gate with a checklist closes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Context To Strategy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6311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33471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1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Leadership To Commitment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9704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Risk To Resilience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45936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Compliance To Achievement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7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02167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People To Capability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21239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058399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399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Infrastructure To Wellbeing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Knowledge To Control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96311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33471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33471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Requirements To Delivery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52544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489704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Verification To Preparedness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45936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Monitoring To Evaluation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65007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202167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2167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Audit To Assurance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21239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058399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399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Correction To Innovation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Tinted cards: phases with a gate in every SME track (E2E-01, E2E-09, E2E-10).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lifecycle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The main screens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Screens captured on the Horizon Universal Holdings QMS run.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Where the run stands, 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Progress by end-to-end phase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KPI trend against its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Next steps due for my roles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Twelve phases, run in order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 card per phase with completed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Gate status and decision on each card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Macro processes of the selected phase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 gate closes each phase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Exit criteria and checklist items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Go only when every step is 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Hold and No-Go require a comment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WORKFLOW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Every step has its own input 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20 form kinds cover the 1,572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Explicit names, brief and detailed description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Generate a document, attach files with history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RECORD 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One row per item, each with its source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Add, edit or delete rows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People and units picked from the OBS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Plans become actions, objectives a register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DECISION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Scores explained criterion by criterion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Weights and 1–5 scores with the facts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Weighted score computed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Scoring scale shown on the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TRACEABILITY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Completed steps keep their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tep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Who completed the step and when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Reopen needs a written justification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 passed gate locks the phase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MACRO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SIPOC of each macro process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ip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Suppliers, inputs, process, outputs, customers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Tasks and steps in execution order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KPIs, rules and AI use cases of the 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BPMN 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Diagrams generated from the process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bp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One lane per role, one task per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Palette in its own panel beside the canvas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Export and import .bpmn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Risks, hazards and aspects on one heatmap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i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Likelihood × impact on a 1–5 scale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QHSE runs add OH&amp;S hazards and environmental aspects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Treatment and residual score per 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KPIS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KPIs measured every month against target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kp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Catalog, sector and core KPIs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 value off target raises an alert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Custom KPIs with measurement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RACSI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Exactly one Accountable per activity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ac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Activities of each phase and macro process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Responsible, Consulted, Support, Informed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The rule is enforced by the 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RACSI PER MACRO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Five columns, by default for all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acsi-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Edited on the macro process page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 step-level RACSI only where a step differs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Checked before starting (readiness list)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NONCONFORMITIES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From detection to lessons learned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n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Five stages, one at a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Owner and evaluator are different people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Closure requires the lessons learned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Documents generated from the project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doc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Word, PDF and Excel, cover and table of contents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Draft, review, published, superseded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Structure editing, layout, CRUD by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REQUIRED 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What ISO 9001, 14001 and 45001 require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manda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Maintain (document) or retain (record)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The document answering each requirement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Create a missing one in one click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IMS TEMPLATES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37 templates, filled with the project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Policies, scope, manual, registers, procedures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Sections with their data 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Copy and adapt, or create new templates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One search box for the whole application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Steps, records, documents, people and help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Grouped by type, within the rights of the user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Button in the menu or Ctrl+K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PROCESS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Create, change, retire and restore every element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design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Functions, phases, macro processes, tasks, steps, gates, checklists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Every save is a version: compare and restore any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Running projects keep the version they started with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OBS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Roles linked to functions, played by people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 role covers one or more functions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 person plays one or more roles (holder, deputy, acting)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Views by role, by function and by person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AI PROMPT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One field per aspect of the prompt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Role, context, task, constraints, examples, format and more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Each field versioned; restore any 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Incomplete use cases cannot be 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AUDITS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Audit programme and graded findings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audi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Frequency from a list or custom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Major, minor, observation, opportunity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Detailed sheet for each nonconformity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REGISTERS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Finer-grained registers and records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egister-en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Measuring equipment, changes, competence, obligations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Every field of an entry in its details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Documents built from the same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NEEDS AND EXPECTATIONS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 need linked to one or more interested parties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nee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Typed, taken from the library or suggested by the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Type, compliance obligation and response for each need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Registers and documents filled on completion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RECORD 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Qualified columns, lists with Custom, a large editor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ow-ed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"External issue", "Interested party", not "Item"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Every choice: a list with a Custom entry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Each row opens in a large window, with a way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Work breakdown structure and Gantt chart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One node per phase with its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Dependencies drawn between phases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Overdue items in 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ALERTS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Raised once, sent along the escalation path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Deduplicated per record and period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In-app and e-mail dispatch log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Alert types enabled per organization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AI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AI suggestions with a human checkpoint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Each use case mapped to its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Prompt built from the step, visible to the user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Accepted, edited or rejected, and logged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AI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Standard or custom language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l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Claude, OpenAI, Azure, Gemini, Mistral or custom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Keys encrypted, connection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Built-in engine as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Every project of the group, stage by stage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One row per project, one column per phase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Other organizations are read-only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Export to 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BENCHMARKING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Organizations ranked on shared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Same metric catalog for all views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Only organizations that share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Hidden below three participants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Catalog, manual or with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new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Templates by vertical, mode and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Complexity score recommends the 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Each AI item accepted or rejected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REPORTS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Reports in three languages and four formats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PDF, Excel, Word and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Management review input per ISO 9001 9.3.2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Arabic reports laid out right to left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The main screens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One full run per sector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For each vertical: the lifecycle of the large company and the figures of its SME counterpart.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AEC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AEC &amp;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Build &amp; Construct  ·  Nova Build &amp; Construct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19650, EN 1090, CE Marking (CPR)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AER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Aerospace &amp;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Aerostructures  ·  Nova Aerostructures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AS9100D, NADCAP, ITAR/EAR, AS9120B, EASA/FAA  ·  Industry pack: DMS-AERO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AUT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Automotive &amp; Transportation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Automotive Systems  ·  Nova Automotive Systems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IATF 16949, ISO 26262, ISO/SAE 21434, ASPICE, AEC-Q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CON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Consumer Products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Consumer Products  ·  Nova Consumer Products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22716, FDA CGMP, ISO 13485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CPG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Consumer Packaged Goods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Consumer Goods  ·  Nova Consumer Goods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C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21 CFR 110, FSSC 22000, HACCP  ·  Industry pack: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DST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Distribution  ·  Nova Distribution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D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GDP, IFS Logistic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ELE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Electronics &amp; High-Tech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Electronics  ·  Nova Electronics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IPC-A-610, IPC-J-STD-001, ISO 9001, RoHS, REACH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ENG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Energy &amp; Utilities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Energy &amp; Utilities  ·  Nova Energy &amp; Utilities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55001, IEC 62443, NERC CIP, IEC 62351  ·  Industry pack: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FAB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Fabrication &amp; Assembly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Metal Fabrication  ·  Nova Metal Fabrication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F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EN 1090, ISO 3834, ISO 14554, DIN EN 1090-2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FNB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Food &amp; Beverage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Food &amp; Beverages  ·  Nova Food &amp; Beverages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F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HACCP, ISO 22000, FSSC 22000, BRCGS, IFS Food  ·  Industry pack: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HCA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Healthcare (Providers)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Health Clinics  ·  Nova Health Clinics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H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JCI, ISO 9001, HIPAA, GDPR, NHA  ·  Industry pack: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HLS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Healthcare &amp; Life Sciences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MedTech Devices  ·  Nova MedTech Devices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H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13485, FDA 21 CFR Part 820, EU MDR 2017/745  ·  Industry pack: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Industrial Machinery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Industrial Machines  ·  Nova Industrial Machines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I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EN ISO 12100, EN ISO 13849-1, EN 62061, CE Marking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INF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Infrastructure  ·  Nova Infrastructure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I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55001, EN 1090, EN 1990, CE Marking  ·  Industry pack: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Logistics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Logistics  ·  Nova Logistics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TAPA FSR/TSR, IFS Logistics, GDP, AEO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MFG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Manufacturing (Generic)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Manufacturing  ·  Nova Manufacturing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MF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14001, ISO 45001, CE Marking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Process/Petrochemical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Petrochemicals  ·  Nova Petrochemicals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API 510, API 570, ASME VIII, NBIC, ISO 14644  ·  Industry pack: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Process Industries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Process Industries  ·  Nova Process Industries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FSMA, HACCP, GMP  ·  Industry pack: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Private Education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Private Schools  ·  Nova Private Schools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National Accreditation, ISO 21001, Reg. Educ. Authority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Pharma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Pharma Labs  ·  Nova Pharma Labs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GMP, ICH Q7/Q9/Q10, ISO 14644  ·  Industry pack: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Pharmaceutical &amp;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Pharma Process  ·  Nova Pharma Process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GMP (EU Annex 1), ICH Q7/Q9/Q10, ISO 14644, WHO TRS 961  ·  Industry pack: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Process/Packaged Goods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Packaged Foods  ·  Nova Packaged Foods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FSVP, HACCP, Codex Alim., GFSI  ·  Industry pack: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PUED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Public Education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Public Education  ·  Nova Public Education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U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Ministry of Education, National Curriculum, ISO 21001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RET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Retail Stores  ·  Nova Retail Stores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R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PCI DSS 4.0, GDPR, ISO 27001, ISO 45001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RFA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Retail, Footwear &amp; Apparel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Fashion &amp; Footwear  ·  Nova Fashion &amp; Footwear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R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GOTS, OEKO-TEX 100, SA8000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SEM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Semiconductor &amp; Electronics Mfg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Semiconductors  ·  Nova Semiconductors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IATF 16949, AEC-Q100, IEC 61508, ISO 14001  ·  Industry pack: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SHB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Shipbuilding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Shipyards  ·  Nova Shipyards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H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SOLAS, MARPOL, IMO GBS, IACS  ·  Industry pack: DMS-MARI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SSE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Social &amp; Solidarity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Fair Cooperatives  ·  Nova Fair Cooperatives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Fairtrade, WFTO, SA8000, ISO 26000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TEL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Telecommunications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Telecom Networks  ·  Nova Telecom Networks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T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TL 9000, ISO 9001, ISO 27001, ISO 22301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SECTOR · UNI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Universal (all sectors)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Universal Holdings  ·  Atlas Universal SME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U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Large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 processes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1057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Steps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1155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Progress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SME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Must-have standards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14001, ISO 45001  ·  Industry pack: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Lifecycle screen of the QMS run: phase cards with completed steps and gate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One full run per sector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Install, seed and run in three commands per folder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erver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31136"/>
            <a:ext cx="566928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228600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server: npm install · npm run seed · npm run dev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0896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globe-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369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329184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web: npm install · npm run dev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1480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list-checks-gr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4281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1640" y="429768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Open http://localhost:5173 and sign in with a demonstration account (password Demo@2026)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The user guides list, for every step of the five scenarios, the values to type.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
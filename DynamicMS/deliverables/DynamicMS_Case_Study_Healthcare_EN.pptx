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4480560"/>
            <a:ext cx="2194560" cy="2194560"/>
          </a:xfrm>
          <a:prstGeom prst="ellipse">
            <a:avLst/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POWERACT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E07B00"/>
                </a:solidFill>
                <a:latin typeface="Calibri"/>
              </a:rPr>
              <a:t>C O N S U L T I N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DYNAMICMS 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91440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4000" b="1" i="0">
                <a:solidFill>
                  <a:srgbClr val="3A3A3C"/>
                </a:solidFill>
                <a:latin typeface="Cambria"/>
              </a:rPr>
              <a:t>Universal Case Study — One Full Run of DynamicMS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686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58595B"/>
                </a:solidFill>
                <a:latin typeface="Calibri"/>
              </a:rPr>
              <a:t>Twelve end-to-end processes, their macro processes, tasks and steps, as recorded in the application — prepared for healthcare organizations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808184"/>
                </a:solidFill>
                <a:latin typeface="Calibri"/>
              </a:rPr>
              <a:t>POWERACT Consulting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DYNAMICMS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3A3A3C"/>
                </a:solidFill>
                <a:latin typeface="Cambria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2996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The case: one organization, one full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80720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What it means for a healthcare organization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5844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The twelve end-to-end processes, phase by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36168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Evidence, measurement, documents and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13892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Next steps for your 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Agenda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THE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100" b="1" i="0">
                <a:solidFill>
                  <a:srgbClr val="3A3A3C"/>
                </a:solidFill>
                <a:latin typeface="Cambria"/>
              </a:rPr>
              <a:t>Horizon Universal Holdings: a full QMS run from context to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Project HZ-UNI-QMS · ISO 9001 · 2025-10-01 to 2026-12-30 · 9,167 employees · universal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331720"/>
            <a:ext cx="32004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862072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end-to-end processes, run as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4028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6280" y="2331720"/>
            <a:ext cx="32004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862072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 processes activated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24028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9" y="2331720"/>
            <a:ext cx="32004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346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862072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59" y="3657600"/>
            <a:ext cx="32004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1,057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187952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workflow steps with their recorded values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56616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26280" y="3657600"/>
            <a:ext cx="32004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187952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of the run completed; 11 gates passed (Go)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56616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599" y="3657600"/>
            <a:ext cx="32004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4187952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people, each in a named 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All values come from the demonstration database of DynamicMS; names and figures are fictional.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58595B"/>
                </a:solidFill>
                <a:latin typeface="Calibri"/>
              </a:rPr>
              <a:t>Licence of the case: DMS-ENT with DMS-AI, DMS-CERT, DMS-ESG and add-ons ADD-01, ADD-04, ADD-06, ADD-07.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case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FOR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100" b="1" i="0">
                <a:solidFill>
                  <a:srgbClr val="3A3A3C"/>
                </a:solidFill>
                <a:latin typeface="Cambria"/>
              </a:rPr>
              <a:t>The same twelve processes run a hospital’s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The universal run is the common core. For a healthcare provider (segment V-29), DynamicMS activates the following on top of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41247" y="2331720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651760"/>
            <a:ext cx="3108960" cy="3017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JCI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ISO 9001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ISO/IEC 27001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HIPAA · GDPR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National Health Authority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HL7 FHIR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19456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44568" y="2331720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79 MACRO PROCESSES, INCLUDING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51760"/>
            <a:ext cx="3108960" cy="3017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Medical Laboratory Management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Facility Management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IT Service Management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Cloud Security and Privacy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Anti-Bribery and Corruption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94560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47888" y="2331720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RECOMMENDED LICENCE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651760"/>
            <a:ext cx="3154680" cy="3017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DMS-PRO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+ DMS-LSCI Life Sciences &amp; Healthcare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+ DMS-CERT Certification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+ DMS-AI Intelligence &amp; Assurance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Source: DynamicMS catalog (segment V-29 Healthcare Providers, Packs catalog 2.5).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Healthcare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FOR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How the run reads in a hospital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88136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206240"/>
                <a:gridCol w="566928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E2E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 the universal run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 a hospital (illustration)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A3A3C"/>
                          </a:solidFill>
                          <a:latin typeface="Calibri"/>
                        </a:rPr>
                        <a:t>E2E-01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Interested parties, context issues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Patients and families, regulator, medical staff, insurers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A3A3C"/>
                          </a:solidFill>
                          <a:latin typeface="Calibri"/>
                        </a:rPr>
                        <a:t>E2E-03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Risk and opportunity register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Patient safety risks, infection control, continuity of care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A3A3C"/>
                          </a:solidFill>
                          <a:latin typeface="Calibri"/>
                        </a:rPr>
                        <a:t>E2E-05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Competence, documents, measuring equipment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Clinical competences, care protocols, calibrated medical devices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A3A3C"/>
                          </a:solidFill>
                          <a:latin typeface="Calibri"/>
                        </a:rPr>
                        <a:t>E2E-08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Requirements to delivery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Care pathways from admission to discharge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A3A3C"/>
                          </a:solidFill>
                          <a:latin typeface="Calibri"/>
                        </a:rPr>
                        <a:t>E2E-09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Nonconformity, root cause, corrective 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Adverse events and near misses, analysis, lessons learned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A3A3C"/>
                          </a:solidFill>
                          <a:latin typeface="Calibri"/>
                        </a:rPr>
                        <a:t>E2E-10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KPIs, process and management reviews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Quality and safety indicators, accreditation readiness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A3A3C"/>
                          </a:solidFill>
                          <a:latin typeface="Calibri"/>
                        </a:rPr>
                        <a:t>E2E-11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Audits and assurance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Internal audits against JCI and ISO 9001, mock surveys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Illustration of how the same steps are used; the healthcare macro processes add their own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Healthcare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PDCA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Twelve phases on one Plan-Do-Check-Act 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664207"/>
            <a:ext cx="4352544" cy="4489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dca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32" y="1737360"/>
            <a:ext cx="4112094" cy="43434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0" y="1691640"/>
          <a:ext cx="6035037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991"/>
                <a:gridCol w="2609747"/>
                <a:gridCol w="897100"/>
                <a:gridCol w="489327"/>
                <a:gridCol w="652436"/>
                <a:gridCol w="652436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E2E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PDCA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MP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Steps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Context To Strategy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Leadership To Commitment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Risk To Resilience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Compliance To Achievement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Resources To Readiness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Infrastructure To Security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Do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Data To Intelligence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Requirements To Delivery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Do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Nonconformity To Knowledge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Monitoring To Evaluation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163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Intelligence To Assurance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E2E-12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Improvement To Innovation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Act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The project home: progress, next steps,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527048"/>
            <a:ext cx="10661904" cy="4489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425" y="1600200"/>
            <a:ext cx="7272669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Home of project HZ-UNI-QMS.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The lifecycle: twelve phases and their gates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527048"/>
            <a:ext cx="10661904" cy="4489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425" y="1600200"/>
            <a:ext cx="7272669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screen: each card is an end-to-end process with its progress and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1280160"/>
            <a:ext cx="4389120" cy="4389120"/>
          </a:xfrm>
          <a:prstGeom prst="ellipse">
            <a:avLst/>
          </a:prstGeom>
          <a:noFill/>
          <a:ln w="76200">
            <a:solidFill>
              <a:srgbClr val="F89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7863840" cy="1371600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The full run, phase by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7498079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E3E3E4"/>
                </a:solidFill>
                <a:latin typeface="Calibri"/>
              </a:rPr>
              <a:t>For each end-to-end process: its macro processes, one macro process down to its steps, and the screens.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E3E3E4"/>
                </a:solidFill>
                <a:latin typeface="Calibri"/>
              </a:rPr>
              <a:t>POWERACT Consulting  ·  The full run, phase by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E3E3E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01 ·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E2E-01 — Context To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Define context, policy, strategy, objectives, compliance, governance.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FROM TRIGGER TO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Trigger: Strategic planning cycle, management review output, or significant context change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Result: Approved policy, strategy, objectives, risk register, compliance framework in place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Gate: G1 — Strategy baseline approved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 PROCESSES OF THIS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MP-001  Context Analysis and Stakeholder Mapping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MP-002  Quality Policy and Strategic Direction Defi…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MP-003  Quality Objectives and Targets Deployment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MP-004  Process Architecture Mapping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MP-005  SIPOC and Value Stream Mapping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MP-012  Operational Risk and Opportunity Management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MP-027  Unified Requirements Harmonization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MP-028  Regulatory and Compliance Obligations Mappi…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MP-036  Policy and Procedure Governance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MP-037  Enterprise Risk Universe and Assessment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MP-038  Risk Treatment and Mitigation Planning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MP-095  Industry-Specific Compliance Pack Management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MP-105  Compliance Calendar and Obligation Scheduler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E2E-01 — Context To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E2E-01 ·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Context To Strategy: the phase in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DELIVERS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Context, interested parties, scope, policy, SMART objectives, process map.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E2E-02 (commitment), E2E-03 (risks), E2E-10 (objective KPIs).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› E2E-01: macro processes of the phase with their progress and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E2E-01 — Context To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 PROCESS · MP-001 (UMS016)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Context Analysis and Stakeholder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Understand internal/external issues; identify interested parties; define IMS scope.  ·  Owner: IMS Manager  ·  ISO 9001 §4.1, §4.2, §4.3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was recorded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Fix periodicity of strategic diagnosis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IMS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Frequency: Annual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Identify external issues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IMS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5 rows in “External issues identified” — Price competition from infor…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Identify internal issues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IMS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rows in “Internal issues identified” — Late delivery to customer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Identify interested parties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IMS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6 rows in “Interested parties identified” — Customers (key accounts)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Determine needs and expectations of int…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IMS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8 rows in “Needs and expectations of the interested parties” — Servic…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Validate and cascade stakeholder requir…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IMS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“Decision criteria checked” — Issues reviewed with top mana…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Identify interactions between processes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IMS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5 rows in “Interactions between macro processes” — Sales and quotation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Define or review the management system…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IMS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rows in “Management system scope identified” — Design and delivery…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Document and communicate the context an…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IMS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Document template: TPL-SCOPE — Scope of the management system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Review organizational context periodica…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IMS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“Inputs reviewed” — External and internal issues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3 tasks · 10 steps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 and prepare organizational context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Execute organizational context activities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Verify, record and close organizational c…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E2E-01 — Context To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STEP · MP-001.2 · IMS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Identify external issues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WHAT WAS RECORDED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External issues identified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Price competition from informal p… — Economic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Customers require ISO 9001 certif… — Market and customers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ISO 9001 amendment on climate cha… — Legal and regulatory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Availability and price of critica… — Supply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Customers send requests through p… — Technological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Step MP-001.2 (Register items): rows typed, pasted or imported, saved as they are entered.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E2E-01 — Context To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02 ·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E2E-02 — Leadership To Commitment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Establish leadership, competence, communication, audit capability.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FROM TRIGGER TO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Trigger: E2E-01 completion or leadership change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Result: Competent personnel, communication plan, qualified auditors in place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Gate: G2 — People and communication ready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 PROCESSES OF THIS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566928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MP-013  Competence and Training Orchestration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MP-014  Management System Communication Plan Development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MP-026  Internal Auditor Qualification and Certification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MP-104  AI-Generated Microlearning and Training Content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MP-138  Collaborative Business Relationship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E2E-02 — Leadership To Commitment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E2E-02 ·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Leadership To Commitment: the phase in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DELIVERS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Roles, RACSI, governance bodies, leadership commitments and communication.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Every phase (owners and approvers); E2E-10 (management review).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› E2E-02: macro processes of the phase with their progress and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E2E-02 — Leadership To Commitment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 PROCESS · MP-013 (UMS006)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Competence and Training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Define competence frameworks; assess gaps; deliver training; track certifications.  ·  Owner: HR Manager  ·  ISO 9001 §7.2, §7.3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was recorded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Define training frameworks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HR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“Training frameworks identified” — Competence records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Assess training gaps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HR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rows in “Decision matrix” — Competence records complete and up to…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Design training curricula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HR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“Planned activities (become actions)” — Plan training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Plan training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HR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“Planned activities (become actions)” — Deliver training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Deliver training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HR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Session / module: Deliver training — practice session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Evaluate training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HR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rows in “Decision matrix” — Competence records complete and up to…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Track training certifications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HR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1 rows in “Indicators measured” — KPI-04 — Competence gap closure rate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Certify training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HR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“Decision criteria checked” — Competence records complete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Update training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HR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Change made: Competence records updated: Use of an obsolete document…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3 tasks · 9 steps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 and prepare training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Execute training activities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Verify, record and close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E2E-02 — Leadership To Commitment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STEP · MP-013.1 · HR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Define training frameworks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WHAT WAS RECORDED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Training frameworks identified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Competence records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Training records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Certifications —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Step MP-013.1 (Register items): rows typed, pasted or imported, saved as they are entered.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E2E-02 — Leadership To Commitment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03 ·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E2E-03 — Risk To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Manage controls, third-party risk, continuity, functional safety, process safety, crisis.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FROM TRIGGER TO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Trigger: Risk assessment cycle, incident, regulatory change, or functional safety requirement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Result: Controls, third-party risk managed, continuity tested, functional/process safety assured, crisis ready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Gate: G3 — Risk controls effective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 PROCESSES OF THIS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566928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MP-049  Internal Controls and SOX Certification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MP-050  Third-Party and Supplier Risk Monitoring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MP-051  Whistleblowing and Incident Investigation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MP-052  Business Continuity and Crisis Preparedness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MP-098  Continuous Controls Monitoring and Automated Testing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MP-108  Crisis Communication and Reputation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E2E-03 — Risk To Resilience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E2E-03 ·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Risk To Resilience: the phase in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DELIVERS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Risk and opportunity register, treatments, business continuity.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E2E-05 to E2E-08 (controls in operations); E2E-11 (audit universe).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› E2E-03: macro processes of the phase with their progress and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E2E-03 — Risk To Resilience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 PROCESS · MP-049 (GRC004)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Internal Controls and SOX Certification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Identify key controls; design and link to risks; self-assess and test; certify.  ·  Owner: Risk Manager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was recorded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Identify internal controls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“Internal controls identified” — Control inventory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Design internal controls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“Planned activities (become actions)” — Link internal contr…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Link internal controls to risks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Link internal controls to risks carried out on core de…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Self-assess internal controls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Self-assess internal controls carried out on core deli…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Test internal controls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rows in “Decision matrix” — Control inventory complete and up to…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Document internal controls deficiencies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Document template: TPL-PROC — Procedure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Remediate internal controls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Change made: Control inventory updated: Use of an obsolete document v…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Certify internal controls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“Decision criteria checked” — Control inventory complete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Maintain internal controls repository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Document template: TPL-PROC — Procedure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3 tasks · 9 steps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 and prepare internal controls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Execute internal controls activities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Verify, record and close internal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E2E-03 — Risk To Resilience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STEP · MP-049.1 · RISK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Identify internal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WHAT WAS RECORDED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Internal controls identified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Control inventory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Design records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Test records —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Step MP-049.1 (Register items): rows typed, pasted or imported, saved as they are entered.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E2E-03 — Risk To Resilience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04 ·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E2E-04 — Compliance To Achievement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Deploy, audit, certify, maintain the management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FROM TRIGGER TO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Trigger: Readiness for certification, surveillance audit due, or new compliance obligation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Result: Certification achieved or maintained; findings closed; compliance obligations met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Gate: G4 — Ready for certification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 PROCESSES OF THIS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566928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MP-015  Management System Deployment and Implementation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MP-016  Mock Audit, Pre-Certification, and Gap Diagnosis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MP-017  Certification Audit Preparation and Coordination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MP-096  Multi-Standard Certification Portfolio Management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MP-130  Anti-Bribery and Corruption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E2E-04 — Compliance To Achievement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E2E-04 ·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Compliance To Achievement: the phase in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DELIVERS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Compliance obligations register, evaluation of compliance, certification plan.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E2E-08 (requirements), E2E-11 (assurance), E2E-10 (review inputs).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› E2E-04: macro processes of the phase with their progress and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E2E-04 — Compliance To Achievement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 PROCESS · MP-015 (UMS033)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Management System Deployment and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Deploy the management system; conduct pilots; prepare teams; move to steady state.  ·  Owner: Compliance Officer  ·  ISO 9001 §8.1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was recorded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Define management system deployment pha…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Compliance Officer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“Management system deployment phases identified” — Deployed…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Select management system deployment pil…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Compliance Officer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1 rows in “RACSI of the macro process” — Compliance Officer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Conduct management system deployment pi…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Compliance Officer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Conduct management system deployment pilot carried out…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Refine management system deployment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Compliance Officer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Change made: Deployed processes updated: specification not met.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Prepare management system deployment te…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Compliance Officer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Document template: TPL-PROC — Procedure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Validate management system deployment s…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Compliance Officer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“Decision criteria checked” — Deployed processes complete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Verify management system deployment rea…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Compliance Officer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rows in “Decision matrix” — Deployed processes complete and up to…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Execute management system deployment tr…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Compliance Officer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Execute management system deployment transition carrie…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Support management system deployment us…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Compliance Officer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Support management system deployment users carried out…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Move to steady state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Compliance Officer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Move to steady state carried out on core delivery proc…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3 tasks · 10 steps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 and prepare management system deploy…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Execute management system deployment acti…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Verify, record and close management syste…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E2E-04 — Compliance To Achievement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STEP · MP-015.1 · COMPLIANCE OFFICER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Define management system deployment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WHAT WAS RECORDED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Management system deployment phases identified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Deployed processes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Trained personnel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Transition records —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Step MP-015.1 (Register items): rows typed, pasted or imported, saved as they are entered.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E2E-04 — Compliance To Achievement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05 ·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E2E-05 — Resources To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Provide people, competence, documentation, records, measurement, health.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FROM TRIGGER TO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Trigger: IMS deployment, new hire, documentation change, or medical surveillance requirement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Result: Competent people, controlled documentation, calibrated equipment, health records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Gate: G5 — Documented information controlled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 PROCESSES OF THIS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566928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MP-006  Procedures and Work Instructions Development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MP-025  Monitoring and Measurement Resources Control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MP-029  Documentary Lifecycle Control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MP-030  Records Lifecycle, Retention, and Evidence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E2E-05 — Resources To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E2E-05 ·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Resources To Readiness: the phase in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DELIVERS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Competent people, documented information, measuring resources ready for operation.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E2E-08 (delivery); E2E-09 (calibration and competence nonconformities).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› E2E-05: macro processes of the phase with their progress and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E2E-05 — Resources To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 PROCESS · MP-006 (UMS024)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Procedures and Work Instructions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Develop procedures; ensure clarity; validate compliance.  ·  Owner: Process Excellence Manager  ·  ISO 9001 §7.5, §8.1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was recorded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Identify procedures and work instructio…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“Procedures and work instructions need identified” — Proced…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Define procedures and work instructions…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“Procedures and work instructions structure identified” — P…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Draft procedures and work instructions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Document template: TPL-PROC — Procedure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Develop procedures and work instructions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Document template: TPL-PROC — Procedure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Integrate visual supports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rows in “Settings” — Integrate visual supports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Validate procedures and work instructio…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“Decision criteria checked” — Procedures complete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Verify procedures and work instructions…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rows in “Decision matrix” — Procedures complete and up to date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Submit procedures and work instructions…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Submit procedures and work instructions for approval c…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Publish procedures and work instructions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Document template: TPL-PROC — Procedure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Train staff on procedures and work inst…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Session / module: Train staff on procedures and work instructions — p…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Plan procedures and work instructions 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“Inputs reviewed” — Process designs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MP-006.12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Create procedure header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Document template: TPL-PROC — Procedure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more steps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4 tasks · 15 steps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 and prepare procedures and work inst…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Execute procedures and work instructions…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Verify, record and close procedures and w…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T4  Author Task Procedures (Use Cases)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E2E-05 — Resources To 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STEP · MP-006.1 · PROCESS EXCELLENCE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Identify procedures and work instructions 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WHAT WAS RECORDED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Procedures and work instructions need identified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Procedures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Work instructions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Visual aids —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Step MP-006.1 (Register items): rows typed, pasted or imported, saved as they are entered.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E2E-05 — Resources To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06 ·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E2E-06 — Infrastructure To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Provide IT, security, data, technology, environmental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FROM TRIGGER TO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Trigger: IT infrastructure change, security threat, data protection requirement, environmental requirement, or facilit…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Result: Secure compliant IT; data protection; cleanrooms monitored; facilities managed; asset reliability; water effi…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Gate: G6 — Infrastructure secured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 PROCESSES OF THIS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MP-042  Cyber GRC and IT Control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MP-043  Personal Data Protection Management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MP-045  Access, Security, and Role Governance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MP-046  Application and Interface Repository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MP-047  Technology and Architecture Lifecycle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MP-048  Tenant Sovereignty and Security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MP-059  Configuration and Parameter Governance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MP-119  Asset Reliability and Maintenance Management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MP-133  Facility Management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MP-134  IT Service Management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MP-135  Cloud Security and Privacy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E2E-06 — Infrastructure To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E2E-06 ·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Infrastructure To Security: the phase in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DELIVERS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Facilities, IT services and information security in a controlled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E2E-07 (data platform); E2E-08 (operations); E2E-09 (incidents).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› E2E-06: macro processes of the phase with their progress and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E2E-06 — Infrastructure To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 PROCESS · MP-042 (UMS045)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Cyber GRC and IT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Define control inventory; conduct risk assessments; implement and monitor; audit.  ·  Owner: IT Manager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was recorded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MP-042.1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Define IT controls inventory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“IT controls inventory identified” — Control inventory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MP-042.2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Conduct IT controls assessments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Conduct IT controls assessments carried out on core de…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MP-042.3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Design and implement IT controls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“Planned activities (become actions)” — Monitor IT controls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MP-042.4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Monitor IT controls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rows in “Indicators measured” — Q-KPI-01 — Customer satisfaction in…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MP-042.5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Manage IT controls incidents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Manage IT controls incidents carried out on core deliv…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MP-042.6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Conduct IT controls audits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Conduct IT controls audits carried out on core deliver…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MP-042.7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Remediate IT controls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Change made: Control inventory updated: specification not met.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MP-042.8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Report on IT controls status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rows in “Communication records” — Top mgmt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3 tasks · 8 steps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 and prepare IT controls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Execute IT controls activities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Verify, record and close IT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E2E-06 — Infrastructure To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STEP · MP-042.1 · IT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Define IT controls inventory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WHAT WAS RECORDED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IT controls inventory identified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Control inventory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Risk assessments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Control records —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Step MP-042.1 (Register items): rows typed, pasted or imported, saved as they are entered.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E2E-06 — Infrastructure To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07 ·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E2E-07 — Data To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Govern data, formulas, calculations, knowledge.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FROM TRIGGER TO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Trigger: Data governance requirement, formula change, or knowledge gap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Result: Governed data, formulas, calculations, knowledge graph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Gate: G7 — Data and formulas governed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 PROCESSES OF THIS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566928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MP-044  Data Governance and Master Data Quality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MP-057  Formula Repository and Variable Governance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MP-058  Formula Execution and Traceability Orchestration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MP-074  Knowledge Graph and Semantic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E2E-07 — Data To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E2E-07 ·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Data To Intelligence: the phase in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DELIVERS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Governed data, formulas and knowledge; KPI data pipeline; data sources configured.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E2E-10 (measurement and dashboards); E2E-11 (intelligence for assurance).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› E2E-07: macro processes of the phase with their progress and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E2E-07 — Data To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 PROCESS · MP-044 (UMS048)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Data Governance and Master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Define domains/owners; establish rules; profile and clean; monitor.  ·  Owner: IT Manager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was recorded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Define master data domains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“Master data domains identified” — Data domains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Establish master data rules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Establish master data rules carried out on core delive…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Implement master data profiling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rows in “Settings” — Implement master data profiling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Manage master data lineage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Manage master data lineage carried out on core deliver…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Operate master data MDM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rows in “Settings” — Operate master data MDM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Monitor master data dashboards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1 rows in “Indicators measured” — KPI-14 — Master data quality score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Resolve master data incidents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Resolve master data incidents carried out on core deli…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Report master data scores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rows in “Communication records” — Top mgmt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Maintain customizable value lists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Maintain customizable value lists carried out on core…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Retire unused custom values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Closure evidence: Data domains closed; effectiveness verified on the…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4 tasks · 10 steps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 and prepare master data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Execute master data activities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Verify, record and close master data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T4  Govern Custom Value Lists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E2E-07 — Data To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STEP · MP-044.1 · IT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Define master data domains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WHAT WAS RECORDED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Master data domains identified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Data domains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Quality rules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Cleansing records —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Step MP-044.1 (Register items): rows typed, pasted or imported, saved as they are entered.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E2E-07 — Data To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08 ·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E2E-08 — Requirements To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Transform requirements into delivered products/services.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FROM TRIGGER TO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Trigger: Customer order, production plan, supplier onboarding, welding requirement, laboratory test, or eco-design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Result: Products/services delivered; suppliers controlled; traceability ensured; quality validated; LCA completed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Gate: G8 — Operations under control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 PROCESSES OF THIS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566928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MP-007  Process Control Plan Management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MP-008  Business Rules and Process Logic Management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MP-024  Supplier Quality Performance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MP-069  Supply Chain Resilience and Traceability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MP-070  Supplier Ecosystem Intelligence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MP-090  Mobile-First Field Operations and Offline Capture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MP-102  Supplier Collaboration Portal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MP-107  Product Traceability and Recall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E2E-08 — Requirements To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E2E-08 ·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Requirements To Delivery: the phase in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DELIVERS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Customer requirements reviewed, products and services delivered and released.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E2E-09 (nonconforming outputs); E2E-10 (customer satisfaction).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› E2E-08: macro processes of the phase with their progress and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E2E-08 — Requirements To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 PROCESS · MP-007 (UMS025)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Process Control Plan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Identify critical control points; define methods; assign responsibilities; monitor.  ·  Owner: Process Excellence Manager  ·  ISO 9001 §8.5.1, §9.1.1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was recorded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Identify critical points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“Critical points identified” — Control plans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Define process control plan methods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“Process control plan methods identified” — Control plans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Designate owners of process control plan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“Planned activities (become actions)” — Define acceptance 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Define acceptance criteria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“Acceptance criteria identified” — Control plans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Document the process control plan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Document template: TPL-CTRL — Control plan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Monitor process control plan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1 rows in “Indicators measured” — Q-KPI-03 — First pass yield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Verify process control plan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rows in “Decision matrix” — Control plans complete and up to date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Adjust process control plan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Change made: Control plans updated: specification not met.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Archive process control plan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Process Excellence Ma…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Closure evidence: Control plans closed; effectiveness verified on the…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3 tasks · 9 steps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 and prepare process control plan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Execute process control plan activities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Verify, record and close process control…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E2E-08 — Requirements To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STEP · MP-007.1 · PROCESS EXCELLENCE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Identify critical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WHAT WAS RECORDED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Critical points identified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Control plans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Monitoring records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Verification records —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Step MP-007.1 (Register items): rows typed, pasted or imported, saved as they are entered.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E2E-08 — Requirements To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09 ·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E2E-09 — Nonconformity To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Detect, contain, resolve, capitalize nonconformities and problems.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FROM TRIGGER TO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Trigger: Nonconformity detected, incident reported, or problem identified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Result: Problem resolved; REX capitalized; KB updated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Gate: G9 — Problem solving effective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 PROCESSES OF THIS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MP-018  Problem Capture and Definition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MP-019  Immediate Action Management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MP-020  Root Cause Resolution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MP-021  Corrective Action Execution and Follow-Up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MP-022  Nonconformity Capitalization and Closure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MP-076  Automated Root Cause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MP-081  Automated CAPA Recommendation Engine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MP-082  NCP Knowledge Base and RAG Management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MP-083  AI Agent Orchestration for Problem Solving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MP-084  Smart Alert and Escalation Engine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MP-087  REX Capitalization and Generalization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MP-091  Voice-to-Text Incident and Audit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E2E-09 — Nonconformity To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E2E-09 ·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Nonconformity To Knowledge: the phase in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DELIVERS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Nonconformities contained, root causes analysed, corrective actions, lessons learned (REX).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E2E-10 (NC KPIs); E2E-12 (improvement); E2E-05 (knowledge).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› E2E-09: macro processes of the phase with their progress and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E2E-09 — Nonconformity To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 PROCESS · MP-018 (UMS011)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Problem Capture and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Capture NCs; define criticality; analyze 5W2H; classify and approve.  ·  Owner: Quality Manager  ·  ISO 9001 §10.2.1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was recorded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Create quality problem record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Quality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Create quality problem record carried out on core deli…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Enter quality problem data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Quality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Enter quality problem data carried out on core deliver…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Define quality problem criticality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Quality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“Quality problem criticality identified” — NC record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Designate quality problem team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Quality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“Planned activities (become actions)” — Submit quality prob…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Submit quality problem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Quality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Submit quality problem carried out on core delivery pr…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Analyze quality problem 5W2H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Quality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rows in “Decision matrix” — NC record complete and up to date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Quantify quality problem gap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Quality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rows in “Decision matrix” — NC record complete and up to date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Identify quality problem standards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Quality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1 rows in “Quality problem standards identified” — ISO 9001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Classify quality problem polarity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Quality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rows in “Decision matrix” — NC record complete and up to date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Review quality problem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Quality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“Inputs reviewed” — Problem data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Approve quality problem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Quality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“Decision criteria checked” — NC record complete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MP-018.12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Transmit quality problem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Quality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rows in “Communication records” — Quality team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3 tasks · 12 steps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 and prepare quality problem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Execute quality problem activities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Verify, record and close quality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E2E-09 — Nonconformity To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STEP · MP-018.3 · QUALITY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Define quality problem criticality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WHAT WAS RECORDED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Quality problem criticality identified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NC record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Problem definition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Priority classification —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Step MP-018.3 (Register items): rows typed, pasted or imported, saved as they are entered.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E2E-09 — Nonconformity To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10 ·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E2E-10 — Monitoring To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Monitor performance, evaluate results, steer the organization.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FROM TRIGGER TO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Trigger: Monitoring periodicity, performance deviation, or governance review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Result: Performance evaluated; governance decisions made; improvements identified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Gate: G10 — Performance reviewed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 PROCESSES OF THIS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MP-009  Process Indicators and KPI Management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MP-010  Process Alert and Escalation Thresholds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MP-011  Real-Time Dashboard and Process Steering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MP-023  Continual Improvement Pipeline Steering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MP-031  Performance Indicator Consolidation and Rev…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MP-032  Management System Performance Monitoring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MP-033  Operational Process Performance Review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MP-034  Governance Bodies and Reviews Orchestration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MP-035  Customer Satisfaction Barometer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MP-039  Internal Audit and Assurance Cycle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MP-040  Executive GRC Reporting and Dashboards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MP-071  Customer Experience Intelligence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MP-072  Voice-of-Customer Analytics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MP-077  Cross-Site Benchmarking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MP-093  Augmented Reality Guided Audits and Inspect…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MP-097  Remote and Virtual Audit Capability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MP-103  Customer Complaint and Feedback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E2E-10 — Monitoring To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E2E-10 ·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Monitoring To Evaluation: the phase in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DELIVERS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KPI results, process reviews, management review decisions and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E2E-11 (audit focus); E2E-12 (improvement); E2E-01 (next cycle).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› E2E-10: macro processes of the phase with their progress and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E2E-10 — Monitoring To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 PROCESS · MP-009 (UMS027)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Process Indicators and KPI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Define KPIs; align with objectives; set targets; automate and visualize.  ·  Owner: Performance Manager  ·  ISO 9001 §9.1.1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was recorded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Define process KPIs indicators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Performance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rows in “Process KPIs indicators identified” — Customer satisfactio…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Align process KPIs with objectives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Performance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Align process KPIs with objectives carried out on core…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Set process KPIs targets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Performance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rows in “Objectives (become entries of the objectives register)” —…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Define process KPIs data sources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Performance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“Process KPIs data sources identified” — KPI definitions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Establish process KPIs frequency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Performance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Frequency: Monthly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Designate owners of process KPIs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Performance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“Planned activities (become actions)” — Review process KPIs…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Review process KPIs relevance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Performance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“Inputs reviewed” — Process objectives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Automate process KPIs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DynamicMS Engine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System result confirmed: Automate process KPIs: done by the DynamicMS…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Visualize process KPIs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Performance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Visualize process KPIs carried out on core delivery pr…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Set KPI measurement and analysis freque…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Performance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Set KPI measurement and analysis frequencies carried o…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Assign KPI RACSI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Performance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1 rows in “RACSI of the macro process” — Performance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4 tasks · 11 steps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 and prepare process KPIs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Execute process KPIs activities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Verify, record and close process KPIs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T4  Govern KPI Frequencies &amp; RACSI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E2E-10 — Monitoring To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STEP · MP-009.1 · PERFORMANCE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Define process KPIs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WHAT WAS RECORDED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Process KPIs indicators identified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Customer satisfaction index — Indicator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On-time delivery rate — Indicator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First pass yield — Indicator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Cost of poor quality — Indicator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Step MP-009.1 (Register items): rows typed, pasted or imported, saved as they are entered.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E2E-10 — Monitoring To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11 ·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E2E-11 — Intelligence To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Provide assurance through AI, foresight, IoT, ESG, analytics.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FROM TRIGGER TO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Trigger: Predictive analytics alert, regulatory change, or assurance requirement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Result: Risks predicted; compliance assured; ESG and carbon reported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Gate: G11 — Assurance in place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 PROCESSES OF THIS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MP-062  AI Predictive Risk Intelligence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MP-063  Automated Regulatory Horizon Scanning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MP-064  Multi-Standard Automated Cross-Mapping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MP-065  Intelligent Document Generation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MP-066  Digital Twin Process Simulation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MP-075  Natural Language Process Mining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MP-078  Predictive Compliance Intelligence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MP-080  Real-Time Regulatory Change Impact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MP-088  AI Explainability and Confidence Scoring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MP-092  IoT and Sensor Data Integration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MP-099  Task Mining and Process Discovery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E2E-11 — Intelligence To Assurance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E2E-11 ·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Intelligence To Assurance: the phase in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DELIVERS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Audit programme, audit reports, findings and assurance opinion.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E2E-09 (findings as nonconformities); E2E-10 (review inputs).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› E2E-11: macro processes of the phase with their progress and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E2E-11 — Intelligence To Assurance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 PROCESS · MP-062 (DMS001)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AI Predictive Risk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Predict risks before they materialize; use ML; generate warnings.  ·  Owner: Risk Manager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was recorded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Collect and clean predictive risk model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“And clean predictive risk model identified” — Risk predict…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Train and validate predictive risk model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Context given to the assistant: Step: Train and validate predictive 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Generate predictive risk model predicti…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Context given to the assistant: Step: Generate predictive risk model…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Identify predictive risk model patterns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“Predictive risk model patterns identified” — Risk predicti…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Trigger predictive risk model warnings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Trigger predictive risk model warnings carried out on…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Recommend predictive risk model actions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Recommend predictive risk model actions carried out on…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Track predictive risk model accuracy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1 rows in “Indicators measured” — KPI-23 — Predictive alert precision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Retrain predictive risk model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Change made: Risk predictions updated: Use of an obsolete document ve…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Report on predictive risk model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Risk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rows in “Communication records” — Top mgmt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3 tasks · 9 steps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 and prepare predictive risk model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Execute predictive risk model activities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Verify, record and close predictive risk…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E2E-11 — Intelligence To Assurance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STEP · MP-062.1 · RISK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Collect and clean predictive risk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WHAT WAS RECORDED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And clean predictive risk model identified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Risk predictions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Early warnings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Preventive recommendations —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Step MP-062.1 (Register items): rows typed, pasted or imported, saved as they are entered.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E2E-11 — Intelligence To 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12 · 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E2E-12 — Improvement To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Drive continual improvement, innovation, automation,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FROM TRIGGER TO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Trigger: Improvement opportunity, innovation idea, or automation candidate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Result: Improvements implemented; innovations deployed; ecosystem expanded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Gate: G12 — Improvement cycle closed — 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 PROCESSES OF THIS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MP-041  AI Management System Supervision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MP-053  Optimization and Automation Project Managem…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MP-054  Macro Process Discovery and Prioritization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MP-055  Enterprise Simulation and Digital Twin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MP-056  Process Element Automation Scoring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MP-060  ROI Lifecycle Management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MP-061  VOI Lifecycle Management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MP-073  Innovation Pipeline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MP-079  Blockchain Audit Trail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MP-085  Composable Module Governance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MP-086  Multi-Tenant Isolation and Governance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MP-089  Real-Time Collaborative Editing and Co-Auth…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MP-094  Digital Signature and E-Signature Workflow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MP-100  Low-Code Process Builder and Workflow Desig…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MP-101  Marketplace for Templates, Connectors, and…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E2E-12 — Improvement To Innovation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E2E-12 ·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Improvement To Innovation: the phase in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DELIVERS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Improvement portfolio, innovations, return on investment, updated objectives.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FEEDS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E2E-01 of the next cycle (context, policy and objectives are reviewed again).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› E2E-12: macro processes of the phase with their progress and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E2E-12 — Improvement To 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 PROCESS · MP-041 (UMS017)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AI Management System Supervision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Establish AI policy; define scope/risks; apply lifecycle controls; monitor/audit.  ·  Owner: Transformation Manager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was recorded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Establish AI management system policy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Transformation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What was done: Establish AI management system policy carried out on 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Define AI management system scope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Transformation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“AI management system scope identified” — AI policy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Identify AI management system risks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Transformation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rows in “AI management system risks identified” — Use of an obsolet…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Assess AI management system impacts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Transformation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rows in “Decision matrix” — AI policy complete and up to date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Define AI management system roles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Transformation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“AI management system roles identified” — AI policy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Apply AI management system controls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Transformation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rows in “Settings” — Apply AI management system controls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Monitor AI management system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Transformation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rows in “Indicators measured” — Q-KPI-01 — Customer satisfaction in…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Audit AI management system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Transformation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rows in “Indicators measured” — Q-KPI-01 — Customer satisfaction in…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Correct AI management system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Transformation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Change made: AI policy updated: specification not met.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Update AI management system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Transformation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Change made: AI policy updated: Use of an obsolete document version.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Activate AI use cases by scope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Transformation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rows in “Settings” — Activate AI use cases by scope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MP-041.12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Approve custom AI use cases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Transformation Manager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rows in “Decision criteria checked” — AI policy complete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4 tasks · 12 steps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 and prepare AI management system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Execute AI management system activities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Verify, record and close AI management sy…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T4  Administer AI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E2E-12 — Improvement To Innovation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STEP · MP-041.2 · TRANSFORMATION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Define AI management system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WHAT WAS RECORDED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AI management system scope identified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AI policy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Risk register — Output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Impact assessment —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Step MP-041.2 (Register items): rows typed, pasted or imported, saved as they are entered.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E2E-12 — Improvement To Innovation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1280160"/>
            <a:ext cx="4389120" cy="4389120"/>
          </a:xfrm>
          <a:prstGeom prst="ellipse">
            <a:avLst/>
          </a:prstGeom>
          <a:noFill/>
          <a:ln w="76200">
            <a:solidFill>
              <a:srgbClr val="F89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7863840" cy="1371600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Evidence, measurement and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7498079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E3E3E4"/>
                </a:solidFill>
                <a:latin typeface="Calibri"/>
              </a:rPr>
              <a:t>What the run produces for audits, reviews and accreditation.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E3E3E4"/>
                </a:solidFill>
                <a:latin typeface="Calibri"/>
              </a:rPr>
              <a:t>POWERACT Consulting  ·  Evidence, measurement and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E3E3E4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NONCONFORMITY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From detection to lessons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Containment, root cause, corrective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Effectiveness checked by another person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Cost recorded with its 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Audits with findings and conclusions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Programme, checklist, findings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Findings become nonconformities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Ready for JCI and ISO surveys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Indicators against their targets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Monthly values and trend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Data table, CSV and image export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Feed the management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Risks and opportunities by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Likelihood × impact heatmap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Treatment and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Linked to the steps they govern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Controlled documents generated from the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37 IMS templates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Versions, review and 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PDF, Word, Excel, PowerPoint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Reports for every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Management review inputs (ISO 9001 §9.3.2)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English, French, Arabic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PDF, Excel, Word, PowerPoint,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RACSI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Who is responsible for each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rac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Responsible, Accountable, Support, Consulted, Informed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Linked to the organization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Exported for audits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GOVERNED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AI proposes, a person decides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ai-propo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229" y="1783080"/>
            <a:ext cx="6759244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Each suggestion comes from an approved AI use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Each item accepted, edited or rejected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Every decision kept in an append-only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From this case to your organization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8813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1938528"/>
            <a:ext cx="73152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E07B00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984248"/>
            <a:ext cx="9601200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A3A3C"/>
                </a:solidFill>
                <a:latin typeface="Calibri"/>
              </a:rPr>
              <a:t>Scoping workshop: your sites, services, standards (JCI, ISO 9001, ISO 15189 for the laboratory) and priorities.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944368"/>
            <a:ext cx="73152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E07B00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90088"/>
            <a:ext cx="9601200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A3A3C"/>
                </a:solidFill>
                <a:latin typeface="Calibri"/>
              </a:rPr>
              <a:t>Configuration: healthcare segment V-29, licence, organization chart, roles and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108813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3950208"/>
            <a:ext cx="73152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E07B00"/>
                </a:solidFill>
                <a:latin typeface="Cambr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995928"/>
            <a:ext cx="9601200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A3A3C"/>
                </a:solidFill>
                <a:latin typeface="Calibri"/>
              </a:rPr>
              <a:t>Pilot: run E2E-01 to E2E-04 on one site with your data; first gate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46320"/>
            <a:ext cx="108813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4956048"/>
            <a:ext cx="73152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E07B00"/>
                </a:solidFill>
                <a:latin typeface="Cambr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001768"/>
            <a:ext cx="9601200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A3A3C"/>
                </a:solidFill>
                <a:latin typeface="Calibri"/>
              </a:rPr>
              <a:t>Deployment: the twelve phases across services, with reviews and reports in French and English.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The full step-by-step values of this run are in the DynamicMS user guide (full real run).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
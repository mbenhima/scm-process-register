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4480560"/>
            <a:ext cx="2194560" cy="2194560"/>
          </a:xfrm>
          <a:prstGeom prst="ellipse">
            <a:avLst/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POWERACT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E07B00"/>
                </a:solidFill>
                <a:latin typeface="Calibri"/>
              </a:rPr>
              <a:t>C O N S U L T I N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DYNAMICMS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91440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3A3A3C"/>
                </a:solidFill>
                <a:latin typeface="Cambria"/>
              </a:rPr>
              <a:t>Étude de cas universelle — Un déroulement complet de DynamicMS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686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58595B"/>
                </a:solidFill>
                <a:latin typeface="Calibri"/>
              </a:rPr>
              <a:t>Douze processus de bout en bout, leurs macro-processus, tâches et étapes, tels qu’enregistrés dans l’application — préparé pour les établissements de santé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808184"/>
                </a:solidFill>
                <a:latin typeface="Calibri"/>
              </a:rPr>
              <a:t>POWERACT Consulting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DYNAMICMS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2996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Le cas : une organisation, un déroulement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80720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Ce que cela signifie pour un établissement de santé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8444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Les douze processus de bout en bout, phase par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6168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Preuves, mesure, documents et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138928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Prochaines étapes pour votre établissement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Sommaire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LE 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100" b="1" i="0">
                <a:solidFill>
                  <a:srgbClr val="3A3A3C"/>
                </a:solidFill>
                <a:latin typeface="Cambria"/>
              </a:rPr>
              <a:t>Horizon Holding Universelle : un déroulement SMQ complet, du contexte à l’innovation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Projet HZ-UNI-QMS · ISO 9001 · du 2025-10-01 au 2026-12-30 · 9 167 salariés · profil universel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33172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6207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processus de bout en bout, déroulés en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402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6280" y="233172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86207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 activés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2402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9" y="233172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346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86207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365760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1 057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8795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 de workflow avec leurs valeurs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56616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26280" y="365760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18795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du déroulement terminé ; 11 jalons franchis (Go)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56616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599" y="3657600"/>
            <a:ext cx="32004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187952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personnes, chacune dans un rôle nommé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Toutes les valeurs proviennent de la base de démonstration de DynamicMS ; noms et chiffres sont fictifs.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58595B"/>
                </a:solidFill>
                <a:latin typeface="Calibri"/>
              </a:rPr>
              <a:t>Licence du cas : DMS-ENT avec DMS-AI, DMS-CERT, DMS-ESG et options ADD-01, ADD-04, ADD-06, ADD-07.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 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POUR LA SANTÉ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100" b="1" i="0">
                <a:solidFill>
                  <a:srgbClr val="3A3A3C"/>
                </a:solidFill>
                <a:latin typeface="Cambria"/>
              </a:rPr>
              <a:t>Les mêmes douze processus pilotent le système de management d’un établissement de santé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Le déroulement universel est le socle commun. Pour un établissement de soins (segment V-29), DynamicMS active en plus les éléments suivants.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1247" y="2331720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NORMES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51760"/>
            <a:ext cx="3108960" cy="3017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JCI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ISO 9001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ISO/IEC 27001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HIPAA · GDPR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Autorité nationale de santé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HL7 FHIR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44568" y="2331720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79 MACRO-PROCESSUS, DONT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51760"/>
            <a:ext cx="3108960" cy="3017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Gestion du laboratoire médical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Gestion des installations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Gestion des services informatiques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Sécurité du cloud et vie privée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Lutte contre la corruption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9456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47888" y="2331720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LICENCE RECOMMANDÉE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651760"/>
            <a:ext cx="3154680" cy="3017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DMS-PRO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+ DMS-LSCI Sciences de la vie et santé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+ DMS-CERT Certification</a:t>
            </a:r>
          </a:p>
          <a:p>
            <a:pPr algn="l"/>
            <a:r>
              <a:rPr sz="1200" b="0" i="0">
                <a:solidFill>
                  <a:srgbClr val="3A3A3C"/>
                </a:solidFill>
                <a:latin typeface="Calibri"/>
              </a:rPr>
              <a:t>+ DMS-AI Intelligence et assurance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Source : catalogue DynamicMS (segment V-29 Santé — établissements de soins, catalogue des packs 2.5).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Santé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POUR LA SANTÉ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Comment le déroulement se lit dans un hôpital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8813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206240"/>
                <a:gridCol w="56692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E2E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Dans le déroulement universel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Dans un hôpital (illustration)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Parties intéressées, enjeux du contexte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Patients et familles, autorité de tutelle, personnel médical, assureurs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E2E-03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Registre des risques et opportunités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Risques pour la sécurité des patients, hygiène, continuité des soins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Compétences, documents, équipements de mesure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Compétences cliniques, protocoles de soins, dispositifs médicaux étalonnés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E2E-08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Des exigences à la livraison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Parcours de soins, de l’admission à la sortie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Non-conformité, cause racine, action corrective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Événements indésirables et presque-accidents, analyse, retours d’expérience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KPI, revues de processus et de direction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Indicateurs qualité et sécurité, préparation à l’accréditation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A3A3C"/>
                          </a:solidFill>
                          <a:latin typeface="Calibri"/>
                        </a:rPr>
                        <a:t>E2E-11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Audits et assurance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8595B"/>
                          </a:solidFill>
                          <a:latin typeface="Calibri"/>
                        </a:rPr>
                        <a:t>Audits internes JCI et ISO 9001, visites blanches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Illustration de l’usage des mêmes étapes ; les macro-processus propres à la santé ajoutent leurs étapes.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Santé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PDCA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Douze phases sur un cycle Planifier-Réaliser-Vérifier-Agir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664207"/>
            <a:ext cx="4352544" cy="4489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dca-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32" y="1737360"/>
            <a:ext cx="4112094" cy="4343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0" y="1691640"/>
          <a:ext cx="6035037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991"/>
                <a:gridCol w="2609747"/>
                <a:gridCol w="897100"/>
                <a:gridCol w="489327"/>
                <a:gridCol w="652436"/>
                <a:gridCol w="652436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E2E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PDCA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Étapes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Jalon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Du contexte à la stratégie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Planifier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Du leadership à l'engagement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Planifier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Du risque à la résilience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Planifier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De la conformité à la réussite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Planifier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Des ressources à la disponibilité opérationnelle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Réaliser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De l'infrastructure à la sécurité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Réaliser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Des données à l'intelligence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Réaliser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Des exigences à la livraison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Réaliser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De la non-conformité à la connaissance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Vérifier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De la surveillance à l'évaluation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Vérifier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163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De l'intelligence à l'assurance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Vérifier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A3A3C"/>
                          </a:solidFill>
                          <a:latin typeface="Calibri"/>
                        </a:rPr>
                        <a:t>E2E-12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De l'amélioration à l'innovation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Agir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8595B"/>
                          </a:solidFill>
                          <a:latin typeface="Calibri"/>
                        </a:rPr>
                        <a:t>En cours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 déroulement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ÉCRANS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L’accueil du projet : avancement, prochaines étapes, KPI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27048"/>
            <a:ext cx="10661904" cy="4489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425" y="1600200"/>
            <a:ext cx="727266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Accueil du projet HZ-UNI-QMS.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 déroulement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ÉCRANS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Le cycle de vie : douze phases et leurs jalons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27048"/>
            <a:ext cx="10661904" cy="4489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425" y="1600200"/>
            <a:ext cx="727266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: chaque carte est un processus de bout en bout avec son avancement et son jalon.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 déroulement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1280160"/>
            <a:ext cx="4389120" cy="4389120"/>
          </a:xfrm>
          <a:prstGeom prst="ellipse">
            <a:avLst/>
          </a:prstGeom>
          <a:noFill/>
          <a:ln w="76200">
            <a:solidFill>
              <a:srgbClr val="F89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863840" cy="137160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Le déroulement complet, phase par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7498079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E3E3E4"/>
                </a:solidFill>
                <a:latin typeface="Calibri"/>
              </a:rPr>
              <a:t>Pour chaque processus de bout en bout : ses macro-processus, un macro-processus jusqu’à ses étapes, et les écrans.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E3E3E4"/>
                </a:solidFill>
                <a:latin typeface="Calibri"/>
              </a:rPr>
              <a:t>POWERACT Consulting  ·  Le déroulement complet, phase par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E3E3E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01 · PLANIFIER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E2E-01 — Du contexte à la stratégie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Définir le contexte, la politique, la stratégie, les objectifs, la conformité et la gouvernance.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Cycle de planification stratégique, résultat de revue de direction ou changement significatif de contexte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Politique, stratégie, objectifs, registre des risques et cadre de conformité approuvés et en place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J1 — Référence stratégique approuvée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MP-001  Analyse du contexte et cartographie des par…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MP-002  Définition de la politique qualité et de l'…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MP-003  Déploiement des objectifs et cibles qualité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MP-004  Cartographie de l'architecture des processus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MP-005  SIPOC et cartographie de la chaîne de valeur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MP-012  Gestion des risques et opportunités opérati…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MP-027  Harmonisation unifiée des exigences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MP-028  Cartographie des obligations réglementaires…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MP-036  Gouvernance des politiques et procédures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MP-037  Univers et évaluation des risques d'entrepr…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MP-038  Planification du traitement et de l'atténua…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MP-095  Gestion des packs de conformité sectoriels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MP-105  Calendrier de conformité et planificateur d…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E2E-01 — Du contexte à la stratégie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E2E-01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Du contexte à la stratégie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Contexte, parties intéressées, périmètre, politique, objectifs SMART, cartographie des processus.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E2E-02 (engagement), E2E-03 (risques), E2E-10 (KPI des objectifs).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E2E-01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E2E-01 — Du contexte à la stratégie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MP-001 (UMS016)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Analyse du contexte et cartographie des parties prenantes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Comprendre les enjeux internes/externes ; identifier les parties intéressées ; définir le périmètre du SMI.  ·  Pilote: Responsable SMI  ·  ISO 9001 §4.1, §4.2, §4.3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Fixer la périodicité du diagnostic stra…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SMI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Fréquence : Annuel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Identifier les enjeux externes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SMI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5 lignes dans « Enjeux externes identifiés » — Concurrence par les pr…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Identifier les enjeux internes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SMI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Enjeux internes identifiés » — Livraison tardive au 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Identifier les parties intéressées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SMI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6 lignes dans « Parties intéressées identifiées » — Clients (grands 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Déterminer les besoins et attentes des…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SMI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8 lignes dans « Besoins et attentes des parties intéressées » — Prest…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Valider et décliner les exigences des p…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SMI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Critères de décision vérifiés » — Enjeux revus avec l…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Identifier les interactions entre proce…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SMI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5 lignes dans « Interactions entre macro-processus » — Commercial et…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ou revoir le périmètre du systè…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SMI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Ou revoir le périmètre du système de management — élé…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Documenter et communiquer l'analyse du…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SMI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Modèle de document : TPL-SCOPE — Périmètre du système de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MP-001.10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Revoir périodiquement le contexte de l'…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SMI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Éléments d'entrée revus » — Enjeux externes et intern…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tâches · 10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le contexte de l'or…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du contexte de l'o…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le cont…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E2E-01 — Du contexte à la stratégie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MP-001.2 · RESPONSABLE SMI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Identifier les enjeux externes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Enjeux externes identifiés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Concurrence par les prix des pres… — Économique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Les clients exigent la certificat… — Marché et clients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Amendement ISO 9001 sur le change… — Légal et réglementaire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Disponibilité et prix des fournit… — Approvisionnement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Les clients envoient leurs demand… — Technologique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MP-001.2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E2E-01 — Du contexte à la stratégie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02 · PLANIFIER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E2E-02 — Du leadership à l'engagement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Établir le leadership, les compétences, la communication et la capacité d'audit.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Achèvement de l'E2E-01 ou changement de direction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Personnel compétent, plan de communication et auditeurs qualifiés en place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J2 — Personnes et communication prêtes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MP-013  Orchestration des compétences et de la formation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MP-014  Élaboration du plan de communication du système de management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MP-026  Qualification et certification des auditeurs internes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MP-104  Microlearning et contenus de formation générés par l'IA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MP-138  Gestion des relations d'affaires collaboratives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E2E-02 — Du leadership à l'engagement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E2E-02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Du leadership à l'engagement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Rôles, RACSI, instances de gouvernance, engagements de la direction et communication.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Toutes les phases (pilotes et approbateurs) ; E2E-10 (revue de direction).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E2E-02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E2E-02 — Du leadership à l'engagement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MP-013 (UMS006)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Orchestration des compétences et de la 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Définir les référentiels de compétences ; évaluer les écarts ; dispenser la formation ; suivre les certifications.  ·  Pilote: Responsable RH  ·  ISO 9001 §7.2, §7.3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les référentiels de la formation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RH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Référentiels de la formation — éléments identifiés »…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Évaluer les écarts de la formation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RH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Matrice de décision » — Enregistrements de compétence…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Concevoir les cursus de la formation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RH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Activités planifiées (deviennent des actions) » — Pla…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Planifier la formation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RH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Activités planifiées (deviennent des actions) » — Dis…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Dispenser la formation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RH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Session / module : Dispenser la formation — session pratique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Évaluer la formation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RH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Matrice de décision » — Enregistrements de compétence…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Suivre les certifications de la formati…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RH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lignes dans « Indicateurs mesurés » — KPI-04 — Taux de résorption d…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Certifier la formation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RH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Critères de décision vérifiés » — Enregistrements de…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MP-013.9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Mettre à jour la formation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RH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Modification apportée : Enregistrements de compétences mis à jour : 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tâches · 9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la formation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de la formation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la form…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E2E-02 — Du leadership à l'engagement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MP-013.1 · RESPONSABLE RH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Définir les référentiels de la 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Référentiels de la formation — éléments identifiés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Enregistrements de compétences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Enregistrements de formation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Certifications — Élément de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MP-013.1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E2E-02 — Du leadership à l'engagement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03 · PLANIFIER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E2E-03 — Du risque à la résilience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Gérer les contrôles, les risques tiers, la continuité, la sécurité fonctionnelle, la sécurité des procédés et les crises.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Cycle d'évaluation des risques, incident, changement réglementaire ou exigence de sécurité fonctionnelle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Contrôles en place, risques tiers maîtrisés, continuité testée, sécurité fonctionnelle et des procédés assuré…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J3 — Maîtrise des risques efficace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MP-049  Contrôle interne et certification SOX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MP-050  Surveillance des risques tiers et fournisseurs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MP-051  Alertes éthiques et enquêtes sur incidents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MP-052  Continuité d'activité et préparation aux crises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MP-098  Surveillance continue des contrôles et tests automatisés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MP-108  Communication de crise et gestion de la réputation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E2E-03 — Du risque à la résilience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E2E-03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Du risque à la résilience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Registre des risques et opportunités, traitements, continuité d'activité.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E2E-05 à E2E-08 (maîtrises en opération) ; E2E-11 (univers d'audit).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E2E-03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E2E-03 — Du risque à la résilience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MP-049 (GRC004)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Contrôle interne et certification SOX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Identifier les contrôles clés ; les concevoir et les relier aux risques ; s'auto-évaluer et tester ; certifier.  ·  Pilote: Responsable des risques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Identifier les contrôles internes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Contrôles internes — éléments identifiés » — Inventai…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Concevoir les contrôles internes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Activités planifiées (deviennent des actions) » — Rel…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Relier les contrôles internes aux risqu…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Relier les contrôles internes aux risques réal…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S'auto-évaluer les contrôles internes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S'auto-évaluer les contrôles internes réalisé…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Tester les contrôles internes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Matrice de décision » — Inventaire des contrôles comp…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Documenter les déficiences des contrôle…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Modèle de document : TPL-PROC — Procédure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Remédier les contrôles internes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Modification apportée : Inventaire des contrôles mis à jour : Utilisa…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Certifier les contrôles internes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Critères de décision vérifiés » — Inventaire des cont…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MP-049.9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Maintenir le référentiel des contrôles…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Modèle de document : TPL-PROC — Procédure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tâches · 9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les contrôles inter…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des contrôles inte…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les con…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E2E-03 — Du risque à la résilience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MP-049.1 · RESPONSABLE DES RISQUES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Identifier les contrôles internes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Contrôles internes — éléments identifiés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Inventaire des contrôles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Enregistrements de conception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Enregistrements de tests — Élément de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MP-049.1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E2E-03 — Du risque à la résilience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04 · PLANIFIER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E2E-04 — De la conformité à la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Déployer, auditer, certifier et maintenir le système de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Préparation à la certification, audit de surveillance à venir ou nouvelle obligation de conformité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Certification obtenue ou maintenue ; constats clôturés ; obligations de conformité respectées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J4 — Prêt pour la certification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MP-015  Déploiement et mise en œuvre du système de management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MP-016  Audit à blanc, pré-certification et diagnostic des écarts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MP-017  Préparation et coordination de l'audit de certification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MP-096  Gestion du portefeuille de certifications multi-normes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MP-130  Gestion de la lutte contre la corruption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E2E-04 — De la conformité à la réussite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E2E-04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 la conformité à la réussite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Registre des obligations de conformité, évaluation de la conformité, plan de certification.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E2E-08 (exigences), E2E-11 (assurance), E2E-10 (éléments d'entrée de revue).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E2E-04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E2E-04 — De la conformité à la réussite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MP-015 (UMS033)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Déploiement et mise en œuvre du système de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Déployer le système de management ; conduire des pilotes ; préparer les équipes ; passer en régime établi.  ·  Pilote: Responsable conformité  ·  ISO 9001 §8.1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les phases du déploiement du sy…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conformité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Phases du déploiement du système de management — élém…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Sélectionner les pilotes du déploiement…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conformité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lignes dans « RACSI du macro-processus » — Responsable conformité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Conduire le pilote du déploiement du sy…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conformité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Conduire le pilote du déploiement du système d…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Affiner le déploiement du système de 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conformité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Modification apportée : Processus déployés mis à jour : spécification…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Préparer les équipes du déploiement du…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conformité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Modèle de document : TPL-PROC — Procédure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Valider le calendrier du déploiement du…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conformité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Critères de décision vérifiés » — Processus déployés…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Vérifier la préparation du déploiement…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conformité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Matrice de décision » — Processus déployés complet et…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Exécuter la transition du déploiement d…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conformité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Exécuter la transition du déploiement du systè…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Accompagner les utilisateurs du déploie…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conformité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Accompagner les utilisateurs du déploiement du…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MP-015.10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Passer en régime établi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conformité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Passer en régime établi réalisé sur processus…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tâches · 10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le déploiement du s…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du déploiement du…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le dépl…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E2E-04 — De la conformité à la réussite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MP-015.1 · RESPONSABLE CONFORMITÉ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Définir les phases du déploiement du système de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Phases du déploiement du système de management — éléments i…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Processus déployés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Personnel formé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Enregistrements de transition — Élément de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MP-015.1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E2E-04 — De la conformité à la réussite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05 · RÉALISER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E2E-05 — Des ressources à la disponibilité opérationnelle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Fournir les personnes, les compétences, la documentation, les enregistrements, la mesure et la santé.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Déploiement du SMI, nouvelle embauche, changement documentaire ou exigence de surveillance médicale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Personnes compétentes, documentation maîtrisée, équipements étalonnés, dossiers de santé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J5 — Informations documentées maîtrisées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MP-006  Élaboration des procédures et instructions de travail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MP-025  Maîtrise des ressources de surveillance et de mesure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MP-029  Maîtrise du cycle de vie documentaire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MP-030  Cycle de vie des enregistrements, conservation et gouvernance des pre…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E2E-05 — Des ressources à la disponibilité opérationnelle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E2E-05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Des ressources à la disponibilité opérationnelle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Personnes compétentes, informations documentées, ressources de mesure prêtes pour l'opération.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E2E-08 (livraison) ; E2E-09 (non-conformités d'étalonnage et de compétence).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E2E-05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E2E-05 — Des ressources à la disponibilité opérationnelle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MP-006 (UMS024)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Élaboration des procédures et instructions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Élaborer les procédures ; garantir la clarté ; valider la conformité.  ·  Pilote: Responsable excellence des processus  ·  ISO 9001 §7.5, §8.1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Identifier le besoin des procédures et…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Besoin des procédures et instructions de travail — él…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la structure des procédures et…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Structure des procédures et instructions de travail —…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Rédiger les procédures et instructions…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Modèle de document : TPL-PROC — Procédure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Élaborer les procédures et instructions…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Modèle de document : TPL-PROC — Procédure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Intégrer des supports visuels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Paramètres » — Intégrer des supports visuels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Valider les procédures et instructions…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Critères de décision vérifiés » — Procédures complet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Vérifier la conformité des procédures e…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Matrice de décision » — Procédures complet et à jour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Soumettre les procédures et instruction…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Soumettre les procédures et instructions de tr…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Publier les procédures et instructions…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Modèle de document : TPL-PROC — Procédure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Former le personnel sur les procédures…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Session / module : Former le personnel sur les procédures et instruct…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Planifier les revues des procédures et…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Éléments d'entrée revus » — Conceptions de processus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MP-006.12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Créer l'en-tête de la procédure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Modèle de document : TPL-PROC — Procédure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autres étapes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4 tâches · 15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les procédures et i…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des procédures et…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les pro…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T4  Rédiger les procédures des tâches (cas d'…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E2E-05 — Des ressources à la disponibilité opérationnelle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MP-006.1 · RESPONSABLE EXCELLENCE DES PROCESSUS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Identifier le besoin des procédures et instructions de travail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Besoin des procédures et instructions de travail — éléments…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Procédures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Instructions de travail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Aides visuelles — Élément de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MP-006.1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E2E-05 — Des ressources à la disponibilité opérationnelle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06 · RÉALISER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E2E-06 — De l'infrastructure à la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Fournir l'infrastructure informatique, de sécurité, de données, technologique et environnementale.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Changement d'infrastructure informatique, menace de sécurité, exigence de protection des données, exigence en…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SI sécurisé et conforme ; données protégées ; salles propres surveillées ; installations gérées ; fiabilité d…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J6 — Infrastructure sécurisée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MP-042  GRC cyber et contrôle informatique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MP-043  Gestion de la protection des données person…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MP-045  Gouvernance des accès, de la sécurité et de…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MP-046  Référentiel des applications et interfaces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MP-047  Cycle de vie des technologies et de l'archi…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MP-048  Souveraineté des locataires et gouvernance…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MP-059  Gouvernance de la configuration et des para…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MP-119  Fiabilité des actifs et gestion de la maint…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MP-133  Gestion des installations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MP-134  Gestion des services informatiques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MP-135  Gestion de la sécurité et de la confidentia…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E2E-06 — De l'infrastructure à la sécurité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E2E-06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 l'infrastructure à la sécurité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Installations, services informatiques et sécurité de l'information maîtrisés.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E2E-07 (plateforme de données) ; E2E-08 (opérations) ; E2E-09 (incidents).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E2E-06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E2E-06 — De l'infrastructure à la sécurité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MP-042 (UMS045)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GRC cyber et contrôle informatique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Définir l'inventaire des contrôles ; conduire les évaluations des risques ; mettre en œuvre et surveiller ; auditer.  ·  Pilote: Responsable informatique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l'inventaire des contrôles info…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L'inventaire des contrôles informatiques — éléments 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Conduire les évaluations des contrôles…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Conduire les évaluations des contrôles informa…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Concevoir/mettre les contrôles informat…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Activités planifiées (deviennent des actions) » — Sui…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Suivre les contrôles informatiques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Indicateurs mesurés » — Q-KPI-01 — Indice de satisfac…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Gérer les incidents des contrôles infor…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Gérer les incidents des contrôles informatique…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Conduire les audits des contrôles infor…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Conduire les audits des contrôles informatique…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Remédier les contrôles informatiques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Modification apportée : Inventaire des contrôles mis à jour : spécifi…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MP-042.8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Rendre compte de l'état des contrôles 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Enregistrements de communication » — Direction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tâches · 8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les contrôles infor…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des contrôles info…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les con…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E2E-06 — De l'infrastructure à la sécurité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MP-042.1 · RESPONSABLE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Définir l'inventaire des contrôles informatiques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L'inventaire des contrôles informatiques — éléments identif…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Inventaire des contrôles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Évaluations des risques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Enregistrements de contrôles — Élément de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MP-042.1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E2E-06 — De l'infrastructure à la sécurité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07 · RÉALISER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E2E-07 — Des données à l'intelligence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Gouverner les données, les formules, les calculs et la connaissance.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Exigence de gouvernance des données, changement de formule ou lacune de connaissance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Données, formules, calculs et graphe de connaissances gouvernés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J7 — Données et formules gouvernées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MP-044  Gouvernance des données et qualité des données de référence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MP-057  Référentiel de formules et gouvernance des variables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MP-058  Orchestration de l'exécution et de la traçabilité des formules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MP-074  Graphe de connaissances et recherche sémantique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E2E-07 — Des données à l'intelligence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E2E-07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Des données à l'intelligence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Données, formules et connaissances gouvernées ; chaîne de données des KPI ; sources de données configurées.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E2E-10 (mesure et tableaux de bord) ; E2E-11 (intelligence pour l'assurance).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E2E-07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E2E-07 — Des données à l'intelligence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MP-044 (UMS048)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Gouvernance des données et qualité des données de référence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Définir les domaines/propriétaires ; établir les règles ; profiler et nettoyer ; surveiller.  ·  Pilote: Responsable informatique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les domaines des données de réf…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Domaines des données de référence — éléments identifi…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Établir les règles des données de référ…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Établir les règles des données de référence ré…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Mettre en œuvre le profilage des donnée…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Paramètres » — Mettre en œuvre le profilage des donn…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Gérer le lignage des données de référen…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Gérer le lignage des données de référence réal…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Exploiter le MDM des données de référen…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Paramètres » — Exploiter le MDM des données de référ…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Surveiller les tableaux de bord des don…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lignes dans « Indicateurs mesurés » — KPI-14 — Score de qualité des…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Résoudre les incidents des données de 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Résoudre les incidents des données de référenc…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Communiquer les scores des données de 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Enregistrements de communication » — Direction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Maintenir les listes de valeurs personn…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Maintenir les listes de valeurs personnalisabl…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MP-044.10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Retirer les valeurs personnalisées inut…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informati…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Preuve de clôture : Domaines de données clôturé ; efficacité vérifiée…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4 tâches · 10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les données de réfé…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des données de réf…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les don…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T4  Gouverner les listes de valeurs personnal…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E2E-07 — Des données à l'intelligence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MP-044.1 · RESPONSABLE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Définir les domaines des données de référence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Domaines des données de référence — éléments identifiés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Domaines de données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Règles de qualité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Enregistrements de nettoyage — Élément de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MP-044.1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E2E-07 — Des données à l'intelligence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08 · RÉALISER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E2E-08 — Des exigences à la livraison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Transformer les exigences en produits/services livrés.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Commande client, plan de production, intégration d'un fournisseur, exigence de soudage, essai de laboratoire…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Produits/services livrés ; fournisseurs maîtrisés ; traçabilité assurée ; qualité validée ; ACV réalisée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J8 — Opérations maîtrisées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566928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MP-007  Gestion du plan de surveillance des processus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MP-008  Gestion des règles métier et de la logique des processus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MP-024  Performance qualité des fournisseurs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MP-069  Résilience et traçabilité de la chaîne d'approvisionnement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MP-070  Intelligence de l'écosystème fournisseurs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MP-090  Opérations terrain mobiles et saisie hors ligne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MP-102  Portail de collaboration fournisseurs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MP-107  Traçabilité des produits et gestion des rappels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E2E-08 — Des exigences à la livraison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E2E-08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Des exigences à la livraison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Exigences client revues, produits et services livrés et libérés.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E2E-09 (éléments de sortie non conformes) ; E2E-10 (satisfaction client).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E2E-08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E2E-08 — Des exigences à la livraison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MP-007 (UMS025)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Gestion du plan de surveillance des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Identifier les points critiques de maîtrise ; définir les méthodes ; attribuer les responsabilités ; surveiller.  ·  Pilote: Responsable excellence des processus  ·  ISO 9001 §8.5.1, §9.1.1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Identifier les points critiques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Points critiques — éléments identifiés » — Plans de 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les méthodes du plan de surveil…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Méthodes du plan de surveillance des processus — élém…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Désigner les responsables du plan de su…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Activités planifiées (deviennent des actions) » — Déf…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les critères d'acceptation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Critères d'acceptation — éléments identifiés » — Plan…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Documenter le plan de surveillance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Modèle de document : TPL-CTRL — Plan de surveillance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Suivre le plan de surveillance des proc…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lignes dans « Indicateurs mesurés » — Q-KPI-03 — Rendement au premi…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Vérifier le plan de surveillance des pr…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Matrice de décision » — Plans de surveillance complet…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Ajuster le plan de surveillance des pro…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Modification apportée : Plans de surveillance mis à jour : spécificat…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MP-007.9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Archiver le plan de surveillance des pr…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excellenc…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Preuve de clôture : Plans de surveillance clôturé ; efficacité vérifi…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tâches · 9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le plan de surveill…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du plan de surveil…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le plan…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E2E-08 — Des exigences à la livraison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MP-007.1 · RESPONSABLE EXCELLENCE DES PROCESSUS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Identifier les points critiques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Points critiques — éléments identifiés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Plans de surveillance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Enregistrements de surveillance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Enregistrements de vérification — Élément de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MP-007.1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E2E-08 — Des exigences à la livraison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09 · VÉRIFIER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E2E-09 — De la non-conformité à la connaissance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Détecter, contenir, résoudre et capitaliser les non-conformités et les problèmes.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Non-conformité détectée, incident signalé ou problème identifié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Problème résolu ; REX capitalisé ; base de connaissances mise à jour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J9 — Résolution de problèmes efficace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MP-018  Saisie et définition des problèmes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MP-019  Gestion des actions immédiates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MP-020  Résolution des causes racines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MP-021  Exécution et suivi des actions correctives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MP-022  Capitalisation et clôture des non-conformit…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MP-076  Intelligence automatisée des causes racines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MP-081  Moteur de recommandation automatisée de CAPA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MP-082  Base de connaissances NCP et gestion du RAG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MP-083  Orchestration des agents IA pour la résolut…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MP-084  Moteur intelligent d'alertes et d'escalade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MP-087  Capitalisation et généralisation du REX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MP-091  Signalement vocal des incidents et des audi…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E2E-09 — De la non-conformité à la connaissance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E2E-09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 la non-conformité à la connaissance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Non-conformités maîtrisées, causes racines analysées, actions correctives, retours d'expérience (REX).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E2E-10 (KPI des NC) ; E2E-12 (amélioration) ; E2E-05 (connaissances).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E2E-09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E2E-09 — De la non-conformité à la connaissance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MP-018 (UMS011)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Saisie et définition des problèmes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Saisir les NC ; définir la criticité ; analyser en 5W2H ; classer et approuver.  ·  Pilote: Responsable qualité  ·  ISO 9001 §10.2.1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Créer la fiche du problème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Créer la fiche du problème qualité réalisé sur…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Saisir les données du problème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Saisir les données du problème qualité réalisé…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la criticité du problème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Criticité du problème qualité — éléments identifiés »…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Désigner l'équipe du problème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Activités planifiées (deviennent des actions) » — Sou…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Soumettre le problème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Soumettre le problème qualité réalisé sur proc…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Analyser en 5W2H du problème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Matrice de décision » — Fiche de NC complet et à jour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Quantifier l'écart du problème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Matrice de décision » — Fiche de NC complet et à jour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Identifier les normes du problème quali…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lignes dans « Normes du problème qualité — éléments identifiés » —…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Classer la polarité du problème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Matrice de décision » — Fiche de NC complet et à jour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Revoir le problème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Éléments d'entrée revus » — Données du problème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Approuver le problème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Critères de décision vérifiés » — Fiche de NC complet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MP-018.12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Transmettre le problème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Enregistrements de communication » — Équipe qualité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tâches · 12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le problème qualité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du problème qualité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le prob…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E2E-09 — De la non-conformité à la connaissance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MP-018.3 · RESPONSABLE QUALITÉ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Définir la criticité du problème qualité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Criticité du problème qualité — éléments identifiés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Fiche de NC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Définition du problème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Classement de priorité — Élément de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MP-018.3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E2E-09 — De la non-conformité à la connaissance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10 · VÉRIFIER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E2E-10 — De la surveillance à l'évaluation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Surveiller la performance, évaluer les résultats, piloter l'organisation.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Périodicité de surveillance, écart de performance ou revue de gouvernance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Performance évaluée ; décisions de gouvernance prises ; améliorations identifiées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J10 — Performance revue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MP-009  Gestion des indicateurs de processus et des…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MP-010  Seuils d'alerte et d'escalade des processus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MP-011  Tableau de bord temps réel et pilotage des…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MP-023  Pilotage du pipeline d'amélioration continue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MP-031  Consolidation des indicateurs de performanc…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MP-032  Surveillance de la performance du système d…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MP-033  Revue de performance des processus opératio…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MP-034  Orchestration des instances et revues de go…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MP-035  Gestion du baromètre de satisfaction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MP-039  Cycle d'audit interne et d'assurance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MP-040  Reporting GRC de direction et tableaux de b…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MP-071  Intelligence de l'expérience client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MP-072  Analyse de la voix du client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MP-077  Benchmarking inter-sites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MP-093  Audits et inspections guidés en réalité aug…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MP-097  Capacité d'audit à distance et virtuel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MP-103  Portail des réclamations et retours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E2E-10 — De la surveillance à l'évaluation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E2E-10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 la surveillance à l'évaluation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Résultats des KPI, revues de processus, décisions et actions de la revue de direction.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E2E-11 (orientation des audits) ; E2E-12 (amélioration) ; E2E-01 (cycle suivant).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E2E-10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E2E-10 — De la surveillance à l'évaluation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MP-009 (UMS027)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Gestion des indicateurs de processus et des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Définir les KPI ; les aligner sur les objectifs ; fixer les cibles ; automatiser et visualiser.  ·  Pilote: Responsable de la performance  ·  ISO 9001 §9.1.1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les indicateurs des KPI des pro…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per…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Indicateurs des KPI des processus — éléments identifi…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Aligner les KPI des processus sur les o…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per…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Aligner les KPI des processus sur les objectif…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Fixer les cibles des KPI des processus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per…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Objectifs (deviennent des entrées du registre des obj…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les sources de données des KPI…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per…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Sources de données des KPI des processus — éléments 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Établir la fréquence des KPI des proces…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per…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Fréquence : Mensuel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Désigner les responsables des KPI des p…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per…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Activités planifiées (deviennent des actions) » — Rev…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Revoir la pertinence des KPI des proces…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per…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Éléments d'entrée revus » — Objectifs du processus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Automatiser les KPI des processus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Moteur DynamicMS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Résultat système confirmé : Automatiser les KPI des processus : réali…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Visualiser les KPI des processus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per…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Visualiser les KPI des processus réalisé sur p…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les fréquences de mesure et d'a…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per…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Définir les fréquences de mesure et d'analyse…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MP-009.11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Attribuer le RACSI des KPI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per…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lignes dans « RACSI du macro-processus » — Responsable de la perfor…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4 tâches · 11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les KPI des process…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des KPI des proces…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les KPI…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T4  Gouverner les fréquences et le RACSI des…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E2E-10 — De la surveillance à l'évaluation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MP-009.1 · RESPONSABLE DE LA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Définir les indicateurs des KPI des processus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Indicateurs des KPI des processus — éléments identifiés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Indice de satisfaction client — Indicateur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Taux de livraison à l'heure — Indicateur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Rendement au premier passage — Indicateur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Coût de la non-qualité — Indicateur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MP-009.1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E2E-10 — De la surveillance à l'évaluation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11 · VÉRIFIER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E2E-11 — De l'intelligence à l'assurance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Apporter de l'assurance grâce à l'IA, la prospective, l'IoT, l'ESG et l'analytique.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Alerte d'analyse prédictive, changement réglementaire ou exigence d'assurance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Risques anticipés ; conformité assurée ; ESG et carbone déclarés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J11 — Assurance en place —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MP-062  Intelligence prédictive des risques par l'IA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MP-063  Veille réglementaire automatisée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MP-064  Correspondance automatisée multi-normes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MP-065  Génération intelligente de documents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MP-066  Simulation des processus par jumeau numériq…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MP-075  Process mining en langage naturel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MP-078  Intelligence prédictive de conformité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MP-080  Impact en temps réel des changements réglem…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MP-088  Explicabilité de l'IA et indice de confiance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MP-092  Intégration des données IoT et capteurs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MP-099  Task mining et découverte automatisée des p…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E2E-11 — De l'intelligence à l'assurance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E2E-11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 l'intelligence à l'assurance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Programme d'audit, rapports d'audit, constats et opinion d'assurance.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E2E-09 (constats traités comme non-conformités) ; E2E-10 (éléments d'entrée de revue).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E2E-11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E2E-11 — De l'intelligence à l'assurance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MP-062 (DMS001)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Intelligence prédictive des risques par l'IA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Anticiper les risques avant qu'ils ne se concrétisent ; utiliser l'apprentissage automatique ; générer des alertes.  ·  Pilote: Responsable des risques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Collecter et nettoyer le modèle prédict…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Et nettoyer le modèle prédictif des risques — élément…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Entraîner/valider le modèle prédictif d…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Contexte fourni à l'assistant : Étape : Entraîner/valider le modèle p…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Générer les prédictions du modèle prédi…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Contexte fourni à l'assistant : Étape : Générer les prédictions du mo…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Identifier les tendances du modèle préd…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Tendances du modèle prédictif des risques — éléments…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Déclencher les alertes du modèle prédic…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Déclencher les alertes du modèle prédictif des…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Recommander des actions du modèle prédi…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Recommander des actions du modèle prédictif de…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Suivre la précision du modèle prédictif…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1 lignes dans « Indicateurs mesurés » — KPI-23 — Précision des alerte…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Réentraîner le modèle prédictif des ris…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Modification apportée : Prédictions de risques mis à jour : Utilisati…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MP-062.9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Rendre compte de l'état du modèle prédi…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des risqu…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Enregistrements de communication » — Direction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3 tâches · 9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le modèle prédictif…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du modèle prédicti…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le modè…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E2E-11 — De l'intelligence à l'assurance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MP-062.1 · RESPONSABLE DES RISQUES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Collecter et nettoyer le modèle prédictif des risques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Et nettoyer le modèle prédictif des risques — éléments iden…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Prédictions de risques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Alertes précoces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Recommandations préventives — Élément de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MP-062.1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E2E-11 — De l'intelligence à l'assurance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PHASE 12 · AGIR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E2E-12 — De l'amélioration à l'innovation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Piloter l'amélioration continue, l'innovation, l'automatisation et l'écosystème.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tâches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377440"/>
            <a:ext cx="15544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1280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E07B00"/>
                </a:solidFill>
                <a:latin typeface="Cambria"/>
              </a:rPr>
              <a:t>135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1280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>étapes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4937760" cy="23774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74904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DU DÉCLENCHEUR AU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69080"/>
            <a:ext cx="457200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Déclencheur : Opportunité d'amélioration, idée d'innovation ou candidat à l'automatisation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Résultat : Améliorations mises en œuvre ; innovations déployées ; écosystème élargi</a:t>
            </a:r>
          </a:p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Jalon : J12 — Cycle d'amélioration bouclé — en cours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72768"/>
            <a:ext cx="5669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MACRO-PROCESSUS DE CETTE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MP-041  Supervision du système de management de l'IA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MP-053  Gestion des projets d'optimisation et d'aut…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MP-054  Découverte et priorisation des macro-proces…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MP-055  Simulation d'entreprise et jumeau numérique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MP-056  Scoring d'automatisation des éléments de pr…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MP-060  Gestion du cycle de vie du ROI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MP-061  Gestion du cycle de vie de la VOI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MP-073  Gestion du pipeline d'innovation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19"/>
            <a:ext cx="278892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MP-079  Piste d'audit blockchain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MP-085  Gouvernance des modules composables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MP-086  Isolation et gouvernance multi-locataires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MP-089  Édition collaborative et co-rédaction en te…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MP-094  Workflow de signature numérique et électron…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MP-100  Concepteur de processus low-code et de work…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MP-101  Place de marché de modèles, connecteurs et…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E2E-12 — De l'amélioration à l'innovation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E2E-12 · 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De l'amélioration à l'innovation : la phase dans l’application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hase-E2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Portefeuille d'amélioration, innovations, retour sur investissement, objectifs mis à jour.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87968" y="397764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ALIMENTE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297680"/>
            <a:ext cx="2514600" cy="1600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C"/>
                </a:solidFill>
                <a:latin typeface="Calibri"/>
              </a:rPr>
              <a:t>E2E-01 du cycle suivant (contexte, politique et objectifs sont revus à nouveau).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Cycle de vie › E2E-12 : macro-processus de la phase avec leur avancement et leur jalon.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E2E-12 — De l'amélioration à l'innovation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 · MP-041 (UMS017)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Supervision du système de management de l'IA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Établir la politique IA ; définir le périmètre/les risques ; appliquer les contrôles de cycle de vie ; surveiller/auditer.  ·  Pilote: Responsable de la transformation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7040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2179320"/>
                <a:gridCol w="1257300"/>
                <a:gridCol w="28498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Nom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 qui a été saisi</a:t>
                      </a:r>
                    </a:p>
                  </a:txBody>
                  <a:tcPr marL="54864" marR="54864" marT="27432" marB="27432" anchor="ctr"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Établir la politique du système de mana…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Ce qui a été réalisé : Établir la politique du système de management…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le périmètre du système de mana…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Périmètre du système de management de l'IA — éléments…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Identifier les risques du système de ma…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Risques du système de management de l'IA — éléments 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MP-041.4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Évaluer les impacts du système de manag…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4 lignes dans « Matrice de décision » — Politique IA complet et à jour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Définir les rôles du système de managem…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Rôles du système de management de l'IA — éléments ide…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MP-041.6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Appliquer les contrôles du système de m…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Paramètres » — Appliquer les contrôles du système de…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Suivre le système de management de l'IA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Indicateurs mesurés » — Q-KPI-01 — Indice de satisfac…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MP-041.8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Audit le système de management de l'IA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Indicateurs mesurés » — Q-KPI-01 — Indice de satisfac…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Corriger le système de management de l'…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Modification apportée : Politique IA mis à jour : spécification non 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MP-041.10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Mettre à jour le système de management…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Modification apportée : Politique IA mis à jour : Utilisation d'une v…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Activer les cas d'usage de l'IA par pér…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2 lignes dans « Paramètres » — Activer les cas d'usage de l'IA par p…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A3A3C"/>
                          </a:solidFill>
                          <a:latin typeface="Calibri"/>
                        </a:rPr>
                        <a:t>MP-041.12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Approuver les cas d'usage de l'IA perso…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Responsable de la tra…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58595B"/>
                          </a:solidFill>
                          <a:latin typeface="Calibri"/>
                        </a:rPr>
                        <a:t>3 lignes dans « Critères de décision vérifiés » — Politique IA complet</a:t>
                      </a:r>
                    </a:p>
                  </a:txBody>
                  <a:tcPr marL="54864" marR="54864" marT="27432" marB="27432" anchor="ctr"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27848" y="1892807"/>
            <a:ext cx="3712463" cy="2889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p-E2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72665"/>
            <a:ext cx="3566160" cy="2129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892040"/>
            <a:ext cx="36576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4 tâches · 12 étapes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T1  Planifier et préparer le système de manag…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T2  Exécuter les activités du système de mana…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T3  Vérifier, enregistrer et clôturer le syst…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T4  Administrer les cas d'usage de l'IA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E2E-12 — De l'amélioration à l'innovation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· MP-041.2 · RESPONSABLE DE LA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3A3A3C"/>
                </a:solidFill>
                <a:latin typeface="Cambria"/>
              </a:rPr>
              <a:t>Définir le périmètre du système de management de l'IA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18488"/>
            <a:ext cx="7781544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ep-E2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4" y="1691640"/>
            <a:ext cx="719611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91640"/>
            <a:ext cx="28803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87968" y="1828800"/>
            <a:ext cx="2514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 spc="120">
                <a:solidFill>
                  <a:srgbClr val="E07B00"/>
                </a:solidFill>
                <a:latin typeface="Calibri"/>
              </a:rPr>
              <a:t>CE QUI A ÉTÉ SAISI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148840"/>
            <a:ext cx="2514600" cy="3749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Périmètre du système de management de l'IA — éléments ident…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Politique IA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Registre des risques — Élément de sortie</a:t>
            </a:r>
          </a:p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• Évaluation d'impact — Élément de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7680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Étape MP-041.2 (Éléments du registre) : lignes saisies, collées ou importées, enregistrées au fil de la saisie.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E2E-12 — De l'amélioration à l'innovation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1280160"/>
            <a:ext cx="4389120" cy="4389120"/>
          </a:xfrm>
          <a:prstGeom prst="ellipse">
            <a:avLst/>
          </a:prstGeom>
          <a:noFill/>
          <a:ln w="76200">
            <a:solidFill>
              <a:srgbClr val="F89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863840" cy="137160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Preuves, mesure et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7498079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E3E3E4"/>
                </a:solidFill>
                <a:latin typeface="Calibri"/>
              </a:rPr>
              <a:t>Ce que le déroulement produit pour les audits, les revues et l’accréditation.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E3E3E4"/>
                </a:solidFill>
                <a:latin typeface="Calibri"/>
              </a:rPr>
              <a:t>POWERACT Consulting  ·  Preuves, mesure et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E3E3E4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NON-CONFORMITÉ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De la détection au retour d’expérience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Confinement, cause racine, actions correctives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Efficacité vérifiée par une autre personne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Coût enregistré avec sa devise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Preuves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Audits avec constats et conclusions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Programme, liste de contrôle, constats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Les constats deviennent des non-conformités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Prêt pour les visites JCI et ISO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Preuves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Indicateurs face à leurs cibles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Valeurs mensuelles et tendance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Tableau de données, export CSV et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Alimentent la revue de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Preuves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RISQUES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Risques et opportunités par cotation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Carte de chaleur probabilité ×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Traitement et responsable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Liés aux étapes qu’ils encadrent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Preuves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Documents maîtrisés générés à partir des données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37 modèles SMI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Versions, revue et approbation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PDF, Word, Excel, PowerPoint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Preuves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RAPPORTS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Des rapports pour chaque revue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Éléments d’entrée de la revue de direction (ISO 9001 §9.3.2)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Anglais, français, arabe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PDF, Excel, Word, PowerPoint,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Preuves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RACSI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Qui est responsable de chaque étape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rac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Responsable, Autorité, Soutien, Consulté, Informé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Lié à l’organigramme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Exportée pour les audits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Preuves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IA GOUVERNÉE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L’IA propose, une personne décide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ai-propo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229" y="1783080"/>
            <a:ext cx="6759244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Chaque suggestion provient d’un cas d’usage IA approuvé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Chaque élément accepté, modifié ou rejeté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Chaque décision conservée dans un journal non modifiable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Preuves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PROCHAINES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De ce cas à votre établissement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938528"/>
            <a:ext cx="7315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E07B00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984248"/>
            <a:ext cx="960120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A3A3C"/>
                </a:solidFill>
                <a:latin typeface="Calibri"/>
              </a:rPr>
              <a:t>Atelier de cadrage : vos sites, services, normes (JCI, ISO 9001, ISO 15189 pour le laboratoire) et priorités.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944368"/>
            <a:ext cx="7315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E07B00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90088"/>
            <a:ext cx="960120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A3A3C"/>
                </a:solidFill>
                <a:latin typeface="Calibri"/>
              </a:rPr>
              <a:t>Configuration : segment santé V-29, licence, organigramme, rôles et utilisateurs.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7315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E07B00"/>
                </a:solidFill>
                <a:latin typeface="Cambr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995928"/>
            <a:ext cx="960120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A3A3C"/>
                </a:solidFill>
                <a:latin typeface="Calibri"/>
              </a:rPr>
              <a:t>Pilote : dérouler E2E-01 à E2E-04 sur un site avec vos données ; première décision de jalon.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4632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956048"/>
            <a:ext cx="73152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E07B00"/>
                </a:solidFill>
                <a:latin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001768"/>
            <a:ext cx="960120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A3A3C"/>
                </a:solidFill>
                <a:latin typeface="Calibri"/>
              </a:rPr>
              <a:t>Déploiement : les douze phases dans tous les services, avec revues et rapports en français et en anglais.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58595B"/>
                </a:solidFill>
                <a:latin typeface="Calibri"/>
              </a:rPr>
              <a:t>Les valeurs détaillées de chaque étape de ce déroulement figurent dans le guide utilisateur DynamicMS (déroulement réel complet).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Prochaines étapes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
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</p:sldIdLst>
  <p:notesMasterIdLst>
    <p:notesMasterId r:id="rId5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notesMaster" Target="notesMasters/notesMaster1.xml"/><Relationship Id="rId60" Type="http://schemas.openxmlformats.org/officeDocument/2006/relationships/presProps" Target="presProps.xml"/><Relationship Id="rId61" Type="http://schemas.openxmlformats.org/officeDocument/2006/relationships/viewProps" Target="viewProps.xml"/><Relationship Id="rId62" Type="http://schemas.openxmlformats.org/officeDocument/2006/relationships/theme" Target="theme/theme1.xml"/><Relationship Id="rId6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Emphasize: this deck is application-agnostic by design — describing an architecture pattern any platform following this deliverable structure could implement, illustrated here with one fully-built reference implementation's real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six-part structure. Part 2-4 map directly onto the deliverable numbering so the audience can navigate back to source data at any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Headline dashboard. All figures pulled directly from the validated deliverable set — reuse these exact numbers on every later slide (checklist requirement: metric consistency).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single most important slide in Part 1 — establishes that nothing is orphaned. Point to this diagram again in Part 6's takeaways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divider for Part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macro-processes form the entire process backbone — every other deliverable in the D01-D10 range traces back to one of these 10 IDs.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Decomposition pattern: Macro-Process -&gt; Tasks (5 per process, canonical) -&gt; Steps (2 per task, plus the platform's own worked exception-handling example). BPMN element type is assigned per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rule is a DMN-style decision table: named inputs, a condition expression, and a typed output, with linked actions for both the true and false outcome.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Control lifecycle fields include type, frequency, owner, test script, automation status and measured effectiveness — every control maps to a COSO component.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Risk scoring shows inherent vs. residual score explicitly — the delta is the demonstrated value of the control set, not just a static rating.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Automation-flagged KPIs carry Forecast vs. Actual ROI/VOI side by side — this is the same ROI discipline referenced again in D15 (AI) and D19 (automation matrix) for consistency.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Alert flow: Trigger -&gt; Severity -&gt; Escalation Level -&gt; Notification Channel -&gt; SLA Breach Threshold, always resolving to a named recipient role.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Reports are organized by audience, not just by data source — the same underlying KPI can surface differently for an Executive Viewer than for a Change Manager.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35 object classes span the full hierarchy — from the tenant root down to a single AI suggestion instance — each with an explicit Data_Sensitivity classification.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attribute carries Mandatory, Unique, PII_Flag, and Validation_Rule — the field-level contract every downstream integration payload (D12, Part 5) is built against.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divider for Part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interface inventory distinguishes native platform surfaces from external integration points explicitly — useful for scoping any integration effort.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Design principles: multi-tenant partitioning by default, time-series-aware indexing on trend tables, and a defined retention period on every table — not bolted on after the fact.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Wave assignment separates the core backbone (Wave 1, 9 requirements) from governance/orchestration extensions and the newer AI/journey capabilities (Wave 3, 5 requirements).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Task-type counts are computed directly from the D02 task/step decomposition, not estimated separately — the two deliverables are guaranteed consistent by construction.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risk profile fields: Confidence_Threshold, Hallucination_Risk, Bias_Risk_Level, and Human_Validation_Required — every use case is governed the same way regardless of tier.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Tenant hierarchy is the same structure used for RBAC scope (Part 5, Section 4) — one model serves both organizational structure and access control.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Catalogs are the reference-data layer every other deliverable draws controlled vocabulary from — this is what keeps D03 Rule_Type, D04 Control_Type, etc. consistent platform-wide.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interfaces compose 2-4 of these components rather than being built as one monolithic screen — this is the reuse layer behind the UI inventory.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Final_Mode is never a pure-AI recommendation — the matrix encodes the platform's human-in-the-loop policy directly into the automation scoring logic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Centralizing formulas prevents the classic drift where two dashboards report the same-named metric computed two different ways.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execution-ready companion to D14 — same task-type counts, plus the engine-specific fields (Camunda/Flowable-style) a deployment actually consumes.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divider for Part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seed project links to D01 macro-processes and D02 tasks/steps — the registry isn't a flat list, it's wired into the same process backbone as everything else.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profile is what makes a tenant's defaults concrete — everything downstream (localization, template selection) reads from this one record.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9-stage template seeds every new Stakeholder Journey (D27) — a generic scaffold, not a one-off narrative.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Overlay — not duplication — is the point: 8 seed projects each carry only what's distinct about them, not a full copy of the shared template.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Feedback loop: a REX entry doesn't just get filed — it names exactly which Rule, Control, or Charter now encodes the lesson, closing the loop.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Tier composition is cumulative — Professional includes every Standard module, Enterprise includes every Professional module, plus the Enterprise Add-on stacking on top of any tier.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Journeys specialize from a base template where relevant — the Mentee and QMS Certification journeys both extend the base End User Adoption journey rather than duplicating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touchpoint links back to a specific D02 task/step — this is what lets journey analytics (D29) report real completion rates instead of a narrative description.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journey-centric metrics matter: a module can show 100% feature usage while the intended human experience still failed at a specific touchpoint — journey analytics catches that gap.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Licensing built in, not bolted on: a single LicenceProvider abstraction with SaaS and OnPrem implementations, selected by one configuration flag — no scattered if(onPrem) branches across the codebase.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 new deliverables in one overview — the detail slide that follows drills into the 3 with the largest footprint (D32a WBS/Gantt, D32h End-to-End Registry, D32j/k AI engines).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underlying fields already existed on D09/D10 from earlier revisions — D32a is the consolidated schema+rendering specification the gap analysis said was missing, not a data-model rebuild.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Distinguishes 'the rule exists' (RULE-013, already in the platform) from 'the full record exists' (D32d/e, new in this revision) — a subtle but real gap the analysis caught.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close CRITICAL GAPs the analysis flagged against Module 19 — the macro processes themselves (D01) were always well covered; the cross-cutting reference layer above them was not, until this revision.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concrete instance of the pattern from the Integration Handbook and Value Proposition decks: 'described in a use case's prose' is not the same as 'specified as its own capability' — the gap analysis caught exactly this distinction twice (here, and in D32a/D09).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divider for Part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integration as a first-class architectural concern, not an afterthought bolted on post-launch.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generic — connector examples are illustrative categories (CRM, data warehouse) rather than named vendor commitments, consistent with the application-agnostic language rule.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should carry a flow diagram: 4 boxes left-to-right with a dead-letter branch below the retry box.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Position PPM integration as read/write on schedule data, read-only on the deeper change-readiness signals — protects the platform's core differentiation.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that exports are governed by the same sensitivity model as internal access — this reassures a security-conscious buyer.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a CISO will scrutinize hardest — keep it factual and specific to what's actually built (D11 IFC-14, the Justification Governance audit trail).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Directly ties back to D30 — reinforce that dual-mode deployment was designed in from the data-model level, not patched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 of Part 5 — ties D09/D10/D12/D30 together as one coherent data foundation before moving to the closing section.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divider for Part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slide — read straight through the six items, each backed by a specific number already shown earlier in the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number here matches exactly what was shown in Parts 2-4 — this is the consistency check the quality checklist calls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Optional per the brief — include if the audience is implementation-focused (engineering leadership) rather than purely strategic.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 — leave the traceability chain diagram (Part 1) as the mental model the audience carries out of the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A3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Introduction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ARCHITECTURE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9718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Application-Agnostic Deep-Dive into a Fully Traceable Platform Architecture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36576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Synthesizing 46 governing deliverables (D01–D32k, incl. D03a, D19b &amp; the D32 infrastructure series) into one coherent architecture narrative.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Technical Architect &amp; Principal Consultant  ·  Six Parts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Introduction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Parts, One Traceability Chain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822960" cy="713232"/>
          </a:xfrm>
          <a:prstGeom prst="roundRect">
            <a:avLst>
              <a:gd name="adj" fmla="val 10256"/>
            </a:avLst>
          </a:prstGeom>
          <a:solidFill>
            <a:srgbClr val="F8931D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508760"/>
            <a:ext cx="822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63040" y="149047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Solution Overview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63040" y="182880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Scope, headline metrics, how 46 deliverables fit together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350008"/>
            <a:ext cx="822960" cy="713232"/>
          </a:xfrm>
          <a:prstGeom prst="roundRect">
            <a:avLst>
              <a:gd name="adj" fmla="val 10256"/>
            </a:avLst>
          </a:prstGeom>
          <a:solidFill>
            <a:srgbClr val="F8931D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350008"/>
            <a:ext cx="822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463040" y="23317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 D01 → D10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63040" y="267004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architecture — process, rules, controls, risk, KPIs, data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191256"/>
            <a:ext cx="822960" cy="713232"/>
          </a:xfrm>
          <a:prstGeom prst="roundRect">
            <a:avLst>
              <a:gd name="adj" fmla="val 10256"/>
            </a:avLst>
          </a:prstGeom>
          <a:solidFill>
            <a:srgbClr val="F8931D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191256"/>
            <a:ext cx="822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63040" y="317296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 D11 → D20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63040" y="3511296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Integration, requirements, workflow orchestration, AI, tenancy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032504"/>
            <a:ext cx="822960" cy="713232"/>
          </a:xfrm>
          <a:prstGeom prst="roundRect">
            <a:avLst>
              <a:gd name="adj" fmla="val 10256"/>
            </a:avLst>
          </a:prstGeom>
          <a:solidFill>
            <a:srgbClr val="F8931D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032504"/>
            <a:ext cx="822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463040" y="4014216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 D21 → D30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463040" y="4352544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governance, adoption journeys, packaging, licensing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873752"/>
            <a:ext cx="822960" cy="713232"/>
          </a:xfrm>
          <a:prstGeom prst="roundRect">
            <a:avLst>
              <a:gd name="adj" fmla="val 10256"/>
            </a:avLst>
          </a:prstGeom>
          <a:solidFill>
            <a:srgbClr val="F8931D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873752"/>
            <a:ext cx="822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463040" y="4855464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&amp; Data Architecture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463040" y="519379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Connectors, event flow, data foundations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5715000"/>
            <a:ext cx="822960" cy="713232"/>
          </a:xfrm>
          <a:prstGeom prst="roundRect">
            <a:avLst>
              <a:gd name="adj" fmla="val 10256"/>
            </a:avLst>
          </a:prstGeom>
          <a:solidFill>
            <a:srgbClr val="F8931D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5715000"/>
            <a:ext cx="822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463040" y="569671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&amp; Next Steps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463040" y="603504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takeaways, metrics summary, roadmap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Introduction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AT A GLANCE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 Governing Deliverables, One Data Model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1161288" cy="1371600"/>
          </a:xfrm>
          <a:prstGeom prst="roundRect">
            <a:avLst>
              <a:gd name="adj" fmla="val 4724"/>
            </a:avLst>
          </a:prstGeom>
          <a:solidFill>
            <a:srgbClr val="FFFFFF"/>
          </a:solidFill>
          <a:ln w="12700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25400" dir="5400000">
              <a:srgbClr val="808184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691640"/>
            <a:ext cx="11612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02920" y="2331720"/>
            <a:ext cx="10698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Macro-Processes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709928" y="1554480"/>
            <a:ext cx="1161288" cy="1371600"/>
          </a:xfrm>
          <a:prstGeom prst="roundRect">
            <a:avLst>
              <a:gd name="adj" fmla="val 4724"/>
            </a:avLst>
          </a:prstGeom>
          <a:solidFill>
            <a:srgbClr val="FFFFFF"/>
          </a:solidFill>
          <a:ln w="12700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25400" dir="5400000">
              <a:srgbClr val="808184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709928" y="1691640"/>
            <a:ext cx="11612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105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755648" y="2331720"/>
            <a:ext cx="10698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Steps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962656" y="1554480"/>
            <a:ext cx="1161288" cy="1371600"/>
          </a:xfrm>
          <a:prstGeom prst="roundRect">
            <a:avLst>
              <a:gd name="adj" fmla="val 4724"/>
            </a:avLst>
          </a:prstGeom>
          <a:solidFill>
            <a:srgbClr val="FFFFFF"/>
          </a:solidFill>
          <a:ln w="12700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25400" dir="5400000">
              <a:srgbClr val="808184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962656" y="1691640"/>
            <a:ext cx="11612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008376" y="2331720"/>
            <a:ext cx="10698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215384" y="1554480"/>
            <a:ext cx="1161288" cy="1371600"/>
          </a:xfrm>
          <a:prstGeom prst="roundRect">
            <a:avLst>
              <a:gd name="adj" fmla="val 4724"/>
            </a:avLst>
          </a:prstGeom>
          <a:solidFill>
            <a:srgbClr val="FFFFFF"/>
          </a:solidFill>
          <a:ln w="12700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25400" dir="5400000">
              <a:srgbClr val="808184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215384" y="1691640"/>
            <a:ext cx="11612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261104" y="2331720"/>
            <a:ext cx="10698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68112" y="1554480"/>
            <a:ext cx="1161288" cy="1371600"/>
          </a:xfrm>
          <a:prstGeom prst="roundRect">
            <a:avLst>
              <a:gd name="adj" fmla="val 4724"/>
            </a:avLst>
          </a:prstGeom>
          <a:solidFill>
            <a:srgbClr val="FFFFFF"/>
          </a:solidFill>
          <a:ln w="12700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25400" dir="5400000">
              <a:srgbClr val="808184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68112" y="1691640"/>
            <a:ext cx="11612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5513832" y="2331720"/>
            <a:ext cx="10698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Tracked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720840" y="1554480"/>
            <a:ext cx="1161288" cy="1371600"/>
          </a:xfrm>
          <a:prstGeom prst="roundRect">
            <a:avLst>
              <a:gd name="adj" fmla="val 4724"/>
            </a:avLst>
          </a:prstGeom>
          <a:solidFill>
            <a:srgbClr val="FFFFFF"/>
          </a:solidFill>
          <a:ln w="12700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25400" dir="5400000">
              <a:srgbClr val="808184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720840" y="1691640"/>
            <a:ext cx="11612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766560" y="2331720"/>
            <a:ext cx="10698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973568" y="1554480"/>
            <a:ext cx="1161288" cy="1371600"/>
          </a:xfrm>
          <a:prstGeom prst="roundRect">
            <a:avLst>
              <a:gd name="adj" fmla="val 4724"/>
            </a:avLst>
          </a:prstGeom>
          <a:solidFill>
            <a:srgbClr val="FFFFFF"/>
          </a:solidFill>
          <a:ln w="12700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25400" dir="5400000">
              <a:srgbClr val="808184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973568" y="1691640"/>
            <a:ext cx="11612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8019288" y="2331720"/>
            <a:ext cx="10698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Classes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226296" y="1554480"/>
            <a:ext cx="1161288" cy="1371600"/>
          </a:xfrm>
          <a:prstGeom prst="roundRect">
            <a:avLst>
              <a:gd name="adj" fmla="val 4724"/>
            </a:avLst>
          </a:prstGeom>
          <a:solidFill>
            <a:srgbClr val="FFFFFF"/>
          </a:solidFill>
          <a:ln w="12700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25400" dir="5400000">
              <a:srgbClr val="808184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226296" y="1691640"/>
            <a:ext cx="11612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9272016" y="2331720"/>
            <a:ext cx="10698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Use Cases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10479024" y="1554480"/>
            <a:ext cx="1161288" cy="1371600"/>
          </a:xfrm>
          <a:prstGeom prst="roundRect">
            <a:avLst>
              <a:gd name="adj" fmla="val 4724"/>
            </a:avLst>
          </a:prstGeom>
          <a:solidFill>
            <a:srgbClr val="FFFFFF"/>
          </a:solidFill>
          <a:ln w="12700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25400" dir="5400000">
              <a:srgbClr val="808184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0479024" y="1691640"/>
            <a:ext cx="11612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10524744" y="2331720"/>
            <a:ext cx="10698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Licensable Modules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57200" y="32004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requirement, rule, control, and KPI traces back to a macro-process, a task, or a step — nothing in the platform exists without a documented reason.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57200" y="3931920"/>
            <a:ext cx="1554480" cy="1051560"/>
          </a:xfrm>
          <a:prstGeom prst="roundRect">
            <a:avLst>
              <a:gd name="adj" fmla="val 5217"/>
            </a:avLst>
          </a:prstGeom>
          <a:solidFill>
            <a:srgbClr val="F2F2F3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40233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502920" y="45262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Defined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103120" y="3931920"/>
            <a:ext cx="1554480" cy="1051560"/>
          </a:xfrm>
          <a:prstGeom prst="roundRect">
            <a:avLst>
              <a:gd name="adj" fmla="val 5217"/>
            </a:avLst>
          </a:prstGeom>
          <a:solidFill>
            <a:srgbClr val="F2F2F3"/>
          </a:solidFill>
          <a:ln/>
        </p:spPr>
      </p:sp>
      <p:sp>
        <p:nvSpPr>
          <p:cNvPr id="38" name="Text 36"/>
          <p:cNvSpPr/>
          <p:nvPr/>
        </p:nvSpPr>
        <p:spPr>
          <a:xfrm>
            <a:off x="2103120" y="40233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2148840" y="45262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Reports/Cockpits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749040" y="3931920"/>
            <a:ext cx="1554480" cy="1051560"/>
          </a:xfrm>
          <a:prstGeom prst="roundRect">
            <a:avLst>
              <a:gd name="adj" fmla="val 5217"/>
            </a:avLst>
          </a:prstGeom>
          <a:solidFill>
            <a:srgbClr val="F2F2F3"/>
          </a:solidFill>
          <a:ln/>
        </p:spPr>
      </p:sp>
      <p:sp>
        <p:nvSpPr>
          <p:cNvPr id="41" name="Text 39"/>
          <p:cNvSpPr/>
          <p:nvPr/>
        </p:nvSpPr>
        <p:spPr>
          <a:xfrm>
            <a:off x="3749040" y="40233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3794760" y="45262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394960" y="3931920"/>
            <a:ext cx="1554480" cy="1051560"/>
          </a:xfrm>
          <a:prstGeom prst="roundRect">
            <a:avLst>
              <a:gd name="adj" fmla="val 5217"/>
            </a:avLst>
          </a:prstGeom>
          <a:solidFill>
            <a:srgbClr val="F2F2F3"/>
          </a:solidFill>
          <a:ln/>
        </p:spPr>
      </p:sp>
      <p:sp>
        <p:nvSpPr>
          <p:cNvPr id="44" name="Text 42"/>
          <p:cNvSpPr/>
          <p:nvPr/>
        </p:nvSpPr>
        <p:spPr>
          <a:xfrm>
            <a:off x="5394960" y="40233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106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5440680" y="45262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BPMN Tasks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7040880" y="3931920"/>
            <a:ext cx="1554480" cy="1051560"/>
          </a:xfrm>
          <a:prstGeom prst="roundRect">
            <a:avLst>
              <a:gd name="adj" fmla="val 5217"/>
            </a:avLst>
          </a:prstGeom>
          <a:solidFill>
            <a:srgbClr val="F2F2F3"/>
          </a:solidFill>
          <a:ln/>
        </p:spPr>
      </p:sp>
      <p:sp>
        <p:nvSpPr>
          <p:cNvPr id="47" name="Text 45"/>
          <p:cNvSpPr/>
          <p:nvPr/>
        </p:nvSpPr>
        <p:spPr>
          <a:xfrm>
            <a:off x="7040880" y="40233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000" dirty="0"/>
          </a:p>
        </p:txBody>
      </p:sp>
      <p:sp>
        <p:nvSpPr>
          <p:cNvPr id="48" name="Text 46"/>
          <p:cNvSpPr/>
          <p:nvPr/>
        </p:nvSpPr>
        <p:spPr>
          <a:xfrm>
            <a:off x="7086600" y="45262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Journeys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8686800" y="3931920"/>
            <a:ext cx="1554480" cy="1051560"/>
          </a:xfrm>
          <a:prstGeom prst="roundRect">
            <a:avLst>
              <a:gd name="adj" fmla="val 5217"/>
            </a:avLst>
          </a:prstGeom>
          <a:solidFill>
            <a:srgbClr val="F2F2F3"/>
          </a:solidFill>
          <a:ln/>
        </p:spPr>
      </p:sp>
      <p:sp>
        <p:nvSpPr>
          <p:cNvPr id="50" name="Text 48"/>
          <p:cNvSpPr/>
          <p:nvPr/>
        </p:nvSpPr>
        <p:spPr>
          <a:xfrm>
            <a:off x="8686800" y="40233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2000" dirty="0"/>
          </a:p>
        </p:txBody>
      </p:sp>
      <p:sp>
        <p:nvSpPr>
          <p:cNvPr id="51" name="Text 49"/>
          <p:cNvSpPr/>
          <p:nvPr/>
        </p:nvSpPr>
        <p:spPr>
          <a:xfrm>
            <a:off x="8732520" y="45262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Projects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10332720" y="3931920"/>
            <a:ext cx="1554480" cy="1051560"/>
          </a:xfrm>
          <a:prstGeom prst="roundRect">
            <a:avLst>
              <a:gd name="adj" fmla="val 5217"/>
            </a:avLst>
          </a:prstGeom>
          <a:solidFill>
            <a:srgbClr val="F2F2F3"/>
          </a:solidFill>
          <a:ln/>
        </p:spPr>
      </p:sp>
      <p:sp>
        <p:nvSpPr>
          <p:cNvPr id="53" name="Text 51"/>
          <p:cNvSpPr/>
          <p:nvPr/>
        </p:nvSpPr>
        <p:spPr>
          <a:xfrm>
            <a:off x="10332720" y="40233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000" dirty="0"/>
          </a:p>
        </p:txBody>
      </p:sp>
      <p:sp>
        <p:nvSpPr>
          <p:cNvPr id="54" name="Text 52"/>
          <p:cNvSpPr/>
          <p:nvPr/>
        </p:nvSpPr>
        <p:spPr>
          <a:xfrm>
            <a:off x="10378440" y="45262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Catalogs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Introduction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46 Deliverables Fit Together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828800"/>
            <a:ext cx="987552" cy="11887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9050">
            <a:solidFill>
              <a:srgbClr val="F8931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938528"/>
            <a:ext cx="987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2286000"/>
            <a:ext cx="9875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261872" y="219456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399032" y="1828800"/>
            <a:ext cx="987552" cy="11887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9050">
            <a:solidFill>
              <a:srgbClr val="F8931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99032" y="1938528"/>
            <a:ext cx="987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99032" y="2286000"/>
            <a:ext cx="9875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&amp;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386584" y="219456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523744" y="1828800"/>
            <a:ext cx="987552" cy="11887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9050">
            <a:solidFill>
              <a:srgbClr val="F8931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23744" y="1938528"/>
            <a:ext cx="987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D03/03a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523744" y="2286000"/>
            <a:ext cx="9875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&amp;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511296" y="219456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648456" y="1828800"/>
            <a:ext cx="987552" cy="11887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9050">
            <a:solidFill>
              <a:srgbClr val="F8931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48456" y="1938528"/>
            <a:ext cx="987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D04/05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48456" y="2286000"/>
            <a:ext cx="9875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&amp;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636008" y="219456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773168" y="1828800"/>
            <a:ext cx="987552" cy="11887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9050">
            <a:solidFill>
              <a:srgbClr val="F8931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73168" y="1938528"/>
            <a:ext cx="987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D06-08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73168" y="2286000"/>
            <a:ext cx="9875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KPIs, Alerts,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760720" y="219456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897880" y="1828800"/>
            <a:ext cx="987552" cy="11887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9050">
            <a:solidFill>
              <a:srgbClr val="F8931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97880" y="1938528"/>
            <a:ext cx="987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D09/10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897880" y="2286000"/>
            <a:ext cx="9875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885432" y="219456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022592" y="1828800"/>
            <a:ext cx="987552" cy="11887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9050">
            <a:solidFill>
              <a:srgbClr val="F8931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22592" y="1938528"/>
            <a:ext cx="987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D11-20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022592" y="2286000"/>
            <a:ext cx="9875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Interfaces,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AI, Workflow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010144" y="219456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8147304" y="1828800"/>
            <a:ext cx="987552" cy="11887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9050">
            <a:solidFill>
              <a:srgbClr val="F8931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147304" y="1938528"/>
            <a:ext cx="987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D21-29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147304" y="2286000"/>
            <a:ext cx="9875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&amp;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Journeys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9134856" y="219456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9272016" y="1828800"/>
            <a:ext cx="987552" cy="11887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9050">
            <a:solidFill>
              <a:srgbClr val="F8931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272016" y="1938528"/>
            <a:ext cx="987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D30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9272016" y="2286000"/>
            <a:ext cx="9875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Licensing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0259568" y="219456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10396728" y="1828800"/>
            <a:ext cx="987552" cy="1188720"/>
          </a:xfrm>
          <a:prstGeom prst="roundRect">
            <a:avLst>
              <a:gd name="adj" fmla="val 5556"/>
            </a:avLst>
          </a:prstGeom>
          <a:solidFill>
            <a:srgbClr val="F8931D"/>
          </a:solidFill>
          <a:ln w="19050">
            <a:solidFill>
              <a:srgbClr val="F8931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396728" y="1938528"/>
            <a:ext cx="987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D32-32k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0396728" y="2286000"/>
            <a:ext cx="9875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&amp; WBS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(NEW)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57200" y="3383280"/>
            <a:ext cx="112471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macro-process (D01) decomposes into tasks and steps (D02); each step may trigger a business rule (D03) executing an action (D03a); actions are governed by controls (D04) and mitigate risks (D05); outcomes are measured by KPIs (D06) and surfaced via alerts (D07) and reports (D08) built on a canonical data model (D09/D10). That same process backbone drives the integration surface, AI use cases and requirements (D11-D20), governs how it's delivered, adopted and licensed (D21-D30), and — added in this revision to close gaps against Functional Specification v1.3 — is scheduled, gated and infrastructure-hardened by the D32 series.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3A3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F8931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Deliverables D01 → D10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4114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2F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architecture: process definition, rules, controls, risk, performance, and data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D01-D10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ARCHITECTURE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D01 — Macro-Processes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macro-processes | 6 Operational · 2 Management · 2 Support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4389120" cy="411480"/>
          </a:xfrm>
          <a:prstGeom prst="rect">
            <a:avLst/>
          </a:prstGeom>
          <a:solidFill>
            <a:srgbClr val="F8931D"/>
          </a:solidFill>
          <a:ln/>
        </p:spPr>
      </p:sp>
      <p:sp>
        <p:nvSpPr>
          <p:cNvPr id="9" name="Shape 7"/>
          <p:cNvSpPr/>
          <p:nvPr/>
        </p:nvSpPr>
        <p:spPr>
          <a:xfrm>
            <a:off x="4846320" y="2377440"/>
            <a:ext cx="1463040" cy="411480"/>
          </a:xfrm>
          <a:prstGeom prst="rect">
            <a:avLst/>
          </a:prstGeom>
          <a:solidFill>
            <a:srgbClr val="3A6EA5"/>
          </a:solidFill>
          <a:ln/>
        </p:spPr>
      </p:sp>
      <p:sp>
        <p:nvSpPr>
          <p:cNvPr id="10" name="Shape 8"/>
          <p:cNvSpPr/>
          <p:nvPr/>
        </p:nvSpPr>
        <p:spPr>
          <a:xfrm>
            <a:off x="6309360" y="2377440"/>
            <a:ext cx="1463040" cy="411480"/>
          </a:xfrm>
          <a:prstGeom prst="rect">
            <a:avLst/>
          </a:prstGeom>
          <a:solidFill>
            <a:srgbClr val="5AA469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2880360"/>
            <a:ext cx="164592" cy="164592"/>
          </a:xfrm>
          <a:prstGeom prst="rect">
            <a:avLst/>
          </a:prstGeom>
          <a:solidFill>
            <a:srgbClr val="F8931D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285292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(6)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423160" y="2880360"/>
            <a:ext cx="164592" cy="164592"/>
          </a:xfrm>
          <a:prstGeom prst="rect">
            <a:avLst/>
          </a:prstGeom>
          <a:solidFill>
            <a:srgbClr val="3A6EA5"/>
          </a:solidFill>
          <a:ln/>
        </p:spPr>
      </p:sp>
      <p:sp>
        <p:nvSpPr>
          <p:cNvPr id="14" name="Text 12"/>
          <p:cNvSpPr/>
          <p:nvPr/>
        </p:nvSpPr>
        <p:spPr>
          <a:xfrm>
            <a:off x="2624328" y="285292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(2)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389120" y="2880360"/>
            <a:ext cx="164592" cy="164592"/>
          </a:xfrm>
          <a:prstGeom prst="rect">
            <a:avLst/>
          </a:prstGeom>
          <a:solidFill>
            <a:srgbClr val="5AA469"/>
          </a:solidFill>
          <a:ln/>
        </p:spPr>
      </p:sp>
      <p:sp>
        <p:nvSpPr>
          <p:cNvPr id="16" name="Text 14"/>
          <p:cNvSpPr/>
          <p:nvPr/>
        </p:nvSpPr>
        <p:spPr>
          <a:xfrm>
            <a:off x="4590288" y="285292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(2)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4023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Detail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43434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MP-01 Change Impact &amp; Stakeholder Assessment — Operational — scores impact across 5 dimensions, gated by human confirmation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472744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MP-07 Readiness Diagnostics &amp; Signal Capture — Support — consolidates every framework reading into one Composite Readiness Index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5111496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MP-10 Reinforcement &amp; Sustainment Management — Management — confirms Refreeze from evidence, not the calendar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D01-D10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ARCHITECTURE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D02 — Tasks &amp; Steps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tasks | 105 steps | 47 Service · 41 User · 14 AI · 2 Gateway · 1 End Event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3274423" cy="411480"/>
          </a:xfrm>
          <a:prstGeom prst="rect">
            <a:avLst/>
          </a:prstGeom>
          <a:solidFill>
            <a:srgbClr val="F8931D"/>
          </a:solidFill>
          <a:ln/>
        </p:spPr>
      </p:sp>
      <p:sp>
        <p:nvSpPr>
          <p:cNvPr id="9" name="Shape 7"/>
          <p:cNvSpPr/>
          <p:nvPr/>
        </p:nvSpPr>
        <p:spPr>
          <a:xfrm>
            <a:off x="3731623" y="2377440"/>
            <a:ext cx="2856411" cy="411480"/>
          </a:xfrm>
          <a:prstGeom prst="rect">
            <a:avLst/>
          </a:prstGeom>
          <a:solidFill>
            <a:srgbClr val="3A6EA5"/>
          </a:solidFill>
          <a:ln/>
        </p:spPr>
      </p:sp>
      <p:sp>
        <p:nvSpPr>
          <p:cNvPr id="10" name="Shape 8"/>
          <p:cNvSpPr/>
          <p:nvPr/>
        </p:nvSpPr>
        <p:spPr>
          <a:xfrm>
            <a:off x="6588034" y="2377440"/>
            <a:ext cx="975360" cy="411480"/>
          </a:xfrm>
          <a:prstGeom prst="rect">
            <a:avLst/>
          </a:prstGeom>
          <a:solidFill>
            <a:srgbClr val="5AA469"/>
          </a:solidFill>
          <a:ln/>
        </p:spPr>
      </p:sp>
      <p:sp>
        <p:nvSpPr>
          <p:cNvPr id="11" name="Shape 9"/>
          <p:cNvSpPr/>
          <p:nvPr/>
        </p:nvSpPr>
        <p:spPr>
          <a:xfrm>
            <a:off x="7563394" y="2377440"/>
            <a:ext cx="139337" cy="411480"/>
          </a:xfrm>
          <a:prstGeom prst="rect">
            <a:avLst/>
          </a:prstGeom>
          <a:solidFill>
            <a:srgbClr val="808184"/>
          </a:solidFill>
          <a:ln/>
        </p:spPr>
      </p:sp>
      <p:sp>
        <p:nvSpPr>
          <p:cNvPr id="12" name="Shape 10"/>
          <p:cNvSpPr/>
          <p:nvPr/>
        </p:nvSpPr>
        <p:spPr>
          <a:xfrm>
            <a:off x="7702731" y="2377440"/>
            <a:ext cx="69669" cy="411480"/>
          </a:xfrm>
          <a:prstGeom prst="rect">
            <a:avLst/>
          </a:prstGeom>
          <a:solidFill>
            <a:srgbClr val="E07B00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880360"/>
            <a:ext cx="164592" cy="164592"/>
          </a:xfrm>
          <a:prstGeom prst="rect">
            <a:avLst/>
          </a:prstGeom>
          <a:solidFill>
            <a:srgbClr val="F8931D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285292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Task (47)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423160" y="2880360"/>
            <a:ext cx="164592" cy="164592"/>
          </a:xfrm>
          <a:prstGeom prst="rect">
            <a:avLst/>
          </a:prstGeom>
          <a:solidFill>
            <a:srgbClr val="3A6EA5"/>
          </a:solidFill>
          <a:ln/>
        </p:spPr>
      </p:sp>
      <p:sp>
        <p:nvSpPr>
          <p:cNvPr id="16" name="Text 14"/>
          <p:cNvSpPr/>
          <p:nvPr/>
        </p:nvSpPr>
        <p:spPr>
          <a:xfrm>
            <a:off x="2624328" y="285292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Task (41)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389120" y="2880360"/>
            <a:ext cx="164592" cy="164592"/>
          </a:xfrm>
          <a:prstGeom prst="rect">
            <a:avLst/>
          </a:prstGeom>
          <a:solidFill>
            <a:srgbClr val="5AA469"/>
          </a:solidFill>
          <a:ln/>
        </p:spPr>
      </p:sp>
      <p:sp>
        <p:nvSpPr>
          <p:cNvPr id="18" name="Text 16"/>
          <p:cNvSpPr/>
          <p:nvPr/>
        </p:nvSpPr>
        <p:spPr>
          <a:xfrm>
            <a:off x="4590288" y="285292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Task (14)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355080" y="2880360"/>
            <a:ext cx="164592" cy="164592"/>
          </a:xfrm>
          <a:prstGeom prst="rect">
            <a:avLst/>
          </a:prstGeom>
          <a:solidFill>
            <a:srgbClr val="808184"/>
          </a:solidFill>
          <a:ln/>
        </p:spPr>
      </p:sp>
      <p:sp>
        <p:nvSpPr>
          <p:cNvPr id="20" name="Text 18"/>
          <p:cNvSpPr/>
          <p:nvPr/>
        </p:nvSpPr>
        <p:spPr>
          <a:xfrm>
            <a:off x="6556248" y="285292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(2)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3172968"/>
            <a:ext cx="164592" cy="164592"/>
          </a:xfrm>
          <a:prstGeom prst="rect">
            <a:avLst/>
          </a:prstGeom>
          <a:solidFill>
            <a:srgbClr val="E07B00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" y="314553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Event (1)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" y="4023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Detail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43434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decomposition — MP-07 Readiness Diagnostics &amp; Signal Capture — 5 tasks, 10 steps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48640" y="472744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1: Run the baseline pulse (Start Event -&gt; Capture Responses)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48640" y="5111496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3: Run rapid pulse around go-live (the platform's own worked exception-handling example — postal-code validation, 3-attempt retry, Admin escalation)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48640" y="5495544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5: Report readiness trends (AI-drafted narrative -&gt; human approval before distribution)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D01-D10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ARCHITECTURE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D03 — Business Rules (DMN)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business rules | 8 Gate · 4 Validation · 3 Scoring · 3 Quota · 2 Detective · 2 Enforcement · 2 Compliance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2438400" cy="411480"/>
          </a:xfrm>
          <a:prstGeom prst="rect">
            <a:avLst/>
          </a:prstGeom>
          <a:solidFill>
            <a:srgbClr val="F8931D"/>
          </a:solidFill>
          <a:ln/>
        </p:spPr>
      </p:sp>
      <p:sp>
        <p:nvSpPr>
          <p:cNvPr id="9" name="Shape 7"/>
          <p:cNvSpPr/>
          <p:nvPr/>
        </p:nvSpPr>
        <p:spPr>
          <a:xfrm>
            <a:off x="2895600" y="2377440"/>
            <a:ext cx="1219200" cy="411480"/>
          </a:xfrm>
          <a:prstGeom prst="rect">
            <a:avLst/>
          </a:prstGeom>
          <a:solidFill>
            <a:srgbClr val="3A6EA5"/>
          </a:solidFill>
          <a:ln/>
        </p:spPr>
      </p:sp>
      <p:sp>
        <p:nvSpPr>
          <p:cNvPr id="10" name="Shape 8"/>
          <p:cNvSpPr/>
          <p:nvPr/>
        </p:nvSpPr>
        <p:spPr>
          <a:xfrm>
            <a:off x="4114800" y="2377440"/>
            <a:ext cx="914400" cy="411480"/>
          </a:xfrm>
          <a:prstGeom prst="rect">
            <a:avLst/>
          </a:prstGeom>
          <a:solidFill>
            <a:srgbClr val="5AA469"/>
          </a:solidFill>
          <a:ln/>
        </p:spPr>
      </p:sp>
      <p:sp>
        <p:nvSpPr>
          <p:cNvPr id="11" name="Shape 9"/>
          <p:cNvSpPr/>
          <p:nvPr/>
        </p:nvSpPr>
        <p:spPr>
          <a:xfrm>
            <a:off x="5029200" y="2377440"/>
            <a:ext cx="914400" cy="411480"/>
          </a:xfrm>
          <a:prstGeom prst="rect">
            <a:avLst/>
          </a:prstGeom>
          <a:solidFill>
            <a:srgbClr val="808184"/>
          </a:solidFill>
          <a:ln/>
        </p:spPr>
      </p:sp>
      <p:sp>
        <p:nvSpPr>
          <p:cNvPr id="12" name="Shape 10"/>
          <p:cNvSpPr/>
          <p:nvPr/>
        </p:nvSpPr>
        <p:spPr>
          <a:xfrm>
            <a:off x="5943600" y="2377440"/>
            <a:ext cx="609600" cy="411480"/>
          </a:xfrm>
          <a:prstGeom prst="rect">
            <a:avLst/>
          </a:prstGeom>
          <a:solidFill>
            <a:srgbClr val="E07B00"/>
          </a:solidFill>
          <a:ln/>
        </p:spPr>
      </p:sp>
      <p:sp>
        <p:nvSpPr>
          <p:cNvPr id="13" name="Shape 11"/>
          <p:cNvSpPr/>
          <p:nvPr/>
        </p:nvSpPr>
        <p:spPr>
          <a:xfrm>
            <a:off x="6553200" y="2377440"/>
            <a:ext cx="609600" cy="411480"/>
          </a:xfrm>
          <a:prstGeom prst="rect">
            <a:avLst/>
          </a:prstGeom>
          <a:solidFill>
            <a:srgbClr val="3A3A3C"/>
          </a:solidFill>
          <a:ln/>
        </p:spPr>
      </p:sp>
      <p:sp>
        <p:nvSpPr>
          <p:cNvPr id="14" name="Shape 12"/>
          <p:cNvSpPr/>
          <p:nvPr/>
        </p:nvSpPr>
        <p:spPr>
          <a:xfrm>
            <a:off x="7162800" y="2377440"/>
            <a:ext cx="609600" cy="411480"/>
          </a:xfrm>
          <a:prstGeom prst="rect">
            <a:avLst/>
          </a:prstGeom>
          <a:solidFill>
            <a:srgbClr val="E3E3E4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2880360"/>
            <a:ext cx="164592" cy="164592"/>
          </a:xfrm>
          <a:prstGeom prst="rect">
            <a:avLst/>
          </a:prstGeom>
          <a:solidFill>
            <a:srgbClr val="F8931D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" y="285292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(8)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423160" y="2880360"/>
            <a:ext cx="164592" cy="164592"/>
          </a:xfrm>
          <a:prstGeom prst="rect">
            <a:avLst/>
          </a:prstGeom>
          <a:solidFill>
            <a:srgbClr val="3A6EA5"/>
          </a:solidFill>
          <a:ln/>
        </p:spPr>
      </p:sp>
      <p:sp>
        <p:nvSpPr>
          <p:cNvPr id="18" name="Text 16"/>
          <p:cNvSpPr/>
          <p:nvPr/>
        </p:nvSpPr>
        <p:spPr>
          <a:xfrm>
            <a:off x="2624328" y="285292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(4)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389120" y="2880360"/>
            <a:ext cx="164592" cy="164592"/>
          </a:xfrm>
          <a:prstGeom prst="rect">
            <a:avLst/>
          </a:prstGeom>
          <a:solidFill>
            <a:srgbClr val="5AA469"/>
          </a:solidFill>
          <a:ln/>
        </p:spPr>
      </p:sp>
      <p:sp>
        <p:nvSpPr>
          <p:cNvPr id="20" name="Text 18"/>
          <p:cNvSpPr/>
          <p:nvPr/>
        </p:nvSpPr>
        <p:spPr>
          <a:xfrm>
            <a:off x="4590288" y="285292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(3)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355080" y="2880360"/>
            <a:ext cx="164592" cy="164592"/>
          </a:xfrm>
          <a:prstGeom prst="rect">
            <a:avLst/>
          </a:prstGeom>
          <a:solidFill>
            <a:srgbClr val="808184"/>
          </a:solidFill>
          <a:ln/>
        </p:spPr>
      </p:sp>
      <p:sp>
        <p:nvSpPr>
          <p:cNvPr id="22" name="Text 20"/>
          <p:cNvSpPr/>
          <p:nvPr/>
        </p:nvSpPr>
        <p:spPr>
          <a:xfrm>
            <a:off x="6556248" y="285292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 (3)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3172968"/>
            <a:ext cx="164592" cy="164592"/>
          </a:xfrm>
          <a:prstGeom prst="rect">
            <a:avLst/>
          </a:prstGeom>
          <a:solidFill>
            <a:srgbClr val="E07B00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" y="314553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Detective (2)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423160" y="3172968"/>
            <a:ext cx="164592" cy="164592"/>
          </a:xfrm>
          <a:prstGeom prst="rect">
            <a:avLst/>
          </a:prstGeom>
          <a:solidFill>
            <a:srgbClr val="3A3A3C"/>
          </a:solidFill>
          <a:ln/>
        </p:spPr>
      </p:sp>
      <p:sp>
        <p:nvSpPr>
          <p:cNvPr id="26" name="Text 24"/>
          <p:cNvSpPr/>
          <p:nvPr/>
        </p:nvSpPr>
        <p:spPr>
          <a:xfrm>
            <a:off x="2624328" y="314553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Enforcement (2)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389120" y="3172968"/>
            <a:ext cx="164592" cy="164592"/>
          </a:xfrm>
          <a:prstGeom prst="rect">
            <a:avLst/>
          </a:prstGeom>
          <a:solidFill>
            <a:srgbClr val="E3E3E4"/>
          </a:solidFill>
          <a:ln/>
        </p:spPr>
      </p:sp>
      <p:sp>
        <p:nvSpPr>
          <p:cNvPr id="28" name="Text 26"/>
          <p:cNvSpPr/>
          <p:nvPr/>
        </p:nvSpPr>
        <p:spPr>
          <a:xfrm>
            <a:off x="4590288" y="314553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(2)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57200" y="4023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Detail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43434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Sample: RULE-008 Divergence Pattern Detection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48640" y="472744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Knowledge score &gt;= 3 AND Ability score &gt;= 3 AND Emotional-transition reading = 'Ending'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48640" y="5111496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DivergenceDetected = true/false — Detects a person or cohort who is technically capable but not yet emotionally transitioned — a hidden-resistance signal invisible to skills data alone.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D01-D10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ARCHITECTURE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D04 — Controls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controls | 15 Preventive · 3 Detective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6096000" cy="411480"/>
          </a:xfrm>
          <a:prstGeom prst="rect">
            <a:avLst/>
          </a:prstGeom>
          <a:solidFill>
            <a:srgbClr val="F8931D"/>
          </a:solidFill>
          <a:ln/>
        </p:spPr>
      </p:sp>
      <p:sp>
        <p:nvSpPr>
          <p:cNvPr id="9" name="Shape 7"/>
          <p:cNvSpPr/>
          <p:nvPr/>
        </p:nvSpPr>
        <p:spPr>
          <a:xfrm>
            <a:off x="6553200" y="2377440"/>
            <a:ext cx="1219200" cy="411480"/>
          </a:xfrm>
          <a:prstGeom prst="rect">
            <a:avLst/>
          </a:prstGeom>
          <a:solidFill>
            <a:srgbClr val="3A6EA5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2880360"/>
            <a:ext cx="164592" cy="164592"/>
          </a:xfrm>
          <a:prstGeom prst="rect">
            <a:avLst/>
          </a:prstGeom>
          <a:solidFill>
            <a:srgbClr val="F8931D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285292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Preventive (15)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423160" y="2880360"/>
            <a:ext cx="164592" cy="164592"/>
          </a:xfrm>
          <a:prstGeom prst="rect">
            <a:avLst/>
          </a:prstGeom>
          <a:solidFill>
            <a:srgbClr val="3A6EA5"/>
          </a:solidFill>
          <a:ln/>
        </p:spPr>
      </p:sp>
      <p:sp>
        <p:nvSpPr>
          <p:cNvPr id="13" name="Text 11"/>
          <p:cNvSpPr/>
          <p:nvPr/>
        </p:nvSpPr>
        <p:spPr>
          <a:xfrm>
            <a:off x="2624328" y="285292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Detective (3)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4023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Detail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43434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CTRL-003 Justification Governance on Score Changes — Blocks any state-changing save across 8 core modules without a logged justification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472744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CTRL-006 AI Human-in-the-Loop Checkpoint Enforcement — No AI output takes effect until a human accepts, edits, or rejects it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5111496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CTRL-012 Phase Gate Single-Accountable Enforcement — Every governance decision names exactly one Accountable role — never 'the system'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D01-D10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ARCHITECTURE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D05 — Risks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risks | 8 Operational · 3 Compliance · 3 Security · 2 Strategic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3657600" cy="411480"/>
          </a:xfrm>
          <a:prstGeom prst="rect">
            <a:avLst/>
          </a:prstGeom>
          <a:solidFill>
            <a:srgbClr val="F8931D"/>
          </a:solidFill>
          <a:ln/>
        </p:spPr>
      </p:sp>
      <p:sp>
        <p:nvSpPr>
          <p:cNvPr id="9" name="Shape 7"/>
          <p:cNvSpPr/>
          <p:nvPr/>
        </p:nvSpPr>
        <p:spPr>
          <a:xfrm>
            <a:off x="4114800" y="2377440"/>
            <a:ext cx="1371600" cy="411480"/>
          </a:xfrm>
          <a:prstGeom prst="rect">
            <a:avLst/>
          </a:prstGeom>
          <a:solidFill>
            <a:srgbClr val="3A6EA5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0" y="2377440"/>
            <a:ext cx="1371600" cy="411480"/>
          </a:xfrm>
          <a:prstGeom prst="rect">
            <a:avLst/>
          </a:prstGeom>
          <a:solidFill>
            <a:srgbClr val="5AA469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2377440"/>
            <a:ext cx="914400" cy="411480"/>
          </a:xfrm>
          <a:prstGeom prst="rect">
            <a:avLst/>
          </a:prstGeom>
          <a:solidFill>
            <a:srgbClr val="808184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2880360"/>
            <a:ext cx="164592" cy="164592"/>
          </a:xfrm>
          <a:prstGeom prst="rect">
            <a:avLst/>
          </a:prstGeom>
          <a:solidFill>
            <a:srgbClr val="F8931D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" y="285292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(8)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423160" y="2880360"/>
            <a:ext cx="164592" cy="164592"/>
          </a:xfrm>
          <a:prstGeom prst="rect">
            <a:avLst/>
          </a:prstGeom>
          <a:solidFill>
            <a:srgbClr val="3A6EA5"/>
          </a:solidFill>
          <a:ln/>
        </p:spPr>
      </p:sp>
      <p:sp>
        <p:nvSpPr>
          <p:cNvPr id="15" name="Text 13"/>
          <p:cNvSpPr/>
          <p:nvPr/>
        </p:nvSpPr>
        <p:spPr>
          <a:xfrm>
            <a:off x="2624328" y="285292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(3)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389120" y="2880360"/>
            <a:ext cx="164592" cy="164592"/>
          </a:xfrm>
          <a:prstGeom prst="rect">
            <a:avLst/>
          </a:prstGeom>
          <a:solidFill>
            <a:srgbClr val="5AA469"/>
          </a:solidFill>
          <a:ln/>
        </p:spPr>
      </p:sp>
      <p:sp>
        <p:nvSpPr>
          <p:cNvPr id="17" name="Text 15"/>
          <p:cNvSpPr/>
          <p:nvPr/>
        </p:nvSpPr>
        <p:spPr>
          <a:xfrm>
            <a:off x="4590288" y="285292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(3)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355080" y="2880360"/>
            <a:ext cx="164592" cy="164592"/>
          </a:xfrm>
          <a:prstGeom prst="rect">
            <a:avLst/>
          </a:prstGeom>
          <a:solidFill>
            <a:srgbClr val="808184"/>
          </a:solidFill>
          <a:ln/>
        </p:spPr>
      </p:sp>
      <p:sp>
        <p:nvSpPr>
          <p:cNvPr id="19" name="Text 17"/>
          <p:cNvSpPr/>
          <p:nvPr/>
        </p:nvSpPr>
        <p:spPr>
          <a:xfrm>
            <a:off x="6556248" y="285292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(2)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7200" y="4023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Detail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43434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RISK-001 Widespread Resistance Undermines Adoption — Inherent 16 → Residual 9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472744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RISK-011 Unauthorized Data Access / Privilege Escalation — Inherent 20 → Residual 6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8640" y="5111496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RISK-003 Sponsor Disengagement / Attrition — Inherent 15 → Residual 8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5495544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RISK-006 Ungoverned AI-Generated Content Reaches Stakeholders — Inherent 16 → Residual 4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D01-D10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ARCHITECTURE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D06 — KPIs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KPIs | 14 Operational · 5 Strategic · 1 Middle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5120640" cy="411480"/>
          </a:xfrm>
          <a:prstGeom prst="rect">
            <a:avLst/>
          </a:prstGeom>
          <a:solidFill>
            <a:srgbClr val="F8931D"/>
          </a:solidFill>
          <a:ln/>
        </p:spPr>
      </p:sp>
      <p:sp>
        <p:nvSpPr>
          <p:cNvPr id="9" name="Shape 7"/>
          <p:cNvSpPr/>
          <p:nvPr/>
        </p:nvSpPr>
        <p:spPr>
          <a:xfrm>
            <a:off x="5577840" y="2377440"/>
            <a:ext cx="1828800" cy="411480"/>
          </a:xfrm>
          <a:prstGeom prst="rect">
            <a:avLst/>
          </a:prstGeom>
          <a:solidFill>
            <a:srgbClr val="3A6EA5"/>
          </a:solidFill>
          <a:ln/>
        </p:spPr>
      </p:sp>
      <p:sp>
        <p:nvSpPr>
          <p:cNvPr id="10" name="Shape 8"/>
          <p:cNvSpPr/>
          <p:nvPr/>
        </p:nvSpPr>
        <p:spPr>
          <a:xfrm>
            <a:off x="7406640" y="2377440"/>
            <a:ext cx="365760" cy="411480"/>
          </a:xfrm>
          <a:prstGeom prst="rect">
            <a:avLst/>
          </a:prstGeom>
          <a:solidFill>
            <a:srgbClr val="5AA469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2880360"/>
            <a:ext cx="164592" cy="164592"/>
          </a:xfrm>
          <a:prstGeom prst="rect">
            <a:avLst/>
          </a:prstGeom>
          <a:solidFill>
            <a:srgbClr val="F8931D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285292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(14)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423160" y="2880360"/>
            <a:ext cx="164592" cy="164592"/>
          </a:xfrm>
          <a:prstGeom prst="rect">
            <a:avLst/>
          </a:prstGeom>
          <a:solidFill>
            <a:srgbClr val="3A6EA5"/>
          </a:solidFill>
          <a:ln/>
        </p:spPr>
      </p:sp>
      <p:sp>
        <p:nvSpPr>
          <p:cNvPr id="14" name="Text 12"/>
          <p:cNvSpPr/>
          <p:nvPr/>
        </p:nvSpPr>
        <p:spPr>
          <a:xfrm>
            <a:off x="2624328" y="285292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(5)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389120" y="2880360"/>
            <a:ext cx="164592" cy="164592"/>
          </a:xfrm>
          <a:prstGeom prst="rect">
            <a:avLst/>
          </a:prstGeom>
          <a:solidFill>
            <a:srgbClr val="5AA469"/>
          </a:solidFill>
          <a:ln/>
        </p:spPr>
      </p:sp>
      <p:sp>
        <p:nvSpPr>
          <p:cNvPr id="16" name="Text 14"/>
          <p:cNvSpPr/>
          <p:nvPr/>
        </p:nvSpPr>
        <p:spPr>
          <a:xfrm>
            <a:off x="4590288" y="285292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(1)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4023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Detail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43434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Exception Automation Rate — Forecast ROI 12,500 → Actual 11,800 (92% of forecast realized)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472744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Suggestion Acceptance Rate — Forecast ROI 8,000 → Actual 7,400 (88% of forecast realized)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5111496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Leakage Prevented (Automation-Wide) — Forecast ROI 40,500 → Actual 37,200 (90% of forecast realized)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D01-D10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ARCHITECTURE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D07 — Alerts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alerts | 5 High · 6 Medium · 2 Low · 2 Informational · 1 Critical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457200" cy="411480"/>
          </a:xfrm>
          <a:prstGeom prst="rect">
            <a:avLst/>
          </a:prstGeom>
          <a:solidFill>
            <a:srgbClr val="F8931D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2377440"/>
            <a:ext cx="2286000" cy="411480"/>
          </a:xfrm>
          <a:prstGeom prst="rect">
            <a:avLst/>
          </a:prstGeom>
          <a:solidFill>
            <a:srgbClr val="3A6EA5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0" y="2377440"/>
            <a:ext cx="2743200" cy="411480"/>
          </a:xfrm>
          <a:prstGeom prst="rect">
            <a:avLst/>
          </a:prstGeom>
          <a:solidFill>
            <a:srgbClr val="5AA469"/>
          </a:solidFill>
          <a:ln/>
        </p:spPr>
      </p:sp>
      <p:sp>
        <p:nvSpPr>
          <p:cNvPr id="11" name="Shape 9"/>
          <p:cNvSpPr/>
          <p:nvPr/>
        </p:nvSpPr>
        <p:spPr>
          <a:xfrm>
            <a:off x="5943600" y="2377440"/>
            <a:ext cx="914400" cy="411480"/>
          </a:xfrm>
          <a:prstGeom prst="rect">
            <a:avLst/>
          </a:prstGeom>
          <a:solidFill>
            <a:srgbClr val="808184"/>
          </a:solidFill>
          <a:ln/>
        </p:spPr>
      </p:sp>
      <p:sp>
        <p:nvSpPr>
          <p:cNvPr id="12" name="Shape 10"/>
          <p:cNvSpPr/>
          <p:nvPr/>
        </p:nvSpPr>
        <p:spPr>
          <a:xfrm>
            <a:off x="6858000" y="2377440"/>
            <a:ext cx="914400" cy="411480"/>
          </a:xfrm>
          <a:prstGeom prst="rect">
            <a:avLst/>
          </a:prstGeom>
          <a:solidFill>
            <a:srgbClr val="E07B00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880360"/>
            <a:ext cx="164592" cy="164592"/>
          </a:xfrm>
          <a:prstGeom prst="rect">
            <a:avLst/>
          </a:prstGeom>
          <a:solidFill>
            <a:srgbClr val="F8931D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285292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(1)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423160" y="2880360"/>
            <a:ext cx="164592" cy="164592"/>
          </a:xfrm>
          <a:prstGeom prst="rect">
            <a:avLst/>
          </a:prstGeom>
          <a:solidFill>
            <a:srgbClr val="3A6EA5"/>
          </a:solidFill>
          <a:ln/>
        </p:spPr>
      </p:sp>
      <p:sp>
        <p:nvSpPr>
          <p:cNvPr id="16" name="Text 14"/>
          <p:cNvSpPr/>
          <p:nvPr/>
        </p:nvSpPr>
        <p:spPr>
          <a:xfrm>
            <a:off x="2624328" y="285292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(5)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389120" y="2880360"/>
            <a:ext cx="164592" cy="164592"/>
          </a:xfrm>
          <a:prstGeom prst="rect">
            <a:avLst/>
          </a:prstGeom>
          <a:solidFill>
            <a:srgbClr val="5AA469"/>
          </a:solidFill>
          <a:ln/>
        </p:spPr>
      </p:sp>
      <p:sp>
        <p:nvSpPr>
          <p:cNvPr id="18" name="Text 16"/>
          <p:cNvSpPr/>
          <p:nvPr/>
        </p:nvSpPr>
        <p:spPr>
          <a:xfrm>
            <a:off x="4590288" y="285292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(6)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355080" y="2880360"/>
            <a:ext cx="164592" cy="164592"/>
          </a:xfrm>
          <a:prstGeom prst="rect">
            <a:avLst/>
          </a:prstGeom>
          <a:solidFill>
            <a:srgbClr val="808184"/>
          </a:solidFill>
          <a:ln/>
        </p:spPr>
      </p:sp>
      <p:sp>
        <p:nvSpPr>
          <p:cNvPr id="20" name="Text 18"/>
          <p:cNvSpPr/>
          <p:nvPr/>
        </p:nvSpPr>
        <p:spPr>
          <a:xfrm>
            <a:off x="6556248" y="285292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(2)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3172968"/>
            <a:ext cx="164592" cy="164592"/>
          </a:xfrm>
          <a:prstGeom prst="rect">
            <a:avLst/>
          </a:prstGeom>
          <a:solidFill>
            <a:srgbClr val="E07B00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" y="314553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Informational (2)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" y="4023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Detail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43434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ALT-002 Regression Risk Score Critical -&gt; RULE-002 = true -&gt; escalates to Change Manager + Supervisor (24h SLA) -&gt; Sponsor if unresolved 7 days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48640" y="472744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alert names a Rule_Condition (D03), a Linked_Action_ID (D03a), and an explicit multi-level escalation path.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D01-D10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ARCHITECTURE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D08 — Reports / Dashboards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reports | 9 Operational · 3 Tactical · 1 Executive · 1 Strategic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4702629" cy="411480"/>
          </a:xfrm>
          <a:prstGeom prst="rect">
            <a:avLst/>
          </a:prstGeom>
          <a:solidFill>
            <a:srgbClr val="F8931D"/>
          </a:solidFill>
          <a:ln/>
        </p:spPr>
      </p:sp>
      <p:sp>
        <p:nvSpPr>
          <p:cNvPr id="9" name="Shape 7"/>
          <p:cNvSpPr/>
          <p:nvPr/>
        </p:nvSpPr>
        <p:spPr>
          <a:xfrm>
            <a:off x="5159829" y="2377440"/>
            <a:ext cx="1567543" cy="411480"/>
          </a:xfrm>
          <a:prstGeom prst="rect">
            <a:avLst/>
          </a:prstGeom>
          <a:solidFill>
            <a:srgbClr val="3A6EA5"/>
          </a:solidFill>
          <a:ln/>
        </p:spPr>
      </p:sp>
      <p:sp>
        <p:nvSpPr>
          <p:cNvPr id="10" name="Shape 8"/>
          <p:cNvSpPr/>
          <p:nvPr/>
        </p:nvSpPr>
        <p:spPr>
          <a:xfrm>
            <a:off x="6727371" y="2377440"/>
            <a:ext cx="522514" cy="411480"/>
          </a:xfrm>
          <a:prstGeom prst="rect">
            <a:avLst/>
          </a:prstGeom>
          <a:solidFill>
            <a:srgbClr val="5AA469"/>
          </a:solidFill>
          <a:ln/>
        </p:spPr>
      </p:sp>
      <p:sp>
        <p:nvSpPr>
          <p:cNvPr id="11" name="Shape 9"/>
          <p:cNvSpPr/>
          <p:nvPr/>
        </p:nvSpPr>
        <p:spPr>
          <a:xfrm>
            <a:off x="7249886" y="2377440"/>
            <a:ext cx="522514" cy="411480"/>
          </a:xfrm>
          <a:prstGeom prst="rect">
            <a:avLst/>
          </a:prstGeom>
          <a:solidFill>
            <a:srgbClr val="808184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2880360"/>
            <a:ext cx="164592" cy="164592"/>
          </a:xfrm>
          <a:prstGeom prst="rect">
            <a:avLst/>
          </a:prstGeom>
          <a:solidFill>
            <a:srgbClr val="F8931D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" y="285292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(9)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423160" y="2880360"/>
            <a:ext cx="164592" cy="164592"/>
          </a:xfrm>
          <a:prstGeom prst="rect">
            <a:avLst/>
          </a:prstGeom>
          <a:solidFill>
            <a:srgbClr val="3A6EA5"/>
          </a:solidFill>
          <a:ln/>
        </p:spPr>
      </p:sp>
      <p:sp>
        <p:nvSpPr>
          <p:cNvPr id="15" name="Text 13"/>
          <p:cNvSpPr/>
          <p:nvPr/>
        </p:nvSpPr>
        <p:spPr>
          <a:xfrm>
            <a:off x="2624328" y="285292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Tactical (3)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389120" y="2880360"/>
            <a:ext cx="164592" cy="164592"/>
          </a:xfrm>
          <a:prstGeom prst="rect">
            <a:avLst/>
          </a:prstGeom>
          <a:solidFill>
            <a:srgbClr val="5AA469"/>
          </a:solidFill>
          <a:ln/>
        </p:spPr>
      </p:sp>
      <p:sp>
        <p:nvSpPr>
          <p:cNvPr id="17" name="Text 15"/>
          <p:cNvSpPr/>
          <p:nvPr/>
        </p:nvSpPr>
        <p:spPr>
          <a:xfrm>
            <a:off x="4590288" y="285292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(1)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355080" y="2880360"/>
            <a:ext cx="164592" cy="164592"/>
          </a:xfrm>
          <a:prstGeom prst="rect">
            <a:avLst/>
          </a:prstGeom>
          <a:solidFill>
            <a:srgbClr val="808184"/>
          </a:solidFill>
          <a:ln/>
        </p:spPr>
      </p:sp>
      <p:sp>
        <p:nvSpPr>
          <p:cNvPr id="19" name="Text 17"/>
          <p:cNvSpPr/>
          <p:nvPr/>
        </p:nvSpPr>
        <p:spPr>
          <a:xfrm>
            <a:off x="6556248" y="285292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(1)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7200" y="4023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Detail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43434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RPT-001 Executive Readiness Dashboard — Sponsor, Executive Viewer (Gauge, KPI Cards, Line)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472744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RPT-003 Change Risk &amp; Divergence Cockpit — Change Manager, PMO (Bar, Heatmap)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8640" y="5111496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RPT-014 WBS / Phase Gate Cockpit — Program/Project Manager, PMO (Gantt, KPI Cards)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D01-D10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ARCHITECTURE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D09 — Information Class Model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object classes | 18 Internal · 10 Confidential · 7 Restricted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3762103" cy="411480"/>
          </a:xfrm>
          <a:prstGeom prst="rect">
            <a:avLst/>
          </a:prstGeom>
          <a:solidFill>
            <a:srgbClr val="F8931D"/>
          </a:solidFill>
          <a:ln/>
        </p:spPr>
      </p:sp>
      <p:sp>
        <p:nvSpPr>
          <p:cNvPr id="9" name="Shape 7"/>
          <p:cNvSpPr/>
          <p:nvPr/>
        </p:nvSpPr>
        <p:spPr>
          <a:xfrm>
            <a:off x="4219303" y="2377440"/>
            <a:ext cx="2090057" cy="411480"/>
          </a:xfrm>
          <a:prstGeom prst="rect">
            <a:avLst/>
          </a:prstGeom>
          <a:solidFill>
            <a:srgbClr val="3A6EA5"/>
          </a:solidFill>
          <a:ln/>
        </p:spPr>
      </p:sp>
      <p:sp>
        <p:nvSpPr>
          <p:cNvPr id="10" name="Shape 8"/>
          <p:cNvSpPr/>
          <p:nvPr/>
        </p:nvSpPr>
        <p:spPr>
          <a:xfrm>
            <a:off x="6309360" y="2377440"/>
            <a:ext cx="1463040" cy="411480"/>
          </a:xfrm>
          <a:prstGeom prst="rect">
            <a:avLst/>
          </a:prstGeom>
          <a:solidFill>
            <a:srgbClr val="5AA469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2880360"/>
            <a:ext cx="164592" cy="164592"/>
          </a:xfrm>
          <a:prstGeom prst="rect">
            <a:avLst/>
          </a:prstGeom>
          <a:solidFill>
            <a:srgbClr val="F8931D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285292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(18)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423160" y="2880360"/>
            <a:ext cx="164592" cy="164592"/>
          </a:xfrm>
          <a:prstGeom prst="rect">
            <a:avLst/>
          </a:prstGeom>
          <a:solidFill>
            <a:srgbClr val="3A6EA5"/>
          </a:solidFill>
          <a:ln/>
        </p:spPr>
      </p:sp>
      <p:sp>
        <p:nvSpPr>
          <p:cNvPr id="14" name="Text 12"/>
          <p:cNvSpPr/>
          <p:nvPr/>
        </p:nvSpPr>
        <p:spPr>
          <a:xfrm>
            <a:off x="2624328" y="285292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(10)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389120" y="2880360"/>
            <a:ext cx="164592" cy="164592"/>
          </a:xfrm>
          <a:prstGeom prst="rect">
            <a:avLst/>
          </a:prstGeom>
          <a:solidFill>
            <a:srgbClr val="5AA469"/>
          </a:solidFill>
          <a:ln/>
        </p:spPr>
      </p:sp>
      <p:sp>
        <p:nvSpPr>
          <p:cNvPr id="16" name="Text 14"/>
          <p:cNvSpPr/>
          <p:nvPr/>
        </p:nvSpPr>
        <p:spPr>
          <a:xfrm>
            <a:off x="4590288" y="285292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 (7)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4023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Detail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43434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entities: Organization, Change Management Project, Stakeholder / Persona, Readiness Score, Risk...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472744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Multi_Language_Supported flag on every entity carrying human-readable text (18 of 35 classes) — governed by a tenant default with per-user override.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D01-D10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ARCHITECTURE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D10 — Data Dictionary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 attributes across 21 of the 35 object classes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Detail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5146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— Change Management Project: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289864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CM_Project_ID (UUID) — PK, indexed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3282696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Lewin_Phase (Enum) — Unfreeze / Change / Refreeze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3666744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Composite_Readiness_Index (Decimal) — 0-100, computed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3A3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F8931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Deliverables D11 → D20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4114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2F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Integration, requirements, workflow orchestration, AI, tenancy, and reusable-catalog layer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D11-D20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LAYER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D11 — Tools &amp; Interfaces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tools/interfaces — 12 native UI/API, 2 external integration points (LLM provider, SSO)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Detail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5146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native UI/API surfaces (survey renderer, scoring grid, journey timeline, RACSI editor, Phase Gate widget...)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289864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external integration points: a Real LLM Provider endpoint and Enterprise SSO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D11-D20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LAYER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D12 — Physical Data Implementation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physical columns across the highest-traffic tables — every table partitioned by tenant/project by default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Detail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5146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Table: cm_projects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289864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Table: risks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3282696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Table: ai_use_case_suggestions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3666744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Table: justification_log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4050792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Table: wbs_tasks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44348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Table: charter_actions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D11-D20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LAYER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D13 — Application Requirements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requirements | 7 P0 · 3 P1 · 5 P2 | 9 Wave 1 · 1 Wave 2 · 5 Wave 3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3413760" cy="411480"/>
          </a:xfrm>
          <a:prstGeom prst="rect">
            <a:avLst/>
          </a:prstGeom>
          <a:solidFill>
            <a:srgbClr val="F8931D"/>
          </a:solidFill>
          <a:ln/>
        </p:spPr>
      </p:sp>
      <p:sp>
        <p:nvSpPr>
          <p:cNvPr id="9" name="Shape 7"/>
          <p:cNvSpPr/>
          <p:nvPr/>
        </p:nvSpPr>
        <p:spPr>
          <a:xfrm>
            <a:off x="3870960" y="2377440"/>
            <a:ext cx="1463040" cy="411480"/>
          </a:xfrm>
          <a:prstGeom prst="rect">
            <a:avLst/>
          </a:prstGeom>
          <a:solidFill>
            <a:srgbClr val="3A6EA5"/>
          </a:solidFill>
          <a:ln/>
        </p:spPr>
      </p:sp>
      <p:sp>
        <p:nvSpPr>
          <p:cNvPr id="10" name="Shape 8"/>
          <p:cNvSpPr/>
          <p:nvPr/>
        </p:nvSpPr>
        <p:spPr>
          <a:xfrm>
            <a:off x="5334000" y="2377440"/>
            <a:ext cx="2438400" cy="411480"/>
          </a:xfrm>
          <a:prstGeom prst="rect">
            <a:avLst/>
          </a:prstGeom>
          <a:solidFill>
            <a:srgbClr val="5AA469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2880360"/>
            <a:ext cx="164592" cy="164592"/>
          </a:xfrm>
          <a:prstGeom prst="rect">
            <a:avLst/>
          </a:prstGeom>
          <a:solidFill>
            <a:srgbClr val="F8931D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285292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 (7)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423160" y="2880360"/>
            <a:ext cx="164592" cy="164592"/>
          </a:xfrm>
          <a:prstGeom prst="rect">
            <a:avLst/>
          </a:prstGeom>
          <a:solidFill>
            <a:srgbClr val="3A6EA5"/>
          </a:solidFill>
          <a:ln/>
        </p:spPr>
      </p:sp>
      <p:sp>
        <p:nvSpPr>
          <p:cNvPr id="14" name="Text 12"/>
          <p:cNvSpPr/>
          <p:nvPr/>
        </p:nvSpPr>
        <p:spPr>
          <a:xfrm>
            <a:off x="2624328" y="285292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(3)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389120" y="2880360"/>
            <a:ext cx="164592" cy="164592"/>
          </a:xfrm>
          <a:prstGeom prst="rect">
            <a:avLst/>
          </a:prstGeom>
          <a:solidFill>
            <a:srgbClr val="5AA469"/>
          </a:solidFill>
          <a:ln/>
        </p:spPr>
      </p:sp>
      <p:sp>
        <p:nvSpPr>
          <p:cNvPr id="16" name="Text 14"/>
          <p:cNvSpPr/>
          <p:nvPr/>
        </p:nvSpPr>
        <p:spPr>
          <a:xfrm>
            <a:off x="4590288" y="285292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(5)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4023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Detail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43434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story format: role -&gt; capability -&gt; reason, with linked UI/API/Workflow/AI/BPMN components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472744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P0 requirements form the core MVP surface; 5 P2 items are the newer AI-extensibility and journey-tracking capabilities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D11-D20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LAYER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D14 — BPMN Workflow Orchestration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executable workflows | 106 total tasks — 44 User, 48 Service, 14 AI, 0 RPA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3312543" cy="411480"/>
          </a:xfrm>
          <a:prstGeom prst="rect">
            <a:avLst/>
          </a:prstGeom>
          <a:solidFill>
            <a:srgbClr val="F8931D"/>
          </a:solidFill>
          <a:ln/>
        </p:spPr>
      </p:sp>
      <p:sp>
        <p:nvSpPr>
          <p:cNvPr id="9" name="Shape 7"/>
          <p:cNvSpPr/>
          <p:nvPr/>
        </p:nvSpPr>
        <p:spPr>
          <a:xfrm>
            <a:off x="3769743" y="2377440"/>
            <a:ext cx="3036498" cy="411480"/>
          </a:xfrm>
          <a:prstGeom prst="rect">
            <a:avLst/>
          </a:prstGeom>
          <a:solidFill>
            <a:srgbClr val="3A6EA5"/>
          </a:solidFill>
          <a:ln/>
        </p:spPr>
      </p:sp>
      <p:sp>
        <p:nvSpPr>
          <p:cNvPr id="10" name="Shape 8"/>
          <p:cNvSpPr/>
          <p:nvPr/>
        </p:nvSpPr>
        <p:spPr>
          <a:xfrm>
            <a:off x="6806242" y="2377440"/>
            <a:ext cx="966158" cy="411480"/>
          </a:xfrm>
          <a:prstGeom prst="rect">
            <a:avLst/>
          </a:prstGeom>
          <a:solidFill>
            <a:srgbClr val="5AA469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2880360"/>
            <a:ext cx="164592" cy="164592"/>
          </a:xfrm>
          <a:prstGeom prst="rect">
            <a:avLst/>
          </a:prstGeom>
          <a:solidFill>
            <a:srgbClr val="F8931D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285292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Task (48)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423160" y="2880360"/>
            <a:ext cx="164592" cy="164592"/>
          </a:xfrm>
          <a:prstGeom prst="rect">
            <a:avLst/>
          </a:prstGeom>
          <a:solidFill>
            <a:srgbClr val="3A6EA5"/>
          </a:solidFill>
          <a:ln/>
        </p:spPr>
      </p:sp>
      <p:sp>
        <p:nvSpPr>
          <p:cNvPr id="14" name="Text 12"/>
          <p:cNvSpPr/>
          <p:nvPr/>
        </p:nvSpPr>
        <p:spPr>
          <a:xfrm>
            <a:off x="2624328" y="285292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Task (44)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389120" y="2880360"/>
            <a:ext cx="164592" cy="164592"/>
          </a:xfrm>
          <a:prstGeom prst="rect">
            <a:avLst/>
          </a:prstGeom>
          <a:solidFill>
            <a:srgbClr val="5AA469"/>
          </a:solidFill>
          <a:ln/>
        </p:spPr>
      </p:sp>
      <p:sp>
        <p:nvSpPr>
          <p:cNvPr id="16" name="Text 14"/>
          <p:cNvSpPr/>
          <p:nvPr/>
        </p:nvSpPr>
        <p:spPr>
          <a:xfrm>
            <a:off x="4590288" y="285292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Task (14)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4023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Detail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43434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RPA tasks by design — every AI use case carries a mandatory human checkpoint, never an unattended-bot action.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472744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workflows, each with exactly one Start Event and one End Event, gateway types (Exclusive) where a decision point exists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D11-D20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LAYER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D15 — AI Use Cases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AI use cases | 10 Assistive · 6 Augmented | 16 of 16 require human validation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4572000" cy="411480"/>
          </a:xfrm>
          <a:prstGeom prst="rect">
            <a:avLst/>
          </a:prstGeom>
          <a:solidFill>
            <a:srgbClr val="F8931D"/>
          </a:solidFill>
          <a:ln/>
        </p:spPr>
      </p:sp>
      <p:sp>
        <p:nvSpPr>
          <p:cNvPr id="9" name="Shape 7"/>
          <p:cNvSpPr/>
          <p:nvPr/>
        </p:nvSpPr>
        <p:spPr>
          <a:xfrm>
            <a:off x="5029200" y="2377440"/>
            <a:ext cx="2743200" cy="411480"/>
          </a:xfrm>
          <a:prstGeom prst="rect">
            <a:avLst/>
          </a:prstGeom>
          <a:solidFill>
            <a:srgbClr val="3A6EA5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2880360"/>
            <a:ext cx="164592" cy="164592"/>
          </a:xfrm>
          <a:prstGeom prst="rect">
            <a:avLst/>
          </a:prstGeom>
          <a:solidFill>
            <a:srgbClr val="F8931D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285292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Assistive (10)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423160" y="2880360"/>
            <a:ext cx="164592" cy="164592"/>
          </a:xfrm>
          <a:prstGeom prst="rect">
            <a:avLst/>
          </a:prstGeom>
          <a:solidFill>
            <a:srgbClr val="3A6EA5"/>
          </a:solidFill>
          <a:ln/>
        </p:spPr>
      </p:sp>
      <p:sp>
        <p:nvSpPr>
          <p:cNvPr id="13" name="Text 11"/>
          <p:cNvSpPr/>
          <p:nvPr/>
        </p:nvSpPr>
        <p:spPr>
          <a:xfrm>
            <a:off x="2624328" y="285292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Augmented (6)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4023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Detail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43434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entry is Assistive or Augmented — Autonomous AI is explicitly out of scope. No AI output is permitted to take an irreversible action on its own.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472744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of 16 use cases require human validation before output takes effect — 0 operate autonomously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D11-D20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LAYER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D16 — Tenants &amp; Hierarchy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tenants — 3 primary sector Organizations (Manufacturing, Logistics, Health) + 4 additional transformation-type Organizations + 2 Groups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Detail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5146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Hierarchy: Group (optional) -&gt; Organization -&gt; Project, matching the platform's native RBAC scope model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289864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spans 3 sectors (Manufacturing, Logistics, Health) plus 4 additional named transformation types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D11-D20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LAYER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D17 — Catalogs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reusable catalogs (roles, RACSI codes, signal library, AI use cases, KPIs, risk taxonomy, charters, journey stages...)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Detail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5146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catalogs: roles, RACSI codes, signal library, AI use cases, risk taxonomy, KPI library, phase templates, communication channels, charters, journey stages...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289864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catalog flagged Common (platform-wide) or Tenant-overridable, with a Reuse_Score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D11-D20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LAYER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D18 — Components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reusable UI/functional components behind the 14 interfaces in D11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Detail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5146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reusable UI/functional building blocks: scoring sliders, RAG heatmap cells, AI suggestion cards, RACSI grids, Phase Gate decision cards, prompt-template diff viewers...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289864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component lists which of the 14 D11 interfaces reuse it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D11-D20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LAYER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D19 — Automation Decision Matrix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scored items | 7 AI+HITL · 3 Workflow · 3 Workflow+AI+HITL · 1 Human-only | 12 Wave 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3657600" cy="411480"/>
          </a:xfrm>
          <a:prstGeom prst="rect">
            <a:avLst/>
          </a:prstGeom>
          <a:solidFill>
            <a:srgbClr val="F8931D"/>
          </a:solidFill>
          <a:ln/>
        </p:spPr>
      </p:sp>
      <p:sp>
        <p:nvSpPr>
          <p:cNvPr id="9" name="Shape 7"/>
          <p:cNvSpPr/>
          <p:nvPr/>
        </p:nvSpPr>
        <p:spPr>
          <a:xfrm>
            <a:off x="4114800" y="2377440"/>
            <a:ext cx="1567543" cy="411480"/>
          </a:xfrm>
          <a:prstGeom prst="rect">
            <a:avLst/>
          </a:prstGeom>
          <a:solidFill>
            <a:srgbClr val="3A6EA5"/>
          </a:solidFill>
          <a:ln/>
        </p:spPr>
      </p:sp>
      <p:sp>
        <p:nvSpPr>
          <p:cNvPr id="10" name="Shape 8"/>
          <p:cNvSpPr/>
          <p:nvPr/>
        </p:nvSpPr>
        <p:spPr>
          <a:xfrm>
            <a:off x="5682343" y="2377440"/>
            <a:ext cx="1567543" cy="411480"/>
          </a:xfrm>
          <a:prstGeom prst="rect">
            <a:avLst/>
          </a:prstGeom>
          <a:solidFill>
            <a:srgbClr val="5AA469"/>
          </a:solidFill>
          <a:ln/>
        </p:spPr>
      </p:sp>
      <p:sp>
        <p:nvSpPr>
          <p:cNvPr id="11" name="Shape 9"/>
          <p:cNvSpPr/>
          <p:nvPr/>
        </p:nvSpPr>
        <p:spPr>
          <a:xfrm>
            <a:off x="7249886" y="2377440"/>
            <a:ext cx="522514" cy="411480"/>
          </a:xfrm>
          <a:prstGeom prst="rect">
            <a:avLst/>
          </a:prstGeom>
          <a:solidFill>
            <a:srgbClr val="808184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2880360"/>
            <a:ext cx="164592" cy="164592"/>
          </a:xfrm>
          <a:prstGeom prst="rect">
            <a:avLst/>
          </a:prstGeom>
          <a:solidFill>
            <a:srgbClr val="F8931D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" y="285292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+ HITL (7)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423160" y="2880360"/>
            <a:ext cx="164592" cy="164592"/>
          </a:xfrm>
          <a:prstGeom prst="rect">
            <a:avLst/>
          </a:prstGeom>
          <a:solidFill>
            <a:srgbClr val="3A6EA5"/>
          </a:solidFill>
          <a:ln/>
        </p:spPr>
      </p:sp>
      <p:sp>
        <p:nvSpPr>
          <p:cNvPr id="15" name="Text 13"/>
          <p:cNvSpPr/>
          <p:nvPr/>
        </p:nvSpPr>
        <p:spPr>
          <a:xfrm>
            <a:off x="2624328" y="285292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(3)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389120" y="2880360"/>
            <a:ext cx="164592" cy="164592"/>
          </a:xfrm>
          <a:prstGeom prst="rect">
            <a:avLst/>
          </a:prstGeom>
          <a:solidFill>
            <a:srgbClr val="5AA469"/>
          </a:solidFill>
          <a:ln/>
        </p:spPr>
      </p:sp>
      <p:sp>
        <p:nvSpPr>
          <p:cNvPr id="17" name="Text 15"/>
          <p:cNvSpPr/>
          <p:nvPr/>
        </p:nvSpPr>
        <p:spPr>
          <a:xfrm>
            <a:off x="4590288" y="285292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+ AI + HITL (3)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355080" y="2880360"/>
            <a:ext cx="164592" cy="164592"/>
          </a:xfrm>
          <a:prstGeom prst="rect">
            <a:avLst/>
          </a:prstGeom>
          <a:solidFill>
            <a:srgbClr val="808184"/>
          </a:solidFill>
          <a:ln/>
        </p:spPr>
      </p:sp>
      <p:sp>
        <p:nvSpPr>
          <p:cNvPr id="19" name="Text 17"/>
          <p:cNvSpPr/>
          <p:nvPr/>
        </p:nvSpPr>
        <p:spPr>
          <a:xfrm>
            <a:off x="6556248" y="285292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(1)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7200" y="4023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Detail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43434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dimensions: Human / Workflow / RPA / AI, each 1-5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472744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HITL_Required = Yes wherever Final_Mode includes AI — no exceptions in the scored set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8640" y="5111496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of 15 scored items are Wave 1 priority</a:t>
            </a:r>
            <a:endParaRPr lang="en-US" sz="1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D11-D20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LAYER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D19b — Formula Registry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versioned formulas — the single authoritative backbone behind every KRI (D05) and KPI (D06) formula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Detail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5146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Sample: Composite Readiness Index = 0.4×ADKAR + 0.3×sentiment + 0.3×training_completion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289864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D05 KRI_Formula and D06 Formula column resolves to exactly one row here</a:t>
            </a:r>
            <a:endParaRPr lang="en-US" sz="11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D11-D20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LAYER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D20 — BPMN Execution Pack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execution packs — one per macro-process, consistent task-type counts with D14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Detail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5146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diagrams, each naming Pool, Lanes, Retry policy, and Escalation path — the operational detail a BPMN engine deployment needs beyond D14's readiness view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289864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Compensation: No across the board — no macro-process currently requires a compensating transaction</a:t>
            </a:r>
            <a:endParaRPr lang="en-US" sz="11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3A3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F8931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Deliverables D21 → D30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4114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2F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governance, adoption journeys, product packaging, and licensing layer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— D21-D30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LICENSING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D21 — Project Registry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seed projects | 3 ERP · 3 Process Automation · 3 QMS · 4 additional transformation types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1688123" cy="411480"/>
          </a:xfrm>
          <a:prstGeom prst="rect">
            <a:avLst/>
          </a:prstGeom>
          <a:solidFill>
            <a:srgbClr val="F8931D"/>
          </a:solidFill>
          <a:ln/>
        </p:spPr>
      </p:sp>
      <p:sp>
        <p:nvSpPr>
          <p:cNvPr id="9" name="Shape 7"/>
          <p:cNvSpPr/>
          <p:nvPr/>
        </p:nvSpPr>
        <p:spPr>
          <a:xfrm>
            <a:off x="2145323" y="2377440"/>
            <a:ext cx="1688123" cy="411480"/>
          </a:xfrm>
          <a:prstGeom prst="rect">
            <a:avLst/>
          </a:prstGeom>
          <a:solidFill>
            <a:srgbClr val="3A6EA5"/>
          </a:solidFill>
          <a:ln/>
        </p:spPr>
      </p:sp>
      <p:sp>
        <p:nvSpPr>
          <p:cNvPr id="10" name="Shape 8"/>
          <p:cNvSpPr/>
          <p:nvPr/>
        </p:nvSpPr>
        <p:spPr>
          <a:xfrm>
            <a:off x="3833446" y="2377440"/>
            <a:ext cx="1688123" cy="411480"/>
          </a:xfrm>
          <a:prstGeom prst="rect">
            <a:avLst/>
          </a:prstGeom>
          <a:solidFill>
            <a:srgbClr val="5AA469"/>
          </a:solidFill>
          <a:ln/>
        </p:spPr>
      </p:sp>
      <p:sp>
        <p:nvSpPr>
          <p:cNvPr id="11" name="Shape 9"/>
          <p:cNvSpPr/>
          <p:nvPr/>
        </p:nvSpPr>
        <p:spPr>
          <a:xfrm>
            <a:off x="5521569" y="2377440"/>
            <a:ext cx="2250831" cy="411480"/>
          </a:xfrm>
          <a:prstGeom prst="rect">
            <a:avLst/>
          </a:prstGeom>
          <a:solidFill>
            <a:srgbClr val="808184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2880360"/>
            <a:ext cx="164592" cy="164592"/>
          </a:xfrm>
          <a:prstGeom prst="rect">
            <a:avLst/>
          </a:prstGeom>
          <a:solidFill>
            <a:srgbClr val="F8931D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" y="285292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Implementation (3)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423160" y="2880360"/>
            <a:ext cx="164592" cy="164592"/>
          </a:xfrm>
          <a:prstGeom prst="rect">
            <a:avLst/>
          </a:prstGeom>
          <a:solidFill>
            <a:srgbClr val="3A6EA5"/>
          </a:solidFill>
          <a:ln/>
        </p:spPr>
      </p:sp>
      <p:sp>
        <p:nvSpPr>
          <p:cNvPr id="15" name="Text 13"/>
          <p:cNvSpPr/>
          <p:nvPr/>
        </p:nvSpPr>
        <p:spPr>
          <a:xfrm>
            <a:off x="2624328" y="285292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Automation (3)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389120" y="2880360"/>
            <a:ext cx="164592" cy="164592"/>
          </a:xfrm>
          <a:prstGeom prst="rect">
            <a:avLst/>
          </a:prstGeom>
          <a:solidFill>
            <a:srgbClr val="5AA469"/>
          </a:solidFill>
          <a:ln/>
        </p:spPr>
      </p:sp>
      <p:sp>
        <p:nvSpPr>
          <p:cNvPr id="17" name="Text 15"/>
          <p:cNvSpPr/>
          <p:nvPr/>
        </p:nvSpPr>
        <p:spPr>
          <a:xfrm>
            <a:off x="4590288" y="285292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QMS Implementation (3)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355080" y="2880360"/>
            <a:ext cx="164592" cy="164592"/>
          </a:xfrm>
          <a:prstGeom prst="rect">
            <a:avLst/>
          </a:prstGeom>
          <a:solidFill>
            <a:srgbClr val="808184"/>
          </a:solidFill>
          <a:ln/>
        </p:spPr>
      </p:sp>
      <p:sp>
        <p:nvSpPr>
          <p:cNvPr id="19" name="Text 17"/>
          <p:cNvSpPr/>
          <p:nvPr/>
        </p:nvSpPr>
        <p:spPr>
          <a:xfrm>
            <a:off x="6556248" y="285292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named types (4)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7200" y="4023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Detail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43434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Structure: Project_ID, name, type, status, dates, budget, owner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472744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seed entries span 3 sectors x 3 archetypes, plus 4 additional named transformation types</a:t>
            </a:r>
            <a:endParaRPr lang="en-US" sz="11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— D21-D30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LICENSING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D22 — Organization Profile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profile attributes per Organization — sector, headcount, sites, languages, default language, active projects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Detail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5146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attributes per Organization: sector, headcount, sites, languages, default language, Group membership, active projects, activated AI use cases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289864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Profile-driven behavior: default language drives i18n; sector drives which templates/curricula pre-load</a:t>
            </a:r>
            <a:endParaRPr lang="en-US" sz="11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— D21-D30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LICENSING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D23 — Journey Stage Templates (J0-J8)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journey stages (J0-J8) — Trigger &amp; Awareness through Sustainment &amp; Closure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Detail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5146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J0 Trigger &amp; Awareness -&gt; J1 Discovery -&gt; J2 Design -&gt; J3 Build -&gt; J4 Testing &amp; Training -&gt; J5 Deployment -&gt; J6 Stabilization -&gt; J7 Reinforcement -&gt; J8 Sustainment &amp; Closure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289864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cleanly onto an 8-phase delivery model plus one pre-phase</a:t>
            </a:r>
            <a:endParaRPr lang="en-US" sz="11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— D21-D30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LICENSING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D24 — Project Context Overlay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project-specific context overlays across 8 seed projects — dominant tension, exception risk, constraints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Detail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5146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Overlay pattern: inherits from the generic J0-J8 template, selectively overrides with project-specific context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289864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override: a healthcare project flags 'patient-safety-critical cutover windows' as a J5 Deployment constraint</a:t>
            </a:r>
            <a:endParaRPr lang="en-US" sz="11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— D21-D30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LICENSING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D25 — REX Institutionalization Log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institutionalized lessons — all 6 canonical exception patterns + 2 platform-governance lessons, all Applied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Detail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5146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entries, 8 of 8 status = Applied — every logged lesson has already been folded into a standing rule, control, or charter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289864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3-4 representative: two-clock problem at cutover, divergence pattern detection, cohort disaggregation before go/no-go</a:t>
            </a:r>
            <a:endParaRPr lang="en-US" sz="11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— D21-D30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LICENSING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D26 — Product Module Catalog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modules | 8 Standard · 8 Professional · 1 Enterprise · 1 Enterprise Add-on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3251200" cy="411480"/>
          </a:xfrm>
          <a:prstGeom prst="rect">
            <a:avLst/>
          </a:prstGeom>
          <a:solidFill>
            <a:srgbClr val="F8931D"/>
          </a:solidFill>
          <a:ln/>
        </p:spPr>
      </p:sp>
      <p:sp>
        <p:nvSpPr>
          <p:cNvPr id="9" name="Shape 7"/>
          <p:cNvSpPr/>
          <p:nvPr/>
        </p:nvSpPr>
        <p:spPr>
          <a:xfrm>
            <a:off x="3708400" y="2377440"/>
            <a:ext cx="3251200" cy="411480"/>
          </a:xfrm>
          <a:prstGeom prst="rect">
            <a:avLst/>
          </a:prstGeom>
          <a:solidFill>
            <a:srgbClr val="3A6EA5"/>
          </a:solidFill>
          <a:ln/>
        </p:spPr>
      </p:sp>
      <p:sp>
        <p:nvSpPr>
          <p:cNvPr id="10" name="Shape 8"/>
          <p:cNvSpPr/>
          <p:nvPr/>
        </p:nvSpPr>
        <p:spPr>
          <a:xfrm>
            <a:off x="6959600" y="2377440"/>
            <a:ext cx="406400" cy="411480"/>
          </a:xfrm>
          <a:prstGeom prst="rect">
            <a:avLst/>
          </a:prstGeom>
          <a:solidFill>
            <a:srgbClr val="5AA469"/>
          </a:solidFill>
          <a:ln/>
        </p:spPr>
      </p:sp>
      <p:sp>
        <p:nvSpPr>
          <p:cNvPr id="11" name="Shape 9"/>
          <p:cNvSpPr/>
          <p:nvPr/>
        </p:nvSpPr>
        <p:spPr>
          <a:xfrm>
            <a:off x="7366000" y="2377440"/>
            <a:ext cx="406400" cy="411480"/>
          </a:xfrm>
          <a:prstGeom prst="rect">
            <a:avLst/>
          </a:prstGeom>
          <a:solidFill>
            <a:srgbClr val="808184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2880360"/>
            <a:ext cx="164592" cy="164592"/>
          </a:xfrm>
          <a:prstGeom prst="rect">
            <a:avLst/>
          </a:prstGeom>
          <a:solidFill>
            <a:srgbClr val="F8931D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" y="285292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(8)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423160" y="2880360"/>
            <a:ext cx="164592" cy="164592"/>
          </a:xfrm>
          <a:prstGeom prst="rect">
            <a:avLst/>
          </a:prstGeom>
          <a:solidFill>
            <a:srgbClr val="3A6EA5"/>
          </a:solidFill>
          <a:ln/>
        </p:spPr>
      </p:sp>
      <p:sp>
        <p:nvSpPr>
          <p:cNvPr id="15" name="Text 13"/>
          <p:cNvSpPr/>
          <p:nvPr/>
        </p:nvSpPr>
        <p:spPr>
          <a:xfrm>
            <a:off x="2624328" y="285292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(8)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389120" y="2880360"/>
            <a:ext cx="164592" cy="164592"/>
          </a:xfrm>
          <a:prstGeom prst="rect">
            <a:avLst/>
          </a:prstGeom>
          <a:solidFill>
            <a:srgbClr val="5AA469"/>
          </a:solidFill>
          <a:ln/>
        </p:spPr>
      </p:sp>
      <p:sp>
        <p:nvSpPr>
          <p:cNvPr id="17" name="Text 15"/>
          <p:cNvSpPr/>
          <p:nvPr/>
        </p:nvSpPr>
        <p:spPr>
          <a:xfrm>
            <a:off x="4590288" y="285292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(1)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355080" y="2880360"/>
            <a:ext cx="164592" cy="164592"/>
          </a:xfrm>
          <a:prstGeom prst="rect">
            <a:avLst/>
          </a:prstGeom>
          <a:solidFill>
            <a:srgbClr val="808184"/>
          </a:solidFill>
          <a:ln/>
        </p:spPr>
      </p:sp>
      <p:sp>
        <p:nvSpPr>
          <p:cNvPr id="19" name="Text 17"/>
          <p:cNvSpPr/>
          <p:nvPr/>
        </p:nvSpPr>
        <p:spPr>
          <a:xfrm>
            <a:off x="6556248" y="285292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(Add-on) (1)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7200" y="4023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Detail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43434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User-based: 11 modules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472744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+ AI/API capacity: 6 modules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8640" y="5111496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Capacity-based (Perpetual/Term): 1 modules</a:t>
            </a:r>
            <a:endParaRPr lang="en-US" sz="11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— D21-D30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LICENSING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D27 — Stakeholder Journeys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stakeholder journeys — End User, Sponsor, Supervisor, Champion, Mentee, Divergence Case, Sector-Specific, AI Suggestion Lifecycle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Detail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5146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journeys: End User Adoption, Executive Sponsor, Frontline Supervisor, Champion, Mentee, Divergence Case, Sector-Specific (QMS Certification), AI Suggestion Lifecycle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289864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journey names its PDCA phase, target audience, and typical duration</a:t>
            </a:r>
            <a:endParaRPr lang="en-US" sz="11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— D21-D30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LICENSING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D28 — Journey Touchpoints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touchpoints | 19 Human · 3 Semi-Automated · 1 Automated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6042991" cy="411480"/>
          </a:xfrm>
          <a:prstGeom prst="rect">
            <a:avLst/>
          </a:prstGeom>
          <a:solidFill>
            <a:srgbClr val="F8931D"/>
          </a:solidFill>
          <a:ln/>
        </p:spPr>
      </p:sp>
      <p:sp>
        <p:nvSpPr>
          <p:cNvPr id="9" name="Shape 7"/>
          <p:cNvSpPr/>
          <p:nvPr/>
        </p:nvSpPr>
        <p:spPr>
          <a:xfrm>
            <a:off x="6500191" y="2377440"/>
            <a:ext cx="954157" cy="411480"/>
          </a:xfrm>
          <a:prstGeom prst="rect">
            <a:avLst/>
          </a:prstGeom>
          <a:solidFill>
            <a:srgbClr val="3A6EA5"/>
          </a:solidFill>
          <a:ln/>
        </p:spPr>
      </p:sp>
      <p:sp>
        <p:nvSpPr>
          <p:cNvPr id="10" name="Shape 8"/>
          <p:cNvSpPr/>
          <p:nvPr/>
        </p:nvSpPr>
        <p:spPr>
          <a:xfrm>
            <a:off x="7454348" y="2377440"/>
            <a:ext cx="318052" cy="411480"/>
          </a:xfrm>
          <a:prstGeom prst="rect">
            <a:avLst/>
          </a:prstGeom>
          <a:solidFill>
            <a:srgbClr val="5AA469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2880360"/>
            <a:ext cx="164592" cy="164592"/>
          </a:xfrm>
          <a:prstGeom prst="rect">
            <a:avLst/>
          </a:prstGeom>
          <a:solidFill>
            <a:srgbClr val="F8931D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285292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(19)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423160" y="2880360"/>
            <a:ext cx="164592" cy="164592"/>
          </a:xfrm>
          <a:prstGeom prst="rect">
            <a:avLst/>
          </a:prstGeom>
          <a:solidFill>
            <a:srgbClr val="3A6EA5"/>
          </a:solidFill>
          <a:ln/>
        </p:spPr>
      </p:sp>
      <p:sp>
        <p:nvSpPr>
          <p:cNvPr id="14" name="Text 12"/>
          <p:cNvSpPr/>
          <p:nvPr/>
        </p:nvSpPr>
        <p:spPr>
          <a:xfrm>
            <a:off x="2624328" y="285292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Semi-Automated (3)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389120" y="2880360"/>
            <a:ext cx="164592" cy="164592"/>
          </a:xfrm>
          <a:prstGeom prst="rect">
            <a:avLst/>
          </a:prstGeom>
          <a:solidFill>
            <a:srgbClr val="5AA469"/>
          </a:solidFill>
          <a:ln/>
        </p:spPr>
      </p:sp>
      <p:sp>
        <p:nvSpPr>
          <p:cNvPr id="16" name="Text 14"/>
          <p:cNvSpPr/>
          <p:nvPr/>
        </p:nvSpPr>
        <p:spPr>
          <a:xfrm>
            <a:off x="4590288" y="285292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(1)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4023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Detail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43434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touchpoints across 6 of the 8 journeys, each with explicit Success_Criteria and Evidence_Required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472744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of 23 touchpoints are Human-owned — automation is the exception, not the default, in the adoption journey</a:t>
            </a:r>
            <a:endParaRPr lang="en-US" sz="11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— D21-D30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LICENSING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D29 — Journey Analytics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journey analytics dashboards — each extends an existing score-centric report with a journey/touchpoint drill-down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Detail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5146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dashboards, each explicitly extending an existing D08 report with a journey/touchpoint drill-down layer rather than duplicating it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289864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Covers: End User completion, Charter compliance, Mentoring progression, Divergence resolution, Executive roll-up</a:t>
            </a:r>
            <a:endParaRPr lang="en-US" sz="11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— D21-D30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LICENSING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D30 — Licensing Implementation Schema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Dual-mode licensing — SaaS (centralized) and OnPrem (signed file) implementations across 5 platform families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Detail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5146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Ed25519-signed .lic file with hardwareId, maxUsers, plan, features, expiryDate — one file per customer, zero third-party licensing servers, $0 recurring cost.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289864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 covered: Web (Browser), Desktop (.NET/Java/C++/Electron), Mobile (iOS/Android), CLI/Backend, Embedded/IoT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3282696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Enforcement points: user registration, concurrent login, every authenticated REST call, and the Admin UI usage display</a:t>
            </a:r>
            <a:endParaRPr lang="en-US" sz="11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4b — D32 Series (NEW)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 THIS REVISION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D32 → D32k: 12 Deliverables Closing the v1.3 Gap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against a gap analysis comparing this architecture to the platform's Functional Specification v1.3 — principally Module 18 (Work Breakdown Structure &amp; Gantt, entirely new), Module 19's End-to-End Process Registry, and the underlying AI engines Module 17's use cases actually run on.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88720" y="219456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&amp; Deployment Specification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080760" y="21945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D32a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12280" y="219456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WBS Task Schema &amp; Gantt Specification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2944368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D32b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88720" y="2944368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Template Library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080760" y="2944368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D32c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12280" y="2944368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Checklist Registry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3694176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D32d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88720" y="3694176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Gate Record Specification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080760" y="3694176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D32e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12280" y="3694176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Decision Record Specification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4443984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D32f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88720" y="4443984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 Import Specification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080760" y="4443984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D32g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12280" y="4443984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Common-Lifecycle Phase Registry (P1-P7)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" y="519379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D32h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88720" y="5193792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Process Registry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080760" y="519379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D32i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12280" y="5193792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Cross-Type Comparison Matrix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57200" y="59436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D32j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88720" y="594360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Theme-Mining Engine Specification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080760" y="59436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D32k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812280" y="594360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 Coding Workbench Specification</a:t>
            </a:r>
            <a:endParaRPr lang="en-US" sz="9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4b — D32 Series (NEW)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— MODULE 18 (WBS &amp; GANTT)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D32a — WBS Task Schema &amp; Gantt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fields | Consolidates schema already on D09 OC-24 with Gantt rendering rules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Detail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5146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[PROJECT]/[CHANGE]/[JOINT] tag, Baseline vs. Actual dates, Schedule_Gap_Days (D19b FRM-014), Common_Lifecycle_Phase (P1-P7)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289864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Realizes D13 REQ-016, REQ-020, REQ-021 and D11 IFC-GANTT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3282696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Entirely new module in v1.3 (Module 18) — this was the largest single gap identified</a:t>
            </a:r>
            <a:endParaRPr lang="en-US" sz="11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4b — D32 Series (NEW)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— MODULE 18 (WBS &amp; GANTT)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D32d + D32e — Phase Gates &amp; Joint Decisions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record structures for Go/Go-with-Conditions/No-Go decisions with independent PM+CM inputs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Detail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5146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D32d bundles Checklist %, Composite Readiness Index, and open Divergence flags into one gate decision (RULE-013's full data structure)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289864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D32e keeps PM_Input and CM_Input independently auditable — never merged — while still producing exactly one Fused_Decision with one Accountable role (CTRL-012)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3282696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Phase Gate decision IS a Joint Decision Record — not two parallel sign-offs</a:t>
            </a:r>
            <a:endParaRPr lang="en-US" sz="11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4b — D32 Series (NEW)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— MODULE 19 (MACRO PROCESS, SIPOC, RACSI &amp; E2E REGISTRY)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D32h + D32i — End-to-End Registry &amp; Cross-Type Matrix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E2E process chains | 6 transformation types × 5 comparison dimensions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Detail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5146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E2E-01 through E2E-04 are ordered macro-process compositions (e.g., E2E-01 Readiness &amp; Mobilization = MP-01 -&gt; MP-02 -&gt; MP-03) with rolled-up SIPOC — not just an inferred reading of 10 separate macro-process definitions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289864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Cross-Type Comparison Matrix scores all 6 transformation types on Duration, Terminal Gate, External Party Involvement, Framework Weight, and Reversibility — every example grounded in a real seed project (D21)</a:t>
            </a:r>
            <a:endParaRPr lang="en-US" sz="11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4b — D32 Series (NEW)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— MODULE 17 (AI USE CASE LIBRARY, ENHANCED)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D32j + D32k — The AI Engines Behind 5 Use Cases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NLP theme-mining engine and qualitative coding workbench, specified for the first time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Detail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5146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D32j (NLP Theme-Mining Engine) is the actual capability behind AIUC-02, AIUC-04, and AIUC-06 — previously only described in each use case's own summary text, never specified as shared infrastructure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289864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D32k (Qualitative Coding Workbench) is the actual capability behind AIUC-12 and AIUC-13, including a per-Organization configurable codebook, not a fixed platform-wide taxonomy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3282696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16-use-case count in D15 is unchanged — this is the engine layer underneath 5 of them, made explicit</a:t>
            </a:r>
            <a:endParaRPr lang="en-US" sz="11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3A3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F8931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 &amp; Data Architecture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4114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2F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platform connects outward, and the data foundations underneath everything above</a:t>
            </a:r>
            <a:endParaRPr lang="en-US" sz="15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— Integration &amp; Data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&amp; DATA ARCHITECTURE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 Philosophy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4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API-first, event-driven surface — every object class in D09 is reachable via the platform's API gateway (D11 IFC-12)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24028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4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Integration Hub concept acts as the dedicated gateway/broker between internal domain events and external systems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7432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4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integration surface is licensing-invisible — every external call resolves through the same entitlement checks as internal use (see D30)</a:t>
            </a:r>
            <a:endParaRPr lang="en-US" sz="14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— Integration &amp; Data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&amp; DATA ARCHITECTURE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Native Connector Inventory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4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PPM/project-management tool connectivity (D11 IFC-09 WBS/Gantt board is the internal analog; external PPM sync is the natural extension point)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24028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4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LLM Provider connector (D11 IFC-13) — Anthropic / OpenAI / Google / custom OpenAI-compatible endpoint, browser-local credential isolation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7432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4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SSO (D11 IFC-14) — SAML 2.0 / OIDC for larger deployments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2461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4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 / BI export pattern — every D08/D29 report is exportable (Excel, PDF, CSV) as a baseline, with a REST API path for direct pull</a:t>
            </a:r>
            <a:endParaRPr lang="en-US" sz="14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— Integration &amp; Data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&amp; DATA ARCHITECTURE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 Pattern — Outbound Event Flow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4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Event (e.g., a D07 Alert firing, a D25 REX lesson applied) → Integration Hub → Retry Policy → Dead-Letter Queue (on exhausted retries) → External System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24028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4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and fallback handling is explicit at every step — no silent event loss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7432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4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pattern that governs D03a Action retry policies internally (e.g., ACT-001's exponential backoff) is reused for outbound event delivery</a:t>
            </a:r>
            <a:endParaRPr lang="en-US" sz="14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— Integration &amp; Data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&amp; DATA ARCHITECTURE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 with PPM Tools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4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Bi-directional sync pattern: D21 Project Registry and D28 WBS-style task data as the sync surface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24028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4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score export — D09 Stakeholder/Impact data available for portfolio-level PPM risk views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7432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4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Gate/milestone mapping — D02 Phase Gate decisions (RULE-013) map cleanly onto standard PPM milestone objects</a:t>
            </a:r>
            <a:endParaRPr lang="en-US" sz="14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— Integration &amp; Data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&amp; DATA ARCHITECTURE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 with Analytics &amp; BI Platforms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4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export patterns: scheduled export (D08/D29 refresh cadence) or on-demand API pull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24028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4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mapping: D09/D10's canonical object-class/attribute structure is the mapping source of truth for any external BI schema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7432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4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exported field respects its D09 Data_Sensitivity classification (Internal / Confidential / Restricted) — export never silently escalates access</a:t>
            </a:r>
            <a:endParaRPr lang="en-US" sz="14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— Integration &amp; Data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&amp; DATA ARCHITECTURE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 with Enterprise Identity &amp; Security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4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SSO/MFA patterns via D11 IFC-14 (SAML 2.0/OIDC)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24028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4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 sync — role and scope provisioning aligned to the platform's own role x scope RBAC model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7432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4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export — every justified score/state change (the platform's Justification Governance layer) is exportable to a SIEM/audit pipeline</a:t>
            </a:r>
            <a:endParaRPr lang="en-US" sz="14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— Integration &amp; Data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&amp; DATA ARCHITECTURE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 Architecture Patterns by Deployment Mode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4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SaaS: centralized API/database, licensing validated against a cloud record — the customer installs nothing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24028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4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OnPrem: signed .lic file, platform-adapted file reading (upload for web, direct filesystem for desktop/mobile/CLI, filesystem/EEPROM for embedded)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7432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4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modes share one LicenceProvider interface (D30) — the integration surface itself doesn't change shape between modes, only where licensing validates against</a:t>
            </a:r>
            <a:endParaRPr lang="en-US" sz="14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— Integration &amp; Data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&amp; DATA ARCHITECTURE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Architecture Foundations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4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data model: D09 (35 object classes) / D10 (71 attributes) as the single source of truth for every payload shape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24028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4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partitioning: every high-traffic table (D12) partitions by organization_id / cm_project_id by default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7432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4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Retention-aware exports: every D09 object class carries an explicit Retention_Period — exports respect it, they don't bypass it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2461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4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License-gated integration tier: API rate limits (10,000 / 100,000 / 1,000,000 / Unlimited per day) are enforced at the same layer as feature entitlement (D30)</a:t>
            </a:r>
            <a:endParaRPr lang="en-US" sz="14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3A3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F8931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Closing &amp; Next Steps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4114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2F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Synthesis, final metrics, and what comes next</a:t>
            </a:r>
            <a:endParaRPr lang="en-US" sz="15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— Closing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Things Worth Remembering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73152" cy="685800"/>
          </a:xfrm>
          <a:prstGeom prst="rect">
            <a:avLst/>
          </a:prstGeom>
          <a:solidFill>
            <a:srgbClr val="F8931D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50876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traceable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0" y="150876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requirement, rule, control, and KPI traces back to a macro-process, task, or step — 24 rules, 18 controls, 20 KPIs, all wired to D01/D02.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359152"/>
            <a:ext cx="73152" cy="685800"/>
          </a:xfrm>
          <a:prstGeom prst="rect">
            <a:avLst/>
          </a:prstGeom>
          <a:solidFill>
            <a:srgbClr val="F8931D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313432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AI-augmented, human-governed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840480" y="2313432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of 16 AI use cases carry an explicit human validation checkpoint. 0 operate autonomously.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163824"/>
            <a:ext cx="73152" cy="685800"/>
          </a:xfrm>
          <a:prstGeom prst="rect">
            <a:avLst/>
          </a:prstGeom>
          <a:solidFill>
            <a:srgbClr val="F8931D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118104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Licensing built in, not bolted 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840480" y="3118104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at the class-model level (D09) with a single dual-mode LicenceProvider abstraction (D30).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3968496"/>
            <a:ext cx="73152" cy="685800"/>
          </a:xfrm>
          <a:prstGeom prst="rect">
            <a:avLst/>
          </a:prstGeom>
          <a:solidFill>
            <a:srgbClr val="F8931D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922776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Integration-ready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840480" y="3922776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API, event/webhook interface, and SSO as first-class citizens (D11, Part 5) — not a v2 roadmap item.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4773168"/>
            <a:ext cx="73152" cy="685800"/>
          </a:xfrm>
          <a:prstGeom prst="rect">
            <a:avLst/>
          </a:prstGeom>
          <a:solidFill>
            <a:srgbClr val="F8931D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4727448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is measured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840480" y="4727448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vs. realized ROI/VOI tracked consistently across D06 (KPIs), D15 (AI), and D19 (automation matrix).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5577840"/>
            <a:ext cx="73152" cy="685800"/>
          </a:xfrm>
          <a:prstGeom prst="rect">
            <a:avLst/>
          </a:prstGeom>
          <a:solidFill>
            <a:srgbClr val="F8931D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553212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Journey-centric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840480" y="553212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stakeholder journeys and 23 touchpoints (D27/D28) keep the design human-centered, not just feature-centered.</a:t>
            </a:r>
            <a:endParaRPr lang="en-US" sz="11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— Closing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SUMMARY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Full Numbers, One Slide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27432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3E3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4475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1719072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Macro-Processes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46120" y="1417320"/>
            <a:ext cx="2743200" cy="566928"/>
          </a:xfrm>
          <a:prstGeom prst="rect">
            <a:avLst/>
          </a:prstGeom>
          <a:solidFill>
            <a:srgbClr val="F2F2F3"/>
          </a:solidFill>
          <a:ln w="6350">
            <a:solidFill>
              <a:srgbClr val="E3E3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144475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 / 105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337560" y="1719072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/ Steps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035040" y="1417320"/>
            <a:ext cx="27432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3E3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144475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126480" y="1719072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823960" y="1417320"/>
            <a:ext cx="2743200" cy="566928"/>
          </a:xfrm>
          <a:prstGeom prst="rect">
            <a:avLst/>
          </a:prstGeom>
          <a:solidFill>
            <a:srgbClr val="F2F2F3"/>
          </a:solidFill>
          <a:ln w="6350">
            <a:solidFill>
              <a:srgbClr val="E3E3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15400" y="144475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915400" y="1719072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57200" y="2029968"/>
            <a:ext cx="27432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3E3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05740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8640" y="2331720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46120" y="2029968"/>
            <a:ext cx="2743200" cy="566928"/>
          </a:xfrm>
          <a:prstGeom prst="rect">
            <a:avLst/>
          </a:prstGeom>
          <a:solidFill>
            <a:srgbClr val="F2F2F3"/>
          </a:solidFill>
          <a:ln w="6350">
            <a:solidFill>
              <a:srgbClr val="E3E3E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37560" y="205740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337560" y="2331720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035040" y="2029968"/>
            <a:ext cx="27432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3E3E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0" y="205740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126480" y="2331720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8823960" y="2029968"/>
            <a:ext cx="2743200" cy="566928"/>
          </a:xfrm>
          <a:prstGeom prst="rect">
            <a:avLst/>
          </a:prstGeom>
          <a:solidFill>
            <a:srgbClr val="F2F2F3"/>
          </a:solidFill>
          <a:ln w="6350">
            <a:solidFill>
              <a:srgbClr val="E3E3E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915400" y="205740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915400" y="2331720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57200" y="2642616"/>
            <a:ext cx="27432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3E3E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267004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48640" y="2944368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Classes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246120" y="2642616"/>
            <a:ext cx="2743200" cy="566928"/>
          </a:xfrm>
          <a:prstGeom prst="rect">
            <a:avLst/>
          </a:prstGeom>
          <a:solidFill>
            <a:srgbClr val="F2F2F3"/>
          </a:solidFill>
          <a:ln w="6350">
            <a:solidFill>
              <a:srgbClr val="E3E3E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37560" y="267004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3337560" y="2944368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035040" y="2642616"/>
            <a:ext cx="27432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3E3E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26480" y="267004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126480" y="2944368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8823960" y="2642616"/>
            <a:ext cx="2743200" cy="566928"/>
          </a:xfrm>
          <a:prstGeom prst="rect">
            <a:avLst/>
          </a:prstGeom>
          <a:solidFill>
            <a:srgbClr val="F2F2F3"/>
          </a:solidFill>
          <a:ln w="6350">
            <a:solidFill>
              <a:srgbClr val="E3E3E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915400" y="267004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915400" y="2944368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57200" y="3255264"/>
            <a:ext cx="27432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3E3E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8640" y="3282696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48640" y="3557016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Use Cases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246120" y="3255264"/>
            <a:ext cx="2743200" cy="566928"/>
          </a:xfrm>
          <a:prstGeom prst="rect">
            <a:avLst/>
          </a:prstGeom>
          <a:solidFill>
            <a:srgbClr val="F2F2F3"/>
          </a:solidFill>
          <a:ln w="6350">
            <a:solidFill>
              <a:srgbClr val="E3E3E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337560" y="3282696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3337560" y="3557016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Licensable Modules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035040" y="3255264"/>
            <a:ext cx="27432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3E3E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26480" y="3282696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126480" y="3557016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Journeys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8823960" y="3255264"/>
            <a:ext cx="2743200" cy="566928"/>
          </a:xfrm>
          <a:prstGeom prst="rect">
            <a:avLst/>
          </a:prstGeom>
          <a:solidFill>
            <a:srgbClr val="F2F2F3"/>
          </a:solidFill>
          <a:ln w="6350">
            <a:solidFill>
              <a:srgbClr val="E3E3E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915400" y="3282696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915400" y="3557016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Touchpoints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57200" y="3867912"/>
            <a:ext cx="27432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3E3E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48640" y="3895344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548640" y="4169664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3246120" y="3867912"/>
            <a:ext cx="2743200" cy="566928"/>
          </a:xfrm>
          <a:prstGeom prst="rect">
            <a:avLst/>
          </a:prstGeom>
          <a:solidFill>
            <a:srgbClr val="F2F2F3"/>
          </a:solidFill>
          <a:ln w="6350">
            <a:solidFill>
              <a:srgbClr val="E3E3E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337560" y="3895344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3337560" y="4169664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D32 Series (NEW)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6035040" y="3867912"/>
            <a:ext cx="27432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3E3E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126480" y="3895344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6126480" y="4169664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Deliverables</a:t>
            </a:r>
            <a:endParaRPr lang="en-US" sz="8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— Closing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ROADMAP (OPTIONAL)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Wave Prioritization, From the Automation Matrix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F8931D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73736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Wave 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103120" y="1719072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of 15 scored automation items; 9 of 15 requirements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17920" y="1719072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process backbone, human-in-the-loop AI, base licensing enforcement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69748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F8931D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6974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Wave 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103120" y="2679192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automation item; 1 requirement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17920" y="2679192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Governance/orchestration extensions — Phase Gates, runtime permission overrides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65760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F8931D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65760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Wave 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103120" y="3639312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requirements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17920" y="3639312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extensibility (custom use cases, prompt templates), charter tracking, journey analytics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48463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path for licensing (D30): LicenceProvider abstraction and signing tool are Wave 1 dependencies for every other wave — nothing ships without entitlement enforcement in place first.</a:t>
            </a:r>
            <a:endParaRPr lang="en-US" sz="12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3A3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— Closing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 Discussion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3474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 deliverables. One traceability chain. Every claim in this deck is backed by a specific ID.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5943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[Contact / Next Steps Placeholder]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57</Slides>
  <Notes>57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2026-08-17T10:05:12Z</dcterms:created>
  <dcterms:modified xsi:type="dcterms:W3CDTF">2026-08-17T10:05:12Z</dcterms:modified>
</cp:coreProperties>
</file>
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-work/brand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417320" cy="4548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NON-CONFORMITY MANAGEMENT, GOVERNED BY DESIGN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50876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NCP Solver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DynamicMS Suite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platform to detect, resolve, and learn from every non-conformity — combining disciplined S1–S7 problem solving, integrated governance &amp; compliance, and AI assistance that always keeps a human in control.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384048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08184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4078224"/>
            <a:ext cx="530352" cy="530352"/>
          </a:xfrm>
          <a:prstGeom prst="ellipse">
            <a:avLst/>
          </a:prstGeom>
          <a:solidFill>
            <a:srgbClr val="F8931D"/>
          </a:solidFill>
          <a:ln/>
        </p:spPr>
      </p:sp>
      <p:pic>
        <p:nvPicPr>
          <p:cNvPr id="9" name="Image 1" descr="/tmp/pptx-work/icons/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956" y="4205508"/>
            <a:ext cx="275783" cy="27578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04672" y="4754880"/>
            <a:ext cx="30031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Process Rigor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804672" y="5212080"/>
            <a:ext cx="30031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disciplined 7-stage path (S1–S7): detection, containment, root cause, corrective action, and capitalized lessons learned.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38218" y="384048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08184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94250" y="4078224"/>
            <a:ext cx="530352" cy="530352"/>
          </a:xfrm>
          <a:prstGeom prst="ellipse">
            <a:avLst/>
          </a:prstGeom>
          <a:solidFill>
            <a:srgbClr val="F8931D"/>
          </a:solidFill>
          <a:ln/>
        </p:spPr>
      </p:sp>
      <p:pic>
        <p:nvPicPr>
          <p:cNvPr id="14" name="Image 2" descr="/tmp/pptx-work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535" y="4205508"/>
            <a:ext cx="275783" cy="27578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94250" y="4754880"/>
            <a:ext cx="30031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Governance &amp; Compliance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4594250" y="5212080"/>
            <a:ext cx="30031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COSO-aligned Controls, a live Risk Register, Business Rules, and RACSI accountability — audit-ready by default.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127797" y="384048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08184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83829" y="4078224"/>
            <a:ext cx="530352" cy="530352"/>
          </a:xfrm>
          <a:prstGeom prst="ellipse">
            <a:avLst/>
          </a:prstGeom>
          <a:solidFill>
            <a:srgbClr val="F8931D"/>
          </a:solidFill>
          <a:ln/>
        </p:spPr>
      </p:sp>
      <p:pic>
        <p:nvPicPr>
          <p:cNvPr id="19" name="Image 3" descr="/tmp/pptx-work/icons/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1113" y="4205508"/>
            <a:ext cx="275783" cy="27578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383829" y="4754880"/>
            <a:ext cx="30031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AI Assistance</a:t>
            </a:r>
            <a:endParaRPr lang="en-US" sz="1450" dirty="0"/>
          </a:p>
        </p:txBody>
      </p:sp>
      <p:sp>
        <p:nvSpPr>
          <p:cNvPr id="21" name="Text 15"/>
          <p:cNvSpPr txBox="1"/>
          <p:nvPr/>
        </p:nvSpPr>
        <p:spPr>
          <a:xfrm>
            <a:off x="8383829" y="5212080"/>
            <a:ext cx="30031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cataloged AI use cases, always reviewed by a human — suggestion, never autonomous action.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Process Stages</a:t>
            </a:r>
            <a:pPr indent="0" marL="0">
              <a:buNone/>
            </a:pPr>
            <a:r>
              <a:rPr lang="en-US" sz="11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14 Governed AI Use Cases</a:t>
            </a:r>
            <a:pPr indent="0" marL="0">
              <a:buNone/>
            </a:pPr>
            <a:r>
              <a:rPr lang="en-US" sz="11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24 RBAC Modules</a:t>
            </a:r>
            <a:pPr indent="0" marL="0">
              <a:buNone/>
            </a:pPr>
            <a:r>
              <a:rPr lang="en-US" sz="11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3 Languages incl. Arabic (RTL)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INTELLIGENCE, GOVERNED NOT AUTONOMOUS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That Assists — Never Decides Alone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718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0818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566928" cy="566928"/>
          </a:xfrm>
          <a:prstGeom prst="ellipse">
            <a:avLst/>
          </a:prstGeom>
          <a:solidFill>
            <a:srgbClr val="58595B"/>
          </a:solidFill>
          <a:ln/>
        </p:spPr>
      </p:sp>
      <p:pic>
        <p:nvPicPr>
          <p:cNvPr id="6" name="Image 0" descr="/tmp/pptx-work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28871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74520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ASSISTIVE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48385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observes, analyzes, and suggests. A human performs the task and makes every decision.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99232"/>
            <a:ext cx="4838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Root Cause Mining · Evaluation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55868" y="1600200"/>
            <a:ext cx="538718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08184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0188" y="1892808"/>
            <a:ext cx="566928" cy="566928"/>
          </a:xfrm>
          <a:prstGeom prst="ellipse">
            <a:avLst/>
          </a:prstGeom>
          <a:solidFill>
            <a:srgbClr val="58595B"/>
          </a:solidFill>
          <a:ln/>
        </p:spPr>
      </p:sp>
      <p:pic>
        <p:nvPicPr>
          <p:cNvPr id="12" name="Image 1" descr="/tmp/pptx-work/icons/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250" y="2028871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61708" y="1874520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AUGMENTED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530188" y="2377440"/>
            <a:ext cx="48385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drafts a substantial part of the work — but nothing is finalized without human review, edit, and approval.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530188" y="2999232"/>
            <a:ext cx="4838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Structuring · REX Generation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8640" y="36118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DEED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68680" y="36118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is deliberately out of scope</a:t>
            </a:r>
            <a:pPr indent="0" marL="0">
              <a:buNone/>
            </a:pPr>
            <a:r>
              <a:rPr lang="en-US" sz="125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AI use case may take an irreversible action on its own.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4434840"/>
            <a:ext cx="25815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08184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49808" y="4636008"/>
            <a:ext cx="420624" cy="420624"/>
          </a:xfrm>
          <a:prstGeom prst="ellipse">
            <a:avLst/>
          </a:prstGeom>
          <a:solidFill>
            <a:srgbClr val="F8931D"/>
          </a:solidFill>
          <a:ln/>
        </p:spPr>
      </p:sp>
      <p:pic>
        <p:nvPicPr>
          <p:cNvPr id="20" name="Image 2" descr="/tmp/pptx-work/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58" y="4736958"/>
            <a:ext cx="218724" cy="21872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49808" y="5184648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RAG-Grounded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749808" y="5458968"/>
            <a:ext cx="2179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suggestion cites real methodology references — never a fact outside the data.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386252" y="4434840"/>
            <a:ext cx="25815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08184">
                <a:alpha val="2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587420" y="4636008"/>
            <a:ext cx="420624" cy="420624"/>
          </a:xfrm>
          <a:prstGeom prst="ellipse">
            <a:avLst/>
          </a:prstGeom>
          <a:solidFill>
            <a:srgbClr val="F8931D"/>
          </a:solidFill>
          <a:ln/>
        </p:spPr>
      </p:sp>
      <p:pic>
        <p:nvPicPr>
          <p:cNvPr id="25" name="Image 3" descr="/tmp/pptx-work/icons/syn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8370" y="4736958"/>
            <a:ext cx="218724" cy="21872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587420" y="5184648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Deterministic-First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3587420" y="5458968"/>
            <a:ext cx="2179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engine always computes the result; a real LLM only augments it, with automatic fallback.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6223864" y="4434840"/>
            <a:ext cx="25815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08184">
                <a:alpha val="2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425032" y="4636008"/>
            <a:ext cx="420624" cy="420624"/>
          </a:xfrm>
          <a:prstGeom prst="ellipse">
            <a:avLst/>
          </a:prstGeom>
          <a:solidFill>
            <a:srgbClr val="F8931D"/>
          </a:solidFill>
          <a:ln/>
        </p:spPr>
      </p:sp>
      <p:pic>
        <p:nvPicPr>
          <p:cNvPr id="30" name="Image 4" descr="/tmp/pptx-work/icons/clip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981" y="4736958"/>
            <a:ext cx="218724" cy="21872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425032" y="5184648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Usage Audit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6425032" y="5458968"/>
            <a:ext cx="2179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Accepted, edited, or rejected — every outcome is logged, append-only, for compliance.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9061475" y="4434840"/>
            <a:ext cx="25815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08184">
                <a:alpha val="2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9262643" y="4636008"/>
            <a:ext cx="420624" cy="420624"/>
          </a:xfrm>
          <a:prstGeom prst="ellipse">
            <a:avLst/>
          </a:prstGeom>
          <a:solidFill>
            <a:srgbClr val="F8931D"/>
          </a:solidFill>
          <a:ln/>
        </p:spPr>
      </p:sp>
      <p:pic>
        <p:nvPicPr>
          <p:cNvPr id="35" name="Image 5" descr="/tmp/pptx-work/icons/slid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593" y="4736958"/>
            <a:ext cx="218724" cy="21872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262643" y="5184648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Activation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9262643" y="5458968"/>
            <a:ext cx="2179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Organization-wide control, with per-project override, so AI runs only where it’s wanted.</a:t>
            </a:r>
            <a:endParaRPr lang="en-US" sz="900" dirty="0"/>
          </a:p>
        </p:txBody>
      </p:sp>
      <p:pic>
        <p:nvPicPr>
          <p:cNvPr id="38" name="Image 6" descr="/tmp/pptx-work/brand_media/image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473952"/>
            <a:ext cx="685800" cy="22009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3931920" y="6464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Library &amp; Governance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11430000" y="6464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AI USE CASE LIBRARY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AI Use Cases, Catalog to Roadmap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377440"/>
                <a:gridCol w="914400"/>
                <a:gridCol w="1188720"/>
                <a:gridCol w="914400"/>
                <a:gridCol w="5333695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Use Case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/ Module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931D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NCP Classification &amp; Similar-Case Assistant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Suggests initial criticality, priority, and similar past Sheets when a new problem is registered.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5W2H Problem-Structuring Assistant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07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Drafts a starting 5W2H breakdown from the Sheet's title and description for the team to refine.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Containment Action Advisor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Retrieves containment actions that worked on similar past problems in the organization.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Mining Assistant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Mines closed Sheets for candidate root causes and 6M categories like the current problem.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Corrective Action Recommendation Engine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Recommends proven corrective actions for a root cause, drawn from the Capitalization Library.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Corrective Action Effectiveness Evaluation Assistant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Surfaces the root cause to re-verify and the org's historical effectiveness rate.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REX (Lessons-Learned) Drafting Assistant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07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Drafts the REX narrative — lessons learned and standardization — from the Sheet's S1-S6 content.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Query Assistant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Assistant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plain-language questions about the org's own data, scoped to the user's role.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Help Assistant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Assistant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"How do I...?" questions about NCP Solver from a built-in FAQ knowledge base.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BPMN Diagram Documentation Assistant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BPMN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808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Roadmap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 a plain-language walkthrough of a BPMN diagram's flow, gateways, and loops.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Narrative &amp; Mitigation Drafting Assistant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07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&amp; Opp.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808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Roadmap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Drafts a description, causes, and mitigation plan for a new Risk/Opportunity item.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Test Summary Assistant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808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Roadmap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Summarizes a Control's test history and effectiveness trend in one paragraph.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Rule Drafting Assistant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07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Rule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808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Roadmap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Drafts an IF/THEN statement and severity for a new Business Rule.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RACSI Assignment Recommendation Assistant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RACSI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808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Roadmap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85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Suggests Accountable/Responsible/Consulted/Support/Informed assignees for a new Activity.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/tmp/pptx-work/brand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73952"/>
            <a:ext cx="685800" cy="22009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931920" y="6464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AI Use Case Library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430000" y="6464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A3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08184">
                <a:alpha val="22000"/>
              </a:srgbClr>
            </a:outerShdw>
          </a:effectLst>
        </p:spPr>
      </p:sp>
      <p:pic>
        <p:nvPicPr>
          <p:cNvPr id="3" name="Image 0" descr="/tmp/pptx-work/brand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618390"/>
            <a:ext cx="1417320" cy="4548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6002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Non-Conformity.</a:t>
            </a:r>
            <a:endParaRPr lang="en-US" sz="3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Path to Improvement.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rgbClr val="F8931D"/>
          </a:solidFill>
          <a:ln/>
        </p:spPr>
      </p:sp>
      <p:pic>
        <p:nvPicPr>
          <p:cNvPr id="6" name="Image 1" descr="/tmp/pptx-work/icons/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337779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32278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Discipline at Scale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325880" y="35387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non-conformity follows the same governed S1–S7 path, from detection to capitalized lessons learned.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4114800"/>
            <a:ext cx="548640" cy="548640"/>
          </a:xfrm>
          <a:prstGeom prst="ellipse">
            <a:avLst/>
          </a:prstGeom>
          <a:solidFill>
            <a:srgbClr val="F8931D"/>
          </a:solidFill>
          <a:ln/>
        </p:spPr>
      </p:sp>
      <p:pic>
        <p:nvPicPr>
          <p:cNvPr id="10" name="Image 2" descr="/tmp/pptx-work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4246474"/>
            <a:ext cx="285293" cy="28529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40965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Built In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325880" y="440740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COSO-aligned controls, a live risk register, and RACSI accountability — audit-ready from day one.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48640" y="4983480"/>
            <a:ext cx="548640" cy="548640"/>
          </a:xfrm>
          <a:prstGeom prst="ellipse">
            <a:avLst/>
          </a:prstGeom>
          <a:solidFill>
            <a:srgbClr val="F8931D"/>
          </a:solidFill>
          <a:ln/>
        </p:spPr>
      </p:sp>
      <p:pic>
        <p:nvPicPr>
          <p:cNvPr id="14" name="Image 3" descr="/tmp/pptx-work/icons/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4" y="5115154"/>
            <a:ext cx="285293" cy="28529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49651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You Can Trust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325880" y="52760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3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suggestion is grounded, labeled, logged, and reviewed. Never autonomous.</a:t>
            </a:r>
            <a:endParaRPr lang="en-US" sz="115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POWERACT Consulting  ·  www.poweract.ma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7772400" y="6355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NCP Solver — DynamicMS Suite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2026-09-10T11:44:17Z</dcterms:created>
  <dcterms:modified xsi:type="dcterms:W3CDTF">2026-09-10T11:44:17Z</dcterms:modified>
</cp:coreProperties>
</file>
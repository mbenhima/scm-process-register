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ptx-work/brand_media/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1417320" cy="4548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2344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NON-CONFORMITY MANAGEMENT, GOVERNED BY DESIGN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150876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NCP Solver</a:t>
            </a:r>
            <a:endParaRPr lang="en-US" sz="4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DynamicMS Suite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880360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governed platform to detect, resolve, and learn from every non-conformity — combining disciplined S1–S7 problem solving, integrated governance &amp; compliance, and AI assistance that always keeps a human in control.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48640" y="3840480"/>
            <a:ext cx="3515258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808184">
                <a:alpha val="2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04672" y="4078224"/>
            <a:ext cx="530352" cy="530352"/>
          </a:xfrm>
          <a:prstGeom prst="ellipse">
            <a:avLst/>
          </a:prstGeom>
          <a:solidFill>
            <a:srgbClr val="F8931D"/>
          </a:solidFill>
          <a:ln/>
        </p:spPr>
      </p:sp>
      <p:pic>
        <p:nvPicPr>
          <p:cNvPr id="9" name="Image 1" descr="/tmp/pptx-work/icons/rou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956" y="4205508"/>
            <a:ext cx="275783" cy="27578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04672" y="4754880"/>
            <a:ext cx="30031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End-to-End Process Rigor</a:t>
            </a:r>
            <a:endParaRPr lang="en-US" sz="1450" dirty="0"/>
          </a:p>
        </p:txBody>
      </p:sp>
      <p:sp>
        <p:nvSpPr>
          <p:cNvPr id="11" name="Text 7"/>
          <p:cNvSpPr txBox="1"/>
          <p:nvPr/>
        </p:nvSpPr>
        <p:spPr>
          <a:xfrm>
            <a:off x="804672" y="5212080"/>
            <a:ext cx="30031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disciplined 7-stage path (S1–S7): detection, containment, root cause, corrective action, and capitalized lessons learned.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338218" y="3840480"/>
            <a:ext cx="3515258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808184">
                <a:alpha val="2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594250" y="4078224"/>
            <a:ext cx="530352" cy="530352"/>
          </a:xfrm>
          <a:prstGeom prst="ellipse">
            <a:avLst/>
          </a:prstGeom>
          <a:solidFill>
            <a:srgbClr val="F8931D"/>
          </a:solidFill>
          <a:ln/>
        </p:spPr>
      </p:sp>
      <p:pic>
        <p:nvPicPr>
          <p:cNvPr id="14" name="Image 2" descr="/tmp/pptx-work/icons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535" y="4205508"/>
            <a:ext cx="275783" cy="275783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594250" y="4754880"/>
            <a:ext cx="30031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Integrated Governance &amp; Compliance</a:t>
            </a:r>
            <a:endParaRPr lang="en-US" sz="1450" dirty="0"/>
          </a:p>
        </p:txBody>
      </p:sp>
      <p:sp>
        <p:nvSpPr>
          <p:cNvPr id="16" name="Text 11"/>
          <p:cNvSpPr txBox="1"/>
          <p:nvPr/>
        </p:nvSpPr>
        <p:spPr>
          <a:xfrm>
            <a:off x="4594250" y="5212080"/>
            <a:ext cx="30031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COSO-aligned Controls, a live Risk Register, Business Rules, and RACSI accountability — audit-ready by default.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8127797" y="3840480"/>
            <a:ext cx="3515258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808184">
                <a:alpha val="2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83829" y="4078224"/>
            <a:ext cx="530352" cy="530352"/>
          </a:xfrm>
          <a:prstGeom prst="ellipse">
            <a:avLst/>
          </a:prstGeom>
          <a:solidFill>
            <a:srgbClr val="F8931D"/>
          </a:solidFill>
          <a:ln/>
        </p:spPr>
      </p:sp>
      <p:pic>
        <p:nvPicPr>
          <p:cNvPr id="19" name="Image 3" descr="/tmp/pptx-work/icons/robo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1113" y="4205508"/>
            <a:ext cx="275783" cy="275783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383829" y="4754880"/>
            <a:ext cx="30031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AI Assistance</a:t>
            </a:r>
            <a:endParaRPr lang="en-US" sz="1450" dirty="0"/>
          </a:p>
        </p:txBody>
      </p:sp>
      <p:sp>
        <p:nvSpPr>
          <p:cNvPr id="21" name="Text 15"/>
          <p:cNvSpPr txBox="1"/>
          <p:nvPr/>
        </p:nvSpPr>
        <p:spPr>
          <a:xfrm>
            <a:off x="8383829" y="5212080"/>
            <a:ext cx="30031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cataloged AI use cases, always reviewed by a human — suggestion, never autonomous action.</a:t>
            </a:r>
            <a:endParaRPr lang="en-US" sz="1050" dirty="0"/>
          </a:p>
        </p:txBody>
      </p:sp>
      <p:sp>
        <p:nvSpPr>
          <p:cNvPr id="22" name="Text 16"/>
          <p:cNvSpPr txBox="1"/>
          <p:nvPr/>
        </p:nvSpPr>
        <p:spPr>
          <a:xfrm>
            <a:off x="548640" y="6126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Process Stages</a:t>
            </a:r>
            <a:pPr indent="0" marL="0">
              <a:buNone/>
            </a:pPr>
            <a:r>
              <a:rPr lang="en-US" sz="11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14 Governed AI Use Cases</a:t>
            </a:r>
            <a:pPr indent="0" marL="0">
              <a:buNone/>
            </a:pPr>
            <a:r>
              <a:rPr lang="en-US" sz="11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24 RBAC Modules</a:t>
            </a:r>
            <a:pPr indent="0" marL="0">
              <a:buNone/>
            </a:pPr>
            <a:r>
              <a:rPr lang="en-US" sz="11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3 Languages incl. Arabic (RTL)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ARTIFICIAL INTELLIGENCE, GOVERNED NOT AUTONOMOUS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That Assists — Never Decides Alone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8718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808184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92808"/>
            <a:ext cx="566928" cy="566928"/>
          </a:xfrm>
          <a:prstGeom prst="ellipse">
            <a:avLst/>
          </a:prstGeom>
          <a:solidFill>
            <a:srgbClr val="58595B"/>
          </a:solidFill>
          <a:ln/>
        </p:spPr>
      </p:sp>
      <p:pic>
        <p:nvPicPr>
          <p:cNvPr id="6" name="Image 0" descr="/tmp/pptx-work/icons/ey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023" y="2028871"/>
            <a:ext cx="294803" cy="2948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74520"/>
            <a:ext cx="41070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ASSISTIVE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77440"/>
            <a:ext cx="48385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observes, analyzes, and suggests. A human performs the task and makes every decision.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999232"/>
            <a:ext cx="48385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· Root Cause Mining · Evaluation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255868" y="1600200"/>
            <a:ext cx="538718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808184">
                <a:alpha val="2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30188" y="1892808"/>
            <a:ext cx="566928" cy="566928"/>
          </a:xfrm>
          <a:prstGeom prst="ellipse">
            <a:avLst/>
          </a:prstGeom>
          <a:solidFill>
            <a:srgbClr val="58595B"/>
          </a:solidFill>
          <a:ln/>
        </p:spPr>
      </p:sp>
      <p:pic>
        <p:nvPicPr>
          <p:cNvPr id="12" name="Image 1" descr="/tmp/pptx-work/icons/p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6250" y="2028871"/>
            <a:ext cx="294803" cy="29480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261708" y="1874520"/>
            <a:ext cx="41070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AUGMENTED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6530188" y="2377440"/>
            <a:ext cx="48385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drafts a substantial part of the work — but nothing is finalized without human review, edit, and approval.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6530188" y="2999232"/>
            <a:ext cx="48385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Structuring · REX Generation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548640" y="3611880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FDEEDA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868680" y="361188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AI is deliberately out of scope</a:t>
            </a:r>
            <a:pPr indent="0" marL="0">
              <a:buNone/>
            </a:pPr>
            <a:r>
              <a:rPr lang="en-US" sz="125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no AI use case may take an irreversible action on its own.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548640" y="4434840"/>
            <a:ext cx="25815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808184">
                <a:alpha val="2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749808" y="4636008"/>
            <a:ext cx="420624" cy="420624"/>
          </a:xfrm>
          <a:prstGeom prst="ellipse">
            <a:avLst/>
          </a:prstGeom>
          <a:solidFill>
            <a:srgbClr val="F8931D"/>
          </a:solidFill>
          <a:ln/>
        </p:spPr>
      </p:sp>
      <p:pic>
        <p:nvPicPr>
          <p:cNvPr id="20" name="Image 2" descr="/tmp/pptx-work/icons/boo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758" y="4736958"/>
            <a:ext cx="218724" cy="21872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49808" y="5184648"/>
            <a:ext cx="21792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RAG-Grounded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749808" y="5458968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suggestion cites real methodology references — never a fact outside the data.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3386252" y="4434840"/>
            <a:ext cx="25815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808184">
                <a:alpha val="2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3587420" y="4636008"/>
            <a:ext cx="420624" cy="420624"/>
          </a:xfrm>
          <a:prstGeom prst="ellipse">
            <a:avLst/>
          </a:prstGeom>
          <a:solidFill>
            <a:srgbClr val="F8931D"/>
          </a:solidFill>
          <a:ln/>
        </p:spPr>
      </p:sp>
      <p:pic>
        <p:nvPicPr>
          <p:cNvPr id="25" name="Image 3" descr="/tmp/pptx-work/icons/syn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8370" y="4736958"/>
            <a:ext cx="218724" cy="21872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3587420" y="5184648"/>
            <a:ext cx="21792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Deterministic-First</a:t>
            </a:r>
            <a:endParaRPr lang="en-US" sz="1200" dirty="0"/>
          </a:p>
        </p:txBody>
      </p:sp>
      <p:sp>
        <p:nvSpPr>
          <p:cNvPr id="27" name="Text 21"/>
          <p:cNvSpPr txBox="1"/>
          <p:nvPr/>
        </p:nvSpPr>
        <p:spPr>
          <a:xfrm>
            <a:off x="3587420" y="5458968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built-in engine always computes the result; a real LLM only augments it, with automatic fallback.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6223864" y="4434840"/>
            <a:ext cx="25815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808184">
                <a:alpha val="2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6425032" y="4636008"/>
            <a:ext cx="420624" cy="420624"/>
          </a:xfrm>
          <a:prstGeom prst="ellipse">
            <a:avLst/>
          </a:prstGeom>
          <a:solidFill>
            <a:srgbClr val="F8931D"/>
          </a:solidFill>
          <a:ln/>
        </p:spPr>
      </p:sp>
      <p:pic>
        <p:nvPicPr>
          <p:cNvPr id="30" name="Image 4" descr="/tmp/pptx-work/icons/clipboar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5981" y="4736958"/>
            <a:ext cx="218724" cy="21872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6425032" y="5184648"/>
            <a:ext cx="21792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Usage Audit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6425032" y="5458968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Accepted, edited, or rejected — every outcome is logged, append-only, for compliance.</a:t>
            </a:r>
            <a:endParaRPr lang="en-US" sz="900" dirty="0"/>
          </a:p>
        </p:txBody>
      </p:sp>
      <p:sp>
        <p:nvSpPr>
          <p:cNvPr id="33" name="Shape 26"/>
          <p:cNvSpPr/>
          <p:nvPr/>
        </p:nvSpPr>
        <p:spPr>
          <a:xfrm>
            <a:off x="9061475" y="4434840"/>
            <a:ext cx="25815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808184">
                <a:alpha val="22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9262643" y="4636008"/>
            <a:ext cx="420624" cy="420624"/>
          </a:xfrm>
          <a:prstGeom prst="ellipse">
            <a:avLst/>
          </a:prstGeom>
          <a:solidFill>
            <a:srgbClr val="F8931D"/>
          </a:solidFill>
          <a:ln/>
        </p:spPr>
      </p:sp>
      <p:pic>
        <p:nvPicPr>
          <p:cNvPr id="35" name="Image 5" descr="/tmp/pptx-work/icons/slider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593" y="4736958"/>
            <a:ext cx="218724" cy="21872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9262643" y="5184648"/>
            <a:ext cx="21792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Activation</a:t>
            </a:r>
            <a:endParaRPr lang="en-US" sz="1200" dirty="0"/>
          </a:p>
        </p:txBody>
      </p:sp>
      <p:sp>
        <p:nvSpPr>
          <p:cNvPr id="37" name="Text 29"/>
          <p:cNvSpPr txBox="1"/>
          <p:nvPr/>
        </p:nvSpPr>
        <p:spPr>
          <a:xfrm>
            <a:off x="9262643" y="5458968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Organization-wide control, with per-project override, so AI runs only where it’s wanted.</a:t>
            </a:r>
            <a:endParaRPr lang="en-US" sz="900" dirty="0"/>
          </a:p>
        </p:txBody>
      </p:sp>
      <p:pic>
        <p:nvPicPr>
          <p:cNvPr id="38" name="Image 6" descr="/tmp/pptx-work/brand_media/image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6473952"/>
            <a:ext cx="685800" cy="220094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3931920" y="64648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Use Case Library &amp; Governance</a:t>
            </a:r>
            <a:endParaRPr lang="en-US" sz="900" dirty="0"/>
          </a:p>
        </p:txBody>
      </p:sp>
      <p:sp>
        <p:nvSpPr>
          <p:cNvPr id="40" name="Text 31"/>
          <p:cNvSpPr txBox="1"/>
          <p:nvPr/>
        </p:nvSpPr>
        <p:spPr>
          <a:xfrm>
            <a:off x="11430000" y="6464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808184">
                <a:alpha val="22000"/>
              </a:srgbClr>
            </a:outerShdw>
          </a:effectLst>
        </p:spPr>
      </p:sp>
      <p:pic>
        <p:nvPicPr>
          <p:cNvPr id="3" name="Image 0" descr="/tmp/pptx-work/brand_media/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618390"/>
            <a:ext cx="1417320" cy="45486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160020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Non-Conformity.</a:t>
            </a:r>
            <a:endParaRPr lang="en-US" sz="3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Path to Improvement.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rgbClr val="F8931D"/>
          </a:solidFill>
          <a:ln/>
        </p:spPr>
      </p:sp>
      <p:pic>
        <p:nvPicPr>
          <p:cNvPr id="6" name="Image 1" descr="/tmp/pptx-work/icons/rou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3377794"/>
            <a:ext cx="285293" cy="28529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25880" y="3227832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 Discipline at Scale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1325880" y="353872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3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non-conformity follows the same governed S1–S7 path, from detection to capitalized lessons learned.</a:t>
            </a:r>
            <a:endParaRPr lang="en-US" sz="1150" dirty="0"/>
          </a:p>
        </p:txBody>
      </p:sp>
      <p:sp>
        <p:nvSpPr>
          <p:cNvPr id="9" name="Shape 5"/>
          <p:cNvSpPr/>
          <p:nvPr/>
        </p:nvSpPr>
        <p:spPr>
          <a:xfrm>
            <a:off x="548640" y="4114800"/>
            <a:ext cx="548640" cy="548640"/>
          </a:xfrm>
          <a:prstGeom prst="ellipse">
            <a:avLst/>
          </a:prstGeom>
          <a:solidFill>
            <a:srgbClr val="F8931D"/>
          </a:solidFill>
          <a:ln/>
        </p:spPr>
      </p:sp>
      <p:pic>
        <p:nvPicPr>
          <p:cNvPr id="10" name="Image 2" descr="/tmp/pptx-work/icons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4246474"/>
            <a:ext cx="285293" cy="28529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4096512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 Built In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325880" y="440740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3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COSO-aligned controls, a live risk register, and RACSI accountability — audit-ready from day one.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548640" y="4983480"/>
            <a:ext cx="548640" cy="548640"/>
          </a:xfrm>
          <a:prstGeom prst="ellipse">
            <a:avLst/>
          </a:prstGeom>
          <a:solidFill>
            <a:srgbClr val="F8931D"/>
          </a:solidFill>
          <a:ln/>
        </p:spPr>
      </p:sp>
      <p:pic>
        <p:nvPicPr>
          <p:cNvPr id="14" name="Image 3" descr="/tmp/pptx-work/icons/robo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314" y="5115154"/>
            <a:ext cx="285293" cy="285293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325880" y="4965192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You Can Trust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1325880" y="527608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3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suggestion is grounded, labeled, logged, and reviewed. Never autonomous.</a:t>
            </a:r>
            <a:endParaRPr lang="en-US" sz="1150" dirty="0"/>
          </a:p>
        </p:txBody>
      </p:sp>
      <p:sp>
        <p:nvSpPr>
          <p:cNvPr id="17" name="Text 11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3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POWERACT Consulting  ·  www.poweract.ma</a:t>
            </a:r>
            <a:endParaRPr lang="en-US" sz="1050" dirty="0"/>
          </a:p>
        </p:txBody>
      </p:sp>
      <p:sp>
        <p:nvSpPr>
          <p:cNvPr id="18" name="Text 12"/>
          <p:cNvSpPr txBox="1"/>
          <p:nvPr/>
        </p:nvSpPr>
        <p:spPr>
          <a:xfrm>
            <a:off x="7772400" y="63550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NCP Solver — DynamicMS Suite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2026-09-10T11:31:16Z</dcterms:created>
  <dcterms:modified xsi:type="dcterms:W3CDTF">2026-09-10T11:31:16Z</dcterms:modified>
</cp:coreProperties>
</file>